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8BA6"/>
                </a:solidFill>
                <a:latin typeface="Calibri"/>
              </a:rPr>
              <a:t>MICRONUTRIENT DEFICIENCY PREDICTION FROM PROXY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Methods We've Tried — and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E39A2E"/>
                </a:solidFill>
                <a:latin typeface="Georgia"/>
              </a:rPr>
              <a:t>Transportability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6D4DE"/>
                </a:solidFill>
                <a:latin typeface="Calibri"/>
              </a:rPr>
              <a:t>Feature engineering, estimation strategies, and why cross-country prediction is hard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074920"/>
            <a:ext cx="3108960" cy="1828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FB2C2"/>
                </a:solidFill>
                <a:latin typeface="Calibri"/>
              </a:rPr>
              <a:t>Gambia · Ghana · Sierra Leone · Malawi   |   methods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THE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One challenge shapes every method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3DEE6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852160" cy="420624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C7293"/>
                </a:solidFill>
                <a:latin typeface="Calibri"/>
              </a:rPr>
              <a:t>—  </a:t>
            </a:r>
            <a:r>
              <a:rPr sz="1500" b="1">
                <a:solidFill>
                  <a:srgbClr val="1E2A38"/>
                </a:solidFill>
                <a:latin typeface="Calibri"/>
              </a:rPr>
              <a:t>Goal: </a:t>
            </a:r>
            <a:r>
              <a:rPr sz="1500">
                <a:solidFill>
                  <a:srgbClr val="1E2A38"/>
                </a:solidFill>
                <a:latin typeface="Calibri"/>
              </a:rPr>
              <a:t>predict micronutrient-deficiency prevalence for every Admin-2 district, including unsurveyed ones, from widely-available proxies.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C7293"/>
                </a:solidFill>
                <a:latin typeface="Calibri"/>
              </a:rPr>
              <a:t>—  </a:t>
            </a:r>
            <a:r>
              <a:rPr sz="1500" b="1">
                <a:solidFill>
                  <a:srgbClr val="1E2A38"/>
                </a:solidFill>
                <a:latin typeface="Calibri"/>
              </a:rPr>
              <a:t>Predictors: </a:t>
            </a:r>
            <a:r>
              <a:rPr sz="1500">
                <a:solidFill>
                  <a:srgbClr val="1E2A38"/>
                </a:solidFill>
                <a:latin typeface="Calibri"/>
              </a:rPr>
              <a:t>1,000+ proxy variables — DHS/MICS indicators, satellite (GEE), climate, malaria, soil, food prices.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C7293"/>
                </a:solidFill>
                <a:latin typeface="Calibri"/>
              </a:rPr>
              <a:t>—  </a:t>
            </a:r>
            <a:r>
              <a:rPr sz="1500" b="1">
                <a:solidFill>
                  <a:srgbClr val="1E2A38"/>
                </a:solidFill>
                <a:latin typeface="Calibri"/>
              </a:rPr>
              <a:t>Biomarkers: </a:t>
            </a:r>
            <a:r>
              <a:rPr sz="1500">
                <a:solidFill>
                  <a:srgbClr val="1E2A38"/>
                </a:solidFill>
                <a:latin typeface="Calibri"/>
              </a:rPr>
              <a:t>iron, vitamin A, folate, B12, zinc from 4 national surveys (2013–2018).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C7293"/>
                </a:solidFill>
                <a:latin typeface="Calibri"/>
              </a:rPr>
              <a:t>—  </a:t>
            </a:r>
            <a:r>
              <a:rPr sz="1500" b="1">
                <a:solidFill>
                  <a:srgbClr val="1E2A38"/>
                </a:solidFill>
                <a:latin typeface="Calibri"/>
              </a:rPr>
              <a:t>The catch: </a:t>
            </a:r>
            <a:r>
              <a:rPr sz="1500">
                <a:solidFill>
                  <a:srgbClr val="1E2A38"/>
                </a:solidFill>
                <a:latin typeface="Calibri"/>
              </a:rPr>
              <a:t>proxies live at Admin-2 level, so the EFFECTIVE sample size is the number of AREAS, not individuals.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783080"/>
            <a:ext cx="4846320" cy="388620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057400"/>
            <a:ext cx="4389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EFFECTIVE SAMPLE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468880"/>
            <a:ext cx="4389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800" b="1" i="0">
                <a:solidFill>
                  <a:srgbClr val="065A82"/>
                </a:solidFill>
                <a:latin typeface="Georgia"/>
              </a:rPr>
              <a:t>14–87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429000"/>
            <a:ext cx="4389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A6B7B"/>
                </a:solidFill>
                <a:latin typeface="Calibri"/>
              </a:rPr>
              <a:t>Admin-2 areas per country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3977639"/>
            <a:ext cx="4297680" cy="10972"/>
          </a:xfrm>
          <a:prstGeom prst="rect">
            <a:avLst/>
          </a:prstGeom>
          <a:solidFill>
            <a:srgbClr val="D3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160520"/>
            <a:ext cx="44805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39A2E"/>
                </a:solidFill>
                <a:latin typeface="Calibri"/>
              </a:rPr>
              <a:t>p ≫ n.</a:t>
            </a:r>
            <a:r>
              <a:rPr sz="1400" b="0" i="0">
                <a:solidFill>
                  <a:srgbClr val="1E2A38"/>
                </a:solidFill>
                <a:latin typeface="Calibri"/>
              </a:rPr>
              <a:t> 1,000+ predictors, ~dozens of independent observations — the root cause of weak, unstable, hard-to-transport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WHAT WE'VE TRIED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3DEE6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11880" cy="148132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09728" cy="14813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64792"/>
            <a:ext cx="3246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Predictor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48840"/>
            <a:ext cx="3200400" cy="93268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Proxy-only (exclude survey gw_ vars)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Domains matched to outcome biology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45920"/>
            <a:ext cx="3611880" cy="148132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645920"/>
            <a:ext cx="109728" cy="14813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3246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Dimensionality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3200400" cy="93268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Within-domain PCA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Greedy decorrelation (top-k |r|)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5-stage prescreening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1645920"/>
            <a:ext cx="3611880" cy="148132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645920"/>
            <a:ext cx="109728" cy="1481328"/>
          </a:xfrm>
          <a:prstGeom prst="rect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764792"/>
            <a:ext cx="3246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Transforms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148840"/>
            <a:ext cx="3200400" cy="93268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2E8BA6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Rank-normalization (not z-score)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2E8BA6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Median imputation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64992"/>
            <a:ext cx="3611880" cy="148132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64992"/>
            <a:ext cx="109728" cy="14813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483864"/>
            <a:ext cx="3246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Variable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867912"/>
            <a:ext cx="3200400" cy="93268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DAG-based selection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Forward selection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Invariance / combined filters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3364992"/>
            <a:ext cx="3611880" cy="148132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3364992"/>
            <a:ext cx="109728" cy="14813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83864"/>
            <a:ext cx="3246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Constructs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867912"/>
            <a:ext cx="3200400" cy="93268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Outcome-aware interactions (fe_*)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Transportable constructs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EconomicClusters wealth rank (planned)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6" y="3364992"/>
            <a:ext cx="3611880" cy="148132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6" y="3364992"/>
            <a:ext cx="109728" cy="1481328"/>
          </a:xfrm>
          <a:prstGeom prst="rect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3483864"/>
            <a:ext cx="3246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External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3867912"/>
            <a:ext cx="3200400" cy="93268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2E8BA6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SoilGrids (+0.045 LOCO r)</a:t>
            </a:r>
          </a:p>
          <a:p>
            <a:pPr>
              <a:spcBef>
                <a:spcPts val="0"/>
              </a:spcBef>
              <a:spcAft>
                <a:spcPts val="250"/>
              </a:spcAft>
            </a:pPr>
            <a:r>
              <a:rPr sz="1100" b="1">
                <a:solidFill>
                  <a:srgbClr val="2E8BA6"/>
                </a:solidFill>
                <a:latin typeface="Calibri"/>
              </a:rPr>
              <a:t>·  </a:t>
            </a:r>
            <a:r>
              <a:rPr sz="1100">
                <a:solidFill>
                  <a:srgbClr val="1E2A38"/>
                </a:solidFill>
                <a:latin typeface="Calibri"/>
              </a:rPr>
              <a:t>GEE · CHIRPS · MAP · IHME · WFP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5A6B7B"/>
                </a:solidFill>
                <a:latin typeface="Calibri"/>
              </a:rPr>
              <a:t>Across all of it the binding constraint persists — feature work sharpens within-country signal but cannot manufacture cross-country transport.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WHAT WE'VE TRIED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Estimation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3DEE6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91672" cy="53492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91440" cy="5349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611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Individual-level SuperLearner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7040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6-learner stack, aggregated to Admin-2  ·  now a SENSITIVITY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11091672" cy="5349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17420"/>
            <a:ext cx="91440" cy="534924"/>
          </a:xfrm>
          <a:prstGeom prst="rect">
            <a:avLst/>
          </a:prstGeom>
          <a:solidFill>
            <a:srgbClr val="3F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17420"/>
            <a:ext cx="3611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Area-level SuperLearner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17420"/>
            <a:ext cx="7040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fit directly on Admin-2 aggregates (MSE &amp; NLL loss)  ·  now 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11091672" cy="53492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88920"/>
            <a:ext cx="91440" cy="53492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3611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Bayesian small-area (SAE)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7040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Fay–Herriot  ·  BYM2 spatial (INLA, PC priors)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60420"/>
            <a:ext cx="11091672" cy="5349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60420"/>
            <a:ext cx="91440" cy="534924"/>
          </a:xfrm>
          <a:prstGeom prst="rect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60420"/>
            <a:ext cx="3611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Frequentist regressions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60420"/>
            <a:ext cx="7040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OLS/GLM · elastic-net · group-lasso · GAM · mixed · quantile · beta · quasi-binomial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11091672" cy="53492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91440" cy="53492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31920"/>
            <a:ext cx="3611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Spatial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31920"/>
            <a:ext cx="7040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coordinates · spatial GAM · spatial+SoilGrids · SPDE-INLA · Gaussian process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03420"/>
            <a:ext cx="11091672" cy="5349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03420"/>
            <a:ext cx="91440" cy="5349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03420"/>
            <a:ext cx="3611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Ensembles &amp; hybrids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03420"/>
            <a:ext cx="7040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NNLS stacker · two-stage (SL→spatial GAM) · SL→BYM2 (calibrated map intervals)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74920"/>
            <a:ext cx="11091672" cy="53492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074920"/>
            <a:ext cx="91440" cy="534924"/>
          </a:xfrm>
          <a:prstGeom prst="rect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74920"/>
            <a:ext cx="3611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Calibration &amp; uncertainty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074920"/>
            <a:ext cx="7040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conformal prediction intervals · Platt recalibration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46420"/>
            <a:ext cx="11091672" cy="5349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646420"/>
            <a:ext cx="91440" cy="53492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646420"/>
            <a:ext cx="3611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Resolution variants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646420"/>
            <a:ext cx="7040880" cy="5349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Admin-2 (primary) · Admin-3 (Sierra Leone chiefdoms) · survey-cluster GPS buffers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From one model to a primary + sensitivity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3DEE6"/>
                </a:solidFill>
                <a:latin typeface="Calibr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3840480"/>
          </a:xfrm>
          <a:prstGeom prst="roundRect">
            <a:avLst/>
          </a:prstGeom>
          <a:solidFill>
            <a:srgbClr val="EEF3F6"/>
          </a:solidFill>
          <a:ln w="19050">
            <a:solidFill>
              <a:srgbClr val="3F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640080"/>
          </a:xfrm>
          <a:prstGeom prst="roundRect">
            <a:avLst/>
          </a:prstGeom>
          <a:solidFill>
            <a:srgbClr val="3F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50292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PRIMARY  —  Admin-2 area-level SAE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937760" cy="283464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3F8E6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Models fit directly at Admin-2 on survey-weighted prevalence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3F8E6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Area-level SuperLearner, Fay–Herriot, SL→BYM2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3F8E6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Strong within-country ranking; full district coverage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3F8E6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Native, spatially-smoothed credible intervals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3F8E6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Headline results + dashboard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376672" cy="3840480"/>
          </a:xfrm>
          <a:prstGeom prst="roundRect">
            <a:avLst/>
          </a:prstGeom>
          <a:solidFill>
            <a:srgbClr val="EEF3F6"/>
          </a:solidFill>
          <a:ln w="19050">
            <a:solidFill>
              <a:srgbClr val="5A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376672" cy="640080"/>
          </a:xfrm>
          <a:prstGeom prst="round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01368"/>
            <a:ext cx="50292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SENSITIVITY  —  individual-level 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4892040" cy="283464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5A6B7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Person-level SuperLearner aggregated to Admin-2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5A6B7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Aggregating noisy individual predictions adds bias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5A6B7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Retained for comparison, relocated to R/sensitivity/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5A6B7B"/>
                </a:solidFill>
                <a:latin typeface="Calibri"/>
              </a:rPr>
              <a:t>—  </a:t>
            </a:r>
            <a:r>
              <a:rPr sz="1400">
                <a:solidFill>
                  <a:srgbClr val="1E2A38"/>
                </a:solidFill>
                <a:latin typeface="Calibri"/>
              </a:rPr>
              <a:t>Not the headline estimator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Why: </a:t>
            </a:r>
            <a:r>
              <a:rPr sz="1300" b="0" i="1">
                <a:solidFill>
                  <a:srgbClr val="5A6B7B"/>
                </a:solidFill>
                <a:latin typeface="Calibri"/>
              </a:rPr>
              <a:t>with so few areas, SAE methods match or beat the flexible ensemble — and the BMGF call endorsed leading with SAE and feeding SL predictions into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39A2E"/>
                </a:solidFill>
                <a:latin typeface="Calibri"/>
              </a:rPr>
              <a:t>THE CORE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Within country it works. Across countries it doesn't.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651760" cy="1691640"/>
          </a:xfrm>
          <a:prstGeom prst="roundRect">
            <a:avLst/>
          </a:prstGeom>
          <a:solidFill>
            <a:srgbClr val="25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E39A2E"/>
                </a:solidFill>
                <a:latin typeface="Georgia"/>
              </a:rPr>
              <a:t>0.02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6D4DE"/>
                </a:solidFill>
                <a:latin typeface="Calibri"/>
              </a:rPr>
              <a:t>median LOCO r across 16 folds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783080"/>
            <a:ext cx="2651760" cy="1691640"/>
          </a:xfrm>
          <a:prstGeom prst="roundRect">
            <a:avLst/>
          </a:prstGeom>
          <a:solidFill>
            <a:srgbClr val="25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96596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</a:rPr>
              <a:t>≈0.1–0.2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788920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6D4DE"/>
                </a:solidFill>
                <a:latin typeface="Calibri"/>
              </a:rPr>
              <a:t>per-method LOCO r (near chance)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83080"/>
            <a:ext cx="2651760" cy="1691640"/>
          </a:xfrm>
          <a:prstGeom prst="roundRect">
            <a:avLst/>
          </a:prstGeom>
          <a:solidFill>
            <a:srgbClr val="25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96596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</a:rPr>
              <a:t>SAE ≥ 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788920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6D4DE"/>
                </a:solidFill>
                <a:latin typeface="Calibri"/>
              </a:rPr>
              <a:t>on most leave-one- country-out splits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1783080"/>
            <a:ext cx="2651760" cy="1691640"/>
          </a:xfrm>
          <a:prstGeom prst="roundRect">
            <a:avLst/>
          </a:prstGeom>
          <a:solidFill>
            <a:srgbClr val="25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3" y="196596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E39A2E"/>
                </a:solidFill>
                <a:latin typeface="Georgia"/>
              </a:rPr>
              <a:t>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3" y="2788920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6D4DE"/>
                </a:solidFill>
                <a:latin typeface="Calibri"/>
              </a:rPr>
              <a:t>of error removed by fixing the level offset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0972800" cy="24688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E39A2E"/>
                </a:solidFill>
                <a:latin typeface="Calibri"/>
              </a:rPr>
              <a:t>—  </a:t>
            </a:r>
            <a:r>
              <a:rPr sz="1450" b="1">
                <a:solidFill>
                  <a:srgbClr val="DDE6EE"/>
                </a:solidFill>
                <a:latin typeface="Calibri"/>
              </a:rPr>
              <a:t>Within-country, area-level: </a:t>
            </a:r>
            <a:r>
              <a:rPr sz="1450">
                <a:solidFill>
                  <a:srgbClr val="DDE6EE"/>
                </a:solidFill>
                <a:latin typeface="Calibri"/>
              </a:rPr>
              <a:t>ranks Admin-2 districts well — but the headline r &gt; 0.9 is in-sample; genuine out-of-fold r ≈ 0.25–0.53 (a flagged bug).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E39A2E"/>
                </a:solidFill>
                <a:latin typeface="Calibri"/>
              </a:rPr>
              <a:t>—  </a:t>
            </a:r>
            <a:r>
              <a:rPr sz="1450" b="1">
                <a:solidFill>
                  <a:srgbClr val="DDE6EE"/>
                </a:solidFill>
                <a:latin typeface="Calibri"/>
              </a:rPr>
              <a:t>Cross-country (LOCO): </a:t>
            </a:r>
            <a:r>
              <a:rPr sz="1450">
                <a:solidFill>
                  <a:srgbClr val="DDE6EE"/>
                </a:solidFill>
                <a:latin typeface="Calibri"/>
              </a:rPr>
              <a:t>the SuperLearner is among the WEAKEST methods; flexibility doesn't pay when n = areas.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E39A2E"/>
                </a:solidFill>
                <a:latin typeface="Calibri"/>
              </a:rPr>
              <a:t>—  </a:t>
            </a:r>
            <a:r>
              <a:rPr sz="1450" b="1">
                <a:solidFill>
                  <a:srgbClr val="DDE6EE"/>
                </a:solidFill>
                <a:latin typeface="Calibri"/>
              </a:rPr>
              <a:t>The failure is mostly LEVEL, not ranking: </a:t>
            </a:r>
            <a:r>
              <a:rPr sz="1450">
                <a:solidFill>
                  <a:srgbClr val="DDE6EE"/>
                </a:solidFill>
                <a:latin typeface="Calibri"/>
              </a:rPr>
              <a:t>models often rank a held-out country's districts ~ok but miss the absolute prevalence by tens of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Transport fails for four distinct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3DEE6"/>
                </a:solidFill>
                <a:latin typeface="Calibr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40680" cy="1993392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40680" cy="502920"/>
          </a:xfrm>
          <a:prstGeom prst="roundRect">
            <a:avLst/>
          </a:prstGeom>
          <a:solidFill>
            <a:srgbClr val="E3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8862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1 · Gambia iron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14630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Real biology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83480" cy="12161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Raw ferritin genuinely ~6× lower; 66.6% deficiency corroborated by external BRINDA analysis. A true level gap — NOT fixable by modelling.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5440680" cy="1993392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691640"/>
            <a:ext cx="5440680" cy="502920"/>
          </a:xfrm>
          <a:prstGeom prst="roundRect">
            <a:avLst/>
          </a:prstGeom>
          <a:solidFill>
            <a:srgbClr val="3F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91640"/>
            <a:ext cx="38862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2 · Folate / B12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1691640"/>
            <a:ext cx="14630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Data artifact (fixed)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31720"/>
            <a:ext cx="4983480" cy="12161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Wrong units + cutoff made Malawi folate read ~0%. Corrected to ~21% at WHO &lt;10 nmol/L, validated vs published survey.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04487"/>
            <a:ext cx="5440680" cy="1993392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904487"/>
            <a:ext cx="5440680" cy="502920"/>
          </a:xfrm>
          <a:prstGeom prst="round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04487"/>
            <a:ext cx="38862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3 · Malawi / SL iron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04487"/>
            <a:ext cx="14630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Pattern non-transfer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44568"/>
            <a:ext cx="4983480" cy="12161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Even district RANKING fails (r ≈ 0) — a genuine West- vs East-Africa difference models trained elsewhere can't recover.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904487"/>
            <a:ext cx="5440680" cy="1993392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9632" y="3904487"/>
            <a:ext cx="5440680" cy="50292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904487"/>
            <a:ext cx="38862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4 · Vitamin A (both)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3904487"/>
            <a:ext cx="14630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Weak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544568"/>
            <a:ext cx="4983480" cy="12161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8"/>
                </a:solidFill>
                <a:latin typeface="Calibri"/>
              </a:rPr>
              <a:t>RBP is well-harmonized, but proxies simply don't predict the VAD spatial pattern (r ≈ 0–0.25); women's VAD is near-constant.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THE LEADING SUSPECT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The same outcome is built four different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3DEE6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201168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828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783080"/>
            <a:ext cx="283464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78308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Iron continuous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783080"/>
            <a:ext cx="237744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783080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Adjustment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783080"/>
            <a:ext cx="128016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178308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201168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40280"/>
            <a:ext cx="1828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A38"/>
                </a:solidFill>
                <a:latin typeface="Calibri"/>
              </a:rPr>
              <a:t>Gambia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240280"/>
            <a:ext cx="283464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0048" y="224028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gw_LogFerAdj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2240280"/>
            <a:ext cx="237744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2240280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39A2E"/>
                </a:solidFill>
                <a:latin typeface="Calibri"/>
              </a:rPr>
              <a:t>BRINDA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40280"/>
            <a:ext cx="128016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7" y="224028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974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697480"/>
            <a:ext cx="1828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A38"/>
                </a:solidFill>
                <a:latin typeface="Calibri"/>
              </a:rPr>
              <a:t>Ghana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9748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0048" y="269748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gw_cFerrAdjThurn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69748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2697480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39A2E"/>
                </a:solidFill>
                <a:latin typeface="Calibri"/>
              </a:rPr>
              <a:t>Thurnham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6974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7" y="269748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linear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54680"/>
            <a:ext cx="201168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154680"/>
            <a:ext cx="1828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A38"/>
                </a:solidFill>
                <a:latin typeface="Calibri"/>
              </a:rPr>
              <a:t>Sierra Leone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154680"/>
            <a:ext cx="283464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0048" y="315468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gw_cFerrAdj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3154680"/>
            <a:ext cx="237744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4688" y="3154680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unspecified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154680"/>
            <a:ext cx="128016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15468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linear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118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3611880"/>
            <a:ext cx="1828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A38"/>
                </a:solidFill>
                <a:latin typeface="Calibri"/>
              </a:rPr>
              <a:t>Malawi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61188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0048" y="361188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sf_reg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61188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04688" y="3611880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survey-native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6118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82127" y="361188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A38"/>
                </a:solidFill>
                <a:latin typeface="Calibri"/>
              </a:rPr>
              <a:t>linear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1783080"/>
            <a:ext cx="2770632" cy="22860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201168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39A2E"/>
                </a:solidFill>
                <a:latin typeface="Calibri"/>
              </a:rPr>
              <a:t>WHY IT BREAKS TRANSPORT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2468880"/>
            <a:ext cx="23774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model trained on three adjustment methods can't predict a fourth country's level. But adjustment harmonization is NOT the fix — the gap is in the RAW biomarker.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343400"/>
            <a:ext cx="10972800" cy="18288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C7293"/>
                </a:solidFill>
                <a:latin typeface="Calibri"/>
              </a:rPr>
              <a:t>—  </a:t>
            </a:r>
            <a:r>
              <a:rPr sz="1400" b="1">
                <a:solidFill>
                  <a:srgbClr val="1E2A38"/>
                </a:solidFill>
                <a:latin typeface="Calibri"/>
              </a:rPr>
              <a:t>Folate / B12: </a:t>
            </a:r>
            <a:r>
              <a:rPr sz="1400">
                <a:solidFill>
                  <a:srgbClr val="1E2A38"/>
                </a:solidFill>
                <a:latin typeface="Calibri"/>
              </a:rPr>
              <a:t>different units, cutoffs and assays across surveys — partly genuine data bugs (now fixed for folate).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C7293"/>
                </a:solidFill>
                <a:latin typeface="Calibri"/>
              </a:rPr>
              <a:t>—  </a:t>
            </a:r>
            <a:r>
              <a:rPr sz="1400" b="1">
                <a:solidFill>
                  <a:srgbClr val="1E2A38"/>
                </a:solidFill>
                <a:latin typeface="Calibri"/>
              </a:rPr>
              <a:t>The honest takeaway: </a:t>
            </a:r>
            <a:r>
              <a:rPr sz="1400">
                <a:solidFill>
                  <a:srgbClr val="1E2A38"/>
                </a:solidFill>
                <a:latin typeface="Calibri"/>
              </a:rPr>
              <a:t>report transport on RANK scales alongside absolute, and state plainly that absolute prevalence does not transport across countries.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HONEST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B2A4A"/>
                </a:solidFill>
                <a:latin typeface="Georgia"/>
              </a:rPr>
              <a:t>What works, what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3DEE6"/>
                </a:solidFill>
                <a:latin typeface="Calibr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4023360"/>
          </a:xfrm>
          <a:prstGeom prst="roundRect">
            <a:avLst/>
          </a:prstGeom>
          <a:solidFill>
            <a:srgbClr val="ECF4EF"/>
          </a:solidFill>
          <a:ln w="19050">
            <a:solidFill>
              <a:srgbClr val="3F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F8E6B"/>
                </a:solidFill>
                <a:latin typeface="Calibri"/>
              </a:rPr>
              <a:t>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937760" cy="31089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F8E6B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Within-country Admin-2 maps (area-level SAE)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F8E6B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Full-coverage prediction for unsurveyed districts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F8E6B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Calibrated credible intervals (SL→BYM2)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F8E6B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National prevalence estimates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F8E6B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Identifying within-country hotspots vs homogeneity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76672" cy="4023360"/>
          </a:xfrm>
          <a:prstGeom prst="roundRect">
            <a:avLst/>
          </a:prstGeom>
          <a:solidFill>
            <a:srgbClr val="F6ECEA"/>
          </a:solidFill>
          <a:ln w="19050">
            <a:solidFill>
              <a:srgbClr val="B8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B84A3E"/>
                </a:solidFill>
                <a:latin typeface="Calibri"/>
              </a:rPr>
              <a:t>DOESN'T (YET)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892040" cy="31089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B84A3E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Cross-country transport of absolute prevalence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B84A3E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The ensemble beating standard SAE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B84A3E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Vitamin A spatial prediction (weak signal)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B84A3E"/>
                </a:solidFill>
                <a:latin typeface="Calibri"/>
              </a:rPr>
              <a:t>—  </a:t>
            </a:r>
            <a:r>
              <a:rPr sz="1450">
                <a:solidFill>
                  <a:srgbClr val="1E2A38"/>
                </a:solidFill>
                <a:latin typeface="Calibri"/>
              </a:rPr>
              <a:t>Comparing biomarker levels across surveys/years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A6B7B"/>
                </a:solidFill>
                <a:latin typeface="Calibri"/>
              </a:rPr>
              <a:t>Net: a rigorous, honestly-bounded subnational tool — not a cross-country deficiency predictor.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8BA6"/>
                </a:solidFill>
                <a:latin typeface="Calibri"/>
              </a:rPr>
              <a:t>WHERE THIS LEAVES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Conclusions &amp;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698480" cy="27432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E39A2E"/>
                </a:solidFill>
                <a:latin typeface="Calibri"/>
              </a:rPr>
              <a:t>—  </a:t>
            </a:r>
            <a:r>
              <a:rPr sz="1550" b="1">
                <a:solidFill>
                  <a:srgbClr val="DDE6EE"/>
                </a:solidFill>
                <a:latin typeface="Calibri"/>
              </a:rPr>
              <a:t>Lead with area-level SAE: </a:t>
            </a:r>
            <a:r>
              <a:rPr sz="1550">
                <a:solidFill>
                  <a:srgbClr val="DDE6EE"/>
                </a:solidFill>
                <a:latin typeface="Calibri"/>
              </a:rPr>
              <a:t>the defensible primary deliverable; individual-level SL is a sensitivity analysis.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E39A2E"/>
                </a:solidFill>
                <a:latin typeface="Calibri"/>
              </a:rPr>
              <a:t>—  </a:t>
            </a:r>
            <a:r>
              <a:rPr sz="1550" b="1">
                <a:solidFill>
                  <a:srgbClr val="DDE6EE"/>
                </a:solidFill>
                <a:latin typeface="Calibri"/>
              </a:rPr>
              <a:t>Be honest about transport: </a:t>
            </a:r>
            <a:r>
              <a:rPr sz="1550">
                <a:solidFill>
                  <a:srgbClr val="DDE6EE"/>
                </a:solidFill>
                <a:latin typeface="Calibri"/>
              </a:rPr>
              <a:t>cross-country absolute prevalence is not deployable; report rank + intervals, not point levels.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E39A2E"/>
                </a:solidFill>
                <a:latin typeface="Calibri"/>
              </a:rPr>
              <a:t>—  </a:t>
            </a:r>
            <a:r>
              <a:rPr sz="1550" b="1">
                <a:solidFill>
                  <a:srgbClr val="DDE6EE"/>
                </a:solidFill>
                <a:latin typeface="Calibri"/>
              </a:rPr>
              <a:t>Harmonize biomarkers: </a:t>
            </a:r>
            <a:r>
              <a:rPr sz="1550">
                <a:solidFill>
                  <a:srgbClr val="DDE6EE"/>
                </a:solidFill>
                <a:latin typeface="Calibri"/>
              </a:rPr>
              <a:t>folate units/cutoff fixed; next reconcile B12 assays and flag Gambia's real iron burden.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E39A2E"/>
                </a:solidFill>
                <a:latin typeface="Calibri"/>
              </a:rPr>
              <a:t>—  </a:t>
            </a:r>
            <a:r>
              <a:rPr sz="1550" b="1">
                <a:solidFill>
                  <a:srgbClr val="DDE6EE"/>
                </a:solidFill>
                <a:latin typeface="Calibri"/>
              </a:rPr>
              <a:t>Combine, don't replace: </a:t>
            </a:r>
            <a:r>
              <a:rPr sz="1550">
                <a:solidFill>
                  <a:srgbClr val="DDE6EE"/>
                </a:solidFill>
                <a:latin typeface="Calibri"/>
              </a:rPr>
              <a:t>feed SuperLearner predictions into SAE (SL→BYM2) for calibrated within-country maps.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0515600" cy="1143000"/>
          </a:xfrm>
          <a:prstGeom prst="roundRect">
            <a:avLst/>
          </a:prstGeom>
          <a:solidFill>
            <a:srgbClr val="25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38928"/>
            <a:ext cx="10058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39A2E"/>
                </a:solidFill>
                <a:latin typeface="Calibri"/>
              </a:rPr>
              <a:t>Next external work: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GBD / VMNIS covariate comparison · ML-assisted SAE methods · cross-survey biomarker calibration · EconomicClusters wealth proxy.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