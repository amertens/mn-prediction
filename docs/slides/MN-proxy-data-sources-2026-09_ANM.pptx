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478" autoAdjust="0"/>
  </p:normalViewPr>
  <p:slideViewPr>
    <p:cSldViewPr snapToGrid="0">
      <p:cViewPr varScale="1">
        <p:scale>
          <a:sx n="87" d="100"/>
          <a:sy n="87" d="100"/>
        </p:scale>
        <p:origin x="14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talk is about the right-hand side of the model: where the 570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record behind the fourth bullet is the shared metadata file and results/tables/protocol_v2/variable_sheet.csv. One consequence of the first bullet: 45 of the 570 columns are national series with one value per country, and a value that is the same in every district cannot rank districts, so the models drop them when they are fitted.</a:t>
            </a:r>
          </a:p>
        </p:txBody>
      </p:sp>
      <p:sp>
        <p:nvSpPr>
          <p:cNvPr id="4" name="Slide Number Placeholder 3"/>
          <p:cNvSpPr>
            <a:spLocks noGrp="1"/>
          </p:cNvSpPr>
          <p:nvPr>
            <p:ph type="sldNum" sz="quarter" idx="10"/>
          </p:nvPr>
        </p:nvSpPr>
        <p:spPr/>
        <p:txBody>
          <a:bodyPr/>
          <a:lstStyle/>
          <a:p>
            <a:fld id="{E2A43B92-3A2D-4964-BD32-AF28A47106C9}"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Read the bar chart from the top; the grey segment is what a source lost to the exclusion rules (the Earth Engine year series for rainfall, NDVI and population that lagged the surveys, the DHS STATcompiler twins of the recoded indicators).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summarise a year of imagery; soil is iSDA and SoilGrids, ten nutrient concentrations at two depths plus texture and pH; crops are MapSPAM’s 2010 allocation; livestock is GLW4. The health and nutrition surfaces are IHME’s modelled estimates (anaemia,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(Ghana 2014, Malawi 2015-16, Sierra Leone 2013, The Gambia 2019-20), estimated with a cluster-level spatial model so every district has a value. Everything here is listed with its source, year and definition in results/tables/protocol_v2/variable_sheet.csv and in the dashboard’s catalogue.</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Rasters are the easy case: exactextractr over the GADM polygon, weighting by WorldPop where the quantity is about people (the IHME surfaces) and by area where it is about land (climate, soil, greenness). Twelve of the IHME columns were still joined by district name until this week; the tabular files predate Ghana’s 2019 district splits and left 56 percent of Ghana empty, so they were re-extracted from the 5 km GeoTIFFs. Survey microdata with GPS goes point-in-polygon after the leakage clusters are removed, with a minimum of 30 households and 5 clusters per district before a district gets its own value; below that it takes the parent region’s value and is flagged. Ghana’s MICS 2017-18 identifies the ten old regions and Malawi’s MICS 2013-14 the 27 districts, so those blocks vary at that level only and every column carries a subnational flag saying so. National series are kept in the set for documentation and completeness, but a constant cannot rank districts; the fit-time policy removes 45 of them (FAOSTAT, most GFDx fields, WHO anaemia national estimates, VAS, FluNet).</a:t>
            </a:r>
          </a:p>
        </p:txBody>
      </p:sp>
      <p:sp>
        <p:nvSpPr>
          <p:cNvPr id="4" name="Slide Number Placeholder 3"/>
          <p:cNvSpPr>
            <a:spLocks noGrp="1"/>
          </p:cNvSpPr>
          <p:nvPr>
            <p:ph type="sldNum" sz="quarter" idx="10"/>
          </p:nvPr>
        </p:nvSpPr>
        <p:spPr/>
        <p:txBody>
          <a:bodyPr/>
          <a:lstStyle/>
          <a:p>
            <a:fld id="{E2A43B92-3A2D-4964-BD32-AF28A47106C9}"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a:t>
            </a:r>
          </a:p>
        </p:txBody>
      </p:sp>
      <p:sp>
        <p:nvSpPr>
          <p:cNvPr id="4" name="Slide Number Placeholder 3"/>
          <p:cNvSpPr>
            <a:spLocks noGrp="1"/>
          </p:cNvSpPr>
          <p:nvPr>
            <p:ph type="sldNum" sz="quarter" idx="10"/>
          </p:nvPr>
        </p:nvSpPr>
        <p:spPr/>
        <p:txBody>
          <a:bodyPr/>
          <a:lstStyle/>
          <a:p>
            <a:fld id="{E2A43B92-3A2D-4964-BD32-AF28A47106C9}"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anaemia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E2A43B92-3A2D-4964-BD32-AF28A47106C9}"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570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shell script runs the chain (scripts/covariates/rebuild_shared_tail.sh) and ends in an audit that fails the build on a domain-key collision, a column declared subnational that does not vary, or a join that fans out. The exclusion file has 22 rules and every rule states its evidence: a nitrogen layer whose medians differ thirtyfold between countries, an NDVI product declared available only to 2013, calendar-year series superseded by survey-year values. This week’s most instructive mistake was in the exclusions. A review labelled the soil dispersion bands and the 20-50 cm depth means “redundant” on a mechanistic argument, and the climate-and-soil result fell from 0.37 to 0.34 across districts and from 0.45 to 0.40 across regions. The bands correlate only 0.03 to 0.69 with the depth means, so the label was wrong; restoring them brought both numbers back. We now hold to one rule: nothing is added or regrouped because a score likes it, an exclusion whose stated premise fails on its own metric is reverted, and every set change is checked against the transport arms before a run. What a model can see is the last two rows: 525 columns vary within a country, of which 464 have a value in all four countries and so can be used to predict a new one. The rest are per-country data gaps: household budget diet indicators pending for Ghana and Sierra Leone, RTFP for The Gambia and Malawi only, MICS items absent from one round.</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five largest weights per outcome in the pooled four-country fit, biomarker level, from results/tables/protocol_v2/index_importance_top.csv. These are individual columns, but the model is fitted at the district level: each weight is a column’s standardised contribution to the district index, projected back from the domain components (R/protocol_v2_importance.R), not a person-level effect. One gradient runs through all six outcomes: districts that are drier and grassier, less productive, more pastoral, poorer and with more stunted children rank worse on every deficiency. The groups behind it are the physical environment: satellite imagery, climate and soil carry 40% to 54% of the index inside a country depending on the outcome. The weights locate deficiency; they do not say what to change. Livestock density ranking positive for iron and B12 is the ecology of dry, poor, pastoral zones rather than a dietary effect of cattle. The twenty-layer list for child iron, in the appendix, is the same story as a list a country could rebuild itself; all twenty keep their direction in every leave-one-country-out fit.</a:t>
            </a:r>
          </a:p>
        </p:txBody>
      </p:sp>
      <p:sp>
        <p:nvSpPr>
          <p:cNvPr id="4" name="Slide Number Placeholder 3"/>
          <p:cNvSpPr>
            <a:spLocks noGrp="1"/>
          </p:cNvSpPr>
          <p:nvPr>
            <p:ph type="sldNum" sz="quarter" idx="10"/>
          </p:nvPr>
        </p:nvSpPr>
        <p:spPr/>
        <p:txBody>
          <a:bodyPr/>
          <a:lstStyle/>
          <a:p>
            <a:fld id="{E2A43B92-3A2D-4964-BD32-AF28A47106C9}"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Malawi, women’s B12, biomarker level: the cell with the best in-fill ranking of the 24 (Spearman 0.70; The Gambia child vitamin A is next at 0.69). The index is linear in the rank-normalised columns, so every column has a standardised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anaemia and malaria surfaces run the other way (more anaemia and malaria, better B12), which is the lakeshore and the south against the uplands, and a reminder that these are ecological associations, not effects. Script: scripts/policy_deck/09_vim_forest_example.R, which takes any country, outcome and target through environment variables. B12 is measured in three of the four surveys, so this cell does not enter the cross-country transport figures.</a:t>
            </a:r>
          </a:p>
        </p:txBody>
      </p:sp>
      <p:sp>
        <p:nvSpPr>
          <p:cNvPr id="4" name="Slide Number Placeholder 3"/>
          <p:cNvSpPr>
            <a:spLocks noGrp="1"/>
          </p:cNvSpPr>
          <p:nvPr>
            <p:ph type="sldNum" sz="quarter" idx="10"/>
          </p:nvPr>
        </p:nvSpPr>
        <p:spPr/>
        <p:txBody>
          <a:bodyPr/>
          <a:lstStyle/>
          <a:p>
            <a:fld id="{E2A43B92-3A2D-4964-BD32-AF28A47106C9}"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standardised weights. Every column named on the slide keeps the same sign in every fit where it appears (33 of the 39 columns that recur in five or more fits are unanimous). The pattern is the one on the previous two slides seen from the other side: what a model trained elsewhere reaches for in a new country is the physical environment and the modelled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10"/>
          </p:nvPr>
        </p:nvSpPr>
        <p:spPr/>
        <p:txBody>
          <a:bodyPr/>
          <a:lstStyle/>
          <a:p>
            <a:fld id="{E2A43B92-3A2D-4964-BD32-AF28A47106C9}"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domain_ablation_loco.csv, leave-one-country-out, biomarker level. Positive means the domain is load-bearing for a country the model has never seen. Climate (+0.03) and soil (+0.03) carry most; the anaemia surfaces, agriculture and greenness are behind them. The survey-derived constructs sit at or below zero: water and sanitation and education help inside a country and not across borders, and by source the MICS microdata block is the one whose removal improves transport (-0.02). The physical environment carries the signal, and it is also what a country without a survey can download. The two-domain climate-and-soil index reaches 0.38 across districts; it was found on these four countries and is pre-registered for the fifth. These ablations are scored on the open and public-microdata columns, the set the analysis deck’s headline models use; that deck also reports the arms with the DHS block in and with the open layers alone.</a:t>
            </a:r>
          </a:p>
        </p:txBody>
      </p:sp>
      <p:sp>
        <p:nvSpPr>
          <p:cNvPr id="4" name="Slide Number Placeholder 3"/>
          <p:cNvSpPr>
            <a:spLocks noGrp="1"/>
          </p:cNvSpPr>
          <p:nvPr>
            <p:ph type="sldNum" sz="quarter" idx="10"/>
          </p:nvPr>
        </p:nvSpPr>
        <p:spPr/>
        <p:txBody>
          <a:bodyPr/>
          <a:lstStyle/>
          <a:p>
            <a:fld id="{E2A43B92-3A2D-4964-BD32-AF28A47106C9}"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E2A43B92-3A2D-4964-BD32-AF28A47106C9}"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Tier: open means downloadable by anyone; public survey microdata means a registration with the survey programme; DHS means the DHS Program’s access agreement. Year rule names are the rule identifiers in metadata/covariates/temporal_alignment.csv. The largest gap is the worst case over the four countries; static layers have none.</a:t>
            </a:r>
          </a:p>
        </p:txBody>
      </p:sp>
      <p:sp>
        <p:nvSpPr>
          <p:cNvPr id="4" name="Slide Number Placeholder 3"/>
          <p:cNvSpPr>
            <a:spLocks noGrp="1"/>
          </p:cNvSpPr>
          <p:nvPr>
            <p:ph type="sldNum" sz="quarter" idx="10"/>
          </p:nvPr>
        </p:nvSpPr>
        <p:spPr/>
        <p:txBody>
          <a:bodyPr/>
          <a:lstStyle/>
          <a:p>
            <a:fld id="{E2A43B92-3A2D-4964-BD32-AF28A47106C9}"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index_importance_top.csv, child iron, biomarker level, the twenty largest weights in the pooled fit. All twenty keep the same direction in every leave-one-country-out fit; ten of the twenty also keep it in each country’s own fit, the stricter test. None requires a blood sample. The twenty-layer equal-weight composite scores about the same as the full index for a new country, so a short auditable list loses nothing.</a:t>
            </a:r>
          </a:p>
        </p:txBody>
      </p:sp>
      <p:sp>
        <p:nvSpPr>
          <p:cNvPr id="4" name="Slide Number Placeholder 3"/>
          <p:cNvSpPr>
            <a:spLocks noGrp="1"/>
          </p:cNvSpPr>
          <p:nvPr>
            <p:ph type="sldNum" sz="quarter" idx="10"/>
          </p:nvPr>
        </p:nvSpPr>
        <p:spPr/>
        <p:txBody>
          <a:bodyPr/>
          <a:lstStyle/>
          <a:p>
            <a:fld id="{E2A43B92-3A2D-4964-BD32-AF28A47106C9}"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metadata/covariates/exclusions.csv, applied by scripts/protocol_v2/53_apply_exclusion_policy.R to the live set. Data defects are removed on evidence in the audit tables; superseded layers are replaced by a better-aligned version of the same quantity; redundant twins are removed when a pooled rank correlation reaches 0.98 with a kept column. The two soil rules that failed that standard were removed on 15 September (SX-01 in the sandbox log).</a:t>
            </a:r>
          </a:p>
        </p:txBody>
      </p:sp>
      <p:sp>
        <p:nvSpPr>
          <p:cNvPr id="4" name="Slide Number Placeholder 3"/>
          <p:cNvSpPr>
            <a:spLocks noGrp="1"/>
          </p:cNvSpPr>
          <p:nvPr>
            <p:ph type="sldNum" sz="quarter" idx="10"/>
          </p:nvPr>
        </p:nvSpPr>
        <p:spPr/>
        <p:txBody>
          <a:bodyPr/>
          <a:lstStyle/>
          <a:p>
            <a:fld id="{E2A43B92-3A2D-4964-BD32-AF28A47106C9}"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Modelled surfaces are estimates produced by someone else’s model (IHME, MAP, the MIMI dietary inadequacy estimates); they are included by default and the protocol has a switch (V2_DROP_MODELLED=1) to score without them. Columns that do not vary within a country are the national constants dropped at fit time.</a:t>
            </a:r>
          </a:p>
        </p:txBody>
      </p:sp>
      <p:sp>
        <p:nvSpPr>
          <p:cNvPr id="4" name="Slide Number Placeholder 3"/>
          <p:cNvSpPr>
            <a:spLocks noGrp="1"/>
          </p:cNvSpPr>
          <p:nvPr>
            <p:ph type="sldNum" sz="quarter" idx="10"/>
          </p:nvPr>
        </p:nvSpPr>
        <p:spPr/>
        <p:txBody>
          <a:bodyPr/>
          <a:lstStyle/>
          <a:p>
            <a:fld id="{E2A43B92-3A2D-4964-BD32-AF28A47106C9}" type="slidenum">
              <a:rPr lang="en-US"/>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16/09/2026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marL="0" lvl="0" indent="0">
              <a:buNone/>
            </a:pPr>
            <a:r>
              <a:rPr lang="en-US"/>
              <a:t>Proxy</a:t>
            </a:r>
            <a:endParaRPr dirty="0"/>
          </a:p>
        </p:txBody>
      </p:sp>
      <p:sp>
        <p:nvSpPr>
          <p:cNvPr id="3" name="Subtitle 2"/>
          <p:cNvSpPr>
            <a:spLocks noGrp="1"/>
          </p:cNvSpPr>
          <p:nvPr>
            <p:ph type="subTitle" idx="1"/>
          </p:nvPr>
        </p:nvSpPr>
        <p:spPr>
          <a:xfrm>
            <a:off x="1524000" y="3602038"/>
            <a:ext cx="9144000" cy="1655762"/>
          </a:xfrm>
        </p:spPr>
        <p:txBody>
          <a:bodyPr/>
          <a:lstStyle/>
          <a:p>
            <a:pPr marL="0" lvl="0" indent="0">
              <a:buNone/>
            </a:pPr>
            <a:r>
              <a:rPr sz="1800"/>
              <a:t>Sources, aggregation, alignment in space and time, and what carries the signal</a:t>
            </a:r>
            <a:br/>
            <a:br/>
            <a:r>
              <a:rPr sz="1800"/>
              <a:t>Andrew N. Mertens, University of California, Berkeley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a proxy has to be</a:t>
            </a:r>
          </a:p>
        </p:txBody>
      </p:sp>
      <p:sp>
        <p:nvSpPr>
          <p:cNvPr id="3" name="Content Placeholder 2"/>
          <p:cNvSpPr>
            <a:spLocks noGrp="1"/>
          </p:cNvSpPr>
          <p:nvPr>
            <p:ph idx="1"/>
          </p:nvPr>
        </p:nvSpPr>
        <p:spPr/>
        <p:txBody>
          <a:bodyPr/>
          <a:lstStyle/>
          <a:p>
            <a:pPr lvl="0"/>
            <a:r>
              <a:rPr sz="1800"/>
              <a:t>Available for every district of every country, surveyed or not, from a source anyone can reach.</a:t>
            </a:r>
          </a:p>
          <a:p>
            <a:pPr lvl="0"/>
            <a:r>
              <a:rPr sz="1800"/>
              <a:t>Independent of the outcome: nothing from the biomarker survey we score against enters the predictors.</a:t>
            </a:r>
          </a:p>
          <a:p>
            <a:pPr lvl="0"/>
            <a:r>
              <a:rPr sz="1800"/>
              <a:t>Placed at the survey year, or as close to it as the source allows, with the gap recorded.</a:t>
            </a:r>
          </a:p>
          <a:p>
            <a:pPr lvl="0"/>
            <a:r>
              <a:rPr sz="1800"/>
              <a:t>Recorded: every column carries its source, the year used, how it was aggregated, and a definition.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sources</a:t>
            </a:r>
          </a:p>
        </p:txBody>
      </p:sp>
      <p:sp>
        <p:nvSpPr>
          <p:cNvPr id="3" name="Content Placeholder 2"/>
          <p:cNvSpPr>
            <a:spLocks noGrp="1"/>
          </p:cNvSpPr>
          <p:nvPr>
            <p:ph sz="half" idx="1"/>
          </p:nvPr>
        </p:nvSpPr>
        <p:spPr/>
        <p:txBody>
          <a:bodyPr/>
          <a:lstStyle/>
          <a:p>
            <a:pPr marL="0" lvl="0" indent="0">
              <a:buNone/>
            </a:pPr>
            <a:r>
              <a:rPr sz="1800"/>
              <a:t>570 columns from 28 sources are in the harmonised set. 45 more were built and then removed by a written exclusion rule: defective layers, layers superseded by a better-aligned version of the same quantity, and near-duplicates.</a:t>
            </a:r>
          </a:p>
        </p:txBody>
      </p:sp>
      <p:pic>
        <p:nvPicPr>
          <p:cNvPr id="4" name="Picture 1" descr="MN-proxy-data-sources-2026-09_files/figure-pptx/sources-1.png"/>
          <p:cNvPicPr>
            <a:picLocks noGrp="1" noChangeAspect="1"/>
          </p:cNvPicPr>
          <p:nvPr/>
        </p:nvPicPr>
        <p:blipFill>
          <a:blip r:embed="rId3"/>
          <a:stretch>
            <a:fillRect/>
          </a:stretch>
        </p:blipFill>
        <p:spPr bwMode="auto">
          <a:xfrm>
            <a:off x="6273800" y="1816100"/>
            <a:ext cx="4991100" cy="4343400"/>
          </a:xfrm>
          <a:prstGeom prst="rect">
            <a:avLst/>
          </a:prstGeom>
          <a:noFill/>
          <a:ln w="9525">
            <a:noFill/>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kinds of data, three ways to a district value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4584700">
                  <a:extLst>
                    <a:ext uri="{9D8B030D-6E8A-4147-A177-3AD203B41FA5}">
                      <a16:colId xmlns:a16="http://schemas.microsoft.com/office/drawing/2014/main" val="20002"/>
                    </a:ext>
                  </a:extLst>
                </a:gridCol>
                <a:gridCol w="2184400">
                  <a:extLst>
                    <a:ext uri="{9D8B030D-6E8A-4147-A177-3AD203B41FA5}">
                      <a16:colId xmlns:a16="http://schemas.microsoft.com/office/drawing/2014/main" val="20003"/>
                    </a:ext>
                  </a:extLst>
                </a:gridCol>
              </a:tblGrid>
              <a:tr h="0">
                <a:tc>
                  <a:txBody>
                    <a:bodyPr/>
                    <a:lstStyle/>
                    <a:p>
                      <a:pPr marL="0" lvl="0" indent="0" algn="l">
                        <a:buNone/>
                      </a:pPr>
                      <a:r>
                        <a:rPr sz="1100"/>
                        <a:t>Native form</a:t>
                      </a:r>
                    </a:p>
                  </a:txBody>
                  <a:tcPr/>
                </a:tc>
                <a:tc>
                  <a:txBody>
                    <a:bodyPr/>
                    <a:lstStyle/>
                    <a:p>
                      <a:pPr marL="0" lvl="0" indent="0" algn="l">
                        <a:buNone/>
                      </a:pPr>
                      <a:r>
                        <a:rPr sz="1100"/>
                        <a:t>Examples</a:t>
                      </a:r>
                    </a:p>
                  </a:txBody>
                  <a:tcPr/>
                </a:tc>
                <a:tc>
                  <a:txBody>
                    <a:bodyPr/>
                    <a:lstStyle/>
                    <a:p>
                      <a:pPr marL="0" lvl="0" indent="0" algn="l">
                        <a:buNone/>
                      </a:pPr>
                      <a:r>
                        <a:rPr sz="1100"/>
                        <a:t>To a district</a:t>
                      </a:r>
                    </a:p>
                  </a:txBody>
                  <a:tcPr/>
                </a:tc>
                <a:tc>
                  <a:txBody>
                    <a:bodyPr/>
                    <a:lstStyle/>
                    <a:p>
                      <a:pPr marL="0" lvl="0" indent="0" algn="l">
                        <a:buNone/>
                      </a:pPr>
                      <a:r>
                        <a:rPr sz="1100"/>
                        <a:t>Time</a:t>
                      </a:r>
                    </a:p>
                  </a:txBody>
                  <a:tcPr/>
                </a:tc>
                <a:extLst>
                  <a:ext uri="{0D108BD9-81ED-4DB2-BD59-A6C34878D82A}">
                    <a16:rowId xmlns:a16="http://schemas.microsoft.com/office/drawing/2014/main" val="10000"/>
                  </a:ext>
                </a:extLst>
              </a:tr>
              <a:tr h="0">
                <a:tc>
                  <a:txBody>
                    <a:bodyPr/>
                    <a:lstStyle/>
                    <a:p>
                      <a:pPr marL="0" lvl="0" indent="0" algn="l">
                        <a:buNone/>
                      </a:pPr>
                      <a:r>
                        <a:rPr sz="1100"/>
                        <a:t>Gridded raster (30 m to 10 km)</a:t>
                      </a:r>
                    </a:p>
                  </a:txBody>
                  <a:tcPr/>
                </a:tc>
                <a:tc>
                  <a:txBody>
                    <a:bodyPr/>
                    <a:lstStyle/>
                    <a:p>
                      <a:pPr marL="0" lvl="0" indent="0" algn="l">
                        <a:buNone/>
                      </a:pPr>
                      <a:r>
                        <a:rPr sz="1100"/>
                        <a:t>Climate, soil, satellite, IHME and MAP surfaces, population</a:t>
                      </a:r>
                    </a:p>
                  </a:txBody>
                  <a:tcPr/>
                </a:tc>
                <a:tc>
                  <a:txBody>
                    <a:bodyPr/>
                    <a:lstStyle/>
                    <a:p>
                      <a:pPr marL="0" lvl="0" indent="0" algn="l">
                        <a:buNone/>
                      </a:pPr>
                      <a:r>
                        <a:rPr sz="1100"/>
                        <a:t>Zonal mean over the district polygon, area- or population-weighted</a:t>
                      </a:r>
                    </a:p>
                  </a:txBody>
                  <a:tcPr/>
                </a:tc>
                <a:tc>
                  <a:txBody>
                    <a:bodyPr/>
                    <a:lstStyle/>
                    <a:p>
                      <a:pPr marL="0" lvl="0" indent="0" algn="l">
                        <a:buNone/>
                      </a:pPr>
                      <a:r>
                        <a:rPr sz="1100"/>
                        <a:t>Survey year, nearest year, or 30-year normal plus anomaly</a:t>
                      </a:r>
                    </a:p>
                  </a:txBody>
                  <a:tcPr/>
                </a:tc>
                <a:extLst>
                  <a:ext uri="{0D108BD9-81ED-4DB2-BD59-A6C34878D82A}">
                    <a16:rowId xmlns:a16="http://schemas.microsoft.com/office/drawing/2014/main" val="10001"/>
                  </a:ext>
                </a:extLst>
              </a:tr>
              <a:tr h="0">
                <a:tc>
                  <a:txBody>
                    <a:bodyPr/>
                    <a:lstStyle/>
                    <a:p>
                      <a:pPr marL="0" lvl="0" indent="0" algn="l">
                        <a:buNone/>
                      </a:pPr>
                      <a:r>
                        <a:rPr sz="1100"/>
                        <a:t>Survey with GPS clusters</a:t>
                      </a:r>
                    </a:p>
                  </a:txBody>
                  <a:tcPr/>
                </a:tc>
                <a:tc>
                  <a:txBody>
                    <a:bodyPr/>
                    <a:lstStyle/>
                    <a:p>
                      <a:pPr marL="0" lvl="0" indent="0" algn="l">
                        <a:buNone/>
                      </a:pPr>
                      <a:r>
                        <a:rPr sz="1100"/>
                        <a:t>DHS; MICS 2018 in The Gambia, 2017 in Sierra Leone</a:t>
                      </a:r>
                    </a:p>
                  </a:txBody>
                  <a:tcPr/>
                </a:tc>
                <a:tc>
                  <a:txBody>
                    <a:bodyPr/>
                    <a:lstStyle/>
                    <a:p>
                      <a:pPr marL="0" lvl="0" indent="0" algn="l">
                        <a:buNone/>
                      </a:pPr>
                      <a:r>
                        <a:rPr sz="1100"/>
                        <a:t>DHS: cluster spatial model (BYM2) so every district has a value; MICS: clusters inside the polygon, minimum 30 households</a:t>
                      </a:r>
                    </a:p>
                  </a:txBody>
                  <a:tcPr/>
                </a:tc>
                <a:tc>
                  <a:txBody>
                    <a:bodyPr/>
                    <a:lstStyle/>
                    <a:p>
                      <a:pPr marL="0" lvl="0" indent="0" algn="l">
                        <a:buNone/>
                      </a:pPr>
                      <a:r>
                        <a:rPr sz="1100"/>
                        <a:t>The round paired with the biomarker survey</a:t>
                      </a:r>
                    </a:p>
                  </a:txBody>
                  <a:tcPr/>
                </a:tc>
                <a:extLst>
                  <a:ext uri="{0D108BD9-81ED-4DB2-BD59-A6C34878D82A}">
                    <a16:rowId xmlns:a16="http://schemas.microsoft.com/office/drawing/2014/main" val="10002"/>
                  </a:ext>
                </a:extLst>
              </a:tr>
              <a:tr h="0">
                <a:tc>
                  <a:txBody>
                    <a:bodyPr/>
                    <a:lstStyle/>
                    <a:p>
                      <a:pPr marL="0" lvl="0" indent="0" algn="l">
                        <a:buNone/>
                      </a:pPr>
                      <a:r>
                        <a:rPr sz="1100"/>
                        <a:t>Survey identified to region or district</a:t>
                      </a:r>
                    </a:p>
                  </a:txBody>
                  <a:tcPr/>
                </a:tc>
                <a:tc>
                  <a:txBody>
                    <a:bodyPr/>
                    <a:lstStyle/>
                    <a:p>
                      <a:pPr marL="0" lvl="0" indent="0" algn="l">
                        <a:buNone/>
                      </a:pPr>
                      <a:r>
                        <a:rPr sz="1100"/>
                        <a:t>MICS in Ghana and Malawi; household budget surveys</a:t>
                      </a:r>
                    </a:p>
                  </a:txBody>
                  <a:tcPr/>
                </a:tc>
                <a:tc>
                  <a:txBody>
                    <a:bodyPr/>
                    <a:lstStyle/>
                    <a:p>
                      <a:pPr marL="0" lvl="0" indent="0" algn="l">
                        <a:buNone/>
                      </a:pPr>
                      <a:r>
                        <a:rPr sz="1100"/>
                        <a:t>Value of the smallest survey unit that contains the district, flagged as the parent’s value</a:t>
                      </a:r>
                    </a:p>
                  </a:txBody>
                  <a:tcPr/>
                </a:tc>
                <a:tc>
                  <a:txBody>
                    <a:bodyPr/>
                    <a:lstStyle/>
                    <a:p>
                      <a:pPr marL="0" lvl="0" indent="0" algn="l">
                        <a:buNone/>
                      </a:pPr>
                      <a:r>
                        <a:rPr sz="1100"/>
                        <a:t>The round nearest the survey</a:t>
                      </a:r>
                    </a:p>
                  </a:txBody>
                  <a:tcPr/>
                </a:tc>
                <a:extLst>
                  <a:ext uri="{0D108BD9-81ED-4DB2-BD59-A6C34878D82A}">
                    <a16:rowId xmlns:a16="http://schemas.microsoft.com/office/drawing/2014/main" val="10003"/>
                  </a:ext>
                </a:extLst>
              </a:tr>
              <a:tr h="0">
                <a:tc>
                  <a:txBody>
                    <a:bodyPr/>
                    <a:lstStyle/>
                    <a:p>
                      <a:pPr marL="0" lvl="0" indent="0" algn="l">
                        <a:buNone/>
                      </a:pPr>
                      <a:r>
                        <a:rPr sz="1100"/>
                        <a:t>National series</a:t>
                      </a:r>
                    </a:p>
                  </a:txBody>
                  <a:tcPr/>
                </a:tc>
                <a:tc>
                  <a:txBody>
                    <a:bodyPr/>
                    <a:lstStyle/>
                    <a:p>
                      <a:pPr marL="0" lvl="0" indent="0" algn="l">
                        <a:buNone/>
                      </a:pPr>
                      <a:r>
                        <a:rPr sz="1100"/>
                        <a:t>FAOSTAT balances, GFDx programme fields, FluNet</a:t>
                      </a:r>
                    </a:p>
                  </a:txBody>
                  <a:tcPr/>
                </a:tc>
                <a:tc>
                  <a:txBody>
                    <a:bodyPr/>
                    <a:lstStyle/>
                    <a:p>
                      <a:pPr marL="0" lvl="0" indent="0" algn="l">
                        <a:buNone/>
                      </a:pPr>
                      <a:r>
                        <a:rPr sz="1100"/>
                        <a:t>Constant within a country; dropped when the model is fitted</a:t>
                      </a:r>
                    </a:p>
                  </a:txBody>
                  <a:tcPr/>
                </a:tc>
                <a:tc>
                  <a:txBody>
                    <a:bodyPr/>
                    <a:lstStyle/>
                    <a:p>
                      <a:pPr marL="0" lvl="0" indent="0" algn="l">
                        <a:buNone/>
                      </a:pPr>
                      <a:r>
                        <a:rPr sz="1100"/>
                        <a:t>Survey year</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Linking in space: one spine, coded keys</a:t>
            </a:r>
          </a:p>
        </p:txBody>
      </p:sp>
      <p:sp>
        <p:nvSpPr>
          <p:cNvPr id="3" name="Content Placeholder 2"/>
          <p:cNvSpPr>
            <a:spLocks noGrp="1"/>
          </p:cNvSpPr>
          <p:nvPr>
            <p:ph sz="half" idx="1"/>
          </p:nvPr>
        </p:nvSpPr>
        <p:spPr/>
        <p:txBody>
          <a:bodyPr/>
          <a:lstStyle/>
          <a:p>
            <a:pPr lvl="0"/>
            <a:r>
              <a:rPr sz="1800"/>
              <a:t>554 districts on GADM 4.1: Gambia 37, Ghana 260, Malawi 243, Sierra Leone 14.</a:t>
            </a:r>
          </a:p>
          <a:p>
            <a:pPr lvl="0"/>
            <a:r>
              <a:rPr sz="1800"/>
              <a:t>Every unit carries its GADM code, HASC code and the OCHA p-code, so a join is by code where the source has one.</a:t>
            </a:r>
          </a:p>
          <a:p>
            <a:pPr lvl="0"/>
            <a:r>
              <a:rPr sz="1800"/>
              <a:t>Names are matched only as a last resort, through a reviewed alias table with a distance cap, and always on the region-district pair: Malawi has four Traditional Authority names that occur in two districts.</a:t>
            </a:r>
          </a:p>
          <a:p>
            <a:pPr lvl="0"/>
            <a:r>
              <a:rPr sz="1800"/>
              <a:t>A join that fans out or drops a unit fails the build. The population table had been missing one of each same-name pair for months; the test found it.</a:t>
            </a:r>
          </a:p>
        </p:txBody>
      </p:sp>
      <p:sp>
        <p:nvSpPr>
          <p:cNvPr id="4" name="Content Placeholder 3"/>
          <p:cNvSpPr>
            <a:spLocks noGrp="1"/>
          </p:cNvSpPr>
          <p:nvPr>
            <p:ph sz="half" idx="2"/>
          </p:nvPr>
        </p:nvSpPr>
        <p:spPr/>
        <p:txBody>
          <a:bodyPr/>
          <a:lstStyle/>
          <a:p>
            <a:pPr lvl="0"/>
            <a:r>
              <a:rPr sz="1800"/>
              <a:t>Ghana: 260 districts on the 2019 boundaries; sources on the 2012 boundaries (216) or the ten old regions are mapped with a crosswalk, never by name.</a:t>
            </a:r>
          </a:p>
          <a:p>
            <a:pPr lvl="0"/>
            <a:r>
              <a:rPr sz="1800"/>
              <a:t>Malawi: 243 Traditional Authorities; sources at district level (28) are broadcast down and flagged.</a:t>
            </a:r>
          </a:p>
          <a:p>
            <a:pPr lvl="0"/>
            <a:r>
              <a:rPr sz="1800"/>
              <a:t>The Gambia: 37 districts; Sierra Leone: 14 districts. With so few units, a fallback to the parent region changes more of the map.</a:t>
            </a:r>
          </a:p>
          <a:p>
            <a:pPr lvl="0"/>
            <a:r>
              <a:rPr sz="1800"/>
              <a:t>Survey clusters are linked to the same polygons for the cluster-level analyses and buffered for raster extraction.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Linking in time: four surveys, four years</a:t>
            </a:r>
          </a:p>
        </p:txBody>
      </p:sp>
      <p:sp>
        <p:nvSpPr>
          <p:cNvPr id="3" name="Content Placeholder 2"/>
          <p:cNvSpPr>
            <a:spLocks noGrp="1"/>
          </p:cNvSpPr>
          <p:nvPr>
            <p:ph sz="half" idx="1"/>
          </p:nvPr>
        </p:nvSpPr>
        <p:spPr/>
        <p:txBody>
          <a:bodyPr/>
          <a:lstStyle/>
          <a:p>
            <a:pPr marL="0" lvl="0" indent="0">
              <a:buNone/>
            </a:pPr>
            <a:r>
              <a:rPr sz="1800"/>
              <a:t>Surveys: The Gambia 2018, Ghana 2017, Malawi 2016, Sierra Leone 2013. Each column is placed by a written rule and stamped with the year used and the gap. 131 columns sit on the survey year in every country and 78 are static layers. 306 are three or more years off in at least one country: the DHS round paired with Ghana’s 2017 survey is from 2014, Sierra Leone’s 2013 survey predates the satellite embedding and its nearest MICS by four years, and MapSPAM’s 2010 crop map is the oldest layer everywhere.</a:t>
            </a:r>
          </a:p>
        </p:txBody>
      </p:sp>
      <p:pic>
        <p:nvPicPr>
          <p:cNvPr id="4" name="Picture 1" descr="MN-proxy-data-sources-2026-09_files/figure-pptx/time-1.png"/>
          <p:cNvPicPr>
            <a:picLocks noGrp="1" noChangeAspect="1"/>
          </p:cNvPicPr>
          <p:nvPr/>
        </p:nvPicPr>
        <p:blipFill>
          <a:blip r:embed="rId3"/>
          <a:stretch>
            <a:fillRect/>
          </a:stretch>
        </p:blipFill>
        <p:spPr bwMode="auto">
          <a:xfrm>
            <a:off x="6172200" y="2146300"/>
            <a:ext cx="5181600" cy="36830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From columns to domains</a:t>
            </a:r>
          </a:p>
        </p:txBody>
      </p:sp>
      <p:sp>
        <p:nvSpPr>
          <p:cNvPr id="3" name="Content Placeholder 2"/>
          <p:cNvSpPr>
            <a:spLocks noGrp="1"/>
          </p:cNvSpPr>
          <p:nvPr>
            <p:ph sz="half" idx="1"/>
          </p:nvPr>
        </p:nvSpPr>
        <p:spPr/>
        <p:txBody>
          <a:bodyPr/>
          <a:lstStyle/>
          <a:p>
            <a:pPr marL="0" lvl="0" indent="0">
              <a:buNone/>
            </a:pPr>
            <a:r>
              <a:rPr sz="1800"/>
              <a:t>28 domains. A domain groups columns by what they measure, whatever the source: the MAP, IHME and survey malaria columns sit in one group. Each domain enters the model as its leading principal components, to 80% of variance and at most twelve, learned on the training districts only.</a:t>
            </a:r>
          </a:p>
        </p:txBody>
      </p:sp>
      <p:pic>
        <p:nvPicPr>
          <p:cNvPr id="4" name="Picture 1" descr="MN-proxy-data-sources-2026-09_files/figure-pptx/domain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Building the harmonised dataset</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83439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tblGrid>
              <a:tr h="0">
                <a:tc>
                  <a:txBody>
                    <a:bodyPr/>
                    <a:lstStyle/>
                    <a:p>
                      <a:pPr marL="0" lvl="0" indent="0" algn="l">
                        <a:buNone/>
                      </a:pPr>
                      <a:r>
                        <a:rPr sz="1100"/>
                        <a:t>Step</a:t>
                      </a:r>
                    </a:p>
                  </a:txBody>
                  <a:tcPr/>
                </a:tc>
                <a:tc>
                  <a:txBody>
                    <a:bodyPr/>
                    <a:lstStyle/>
                    <a:p>
                      <a:pPr marL="0" lvl="0" indent="0" algn="l">
                        <a:buNone/>
                      </a:pPr>
                      <a:r>
                        <a:rPr sz="1100"/>
                        <a:t>What happens</a:t>
                      </a:r>
                    </a:p>
                  </a:txBody>
                  <a:tcPr/>
                </a:tc>
                <a:tc>
                  <a:txBody>
                    <a:bodyPr/>
                    <a:lstStyle/>
                    <a:p>
                      <a:pPr marL="0" lvl="0" indent="0" algn="l">
                        <a:buNone/>
                      </a:pPr>
                      <a:r>
                        <a:rPr sz="1100"/>
                        <a:t>Columns</a:t>
                      </a:r>
                    </a:p>
                  </a:txBody>
                  <a:tcPr/>
                </a:tc>
                <a:extLst>
                  <a:ext uri="{0D108BD9-81ED-4DB2-BD59-A6C34878D82A}">
                    <a16:rowId xmlns:a16="http://schemas.microsoft.com/office/drawing/2014/main" val="10000"/>
                  </a:ext>
                </a:extLst>
              </a:tr>
              <a:tr h="0">
                <a:tc>
                  <a:txBody>
                    <a:bodyPr/>
                    <a:lstStyle/>
                    <a:p>
                      <a:pPr marL="0" lvl="0" indent="0" algn="l">
                        <a:buNone/>
                      </a:pPr>
                      <a:r>
                        <a:rPr sz="1100"/>
                        <a:t>Assemble</a:t>
                      </a:r>
                    </a:p>
                  </a:txBody>
                  <a:tcPr/>
                </a:tc>
                <a:tc>
                  <a:txBody>
                    <a:bodyPr/>
                    <a:lstStyle/>
                    <a:p>
                      <a:pPr marL="0" lvl="0" indent="0" algn="l">
                        <a:buNone/>
                      </a:pPr>
                      <a:r>
                        <a:rPr sz="1100"/>
                        <a:t>Base extraction on the spine, food environment, extra sources, add-back sources</a:t>
                      </a: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lgn="l">
                        <a:buNone/>
                      </a:pPr>
                      <a:r>
                        <a:rPr sz="1100"/>
                        <a:t>Append blocks</a:t>
                      </a:r>
                    </a:p>
                  </a:txBody>
                  <a:tcPr/>
                </a:tc>
                <a:tc>
                  <a:txBody>
                    <a:bodyPr/>
                    <a:lstStyle/>
                    <a:p>
                      <a:pPr marL="0" lvl="0" indent="0" algn="l">
                        <a:buNone/>
                      </a:pPr>
                      <a:r>
                        <a:rPr sz="1100"/>
                        <a:t>Household budget surveys, MICS microdata, RTFP prices, MODIS NDVI, climate normals</a:t>
                      </a:r>
                    </a:p>
                  </a:txBody>
                  <a:tcPr/>
                </a:tc>
                <a:tc>
                  <a:txBody>
                    <a:bodyPr/>
                    <a:lstStyle/>
                    <a:p>
                      <a:pPr marL="0" lvl="0" indent="0" algn="l">
                        <a:buNone/>
                      </a:pPr>
                      <a:r>
                        <a:rPr sz="1100"/>
                        <a:t>614</a:t>
                      </a:r>
                    </a:p>
                  </a:txBody>
                  <a:tcPr/>
                </a:tc>
                <a:extLst>
                  <a:ext uri="{0D108BD9-81ED-4DB2-BD59-A6C34878D82A}">
                    <a16:rowId xmlns:a16="http://schemas.microsoft.com/office/drawing/2014/main" val="10002"/>
                  </a:ext>
                </a:extLst>
              </a:tr>
              <a:tr h="0">
                <a:tc>
                  <a:txBody>
                    <a:bodyPr/>
                    <a:lstStyle/>
                    <a:p>
                      <a:pPr marL="0" lvl="0" indent="0" algn="l">
                        <a:buNone/>
                      </a:pPr>
                      <a:r>
                        <a:rPr sz="1100"/>
                        <a:t>Exclude</a:t>
                      </a:r>
                    </a:p>
                  </a:txBody>
                  <a:tcPr/>
                </a:tc>
                <a:tc>
                  <a:txBody>
                    <a:bodyPr/>
                    <a:lstStyle/>
                    <a:p>
                      <a:pPr marL="0" lvl="0" indent="0" algn="l">
                        <a:buNone/>
                      </a:pPr>
                      <a:r>
                        <a:rPr sz="1100"/>
                        <a:t>Rules with a written reason: data defects, superseded layers, redundant twins</a:t>
                      </a:r>
                    </a:p>
                  </a:txBody>
                  <a:tcPr/>
                </a:tc>
                <a:tc>
                  <a:txBody>
                    <a:bodyPr/>
                    <a:lstStyle/>
                    <a:p>
                      <a:pPr marL="0" lvl="0" indent="0" algn="l">
                        <a:buNone/>
                      </a:pPr>
                      <a:r>
                        <a:rPr sz="1100"/>
                        <a:t>570</a:t>
                      </a:r>
                    </a:p>
                  </a:txBody>
                  <a:tcPr/>
                </a:tc>
                <a:extLst>
                  <a:ext uri="{0D108BD9-81ED-4DB2-BD59-A6C34878D82A}">
                    <a16:rowId xmlns:a16="http://schemas.microsoft.com/office/drawing/2014/main" val="10003"/>
                  </a:ext>
                </a:extLst>
              </a:tr>
              <a:tr h="0">
                <a:tc>
                  <a:txBody>
                    <a:bodyPr/>
                    <a:lstStyle/>
                    <a:p>
                      <a:pPr marL="0" lvl="0" indent="0" algn="l">
                        <a:buNone/>
                      </a:pPr>
                      <a:r>
                        <a:rPr sz="1100"/>
                        <a:t>Stamp</a:t>
                      </a:r>
                    </a:p>
                  </a:txBody>
                  <a:tcPr/>
                </a:tc>
                <a:tc>
                  <a:txBody>
                    <a:bodyPr/>
                    <a:lstStyle/>
                    <a:p>
                      <a:pPr marL="0" lvl="0" indent="0" algn="l">
                        <a:buNone/>
                      </a:pPr>
                      <a:r>
                        <a:rPr sz="1100"/>
                        <a:t>Access tier, within-country variation, alignment rule, year used and gap, modelled-surface flag</a:t>
                      </a:r>
                    </a:p>
                  </a:txBody>
                  <a:tcPr/>
                </a:tc>
                <a:tc>
                  <a:txBody>
                    <a:bodyPr/>
                    <a:lstStyle/>
                    <a:p>
                      <a:pPr marL="0" lvl="0" indent="0" algn="l">
                        <a:buNone/>
                      </a:pPr>
                      <a:r>
                        <a:rPr sz="1100"/>
                        <a:t>570</a:t>
                      </a:r>
                    </a:p>
                  </a:txBody>
                  <a:tcPr/>
                </a:tc>
                <a:extLst>
                  <a:ext uri="{0D108BD9-81ED-4DB2-BD59-A6C34878D82A}">
                    <a16:rowId xmlns:a16="http://schemas.microsoft.com/office/drawing/2014/main" val="10004"/>
                  </a:ext>
                </a:extLst>
              </a:tr>
              <a:tr h="0">
                <a:tc>
                  <a:txBody>
                    <a:bodyPr/>
                    <a:lstStyle/>
                    <a:p>
                      <a:pPr marL="0" lvl="0" indent="0" algn="l">
                        <a:buNone/>
                      </a:pPr>
                      <a:r>
                        <a:rPr sz="1100"/>
                        <a:t>Fit-time policy</a:t>
                      </a:r>
                    </a:p>
                  </a:txBody>
                  <a:tcPr/>
                </a:tc>
                <a:tc>
                  <a:txBody>
                    <a:bodyPr/>
                    <a:lstStyle/>
                    <a:p>
                      <a:pPr marL="0" lvl="0" indent="0" algn="l">
                        <a:buNone/>
                      </a:pPr>
                      <a:r>
                        <a:rPr sz="1100"/>
                        <a:t>Drop national constants and leakage columns</a:t>
                      </a:r>
                    </a:p>
                  </a:txBody>
                  <a:tcPr/>
                </a:tc>
                <a:tc>
                  <a:txBody>
                    <a:bodyPr/>
                    <a:lstStyle/>
                    <a:p>
                      <a:pPr marL="0" lvl="0" indent="0" algn="l">
                        <a:buNone/>
                      </a:pPr>
                      <a:r>
                        <a:rPr sz="1100"/>
                        <a:t>525</a:t>
                      </a:r>
                    </a:p>
                  </a:txBody>
                  <a:tcPr/>
                </a:tc>
                <a:extLst>
                  <a:ext uri="{0D108BD9-81ED-4DB2-BD59-A6C34878D82A}">
                    <a16:rowId xmlns:a16="http://schemas.microsoft.com/office/drawing/2014/main" val="10005"/>
                  </a:ext>
                </a:extLst>
              </a:tr>
              <a:tr h="0">
                <a:tc>
                  <a:txBody>
                    <a:bodyPr/>
                    <a:lstStyle/>
                    <a:p>
                      <a:pPr marL="0" lvl="0" indent="0" algn="l">
                        <a:buNone/>
                      </a:pPr>
                      <a:r>
                        <a:rPr sz="1100"/>
                        <a:t>Transport matrix</a:t>
                      </a:r>
                    </a:p>
                  </a:txBody>
                  <a:tcPr/>
                </a:tc>
                <a:tc>
                  <a:txBody>
                    <a:bodyPr/>
                    <a:lstStyle/>
                    <a:p>
                      <a:pPr marL="0" lvl="0" indent="0" algn="l">
                        <a:buNone/>
                      </a:pPr>
                      <a:r>
                        <a:rPr sz="1100"/>
                        <a:t>Per country: coverage of at least 70% and some variation; then the four-country intersection</a:t>
                      </a:r>
                    </a:p>
                  </a:txBody>
                  <a:tcPr/>
                </a:tc>
                <a:tc>
                  <a:txBody>
                    <a:bodyPr/>
                    <a:lstStyle/>
                    <a:p>
                      <a:pPr marL="0" lvl="0" indent="0" algn="l">
                        <a:buNone/>
                      </a:pPr>
                      <a:r>
                        <a:rPr sz="1100"/>
                        <a:t>464</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carries the signal</a:t>
            </a:r>
          </a:p>
        </p:txBody>
      </p:sp>
      <p:pic>
        <p:nvPicPr>
          <p:cNvPr id="3" name="Picture 1" descr="../../results/figures/policy_deck/fig3_top_predictors.png"/>
          <p:cNvPicPr>
            <a:picLocks noGrp="1" noChangeAspect="1"/>
          </p:cNvPicPr>
          <p:nvPr/>
        </p:nvPicPr>
        <p:blipFill>
          <a:blip r:embed="rId3"/>
          <a:stretch>
            <a:fillRect/>
          </a:stretch>
        </p:blipFill>
        <p:spPr bwMode="auto">
          <a:xfrm>
            <a:off x="2311400" y="1816100"/>
            <a:ext cx="7569200" cy="43434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One country, one outcome: the weights behind the best ranking</a:t>
            </a:r>
          </a:p>
        </p:txBody>
      </p:sp>
      <p:pic>
        <p:nvPicPr>
          <p:cNvPr id="3" name="Picture 1" descr="../../results/figures/policy_deck/fig12_vim_forest_Malawi_women_b12.png"/>
          <p:cNvPicPr>
            <a:picLocks noGrp="1" noChangeAspect="1"/>
          </p:cNvPicPr>
          <p:nvPr/>
        </p:nvPicPr>
        <p:blipFill>
          <a:blip r:embed="rId3"/>
          <a:stretch>
            <a:fillRect/>
          </a:stretch>
        </p:blipFill>
        <p:spPr bwMode="auto">
          <a:xfrm>
            <a:off x="2755900" y="1816100"/>
            <a:ext cx="6680200" cy="43434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the transport models reach for</a:t>
            </a:r>
          </a:p>
        </p:txBody>
      </p:sp>
      <p:sp>
        <p:nvSpPr>
          <p:cNvPr id="3" name="Content Placeholder 2"/>
          <p:cNvSpPr>
            <a:spLocks noGrp="1"/>
          </p:cNvSpPr>
          <p:nvPr>
            <p:ph idx="1"/>
          </p:nvPr>
        </p:nvSpPr>
        <p:spPr/>
        <p:txBody>
          <a:bodyPr/>
          <a:lstStyle/>
          <a:p>
            <a:pPr lvl="0"/>
            <a:r>
              <a:rPr sz="1800"/>
              <a:t>The landscape gradient: grassland and cropland cover, the share of ruminants in the herd (top twenty in 14 of the 22 held-out fits), cattle and sheep density, cereal-heavy cropping, and low plant productivity. Dry, grassy, pastoral, unproductive districts rank worse on every outcome.</a:t>
            </a:r>
          </a:p>
          <a:p>
            <a:pPr lvl="0"/>
            <a:r>
              <a:rPr sz="1800"/>
              <a:t>The modelled child-growth and anaemia surfaces: wasting, underweight and anaemia point to worse status; overweight points the other way and behaves as a wealth proxy.</a:t>
            </a:r>
          </a:p>
          <a:p>
            <a:pPr lvl="0"/>
            <a:r>
              <a:rPr sz="1800"/>
              <a:t>The food economy: the local staple price relative to the national level appears in 13 fits across 5 outcomes.</a:t>
            </a:r>
          </a:p>
          <a:p>
            <a:pPr lvl="0"/>
            <a:r>
              <a:rPr sz="1800"/>
              <a:t>Remoteness and demography: distance to the coast and the dependency ratio, in about a third of the fits.</a:t>
            </a:r>
          </a:p>
          <a:p>
            <a:pPr lvl="0"/>
            <a:r>
              <a:rPr sz="1800"/>
              <a:t>Malaria intensity recurs, with the sign a nutritional story would not predict: the high-malaria zones are the wetter, more productive ones. Single household-survey items rarely recur; malaria treatment in pregnancy and infant feeding of legumes are the exceptions.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travels to a new country, and what does not</a:t>
            </a:r>
          </a:p>
        </p:txBody>
      </p:sp>
      <p:sp>
        <p:nvSpPr>
          <p:cNvPr id="3" name="Content Placeholder 2"/>
          <p:cNvSpPr>
            <a:spLocks noGrp="1"/>
          </p:cNvSpPr>
          <p:nvPr>
            <p:ph sz="half" idx="1"/>
          </p:nvPr>
        </p:nvSpPr>
        <p:spPr/>
        <p:txBody>
          <a:bodyPr/>
          <a:lstStyle/>
          <a:p>
            <a:pPr marL="0" lvl="0" indent="0">
              <a:buNone/>
            </a:pPr>
            <a:r>
              <a:rPr sz="1800"/>
              <a:t>Loss in the transported ranking when a domain is removed, mean over 22 held-out country and outcome combinations. Climate and soil are load-bearing; the anaemia surfaces, agriculture and greenness follow; water and sanitation and education sit below zero.</a:t>
            </a:r>
          </a:p>
        </p:txBody>
      </p:sp>
      <p:pic>
        <p:nvPicPr>
          <p:cNvPr id="4" name="Picture 1" descr="MN-proxy-data-sources-2026-09_files/figure-pptx/travel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 would add next, and the rule for adding it</a:t>
            </a:r>
          </a:p>
        </p:txBody>
      </p:sp>
      <p:sp>
        <p:nvSpPr>
          <p:cNvPr id="3" name="Content Placeholder 2"/>
          <p:cNvSpPr>
            <a:spLocks noGrp="1"/>
          </p:cNvSpPr>
          <p:nvPr>
            <p:ph idx="1"/>
          </p:nvPr>
        </p:nvSpPr>
        <p:spPr/>
        <p:txBody>
          <a:bodyPr/>
          <a:lstStyle/>
          <a:p>
            <a:pPr lvl="0"/>
            <a:r>
              <a:rPr sz="1800"/>
              <a:t>Sub-national household-survey microdata with GPS: MICS cluster coordinates for Ghana 2017-18 and Malawi 2013-14 are requested; they turn region-level blocks into district ones.</a:t>
            </a:r>
          </a:p>
          <a:p>
            <a:pPr lvl="0"/>
            <a:r>
              <a:rPr sz="1800"/>
              <a:t>Diet from the household budget surveys for Ghana (GLSS7 food module) and Sierra Leone (SLIHS diary codes), so the 15 diet indicators cover all four countries.</a:t>
            </a:r>
          </a:p>
          <a:p>
            <a:pPr lvl="0"/>
            <a:r>
              <a:rPr sz="1800"/>
              <a:t>Conflict events (ACLED, four-country export), market prices for Ghana and Sierra Leone, a decision on FluNet’s national counts.</a:t>
            </a:r>
          </a:p>
          <a:p>
            <a:pPr lvl="0"/>
            <a:r>
              <a:rPr sz="1800"/>
              <a:t>Every candidate block passes the same test before it enters: within-country sign agreement, paired in-fill with and without it, and leave-one-country-out.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Appendix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Sources, tiers and alignment</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38227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0">
                <a:tc>
                  <a:txBody>
                    <a:bodyPr/>
                    <a:lstStyle/>
                    <a:p>
                      <a:pPr marL="0" lvl="0" indent="0" algn="l">
                        <a:buNone/>
                      </a:pPr>
                      <a:r>
                        <a:rPr sz="1100"/>
                        <a:t>Source</a:t>
                      </a:r>
                    </a:p>
                  </a:txBody>
                  <a:tcPr/>
                </a:tc>
                <a:tc>
                  <a:txBody>
                    <a:bodyPr/>
                    <a:lstStyle/>
                    <a:p>
                      <a:pPr marL="0" lvl="0" indent="0" algn="r">
                        <a:buNone/>
                      </a:pPr>
                      <a:r>
                        <a:rPr sz="1100"/>
                        <a:t>Columns</a:t>
                      </a:r>
                    </a:p>
                  </a:txBody>
                  <a:tcPr/>
                </a:tc>
                <a:tc>
                  <a:txBody>
                    <a:bodyPr/>
                    <a:lstStyle/>
                    <a:p>
                      <a:pPr marL="0" lvl="0" indent="0" algn="l">
                        <a:buNone/>
                      </a:pPr>
                      <a:r>
                        <a:rPr sz="1100"/>
                        <a:t>Tier</a:t>
                      </a:r>
                    </a:p>
                  </a:txBody>
                  <a:tcPr/>
                </a:tc>
                <a:tc>
                  <a:txBody>
                    <a:bodyPr/>
                    <a:lstStyle/>
                    <a:p>
                      <a:pPr marL="0" lvl="0" indent="0" algn="r">
                        <a:buNone/>
                      </a:pPr>
                      <a:r>
                        <a:rPr sz="1100"/>
                        <a:t>Domains</a:t>
                      </a:r>
                    </a:p>
                  </a:txBody>
                  <a:tcPr/>
                </a:tc>
                <a:tc>
                  <a:txBody>
                    <a:bodyPr/>
                    <a:lstStyle/>
                    <a:p>
                      <a:pPr marL="0" lvl="0" indent="0" algn="l">
                        <a:buNone/>
                      </a:pPr>
                      <a:r>
                        <a:rPr sz="1100"/>
                        <a:t>Year rule</a:t>
                      </a:r>
                    </a:p>
                  </a:txBody>
                  <a:tcPr/>
                </a:tc>
                <a:tc>
                  <a:txBody>
                    <a:bodyPr/>
                    <a:lstStyle/>
                    <a:p>
                      <a:pPr marL="0" lvl="0" indent="0" algn="l">
                        <a:buNone/>
                      </a:pPr>
                      <a:r>
                        <a:rPr sz="1100"/>
                        <a:t>Largest gap (years)</a:t>
                      </a:r>
                    </a:p>
                  </a:txBody>
                  <a:tcPr/>
                </a:tc>
                <a:extLst>
                  <a:ext uri="{0D108BD9-81ED-4DB2-BD59-A6C34878D82A}">
                    <a16:rowId xmlns:a16="http://schemas.microsoft.com/office/drawing/2014/main" val="10000"/>
                  </a:ext>
                </a:extLst>
              </a:tr>
              <a:tr h="0">
                <a:tc>
                  <a:txBody>
                    <a:bodyPr/>
                    <a:lstStyle/>
                    <a:p>
                      <a:pPr marL="0" lvl="0" indent="0" algn="l">
                        <a:buNone/>
                      </a:pPr>
                      <a:r>
                        <a:rPr sz="1100"/>
                        <a:t>DHS indicators</a:t>
                      </a:r>
                    </a:p>
                  </a:txBody>
                  <a:tcPr/>
                </a:tc>
                <a:tc>
                  <a:txBody>
                    <a:bodyPr/>
                    <a:lstStyle/>
                    <a:p>
                      <a:pPr marL="0" lvl="0" indent="0" algn="r">
                        <a:buNone/>
                      </a:pPr>
                      <a:r>
                        <a:rPr sz="1100"/>
                        <a:t>150</a:t>
                      </a:r>
                    </a:p>
                  </a:txBody>
                  <a:tcPr/>
                </a:tc>
                <a:tc>
                  <a:txBody>
                    <a:bodyPr/>
                    <a:lstStyle/>
                    <a:p>
                      <a:pPr marL="0" lvl="0" indent="0" algn="l">
                        <a:buNone/>
                      </a:pPr>
                      <a:r>
                        <a:rPr sz="1100"/>
                        <a:t>DHS (access agreement)</a:t>
                      </a:r>
                    </a:p>
                  </a:txBody>
                  <a:tcPr/>
                </a:tc>
                <a:tc>
                  <a:txBody>
                    <a:bodyPr/>
                    <a:lstStyle/>
                    <a:p>
                      <a:pPr marL="0" lvl="0" indent="0" algn="r">
                        <a:buNone/>
                      </a:pPr>
                      <a:r>
                        <a:rPr sz="1100"/>
                        <a:t>16</a:t>
                      </a:r>
                    </a:p>
                  </a:txBody>
                  <a:tcPr/>
                </a:tc>
                <a:tc>
                  <a:txBody>
                    <a:bodyPr/>
                    <a:lstStyle/>
                    <a:p>
                      <a:pPr marL="0" lvl="0" indent="0" algn="l">
                        <a:buNone/>
                      </a:pPr>
                      <a:r>
                        <a:rPr sz="1100"/>
                        <a:t>dhs_round</a:t>
                      </a:r>
                    </a:p>
                  </a:txBody>
                  <a:tcPr/>
                </a:tc>
                <a:tc>
                  <a:txBody>
                    <a:bodyPr/>
                    <a:lstStyle/>
                    <a:p>
                      <a:pPr marL="0" lvl="0" indent="0" algn="l">
                        <a:buNone/>
                      </a:pPr>
                      <a:r>
                        <a:rPr sz="1100"/>
                        <a:t>3</a:t>
                      </a:r>
                    </a:p>
                  </a:txBody>
                  <a:tcPr/>
                </a:tc>
                <a:extLst>
                  <a:ext uri="{0D108BD9-81ED-4DB2-BD59-A6C34878D82A}">
                    <a16:rowId xmlns:a16="http://schemas.microsoft.com/office/drawing/2014/main" val="10001"/>
                  </a:ext>
                </a:extLst>
              </a:tr>
              <a:tr h="0">
                <a:tc>
                  <a:txBody>
                    <a:bodyPr/>
                    <a:lstStyle/>
                    <a:p>
                      <a:pPr marL="0" lvl="0" indent="0" algn="l">
                        <a:buNone/>
                      </a:pPr>
                      <a:r>
                        <a:rPr sz="1100"/>
                        <a:t>Earth Engine: climate, land, built environment</a:t>
                      </a:r>
                    </a:p>
                  </a:txBody>
                  <a:tcPr/>
                </a:tc>
                <a:tc>
                  <a:txBody>
                    <a:bodyPr/>
                    <a:lstStyle/>
                    <a:p>
                      <a:pPr marL="0" lvl="0" indent="0" algn="r">
                        <a:buNone/>
                      </a:pPr>
                      <a:r>
                        <a:rPr sz="1100"/>
                        <a:t>80</a:t>
                      </a:r>
                    </a:p>
                  </a:txBody>
                  <a:tcPr/>
                </a:tc>
                <a:tc>
                  <a:txBody>
                    <a:bodyPr/>
                    <a:lstStyle/>
                    <a:p>
                      <a:pPr marL="0" lvl="0" indent="0" algn="l">
                        <a:buNone/>
                      </a:pPr>
                      <a:r>
                        <a:rPr sz="1100"/>
                        <a:t>Open data</a:t>
                      </a:r>
                    </a:p>
                  </a:txBody>
                  <a:tcPr/>
                </a:tc>
                <a:tc>
                  <a:txBody>
                    <a:bodyPr/>
                    <a:lstStyle/>
                    <a:p>
                      <a:pPr marL="0" lvl="0" indent="0" algn="r">
                        <a:buNone/>
                      </a:pPr>
                      <a:r>
                        <a:rPr sz="1100"/>
                        <a:t>4</a:t>
                      </a:r>
                    </a:p>
                  </a:txBody>
                  <a:tcPr/>
                </a:tc>
                <a:tc>
                  <a:txBody>
                    <a:bodyPr/>
                    <a:lstStyle/>
                    <a:p>
                      <a:pPr marL="0" lvl="0" indent="0" algn="l">
                        <a:buNone/>
                      </a:pPr>
                      <a:r>
                        <a:rPr sz="1100"/>
                        <a:t>access_2019, ccnl_2013, clim_anomaly, clim_normals, gee_t…</a:t>
                      </a:r>
                    </a:p>
                  </a:txBody>
                  <a:tcPr/>
                </a:tc>
                <a:tc>
                  <a:txBody>
                    <a:bodyPr/>
                    <a:lstStyle/>
                    <a:p>
                      <a:pPr marL="0" lvl="0" indent="0" algn="l">
                        <a:buNone/>
                      </a:pPr>
                      <a:r>
                        <a:rPr sz="1100"/>
                        <a:t>6</a:t>
                      </a:r>
                    </a:p>
                  </a:txBody>
                  <a:tcPr/>
                </a:tc>
                <a:extLst>
                  <a:ext uri="{0D108BD9-81ED-4DB2-BD59-A6C34878D82A}">
                    <a16:rowId xmlns:a16="http://schemas.microsoft.com/office/drawing/2014/main" val="10002"/>
                  </a:ext>
                </a:extLst>
              </a:tr>
              <a:tr h="0">
                <a:tc>
                  <a:txBody>
                    <a:bodyPr/>
                    <a:lstStyle/>
                    <a:p>
                      <a:pPr marL="0" lvl="0" indent="0" algn="l">
                        <a:buNone/>
                      </a:pPr>
                      <a:r>
                        <a:rPr sz="1100"/>
                        <a:t>AlphaEarth satellite embedding</a:t>
                      </a:r>
                    </a:p>
                  </a:txBody>
                  <a:tcPr/>
                </a:tc>
                <a:tc>
                  <a:txBody>
                    <a:bodyPr/>
                    <a:lstStyle/>
                    <a:p>
                      <a:pPr marL="0" lvl="0" indent="0" algn="r">
                        <a:buNone/>
                      </a:pPr>
                      <a:r>
                        <a:rPr sz="1100"/>
                        <a:t>64</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alphaearth_2017</a:t>
                      </a:r>
                    </a:p>
                  </a:txBody>
                  <a:tcPr/>
                </a:tc>
                <a:tc>
                  <a:txBody>
                    <a:bodyPr/>
                    <a:lstStyle/>
                    <a:p>
                      <a:pPr marL="0" lvl="0" indent="0" algn="l">
                        <a:buNone/>
                      </a:pPr>
                      <a:r>
                        <a:rPr sz="1100"/>
                        <a:t>4</a:t>
                      </a:r>
                    </a:p>
                  </a:txBody>
                  <a:tcPr/>
                </a:tc>
                <a:extLst>
                  <a:ext uri="{0D108BD9-81ED-4DB2-BD59-A6C34878D82A}">
                    <a16:rowId xmlns:a16="http://schemas.microsoft.com/office/drawing/2014/main" val="10003"/>
                  </a:ext>
                </a:extLst>
              </a:tr>
              <a:tr h="0">
                <a:tc>
                  <a:txBody>
                    <a:bodyPr/>
                    <a:lstStyle/>
                    <a:p>
                      <a:pPr marL="0" lvl="0" indent="0" algn="l">
                        <a:buNone/>
                      </a:pPr>
                      <a:r>
                        <a:rPr sz="1100"/>
                        <a:t>SoilGrids / iSDA soil</a:t>
                      </a:r>
                    </a:p>
                  </a:txBody>
                  <a:tcPr/>
                </a:tc>
                <a:tc>
                  <a:txBody>
                    <a:bodyPr/>
                    <a:lstStyle/>
                    <a:p>
                      <a:pPr marL="0" lvl="0" indent="0" algn="r">
                        <a:buNone/>
                      </a:pPr>
                      <a:r>
                        <a:rPr sz="1100"/>
                        <a:t>45</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soil_static</a:t>
                      </a:r>
                    </a:p>
                  </a:txBody>
                  <a:tcPr/>
                </a:tc>
                <a:tc>
                  <a:txBody>
                    <a:bodyPr/>
                    <a:lstStyle/>
                    <a:p>
                      <a:pPr marL="0" lvl="0" indent="0" algn="l">
                        <a:buNone/>
                      </a:pPr>
                      <a:r>
                        <a:rPr sz="1100"/>
                        <a:t>static</a:t>
                      </a:r>
                    </a:p>
                  </a:txBody>
                  <a:tcPr/>
                </a:tc>
                <a:extLst>
                  <a:ext uri="{0D108BD9-81ED-4DB2-BD59-A6C34878D82A}">
                    <a16:rowId xmlns:a16="http://schemas.microsoft.com/office/drawing/2014/main" val="10004"/>
                  </a:ext>
                </a:extLst>
              </a:tr>
              <a:tr h="0">
                <a:tc>
                  <a:txBody>
                    <a:bodyPr/>
                    <a:lstStyle/>
                    <a:p>
                      <a:pPr marL="0" lvl="0" indent="0" algn="l">
                        <a:buNone/>
                      </a:pPr>
                      <a:r>
                        <a:rPr sz="1100"/>
                        <a:t>IHME modelled surfaces</a:t>
                      </a:r>
                    </a:p>
                  </a:txBody>
                  <a:tcPr/>
                </a:tc>
                <a:tc>
                  <a:txBody>
                    <a:bodyPr/>
                    <a:lstStyle/>
                    <a:p>
                      <a:pPr marL="0" lvl="0" indent="0" algn="r">
                        <a:buNone/>
                      </a:pPr>
                      <a:r>
                        <a:rPr sz="1100"/>
                        <a:t>34</a:t>
                      </a:r>
                    </a:p>
                  </a:txBody>
                  <a:tcPr/>
                </a:tc>
                <a:tc>
                  <a:txBody>
                    <a:bodyPr/>
                    <a:lstStyle/>
                    <a:p>
                      <a:pPr marL="0" lvl="0" indent="0" algn="l">
                        <a:buNone/>
                      </a:pPr>
                      <a:r>
                        <a:rPr sz="1100"/>
                        <a:t>Open data</a:t>
                      </a:r>
                    </a:p>
                  </a:txBody>
                  <a:tcPr/>
                </a:tc>
                <a:tc>
                  <a:txBody>
                    <a:bodyPr/>
                    <a:lstStyle/>
                    <a:p>
                      <a:pPr marL="0" lvl="0" indent="0" algn="r">
                        <a:buNone/>
                      </a:pPr>
                      <a:r>
                        <a:rPr sz="1100"/>
                        <a:t>7</a:t>
                      </a:r>
                    </a:p>
                  </a:txBody>
                  <a:tcPr/>
                </a:tc>
                <a:tc>
                  <a:txBody>
                    <a:bodyPr/>
                    <a:lstStyle/>
                    <a:p>
                      <a:pPr marL="0" lvl="0" indent="0" algn="l">
                        <a:buNone/>
                      </a:pPr>
                      <a:r>
                        <a:rPr sz="1100"/>
                        <a:t>ihme_to_2017, ihme_to_2018, ihme_to_2019</a:t>
                      </a:r>
                    </a:p>
                  </a:txBody>
                  <a:tcPr/>
                </a:tc>
                <a:tc>
                  <a:txBody>
                    <a:bodyPr/>
                    <a:lstStyle/>
                    <a:p>
                      <a:pPr marL="0" lvl="0" indent="0" algn="l">
                        <a:buNone/>
                      </a:pPr>
                      <a:r>
                        <a:rPr sz="1100"/>
                        <a:t>1</a:t>
                      </a:r>
                    </a:p>
                  </a:txBody>
                  <a:tcPr/>
                </a:tc>
                <a:extLst>
                  <a:ext uri="{0D108BD9-81ED-4DB2-BD59-A6C34878D82A}">
                    <a16:rowId xmlns:a16="http://schemas.microsoft.com/office/drawing/2014/main" val="10005"/>
                  </a:ext>
                </a:extLst>
              </a:tr>
              <a:tr h="0">
                <a:tc>
                  <a:txBody>
                    <a:bodyPr/>
                    <a:lstStyle/>
                    <a:p>
                      <a:pPr marL="0" lvl="0" indent="0" algn="l">
                        <a:buNone/>
                      </a:pPr>
                      <a:r>
                        <a:rPr sz="1100"/>
                        <a:t>MICS microdata</a:t>
                      </a:r>
                    </a:p>
                  </a:txBody>
                  <a:tcPr/>
                </a:tc>
                <a:tc>
                  <a:txBody>
                    <a:bodyPr/>
                    <a:lstStyle/>
                    <a:p>
                      <a:pPr marL="0" lvl="0" indent="0" algn="r">
                        <a:buNone/>
                      </a:pPr>
                      <a:r>
                        <a:rPr sz="1100"/>
                        <a:t>30</a:t>
                      </a:r>
                    </a:p>
                  </a:txBody>
                  <a:tcPr/>
                </a:tc>
                <a:tc>
                  <a:txBody>
                    <a:bodyPr/>
                    <a:lstStyle/>
                    <a:p>
                      <a:pPr marL="0" lvl="0" indent="0" algn="l">
                        <a:buNone/>
                      </a:pPr>
                      <a:r>
                        <a:rPr sz="1100"/>
                        <a:t>Public survey microdata</a:t>
                      </a:r>
                    </a:p>
                  </a:txBody>
                  <a:tcPr/>
                </a:tc>
                <a:tc>
                  <a:txBody>
                    <a:bodyPr/>
                    <a:lstStyle/>
                    <a:p>
                      <a:pPr marL="0" lvl="0" indent="0" algn="r">
                        <a:buNone/>
                      </a:pPr>
                      <a:r>
                        <a:rPr sz="1100"/>
                        <a:t>7</a:t>
                      </a:r>
                    </a:p>
                  </a:txBody>
                  <a:tcPr/>
                </a:tc>
                <a:tc>
                  <a:txBody>
                    <a:bodyPr/>
                    <a:lstStyle/>
                    <a:p>
                      <a:pPr marL="0" lvl="0" indent="0" algn="l">
                        <a:buNone/>
                      </a:pPr>
                      <a:r>
                        <a:rPr sz="1100"/>
                        <a:t>mics_microdata</a:t>
                      </a:r>
                    </a:p>
                  </a:txBody>
                  <a:tcPr/>
                </a:tc>
                <a:tc>
                  <a:txBody>
                    <a:bodyPr/>
                    <a:lstStyle/>
                    <a:p>
                      <a:pPr marL="0" lvl="0" indent="0" algn="l">
                        <a:buNone/>
                      </a:pPr>
                      <a:r>
                        <a:rPr sz="1100"/>
                        <a:t>4</a:t>
                      </a:r>
                    </a:p>
                  </a:txBody>
                  <a:tcPr/>
                </a:tc>
                <a:extLst>
                  <a:ext uri="{0D108BD9-81ED-4DB2-BD59-A6C34878D82A}">
                    <a16:rowId xmlns:a16="http://schemas.microsoft.com/office/drawing/2014/main" val="10006"/>
                  </a:ext>
                </a:extLst>
              </a:tr>
              <a:tr h="0">
                <a:tc>
                  <a:txBody>
                    <a:bodyPr/>
                    <a:lstStyle/>
                    <a:p>
                      <a:pPr marL="0" lvl="0" indent="0" algn="l">
                        <a:buNone/>
                      </a:pPr>
                      <a:r>
                        <a:rPr sz="1100"/>
                        <a:t>GFDx fortification</a:t>
                      </a:r>
                    </a:p>
                  </a:txBody>
                  <a:tcPr/>
                </a:tc>
                <a:tc>
                  <a:txBody>
                    <a:bodyPr/>
                    <a:lstStyle/>
                    <a:p>
                      <a:pPr marL="0" lvl="0" indent="0" algn="r">
                        <a:buNone/>
                      </a:pPr>
                      <a:r>
                        <a:rPr sz="1100"/>
                        <a:t>27</a:t>
                      </a:r>
                    </a:p>
                  </a:txBody>
                  <a:tcPr/>
                </a:tc>
                <a:tc>
                  <a:txBody>
                    <a:bodyPr/>
                    <a:lstStyle/>
                    <a:p>
                      <a:pPr marL="0" lvl="0" indent="0" algn="l">
                        <a:buNone/>
                      </a:pPr>
                      <a:r>
                        <a:rPr sz="1100"/>
                        <a:t>Open data</a:t>
                      </a:r>
                    </a:p>
                  </a:txBody>
                  <a:tcPr/>
                </a:tc>
                <a:tc>
                  <a:txBody>
                    <a:bodyPr/>
                    <a:lstStyle/>
                    <a:p>
                      <a:pPr marL="0" lvl="0" indent="0" algn="r">
                        <a:buNone/>
                      </a:pPr>
                      <a:r>
                        <a:rPr sz="1100"/>
                        <a:t>3</a:t>
                      </a:r>
                    </a:p>
                  </a:txBody>
                  <a:tcPr/>
                </a:tc>
                <a:tc>
                  <a:txBody>
                    <a:bodyPr/>
                    <a:lstStyle/>
                    <a:p>
                      <a:pPr marL="0" lvl="0" indent="0" algn="l">
                        <a:buNone/>
                      </a:pPr>
                      <a:r>
                        <a:rPr sz="1100"/>
                        <a:t>gfdx_ntd_2015, gfdx_survey_year, gfdx_who_anaemia_2011, g…</a:t>
                      </a:r>
                    </a:p>
                  </a:txBody>
                  <a:tcPr/>
                </a:tc>
                <a:tc>
                  <a:txBody>
                    <a:bodyPr/>
                    <a:lstStyle/>
                    <a:p>
                      <a:pPr marL="0" lvl="0" indent="0" algn="l">
                        <a:buNone/>
                      </a:pPr>
                      <a:r>
                        <a:rPr sz="1100"/>
                        <a:t>6</a:t>
                      </a:r>
                    </a:p>
                  </a:txBody>
                  <a:tcPr/>
                </a:tc>
                <a:extLst>
                  <a:ext uri="{0D108BD9-81ED-4DB2-BD59-A6C34878D82A}">
                    <a16:rowId xmlns:a16="http://schemas.microsoft.com/office/drawing/2014/main" val="10007"/>
                  </a:ext>
                </a:extLst>
              </a:tr>
              <a:tr h="0">
                <a:tc>
                  <a:txBody>
                    <a:bodyPr/>
                    <a:lstStyle/>
                    <a:p>
                      <a:pPr marL="0" lvl="0" indent="0" algn="l">
                        <a:buNone/>
                      </a:pPr>
                      <a:r>
                        <a:rPr sz="1100"/>
                        <a:t>MICS via WHO HEAT</a:t>
                      </a:r>
                    </a:p>
                  </a:txBody>
                  <a:tcPr/>
                </a:tc>
                <a:tc>
                  <a:txBody>
                    <a:bodyPr/>
                    <a:lstStyle/>
                    <a:p>
                      <a:pPr marL="0" lvl="0" indent="0" algn="r">
                        <a:buNone/>
                      </a:pPr>
                      <a:r>
                        <a:rPr sz="1100"/>
                        <a:t>19</a:t>
                      </a:r>
                    </a:p>
                  </a:txBody>
                  <a:tcPr/>
                </a:tc>
                <a:tc>
                  <a:txBody>
                    <a:bodyPr/>
                    <a:lstStyle/>
                    <a:p>
                      <a:pPr marL="0" lvl="0" indent="0" algn="l">
                        <a:buNone/>
                      </a:pPr>
                      <a:r>
                        <a:rPr sz="1100"/>
                        <a:t>Public survey microdata</a:t>
                      </a:r>
                    </a:p>
                  </a:txBody>
                  <a:tcPr/>
                </a:tc>
                <a:tc>
                  <a:txBody>
                    <a:bodyPr/>
                    <a:lstStyle/>
                    <a:p>
                      <a:pPr marL="0" lvl="0" indent="0" algn="r">
                        <a:buNone/>
                      </a:pPr>
                      <a:r>
                        <a:rPr sz="1100"/>
                        <a:t>1</a:t>
                      </a:r>
                    </a:p>
                  </a:txBody>
                  <a:tcPr/>
                </a:tc>
                <a:tc>
                  <a:txBody>
                    <a:bodyPr/>
                    <a:lstStyle/>
                    <a:p>
                      <a:pPr marL="0" lvl="0" indent="0" algn="l">
                        <a:buNone/>
                      </a:pPr>
                      <a:r>
                        <a:rPr sz="1100"/>
                        <a:t>mics_heat_round</a:t>
                      </a:r>
                    </a:p>
                  </a:txBody>
                  <a:tcPr/>
                </a:tc>
                <a:tc>
                  <a:txBody>
                    <a:bodyPr/>
                    <a:lstStyle/>
                    <a:p>
                      <a:pPr marL="0" lvl="0" indent="0" algn="l">
                        <a:buNone/>
                      </a:pPr>
                      <a:r>
                        <a:rPr sz="1100"/>
                        <a:t>3</a:t>
                      </a:r>
                    </a:p>
                  </a:txBody>
                  <a:tcPr/>
                </a:tc>
                <a:extLst>
                  <a:ext uri="{0D108BD9-81ED-4DB2-BD59-A6C34878D82A}">
                    <a16:rowId xmlns:a16="http://schemas.microsoft.com/office/drawing/2014/main" val="10008"/>
                  </a:ext>
                </a:extLst>
              </a:tr>
              <a:tr h="0">
                <a:tc>
                  <a:txBody>
                    <a:bodyPr/>
                    <a:lstStyle/>
                    <a:p>
                      <a:pPr marL="0" lvl="0" indent="0" algn="l">
                        <a:buNone/>
                      </a:pPr>
                      <a:r>
                        <a:rPr sz="1100"/>
                        <a:t>Household budget surveys (HCES)</a:t>
                      </a:r>
                    </a:p>
                  </a:txBody>
                  <a:tcPr/>
                </a:tc>
                <a:tc>
                  <a:txBody>
                    <a:bodyPr/>
                    <a:lstStyle/>
                    <a:p>
                      <a:pPr marL="0" lvl="0" indent="0" algn="r">
                        <a:buNone/>
                      </a:pPr>
                      <a:r>
                        <a:rPr sz="1100"/>
                        <a:t>15</a:t>
                      </a:r>
                    </a:p>
                  </a:txBody>
                  <a:tcPr/>
                </a:tc>
                <a:tc>
                  <a:txBody>
                    <a:bodyPr/>
                    <a:lstStyle/>
                    <a:p>
                      <a:pPr marL="0" lvl="0" indent="0" algn="l">
                        <a:buNone/>
                      </a:pPr>
                      <a:r>
                        <a:rPr sz="1100"/>
                        <a:t>Public survey microdata</a:t>
                      </a:r>
                    </a:p>
                  </a:txBody>
                  <a:tcPr/>
                </a:tc>
                <a:tc>
                  <a:txBody>
                    <a:bodyPr/>
                    <a:lstStyle/>
                    <a:p>
                      <a:pPr marL="0" lvl="0" indent="0" algn="r">
                        <a:buNone/>
                      </a:pPr>
                      <a:r>
                        <a:rPr sz="1100"/>
                        <a:t>1</a:t>
                      </a:r>
                    </a:p>
                  </a:txBody>
                  <a:tcPr/>
                </a:tc>
                <a:tc>
                  <a:txBody>
                    <a:bodyPr/>
                    <a:lstStyle/>
                    <a:p>
                      <a:pPr marL="0" lvl="0" indent="0" algn="l">
                        <a:buNone/>
                      </a:pPr>
                      <a:r>
                        <a:rPr sz="1100"/>
                        <a:t>hces_year</a:t>
                      </a:r>
                    </a:p>
                  </a:txBody>
                  <a:tcPr/>
                </a:tc>
                <a:tc>
                  <a:txBody>
                    <a:bodyPr/>
                    <a:lstStyle/>
                    <a:p>
                      <a:pPr marL="0" lvl="0" indent="0" algn="l">
                        <a:buNone/>
                      </a:pPr>
                      <a:r>
                        <a:rPr sz="1100"/>
                        <a:t>5</a:t>
                      </a:r>
                    </a:p>
                  </a:txBody>
                  <a:tcPr/>
                </a:tc>
                <a:extLst>
                  <a:ext uri="{0D108BD9-81ED-4DB2-BD59-A6C34878D82A}">
                    <a16:rowId xmlns:a16="http://schemas.microsoft.com/office/drawing/2014/main" val="10009"/>
                  </a:ext>
                </a:extLst>
              </a:tr>
              <a:tr h="0">
                <a:tc>
                  <a:txBody>
                    <a:bodyPr/>
                    <a:lstStyle/>
                    <a:p>
                      <a:pPr marL="0" lvl="0" indent="0" algn="l">
                        <a:buNone/>
                      </a:pPr>
                      <a:r>
                        <a:rPr sz="1100"/>
                        <a:t>MapSPAM crops</a:t>
                      </a:r>
                    </a:p>
                  </a:txBody>
                  <a:tcPr/>
                </a:tc>
                <a:tc>
                  <a:txBody>
                    <a:bodyPr/>
                    <a:lstStyle/>
                    <a:p>
                      <a:pPr marL="0" lvl="0" indent="0" algn="r">
                        <a:buNone/>
                      </a:pPr>
                      <a:r>
                        <a:rPr sz="1100"/>
                        <a:t>12</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spam_2010</a:t>
                      </a:r>
                    </a:p>
                  </a:txBody>
                  <a:tcPr/>
                </a:tc>
                <a:tc>
                  <a:txBody>
                    <a:bodyPr/>
                    <a:lstStyle/>
                    <a:p>
                      <a:pPr marL="0" lvl="0" indent="0" algn="l">
                        <a:buNone/>
                      </a:pPr>
                      <a:r>
                        <a:rPr sz="1100"/>
                        <a:t>8</a:t>
                      </a:r>
                    </a:p>
                  </a:txBody>
                  <a:tcPr/>
                </a:tc>
                <a:extLst>
                  <a:ext uri="{0D108BD9-81ED-4DB2-BD59-A6C34878D82A}">
                    <a16:rowId xmlns:a16="http://schemas.microsoft.com/office/drawing/2014/main" val="10010"/>
                  </a:ext>
                </a:extLst>
              </a:tr>
              <a:tr h="0">
                <a:tc>
                  <a:txBody>
                    <a:bodyPr/>
                    <a:lstStyle/>
                    <a:p>
                      <a:pPr marL="0" lvl="0" indent="0" algn="l">
                        <a:buNone/>
                      </a:pPr>
                      <a:r>
                        <a:rPr sz="1100"/>
                        <a:t>Malaria Atlas Project</a:t>
                      </a:r>
                    </a:p>
                  </a:txBody>
                  <a:tcPr/>
                </a:tc>
                <a:tc>
                  <a:txBody>
                    <a:bodyPr/>
                    <a:lstStyle/>
                    <a:p>
                      <a:pPr marL="0" lvl="0" indent="0" algn="r">
                        <a:buNone/>
                      </a:pPr>
                      <a:r>
                        <a:rPr sz="1100"/>
                        <a:t>11</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map_blood_2012, map_survey_year</a:t>
                      </a:r>
                    </a:p>
                  </a:txBody>
                  <a:tcPr/>
                </a:tc>
                <a:tc>
                  <a:txBody>
                    <a:bodyPr/>
                    <a:lstStyle/>
                    <a:p>
                      <a:pPr marL="0" lvl="0" indent="0" algn="l">
                        <a:buNone/>
                      </a:pPr>
                      <a:r>
                        <a:rPr sz="1100"/>
                        <a:t>6</a:t>
                      </a:r>
                    </a:p>
                  </a:txBody>
                  <a:tcPr/>
                </a:tc>
                <a:extLst>
                  <a:ext uri="{0D108BD9-81ED-4DB2-BD59-A6C34878D82A}">
                    <a16:rowId xmlns:a16="http://schemas.microsoft.com/office/drawing/2014/main" val="10011"/>
                  </a:ext>
                </a:extLst>
              </a:tr>
              <a:tr h="0">
                <a:tc>
                  <a:txBody>
                    <a:bodyPr/>
                    <a:lstStyle/>
                    <a:p>
                      <a:pPr marL="0" lvl="0" indent="0" algn="l">
                        <a:buNone/>
                      </a:pPr>
                      <a:r>
                        <a:rPr sz="1100"/>
                        <a:t>WorldPop / GHS / RWI</a:t>
                      </a:r>
                    </a:p>
                  </a:txBody>
                  <a:tcPr/>
                </a:tc>
                <a:tc>
                  <a:txBody>
                    <a:bodyPr/>
                    <a:lstStyle/>
                    <a:p>
                      <a:pPr marL="0" lvl="0" indent="0" algn="r">
                        <a:buNone/>
                      </a:pPr>
                      <a:r>
                        <a:rPr sz="1100"/>
                        <a:t>10</a:t>
                      </a:r>
                    </a:p>
                  </a:txBody>
                  <a:tcPr/>
                </a:tc>
                <a:tc>
                  <a:txBody>
                    <a:bodyPr/>
                    <a:lstStyle/>
                    <a:p>
                      <a:pPr marL="0" lvl="0" indent="0" algn="l">
                        <a:buNone/>
                      </a:pPr>
                      <a:r>
                        <a:rPr sz="1100"/>
                        <a:t>Open data</a:t>
                      </a:r>
                    </a:p>
                  </a:txBody>
                  <a:tcPr/>
                </a:tc>
                <a:tc>
                  <a:txBody>
                    <a:bodyPr/>
                    <a:lstStyle/>
                    <a:p>
                      <a:pPr marL="0" lvl="0" indent="0" algn="r">
                        <a:buNone/>
                      </a:pPr>
                      <a:r>
                        <a:rPr sz="1100"/>
                        <a:t>3</a:t>
                      </a:r>
                    </a:p>
                  </a:txBody>
                  <a:tcPr/>
                </a:tc>
                <a:tc>
                  <a:txBody>
                    <a:bodyPr/>
                    <a:lstStyle/>
                    <a:p>
                      <a:pPr marL="0" lvl="0" indent="0" algn="l">
                        <a:buNone/>
                      </a:pPr>
                      <a:r>
                        <a:rPr sz="1100"/>
                        <a:t>ghsl_epoch, rwi_2019, wpop_2020, wpop_density_sy</a:t>
                      </a:r>
                    </a:p>
                  </a:txBody>
                  <a:tcPr/>
                </a:tc>
                <a:tc>
                  <a:txBody>
                    <a:bodyPr/>
                    <a:lstStyle/>
                    <a:p>
                      <a:pPr marL="0" lvl="0" indent="0" algn="l">
                        <a:buNone/>
                      </a:pPr>
                      <a:r>
                        <a:rPr sz="1100"/>
                        <a:t>7</a:t>
                      </a:r>
                    </a:p>
                  </a:txBody>
                  <a:tcPr/>
                </a:tc>
                <a:extLst>
                  <a:ext uri="{0D108BD9-81ED-4DB2-BD59-A6C34878D82A}">
                    <a16:rowId xmlns:a16="http://schemas.microsoft.com/office/drawing/2014/main" val="10012"/>
                  </a:ext>
                </a:extLst>
              </a:tr>
              <a:tr h="0">
                <a:tc>
                  <a:txBody>
                    <a:bodyPr/>
                    <a:lstStyle/>
                    <a:p>
                      <a:pPr marL="0" lvl="0" indent="0" algn="l">
                        <a:buNone/>
                      </a:pPr>
                      <a:r>
                        <a:rPr sz="1100"/>
                        <a:t>Koppen / agro-ecological zones</a:t>
                      </a:r>
                    </a:p>
                  </a:txBody>
                  <a:tcPr/>
                </a:tc>
                <a:tc>
                  <a:txBody>
                    <a:bodyPr/>
                    <a:lstStyle/>
                    <a:p>
                      <a:pPr marL="0" lvl="0" indent="0" algn="r">
                        <a:buNone/>
                      </a:pPr>
                      <a:r>
                        <a:rPr sz="1100"/>
                        <a:t>9</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aez_static, koppen_static</a:t>
                      </a:r>
                    </a:p>
                  </a:txBody>
                  <a:tcPr/>
                </a:tc>
                <a:tc>
                  <a:txBody>
                    <a:bodyPr/>
                    <a:lstStyle/>
                    <a:p>
                      <a:pPr marL="0" lvl="0" indent="0" algn="l">
                        <a:buNone/>
                      </a:pPr>
                      <a:r>
                        <a:rPr sz="1100"/>
                        <a:t>static</a:t>
                      </a:r>
                    </a:p>
                  </a:txBody>
                  <a:tcPr/>
                </a:tc>
                <a:extLst>
                  <a:ext uri="{0D108BD9-81ED-4DB2-BD59-A6C34878D82A}">
                    <a16:rowId xmlns:a16="http://schemas.microsoft.com/office/drawing/2014/main" val="10013"/>
                  </a:ext>
                </a:extLst>
              </a:tr>
              <a:tr h="0">
                <a:tc>
                  <a:txBody>
                    <a:bodyPr/>
                    <a:lstStyle/>
                    <a:p>
                      <a:pPr marL="0" lvl="0" indent="0" algn="l">
                        <a:buNone/>
                      </a:pPr>
                      <a:r>
                        <a:rPr sz="1100"/>
                        <a:t>WFP market prices</a:t>
                      </a:r>
                    </a:p>
                  </a:txBody>
                  <a:tcPr/>
                </a:tc>
                <a:tc>
                  <a:txBody>
                    <a:bodyPr/>
                    <a:lstStyle/>
                    <a:p>
                      <a:pPr marL="0" lvl="0" indent="0" algn="r">
                        <a:buNone/>
                      </a:pPr>
                      <a:r>
                        <a:rPr sz="1100"/>
                        <a:t>9</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fprice_window</a:t>
                      </a:r>
                    </a:p>
                  </a:txBody>
                  <a:tcPr/>
                </a:tc>
                <a:tc>
                  <a:txBody>
                    <a:bodyPr/>
                    <a:lstStyle/>
                    <a:p>
                      <a:pPr marL="0" lvl="0" indent="0" algn="l">
                        <a:buNone/>
                      </a:pPr>
                      <a:r>
                        <a:rPr sz="1100"/>
                        <a:t>0</a:t>
                      </a:r>
                    </a:p>
                  </a:txBody>
                  <a:tcPr/>
                </a:tc>
                <a:extLst>
                  <a:ext uri="{0D108BD9-81ED-4DB2-BD59-A6C34878D82A}">
                    <a16:rowId xmlns:a16="http://schemas.microsoft.com/office/drawing/2014/main" val="10014"/>
                  </a:ext>
                </a:extLst>
              </a:tr>
              <a:tr h="0">
                <a:tc>
                  <a:txBody>
                    <a:bodyPr/>
                    <a:lstStyle/>
                    <a:p>
                      <a:pPr marL="0" lvl="0" indent="0" algn="l">
                        <a:buNone/>
                      </a:pPr>
                      <a:r>
                        <a:rPr sz="1100"/>
                        <a:t>FAOSTAT food balance (national)</a:t>
                      </a:r>
                    </a:p>
                  </a:txBody>
                  <a:tcPr/>
                </a:tc>
                <a:tc>
                  <a:txBody>
                    <a:bodyPr/>
                    <a:lstStyle/>
                    <a:p>
                      <a:pPr marL="0" lvl="0" indent="0" algn="r">
                        <a:buNone/>
                      </a:pPr>
                      <a:r>
                        <a:rPr sz="1100"/>
                        <a:t>8</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fao_supply</a:t>
                      </a:r>
                    </a:p>
                  </a:txBody>
                  <a:tcPr/>
                </a:tc>
                <a:tc>
                  <a:txBody>
                    <a:bodyPr/>
                    <a:lstStyle/>
                    <a:p>
                      <a:pPr marL="0" lvl="0" indent="0" algn="l">
                        <a:buNone/>
                      </a:pPr>
                      <a:r>
                        <a:rPr sz="1100"/>
                        <a:t>0</a:t>
                      </a:r>
                    </a:p>
                  </a:txBody>
                  <a:tcPr/>
                </a:tc>
                <a:extLst>
                  <a:ext uri="{0D108BD9-81ED-4DB2-BD59-A6C34878D82A}">
                    <a16:rowId xmlns:a16="http://schemas.microsoft.com/office/drawing/2014/main" val="10015"/>
                  </a:ext>
                </a:extLst>
              </a:tr>
              <a:tr h="0">
                <a:tc>
                  <a:txBody>
                    <a:bodyPr/>
                    <a:lstStyle/>
                    <a:p>
                      <a:pPr marL="0" lvl="0" indent="0" algn="l">
                        <a:buNone/>
                      </a:pPr>
                      <a:r>
                        <a:rPr sz="1100"/>
                        <a:t>Gridded Livestock of the World</a:t>
                      </a:r>
                    </a:p>
                  </a:txBody>
                  <a:tcPr/>
                </a:tc>
                <a:tc>
                  <a:txBody>
                    <a:bodyPr/>
                    <a:lstStyle/>
                    <a:p>
                      <a:pPr marL="0" lvl="0" indent="0" algn="r">
                        <a:buNone/>
                      </a:pPr>
                      <a:r>
                        <a:rPr sz="1100"/>
                        <a:t>8</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glw4</a:t>
                      </a:r>
                    </a:p>
                  </a:txBody>
                  <a:tcPr/>
                </a:tc>
                <a:tc>
                  <a:txBody>
                    <a:bodyPr/>
                    <a:lstStyle/>
                    <a:p>
                      <a:pPr marL="0" lvl="0" indent="0" algn="l">
                        <a:buNone/>
                      </a:pPr>
                      <a:r>
                        <a:rPr sz="1100"/>
                        <a:t>3</a:t>
                      </a:r>
                    </a:p>
                  </a:txBody>
                  <a:tcPr/>
                </a:tc>
                <a:extLst>
                  <a:ext uri="{0D108BD9-81ED-4DB2-BD59-A6C34878D82A}">
                    <a16:rowId xmlns:a16="http://schemas.microsoft.com/office/drawing/2014/main" val="10016"/>
                  </a:ext>
                </a:extLst>
              </a:tr>
              <a:tr h="0">
                <a:tc>
                  <a:txBody>
                    <a:bodyPr/>
                    <a:lstStyle/>
                    <a:p>
                      <a:pPr marL="0" lvl="0" indent="0" algn="l">
                        <a:buNone/>
                      </a:pPr>
                      <a:r>
                        <a:rPr sz="1100"/>
                        <a:t>Earth Engine: water and coast distance</a:t>
                      </a:r>
                    </a:p>
                  </a:txBody>
                  <a:tcPr/>
                </a:tc>
                <a:tc>
                  <a:txBody>
                    <a:bodyPr/>
                    <a:lstStyle/>
                    <a:p>
                      <a:pPr marL="0" lvl="0" indent="0" algn="r">
                        <a:buNone/>
                      </a:pPr>
                      <a:r>
                        <a:rPr sz="1100"/>
                        <a:t>6</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water_static</a:t>
                      </a:r>
                    </a:p>
                  </a:txBody>
                  <a:tcPr/>
                </a:tc>
                <a:tc>
                  <a:txBody>
                    <a:bodyPr/>
                    <a:lstStyle/>
                    <a:p>
                      <a:pPr marL="0" lvl="0" indent="0" algn="l">
                        <a:buNone/>
                      </a:pPr>
                      <a:r>
                        <a:rPr sz="1100"/>
                        <a:t>static</a:t>
                      </a:r>
                    </a:p>
                  </a:txBody>
                  <a:tcPr/>
                </a:tc>
                <a:extLst>
                  <a:ext uri="{0D108BD9-81ED-4DB2-BD59-A6C34878D82A}">
                    <a16:rowId xmlns:a16="http://schemas.microsoft.com/office/drawing/2014/main" val="10017"/>
                  </a:ext>
                </a:extLst>
              </a:tr>
              <a:tr h="0">
                <a:tc>
                  <a:txBody>
                    <a:bodyPr/>
                    <a:lstStyle/>
                    <a:p>
                      <a:pPr marL="0" lvl="0" indent="0" algn="l">
                        <a:buNone/>
                      </a:pPr>
                      <a:r>
                        <a:rPr sz="1100"/>
                        <a:t>MIMI dietary inadequacy (Ghana)</a:t>
                      </a:r>
                    </a:p>
                  </a:txBody>
                  <a:tcPr/>
                </a:tc>
                <a:tc>
                  <a:txBody>
                    <a:bodyPr/>
                    <a:lstStyle/>
                    <a:p>
                      <a:pPr marL="0" lvl="0" indent="0" algn="r">
                        <a:buNone/>
                      </a:pPr>
                      <a:r>
                        <a:rPr sz="1100"/>
                        <a:t>6</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mimi_glss7</a:t>
                      </a:r>
                    </a:p>
                  </a:txBody>
                  <a:tcPr/>
                </a:tc>
                <a:tc>
                  <a:txBody>
                    <a:bodyPr/>
                    <a:lstStyle/>
                    <a:p>
                      <a:pPr marL="0" lvl="0" indent="0" algn="l">
                        <a:buNone/>
                      </a:pPr>
                      <a:r>
                        <a:rPr sz="1100"/>
                        <a:t>1</a:t>
                      </a:r>
                    </a:p>
                  </a:txBody>
                  <a:tcPr/>
                </a:tc>
                <a:extLst>
                  <a:ext uri="{0D108BD9-81ED-4DB2-BD59-A6C34878D82A}">
                    <a16:rowId xmlns:a16="http://schemas.microsoft.com/office/drawing/2014/main" val="10018"/>
                  </a:ext>
                </a:extLst>
              </a:tr>
              <a:tr h="0">
                <a:tc>
                  <a:txBody>
                    <a:bodyPr/>
                    <a:lstStyle/>
                    <a:p>
                      <a:pPr marL="0" lvl="0" indent="0" algn="l">
                        <a:buNone/>
                      </a:pPr>
                      <a:r>
                        <a:rPr sz="1100"/>
                        <a:t>WHO ESPEN helminths</a:t>
                      </a:r>
                    </a:p>
                  </a:txBody>
                  <a:tcPr/>
                </a:tc>
                <a:tc>
                  <a:txBody>
                    <a:bodyPr/>
                    <a:lstStyle/>
                    <a:p>
                      <a:pPr marL="0" lvl="0" indent="0" algn="r">
                        <a:buNone/>
                      </a:pPr>
                      <a:r>
                        <a:rPr sz="1100"/>
                        <a:t>6</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espen_mda, espen_nearest</a:t>
                      </a:r>
                    </a:p>
                  </a:txBody>
                  <a:tcPr/>
                </a:tc>
                <a:tc>
                  <a:txBody>
                    <a:bodyPr/>
                    <a:lstStyle/>
                    <a:p>
                      <a:pPr marL="0" lvl="0" indent="0" algn="l">
                        <a:buNone/>
                      </a:pPr>
                      <a:r>
                        <a:rPr sz="1100"/>
                        <a:t>3</a:t>
                      </a:r>
                    </a:p>
                  </a:txBody>
                  <a:tcPr/>
                </a:tc>
                <a:extLst>
                  <a:ext uri="{0D108BD9-81ED-4DB2-BD59-A6C34878D82A}">
                    <a16:rowId xmlns:a16="http://schemas.microsoft.com/office/drawing/2014/main" val="10019"/>
                  </a:ext>
                </a:extLst>
              </a:tr>
              <a:tr h="0">
                <a:tc>
                  <a:txBody>
                    <a:bodyPr/>
                    <a:lstStyle/>
                    <a:p>
                      <a:pPr marL="0" lvl="0" indent="0" algn="l">
                        <a:buNone/>
                      </a:pPr>
                      <a:r>
                        <a:rPr sz="1100"/>
                        <a:t>World Bank RTFP prices</a:t>
                      </a:r>
                    </a:p>
                  </a:txBody>
                  <a:tcPr/>
                </a:tc>
                <a:tc>
                  <a:txBody>
                    <a:bodyPr/>
                    <a:lstStyle/>
                    <a:p>
                      <a:pPr marL="0" lvl="0" indent="0" algn="r">
                        <a:buNone/>
                      </a:pPr>
                      <a:r>
                        <a:rPr sz="1100"/>
                        <a:t>6</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rtfp_window</a:t>
                      </a:r>
                    </a:p>
                  </a:txBody>
                  <a:tcPr/>
                </a:tc>
                <a:tc>
                  <a:txBody>
                    <a:bodyPr/>
                    <a:lstStyle/>
                    <a:p>
                      <a:pPr marL="0" lvl="0" indent="0" algn="l">
                        <a:buNone/>
                      </a:pPr>
                      <a:r>
                        <a:rPr sz="1100"/>
                        <a:t>0</a:t>
                      </a:r>
                    </a:p>
                  </a:txBody>
                  <a:tcPr/>
                </a:tc>
                <a:extLst>
                  <a:ext uri="{0D108BD9-81ED-4DB2-BD59-A6C34878D82A}">
                    <a16:rowId xmlns:a16="http://schemas.microsoft.com/office/drawing/2014/main" val="10020"/>
                  </a:ext>
                </a:extLst>
              </a:tr>
              <a:tr h="0">
                <a:tc>
                  <a:txBody>
                    <a:bodyPr/>
                    <a:lstStyle/>
                    <a:p>
                      <a:pPr marL="0" lvl="0" indent="0" algn="l">
                        <a:buNone/>
                      </a:pPr>
                      <a:r>
                        <a:rPr sz="1100"/>
                        <a:t>WHO anaemia estimates</a:t>
                      </a:r>
                    </a:p>
                  </a:txBody>
                  <a:tcPr/>
                </a:tc>
                <a:tc>
                  <a:txBody>
                    <a:bodyPr/>
                    <a:lstStyle/>
                    <a:p>
                      <a:pPr marL="0" lvl="0" indent="0" algn="r">
                        <a:buNone/>
                      </a:pPr>
                      <a:r>
                        <a:rPr sz="1100"/>
                        <a:t>5</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who_anaemia_sy</a:t>
                      </a:r>
                    </a:p>
                  </a:txBody>
                  <a:tcPr/>
                </a:tc>
                <a:tc>
                  <a:txBody>
                    <a:bodyPr/>
                    <a:lstStyle/>
                    <a:p>
                      <a:pPr marL="0" lvl="0" indent="0" algn="l">
                        <a:buNone/>
                      </a:pPr>
                      <a:r>
                        <a:rPr sz="1100"/>
                        <a:t>0</a:t>
                      </a:r>
                    </a:p>
                  </a:txBody>
                  <a:tcPr/>
                </a:tc>
                <a:extLst>
                  <a:ext uri="{0D108BD9-81ED-4DB2-BD59-A6C34878D82A}">
                    <a16:rowId xmlns:a16="http://schemas.microsoft.com/office/drawing/2014/main" val="10021"/>
                  </a:ext>
                </a:extLst>
              </a:tr>
              <a:tr h="0">
                <a:tc>
                  <a:txBody>
                    <a:bodyPr/>
                    <a:lstStyle/>
                    <a:p>
                      <a:pPr marL="0" lvl="0" indent="0" algn="l">
                        <a:buNone/>
                      </a:pPr>
                      <a:r>
                        <a:rPr sz="1100"/>
                        <a:t>HFID food security</a:t>
                      </a:r>
                    </a:p>
                  </a:txBody>
                  <a:tcPr/>
                </a:tc>
                <a:tc>
                  <a:txBody>
                    <a:bodyPr/>
                    <a:lstStyle/>
                    <a:p>
                      <a:pPr marL="0" lvl="0" indent="0" algn="r">
                        <a:buNone/>
                      </a:pPr>
                      <a:r>
                        <a:rPr sz="1100"/>
                        <a:t>4</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fsec_window</a:t>
                      </a:r>
                    </a:p>
                  </a:txBody>
                  <a:tcPr/>
                </a:tc>
                <a:tc>
                  <a:txBody>
                    <a:bodyPr/>
                    <a:lstStyle/>
                    <a:p>
                      <a:pPr marL="0" lvl="0" indent="0" algn="l">
                        <a:buNone/>
                      </a:pPr>
                      <a:r>
                        <a:rPr sz="1100"/>
                        <a:t>0</a:t>
                      </a:r>
                    </a:p>
                  </a:txBody>
                  <a:tcPr/>
                </a:tc>
                <a:extLst>
                  <a:ext uri="{0D108BD9-81ED-4DB2-BD59-A6C34878D82A}">
                    <a16:rowId xmlns:a16="http://schemas.microsoft.com/office/drawing/2014/main" val="10022"/>
                  </a:ext>
                </a:extLst>
              </a:tr>
              <a:tr h="0">
                <a:tc>
                  <a:txBody>
                    <a:bodyPr/>
                    <a:lstStyle/>
                    <a:p>
                      <a:pPr marL="0" lvl="0" indent="0" algn="l">
                        <a:buNone/>
                      </a:pPr>
                      <a:r>
                        <a:rPr sz="1100"/>
                        <a:t>WHO FluNet</a:t>
                      </a:r>
                    </a:p>
                  </a:txBody>
                  <a:tcPr/>
                </a:tc>
                <a:tc>
                  <a:txBody>
                    <a:bodyPr/>
                    <a:lstStyle/>
                    <a:p>
                      <a:pPr marL="0" lvl="0" indent="0" algn="r">
                        <a:buNone/>
                      </a:pPr>
                      <a:r>
                        <a:rPr sz="1100"/>
                        <a:t>3</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flunet_sy</a:t>
                      </a:r>
                    </a:p>
                  </a:txBody>
                  <a:tcPr/>
                </a:tc>
                <a:tc>
                  <a:txBody>
                    <a:bodyPr/>
                    <a:lstStyle/>
                    <a:p>
                      <a:pPr marL="0" lvl="0" indent="0" algn="l">
                        <a:buNone/>
                      </a:pPr>
                      <a:r>
                        <a:rPr sz="1100"/>
                        <a:t>0</a:t>
                      </a:r>
                    </a:p>
                  </a:txBody>
                  <a:tcPr/>
                </a:tc>
                <a:extLst>
                  <a:ext uri="{0D108BD9-81ED-4DB2-BD59-A6C34878D82A}">
                    <a16:rowId xmlns:a16="http://schemas.microsoft.com/office/drawing/2014/main" val="10023"/>
                  </a:ext>
                </a:extLst>
              </a:tr>
              <a:tr h="0">
                <a:tc>
                  <a:txBody>
                    <a:bodyPr/>
                    <a:lstStyle/>
                    <a:p>
                      <a:pPr marL="0" lvl="0" indent="0" algn="l">
                        <a:buNone/>
                      </a:pPr>
                      <a:r>
                        <a:rPr sz="1100"/>
                        <a:t>Global Data Lab HDI</a:t>
                      </a:r>
                    </a:p>
                  </a:txBody>
                  <a:tcPr/>
                </a:tc>
                <a:tc>
                  <a:txBody>
                    <a:bodyPr/>
                    <a:lstStyle/>
                    <a:p>
                      <a:pPr marL="0" lvl="0" indent="0" algn="r">
                        <a:buNone/>
                      </a:pPr>
                      <a:r>
                        <a:rPr sz="1100"/>
                        <a:t>2</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gdl_sy</a:t>
                      </a:r>
                    </a:p>
                  </a:txBody>
                  <a:tcPr/>
                </a:tc>
                <a:tc>
                  <a:txBody>
                    <a:bodyPr/>
                    <a:lstStyle/>
                    <a:p>
                      <a:pPr marL="0" lvl="0" indent="0" algn="l">
                        <a:buNone/>
                      </a:pPr>
                      <a:r>
                        <a:rPr sz="1100"/>
                        <a:t>0</a:t>
                      </a:r>
                    </a:p>
                  </a:txBody>
                  <a:tcPr/>
                </a:tc>
                <a:extLst>
                  <a:ext uri="{0D108BD9-81ED-4DB2-BD59-A6C34878D82A}">
                    <a16:rowId xmlns:a16="http://schemas.microsoft.com/office/drawing/2014/main" val="10024"/>
                  </a:ext>
                </a:extLst>
              </a:tr>
              <a:tr h="0">
                <a:tc>
                  <a:txBody>
                    <a:bodyPr/>
                    <a:lstStyle/>
                    <a:p>
                      <a:pPr marL="0" lvl="0" indent="0" algn="l">
                        <a:buNone/>
                      </a:pPr>
                      <a:r>
                        <a:rPr sz="1100"/>
                        <a:t>UNICEF vitamin A supplementation</a:t>
                      </a:r>
                    </a:p>
                  </a:txBody>
                  <a:tcPr/>
                </a:tc>
                <a:tc>
                  <a:txBody>
                    <a:bodyPr/>
                    <a:lstStyle/>
                    <a:p>
                      <a:pPr marL="0" lvl="0" indent="0" algn="r">
                        <a:buNone/>
                      </a:pPr>
                      <a:r>
                        <a:rPr sz="1100"/>
                        <a:t>1</a:t>
                      </a:r>
                    </a:p>
                  </a:txBody>
                  <a:tcPr/>
                </a:tc>
                <a:tc>
                  <a:txBody>
                    <a:bodyPr/>
                    <a:lstStyle/>
                    <a:p>
                      <a:pPr marL="0" lvl="0" indent="0" algn="l">
                        <a:buNone/>
                      </a:pPr>
                      <a:r>
                        <a:rPr sz="1100"/>
                        <a:t>Open data</a:t>
                      </a:r>
                    </a:p>
                  </a:txBody>
                  <a:tcPr/>
                </a:tc>
                <a:tc>
                  <a:txBody>
                    <a:bodyPr/>
                    <a:lstStyle/>
                    <a:p>
                      <a:pPr marL="0" lvl="0" indent="0" algn="r">
                        <a:buNone/>
                      </a:pPr>
                      <a:r>
                        <a:rPr sz="1100"/>
                        <a:t>1</a:t>
                      </a:r>
                    </a:p>
                  </a:txBody>
                  <a:tcPr/>
                </a:tc>
                <a:tc>
                  <a:txBody>
                    <a:bodyPr/>
                    <a:lstStyle/>
                    <a:p>
                      <a:pPr marL="0" lvl="0" indent="0" algn="l">
                        <a:buNone/>
                      </a:pPr>
                      <a:r>
                        <a:rPr sz="1100"/>
                        <a:t>vas_sy</a:t>
                      </a:r>
                    </a:p>
                  </a:txBody>
                  <a:tcPr/>
                </a:tc>
                <a:tc>
                  <a:txBody>
                    <a:bodyPr/>
                    <a:lstStyle/>
                    <a:p>
                      <a:pPr marL="0" lvl="0" indent="0" algn="l">
                        <a:buNone/>
                      </a:pPr>
                      <a:r>
                        <a:rPr sz="1100"/>
                        <a:t>0</a:t>
                      </a:r>
                    </a:p>
                  </a:txBody>
                  <a:tcPr/>
                </a:tc>
                <a:extLst>
                  <a:ext uri="{0D108BD9-81ED-4DB2-BD59-A6C34878D82A}">
                    <a16:rowId xmlns:a16="http://schemas.microsoft.com/office/drawing/2014/main" val="1002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twenty layers behind child iron</a:t>
            </a:r>
          </a:p>
        </p:txBody>
      </p:sp>
      <p:pic>
        <p:nvPicPr>
          <p:cNvPr id="3" name="Picture 1" descr="../../results/figures/policy_deck/fig8_twenty_layers.png"/>
          <p:cNvPicPr>
            <a:picLocks noGrp="1" noChangeAspect="1"/>
          </p:cNvPicPr>
          <p:nvPr/>
        </p:nvPicPr>
        <p:blipFill>
          <a:blip r:embed="rId3"/>
          <a:stretch>
            <a:fillRect/>
          </a:stretch>
        </p:blipFill>
        <p:spPr bwMode="auto">
          <a:xfrm>
            <a:off x="2082800" y="1816100"/>
            <a:ext cx="8026400" cy="43434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Exclusions, with their reasons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58674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203700">
                  <a:extLst>
                    <a:ext uri="{9D8B030D-6E8A-4147-A177-3AD203B41FA5}">
                      <a16:colId xmlns:a16="http://schemas.microsoft.com/office/drawing/2014/main" val="20002"/>
                    </a:ext>
                  </a:extLst>
                </a:gridCol>
              </a:tblGrid>
              <a:tr h="0">
                <a:tc>
                  <a:txBody>
                    <a:bodyPr/>
                    <a:lstStyle/>
                    <a:p>
                      <a:pPr marL="0" lvl="0" indent="0" algn="l">
                        <a:buNone/>
                      </a:pPr>
                      <a:r>
                        <a:rPr sz="1100"/>
                        <a:t>Rule</a:t>
                      </a:r>
                    </a:p>
                  </a:txBody>
                  <a:tcPr/>
                </a:tc>
                <a:tc>
                  <a:txBody>
                    <a:bodyPr/>
                    <a:lstStyle/>
                    <a:p>
                      <a:pPr marL="0" lvl="0" indent="0" algn="l">
                        <a:buNone/>
                      </a:pPr>
                      <a:r>
                        <a:rPr sz="1100"/>
                        <a:t>Policy</a:t>
                      </a:r>
                    </a:p>
                  </a:txBody>
                  <a:tcPr/>
                </a:tc>
                <a:tc>
                  <a:txBody>
                    <a:bodyPr/>
                    <a:lstStyle/>
                    <a:p>
                      <a:pPr marL="0" lvl="0" indent="0" algn="l">
                        <a:buNone/>
                      </a:pPr>
                      <a:r>
                        <a:rPr sz="1100"/>
                        <a:t>Reason</a:t>
                      </a:r>
                    </a:p>
                  </a:txBody>
                  <a:tcPr/>
                </a:tc>
                <a:extLst>
                  <a:ext uri="{0D108BD9-81ED-4DB2-BD59-A6C34878D82A}">
                    <a16:rowId xmlns:a16="http://schemas.microsoft.com/office/drawing/2014/main" val="10000"/>
                  </a:ext>
                </a:extLst>
              </a:tr>
              <a:tr h="0">
                <a:tc>
                  <a:txBody>
                    <a:bodyPr/>
                    <a:lstStyle/>
                    <a:p>
                      <a:pPr marL="0" lvl="0" indent="0" algn="l">
                        <a:buNone/>
                      </a:pPr>
                      <a:r>
                        <a:rPr sz="1100"/>
                        <a:t>^soil_nitrogen_</a:t>
                      </a:r>
                    </a:p>
                  </a:txBody>
                  <a:tcPr/>
                </a:tc>
                <a:tc>
                  <a:txBody>
                    <a:bodyPr/>
                    <a:lstStyle/>
                    <a:p>
                      <a:pPr marL="0" lvl="0" indent="0" algn="l">
                        <a:buNone/>
                      </a:pPr>
                      <a:r>
                        <a:rPr sz="1100"/>
                        <a:t>data_defect</a:t>
                      </a:r>
                    </a:p>
                  </a:txBody>
                  <a:tcPr/>
                </a:tc>
                <a:tc>
                  <a:txBody>
                    <a:bodyPr/>
                    <a:lstStyle/>
                    <a:p>
                      <a:pPr marL="0" lvl="0" indent="0" algn="l">
                        <a:buNone/>
                      </a:pPr>
                      <a:r>
                        <a:rPr sz="1100"/>
                        <a:t>Cross-country values are irreconcilable by any constant factor: medians 742 (Gambia) 1090 (Malawi) 2455 (Ta…</a:t>
                      </a:r>
                    </a:p>
                  </a:txBody>
                  <a:tcPr/>
                </a:tc>
                <a:extLst>
                  <a:ext uri="{0D108BD9-81ED-4DB2-BD59-A6C34878D82A}">
                    <a16:rowId xmlns:a16="http://schemas.microsoft.com/office/drawing/2014/main" val="10001"/>
                  </a:ext>
                </a:extLst>
              </a:tr>
              <a:tr h="0">
                <a:tc>
                  <a:txBody>
                    <a:bodyPr/>
                    <a:lstStyle/>
                    <a:p>
                      <a:pPr marL="0" lvl="0" indent="0" algn="l">
                        <a:buNone/>
                      </a:pPr>
                      <a:r>
                        <a:rPr sz="1100"/>
                        <a:t>^soil_totalcarbon_stdev_</a:t>
                      </a:r>
                    </a:p>
                  </a:txBody>
                  <a:tcPr/>
                </a:tc>
                <a:tc>
                  <a:txBody>
                    <a:bodyPr/>
                    <a:lstStyle/>
                    <a:p>
                      <a:pPr marL="0" lvl="0" indent="0" algn="l">
                        <a:buNone/>
                      </a:pPr>
                      <a:r>
                        <a:rPr sz="1100"/>
                        <a:t>data_defect</a:t>
                      </a:r>
                    </a:p>
                  </a:txBody>
                  <a:tcPr/>
                </a:tc>
                <a:tc>
                  <a:txBody>
                    <a:bodyPr/>
                    <a:lstStyle/>
                    <a:p>
                      <a:pPr marL="0" lvl="0" indent="0" algn="l">
                        <a:buNone/>
                      </a:pPr>
                      <a:r>
                        <a:rPr sz="1100"/>
                        <a:t>Dispersion columns diverge &gt;100x across countries while the matching depth MEANS agree; the stdev bands are…</a:t>
                      </a:r>
                    </a:p>
                  </a:txBody>
                  <a:tcPr/>
                </a:tc>
                <a:extLst>
                  <a:ext uri="{0D108BD9-81ED-4DB2-BD59-A6C34878D82A}">
                    <a16:rowId xmlns:a16="http://schemas.microsoft.com/office/drawing/2014/main" val="10002"/>
                  </a:ext>
                </a:extLst>
              </a:tr>
              <a:tr h="0">
                <a:tc>
                  <a:txBody>
                    <a:bodyPr/>
                    <a:lstStyle/>
                    <a:p>
                      <a:pPr marL="0" lvl="0" indent="0" algn="l">
                        <a:buNone/>
                      </a:pPr>
                      <a:r>
                        <a:rPr sz="1100"/>
                        <a:t>^ndvi_y2010$</a:t>
                      </a:r>
                    </a:p>
                  </a:txBody>
                  <a:tcPr/>
                </a:tc>
                <a:tc>
                  <a:txBody>
                    <a:bodyPr/>
                    <a:lstStyle/>
                    <a:p>
                      <a:pPr marL="0" lvl="0" indent="0" algn="l">
                        <a:buNone/>
                      </a:pPr>
                      <a:r>
                        <a:rPr sz="1100"/>
                        <a:t>data_defect</a:t>
                      </a:r>
                    </a:p>
                  </a:txBody>
                  <a:tcPr/>
                </a:tc>
                <a:tc>
                  <a:txBody>
                    <a:bodyPr/>
                    <a:lstStyle/>
                    <a:p>
                      <a:pPr marL="0" lvl="0" indent="0" algn="l">
                        <a:buNone/>
                      </a:pPr>
                      <a:r>
                        <a:rPr sz="1100"/>
                        <a:t>Tanzania median 5.4e-05 against 0.22-0.26 elsewhere while every other year agrees - a defective 2010 slice …</a:t>
                      </a:r>
                    </a:p>
                  </a:txBody>
                  <a:tcPr/>
                </a:tc>
                <a:extLst>
                  <a:ext uri="{0D108BD9-81ED-4DB2-BD59-A6C34878D82A}">
                    <a16:rowId xmlns:a16="http://schemas.microsoft.com/office/drawing/2014/main" val="10003"/>
                  </a:ext>
                </a:extLst>
              </a:tr>
              <a:tr h="0">
                <a:tc>
                  <a:txBody>
                    <a:bodyPr/>
                    <a:lstStyle/>
                    <a:p>
                      <a:pPr marL="0" lvl="0" indent="0" algn="l">
                        <a:buNone/>
                      </a:pPr>
                      <a:r>
                        <a:rPr sz="1100"/>
                        <a:t>^ndvi_y(2019|2020|2021|2022)$</a:t>
                      </a:r>
                    </a:p>
                  </a:txBody>
                  <a:tcPr/>
                </a:tc>
                <a:tc>
                  <a:txBody>
                    <a:bodyPr/>
                    <a:lstStyle/>
                    <a:p>
                      <a:pPr marL="0" lvl="0" indent="0" algn="l">
                        <a:buNone/>
                      </a:pPr>
                      <a:r>
                        <a:rPr sz="1100"/>
                        <a:t>data_defect</a:t>
                      </a:r>
                    </a:p>
                  </a:txBody>
                  <a:tcPr/>
                </a:tc>
                <a:tc>
                  <a:txBody>
                    <a:bodyPr/>
                    <a:lstStyle/>
                    <a:p>
                      <a:pPr marL="0" lvl="0" indent="0" algn="l">
                        <a:buNone/>
                      </a:pPr>
                      <a:r>
                        <a:rPr sz="1100"/>
                        <a:t>NDVI collapses country-dependently after 2018 (2021 medians 0.008 Malawi / 0.018 Gambia / 0.25 Sierra Leone…</a:t>
                      </a:r>
                    </a:p>
                  </a:txBody>
                  <a:tcPr/>
                </a:tc>
                <a:extLst>
                  <a:ext uri="{0D108BD9-81ED-4DB2-BD59-A6C34878D82A}">
                    <a16:rowId xmlns:a16="http://schemas.microsoft.com/office/drawing/2014/main" val="10004"/>
                  </a:ext>
                </a:extLst>
              </a:tr>
              <a:tr h="0">
                <a:tc>
                  <a:txBody>
                    <a:bodyPr/>
                    <a:lstStyle/>
                    <a:p>
                      <a:pPr marL="0" lvl="0" indent="0" algn="l">
                        <a:buNone/>
                      </a:pPr>
                      <a:r>
                        <a:rPr sz="1100"/>
                        <a:t>^(lcover_(snow|moss)</a:t>
                      </a:r>
                      <a:r>
                        <a:rPr sz="1100" i="1"/>
                        <a:t>frac</a:t>
                      </a:r>
                      <a:r>
                        <a:rPr sz="1100"/>
                        <a:t>|tclim_swe_)</a:t>
                      </a:r>
                    </a:p>
                  </a:txBody>
                  <a:tcPr/>
                </a:tc>
                <a:tc>
                  <a:txBody>
                    <a:bodyPr/>
                    <a:lstStyle/>
                    <a:p>
                      <a:pPr marL="0" lvl="0" indent="0" algn="l">
                        <a:buNone/>
                      </a:pPr>
                      <a:r>
                        <a:rPr sz="1100"/>
                        <a:t>data_defect</a:t>
                      </a:r>
                    </a:p>
                  </a:txBody>
                  <a:tcPr/>
                </a:tc>
                <a:tc>
                  <a:txBody>
                    <a:bodyPr/>
                    <a:lstStyle/>
                    <a:p>
                      <a:pPr marL="0" lvl="0" indent="0" algn="l">
                        <a:buNone/>
                      </a:pPr>
                      <a:r>
                        <a:rPr sz="1100"/>
                        <a:t>Identically zero in every district of every country: these are snow cover, moss cover and snow water equiva…</a:t>
                      </a:r>
                    </a:p>
                  </a:txBody>
                  <a:tcPr/>
                </a:tc>
                <a:extLst>
                  <a:ext uri="{0D108BD9-81ED-4DB2-BD59-A6C34878D82A}">
                    <a16:rowId xmlns:a16="http://schemas.microsoft.com/office/drawing/2014/main" val="10005"/>
                  </a:ext>
                </a:extLst>
              </a:tr>
              <a:tr h="0">
                <a:tc>
                  <a:txBody>
                    <a:bodyPr/>
                    <a:lstStyle/>
                    <a:p>
                      <a:pPr marL="0" lvl="0" indent="0" algn="l">
                        <a:buNone/>
                      </a:pPr>
                      <a:r>
                        <a:rPr sz="1100"/>
                        <a:t>^dhs_c_ort_diarrhea$</a:t>
                      </a:r>
                    </a:p>
                  </a:txBody>
                  <a:tcPr/>
                </a:tc>
                <a:tc>
                  <a:txBody>
                    <a:bodyPr/>
                    <a:lstStyle/>
                    <a:p>
                      <a:pPr marL="0" lvl="0" indent="0" algn="l">
                        <a:buNone/>
                      </a:pPr>
                      <a:r>
                        <a:rPr sz="1100"/>
                        <a:t>data_defect</a:t>
                      </a:r>
                    </a:p>
                  </a:txBody>
                  <a:tcPr/>
                </a:tc>
                <a:tc>
                  <a:txBody>
                    <a:bodyPr/>
                    <a:lstStyle/>
                    <a:p>
                      <a:pPr marL="0" lvl="0" indent="0" algn="l">
                        <a:buNone/>
                      </a:pPr>
                      <a:r>
                        <a:rPr sz="1100"/>
                        <a:t>Identically zero in every district - the indicator did not populate in these DHS rounds. A constant cannot …</a:t>
                      </a:r>
                    </a:p>
                  </a:txBody>
                  <a:tcPr/>
                </a:tc>
                <a:extLst>
                  <a:ext uri="{0D108BD9-81ED-4DB2-BD59-A6C34878D82A}">
                    <a16:rowId xmlns:a16="http://schemas.microsoft.com/office/drawing/2014/main" val="10006"/>
                  </a:ext>
                </a:extLst>
              </a:tr>
              <a:tr h="0">
                <a:tc>
                  <a:txBody>
                    <a:bodyPr/>
                    <a:lstStyle/>
                    <a:p>
                      <a:pPr marL="0" lvl="0" indent="0" algn="l">
                        <a:buNone/>
                      </a:pPr>
                      <a:r>
                        <a:rPr sz="1100"/>
                        <a:t>^dhs_w_barrier_transport$</a:t>
                      </a:r>
                    </a:p>
                  </a:txBody>
                  <a:tcPr/>
                </a:tc>
                <a:tc>
                  <a:txBody>
                    <a:bodyPr/>
                    <a:lstStyle/>
                    <a:p>
                      <a:pPr marL="0" lvl="0" indent="0" algn="l">
                        <a:buNone/>
                      </a:pPr>
                      <a:r>
                        <a:rPr sz="1100"/>
                        <a:t>data_defect</a:t>
                      </a:r>
                    </a:p>
                  </a:txBody>
                  <a:tcPr/>
                </a:tc>
                <a:tc>
                  <a:txBody>
                    <a:bodyPr/>
                    <a:lstStyle/>
                    <a:p>
                      <a:pPr marL="0" lvl="0" indent="0" algn="l">
                        <a:buNone/>
                      </a:pPr>
                      <a:r>
                        <a:rPr sz="1100"/>
                        <a:t>All-NA in every district of every country (the transport-barrier item did not populate in these DHS rounds)…</a:t>
                      </a:r>
                    </a:p>
                  </a:txBody>
                  <a:tcPr/>
                </a:tc>
                <a:extLst>
                  <a:ext uri="{0D108BD9-81ED-4DB2-BD59-A6C34878D82A}">
                    <a16:rowId xmlns:a16="http://schemas.microsoft.com/office/drawing/2014/main" val="10007"/>
                  </a:ext>
                </a:extLst>
              </a:tr>
              <a:tr h="0">
                <a:tc>
                  <a:txBody>
                    <a:bodyPr/>
                    <a:lstStyle/>
                    <a:p>
                      <a:pPr marL="0" lvl="0" indent="0" algn="l">
                        <a:buNone/>
                      </a:pPr>
                      <a:r>
                        <a:rPr sz="1100"/>
                        <a:t>^ndvi_y20(1[1-8])$</a:t>
                      </a:r>
                    </a:p>
                  </a:txBody>
                  <a:tcPr/>
                </a:tc>
                <a:tc>
                  <a:txBody>
                    <a:bodyPr/>
                    <a:lstStyle/>
                    <a:p>
                      <a:pPr marL="0" lvl="0" indent="0" algn="l">
                        <a:buNone/>
                      </a:pPr>
                      <a:r>
                        <a:rPr sz="1100"/>
                        <a:t>superseded</a:t>
                      </a:r>
                    </a:p>
                  </a:txBody>
                  <a:tcPr/>
                </a:tc>
                <a:tc>
                  <a:txBody>
                    <a:bodyPr/>
                    <a:lstStyle/>
                    <a:p>
                      <a:pPr marL="0" lvl="0" indent="0" algn="l">
                        <a:buNone/>
                      </a:pPr>
                      <a:r>
                        <a:rPr sz="1100"/>
                        <a:t>Superseded (NV-01, 2026-09-15) by MOD13Q1 NDVI at the survey year (ndvi_modis_t0/win/peak/amp/clim/anom): t…</a:t>
                      </a:r>
                    </a:p>
                  </a:txBody>
                  <a:tcPr/>
                </a:tc>
                <a:extLst>
                  <a:ext uri="{0D108BD9-81ED-4DB2-BD59-A6C34878D82A}">
                    <a16:rowId xmlns:a16="http://schemas.microsoft.com/office/drawing/2014/main" val="10008"/>
                  </a:ext>
                </a:extLst>
              </a:tr>
              <a:tr h="0">
                <a:tc>
                  <a:txBody>
                    <a:bodyPr/>
                    <a:lstStyle/>
                    <a:p>
                      <a:pPr marL="0" lvl="0" indent="0" algn="l">
                        <a:buNone/>
                      </a:pPr>
                      <a:r>
                        <a:rPr sz="1100"/>
                        <a:t>^precip_y20(1[0-9])$</a:t>
                      </a:r>
                    </a:p>
                  </a:txBody>
                  <a:tcPr/>
                </a:tc>
                <a:tc>
                  <a:txBody>
                    <a:bodyPr/>
                    <a:lstStyle/>
                    <a:p>
                      <a:pPr marL="0" lvl="0" indent="0" algn="l">
                        <a:buNone/>
                      </a:pPr>
                      <a:r>
                        <a:rPr sz="1100"/>
                        <a:t>superseded</a:t>
                      </a:r>
                    </a:p>
                  </a:txBody>
                  <a:tcPr/>
                </a:tc>
                <a:tc>
                  <a:txBody>
                    <a:bodyPr/>
                    <a:lstStyle/>
                    <a:p>
                      <a:pPr marL="0" lvl="0" indent="0" algn="l">
                        <a:buNone/>
                      </a:pPr>
                      <a:r>
                        <a:rPr sz="1100"/>
                        <a:t>Superseded (2026-09-15): TRMM 3B43 annual precipitation at a calendar year 2010-2019 lags the survey by up …</a:t>
                      </a:r>
                    </a:p>
                  </a:txBody>
                  <a:tcPr/>
                </a:tc>
                <a:extLst>
                  <a:ext uri="{0D108BD9-81ED-4DB2-BD59-A6C34878D82A}">
                    <a16:rowId xmlns:a16="http://schemas.microsoft.com/office/drawing/2014/main" val="10009"/>
                  </a:ext>
                </a:extLst>
              </a:tr>
              <a:tr h="0">
                <a:tc>
                  <a:txBody>
                    <a:bodyPr/>
                    <a:lstStyle/>
                    <a:p>
                      <a:pPr marL="0" lvl="0" indent="0" algn="l">
                        <a:buNone/>
                      </a:pPr>
                      <a:r>
                        <a:rPr sz="1100"/>
                        <a:t>^popdens_y(2010|2015|2020)$</a:t>
                      </a:r>
                    </a:p>
                  </a:txBody>
                  <a:tcPr/>
                </a:tc>
                <a:tc>
                  <a:txBody>
                    <a:bodyPr/>
                    <a:lstStyle/>
                    <a:p>
                      <a:pPr marL="0" lvl="0" indent="0" algn="l">
                        <a:buNone/>
                      </a:pPr>
                      <a:r>
                        <a:rPr sz="1100"/>
                        <a:t>superseded</a:t>
                      </a:r>
                    </a:p>
                  </a:txBody>
                  <a:tcPr/>
                </a:tc>
                <a:tc>
                  <a:txBody>
                    <a:bodyPr/>
                    <a:lstStyle/>
                    <a:p>
                      <a:pPr marL="0" lvl="0" indent="0" algn="l">
                        <a:buNone/>
                      </a:pPr>
                      <a:r>
                        <a:rPr sz="1100"/>
                        <a:t>Superseded (2026-09-15): GPW v4.11 density at fixed epochs (up to 8 years from the survey); wpop_log_densit…</a:t>
                      </a:r>
                    </a:p>
                  </a:txBody>
                  <a:tcPr/>
                </a:tc>
                <a:extLst>
                  <a:ext uri="{0D108BD9-81ED-4DB2-BD59-A6C34878D82A}">
                    <a16:rowId xmlns:a16="http://schemas.microsoft.com/office/drawing/2014/main" val="10010"/>
                  </a:ext>
                </a:extLst>
              </a:tr>
              <a:tr h="0">
                <a:tc>
                  <a:txBody>
                    <a:bodyPr/>
                    <a:lstStyle/>
                    <a:p>
                      <a:pPr marL="0" lvl="0" indent="0" algn="l">
                        <a:buNone/>
                      </a:pPr>
                      <a:r>
                        <a:rPr sz="1100"/>
                        <a:t>^gpw2010_</a:t>
                      </a:r>
                    </a:p>
                  </a:txBody>
                  <a:tcPr/>
                </a:tc>
                <a:tc>
                  <a:txBody>
                    <a:bodyPr/>
                    <a:lstStyle/>
                    <a:p>
                      <a:pPr marL="0" lvl="0" indent="0" algn="l">
                        <a:buNone/>
                      </a:pPr>
                      <a:r>
                        <a:rPr sz="1100"/>
                        <a:t>superseded</a:t>
                      </a:r>
                    </a:p>
                  </a:txBody>
                  <a:tcPr/>
                </a:tc>
                <a:tc>
                  <a:txBody>
                    <a:bodyPr/>
                    <a:lstStyle/>
                    <a:p>
                      <a:pPr marL="0" lvl="0" indent="0" algn="l">
                        <a:buNone/>
                      </a:pPr>
                      <a:r>
                        <a:rPr sz="1100"/>
                        <a:t>Superseded (2026-09-15): GPW 2010 age-sex shares are 3-8 years from the surveys; the WorldPop 2020 shares (…</a:t>
                      </a:r>
                    </a:p>
                  </a:txBody>
                  <a:tcPr/>
                </a:tc>
                <a:extLst>
                  <a:ext uri="{0D108BD9-81ED-4DB2-BD59-A6C34878D82A}">
                    <a16:rowId xmlns:a16="http://schemas.microsoft.com/office/drawing/2014/main" val="10011"/>
                  </a:ext>
                </a:extLst>
              </a:tr>
              <a:tr h="0">
                <a:tc>
                  <a:txBody>
                    <a:bodyPr/>
                    <a:lstStyle/>
                    <a:p>
                      <a:pPr marL="0" lvl="0" indent="0" algn="l">
                        <a:buNone/>
                      </a:pPr>
                      <a:r>
                        <a:rPr sz="1100"/>
                        <a:t>^ihme_proportionofpopulationachievingyearseducation$</a:t>
                      </a:r>
                    </a:p>
                  </a:txBody>
                  <a:tcPr/>
                </a:tc>
                <a:tc>
                  <a:txBody>
                    <a:bodyPr/>
                    <a:lstStyle/>
                    <a:p>
                      <a:pPr marL="0" lvl="0" indent="0" algn="l">
                        <a:buNone/>
                      </a:pPr>
                      <a:r>
                        <a:rPr sz="1100"/>
                        <a:t>data_defect</a:t>
                      </a:r>
                    </a:p>
                  </a:txBody>
                  <a:tcPr/>
                </a:tc>
                <a:tc>
                  <a:txBody>
                    <a:bodyPr/>
                    <a:lstStyle/>
                    <a:p>
                      <a:pPr marL="0" lvl="0" indent="0" algn="l">
                        <a:buNone/>
                      </a:pPr>
                      <a:r>
                        <a:rPr sz="1100"/>
                        <a:t>Data defect (2026-09-15): script 08’s key normaliser dropped the digits from three IHME education categorie…</a:t>
                      </a:r>
                    </a:p>
                  </a:txBody>
                  <a:tcPr/>
                </a:tc>
                <a:extLst>
                  <a:ext uri="{0D108BD9-81ED-4DB2-BD59-A6C34878D82A}">
                    <a16:rowId xmlns:a16="http://schemas.microsoft.com/office/drawing/2014/main" val="10012"/>
                  </a:ext>
                </a:extLst>
              </a:tr>
              <a:tr h="0">
                <a:tc>
                  <a:txBody>
                    <a:bodyPr/>
                    <a:lstStyle/>
                    <a:p>
                      <a:pPr marL="0" lvl="0" indent="0" algn="l">
                        <a:buNone/>
                      </a:pPr>
                      <a:r>
                        <a:rPr sz="1100"/>
                        <a:t>^dhs_(FP_CUSA_W_MOD|FP_NADA_W_UNT|AN_ANEM_W_ANY|CN_NUTS_C_WH2|CN_ANMC_C_ANY|CN_NUTS_C_HA2|AN_NUTS_W_THN|RH_ANCN_W_N4P)$</a:t>
                      </a:r>
                    </a:p>
                  </a:txBody>
                  <a:tcPr/>
                </a:tc>
                <a:tc>
                  <a:txBody>
                    <a:bodyPr/>
                    <a:lstStyle/>
                    <a:p>
                      <a:pPr marL="0" lvl="0" indent="0" algn="l">
                        <a:buNone/>
                      </a:pPr>
                      <a:r>
                        <a:rPr sz="1100"/>
                        <a:t>redundant</a:t>
                      </a:r>
                    </a:p>
                  </a:txBody>
                  <a:tcPr/>
                </a:tc>
                <a:tc>
                  <a:txBody>
                    <a:bodyPr/>
                    <a:lstStyle/>
                    <a:p>
                      <a:pPr marL="0" lvl="0" indent="0" algn="l">
                        <a:buNone/>
                      </a:pPr>
                      <a:r>
                        <a:rPr sz="1100"/>
                        <a:t>Redundant (RV-01, 2026-09-15): STATcompiler-style DHS indicators that duplicate the custom recode indicator…</a:t>
                      </a:r>
                    </a:p>
                  </a:txBody>
                  <a:tcPr/>
                </a:tc>
                <a:extLst>
                  <a:ext uri="{0D108BD9-81ED-4DB2-BD59-A6C34878D82A}">
                    <a16:rowId xmlns:a16="http://schemas.microsoft.com/office/drawing/2014/main" val="10013"/>
                  </a:ext>
                </a:extLst>
              </a:tr>
              <a:tr h="0">
                <a:tc>
                  <a:txBody>
                    <a:bodyPr/>
                    <a:lstStyle/>
                    <a:p>
                      <a:pPr marL="0" lvl="0" indent="0" algn="l">
                        <a:buNone/>
                      </a:pPr>
                      <a:r>
                        <a:rPr sz="1100"/>
                        <a:t>^dhs_w_primary_edu$</a:t>
                      </a:r>
                    </a:p>
                  </a:txBody>
                  <a:tcPr/>
                </a:tc>
                <a:tc>
                  <a:txBody>
                    <a:bodyPr/>
                    <a:lstStyle/>
                    <a:p>
                      <a:pPr marL="0" lvl="0" indent="0" algn="l">
                        <a:buNone/>
                      </a:pPr>
                      <a:r>
                        <a:rPr sz="1100"/>
                        <a:t>redundant</a:t>
                      </a:r>
                    </a:p>
                  </a:txBody>
                  <a:tcPr/>
                </a:tc>
                <a:tc>
                  <a:txBody>
                    <a:bodyPr/>
                    <a:lstStyle/>
                    <a:p>
                      <a:pPr marL="0" lvl="0" indent="0" algn="l">
                        <a:buNone/>
                      </a:pPr>
                      <a:r>
                        <a:rPr sz="1100"/>
                        <a:t>Redundant (RV-01): r = -1.000 with dhs_w_no_education (its complement).</a:t>
                      </a:r>
                    </a:p>
                  </a:txBody>
                  <a:tcPr/>
                </a:tc>
                <a:extLst>
                  <a:ext uri="{0D108BD9-81ED-4DB2-BD59-A6C34878D82A}">
                    <a16:rowId xmlns:a16="http://schemas.microsoft.com/office/drawing/2014/main" val="10014"/>
                  </a:ext>
                </a:extLst>
              </a:tr>
              <a:tr h="0">
                <a:tc>
                  <a:txBody>
                    <a:bodyPr/>
                    <a:lstStyle/>
                    <a:p>
                      <a:pPr marL="0" lvl="0" indent="0" algn="l">
                        <a:buNone/>
                      </a:pPr>
                      <a:r>
                        <a:rPr sz="1100"/>
                        <a:t>^dhs_w_iron_supplement$</a:t>
                      </a:r>
                    </a:p>
                  </a:txBody>
                  <a:tcPr/>
                </a:tc>
                <a:tc>
                  <a:txBody>
                    <a:bodyPr/>
                    <a:lstStyle/>
                    <a:p>
                      <a:pPr marL="0" lvl="0" indent="0" algn="l">
                        <a:buNone/>
                      </a:pPr>
                      <a:r>
                        <a:rPr sz="1100"/>
                        <a:t>redundant</a:t>
                      </a:r>
                    </a:p>
                  </a:txBody>
                  <a:tcPr/>
                </a:tc>
                <a:tc>
                  <a:txBody>
                    <a:bodyPr/>
                    <a:lstStyle/>
                    <a:p>
                      <a:pPr marL="0" lvl="0" indent="0" algn="l">
                        <a:buNone/>
                      </a:pPr>
                      <a:r>
                        <a:rPr sz="1100"/>
                        <a:t>Redundant (RV-01): r = 1.000 with dhs_w_iron_pregnancy.</a:t>
                      </a:r>
                    </a:p>
                  </a:txBody>
                  <a:tcPr/>
                </a:tc>
                <a:extLst>
                  <a:ext uri="{0D108BD9-81ED-4DB2-BD59-A6C34878D82A}">
                    <a16:rowId xmlns:a16="http://schemas.microsoft.com/office/drawing/2014/main" val="10015"/>
                  </a:ext>
                </a:extLst>
              </a:tr>
              <a:tr h="0">
                <a:tc>
                  <a:txBody>
                    <a:bodyPr/>
                    <a:lstStyle/>
                    <a:p>
                      <a:pPr marL="0" lvl="0" indent="0" algn="l">
                        <a:buNone/>
                      </a:pPr>
                      <a:r>
                        <a:rPr sz="1100"/>
                        <a:t>^dhs_c_vita_rich_food$</a:t>
                      </a:r>
                    </a:p>
                  </a:txBody>
                  <a:tcPr/>
                </a:tc>
                <a:tc>
                  <a:txBody>
                    <a:bodyPr/>
                    <a:lstStyle/>
                    <a:p>
                      <a:pPr marL="0" lvl="0" indent="0" algn="l">
                        <a:buNone/>
                      </a:pPr>
                      <a:r>
                        <a:rPr sz="1100"/>
                        <a:t>redundant</a:t>
                      </a:r>
                    </a:p>
                  </a:txBody>
                  <a:tcPr/>
                </a:tc>
                <a:tc>
                  <a:txBody>
                    <a:bodyPr/>
                    <a:lstStyle/>
                    <a:p>
                      <a:pPr marL="0" lvl="0" indent="0" algn="l">
                        <a:buNone/>
                      </a:pPr>
                      <a:r>
                        <a:rPr sz="1100"/>
                        <a:t>Redundant (RV-01): r = 1.000 with dhs_c_fg_vitA_fruitveg.</a:t>
                      </a:r>
                    </a:p>
                  </a:txBody>
                  <a:tcPr/>
                </a:tc>
                <a:extLst>
                  <a:ext uri="{0D108BD9-81ED-4DB2-BD59-A6C34878D82A}">
                    <a16:rowId xmlns:a16="http://schemas.microsoft.com/office/drawing/2014/main" val="10016"/>
                  </a:ext>
                </a:extLst>
              </a:tr>
              <a:tr h="0">
                <a:tc>
                  <a:txBody>
                    <a:bodyPr/>
                    <a:lstStyle/>
                    <a:p>
                      <a:pPr marL="0" lvl="0" indent="0" algn="l">
                        <a:buNone/>
                      </a:pPr>
                      <a:r>
                        <a:rPr sz="1100"/>
                        <a:t>^espen_(sth|sch)_prev_mid_base$</a:t>
                      </a:r>
                    </a:p>
                  </a:txBody>
                  <a:tcPr/>
                </a:tc>
                <a:tc>
                  <a:txBody>
                    <a:bodyPr/>
                    <a:lstStyle/>
                    <a:p>
                      <a:pPr marL="0" lvl="0" indent="0" algn="l">
                        <a:buNone/>
                      </a:pPr>
                      <a:r>
                        <a:rPr sz="1100"/>
                        <a:t>redundant</a:t>
                      </a:r>
                    </a:p>
                  </a:txBody>
                  <a:tcPr/>
                </a:tc>
                <a:tc>
                  <a:txBody>
                    <a:bodyPr/>
                    <a:lstStyle/>
                    <a:p>
                      <a:pPr marL="0" lvl="0" indent="0" algn="l">
                        <a:buNone/>
                      </a:pPr>
                      <a:r>
                        <a:rPr sz="1100"/>
                        <a:t>Redundant (RV-01): the earliest ESPEN year is the year nearest every survey, so _base equals _prev_mid (r &gt;…</a:t>
                      </a:r>
                    </a:p>
                  </a:txBody>
                  <a:tcPr/>
                </a:tc>
                <a:extLst>
                  <a:ext uri="{0D108BD9-81ED-4DB2-BD59-A6C34878D82A}">
                    <a16:rowId xmlns:a16="http://schemas.microsoft.com/office/drawing/2014/main" val="10017"/>
                  </a:ext>
                </a:extLst>
              </a:tr>
              <a:tr h="0">
                <a:tc>
                  <a:txBody>
                    <a:bodyPr/>
                    <a:lstStyle/>
                    <a:p>
                      <a:pPr marL="0" lvl="0" indent="0" algn="l">
                        <a:buNone/>
                      </a:pPr>
                      <a:r>
                        <a:rPr sz="1100"/>
                        <a:t>^(map_sy_pf_incidence_rate|ihme_malaria_incidence_rate)$</a:t>
                      </a:r>
                    </a:p>
                  </a:txBody>
                  <a:tcPr/>
                </a:tc>
                <a:tc>
                  <a:txBody>
                    <a:bodyPr/>
                    <a:lstStyle/>
                    <a:p>
                      <a:pPr marL="0" lvl="0" indent="0" algn="l">
                        <a:buNone/>
                      </a:pPr>
                      <a:r>
                        <a:rPr sz="1100"/>
                        <a:t>redundant</a:t>
                      </a:r>
                    </a:p>
                  </a:txBody>
                  <a:tcPr/>
                </a:tc>
                <a:tc>
                  <a:txBody>
                    <a:bodyPr/>
                    <a:lstStyle/>
                    <a:p>
                      <a:pPr marL="0" lvl="0" indent="0" algn="l">
                        <a:buNone/>
                      </a:pPr>
                      <a:r>
                        <a:rPr sz="1100"/>
                        <a:t>Redundant (RV-01): incidence is a deterministic function of the parasite rate in both products (r 0.998-0.9…</a:t>
                      </a:r>
                    </a:p>
                  </a:txBody>
                  <a:tcPr/>
                </a:tc>
                <a:extLst>
                  <a:ext uri="{0D108BD9-81ED-4DB2-BD59-A6C34878D82A}">
                    <a16:rowId xmlns:a16="http://schemas.microsoft.com/office/drawing/2014/main" val="10018"/>
                  </a:ext>
                </a:extLst>
              </a:tr>
              <a:tr h="0">
                <a:tc>
                  <a:txBody>
                    <a:bodyPr/>
                    <a:lstStyle/>
                    <a:p>
                      <a:pPr marL="0" lvl="0" indent="0" algn="l">
                        <a:buNone/>
                      </a:pPr>
                      <a:r>
                        <a:rPr sz="1100"/>
                        <a:t>^wpop_log_density$</a:t>
                      </a:r>
                    </a:p>
                  </a:txBody>
                  <a:tcPr/>
                </a:tc>
                <a:tc>
                  <a:txBody>
                    <a:bodyPr/>
                    <a:lstStyle/>
                    <a:p>
                      <a:pPr marL="0" lvl="0" indent="0" algn="l">
                        <a:buNone/>
                      </a:pPr>
                      <a:r>
                        <a:rPr sz="1100"/>
                        <a:t>superseded</a:t>
                      </a:r>
                    </a:p>
                  </a:txBody>
                  <a:tcPr/>
                </a:tc>
                <a:tc>
                  <a:txBody>
                    <a:bodyPr/>
                    <a:lstStyle/>
                    <a:p>
                      <a:pPr marL="0" lvl="0" indent="0" algn="l">
                        <a:buNone/>
                      </a:pPr>
                      <a:r>
                        <a:rPr sz="1100"/>
                        <a:t>Superseded (RV-01): 2020-vintage WorldPop density; r = 0.999 with wpop_log_density_survey_year, which is at…</a:t>
                      </a:r>
                    </a:p>
                  </a:txBody>
                  <a:tcPr/>
                </a:tc>
                <a:extLst>
                  <a:ext uri="{0D108BD9-81ED-4DB2-BD59-A6C34878D82A}">
                    <a16:rowId xmlns:a16="http://schemas.microsoft.com/office/drawing/2014/main" val="10019"/>
                  </a:ext>
                </a:extLst>
              </a:tr>
              <a:tr h="0">
                <a:tc>
                  <a:txBody>
                    <a:bodyPr/>
                    <a:lstStyle/>
                    <a:p>
                      <a:pPr marL="0" lvl="0" indent="0" algn="l">
                        <a:buNone/>
                      </a:pPr>
                      <a:r>
                        <a:rPr sz="1100"/>
                        <a:t>^wsf$</a:t>
                      </a:r>
                    </a:p>
                  </a:txBody>
                  <a:tcPr/>
                </a:tc>
                <a:tc>
                  <a:txBody>
                    <a:bodyPr/>
                    <a:lstStyle/>
                    <a:p>
                      <a:pPr marL="0" lvl="0" indent="0" algn="l">
                        <a:buNone/>
                      </a:pPr>
                      <a:r>
                        <a:rPr sz="1100"/>
                        <a:t>redundant</a:t>
                      </a:r>
                    </a:p>
                  </a:txBody>
                  <a:tcPr/>
                </a:tc>
                <a:tc>
                  <a:txBody>
                    <a:bodyPr/>
                    <a:lstStyle/>
                    <a:p>
                      <a:pPr marL="0" lvl="0" indent="0" algn="l">
                        <a:buNone/>
                      </a:pPr>
                      <a:r>
                        <a:rPr sz="1100"/>
                        <a:t>Redundant (RV-01): World Settlement Footprint 2015 has r = 0.992 with lcover_urban_frac_t0, which is at the…</a:t>
                      </a:r>
                    </a:p>
                  </a:txBody>
                  <a:tcPr/>
                </a:tc>
                <a:extLst>
                  <a:ext uri="{0D108BD9-81ED-4DB2-BD59-A6C34878D82A}">
                    <a16:rowId xmlns:a16="http://schemas.microsoft.com/office/drawing/2014/main" val="10020"/>
                  </a:ext>
                </a:extLst>
              </a:tr>
              <a:tr h="0">
                <a:tc>
                  <a:txBody>
                    <a:bodyPr/>
                    <a:lstStyle/>
                    <a:p>
                      <a:pPr marL="0" lvl="0" indent="0" algn="l">
                        <a:buNone/>
                      </a:pPr>
                      <a:r>
                        <a:rPr sz="1100"/>
                        <a:t>^mics_heat_vhib_sy$</a:t>
                      </a:r>
                    </a:p>
                  </a:txBody>
                  <a:tcPr/>
                </a:tc>
                <a:tc>
                  <a:txBody>
                    <a:bodyPr/>
                    <a:lstStyle/>
                    <a:p>
                      <a:pPr marL="0" lvl="0" indent="0" algn="l">
                        <a:buNone/>
                      </a:pPr>
                      <a:r>
                        <a:rPr sz="1100"/>
                        <a:t>redundant</a:t>
                      </a:r>
                    </a:p>
                  </a:txBody>
                  <a:tcPr/>
                </a:tc>
                <a:tc>
                  <a:txBody>
                    <a:bodyPr/>
                    <a:lstStyle/>
                    <a:p>
                      <a:pPr marL="0" lvl="0" indent="0" algn="l">
                        <a:buNone/>
                      </a:pPr>
                      <a:r>
                        <a:rPr sz="1100"/>
                        <a:t>Redundant (RV-01): Hib is given as the pentavalent vaccine, r = 0.990 with mics_heat_vdpt_sy.</a:t>
                      </a:r>
                    </a:p>
                  </a:txBody>
                  <a:tcPr/>
                </a:tc>
                <a:extLst>
                  <a:ext uri="{0D108BD9-81ED-4DB2-BD59-A6C34878D82A}">
                    <a16:rowId xmlns:a16="http://schemas.microsoft.com/office/drawing/2014/main" val="10021"/>
                  </a:ext>
                </a:extLst>
              </a:tr>
              <a:tr h="0">
                <a:tc>
                  <a:txBody>
                    <a:bodyPr/>
                    <a:lstStyle/>
                    <a:p>
                      <a:pPr marL="0" lvl="0" indent="0" algn="l">
                        <a:buNone/>
                      </a:pPr>
                      <a:r>
                        <a:rPr sz="1100"/>
                        <a:t>^rtfp_dist_market_km$</a:t>
                      </a:r>
                    </a:p>
                  </a:txBody>
                  <a:tcPr/>
                </a:tc>
                <a:tc>
                  <a:txBody>
                    <a:bodyPr/>
                    <a:lstStyle/>
                    <a:p>
                      <a:pPr marL="0" lvl="0" indent="0" algn="l">
                        <a:buNone/>
                      </a:pPr>
                      <a:r>
                        <a:rPr sz="1100"/>
                        <a:t>redundant</a:t>
                      </a:r>
                    </a:p>
                  </a:txBody>
                  <a:tcPr/>
                </a:tc>
                <a:tc>
                  <a:txBody>
                    <a:bodyPr/>
                    <a:lstStyle/>
                    <a:p>
                      <a:pPr marL="0" lvl="0" indent="0" algn="l">
                        <a:buNone/>
                      </a:pPr>
                      <a:r>
                        <a:rPr sz="1100"/>
                        <a:t>Redundant (RV-01): r = 0.984 with fprice_dist_nearest_market_km (the same WFP markets), which covers all fo…</a:t>
                      </a:r>
                    </a:p>
                  </a:txBody>
                  <a:tcPr/>
                </a:tc>
                <a:extLst>
                  <a:ext uri="{0D108BD9-81ED-4DB2-BD59-A6C34878D82A}">
                    <a16:rowId xmlns:a16="http://schemas.microsoft.com/office/drawing/2014/main" val="1002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set by domain and tier</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gridCol w="342900">
                  <a:extLst>
                    <a:ext uri="{9D8B030D-6E8A-4147-A177-3AD203B41FA5}">
                      <a16:colId xmlns:a16="http://schemas.microsoft.com/office/drawing/2014/main" val="20004"/>
                    </a:ext>
                  </a:extLst>
                </a:gridCol>
                <a:gridCol w="17399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0">
                <a:tc>
                  <a:txBody>
                    <a:bodyPr/>
                    <a:lstStyle/>
                    <a:p>
                      <a:pPr marL="0" lvl="0" indent="0" algn="l">
                        <a:buNone/>
                      </a:pPr>
                      <a:r>
                        <a:rPr sz="1100"/>
                        <a:t>Domain</a:t>
                      </a:r>
                    </a:p>
                  </a:txBody>
                  <a:tcPr/>
                </a:tc>
                <a:tc>
                  <a:txBody>
                    <a:bodyPr/>
                    <a:lstStyle/>
                    <a:p>
                      <a:pPr marL="0" lvl="0" indent="0" algn="r">
                        <a:buNone/>
                      </a:pPr>
                      <a:r>
                        <a:rPr sz="1100"/>
                        <a:t>Columns</a:t>
                      </a:r>
                    </a:p>
                  </a:txBody>
                  <a:tcPr/>
                </a:tc>
                <a:tc>
                  <a:txBody>
                    <a:bodyPr/>
                    <a:lstStyle/>
                    <a:p>
                      <a:pPr marL="0" lvl="0" indent="0" algn="r">
                        <a:buNone/>
                      </a:pPr>
                      <a:r>
                        <a:rPr sz="1100"/>
                        <a:t>Open</a:t>
                      </a:r>
                    </a:p>
                  </a:txBody>
                  <a:tcPr/>
                </a:tc>
                <a:tc>
                  <a:txBody>
                    <a:bodyPr/>
                    <a:lstStyle/>
                    <a:p>
                      <a:pPr marL="0" lvl="0" indent="0" algn="r">
                        <a:buNone/>
                      </a:pPr>
                      <a:r>
                        <a:rPr sz="1100"/>
                        <a:t>Public microdata</a:t>
                      </a:r>
                    </a:p>
                  </a:txBody>
                  <a:tcPr/>
                </a:tc>
                <a:tc>
                  <a:txBody>
                    <a:bodyPr/>
                    <a:lstStyle/>
                    <a:p>
                      <a:pPr marL="0" lvl="0" indent="0" algn="r">
                        <a:buNone/>
                      </a:pPr>
                      <a:r>
                        <a:rPr sz="1100"/>
                        <a:t>DHS</a:t>
                      </a:r>
                    </a:p>
                  </a:txBody>
                  <a:tcPr/>
                </a:tc>
                <a:tc>
                  <a:txBody>
                    <a:bodyPr/>
                    <a:lstStyle/>
                    <a:p>
                      <a:pPr marL="0" lvl="0" indent="0" algn="r">
                        <a:buNone/>
                      </a:pPr>
                      <a:r>
                        <a:rPr sz="1100"/>
                        <a:t>Vary within country</a:t>
                      </a:r>
                    </a:p>
                  </a:txBody>
                  <a:tcPr/>
                </a:tc>
                <a:tc>
                  <a:txBody>
                    <a:bodyPr/>
                    <a:lstStyle/>
                    <a:p>
                      <a:pPr marL="0" lvl="0" indent="0" algn="r">
                        <a:buNone/>
                      </a:pPr>
                      <a:r>
                        <a:rPr sz="1100"/>
                        <a:t>Modelled surfaces</a:t>
                      </a:r>
                    </a:p>
                  </a:txBody>
                  <a:tcPr/>
                </a:tc>
                <a:extLst>
                  <a:ext uri="{0D108BD9-81ED-4DB2-BD59-A6C34878D82A}">
                    <a16:rowId xmlns:a16="http://schemas.microsoft.com/office/drawing/2014/main" val="10000"/>
                  </a:ext>
                </a:extLst>
              </a:tr>
              <a:tr h="0">
                <a:tc>
                  <a:txBody>
                    <a:bodyPr/>
                    <a:lstStyle/>
                    <a:p>
                      <a:pPr marL="0" lvl="0" indent="0" algn="l">
                        <a:buNone/>
                      </a:pPr>
                      <a:r>
                        <a:rPr sz="1100"/>
                        <a:t>Satellite embedding</a:t>
                      </a:r>
                    </a:p>
                  </a:txBody>
                  <a:tcPr/>
                </a:tc>
                <a:tc>
                  <a:txBody>
                    <a:bodyPr/>
                    <a:lstStyle/>
                    <a:p>
                      <a:pPr marL="0" lvl="0" indent="0" algn="r">
                        <a:buNone/>
                      </a:pPr>
                      <a:r>
                        <a:rPr sz="1100"/>
                        <a:t>64</a:t>
                      </a:r>
                    </a:p>
                  </a:txBody>
                  <a:tcPr/>
                </a:tc>
                <a:tc>
                  <a:txBody>
                    <a:bodyPr/>
                    <a:lstStyle/>
                    <a:p>
                      <a:pPr marL="0" lvl="0" indent="0" algn="r">
                        <a:buNone/>
                      </a:pPr>
                      <a:r>
                        <a:rPr sz="1100"/>
                        <a:t>64</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64</a:t>
                      </a:r>
                    </a:p>
                  </a:txBody>
                  <a:tcPr/>
                </a:tc>
                <a:tc>
                  <a:txBody>
                    <a:bodyPr/>
                    <a:lstStyle/>
                    <a:p>
                      <a:pPr marL="0" lvl="0" indent="0" algn="r">
                        <a:buNone/>
                      </a:pPr>
                      <a:r>
                        <a:rPr sz="1100"/>
                        <a:t>0</a:t>
                      </a:r>
                    </a:p>
                  </a:txBody>
                  <a:tcPr/>
                </a:tc>
                <a:extLst>
                  <a:ext uri="{0D108BD9-81ED-4DB2-BD59-A6C34878D82A}">
                    <a16:rowId xmlns:a16="http://schemas.microsoft.com/office/drawing/2014/main" val="10001"/>
                  </a:ext>
                </a:extLst>
              </a:tr>
              <a:tr h="0">
                <a:tc>
                  <a:txBody>
                    <a:bodyPr/>
                    <a:lstStyle/>
                    <a:p>
                      <a:pPr marL="0" lvl="0" indent="0" algn="l">
                        <a:buNone/>
                      </a:pPr>
                      <a:r>
                        <a:rPr sz="1100"/>
                        <a:t>Climate and weather</a:t>
                      </a:r>
                    </a:p>
                  </a:txBody>
                  <a:tcPr/>
                </a:tc>
                <a:tc>
                  <a:txBody>
                    <a:bodyPr/>
                    <a:lstStyle/>
                    <a:p>
                      <a:pPr marL="0" lvl="0" indent="0" algn="r">
                        <a:buNone/>
                      </a:pPr>
                      <a:r>
                        <a:rPr sz="1100"/>
                        <a:t>60</a:t>
                      </a:r>
                    </a:p>
                  </a:txBody>
                  <a:tcPr/>
                </a:tc>
                <a:tc>
                  <a:txBody>
                    <a:bodyPr/>
                    <a:lstStyle/>
                    <a:p>
                      <a:pPr marL="0" lvl="0" indent="0" algn="r">
                        <a:buNone/>
                      </a:pPr>
                      <a:r>
                        <a:rPr sz="1100"/>
                        <a:t>60</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60</a:t>
                      </a:r>
                    </a:p>
                  </a:txBody>
                  <a:tcPr/>
                </a:tc>
                <a:tc>
                  <a:txBody>
                    <a:bodyPr/>
                    <a:lstStyle/>
                    <a:p>
                      <a:pPr marL="0" lvl="0" indent="0" algn="r">
                        <a:buNone/>
                      </a:pPr>
                      <a:r>
                        <a:rPr sz="1100"/>
                        <a:t>0</a:t>
                      </a:r>
                    </a:p>
                  </a:txBody>
                  <a:tcPr/>
                </a:tc>
                <a:extLst>
                  <a:ext uri="{0D108BD9-81ED-4DB2-BD59-A6C34878D82A}">
                    <a16:rowId xmlns:a16="http://schemas.microsoft.com/office/drawing/2014/main" val="10002"/>
                  </a:ext>
                </a:extLst>
              </a:tr>
              <a:tr h="0">
                <a:tc>
                  <a:txBody>
                    <a:bodyPr/>
                    <a:lstStyle/>
                    <a:p>
                      <a:pPr marL="0" lvl="0" indent="0" algn="l">
                        <a:buNone/>
                      </a:pPr>
                      <a:r>
                        <a:rPr sz="1100"/>
                        <a:t>Soil characteristics</a:t>
                      </a:r>
                    </a:p>
                  </a:txBody>
                  <a:tcPr/>
                </a:tc>
                <a:tc>
                  <a:txBody>
                    <a:bodyPr/>
                    <a:lstStyle/>
                    <a:p>
                      <a:pPr marL="0" lvl="0" indent="0" algn="r">
                        <a:buNone/>
                      </a:pPr>
                      <a:r>
                        <a:rPr sz="1100"/>
                        <a:t>45</a:t>
                      </a:r>
                    </a:p>
                  </a:txBody>
                  <a:tcPr/>
                </a:tc>
                <a:tc>
                  <a:txBody>
                    <a:bodyPr/>
                    <a:lstStyle/>
                    <a:p>
                      <a:pPr marL="0" lvl="0" indent="0" algn="r">
                        <a:buNone/>
                      </a:pPr>
                      <a:r>
                        <a:rPr sz="1100"/>
                        <a:t>45</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45</a:t>
                      </a:r>
                    </a:p>
                  </a:txBody>
                  <a:tcPr/>
                </a:tc>
                <a:tc>
                  <a:txBody>
                    <a:bodyPr/>
                    <a:lstStyle/>
                    <a:p>
                      <a:pPr marL="0" lvl="0" indent="0" algn="r">
                        <a:buNone/>
                      </a:pPr>
                      <a:r>
                        <a:rPr sz="1100"/>
                        <a:t>0</a:t>
                      </a:r>
                    </a:p>
                  </a:txBody>
                  <a:tcPr/>
                </a:tc>
                <a:extLst>
                  <a:ext uri="{0D108BD9-81ED-4DB2-BD59-A6C34878D82A}">
                    <a16:rowId xmlns:a16="http://schemas.microsoft.com/office/drawing/2014/main" val="10003"/>
                  </a:ext>
                </a:extLst>
              </a:tr>
              <a:tr h="0">
                <a:tc>
                  <a:txBody>
                    <a:bodyPr/>
                    <a:lstStyle/>
                    <a:p>
                      <a:pPr marL="0" lvl="0" indent="0" algn="l">
                        <a:buNone/>
                      </a:pPr>
                      <a:r>
                        <a:rPr sz="1100"/>
                        <a:t>Infection and inflammation burden</a:t>
                      </a:r>
                    </a:p>
                  </a:txBody>
                  <a:tcPr/>
                </a:tc>
                <a:tc>
                  <a:txBody>
                    <a:bodyPr/>
                    <a:lstStyle/>
                    <a:p>
                      <a:pPr marL="0" lvl="0" indent="0" algn="r">
                        <a:buNone/>
                      </a:pPr>
                      <a:r>
                        <a:rPr sz="1100"/>
                        <a:t>42</a:t>
                      </a:r>
                    </a:p>
                  </a:txBody>
                  <a:tcPr/>
                </a:tc>
                <a:tc>
                  <a:txBody>
                    <a:bodyPr/>
                    <a:lstStyle/>
                    <a:p>
                      <a:pPr marL="0" lvl="0" indent="0" algn="r">
                        <a:buNone/>
                      </a:pPr>
                      <a:r>
                        <a:rPr sz="1100"/>
                        <a:t>30</a:t>
                      </a:r>
                    </a:p>
                  </a:txBody>
                  <a:tcPr/>
                </a:tc>
                <a:tc>
                  <a:txBody>
                    <a:bodyPr/>
                    <a:lstStyle/>
                    <a:p>
                      <a:pPr marL="0" lvl="0" indent="0" algn="r">
                        <a:buNone/>
                      </a:pPr>
                      <a:r>
                        <a:rPr sz="1100"/>
                        <a:t>4</a:t>
                      </a:r>
                    </a:p>
                  </a:txBody>
                  <a:tcPr/>
                </a:tc>
                <a:tc>
                  <a:txBody>
                    <a:bodyPr/>
                    <a:lstStyle/>
                    <a:p>
                      <a:pPr marL="0" lvl="0" indent="0" algn="r">
                        <a:buNone/>
                      </a:pPr>
                      <a:r>
                        <a:rPr sz="1100"/>
                        <a:t>8</a:t>
                      </a:r>
                    </a:p>
                  </a:txBody>
                  <a:tcPr/>
                </a:tc>
                <a:tc>
                  <a:txBody>
                    <a:bodyPr/>
                    <a:lstStyle/>
                    <a:p>
                      <a:pPr marL="0" lvl="0" indent="0" algn="r">
                        <a:buNone/>
                      </a:pPr>
                      <a:r>
                        <a:rPr sz="1100"/>
                        <a:t>39</a:t>
                      </a:r>
                    </a:p>
                  </a:txBody>
                  <a:tcPr/>
                </a:tc>
                <a:tc>
                  <a:txBody>
                    <a:bodyPr/>
                    <a:lstStyle/>
                    <a:p>
                      <a:pPr marL="0" lvl="0" indent="0" algn="r">
                        <a:buNone/>
                      </a:pPr>
                      <a:r>
                        <a:rPr sz="1100"/>
                        <a:t>10</a:t>
                      </a:r>
                    </a:p>
                  </a:txBody>
                  <a:tcPr/>
                </a:tc>
                <a:extLst>
                  <a:ext uri="{0D108BD9-81ED-4DB2-BD59-A6C34878D82A}">
                    <a16:rowId xmlns:a16="http://schemas.microsoft.com/office/drawing/2014/main" val="10004"/>
                  </a:ext>
                </a:extLst>
              </a:tr>
              <a:tr h="0">
                <a:tc>
                  <a:txBody>
                    <a:bodyPr/>
                    <a:lstStyle/>
                    <a:p>
                      <a:pPr marL="0" lvl="0" indent="0" algn="l">
                        <a:buNone/>
                      </a:pPr>
                      <a:r>
                        <a:rPr sz="1100"/>
                        <a:t>Food fortification and supplementation</a:t>
                      </a:r>
                    </a:p>
                  </a:txBody>
                  <a:tcPr/>
                </a:tc>
                <a:tc>
                  <a:txBody>
                    <a:bodyPr/>
                    <a:lstStyle/>
                    <a:p>
                      <a:pPr marL="0" lvl="0" indent="0" algn="r">
                        <a:buNone/>
                      </a:pPr>
                      <a:r>
                        <a:rPr sz="1100"/>
                        <a:t>35</a:t>
                      </a:r>
                    </a:p>
                  </a:txBody>
                  <a:tcPr/>
                </a:tc>
                <a:tc>
                  <a:txBody>
                    <a:bodyPr/>
                    <a:lstStyle/>
                    <a:p>
                      <a:pPr marL="0" lvl="0" indent="0" algn="r">
                        <a:buNone/>
                      </a:pPr>
                      <a:r>
                        <a:rPr sz="1100"/>
                        <a:t>25</a:t>
                      </a:r>
                    </a:p>
                  </a:txBody>
                  <a:tcPr/>
                </a:tc>
                <a:tc>
                  <a:txBody>
                    <a:bodyPr/>
                    <a:lstStyle/>
                    <a:p>
                      <a:pPr marL="0" lvl="0" indent="0" algn="r">
                        <a:buNone/>
                      </a:pPr>
                      <a:r>
                        <a:rPr sz="1100"/>
                        <a:t>3</a:t>
                      </a:r>
                    </a:p>
                  </a:txBody>
                  <a:tcPr/>
                </a:tc>
                <a:tc>
                  <a:txBody>
                    <a:bodyPr/>
                    <a:lstStyle/>
                    <a:p>
                      <a:pPr marL="0" lvl="0" indent="0" algn="r">
                        <a:buNone/>
                      </a:pPr>
                      <a:r>
                        <a:rPr sz="1100"/>
                        <a:t>7</a:t>
                      </a:r>
                    </a:p>
                  </a:txBody>
                  <a:tcPr/>
                </a:tc>
                <a:tc>
                  <a:txBody>
                    <a:bodyPr/>
                    <a:lstStyle/>
                    <a:p>
                      <a:pPr marL="0" lvl="0" indent="0" algn="r">
                        <a:buNone/>
                      </a:pPr>
                      <a:r>
                        <a:rPr sz="1100"/>
                        <a:t>10</a:t>
                      </a:r>
                    </a:p>
                  </a:txBody>
                  <a:tcPr/>
                </a:tc>
                <a:tc>
                  <a:txBody>
                    <a:bodyPr/>
                    <a:lstStyle/>
                    <a:p>
                      <a:pPr marL="0" lvl="0" indent="0" algn="r">
                        <a:buNone/>
                      </a:pPr>
                      <a:r>
                        <a:rPr sz="1100"/>
                        <a:t>0</a:t>
                      </a:r>
                    </a:p>
                  </a:txBody>
                  <a:tcPr/>
                </a:tc>
                <a:extLst>
                  <a:ext uri="{0D108BD9-81ED-4DB2-BD59-A6C34878D82A}">
                    <a16:rowId xmlns:a16="http://schemas.microsoft.com/office/drawing/2014/main" val="10005"/>
                  </a:ext>
                </a:extLst>
              </a:tr>
              <a:tr h="0">
                <a:tc>
                  <a:txBody>
                    <a:bodyPr/>
                    <a:lstStyle/>
                    <a:p>
                      <a:pPr marL="0" lvl="0" indent="0" algn="l">
                        <a:buNone/>
                      </a:pPr>
                      <a:r>
                        <a:rPr sz="1100"/>
                        <a:t>Immunisation</a:t>
                      </a:r>
                    </a:p>
                  </a:txBody>
                  <a:tcPr/>
                </a:tc>
                <a:tc>
                  <a:txBody>
                    <a:bodyPr/>
                    <a:lstStyle/>
                    <a:p>
                      <a:pPr marL="0" lvl="0" indent="0" algn="r">
                        <a:buNone/>
                      </a:pPr>
                      <a:r>
                        <a:rPr sz="1100"/>
                        <a:t>32</a:t>
                      </a:r>
                    </a:p>
                  </a:txBody>
                  <a:tcPr/>
                </a:tc>
                <a:tc>
                  <a:txBody>
                    <a:bodyPr/>
                    <a:lstStyle/>
                    <a:p>
                      <a:pPr marL="0" lvl="0" indent="0" algn="r">
                        <a:buNone/>
                      </a:pPr>
                      <a:r>
                        <a:rPr sz="1100"/>
                        <a:t>1</a:t>
                      </a:r>
                    </a:p>
                  </a:txBody>
                  <a:tcPr/>
                </a:tc>
                <a:tc>
                  <a:txBody>
                    <a:bodyPr/>
                    <a:lstStyle/>
                    <a:p>
                      <a:pPr marL="0" lvl="0" indent="0" algn="r">
                        <a:buNone/>
                      </a:pPr>
                      <a:r>
                        <a:rPr sz="1100"/>
                        <a:t>19</a:t>
                      </a:r>
                    </a:p>
                  </a:txBody>
                  <a:tcPr/>
                </a:tc>
                <a:tc>
                  <a:txBody>
                    <a:bodyPr/>
                    <a:lstStyle/>
                    <a:p>
                      <a:pPr marL="0" lvl="0" indent="0" algn="r">
                        <a:buNone/>
                      </a:pPr>
                      <a:r>
                        <a:rPr sz="1100"/>
                        <a:t>12</a:t>
                      </a:r>
                    </a:p>
                  </a:txBody>
                  <a:tcPr/>
                </a:tc>
                <a:tc>
                  <a:txBody>
                    <a:bodyPr/>
                    <a:lstStyle/>
                    <a:p>
                      <a:pPr marL="0" lvl="0" indent="0" algn="r">
                        <a:buNone/>
                      </a:pPr>
                      <a:r>
                        <a:rPr sz="1100"/>
                        <a:t>32</a:t>
                      </a:r>
                    </a:p>
                  </a:txBody>
                  <a:tcPr/>
                </a:tc>
                <a:tc>
                  <a:txBody>
                    <a:bodyPr/>
                    <a:lstStyle/>
                    <a:p>
                      <a:pPr marL="0" lvl="0" indent="0" algn="r">
                        <a:buNone/>
                      </a:pPr>
                      <a:r>
                        <a:rPr sz="1100"/>
                        <a:t>1</a:t>
                      </a:r>
                    </a:p>
                  </a:txBody>
                  <a:tcPr/>
                </a:tc>
                <a:extLst>
                  <a:ext uri="{0D108BD9-81ED-4DB2-BD59-A6C34878D82A}">
                    <a16:rowId xmlns:a16="http://schemas.microsoft.com/office/drawing/2014/main" val="10006"/>
                  </a:ext>
                </a:extLst>
              </a:tr>
              <a:tr h="0">
                <a:tc>
                  <a:txBody>
                    <a:bodyPr/>
                    <a:lstStyle/>
                    <a:p>
                      <a:pPr marL="0" lvl="0" indent="0" algn="l">
                        <a:buNone/>
                      </a:pPr>
                      <a:r>
                        <a:rPr sz="1100"/>
                        <a:t>Agricultural production, land use</a:t>
                      </a:r>
                    </a:p>
                  </a:txBody>
                  <a:tcPr/>
                </a:tc>
                <a:tc>
                  <a:txBody>
                    <a:bodyPr/>
                    <a:lstStyle/>
                    <a:p>
                      <a:pPr marL="0" lvl="0" indent="0" algn="r">
                        <a:buNone/>
                      </a:pPr>
                      <a:r>
                        <a:rPr sz="1100"/>
                        <a:t>29</a:t>
                      </a:r>
                    </a:p>
                  </a:txBody>
                  <a:tcPr/>
                </a:tc>
                <a:tc>
                  <a:txBody>
                    <a:bodyPr/>
                    <a:lstStyle/>
                    <a:p>
                      <a:pPr marL="0" lvl="0" indent="0" algn="r">
                        <a:buNone/>
                      </a:pPr>
                      <a:r>
                        <a:rPr sz="1100"/>
                        <a:t>12</a:t>
                      </a:r>
                    </a:p>
                  </a:txBody>
                  <a:tcPr/>
                </a:tc>
                <a:tc>
                  <a:txBody>
                    <a:bodyPr/>
                    <a:lstStyle/>
                    <a:p>
                      <a:pPr marL="0" lvl="0" indent="0" algn="r">
                        <a:buNone/>
                      </a:pPr>
                      <a:r>
                        <a:rPr sz="1100"/>
                        <a:t>0</a:t>
                      </a:r>
                    </a:p>
                  </a:txBody>
                  <a:tcPr/>
                </a:tc>
                <a:tc>
                  <a:txBody>
                    <a:bodyPr/>
                    <a:lstStyle/>
                    <a:p>
                      <a:pPr marL="0" lvl="0" indent="0" algn="r">
                        <a:buNone/>
                      </a:pPr>
                      <a:r>
                        <a:rPr sz="1100"/>
                        <a:t>17</a:t>
                      </a:r>
                    </a:p>
                  </a:txBody>
                  <a:tcPr/>
                </a:tc>
                <a:tc>
                  <a:txBody>
                    <a:bodyPr/>
                    <a:lstStyle/>
                    <a:p>
                      <a:pPr marL="0" lvl="0" indent="0" algn="r">
                        <a:buNone/>
                      </a:pPr>
                      <a:r>
                        <a:rPr sz="1100"/>
                        <a:t>29</a:t>
                      </a:r>
                    </a:p>
                  </a:txBody>
                  <a:tcPr/>
                </a:tc>
                <a:tc>
                  <a:txBody>
                    <a:bodyPr/>
                    <a:lstStyle/>
                    <a:p>
                      <a:pPr marL="0" lvl="0" indent="0" algn="r">
                        <a:buNone/>
                      </a:pPr>
                      <a:r>
                        <a:rPr sz="1100"/>
                        <a:t>0</a:t>
                      </a:r>
                    </a:p>
                  </a:txBody>
                  <a:tcPr/>
                </a:tc>
                <a:extLst>
                  <a:ext uri="{0D108BD9-81ED-4DB2-BD59-A6C34878D82A}">
                    <a16:rowId xmlns:a16="http://schemas.microsoft.com/office/drawing/2014/main" val="10007"/>
                  </a:ext>
                </a:extLst>
              </a:tr>
              <a:tr h="0">
                <a:tc>
                  <a:txBody>
                    <a:bodyPr/>
                    <a:lstStyle/>
                    <a:p>
                      <a:pPr marL="0" lvl="0" indent="0" algn="l">
                        <a:buNone/>
                      </a:pPr>
                      <a:r>
                        <a:rPr sz="1100"/>
                        <a:t>Education, employment, SES</a:t>
                      </a:r>
                    </a:p>
                  </a:txBody>
                  <a:tcPr/>
                </a:tc>
                <a:tc>
                  <a:txBody>
                    <a:bodyPr/>
                    <a:lstStyle/>
                    <a:p>
                      <a:pPr marL="0" lvl="0" indent="0" algn="r">
                        <a:buNone/>
                      </a:pPr>
                      <a:r>
                        <a:rPr sz="1100"/>
                        <a:t>26</a:t>
                      </a:r>
                    </a:p>
                  </a:txBody>
                  <a:tcPr/>
                </a:tc>
                <a:tc>
                  <a:txBody>
                    <a:bodyPr/>
                    <a:lstStyle/>
                    <a:p>
                      <a:pPr marL="0" lvl="0" indent="0" algn="r">
                        <a:buNone/>
                      </a:pPr>
                      <a:r>
                        <a:rPr sz="1100"/>
                        <a:t>9</a:t>
                      </a:r>
                    </a:p>
                  </a:txBody>
                  <a:tcPr/>
                </a:tc>
                <a:tc>
                  <a:txBody>
                    <a:bodyPr/>
                    <a:lstStyle/>
                    <a:p>
                      <a:pPr marL="0" lvl="0" indent="0" algn="r">
                        <a:buNone/>
                      </a:pPr>
                      <a:r>
                        <a:rPr sz="1100"/>
                        <a:t>4</a:t>
                      </a:r>
                    </a:p>
                  </a:txBody>
                  <a:tcPr/>
                </a:tc>
                <a:tc>
                  <a:txBody>
                    <a:bodyPr/>
                    <a:lstStyle/>
                    <a:p>
                      <a:pPr marL="0" lvl="0" indent="0" algn="r">
                        <a:buNone/>
                      </a:pPr>
                      <a:r>
                        <a:rPr sz="1100"/>
                        <a:t>13</a:t>
                      </a:r>
                    </a:p>
                  </a:txBody>
                  <a:tcPr/>
                </a:tc>
                <a:tc>
                  <a:txBody>
                    <a:bodyPr/>
                    <a:lstStyle/>
                    <a:p>
                      <a:pPr marL="0" lvl="0" indent="0" algn="r">
                        <a:buNone/>
                      </a:pPr>
                      <a:r>
                        <a:rPr sz="1100"/>
                        <a:t>26</a:t>
                      </a:r>
                    </a:p>
                  </a:txBody>
                  <a:tcPr/>
                </a:tc>
                <a:tc>
                  <a:txBody>
                    <a:bodyPr/>
                    <a:lstStyle/>
                    <a:p>
                      <a:pPr marL="0" lvl="0" indent="0" algn="r">
                        <a:buNone/>
                      </a:pPr>
                      <a:r>
                        <a:rPr sz="1100"/>
                        <a:t>4</a:t>
                      </a:r>
                    </a:p>
                  </a:txBody>
                  <a:tcPr/>
                </a:tc>
                <a:extLst>
                  <a:ext uri="{0D108BD9-81ED-4DB2-BD59-A6C34878D82A}">
                    <a16:rowId xmlns:a16="http://schemas.microsoft.com/office/drawing/2014/main" val="10008"/>
                  </a:ext>
                </a:extLst>
              </a:tr>
              <a:tr h="0">
                <a:tc>
                  <a:txBody>
                    <a:bodyPr/>
                    <a:lstStyle/>
                    <a:p>
                      <a:pPr marL="0" lvl="0" indent="0" algn="l">
                        <a:buNone/>
                      </a:pPr>
                      <a:r>
                        <a:rPr sz="1100"/>
                        <a:t>Infant and young child feeding</a:t>
                      </a:r>
                    </a:p>
                  </a:txBody>
                  <a:tcPr/>
                </a:tc>
                <a:tc>
                  <a:txBody>
                    <a:bodyPr/>
                    <a:lstStyle/>
                    <a:p>
                      <a:pPr marL="0" lvl="0" indent="0" algn="r">
                        <a:buNone/>
                      </a:pPr>
                      <a:r>
                        <a:rPr sz="1100"/>
                        <a:t>24</a:t>
                      </a:r>
                    </a:p>
                  </a:txBody>
                  <a:tcPr/>
                </a:tc>
                <a:tc>
                  <a:txBody>
                    <a:bodyPr/>
                    <a:lstStyle/>
                    <a:p>
                      <a:pPr marL="0" lvl="0" indent="0" algn="r">
                        <a:buNone/>
                      </a:pPr>
                      <a:r>
                        <a:rPr sz="1100"/>
                        <a:t>1</a:t>
                      </a:r>
                    </a:p>
                  </a:txBody>
                  <a:tcPr/>
                </a:tc>
                <a:tc>
                  <a:txBody>
                    <a:bodyPr/>
                    <a:lstStyle/>
                    <a:p>
                      <a:pPr marL="0" lvl="0" indent="0" algn="r">
                        <a:buNone/>
                      </a:pPr>
                      <a:r>
                        <a:rPr sz="1100"/>
                        <a:t>7</a:t>
                      </a:r>
                    </a:p>
                  </a:txBody>
                  <a:tcPr/>
                </a:tc>
                <a:tc>
                  <a:txBody>
                    <a:bodyPr/>
                    <a:lstStyle/>
                    <a:p>
                      <a:pPr marL="0" lvl="0" indent="0" algn="r">
                        <a:buNone/>
                      </a:pPr>
                      <a:r>
                        <a:rPr sz="1100"/>
                        <a:t>16</a:t>
                      </a:r>
                    </a:p>
                  </a:txBody>
                  <a:tcPr/>
                </a:tc>
                <a:tc>
                  <a:txBody>
                    <a:bodyPr/>
                    <a:lstStyle/>
                    <a:p>
                      <a:pPr marL="0" lvl="0" indent="0" algn="r">
                        <a:buNone/>
                      </a:pPr>
                      <a:r>
                        <a:rPr sz="1100"/>
                        <a:t>24</a:t>
                      </a:r>
                    </a:p>
                  </a:txBody>
                  <a:tcPr/>
                </a:tc>
                <a:tc>
                  <a:txBody>
                    <a:bodyPr/>
                    <a:lstStyle/>
                    <a:p>
                      <a:pPr marL="0" lvl="0" indent="0" algn="r">
                        <a:buNone/>
                      </a:pPr>
                      <a:r>
                        <a:rPr sz="1100"/>
                        <a:t>1</a:t>
                      </a:r>
                    </a:p>
                  </a:txBody>
                  <a:tcPr/>
                </a:tc>
                <a:extLst>
                  <a:ext uri="{0D108BD9-81ED-4DB2-BD59-A6C34878D82A}">
                    <a16:rowId xmlns:a16="http://schemas.microsoft.com/office/drawing/2014/main" val="10009"/>
                  </a:ext>
                </a:extLst>
              </a:tr>
              <a:tr h="0">
                <a:tc>
                  <a:txBody>
                    <a:bodyPr/>
                    <a:lstStyle/>
                    <a:p>
                      <a:pPr marL="0" lvl="0" indent="0" algn="l">
                        <a:buNone/>
                      </a:pPr>
                      <a:r>
                        <a:rPr sz="1100"/>
                        <a:t>Water and sanitation</a:t>
                      </a:r>
                    </a:p>
                  </a:txBody>
                  <a:tcPr/>
                </a:tc>
                <a:tc>
                  <a:txBody>
                    <a:bodyPr/>
                    <a:lstStyle/>
                    <a:p>
                      <a:pPr marL="0" lvl="0" indent="0" algn="r">
                        <a:buNone/>
                      </a:pPr>
                      <a:r>
                        <a:rPr sz="1100"/>
                        <a:t>24</a:t>
                      </a:r>
                    </a:p>
                  </a:txBody>
                  <a:tcPr/>
                </a:tc>
                <a:tc>
                  <a:txBody>
                    <a:bodyPr/>
                    <a:lstStyle/>
                    <a:p>
                      <a:pPr marL="0" lvl="0" indent="0" algn="r">
                        <a:buNone/>
                      </a:pPr>
                      <a:r>
                        <a:rPr sz="1100"/>
                        <a:t>10</a:t>
                      </a:r>
                    </a:p>
                  </a:txBody>
                  <a:tcPr/>
                </a:tc>
                <a:tc>
                  <a:txBody>
                    <a:bodyPr/>
                    <a:lstStyle/>
                    <a:p>
                      <a:pPr marL="0" lvl="0" indent="0" algn="r">
                        <a:buNone/>
                      </a:pPr>
                      <a:r>
                        <a:rPr sz="1100"/>
                        <a:t>5</a:t>
                      </a:r>
                    </a:p>
                  </a:txBody>
                  <a:tcPr/>
                </a:tc>
                <a:tc>
                  <a:txBody>
                    <a:bodyPr/>
                    <a:lstStyle/>
                    <a:p>
                      <a:pPr marL="0" lvl="0" indent="0" algn="r">
                        <a:buNone/>
                      </a:pPr>
                      <a:r>
                        <a:rPr sz="1100"/>
                        <a:t>9</a:t>
                      </a:r>
                    </a:p>
                  </a:txBody>
                  <a:tcPr/>
                </a:tc>
                <a:tc>
                  <a:txBody>
                    <a:bodyPr/>
                    <a:lstStyle/>
                    <a:p>
                      <a:pPr marL="0" lvl="0" indent="0" algn="r">
                        <a:buNone/>
                      </a:pPr>
                      <a:r>
                        <a:rPr sz="1100"/>
                        <a:t>24</a:t>
                      </a:r>
                    </a:p>
                  </a:txBody>
                  <a:tcPr/>
                </a:tc>
                <a:tc>
                  <a:txBody>
                    <a:bodyPr/>
                    <a:lstStyle/>
                    <a:p>
                      <a:pPr marL="0" lvl="0" indent="0" algn="r">
                        <a:buNone/>
                      </a:pPr>
                      <a:r>
                        <a:rPr sz="1100"/>
                        <a:t>10</a:t>
                      </a:r>
                    </a:p>
                  </a:txBody>
                  <a:tcPr/>
                </a:tc>
                <a:extLst>
                  <a:ext uri="{0D108BD9-81ED-4DB2-BD59-A6C34878D82A}">
                    <a16:rowId xmlns:a16="http://schemas.microsoft.com/office/drawing/2014/main" val="10010"/>
                  </a:ext>
                </a:extLst>
              </a:tr>
              <a:tr h="0">
                <a:tc>
                  <a:txBody>
                    <a:bodyPr/>
                    <a:lstStyle/>
                    <a:p>
                      <a:pPr marL="0" lvl="0" indent="0" algn="l">
                        <a:buNone/>
                      </a:pPr>
                      <a:r>
                        <a:rPr sz="1100"/>
                        <a:t>Food prices and supply</a:t>
                      </a:r>
                    </a:p>
                  </a:txBody>
                  <a:tcPr/>
                </a:tc>
                <a:tc>
                  <a:txBody>
                    <a:bodyPr/>
                    <a:lstStyle/>
                    <a:p>
                      <a:pPr marL="0" lvl="0" indent="0" algn="r">
                        <a:buNone/>
                      </a:pPr>
                      <a:r>
                        <a:rPr sz="1100"/>
                        <a:t>21</a:t>
                      </a:r>
                    </a:p>
                  </a:txBody>
                  <a:tcPr/>
                </a:tc>
                <a:tc>
                  <a:txBody>
                    <a:bodyPr/>
                    <a:lstStyle/>
                    <a:p>
                      <a:pPr marL="0" lvl="0" indent="0" algn="r">
                        <a:buNone/>
                      </a:pPr>
                      <a:r>
                        <a:rPr sz="1100"/>
                        <a:t>21</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12</a:t>
                      </a:r>
                    </a:p>
                  </a:txBody>
                  <a:tcPr/>
                </a:tc>
                <a:tc>
                  <a:txBody>
                    <a:bodyPr/>
                    <a:lstStyle/>
                    <a:p>
                      <a:pPr marL="0" lvl="0" indent="0" algn="r">
                        <a:buNone/>
                      </a:pPr>
                      <a:r>
                        <a:rPr sz="1100"/>
                        <a:t>0</a:t>
                      </a:r>
                    </a:p>
                  </a:txBody>
                  <a:tcPr/>
                </a:tc>
                <a:extLst>
                  <a:ext uri="{0D108BD9-81ED-4DB2-BD59-A6C34878D82A}">
                    <a16:rowId xmlns:a16="http://schemas.microsoft.com/office/drawing/2014/main" val="10011"/>
                  </a:ext>
                </a:extLst>
              </a:tr>
              <a:tr h="0">
                <a:tc>
                  <a:txBody>
                    <a:bodyPr/>
                    <a:lstStyle/>
                    <a:p>
                      <a:pPr marL="0" lvl="0" indent="0" algn="l">
                        <a:buNone/>
                      </a:pPr>
                      <a:r>
                        <a:rPr sz="1100"/>
                        <a:t>Child anthropometry</a:t>
                      </a:r>
                    </a:p>
                  </a:txBody>
                  <a:tcPr/>
                </a:tc>
                <a:tc>
                  <a:txBody>
                    <a:bodyPr/>
                    <a:lstStyle/>
                    <a:p>
                      <a:pPr marL="0" lvl="0" indent="0" algn="r">
                        <a:buNone/>
                      </a:pPr>
                      <a:r>
                        <a:rPr sz="1100"/>
                        <a:t>20</a:t>
                      </a:r>
                    </a:p>
                  </a:txBody>
                  <a:tcPr/>
                </a:tc>
                <a:tc>
                  <a:txBody>
                    <a:bodyPr/>
                    <a:lstStyle/>
                    <a:p>
                      <a:pPr marL="0" lvl="0" indent="0" algn="r">
                        <a:buNone/>
                      </a:pPr>
                      <a:r>
                        <a:rPr sz="1100"/>
                        <a:t>4</a:t>
                      </a:r>
                    </a:p>
                  </a:txBody>
                  <a:tcPr/>
                </a:tc>
                <a:tc>
                  <a:txBody>
                    <a:bodyPr/>
                    <a:lstStyle/>
                    <a:p>
                      <a:pPr marL="0" lvl="0" indent="0" algn="r">
                        <a:buNone/>
                      </a:pPr>
                      <a:r>
                        <a:rPr sz="1100"/>
                        <a:t>4</a:t>
                      </a:r>
                    </a:p>
                  </a:txBody>
                  <a:tcPr/>
                </a:tc>
                <a:tc>
                  <a:txBody>
                    <a:bodyPr/>
                    <a:lstStyle/>
                    <a:p>
                      <a:pPr marL="0" lvl="0" indent="0" algn="r">
                        <a:buNone/>
                      </a:pPr>
                      <a:r>
                        <a:rPr sz="1100"/>
                        <a:t>12</a:t>
                      </a:r>
                    </a:p>
                  </a:txBody>
                  <a:tcPr/>
                </a:tc>
                <a:tc>
                  <a:txBody>
                    <a:bodyPr/>
                    <a:lstStyle/>
                    <a:p>
                      <a:pPr marL="0" lvl="0" indent="0" algn="r">
                        <a:buNone/>
                      </a:pPr>
                      <a:r>
                        <a:rPr sz="1100"/>
                        <a:t>20</a:t>
                      </a:r>
                    </a:p>
                  </a:txBody>
                  <a:tcPr/>
                </a:tc>
                <a:tc>
                  <a:txBody>
                    <a:bodyPr/>
                    <a:lstStyle/>
                    <a:p>
                      <a:pPr marL="0" lvl="0" indent="0" algn="r">
                        <a:buNone/>
                      </a:pPr>
                      <a:r>
                        <a:rPr sz="1100"/>
                        <a:t>4</a:t>
                      </a:r>
                    </a:p>
                  </a:txBody>
                  <a:tcPr/>
                </a:tc>
                <a:extLst>
                  <a:ext uri="{0D108BD9-81ED-4DB2-BD59-A6C34878D82A}">
                    <a16:rowId xmlns:a16="http://schemas.microsoft.com/office/drawing/2014/main" val="10012"/>
                  </a:ext>
                </a:extLst>
              </a:tr>
              <a:tr h="0">
                <a:tc>
                  <a:txBody>
                    <a:bodyPr/>
                    <a:lstStyle/>
                    <a:p>
                      <a:pPr marL="0" lvl="0" indent="0" algn="l">
                        <a:buNone/>
                      </a:pPr>
                      <a:r>
                        <a:rPr sz="1100"/>
                        <a:t>Household assets and characteristics</a:t>
                      </a:r>
                    </a:p>
                  </a:txBody>
                  <a:tcPr/>
                </a:tc>
                <a:tc>
                  <a:txBody>
                    <a:bodyPr/>
                    <a:lstStyle/>
                    <a:p>
                      <a:pPr marL="0" lvl="0" indent="0" algn="r">
                        <a:buNone/>
                      </a:pPr>
                      <a:r>
                        <a:rPr sz="1100"/>
                        <a:t>19</a:t>
                      </a:r>
                    </a:p>
                  </a:txBody>
                  <a:tcPr/>
                </a:tc>
                <a:tc>
                  <a:txBody>
                    <a:bodyPr/>
                    <a:lstStyle/>
                    <a:p>
                      <a:pPr marL="0" lvl="0" indent="0" algn="r">
                        <a:buNone/>
                      </a:pPr>
                      <a:r>
                        <a:rPr sz="1100"/>
                        <a:t>5</a:t>
                      </a:r>
                    </a:p>
                  </a:txBody>
                  <a:tcPr/>
                </a:tc>
                <a:tc>
                  <a:txBody>
                    <a:bodyPr/>
                    <a:lstStyle/>
                    <a:p>
                      <a:pPr marL="0" lvl="0" indent="0" algn="r">
                        <a:buNone/>
                      </a:pPr>
                      <a:r>
                        <a:rPr sz="1100"/>
                        <a:t>3</a:t>
                      </a:r>
                    </a:p>
                  </a:txBody>
                  <a:tcPr/>
                </a:tc>
                <a:tc>
                  <a:txBody>
                    <a:bodyPr/>
                    <a:lstStyle/>
                    <a:p>
                      <a:pPr marL="0" lvl="0" indent="0" algn="r">
                        <a:buNone/>
                      </a:pPr>
                      <a:r>
                        <a:rPr sz="1100"/>
                        <a:t>11</a:t>
                      </a:r>
                    </a:p>
                  </a:txBody>
                  <a:tcPr/>
                </a:tc>
                <a:tc>
                  <a:txBody>
                    <a:bodyPr/>
                    <a:lstStyle/>
                    <a:p>
                      <a:pPr marL="0" lvl="0" indent="0" algn="r">
                        <a:buNone/>
                      </a:pPr>
                      <a:r>
                        <a:rPr sz="1100"/>
                        <a:t>19</a:t>
                      </a:r>
                    </a:p>
                  </a:txBody>
                  <a:tcPr/>
                </a:tc>
                <a:tc>
                  <a:txBody>
                    <a:bodyPr/>
                    <a:lstStyle/>
                    <a:p>
                      <a:pPr marL="0" lvl="0" indent="0" algn="r">
                        <a:buNone/>
                      </a:pPr>
                      <a:r>
                        <a:rPr sz="1100"/>
                        <a:t>0</a:t>
                      </a:r>
                    </a:p>
                  </a:txBody>
                  <a:tcPr/>
                </a:tc>
                <a:extLst>
                  <a:ext uri="{0D108BD9-81ED-4DB2-BD59-A6C34878D82A}">
                    <a16:rowId xmlns:a16="http://schemas.microsoft.com/office/drawing/2014/main" val="10013"/>
                  </a:ext>
                </a:extLst>
              </a:tr>
              <a:tr h="0">
                <a:tc>
                  <a:txBody>
                    <a:bodyPr/>
                    <a:lstStyle/>
                    <a:p>
                      <a:pPr marL="0" lvl="0" indent="0" algn="l">
                        <a:buNone/>
                      </a:pPr>
                      <a:r>
                        <a:rPr sz="1100"/>
                        <a:t>Anaemia and haemoglobin</a:t>
                      </a:r>
                    </a:p>
                  </a:txBody>
                  <a:tcPr/>
                </a:tc>
                <a:tc>
                  <a:txBody>
                    <a:bodyPr/>
                    <a:lstStyle/>
                    <a:p>
                      <a:pPr marL="0" lvl="0" indent="0" algn="r">
                        <a:buNone/>
                      </a:pPr>
                      <a:r>
                        <a:rPr sz="1100"/>
                        <a:t>16</a:t>
                      </a:r>
                    </a:p>
                  </a:txBody>
                  <a:tcPr/>
                </a:tc>
                <a:tc>
                  <a:txBody>
                    <a:bodyPr/>
                    <a:lstStyle/>
                    <a:p>
                      <a:pPr marL="0" lvl="0" indent="0" algn="r">
                        <a:buNone/>
                      </a:pPr>
                      <a:r>
                        <a:rPr sz="1100"/>
                        <a:t>11</a:t>
                      </a:r>
                    </a:p>
                  </a:txBody>
                  <a:tcPr/>
                </a:tc>
                <a:tc>
                  <a:txBody>
                    <a:bodyPr/>
                    <a:lstStyle/>
                    <a:p>
                      <a:pPr marL="0" lvl="0" indent="0" algn="r">
                        <a:buNone/>
                      </a:pPr>
                      <a:r>
                        <a:rPr sz="1100"/>
                        <a:t>0</a:t>
                      </a:r>
                    </a:p>
                  </a:txBody>
                  <a:tcPr/>
                </a:tc>
                <a:tc>
                  <a:txBody>
                    <a:bodyPr/>
                    <a:lstStyle/>
                    <a:p>
                      <a:pPr marL="0" lvl="0" indent="0" algn="r">
                        <a:buNone/>
                      </a:pPr>
                      <a:r>
                        <a:rPr sz="1100"/>
                        <a:t>5</a:t>
                      </a:r>
                    </a:p>
                  </a:txBody>
                  <a:tcPr/>
                </a:tc>
                <a:tc>
                  <a:txBody>
                    <a:bodyPr/>
                    <a:lstStyle/>
                    <a:p>
                      <a:pPr marL="0" lvl="0" indent="0" algn="r">
                        <a:buNone/>
                      </a:pPr>
                      <a:r>
                        <a:rPr sz="1100"/>
                        <a:t>9</a:t>
                      </a:r>
                    </a:p>
                  </a:txBody>
                  <a:tcPr/>
                </a:tc>
                <a:tc>
                  <a:txBody>
                    <a:bodyPr/>
                    <a:lstStyle/>
                    <a:p>
                      <a:pPr marL="0" lvl="0" indent="0" algn="r">
                        <a:buNone/>
                      </a:pPr>
                      <a:r>
                        <a:rPr sz="1100"/>
                        <a:t>11</a:t>
                      </a:r>
                    </a:p>
                  </a:txBody>
                  <a:tcPr/>
                </a:tc>
                <a:extLst>
                  <a:ext uri="{0D108BD9-81ED-4DB2-BD59-A6C34878D82A}">
                    <a16:rowId xmlns:a16="http://schemas.microsoft.com/office/drawing/2014/main" val="10014"/>
                  </a:ext>
                </a:extLst>
              </a:tr>
              <a:tr h="0">
                <a:tc>
                  <a:txBody>
                    <a:bodyPr/>
                    <a:lstStyle/>
                    <a:p>
                      <a:pPr marL="0" lvl="0" indent="0" algn="l">
                        <a:buNone/>
                      </a:pPr>
                      <a:r>
                        <a:rPr sz="1100"/>
                        <a:t>Fertility, reproductive health</a:t>
                      </a:r>
                    </a:p>
                  </a:txBody>
                  <a:tcPr/>
                </a:tc>
                <a:tc>
                  <a:txBody>
                    <a:bodyPr/>
                    <a:lstStyle/>
                    <a:p>
                      <a:pPr marL="0" lvl="0" indent="0" algn="r">
                        <a:buNone/>
                      </a:pPr>
                      <a:r>
                        <a:rPr sz="1100"/>
                        <a:t>15</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15</a:t>
                      </a:r>
                    </a:p>
                  </a:txBody>
                  <a:tcPr/>
                </a:tc>
                <a:tc>
                  <a:txBody>
                    <a:bodyPr/>
                    <a:lstStyle/>
                    <a:p>
                      <a:pPr marL="0" lvl="0" indent="0" algn="r">
                        <a:buNone/>
                      </a:pPr>
                      <a:r>
                        <a:rPr sz="1100"/>
                        <a:t>15</a:t>
                      </a:r>
                    </a:p>
                  </a:txBody>
                  <a:tcPr/>
                </a:tc>
                <a:tc>
                  <a:txBody>
                    <a:bodyPr/>
                    <a:lstStyle/>
                    <a:p>
                      <a:pPr marL="0" lvl="0" indent="0" algn="r">
                        <a:buNone/>
                      </a:pPr>
                      <a:r>
                        <a:rPr sz="1100"/>
                        <a:t>0</a:t>
                      </a:r>
                    </a:p>
                  </a:txBody>
                  <a:tcPr/>
                </a:tc>
                <a:extLst>
                  <a:ext uri="{0D108BD9-81ED-4DB2-BD59-A6C34878D82A}">
                    <a16:rowId xmlns:a16="http://schemas.microsoft.com/office/drawing/2014/main" val="10015"/>
                  </a:ext>
                </a:extLst>
              </a:tr>
              <a:tr h="0">
                <a:tc>
                  <a:txBody>
                    <a:bodyPr/>
                    <a:lstStyle/>
                    <a:p>
                      <a:pPr marL="0" lvl="0" indent="0" algn="l">
                        <a:buNone/>
                      </a:pPr>
                      <a:r>
                        <a:rPr sz="1100"/>
                        <a:t>Household diet and consumption (HCES)</a:t>
                      </a:r>
                    </a:p>
                  </a:txBody>
                  <a:tcPr/>
                </a:tc>
                <a:tc>
                  <a:txBody>
                    <a:bodyPr/>
                    <a:lstStyle/>
                    <a:p>
                      <a:pPr marL="0" lvl="0" indent="0" algn="r">
                        <a:buNone/>
                      </a:pPr>
                      <a:r>
                        <a:rPr sz="1100"/>
                        <a:t>15</a:t>
                      </a:r>
                    </a:p>
                  </a:txBody>
                  <a:tcPr/>
                </a:tc>
                <a:tc>
                  <a:txBody>
                    <a:bodyPr/>
                    <a:lstStyle/>
                    <a:p>
                      <a:pPr marL="0" lvl="0" indent="0" algn="r">
                        <a:buNone/>
                      </a:pPr>
                      <a:r>
                        <a:rPr sz="1100"/>
                        <a:t>0</a:t>
                      </a:r>
                    </a:p>
                  </a:txBody>
                  <a:tcPr/>
                </a:tc>
                <a:tc>
                  <a:txBody>
                    <a:bodyPr/>
                    <a:lstStyle/>
                    <a:p>
                      <a:pPr marL="0" lvl="0" indent="0" algn="r">
                        <a:buNone/>
                      </a:pPr>
                      <a:r>
                        <a:rPr sz="1100"/>
                        <a:t>15</a:t>
                      </a:r>
                    </a:p>
                  </a:txBody>
                  <a:tcPr/>
                </a:tc>
                <a:tc>
                  <a:txBody>
                    <a:bodyPr/>
                    <a:lstStyle/>
                    <a:p>
                      <a:pPr marL="0" lvl="0" indent="0" algn="r">
                        <a:buNone/>
                      </a:pPr>
                      <a:r>
                        <a:rPr sz="1100"/>
                        <a:t>0</a:t>
                      </a:r>
                    </a:p>
                  </a:txBody>
                  <a:tcPr/>
                </a:tc>
                <a:tc>
                  <a:txBody>
                    <a:bodyPr/>
                    <a:lstStyle/>
                    <a:p>
                      <a:pPr marL="0" lvl="0" indent="0" algn="r">
                        <a:buNone/>
                      </a:pPr>
                      <a:r>
                        <a:rPr sz="1100"/>
                        <a:t>15</a:t>
                      </a:r>
                    </a:p>
                  </a:txBody>
                  <a:tcPr/>
                </a:tc>
                <a:tc>
                  <a:txBody>
                    <a:bodyPr/>
                    <a:lstStyle/>
                    <a:p>
                      <a:pPr marL="0" lvl="0" indent="0" algn="r">
                        <a:buNone/>
                      </a:pPr>
                      <a:r>
                        <a:rPr sz="1100"/>
                        <a:t>0</a:t>
                      </a:r>
                    </a:p>
                  </a:txBody>
                  <a:tcPr/>
                </a:tc>
                <a:extLst>
                  <a:ext uri="{0D108BD9-81ED-4DB2-BD59-A6C34878D82A}">
                    <a16:rowId xmlns:a16="http://schemas.microsoft.com/office/drawing/2014/main" val="10016"/>
                  </a:ext>
                </a:extLst>
              </a:tr>
              <a:tr h="0">
                <a:tc>
                  <a:txBody>
                    <a:bodyPr/>
                    <a:lstStyle/>
                    <a:p>
                      <a:pPr marL="0" lvl="0" indent="0" algn="l">
                        <a:buNone/>
                      </a:pPr>
                      <a:r>
                        <a:rPr sz="1100"/>
                        <a:t>Ecosystem productivity/greenness</a:t>
                      </a:r>
                    </a:p>
                  </a:txBody>
                  <a:tcPr/>
                </a:tc>
                <a:tc>
                  <a:txBody>
                    <a:bodyPr/>
                    <a:lstStyle/>
                    <a:p>
                      <a:pPr marL="0" lvl="0" indent="0" algn="r">
                        <a:buNone/>
                      </a:pPr>
                      <a:r>
                        <a:rPr sz="1100"/>
                        <a:t>14</a:t>
                      </a:r>
                    </a:p>
                  </a:txBody>
                  <a:tcPr/>
                </a:tc>
                <a:tc>
                  <a:txBody>
                    <a:bodyPr/>
                    <a:lstStyle/>
                    <a:p>
                      <a:pPr marL="0" lvl="0" indent="0" algn="r">
                        <a:buNone/>
                      </a:pPr>
                      <a:r>
                        <a:rPr sz="1100"/>
                        <a:t>14</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14</a:t>
                      </a:r>
                    </a:p>
                  </a:txBody>
                  <a:tcPr/>
                </a:tc>
                <a:tc>
                  <a:txBody>
                    <a:bodyPr/>
                    <a:lstStyle/>
                    <a:p>
                      <a:pPr marL="0" lvl="0" indent="0" algn="r">
                        <a:buNone/>
                      </a:pPr>
                      <a:r>
                        <a:rPr sz="1100"/>
                        <a:t>0</a:t>
                      </a:r>
                    </a:p>
                  </a:txBody>
                  <a:tcPr/>
                </a:tc>
                <a:extLst>
                  <a:ext uri="{0D108BD9-81ED-4DB2-BD59-A6C34878D82A}">
                    <a16:rowId xmlns:a16="http://schemas.microsoft.com/office/drawing/2014/main" val="10017"/>
                  </a:ext>
                </a:extLst>
              </a:tr>
              <a:tr h="0">
                <a:tc>
                  <a:txBody>
                    <a:bodyPr/>
                    <a:lstStyle/>
                    <a:p>
                      <a:pPr marL="0" lvl="0" indent="0" algn="l">
                        <a:buNone/>
                      </a:pPr>
                      <a:r>
                        <a:rPr sz="1100"/>
                        <a:t>Built environment</a:t>
                      </a:r>
                    </a:p>
                  </a:txBody>
                  <a:tcPr/>
                </a:tc>
                <a:tc>
                  <a:txBody>
                    <a:bodyPr/>
                    <a:lstStyle/>
                    <a:p>
                      <a:pPr marL="0" lvl="0" indent="0" algn="r">
                        <a:buNone/>
                      </a:pPr>
                      <a:r>
                        <a:rPr sz="1100"/>
                        <a:t>13</a:t>
                      </a:r>
                    </a:p>
                  </a:txBody>
                  <a:tcPr/>
                </a:tc>
                <a:tc>
                  <a:txBody>
                    <a:bodyPr/>
                    <a:lstStyle/>
                    <a:p>
                      <a:pPr marL="0" lvl="0" indent="0" algn="r">
                        <a:buNone/>
                      </a:pPr>
                      <a:r>
                        <a:rPr sz="1100"/>
                        <a:t>10</a:t>
                      </a:r>
                    </a:p>
                  </a:txBody>
                  <a:tcPr/>
                </a:tc>
                <a:tc>
                  <a:txBody>
                    <a:bodyPr/>
                    <a:lstStyle/>
                    <a:p>
                      <a:pPr marL="0" lvl="0" indent="0" algn="r">
                        <a:buNone/>
                      </a:pPr>
                      <a:r>
                        <a:rPr sz="1100"/>
                        <a:t>0</a:t>
                      </a:r>
                    </a:p>
                  </a:txBody>
                  <a:tcPr/>
                </a:tc>
                <a:tc>
                  <a:txBody>
                    <a:bodyPr/>
                    <a:lstStyle/>
                    <a:p>
                      <a:pPr marL="0" lvl="0" indent="0" algn="r">
                        <a:buNone/>
                      </a:pPr>
                      <a:r>
                        <a:rPr sz="1100"/>
                        <a:t>3</a:t>
                      </a:r>
                    </a:p>
                  </a:txBody>
                  <a:tcPr/>
                </a:tc>
                <a:tc>
                  <a:txBody>
                    <a:bodyPr/>
                    <a:lstStyle/>
                    <a:p>
                      <a:pPr marL="0" lvl="0" indent="0" algn="r">
                        <a:buNone/>
                      </a:pPr>
                      <a:r>
                        <a:rPr sz="1100"/>
                        <a:t>13</a:t>
                      </a:r>
                    </a:p>
                  </a:txBody>
                  <a:tcPr/>
                </a:tc>
                <a:tc>
                  <a:txBody>
                    <a:bodyPr/>
                    <a:lstStyle/>
                    <a:p>
                      <a:pPr marL="0" lvl="0" indent="0" algn="r">
                        <a:buNone/>
                      </a:pPr>
                      <a:r>
                        <a:rPr sz="1100"/>
                        <a:t>0</a:t>
                      </a:r>
                    </a:p>
                  </a:txBody>
                  <a:tcPr/>
                </a:tc>
                <a:extLst>
                  <a:ext uri="{0D108BD9-81ED-4DB2-BD59-A6C34878D82A}">
                    <a16:rowId xmlns:a16="http://schemas.microsoft.com/office/drawing/2014/main" val="10018"/>
                  </a:ext>
                </a:extLst>
              </a:tr>
              <a:tr h="0">
                <a:tc>
                  <a:txBody>
                    <a:bodyPr/>
                    <a:lstStyle/>
                    <a:p>
                      <a:pPr marL="0" lvl="0" indent="0" algn="l">
                        <a:buNone/>
                      </a:pPr>
                      <a:r>
                        <a:rPr sz="1100"/>
                        <a:t>Adult and maternal mortality</a:t>
                      </a:r>
                    </a:p>
                  </a:txBody>
                  <a:tcPr/>
                </a:tc>
                <a:tc>
                  <a:txBody>
                    <a:bodyPr/>
                    <a:lstStyle/>
                    <a:p>
                      <a:pPr marL="0" lvl="0" indent="0" algn="r">
                        <a:buNone/>
                      </a:pPr>
                      <a:r>
                        <a:rPr sz="1100"/>
                        <a:t>9</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9</a:t>
                      </a:r>
                    </a:p>
                  </a:txBody>
                  <a:tcPr/>
                </a:tc>
                <a:tc>
                  <a:txBody>
                    <a:bodyPr/>
                    <a:lstStyle/>
                    <a:p>
                      <a:pPr marL="0" lvl="0" indent="0" algn="r">
                        <a:buNone/>
                      </a:pPr>
                      <a:r>
                        <a:rPr sz="1100"/>
                        <a:t>9</a:t>
                      </a:r>
                    </a:p>
                  </a:txBody>
                  <a:tcPr/>
                </a:tc>
                <a:tc>
                  <a:txBody>
                    <a:bodyPr/>
                    <a:lstStyle/>
                    <a:p>
                      <a:pPr marL="0" lvl="0" indent="0" algn="r">
                        <a:buNone/>
                      </a:pPr>
                      <a:r>
                        <a:rPr sz="1100"/>
                        <a:t>0</a:t>
                      </a:r>
                    </a:p>
                  </a:txBody>
                  <a:tcPr/>
                </a:tc>
                <a:extLst>
                  <a:ext uri="{0D108BD9-81ED-4DB2-BD59-A6C34878D82A}">
                    <a16:rowId xmlns:a16="http://schemas.microsoft.com/office/drawing/2014/main" val="10019"/>
                  </a:ext>
                </a:extLst>
              </a:tr>
              <a:tr h="0">
                <a:tc>
                  <a:txBody>
                    <a:bodyPr/>
                    <a:lstStyle/>
                    <a:p>
                      <a:pPr marL="0" lvl="0" indent="0" algn="l">
                        <a:buNone/>
                      </a:pPr>
                      <a:r>
                        <a:rPr sz="1100"/>
                        <a:t>Livestock density</a:t>
                      </a:r>
                    </a:p>
                  </a:txBody>
                  <a:tcPr/>
                </a:tc>
                <a:tc>
                  <a:txBody>
                    <a:bodyPr/>
                    <a:lstStyle/>
                    <a:p>
                      <a:pPr marL="0" lvl="0" indent="0" algn="r">
                        <a:buNone/>
                      </a:pPr>
                      <a:r>
                        <a:rPr sz="1100"/>
                        <a:t>8</a:t>
                      </a:r>
                    </a:p>
                  </a:txBody>
                  <a:tcPr/>
                </a:tc>
                <a:tc>
                  <a:txBody>
                    <a:bodyPr/>
                    <a:lstStyle/>
                    <a:p>
                      <a:pPr marL="0" lvl="0" indent="0" algn="r">
                        <a:buNone/>
                      </a:pPr>
                      <a:r>
                        <a:rPr sz="1100"/>
                        <a:t>8</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8</a:t>
                      </a:r>
                    </a:p>
                  </a:txBody>
                  <a:tcPr/>
                </a:tc>
                <a:tc>
                  <a:txBody>
                    <a:bodyPr/>
                    <a:lstStyle/>
                    <a:p>
                      <a:pPr marL="0" lvl="0" indent="0" algn="r">
                        <a:buNone/>
                      </a:pPr>
                      <a:r>
                        <a:rPr sz="1100"/>
                        <a:t>0</a:t>
                      </a:r>
                    </a:p>
                  </a:txBody>
                  <a:tcPr/>
                </a:tc>
                <a:extLst>
                  <a:ext uri="{0D108BD9-81ED-4DB2-BD59-A6C34878D82A}">
                    <a16:rowId xmlns:a16="http://schemas.microsoft.com/office/drawing/2014/main" val="10020"/>
                  </a:ext>
                </a:extLst>
              </a:tr>
              <a:tr h="0">
                <a:tc>
                  <a:txBody>
                    <a:bodyPr/>
                    <a:lstStyle/>
                    <a:p>
                      <a:pPr marL="0" lvl="0" indent="0" algn="l">
                        <a:buNone/>
                      </a:pPr>
                      <a:r>
                        <a:rPr sz="1100"/>
                        <a:t>Ruralness, population density, built environment</a:t>
                      </a:r>
                    </a:p>
                  </a:txBody>
                  <a:tcPr/>
                </a:tc>
                <a:tc>
                  <a:txBody>
                    <a:bodyPr/>
                    <a:lstStyle/>
                    <a:p>
                      <a:pPr marL="0" lvl="0" indent="0" algn="r">
                        <a:buNone/>
                      </a:pPr>
                      <a:r>
                        <a:rPr sz="1100"/>
                        <a:t>7</a:t>
                      </a:r>
                    </a:p>
                  </a:txBody>
                  <a:tcPr/>
                </a:tc>
                <a:tc>
                  <a:txBody>
                    <a:bodyPr/>
                    <a:lstStyle/>
                    <a:p>
                      <a:pPr marL="0" lvl="0" indent="0" algn="r">
                        <a:buNone/>
                      </a:pPr>
                      <a:r>
                        <a:rPr sz="1100"/>
                        <a:t>7</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7</a:t>
                      </a:r>
                    </a:p>
                  </a:txBody>
                  <a:tcPr/>
                </a:tc>
                <a:tc>
                  <a:txBody>
                    <a:bodyPr/>
                    <a:lstStyle/>
                    <a:p>
                      <a:pPr marL="0" lvl="0" indent="0" algn="r">
                        <a:buNone/>
                      </a:pPr>
                      <a:r>
                        <a:rPr sz="1100"/>
                        <a:t>0</a:t>
                      </a:r>
                    </a:p>
                  </a:txBody>
                  <a:tcPr/>
                </a:tc>
                <a:extLst>
                  <a:ext uri="{0D108BD9-81ED-4DB2-BD59-A6C34878D82A}">
                    <a16:rowId xmlns:a16="http://schemas.microsoft.com/office/drawing/2014/main" val="10021"/>
                  </a:ext>
                </a:extLst>
              </a:tr>
              <a:tr h="0">
                <a:tc>
                  <a:txBody>
                    <a:bodyPr/>
                    <a:lstStyle/>
                    <a:p>
                      <a:pPr marL="0" lvl="0" indent="0" algn="l">
                        <a:buNone/>
                      </a:pPr>
                      <a:r>
                        <a:rPr sz="1100"/>
                        <a:t>Dietary inadequacy (MODELLED SURFACE, HCES)</a:t>
                      </a:r>
                    </a:p>
                  </a:txBody>
                  <a:tcPr/>
                </a:tc>
                <a:tc>
                  <a:txBody>
                    <a:bodyPr/>
                    <a:lstStyle/>
                    <a:p>
                      <a:pPr marL="0" lvl="0" indent="0" algn="r">
                        <a:buNone/>
                      </a:pPr>
                      <a:r>
                        <a:rPr sz="1100"/>
                        <a:t>6</a:t>
                      </a:r>
                    </a:p>
                  </a:txBody>
                  <a:tcPr/>
                </a:tc>
                <a:tc>
                  <a:txBody>
                    <a:bodyPr/>
                    <a:lstStyle/>
                    <a:p>
                      <a:pPr marL="0" lvl="0" indent="0" algn="r">
                        <a:buNone/>
                      </a:pPr>
                      <a:r>
                        <a:rPr sz="1100"/>
                        <a:t>6</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6</a:t>
                      </a:r>
                    </a:p>
                  </a:txBody>
                  <a:tcPr/>
                </a:tc>
                <a:tc>
                  <a:txBody>
                    <a:bodyPr/>
                    <a:lstStyle/>
                    <a:p>
                      <a:pPr marL="0" lvl="0" indent="0" algn="r">
                        <a:buNone/>
                      </a:pPr>
                      <a:r>
                        <a:rPr sz="1100"/>
                        <a:t>6</a:t>
                      </a:r>
                    </a:p>
                  </a:txBody>
                  <a:tcPr/>
                </a:tc>
                <a:extLst>
                  <a:ext uri="{0D108BD9-81ED-4DB2-BD59-A6C34878D82A}">
                    <a16:rowId xmlns:a16="http://schemas.microsoft.com/office/drawing/2014/main" val="10022"/>
                  </a:ext>
                </a:extLst>
              </a:tr>
              <a:tr h="0">
                <a:tc>
                  <a:txBody>
                    <a:bodyPr/>
                    <a:lstStyle/>
                    <a:p>
                      <a:pPr marL="0" lvl="0" indent="0" algn="l">
                        <a:buNone/>
                      </a:pPr>
                      <a:r>
                        <a:rPr sz="1100"/>
                        <a:t>Healthcare access</a:t>
                      </a:r>
                    </a:p>
                  </a:txBody>
                  <a:tcPr/>
                </a:tc>
                <a:tc>
                  <a:txBody>
                    <a:bodyPr/>
                    <a:lstStyle/>
                    <a:p>
                      <a:pPr marL="0" lvl="0" indent="0" algn="r">
                        <a:buNone/>
                      </a:pPr>
                      <a:r>
                        <a:rPr sz="1100"/>
                        <a:t>6</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6</a:t>
                      </a:r>
                    </a:p>
                  </a:txBody>
                  <a:tcPr/>
                </a:tc>
                <a:tc>
                  <a:txBody>
                    <a:bodyPr/>
                    <a:lstStyle/>
                    <a:p>
                      <a:pPr marL="0" lvl="0" indent="0" algn="r">
                        <a:buNone/>
                      </a:pPr>
                      <a:r>
                        <a:rPr sz="1100"/>
                        <a:t>6</a:t>
                      </a:r>
                    </a:p>
                  </a:txBody>
                  <a:tcPr/>
                </a:tc>
                <a:tc>
                  <a:txBody>
                    <a:bodyPr/>
                    <a:lstStyle/>
                    <a:p>
                      <a:pPr marL="0" lvl="0" indent="0" algn="r">
                        <a:buNone/>
                      </a:pPr>
                      <a:r>
                        <a:rPr sz="1100"/>
                        <a:t>0</a:t>
                      </a:r>
                    </a:p>
                  </a:txBody>
                  <a:tcPr/>
                </a:tc>
                <a:extLst>
                  <a:ext uri="{0D108BD9-81ED-4DB2-BD59-A6C34878D82A}">
                    <a16:rowId xmlns:a16="http://schemas.microsoft.com/office/drawing/2014/main" val="10023"/>
                  </a:ext>
                </a:extLst>
              </a:tr>
              <a:tr h="0">
                <a:tc>
                  <a:txBody>
                    <a:bodyPr/>
                    <a:lstStyle/>
                    <a:p>
                      <a:pPr marL="0" lvl="0" indent="0" algn="l">
                        <a:buNone/>
                      </a:pPr>
                      <a:r>
                        <a:rPr sz="1100"/>
                        <a:t>Market prices (RTFP)</a:t>
                      </a:r>
                    </a:p>
                  </a:txBody>
                  <a:tcPr/>
                </a:tc>
                <a:tc>
                  <a:txBody>
                    <a:bodyPr/>
                    <a:lstStyle/>
                    <a:p>
                      <a:pPr marL="0" lvl="0" indent="0" algn="r">
                        <a:buNone/>
                      </a:pPr>
                      <a:r>
                        <a:rPr sz="1100"/>
                        <a:t>6</a:t>
                      </a:r>
                    </a:p>
                  </a:txBody>
                  <a:tcPr/>
                </a:tc>
                <a:tc>
                  <a:txBody>
                    <a:bodyPr/>
                    <a:lstStyle/>
                    <a:p>
                      <a:pPr marL="0" lvl="0" indent="0" algn="r">
                        <a:buNone/>
                      </a:pPr>
                      <a:r>
                        <a:rPr sz="1100"/>
                        <a:t>6</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6</a:t>
                      </a:r>
                    </a:p>
                  </a:txBody>
                  <a:tcPr/>
                </a:tc>
                <a:tc>
                  <a:txBody>
                    <a:bodyPr/>
                    <a:lstStyle/>
                    <a:p>
                      <a:pPr marL="0" lvl="0" indent="0" algn="r">
                        <a:buNone/>
                      </a:pPr>
                      <a:r>
                        <a:rPr sz="1100"/>
                        <a:t>0</a:t>
                      </a:r>
                    </a:p>
                  </a:txBody>
                  <a:tcPr/>
                </a:tc>
                <a:extLst>
                  <a:ext uri="{0D108BD9-81ED-4DB2-BD59-A6C34878D82A}">
                    <a16:rowId xmlns:a16="http://schemas.microsoft.com/office/drawing/2014/main" val="10024"/>
                  </a:ext>
                </a:extLst>
              </a:tr>
              <a:tr h="0">
                <a:tc>
                  <a:txBody>
                    <a:bodyPr/>
                    <a:lstStyle/>
                    <a:p>
                      <a:pPr marL="0" lvl="0" indent="0" algn="l">
                        <a:buNone/>
                      </a:pPr>
                      <a:r>
                        <a:rPr sz="1100"/>
                        <a:t>Water and coast proximity</a:t>
                      </a:r>
                    </a:p>
                  </a:txBody>
                  <a:tcPr/>
                </a:tc>
                <a:tc>
                  <a:txBody>
                    <a:bodyPr/>
                    <a:lstStyle/>
                    <a:p>
                      <a:pPr marL="0" lvl="0" indent="0" algn="r">
                        <a:buNone/>
                      </a:pPr>
                      <a:r>
                        <a:rPr sz="1100"/>
                        <a:t>6</a:t>
                      </a:r>
                    </a:p>
                  </a:txBody>
                  <a:tcPr/>
                </a:tc>
                <a:tc>
                  <a:txBody>
                    <a:bodyPr/>
                    <a:lstStyle/>
                    <a:p>
                      <a:pPr marL="0" lvl="0" indent="0" algn="r">
                        <a:buNone/>
                      </a:pPr>
                      <a:r>
                        <a:rPr sz="1100"/>
                        <a:t>6</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6</a:t>
                      </a:r>
                    </a:p>
                  </a:txBody>
                  <a:tcPr/>
                </a:tc>
                <a:tc>
                  <a:txBody>
                    <a:bodyPr/>
                    <a:lstStyle/>
                    <a:p>
                      <a:pPr marL="0" lvl="0" indent="0" algn="r">
                        <a:buNone/>
                      </a:pPr>
                      <a:r>
                        <a:rPr sz="1100"/>
                        <a:t>0</a:t>
                      </a:r>
                    </a:p>
                  </a:txBody>
                  <a:tcPr/>
                </a:tc>
                <a:extLst>
                  <a:ext uri="{0D108BD9-81ED-4DB2-BD59-A6C34878D82A}">
                    <a16:rowId xmlns:a16="http://schemas.microsoft.com/office/drawing/2014/main" val="10025"/>
                  </a:ext>
                </a:extLst>
              </a:tr>
              <a:tr h="0">
                <a:tc>
                  <a:txBody>
                    <a:bodyPr/>
                    <a:lstStyle/>
                    <a:p>
                      <a:pPr marL="0" lvl="0" indent="0" algn="l">
                        <a:buNone/>
                      </a:pPr>
                      <a:r>
                        <a:rPr sz="1100"/>
                        <a:t>Child mortality</a:t>
                      </a:r>
                    </a:p>
                  </a:txBody>
                  <a:tcPr/>
                </a:tc>
                <a:tc>
                  <a:txBody>
                    <a:bodyPr/>
                    <a:lstStyle/>
                    <a:p>
                      <a:pPr marL="0" lvl="0" indent="0" algn="r">
                        <a:buNone/>
                      </a:pPr>
                      <a:r>
                        <a:rPr sz="1100"/>
                        <a:t>4</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4</a:t>
                      </a:r>
                    </a:p>
                  </a:txBody>
                  <a:tcPr/>
                </a:tc>
                <a:tc>
                  <a:txBody>
                    <a:bodyPr/>
                    <a:lstStyle/>
                    <a:p>
                      <a:pPr marL="0" lvl="0" indent="0" algn="r">
                        <a:buNone/>
                      </a:pPr>
                      <a:r>
                        <a:rPr sz="1100"/>
                        <a:t>4</a:t>
                      </a:r>
                    </a:p>
                  </a:txBody>
                  <a:tcPr/>
                </a:tc>
                <a:tc>
                  <a:txBody>
                    <a:bodyPr/>
                    <a:lstStyle/>
                    <a:p>
                      <a:pPr marL="0" lvl="0" indent="0" algn="r">
                        <a:buNone/>
                      </a:pPr>
                      <a:r>
                        <a:rPr sz="1100"/>
                        <a:t>0</a:t>
                      </a:r>
                    </a:p>
                  </a:txBody>
                  <a:tcPr/>
                </a:tc>
                <a:extLst>
                  <a:ext uri="{0D108BD9-81ED-4DB2-BD59-A6C34878D82A}">
                    <a16:rowId xmlns:a16="http://schemas.microsoft.com/office/drawing/2014/main" val="10026"/>
                  </a:ext>
                </a:extLst>
              </a:tr>
              <a:tr h="0">
                <a:tc>
                  <a:txBody>
                    <a:bodyPr/>
                    <a:lstStyle/>
                    <a:p>
                      <a:pPr marL="0" lvl="0" indent="0" algn="l">
                        <a:buNone/>
                      </a:pPr>
                      <a:r>
                        <a:rPr sz="1100"/>
                        <a:t>Adult nutrition</a:t>
                      </a:r>
                    </a:p>
                  </a:txBody>
                  <a:tcPr/>
                </a:tc>
                <a:tc>
                  <a:txBody>
                    <a:bodyPr/>
                    <a:lstStyle/>
                    <a:p>
                      <a:pPr marL="0" lvl="0" indent="0" algn="r">
                        <a:buNone/>
                      </a:pPr>
                      <a:r>
                        <a:rPr sz="1100"/>
                        <a:t>3</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3</a:t>
                      </a:r>
                    </a:p>
                  </a:txBody>
                  <a:tcPr/>
                </a:tc>
                <a:tc>
                  <a:txBody>
                    <a:bodyPr/>
                    <a:lstStyle/>
                    <a:p>
                      <a:pPr marL="0" lvl="0" indent="0" algn="r">
                        <a:buNone/>
                      </a:pPr>
                      <a:r>
                        <a:rPr sz="1100"/>
                        <a:t>3</a:t>
                      </a:r>
                    </a:p>
                  </a:txBody>
                  <a:tcPr/>
                </a:tc>
                <a:tc>
                  <a:txBody>
                    <a:bodyPr/>
                    <a:lstStyle/>
                    <a:p>
                      <a:pPr marL="0" lvl="0" indent="0" algn="r">
                        <a:buNone/>
                      </a:pPr>
                      <a:r>
                        <a:rPr sz="1100"/>
                        <a:t>0</a:t>
                      </a:r>
                    </a:p>
                  </a:txBody>
                  <a:tcPr/>
                </a:tc>
                <a:extLst>
                  <a:ext uri="{0D108BD9-81ED-4DB2-BD59-A6C34878D82A}">
                    <a16:rowId xmlns:a16="http://schemas.microsoft.com/office/drawing/2014/main" val="10027"/>
                  </a:ext>
                </a:extLst>
              </a:tr>
              <a:tr h="0">
                <a:tc>
                  <a:txBody>
                    <a:bodyPr/>
                    <a:lstStyle/>
                    <a:p>
                      <a:pPr marL="0" lvl="0" indent="0" algn="l">
                        <a:buNone/>
                      </a:pPr>
                      <a:r>
                        <a:rPr sz="1100"/>
                        <a:t>Nutrition status (MODELLED SURFACE)</a:t>
                      </a:r>
                    </a:p>
                  </a:txBody>
                  <a:tcPr/>
                </a:tc>
                <a:tc>
                  <a:txBody>
                    <a:bodyPr/>
                    <a:lstStyle/>
                    <a:p>
                      <a:pPr marL="0" lvl="0" indent="0" algn="r">
                        <a:buNone/>
                      </a:pPr>
                      <a:r>
                        <a:rPr sz="1100"/>
                        <a:t>1</a:t>
                      </a:r>
                    </a:p>
                  </a:txBody>
                  <a:tcPr/>
                </a:tc>
                <a:tc>
                  <a:txBody>
                    <a:bodyPr/>
                    <a:lstStyle/>
                    <a:p>
                      <a:pPr marL="0" lvl="0" indent="0" algn="r">
                        <a:buNone/>
                      </a:pPr>
                      <a:r>
                        <a:rPr sz="1100"/>
                        <a:t>1</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0</a:t>
                      </a:r>
                    </a:p>
                  </a:txBody>
                  <a:tcPr/>
                </a:tc>
                <a:tc>
                  <a:txBody>
                    <a:bodyPr/>
                    <a:lstStyle/>
                    <a:p>
                      <a:pPr marL="0" lvl="0" indent="0" algn="r">
                        <a:buNone/>
                      </a:pPr>
                      <a:r>
                        <a:rPr sz="1100"/>
                        <a:t>1</a:t>
                      </a:r>
                    </a:p>
                  </a:txBody>
                  <a:tcPr/>
                </a:tc>
                <a:extLst>
                  <a:ext uri="{0D108BD9-81ED-4DB2-BD59-A6C34878D82A}">
                    <a16:rowId xmlns:a16="http://schemas.microsoft.com/office/drawing/2014/main" val="10028"/>
                  </a:ext>
                </a:extLst>
              </a:tr>
            </a:tbl>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5677</Words>
  <Application>Microsoft Office PowerPoint</Application>
  <PresentationFormat>Widescreen</PresentationFormat>
  <Paragraphs>544</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2013 - 2022 Theme</vt:lpstr>
      <vt:lpstr>Proxy</vt:lpstr>
      <vt:lpstr>What a proxy has to be</vt:lpstr>
      <vt:lpstr>The sources</vt:lpstr>
      <vt:lpstr>Three kinds of data, three ways to a district value</vt:lpstr>
      <vt:lpstr>Linking in space: one spine, coded keys</vt:lpstr>
      <vt:lpstr>Linking in time: four surveys, four years</vt:lpstr>
      <vt:lpstr>From columns to domains</vt:lpstr>
      <vt:lpstr>Building the harmonised dataset</vt:lpstr>
      <vt:lpstr>What carries the signal</vt:lpstr>
      <vt:lpstr>One country, one outcome: the weights behind the best ranking</vt:lpstr>
      <vt:lpstr>What the transport models reach for</vt:lpstr>
      <vt:lpstr>What travels to a new country, and what does not</vt:lpstr>
      <vt:lpstr>What we would add next, and the rule for adding it</vt:lpstr>
      <vt:lpstr>Appendix</vt:lpstr>
      <vt:lpstr>Sources, tiers and alignment</vt:lpstr>
      <vt:lpstr>The twenty layers behind child iron</vt:lpstr>
      <vt:lpstr>Exclusions, with their reasons</vt:lpstr>
      <vt:lpstr>Predictor set by domain and tier</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public data behind the district ranking</dc:title>
  <dc:creator>Andrew N. Mertens, University of California, Berkeley</dc:creator>
  <cp:keywords/>
  <cp:lastModifiedBy>Andrew Mertens</cp:lastModifiedBy>
  <cp:revision>1</cp:revision>
  <dcterms:created xsi:type="dcterms:W3CDTF">2026-09-16T14:17:31Z</dcterms:created>
  <dcterms:modified xsi:type="dcterms:W3CDTF">2026-09-16T14:42:35Z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Sources, aggregation, alignment in space and time, and what carries the signal</vt:lpwstr>
  </property>
  <property fmtid="{D5CDD505-2E9C-101B-9397-08002B2CF9AE}" pid="12" name="toc-title">
    <vt:lpwstr>Table of contents</vt:lpwstr>
  </property>
</Properties>
</file>