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876" r:id="rId4"/>
  </p:sldMasterIdLst>
  <p:notesMasterIdLst>
    <p:notesMasterId r:id="rId5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Lst>
  <p:sldSz cx="12192000" cy="6858000"/>
  <p:notesSz cx="6858000" cy="9144000"/>
  <p:defaultTextStyle>
    <a:defPPr>
      <a:defRPr lang="en-BG"/>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08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25963"/>
    <p:restoredTop sz="94694"/>
  </p:normalViewPr>
  <p:slideViewPr>
    <p:cSldViewPr snapToGrid="0">
      <p:cViewPr varScale="1">
        <p:scale>
          <a:sx d="100" n="105"/>
          <a:sy d="100" n="105"/>
        </p:scale>
        <p:origin x="204" y="96"/>
      </p:cViewPr>
      <p:guideLst/>
    </p:cSldViewPr>
  </p:slideViewPr>
  <p:outlineViewPr>
    <p:cViewPr>
      <p:scale>
        <a:sx d="100" n="33"/>
        <a:sy d="100" n="33"/>
      </p:scale>
      <p:origin x="0" y="0"/>
    </p:cViewPr>
  </p:outlineViewPr>
  <p:notesTextViewPr>
    <p:cViewPr>
      <p:scale>
        <a:sx d="100" n="20"/>
        <a:sy d="100" n="20"/>
      </p:scale>
      <p:origin x="0" y="0"/>
    </p:cViewPr>
  </p:notesTextViewPr>
  <p:sorterViewPr>
    <p:cViewPr>
      <p:scale>
        <a:sx d="100" n="80"/>
        <a:sy d="100" n="80"/>
      </p:scale>
      <p:origin x="0" y="0"/>
    </p:cViewPr>
  </p:sorterViewPr>
  <p:gridSpacing cx="72008" cy="72008"/>
</p:viewPr>
</file>

<file path=ppt/_rels/presentation.xml.rels><?xml version='1.0' encoding='UTF-8' standalone='yes'?>
<Relationships xmlns="http://schemas.openxmlformats.org/package/2006/relationships"><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mnfconference.org</a:t>
            </a:r>
            <a:endParaRPr lang="en-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22CFD4-67F2-0A4F-8F9A-7BBE605BC4FC}" type="datetimeFigureOut">
              <a:rPr lang="en-BG" smtClean="0"/>
              <a:t>06/15/2026</a:t>
            </a:fld>
            <a:endParaRPr lang="en-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GB"/>
              <a:t>mnfconference.org  |  </a:t>
            </a:r>
            <a:endParaRPr lang="en-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582FD5-DD72-EA41-90DE-BC5D4D375366}" type="slidenum">
              <a:rPr lang="en-BG" smtClean="0"/>
              <a:t>‹#›</a:t>
            </a:fld>
            <a:endParaRPr lang="en-BG"/>
          </a:p>
        </p:txBody>
      </p:sp>
    </p:spTree>
    <p:extLst>
      <p:ext uri="{BB962C8B-B14F-4D97-AF65-F5344CB8AC3E}">
        <p14:creationId xmlns:p14="http://schemas.microsoft.com/office/powerpoint/2010/main" val="14942639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SONJA, about 60 seconds (127 words).</a:t>
            </a:r>
          </a:p>
          <a:p>
            <a:pPr lvl="0" indent="0" marL="0">
              <a:buNone/>
            </a:pPr>
          </a:p>
          <a:p>
            <a:pPr lvl="0" indent="0" marL="0">
              <a:buNone/>
            </a:pPr>
            <a:r>
              <a:rPr/>
              <a:t>A national micronutrient survey happens about once a decade, and it is designed to report regions, not districts. Ghana’s 2017 survey did exactly what it was designed to do. It put 90 clusters into 75 of Ghana’s 260 districts, and it reports its regions well. But the decisions are not regional. Somebody has to decide which districts get the next round of supplementation, which are screened first, where the next survey team goes. Today an unsurveyed district gets its region’s average. In Ghana that is 185 districts out of 260 with no measurement of their own. And in 62 of the 75 districts the survey did reach, the district’s number rests on a single cluster, about a dozen children. That is the gap this project is about.</a:t>
            </a:r>
          </a:p>
        </p:txBody>
      </p:sp>
      <p:sp>
        <p:nvSpPr>
          <p:cNvPr id="4" name="Slide Number Placeholder 3"/>
          <p:cNvSpPr>
            <a:spLocks noGrp="1"/>
          </p:cNvSpPr>
          <p:nvPr>
            <p:ph type="sldNum" sz="quarter" idx="10"/>
          </p:nvPr>
        </p:nvSpPr>
        <p:spPr/>
        <p:txBody>
          <a:bodyPr/>
          <a:lstStyle/>
          <a:p>
            <a:fld id="{57582FD5-DD72-EA41-90DE-BC5D4D375366}"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SONJA, about 50 seconds (149 words).</a:t>
            </a:r>
          </a:p>
          <a:p>
            <a:pPr lvl="0" indent="0" marL="0">
              <a:buNone/>
            </a:pPr>
          </a:p>
          <a:p>
            <a:pPr lvl="0" indent="0" marL="0">
              <a:buNone/>
            </a:pPr>
            <a:r>
              <a:rPr/>
              <a:t>These are the four surveys we learned from, and the teams who ran them: The Gambia in 2018, Ghana in 2017, Sierra Leone in 2013, and Malawi in 2015 and 16. Between them, 206 districts, 323 survey clusters and 24 nutrient-country combinations. Iron and vitamin A were measured the same way everywhere, ferritin and retinol-binding protein by ELISA. Folate and B12 were measured by Roche immunoassay in Ghana and Sierra Leone, and in Malawi folate by a microbiologic assay, which will matter later. What a district is differs too: thirty in The Gambia, 75 of Ghana’s 260, 14 in Sierra Leone, and in Malawi 87 Traditional Authorities. This is the only ground truth of this kind for this question on the continent, and it exists because these teams collected it. Ghana is our worked example today, partly because the Ghana team is in the room and can check us.</a:t>
            </a:r>
          </a:p>
          <a:p>
            <a:pPr lvl="0" indent="0" marL="0">
              <a:buNone/>
            </a:pPr>
          </a:p>
          <a:p>
            <a:pPr lvl="0" indent="0" marL="0">
              <a:buNone/>
            </a:pPr>
            <a:r>
              <a:rPr/>
              <a:t>Backup, if asked: Sonja’s own conceptual-framework slide for iron deficiency comes next, before the coverage slide.</a:t>
            </a:r>
          </a:p>
        </p:txBody>
      </p:sp>
      <p:sp>
        <p:nvSpPr>
          <p:cNvPr id="4" name="Slide Number Placeholder 3"/>
          <p:cNvSpPr>
            <a:spLocks noGrp="1"/>
          </p:cNvSpPr>
          <p:nvPr>
            <p:ph type="sldNum" sz="quarter" idx="10"/>
          </p:nvPr>
        </p:nvSpPr>
        <p:spPr/>
        <p:txBody>
          <a:bodyPr/>
          <a:lstStyle/>
          <a:p>
            <a:fld id="{57582FD5-DD72-EA41-90DE-BC5D4D375366}"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SONJA, about 45 seconds (132 words).</a:t>
            </a:r>
          </a:p>
          <a:p>
            <a:pPr lvl="0" indent="0" marL="0">
              <a:buNone/>
            </a:pPr>
          </a:p>
          <a:p>
            <a:pPr lvl="0" indent="0" marL="0">
              <a:buNone/>
            </a:pPr>
            <a:r>
              <a:rPr/>
              <a:t>This is the same framework, with each box coloured by whether we could find a public, district-level proxy for it. Green: we have district layers. Ecology and climate from satellites; poverty, schooling, water and sanitation from household surveys; infectious disease from the malaria and helminth atlases; diet and infant feeding from the public surveys. Yellow: only a national figure or a modelled surface. Health policy, inflammation, physiological vulnerability. Grey: nothing public reaches it. Culture and norms, absorption. Two things to take from this. The predictors are not a fishing expedition; they are the pathways in this framework that public data happen to cover. And the model can only see the green and yellow boxes. What it misses is what no satellite sees. Andrew will show you what the model makes of them.</a:t>
            </a:r>
          </a:p>
        </p:txBody>
      </p:sp>
      <p:sp>
        <p:nvSpPr>
          <p:cNvPr id="4" name="Slide Number Placeholder 3"/>
          <p:cNvSpPr>
            <a:spLocks noGrp="1"/>
          </p:cNvSpPr>
          <p:nvPr>
            <p:ph type="sldNum" sz="quarter" idx="10"/>
          </p:nvPr>
        </p:nvSpPr>
        <p:spPr/>
        <p:txBody>
          <a:bodyPr/>
          <a:lstStyle/>
          <a:p>
            <a:fld id="{57582FD5-DD72-EA41-90DE-BC5D4D375366}"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ANDREW, about 90 seconds (223 words).</a:t>
            </a:r>
          </a:p>
          <a:p>
            <a:pPr lvl="0" indent="0" marL="0">
              <a:buNone/>
            </a:pPr>
          </a:p>
          <a:p>
            <a:pPr lvl="0" indent="0" marL="0">
              <a:buNone/>
            </a:pPr>
            <a:r>
              <a:rPr/>
              <a:t>Thank you, Sonja. Here is the whole talk in one picture. Ghana, children’s iron. On the left, what the survey measured in the 75 districts it reached. In the middle, what the model predicts for each of those districts when that district is hidden from it. On the right, the model applied to all 260 districts, including the 185 no survey cluster ever reached. Neighbouring districts resemble each other, so geography alone fills part of the gap; the middle panel adds environmental, dietary and health data to it. Ranking accuracy in the middle panel is 0.52, against 0.36 for the survey’s own regional averages, where zero is chance and one is perfect. Take one district. Binduri, in Upper East. Interpolating from its region ranks it 12th worst of the 75. Our model, which never saw Binduri’s blood results, ranks it 1st. The survey measured it 6th. A programme working from the regional average sends its first team somewhere else. We are also wrong in places. Atiwa East, in the Eastern Region: the survey measured it 24th worst, and we put it 56th. I will tell you in two minutes how often that happens. One caution on the word measured: most of these districts rest on a single survey cluster, so the survey’s own district number is itself a noisy estimate. Binduri has two.</a:t>
            </a:r>
          </a:p>
          <a:p>
            <a:pPr lvl="0" indent="0" marL="0">
              <a:buNone/>
            </a:pPr>
          </a:p>
          <a:p>
            <a:pPr lvl="0" indent="0" marL="0">
              <a:buNone/>
            </a:pPr>
            <a:r>
              <a:rPr/>
              <a:t>Backup, if asked: Ranks are among the 75 surveyed districts on the biomarker level, 1 = worst; per-district ranks in results/figures/policy_deck/fig7_ghana_district_ranks_child_iron_level.csv. Talensi, Upper East: interpolation 9th, model 2nd, survey 12th.</a:t>
            </a:r>
          </a:p>
        </p:txBody>
      </p:sp>
      <p:sp>
        <p:nvSpPr>
          <p:cNvPr id="4" name="Slide Number Placeholder 3"/>
          <p:cNvSpPr>
            <a:spLocks noGrp="1"/>
          </p:cNvSpPr>
          <p:nvPr>
            <p:ph type="sldNum" sz="quarter" idx="10"/>
          </p:nvPr>
        </p:nvSpPr>
        <p:spPr/>
        <p:txBody>
          <a:bodyPr/>
          <a:lstStyle/>
          <a:p>
            <a:fld id="{57582FD5-DD72-EA41-90DE-BC5D4D375366}"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ANDREW, about 45 seconds (113 words).</a:t>
            </a:r>
          </a:p>
          <a:p>
            <a:pPr lvl="0" indent="0" marL="0">
              <a:buNone/>
            </a:pPr>
          </a:p>
          <a:p>
            <a:pPr lvl="0" indent="0" marL="0">
              <a:buNone/>
            </a:pPr>
            <a:r>
              <a:rPr/>
              <a:t>Five hundred and seventy-five measurements for every district, from 28 public sources, in eight groups. The largest is climate and satellite imagery: thirty-year rainfall and temperature normals, greenness, and a satellite summary of what a district looks like. Then household surveys summarised to districts; disease and immunisation maps; food prices and diet; nutrition status; soil chemistry; crops and livestock; settlement and population. None of it required a new blood sample and none of it had to be bought. And the layers that travel across a border are the free ones: the data you can download this afternoon rank a new country’s districts slightly better than the same model with household survey microdata added.</a:t>
            </a:r>
          </a:p>
          <a:p>
            <a:pPr lvl="0" indent="0" marL="0">
              <a:buNone/>
            </a:pPr>
          </a:p>
          <a:p>
            <a:pPr lvl="0" indent="0" marL="0">
              <a:buNone/>
            </a:pPr>
            <a:r>
              <a:rPr/>
              <a:t>Backup, if asked: If asked for numbers: openly downloadable layers alone rank a new country’s districts at 0.32; adding public survey microdata gives 0.30; adding DHS microdata 0.28. Three sources need a free account, one a data-use agreement. Eleven new predictor blocks were scored this year and none moved the answer by more than 0.01.</a:t>
            </a:r>
          </a:p>
        </p:txBody>
      </p:sp>
      <p:sp>
        <p:nvSpPr>
          <p:cNvPr id="4" name="Slide Number Placeholder 3"/>
          <p:cNvSpPr>
            <a:spLocks noGrp="1"/>
          </p:cNvSpPr>
          <p:nvPr>
            <p:ph type="sldNum" sz="quarter" idx="10"/>
          </p:nvPr>
        </p:nvSpPr>
        <p:spPr/>
        <p:txBody>
          <a:bodyPr/>
          <a:lstStyle/>
          <a:p>
            <a:fld id="{57582FD5-DD72-EA41-90DE-BC5D4D375366}"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ANDREW, about 60 seconds (158 words).</a:t>
            </a:r>
          </a:p>
          <a:p>
            <a:pPr lvl="0" indent="0" marL="0">
              <a:buNone/>
            </a:pPr>
          </a:p>
          <a:p>
            <a:pPr lvl="0" indent="0" marL="0">
              <a:buNone/>
            </a:pPr>
            <a:r>
              <a:rPr/>
              <a:t>One methods slide. On the left, four steps, and none of them looks at a held-out district. Rank every layer within its country, so a level difference between surveys cannot act as signal. Summarise each family of layers into a few scores. Weight each score by how well it tracked deficiency where blood was actually drawn. Add them up. Nothing is tuned, so there is no parameter that can be fitted to the district we are trying to predict. On the right, every number in this talk comes from hiding something and predicting it. One district in five, ten times over. Then a whole region. Then a whole country. And we do not compare against zero. We compare against the number a programme officer has on her desk today: her district’s regional average, computed without her district. The numbers you are about to see are lower than they could be made to look, and that is the point.</a:t>
            </a:r>
          </a:p>
          <a:p>
            <a:pPr lvl="0" indent="0" marL="0">
              <a:buNone/>
            </a:pPr>
          </a:p>
          <a:p>
            <a:pPr lvl="0" indent="0" marL="0">
              <a:buNone/>
            </a:pPr>
            <a:r>
              <a:rPr/>
              <a:t>Backup, if asked: If asked why the model is so simple: fourteen alternatives on identical folds (random forests, boosting, penalised regressions, four ensembles); nothing beat it by more than 0.03. With 14 to 87 districts per country, anything that tunes a parameter shrinks toward the average. A sample-size finding, not a claim about machine learning. If asked about leakage: every hold-out is by district, region or whole country, and every choice about the predictors is made inside the training data.</a:t>
            </a:r>
          </a:p>
        </p:txBody>
      </p:sp>
      <p:sp>
        <p:nvSpPr>
          <p:cNvPr id="4" name="Slide Number Placeholder 3"/>
          <p:cNvSpPr>
            <a:spLocks noGrp="1"/>
          </p:cNvSpPr>
          <p:nvPr>
            <p:ph type="sldNum" sz="quarter" idx="10"/>
          </p:nvPr>
        </p:nvSpPr>
        <p:spPr/>
        <p:txBody>
          <a:bodyPr/>
          <a:lstStyle/>
          <a:p>
            <a:fld id="{57582FD5-DD72-EA41-90DE-BC5D4D375366}"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ANDREW, about 75 seconds (194 words).</a:t>
            </a:r>
          </a:p>
          <a:p>
            <a:pPr lvl="0" indent="0" marL="0">
              <a:buNone/>
            </a:pPr>
          </a:p>
          <a:p>
            <a:pPr lvl="0" indent="0" marL="0">
              <a:buNone/>
            </a:pPr>
            <a:r>
              <a:rPr/>
              <a:t>Take any two districts in a surveyed country and ask which is worse off. A coin gets it right five times in ten. The regional average a programme uses today gets five and a half. A map built only from neighbouring districts, with no satellite data at all, gets nearly six. Our model, across all nutrients and all four countries, gets six. For the nutrients it predicts best, B12 and vitamin A, seven. Two things to say about this. First, remember what the survey’s own district number is. Most districts rest on one cluster, about a dozen children. The survey was designed to report regions, so right here means agreeing with a noisy district estimate, and no method can score near a hundred against it. Second, inside a surveyed country, geography gets you most of the way, because deficiency follows a smooth north-to-south gradient in all four countries. So the fair reading is: within a country, a modest improvement on interpolation and a clear one on the regional average. Where the public layers earn their keep is a country with no survey, where there is nothing to interpolate from. I will come to that.</a:t>
            </a:r>
          </a:p>
          <a:p>
            <a:pPr lvl="0" indent="0" marL="0">
              <a:buNone/>
            </a:pPr>
          </a:p>
          <a:p>
            <a:pPr lvl="0" indent="0" marL="0">
              <a:buNone/>
            </a:pPr>
            <a:r>
              <a:rPr/>
              <a:t>Backup, if asked: Exact figures on the ruler: coin 50, regional average 56, neighbouring-district map 59, our model 60, best-predicted nutrients 70 per cent of district pairs in the survey’s order. Each district predicted with itself held out; 18 measurable nutrient-country combinations.</a:t>
            </a:r>
          </a:p>
        </p:txBody>
      </p:sp>
      <p:sp>
        <p:nvSpPr>
          <p:cNvPr id="4" name="Slide Number Placeholder 3"/>
          <p:cNvSpPr>
            <a:spLocks noGrp="1"/>
          </p:cNvSpPr>
          <p:nvPr>
            <p:ph type="sldNum" sz="quarter" idx="10"/>
          </p:nvPr>
        </p:nvSpPr>
        <p:spPr/>
        <p:txBody>
          <a:bodyPr/>
          <a:lstStyle/>
          <a:p>
            <a:fld id="{57582FD5-DD72-EA41-90DE-BC5D4D375366}"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ANDREW, about 80 seconds (218 words).</a:t>
            </a:r>
          </a:p>
          <a:p>
            <a:pPr lvl="0" indent="0" marL="0">
              <a:buNone/>
            </a:pPr>
          </a:p>
          <a:p>
            <a:pPr lvl="0" indent="0" marL="0">
              <a:buNone/>
            </a:pPr>
            <a:r>
              <a:rPr/>
              <a:t>This is the slide I would most like you to take away, because it says something about micronutrient surveys and not only about our model. Women and children are separate models, so they are shown separately. Teal is a district held out inside a surveyed country; orange is a whole country held out of training, fitted on three countries and scored on the fourth. Vitamin B12 and vitamin A map best, in women and in children. Iron is in the middle. Folate ranks districts well inside a country and collapses when we cross a border. Zinc we cannot map at all, and it is not on the slide, because the surveys’ own district zinc numbers carry no signal to recover. Notice this has nothing to do with prevalence: folate and zinc are the two commonest deficiencies in our data, and the two we handle worst. Folate’s collapse is not a modelling failure. Malawi’s folate was measured with a microbiologic assay and the others with an immunoassay, which reads systematically lower. What fails to cross the border is the measurement, not the geography. That is a harmonisation problem, and this room can fix it. The grey bars are the ceiling any model could reach against these surveys’ district numbers. For B12 and vitamin A we are essentially at it.</a:t>
            </a:r>
          </a:p>
          <a:p>
            <a:pPr lvl="0" indent="0" marL="0">
              <a:buNone/>
            </a:pPr>
          </a:p>
          <a:p>
            <a:pPr lvl="0" indent="0" marL="0">
              <a:buNone/>
            </a:pPr>
            <a:r>
              <a:rPr/>
              <a:t>Backup, if asked: Numbers: B12 0.63 in-country, 0.52 transported; vitamin A 0.53 and 0.51; iron 0.44 and 0.33; folate 0.40 and 0.07. Measurable combinations only: national prevalence at least 2 per cent and a reliability ceiling of at least 0.30.</a:t>
            </a:r>
          </a:p>
        </p:txBody>
      </p:sp>
      <p:sp>
        <p:nvSpPr>
          <p:cNvPr id="4" name="Slide Number Placeholder 3"/>
          <p:cNvSpPr>
            <a:spLocks noGrp="1"/>
          </p:cNvSpPr>
          <p:nvPr>
            <p:ph type="sldNum" sz="quarter" idx="10"/>
          </p:nvPr>
        </p:nvSpPr>
        <p:spPr/>
        <p:txBody>
          <a:bodyPr/>
          <a:lstStyle/>
          <a:p>
            <a:fld id="{57582FD5-DD72-EA41-90DE-BC5D4D375366}"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ANDREW, about 70 seconds (176 words).</a:t>
            </a:r>
          </a:p>
          <a:p>
            <a:pPr lvl="0" indent="0" marL="0">
              <a:buNone/>
            </a:pPr>
          </a:p>
          <a:p>
            <a:pPr lvl="0" indent="0" marL="0">
              <a:buNone/>
            </a:pPr>
            <a:r>
              <a:rPr/>
              <a:t>Women’s outcomes, to keep it readable; the children’s panels are in the appendix and tell the same story. The top three bars are the same in every panel: climate, soil, and a satellite summary of what a district looks like. Together they carry just under half the weight, whichever nutrient you take. What each nutrient adds below them is what a nutritionist would recognise. B12, the nutrient you get almost only from animal-source food, leans on infant feeding: districts where more infants are fed meat or fish, almost certainly a proxy for the women’s own diet. And B12 is our best-predicted outcome. Iron and folate lean on modelled anaemia, their clinical consequence. Vitamin A leans on schooling and household wealth. One warning. These are district-level associations, not causes. In Malawi the anaemia and malaria layers carry weight in the wrong direction for B12, because they mark the fish-eating lakeshore. The model finds a place-marker and cannot tell it from a mechanism. These tell you where to look. They are not a list of things to change.</a:t>
            </a:r>
          </a:p>
          <a:p>
            <a:pPr lvl="0" indent="0" marL="0">
              <a:buNone/>
            </a:pPr>
          </a:p>
          <a:p>
            <a:pPr lvl="0" indent="0" marL="0">
              <a:buNone/>
            </a:pPr>
            <a:r>
              <a:rPr/>
              <a:t>Backup, if asked: The satellite summary is Google’s AlphaEarth: a year of imagery compressed into 64 numbers, not interpretable one by one but a strong description of land cover. Children’s iron adds an agro-pastoral gradient (cereal cropping, livestock). Malawi: rho between B12 deficiency and modelled anaemia is -0.40, and with fish eaten -0.48.</a:t>
            </a:r>
          </a:p>
        </p:txBody>
      </p:sp>
      <p:sp>
        <p:nvSpPr>
          <p:cNvPr id="4" name="Slide Number Placeholder 3"/>
          <p:cNvSpPr>
            <a:spLocks noGrp="1"/>
          </p:cNvSpPr>
          <p:nvPr>
            <p:ph type="sldNum" sz="quarter" idx="10"/>
          </p:nvPr>
        </p:nvSpPr>
        <p:spPr/>
        <p:txBody>
          <a:bodyPr/>
          <a:lstStyle/>
          <a:p>
            <a:fld id="{57582FD5-DD72-EA41-90DE-BC5D4D375366}"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ANDREW, about 60 seconds (150 words).</a:t>
            </a:r>
          </a:p>
          <a:p>
            <a:pPr lvl="0" indent="0" marL="0">
              <a:buNone/>
            </a:pPr>
          </a:p>
          <a:p>
            <a:pPr lvl="0" indent="0" marL="0">
              <a:buNone/>
            </a:pPr>
            <a:r>
              <a:rPr/>
              <a:t>Most countries in this region have no recent biomarker survey at all. Cote d’Ivoire is our worked example of that situation: all the public layers, no survey. Trained on the four surveyed countries, the model ranks its 33 districts. The northern savanna belt comes out worst: Tchologo, Bounkani, Bagoue, Poro. Two independently specified versions of the model agree with each other at about 0.9 and share most of their worst fifth, so this is not a knife-edge. How much should you trust it? With a whole country held out, a district we call worst-third really is in the worst third about half the time, against a third by chance. The shading on the right is easy to misread. Dark means the model does not change its mind when we retrain it on different districts. It does not mean we have verified that district against anything. For that, the next slide.</a:t>
            </a:r>
          </a:p>
          <a:p>
            <a:pPr lvl="0" indent="0" marL="0">
              <a:buNone/>
            </a:pPr>
          </a:p>
          <a:p>
            <a:pPr lvl="0" indent="0" marL="0">
              <a:buNone/>
            </a:pPr>
            <a:r>
              <a:rPr/>
              <a:t>Backup, if asked: Two candidates agree at 0.88 to 0.97 and share 83 per cent of their worst fifth. Worst-third calls land 52 per cent of the time against 33 by chance; of the five worst named, 62 per cent land. The WFP and MIMI vitamin A map for Cote d’Ivoire, built from a household budget survey, puts the same northern belt worst (rank agreement about 0.5 over 33 districts, survives adjusting for latitude).</a:t>
            </a:r>
          </a:p>
        </p:txBody>
      </p:sp>
      <p:sp>
        <p:nvSpPr>
          <p:cNvPr id="4" name="Slide Number Placeholder 3"/>
          <p:cNvSpPr>
            <a:spLocks noGrp="1"/>
          </p:cNvSpPr>
          <p:nvPr>
            <p:ph type="sldNum" sz="quarter" idx="10"/>
          </p:nvPr>
        </p:nvSpPr>
        <p:spPr/>
        <p:txBody>
          <a:bodyPr/>
          <a:lstStyle/>
          <a:p>
            <a:fld id="{57582FD5-DD72-EA41-90DE-BC5D4D375366}"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ANDREW, about 45 seconds (135 words).</a:t>
            </a:r>
          </a:p>
          <a:p>
            <a:pPr lvl="0" indent="0" marL="0">
              <a:buNone/>
            </a:pPr>
          </a:p>
          <a:p>
            <a:pPr lvl="0" indent="0" marL="0">
              <a:buNone/>
            </a:pPr>
            <a:r>
              <a:rPr/>
              <a:t>Cote d’Ivoire did run a national nutrition survey, in 2007, and WHO holds its results by region. It reported women’s B12 deficiency in nine survey zones, from 49 per cent in the north to nearly zero in Abidjan. We had never looked at it. Our transported B12 ranking, built on the other four countries and never shown a Cote d’Ivoire blood sample, puts those zones in almost the same order: rank agreement 0.95 across the nine. Three caveats. The survey is nineteen years old. Its zones are survey regions, not administrative units, so we assigned our 33 districts to them by their centres. And it is nine points. But it is the first check of the transported model against real blood data in a country it never trained on, and it points the same way.</a:t>
            </a:r>
          </a:p>
          <a:p>
            <a:pPr lvl="0" indent="0" marL="0">
              <a:buNone/>
            </a:pPr>
          </a:p>
          <a:p>
            <a:pPr lvl="0" indent="0" marL="0">
              <a:buNone/>
            </a:pPr>
            <a:r>
              <a:rPr/>
              <a:t>Backup, if asked: Spearman -0.95 between the zone’s measured B12 deficiency and the model’s mean district rank (1 = worst). The one swap is West and Central. Script: scripts/policy_deck/24_civ_2007_survey_check.R.</a:t>
            </a:r>
          </a:p>
        </p:txBody>
      </p:sp>
      <p:sp>
        <p:nvSpPr>
          <p:cNvPr id="4" name="Slide Number Placeholder 3"/>
          <p:cNvSpPr>
            <a:spLocks noGrp="1"/>
          </p:cNvSpPr>
          <p:nvPr>
            <p:ph type="sldNum" sz="quarter" idx="10"/>
          </p:nvPr>
        </p:nvSpPr>
        <p:spPr/>
        <p:txBody>
          <a:bodyPr/>
          <a:lstStyle/>
          <a:p>
            <a:fld id="{57582FD5-DD72-EA41-90DE-BC5D4D375366}"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ANDREW, about 65 seconds (177 words).</a:t>
            </a:r>
          </a:p>
          <a:p>
            <a:pPr lvl="0" indent="0" marL="0">
              <a:buNone/>
            </a:pPr>
          </a:p>
          <a:p>
            <a:pPr lvl="0" indent="0" marL="0">
              <a:buNone/>
            </a:pPr>
            <a:r>
              <a:rPr/>
              <a:t>This is the slide to photograph. Four yeses and two partlys. Yes to anything that needs an order: which districts to reach first, where the next survey samples, how to sequence a roll-out. The model gives a ranked list of every district, and the ranking is the thing that works. Yes to a district prevalence inside a surveyed country: the ranking plus the survey gives it. Partly to a district prevalence where there is no survey. The ranking has no level of its own. Measure one national number, about five per cent of a survey’s sample, hang the ranking on it, and district figures land within about ten points. That anchor has to be measured, not modelled. And partly to targeting an intervention: the model picks the most-affected districts better than an untargeted allocation, so a targeted programme likely reaches more deficient people. Likely, because burden also sits where the people are, so rank by rate times population. Binduri is the whole product in one district: 12th by interpolation, 1st by the model, 6th by the survey.</a:t>
            </a:r>
          </a:p>
          <a:p>
            <a:pPr lvl="0" indent="0" marL="0">
              <a:buNone/>
            </a:pPr>
          </a:p>
          <a:p>
            <a:pPr lvl="0" indent="0" marL="0">
              <a:buNone/>
            </a:pPr>
            <a:r>
              <a:rPr/>
              <a:t>Backup, if asked: Anchor: a national sample of about 5 per cent of a survey, roughly forty blood draws for one nutrient, gives district figures within 9 to 10 points; the same 5 per cent spent on a regional survey gives about 12. Predicting a national level from world indicators across 69 countries missed Sierra Leone by 29 points and Malawi by 22. Not tested: whether a programme worked; one point in time cannot show change.</a:t>
            </a:r>
          </a:p>
        </p:txBody>
      </p:sp>
      <p:sp>
        <p:nvSpPr>
          <p:cNvPr id="4" name="Slide Number Placeholder 3"/>
          <p:cNvSpPr>
            <a:spLocks noGrp="1"/>
          </p:cNvSpPr>
          <p:nvPr>
            <p:ph type="sldNum" sz="quarter" idx="10"/>
          </p:nvPr>
        </p:nvSpPr>
        <p:spPr/>
        <p:txBody>
          <a:bodyPr/>
          <a:lstStyle/>
          <a:p>
            <a:fld id="{57582FD5-DD72-EA41-90DE-BC5D4D375366}"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ANDREW, about 60 seconds (169 words).</a:t>
            </a:r>
          </a:p>
          <a:p>
            <a:pPr lvl="0" indent="0" marL="0">
              <a:buNone/>
            </a:pPr>
          </a:p>
          <a:p>
            <a:pPr lvl="0" indent="0" marL="0">
              <a:buNone/>
            </a:pPr>
            <a:r>
              <a:rPr/>
              <a:t>What actually limits this? Not the satellite data. We added eleven new blocks of predictors this year and not one moved the answer by more than a hundredth. It is the number of biomarker surveys we can learn from. With one survey, a country we have never seen gets a ranking of 0.20. With three, 0.30. The line has not flattened. And it matters which country. Trained on Ghana alone, we rank The Gambia’s districts at 0.61, because Ghana spans the whole gradient from the Sahel to the forest. A training country that contains the whole range teaches the whole range, and we can check whether a candidate country extends that range from free satellite data, before a single blood sample is drawn. So the ask is simple. If your country has a micronutrient survey, recent, planned, or sitting in a drawer, put it in the pool. It improves the map of every other country in it, and yours gets a ranking for the districts your survey never reached.</a:t>
            </a:r>
          </a:p>
          <a:p>
            <a:pPr lvl="0" indent="0" marL="0">
              <a:buNone/>
            </a:pPr>
          </a:p>
          <a:p>
            <a:pPr lvl="0" indent="0" marL="0">
              <a:buNone/>
            </a:pPr>
            <a:r>
              <a:rPr/>
              <a:t>Backup, if asked: Part of what holds the curve down is the surveys, not the model: four surveys in four years by four teams, with national levels that differ several-fold. Four or five countries surveyed on one protocol at the same time would let us fit on four and predict the fifth much better. Two candidate models are written down in advance, dated 3 September 2026, so the fifth survey is a real test.</a:t>
            </a:r>
          </a:p>
        </p:txBody>
      </p:sp>
      <p:sp>
        <p:nvSpPr>
          <p:cNvPr id="4" name="Slide Number Placeholder 3"/>
          <p:cNvSpPr>
            <a:spLocks noGrp="1"/>
          </p:cNvSpPr>
          <p:nvPr>
            <p:ph type="sldNum" sz="quarter" idx="10"/>
          </p:nvPr>
        </p:nvSpPr>
        <p:spPr/>
        <p:txBody>
          <a:bodyPr/>
          <a:lstStyle/>
          <a:p>
            <a:fld id="{57582FD5-DD72-EA41-90DE-BC5D4D375366}"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ANDREW, about 50 seconds (130 words).</a:t>
            </a:r>
          </a:p>
          <a:p>
            <a:pPr lvl="0" indent="0" marL="0">
              <a:buNone/>
            </a:pPr>
          </a:p>
          <a:p>
            <a:pPr lvl="0" indent="0" marL="0">
              <a:buNone/>
            </a:pPr>
            <a:r>
              <a:rPr/>
              <a:t>Three findings. Public data carry real information about deficiency, and most of it is in the environmental and climate layers that are measured everywhere, every year. That information ranks districts better than the regional averages a programme uses today, at home and across a border. And every survey we add improves every map: the limit is surveys, not predictors. Next, we want to use the models to make surveys count for more: which districts to sample, where to place clusters, how to fill the gaps. Add surveys to the pool, and test the model on a fifth country before anyone acts on it. And compare our predictor story with the MIMI and GBD models, framework by framework. Modelling extends a survey’s reach. It does not replace the survey. Thank you.</a:t>
            </a:r>
          </a:p>
          <a:p>
            <a:pPr lvl="0" indent="0" marL="0">
              <a:buNone/>
            </a:pPr>
          </a:p>
          <a:p>
            <a:pPr lvl="0" indent="0" marL="0">
              <a:buNone/>
            </a:pPr>
            <a:r>
              <a:rPr/>
              <a:t>Backup, if asked: A question to hand the room if there is time: how accurate does a district ranking have to be before you would use it? We can say what we get; only programmes can say what is good enough.</a:t>
            </a:r>
          </a:p>
        </p:txBody>
      </p:sp>
      <p:sp>
        <p:nvSpPr>
          <p:cNvPr id="4" name="Slide Number Placeholder 3"/>
          <p:cNvSpPr>
            <a:spLocks noGrp="1"/>
          </p:cNvSpPr>
          <p:nvPr>
            <p:ph type="sldNum" sz="quarter" idx="10"/>
          </p:nvPr>
        </p:nvSpPr>
        <p:spPr/>
        <p:txBody>
          <a:bodyPr/>
          <a:lstStyle/>
          <a:p>
            <a:fld id="{57582FD5-DD72-EA41-90DE-BC5D4D375366}"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Backup, if asked about the tool. The dashboard (amertens.shinyapps.io/micronutrient-burden) carries everything in this talk, rebuilt 27 September 2026. One estimator — the zero-tuning index on the 383 open and public-microdata layers, the same fit the decks quote — with four views per district: priority ranking, planning prevalence anchored to the national survey, WHO severity class, and people affected.</a:t>
            </a:r>
          </a:p>
          <a:p>
            <a:pPr lvl="0" indent="0" marL="0">
              <a:buNone/>
            </a:pPr>
          </a:p>
          <a:p>
            <a:pPr lvl="0" indent="0" marL="0">
              <a:buNone/>
            </a:pPr>
            <a:r>
              <a:rPr/>
              <a:t>Contents, tab by tab: Start here (the six numbers on this slide, a five-minute path, and a can-it / can’t-it checklist); Map explorer and District profiles for the four countries plus Cote d’Ivoire, with the survey’s own estimate wherever clusters exist; What drives the estimate, including a searchable table of every back-projected weight in every fit with its range across refits; Can we trust it — the three held-out tests, the measurability ceiling, the six-country WHO-deposit external check (0.40 in Africa, 0.39 in South Asia), what the ranking buys, and what more data buys; and Plan a survey — an interactive district-visit prioritiser in the adaptive-geostatistical-design tradition, the anchor-and-rank size story, and the pre-registered SP-01 check that model-guided district choice preserves the map and, with design weights, the national estimate.</a:t>
            </a:r>
          </a:p>
          <a:p>
            <a:pPr lvl="0" indent="0" marL="0">
              <a:buNone/>
            </a:pPr>
          </a:p>
          <a:p>
            <a:pPr lvl="0" indent="0" marL="0">
              <a:buNone/>
            </a:pPr>
            <a:r>
              <a:rPr/>
              <a:t>Uncertainty is on every number, in two honest registers. Calibrated: out-of-fold worst-fifth probabilities, and — new since 27 September — conformal 90% bands on every planning prevalence and calibrated WHO-threshold chances, checked by leave-one-out to cover the survey’s own district value 91% of the time (the resampling bands they replaced covered 8%, which is why they were replaced). Stability: rank ranges from 200 resampling refits, labelled as stability never coverage, with the 38% LOCO figure quoted wherever they appear. One-page country briefs download from the map tab.</a:t>
            </a:r>
          </a:p>
        </p:txBody>
      </p:sp>
      <p:sp>
        <p:nvSpPr>
          <p:cNvPr id="4" name="Slide Number Placeholder 3"/>
          <p:cNvSpPr>
            <a:spLocks noGrp="1"/>
          </p:cNvSpPr>
          <p:nvPr>
            <p:ph type="sldNum" sz="quarter" idx="10"/>
          </p:nvPr>
        </p:nvSpPr>
        <p:spPr/>
        <p:txBody>
          <a:bodyPr/>
          <a:lstStyle/>
          <a:p>
            <a:fld id="{57582FD5-DD72-EA41-90DE-BC5D4D375366}" type="slidenum">
              <a:rPr lang="en-US"/>
              <a:t>17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Moved out of the main body on 18 September. Across the four surveys, three districts in four rest on a single cluster; in Ghana and Malawi it is more than eight in ten. With one cluster per district, a model that knew each district’s true prevalence exactly would still only score about 0.54 against the survey’s own district numbers. Two clusters takes that to 0.66, three to 0.73.</a:t>
            </a:r>
          </a:p>
          <a:p>
            <a:pPr lvl="0" indent="0" marL="0">
              <a:buNone/>
            </a:pPr>
          </a:p>
          <a:p>
            <a:pPr lvl="0" indent="0" marL="0">
              <a:buNone/>
            </a:pPr>
            <a:r>
              <a:rPr/>
              <a:t>Projected from these surveys’ own variance structure, not from an experiment in which anyone reallocated a survey budget. Sierra Leone has the most clusters per district (4.3) and the weakest results, because 14 units of half a million people is the wrong unit, not the wrong design.</a:t>
            </a:r>
          </a:p>
        </p:txBody>
      </p:sp>
      <p:sp>
        <p:nvSpPr>
          <p:cNvPr id="4" name="Slide Number Placeholder 3"/>
          <p:cNvSpPr>
            <a:spLocks noGrp="1"/>
          </p:cNvSpPr>
          <p:nvPr>
            <p:ph type="sldNum" sz="quarter" idx="10"/>
          </p:nvPr>
        </p:nvSpPr>
        <p:spPr/>
        <p:txBody>
          <a:bodyPr/>
          <a:lstStyle/>
          <a:p>
            <a:fld id="{57582FD5-DD72-EA41-90DE-BC5D4D375366}" type="slidenum">
              <a:rPr lang="en-US"/>
              <a:t>18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bar-chart version of the predictor slide, kept for the count split: 518 of the 575 predictors exist in all four countries and can serve a model for a new one; the other 57 are in one to three countries and are used only inside those.</a:t>
            </a:r>
          </a:p>
        </p:txBody>
      </p:sp>
      <p:sp>
        <p:nvSpPr>
          <p:cNvPr id="4" name="Slide Number Placeholder 3"/>
          <p:cNvSpPr>
            <a:spLocks noGrp="1"/>
          </p:cNvSpPr>
          <p:nvPr>
            <p:ph type="sldNum" sz="quarter" idx="10"/>
          </p:nvPr>
        </p:nvSpPr>
        <p:spPr/>
        <p:txBody>
          <a:bodyPr/>
          <a:lstStyle/>
          <a:p>
            <a:fld id="{57582FD5-DD72-EA41-90DE-BC5D4D375366}" type="slidenum">
              <a:rPr lang="en-US"/>
              <a:t>19</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six-panel version of the domains slide, children’s outcomes included. Same reading: three shared environmental blocks, then a nutrient-specific second signal. Children’s iron leans on the farming system: cereal-dominant cropping, ruminants and cattle mark worse iron status; root crops and market-integrated prices mark better.</a:t>
            </a:r>
          </a:p>
        </p:txBody>
      </p:sp>
      <p:sp>
        <p:nvSpPr>
          <p:cNvPr id="4" name="Slide Number Placeholder 3"/>
          <p:cNvSpPr>
            <a:spLocks noGrp="1"/>
          </p:cNvSpPr>
          <p:nvPr>
            <p:ph type="sldNum" sz="quarter" idx="10"/>
          </p:nvPr>
        </p:nvSpPr>
        <p:spPr/>
        <p:txBody>
          <a:bodyPr/>
          <a:lstStyle/>
          <a:p>
            <a:fld id="{57582FD5-DD72-EA41-90DE-BC5D4D375366}" type="slidenum">
              <a:rPr lang="en-US"/>
              <a:t>20</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full inventory behind the eight-group slide: 28 sources and 29 domains, coloured by whether the layer exists in all four countries and so can serve a model for a country we have never surveyed.</a:t>
            </a:r>
          </a:p>
        </p:txBody>
      </p:sp>
      <p:sp>
        <p:nvSpPr>
          <p:cNvPr id="4" name="Slide Number Placeholder 3"/>
          <p:cNvSpPr>
            <a:spLocks noGrp="1"/>
          </p:cNvSpPr>
          <p:nvPr>
            <p:ph type="sldNum" sz="quarter" idx="10"/>
          </p:nvPr>
        </p:nvSpPr>
        <p:spPr/>
        <p:txBody>
          <a:bodyPr/>
          <a:lstStyle/>
          <a:p>
            <a:fld id="{57582FD5-DD72-EA41-90DE-BC5D4D375366}" type="slidenum">
              <a:rPr lang="en-US"/>
              <a:t>21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screen applied before any model is fitted: keep a nutrient-country combination if national prevalence is at least 2 per cent (WHO’s own public-health threshold) and the survey’s own district estimates carry district-level signal. Eight of 24 fail. Four are too rare to rank (Malawi child and women’s vitamin A at 0.4 and 0.2 per cent, Sierra Leone women’s B12 and vitamin A); four have no district signal in the survey itself (both Malawi zinc combinations, Sierra Leone child vitamin A and women’s iron).</a:t>
            </a:r>
          </a:p>
          <a:p>
            <a:pPr lvl="0" indent="0" marL="0">
              <a:buNone/>
            </a:pPr>
          </a:p>
          <a:p>
            <a:pPr lvl="0" indent="0" marL="0">
              <a:buNone/>
            </a:pPr>
            <a:r>
              <a:rPr/>
              <a:t>Every accuracy number in the talk is over the 16 that pass. The answer to “isn’t that cherry-picking”: the screen uses only prevalence and the survey’s own resolution, never the model’s score, and every threshold pair from 2 to 10 per cent and 0 to 0.40 gives the same answer, 0.46 to 0.50. Ghana child vitamin A passes the screen and we lose on it.</a:t>
            </a:r>
          </a:p>
        </p:txBody>
      </p:sp>
      <p:sp>
        <p:nvSpPr>
          <p:cNvPr id="4" name="Slide Number Placeholder 3"/>
          <p:cNvSpPr>
            <a:spLocks noGrp="1"/>
          </p:cNvSpPr>
          <p:nvPr>
            <p:ph type="sldNum" sz="quarter" idx="10"/>
          </p:nvPr>
        </p:nvSpPr>
        <p:spPr/>
        <p:txBody>
          <a:bodyPr/>
          <a:lstStyle/>
          <a:p>
            <a:fld id="{57582FD5-DD72-EA41-90DE-BC5D4D375366}" type="slidenum">
              <a:rPr lang="en-US"/>
              <a:t>22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answer to “will it work in my country”. The Gambia 0.62 inside the country and 0.60 held out entirely; Ghana 0.44 and 0.35; Malawi 0.43 and 0.20; Sierra Leone 0.16 held out and not scoreable inside, with 14 districts.</a:t>
            </a:r>
          </a:p>
          <a:p>
            <a:pPr lvl="0" indent="0" marL="0">
              <a:buNone/>
            </a:pPr>
          </a:p>
          <a:p>
            <a:pPr lvl="0" indent="0" marL="0">
              <a:buNone/>
            </a:pPr>
            <a:r>
              <a:rPr/>
              <a:t>The ordering follows what each survey could resolve, not the country. The Gambia put 2.3 clusters in a district, Ghana and Malawi 1.2. Ghana is the best teacher — trained on Ghana alone we rank The Gambia at 0.61 — because its 260 districts span the widest environmental gradient in the panel.</a:t>
            </a:r>
          </a:p>
        </p:txBody>
      </p:sp>
      <p:sp>
        <p:nvSpPr>
          <p:cNvPr id="4" name="Slide Number Placeholder 3"/>
          <p:cNvSpPr>
            <a:spLocks noGrp="1"/>
          </p:cNvSpPr>
          <p:nvPr>
            <p:ph type="sldNum" sz="quarter" idx="10"/>
          </p:nvPr>
        </p:nvSpPr>
        <p:spPr/>
        <p:txBody>
          <a:bodyPr/>
          <a:lstStyle/>
          <a:p>
            <a:fld id="{57582FD5-DD72-EA41-90DE-BC5D4D375366}" type="slidenum">
              <a:rPr lang="en-US"/>
              <a:t>23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Leave-one-country-out ranking accuracy by what a ministry must actually do to obtain the data. Openly downloadable layers, no account: 0.32, positive in 19 of 22 combinations. Add public household-survey microdata behind a free registration: 0.30. Add DHS microdata under a data-use agreement: 0.28. Chance is 0.08.</a:t>
            </a:r>
          </a:p>
          <a:p>
            <a:pPr lvl="0" indent="0" marL="0">
              <a:buNone/>
            </a:pPr>
          </a:p>
          <a:p>
            <a:pPr lvl="0" indent="0" marL="0">
              <a:buNone/>
            </a:pPr>
            <a:r>
              <a:rPr/>
              <a:t>The blocks that cost weeks of work and a registration each add one thousandth inside a country, 0.400 with DHS against 0.399 without, and make cross-border prediction slightly worse. Eleven candidate predictor blocks were scored this year and none moved the answer by more than 0.01 at the median. The vocabulary is saturated; more countries, not more layers, is the lever.</a:t>
            </a:r>
          </a:p>
        </p:txBody>
      </p:sp>
      <p:sp>
        <p:nvSpPr>
          <p:cNvPr id="4" name="Slide Number Placeholder 3"/>
          <p:cNvSpPr>
            <a:spLocks noGrp="1"/>
          </p:cNvSpPr>
          <p:nvPr>
            <p:ph type="sldNum" sz="quarter" idx="10"/>
          </p:nvPr>
        </p:nvSpPr>
        <p:spPr/>
        <p:txBody>
          <a:bodyPr/>
          <a:lstStyle/>
          <a:p>
            <a:fld id="{57582FD5-DD72-EA41-90DE-BC5D4D375366}" type="slidenum">
              <a:rPr lang="en-US"/>
              <a:t>24</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Malawi women’s B12 is the best-predicted combination in the study, 0.70 held out within the country. In it, the modelled anaemia surface carries weight in the wrong direction: districts with more anaemia have better B12 status, rho -0.40.</a:t>
            </a:r>
          </a:p>
          <a:p>
            <a:pPr lvl="0" indent="0" marL="0">
              <a:buNone/>
            </a:pPr>
          </a:p>
          <a:p>
            <a:pPr lvl="0" indent="0" marL="0">
              <a:buNone/>
            </a:pPr>
            <a:r>
              <a:rPr/>
              <a:t>The maps say why. Anaemia and malaria are highest along the lakeshore and in the south, and that is where households eat fish, rho -0.48, the main dietary B12 source in Malawi. The model found a marker for a place, not a mechanism, and it cannot tell the two apart. This is why the weights must never be read as a list of things to change, and why the cross-border models lean on climate and soil rather than on health surfaces.</a:t>
            </a:r>
          </a:p>
        </p:txBody>
      </p:sp>
      <p:sp>
        <p:nvSpPr>
          <p:cNvPr id="4" name="Slide Number Placeholder 3"/>
          <p:cNvSpPr>
            <a:spLocks noGrp="1"/>
          </p:cNvSpPr>
          <p:nvPr>
            <p:ph type="sldNum" sz="quarter" idx="10"/>
          </p:nvPr>
        </p:nvSpPr>
        <p:spPr/>
        <p:txBody>
          <a:bodyPr/>
          <a:lstStyle/>
          <a:p>
            <a:fld id="{57582FD5-DD72-EA41-90DE-BC5D4D375366}" type="slidenum">
              <a:rPr lang="en-US"/>
              <a:t>25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Fourteen candidate algorithms on identical held-out folds, 1,304 fits: the untuned index 0.294, a rank-loss ensemble 0.285, random forest 0.265, a squared-error ensemble 0.246, principal-component HAL 0.215, elastic net 0.189, on prevalence over 17 combinations. Nothing beat the index by more than 0.03 on any estimand.</a:t>
            </a:r>
          </a:p>
          <a:p>
            <a:pPr lvl="0" indent="0" marL="0">
              <a:buNone/>
            </a:pPr>
          </a:p>
          <a:p>
            <a:pPr lvl="0" indent="0" marL="0">
              <a:buNone/>
            </a:pPr>
            <a:r>
              <a:rPr/>
              <a:t>Two honest points. A covariate-free spatial smoother scores 0.390 in-fill against the index’s 0.399, and it wins in Ghana: inside a surveyed country geography gets you most of the way, and the covariates earn their keep across borders where no smoother can be fitted. And “nothing is tuned inside a fit” is not the same as “nothing was chosen on these data” — the estimator, the predictor representation and the domain sets were all selected while looking at these four countries, which is why the fifth survey is pre-registered.</a:t>
            </a:r>
          </a:p>
        </p:txBody>
      </p:sp>
      <p:sp>
        <p:nvSpPr>
          <p:cNvPr id="4" name="Slide Number Placeholder 3"/>
          <p:cNvSpPr>
            <a:spLocks noGrp="1"/>
          </p:cNvSpPr>
          <p:nvPr>
            <p:ph type="sldNum" sz="quarter" idx="10"/>
          </p:nvPr>
        </p:nvSpPr>
        <p:spPr/>
        <p:txBody>
          <a:bodyPr/>
          <a:lstStyle/>
          <a:p>
            <a:fld id="{57582FD5-DD72-EA41-90DE-BC5D4D375366}" type="slidenum">
              <a:rPr lang="en-US"/>
              <a:t>26</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evidence behind the “no” on counting cases. A programme reaching the fifth of districts the model ranks worst reaches 21.9 per cent of the deficient people; the survey’s own regional averages 20.3; a random fifth about 20; a perfect map 47.5.</a:t>
            </a:r>
          </a:p>
          <a:p>
            <a:pPr lvl="0" indent="0" marL="0">
              <a:buNone/>
            </a:pPr>
          </a:p>
          <a:p>
            <a:pPr lvl="0" indent="0" marL="0">
              <a:buNone/>
            </a:pPr>
            <a:r>
              <a:rPr/>
              <a:t>In Ghana children’s iron specifically, going to the most populous fifth of districts reaches 46 per cent. Burden sits where the people are. The instruction that follows: rank by predicted rate times population, using the population map a country already has, and read ours as the rate.</a:t>
            </a:r>
          </a:p>
        </p:txBody>
      </p:sp>
      <p:sp>
        <p:nvSpPr>
          <p:cNvPr id="4" name="Slide Number Placeholder 3"/>
          <p:cNvSpPr>
            <a:spLocks noGrp="1"/>
          </p:cNvSpPr>
          <p:nvPr>
            <p:ph type="sldNum" sz="quarter" idx="10"/>
          </p:nvPr>
        </p:nvSpPr>
        <p:spPr/>
        <p:txBody>
          <a:bodyPr/>
          <a:lstStyle/>
          <a:p>
            <a:fld id="{57582FD5-DD72-EA41-90DE-BC5D4D375366}" type="slidenum">
              <a:rPr lang="en-US"/>
              <a:t>27</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DHS Program’s model-based geostatistics, an INLA-SPDE spatial field plus covariates fitted at the survey clusters, scored on the same district folds. It ranks worse, 0.27 against 0.38 for the index, with the index better in 20 of 24 combinations, and it estimates levels better, 9.2 against 10.7 percentage points of absolute error, because it estimates a level and shrinks uncertain districts toward it.</a:t>
            </a:r>
          </a:p>
          <a:p>
            <a:pPr lvl="0" indent="0" marL="0">
              <a:buNone/>
            </a:pPr>
          </a:p>
          <a:p>
            <a:pPr lvl="0" indent="0" marL="0">
              <a:buNone/>
            </a:pPr>
            <a:r>
              <a:rPr/>
              <a:t>The two are complementary, and the honest division of labour is: if you want an order where no survey exists, use ours; if you want a calibrated prevalence where a survey does exist, use theirs. The geostatistical method needs measured clusters inside the country it predicts, so it has no cross-country estimand at all.</a:t>
            </a:r>
          </a:p>
        </p:txBody>
      </p:sp>
      <p:sp>
        <p:nvSpPr>
          <p:cNvPr id="4" name="Slide Number Placeholder 3"/>
          <p:cNvSpPr>
            <a:spLocks noGrp="1"/>
          </p:cNvSpPr>
          <p:nvPr>
            <p:ph type="sldNum" sz="quarter" idx="10"/>
          </p:nvPr>
        </p:nvSpPr>
        <p:spPr/>
        <p:txBody>
          <a:bodyPr/>
          <a:lstStyle/>
          <a:p>
            <a:fld id="{57582FD5-DD72-EA41-90DE-BC5D4D375366}" type="slidenum">
              <a:rPr lang="en-US"/>
              <a:t>28</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index is linear in the rank-normalised predictors, so every column has an exact back-projected weight. These are the twenty largest for children’s iron in the pooled four-country fit; together they hold about a fifth of the index, and the rest is spread over the other 350 columns, which is how a weighted sum of many weak signals is meant to behave.</a:t>
            </a:r>
          </a:p>
          <a:p>
            <a:pPr lvl="0" indent="0" marL="0">
              <a:buNone/>
            </a:pPr>
          </a:p>
          <a:p>
            <a:pPr lvl="0" indent="0" marL="0">
              <a:buNone/>
            </a:pPr>
            <a:r>
              <a:rPr/>
              <a:t>Cereal-dominant cropping, ruminant and cattle density, cropland and distance from the coast rank a district worse; root crops, higher plant productivity, relatively expensive staples and modelled overweight rank it better. All twenty keep their direction in every leave-one-country-out fit. None requires a new blood sample, and a twenty-layer equal-weight composite scores about the same as the full index for a new country.</a:t>
            </a:r>
          </a:p>
        </p:txBody>
      </p:sp>
      <p:sp>
        <p:nvSpPr>
          <p:cNvPr id="4" name="Slide Number Placeholder 3"/>
          <p:cNvSpPr>
            <a:spLocks noGrp="1"/>
          </p:cNvSpPr>
          <p:nvPr>
            <p:ph type="sldNum" sz="quarter" idx="10"/>
          </p:nvPr>
        </p:nvSpPr>
        <p:spPr/>
        <p:txBody>
          <a:bodyPr/>
          <a:lstStyle/>
          <a:p>
            <a:fld id="{57582FD5-DD72-EA41-90DE-BC5D4D375366}" type="slidenum">
              <a:rPr lang="en-US"/>
              <a:t>29</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two pre-registered candidate models, climate and soil alone and a five-domain set adding the anaemia surfaces, agriculture and infection, applied to Cote d’Ivoire’s 33 districts. They agree at Spearman 0.88 to 0.97 and share 83 per cent of their worst fifth, so the ranking is not a knife-edge property of one specification.</a:t>
            </a:r>
          </a:p>
          <a:p>
            <a:pPr lvl="0" indent="0" marL="0">
              <a:buNone/>
            </a:pPr>
          </a:p>
          <a:p>
            <a:pPr lvl="0" indent="0" marL="0">
              <a:buNone/>
            </a:pPr>
            <a:r>
              <a:rPr/>
              <a:t>The one external check that exists: the WFP and MIMI vitamin A map published this year, built from a household budget survey with no connection to this work, ranks the same northern belt worst. Spearman 0.50 over all 33 districts, q = 0.043 in a pre-specified family of ten tests, 0.48 after adjusting for latitude. For iron there is no independent map, and where iron can be checked it does not corroborate.</a:t>
            </a:r>
          </a:p>
        </p:txBody>
      </p:sp>
      <p:sp>
        <p:nvSpPr>
          <p:cNvPr id="4" name="Slide Number Placeholder 3"/>
          <p:cNvSpPr>
            <a:spLocks noGrp="1"/>
          </p:cNvSpPr>
          <p:nvPr>
            <p:ph type="sldNum" sz="quarter" idx="10"/>
          </p:nvPr>
        </p:nvSpPr>
        <p:spPr/>
        <p:txBody>
          <a:bodyPr/>
          <a:lstStyle/>
          <a:p>
            <a:fld id="{57582FD5-DD72-EA41-90DE-BC5D4D375366}" type="slidenum">
              <a:rPr lang="en-US"/>
              <a:t>30</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Have this ready; there is no figure, it is a spoken answer.</a:t>
            </a:r>
          </a:p>
          <a:p>
            <a:pPr lvl="0" indent="0" marL="0">
              <a:buNone/>
            </a:pPr>
          </a:p>
          <a:p>
            <a:pPr lvl="0" indent="0" marL="0">
              <a:buNone/>
            </a:pPr>
            <a:r>
              <a:rPr/>
              <a:t>The shading on every ranking map comes from refitting the model on resampled training districts. It measures stability: whether the ranking would move if we had learned from a different set of districts. It is not a confidence interval for the truth.</a:t>
            </a:r>
          </a:p>
          <a:p>
            <a:pPr lvl="0" indent="0" marL="0">
              <a:buNone/>
            </a:pPr>
          </a:p>
          <a:p>
            <a:pPr lvl="0" indent="0" marL="0">
              <a:buNone/>
            </a:pPr>
            <a:r>
              <a:rPr/>
              <a:t>We checked. Holding out each surveyed country in turn, the survey’s own rank falls inside our nominal 90 per cent rank interval only 38 per cent of the time, 16 to 70 per cent across combinations. An honestly calibrated 90 per cent interval for a single district’s rank would be about 55 per cent of the list either side, against 68 per cent for a random ordering.</a:t>
            </a:r>
          </a:p>
          <a:p>
            <a:pPr lvl="0" indent="0" marL="0">
              <a:buNone/>
            </a:pPr>
          </a:p>
          <a:p>
            <a:pPr lvl="0" indent="0" marL="0">
              <a:buNone/>
            </a:pPr>
            <a:r>
              <a:rPr/>
              <a:t>So we do not report an interval on a rank. We report the probability of a class, which is calibrated and checkable: a district we place in the worst third of a country we have never surveyed is in the survey’s worst third 52 per cent of the time, against 33 by chance; a district in our worst five, 62 per cent of the time.</a:t>
            </a:r>
          </a:p>
          <a:p>
            <a:pPr lvl="0" indent="0" marL="0">
              <a:buNone/>
            </a:pPr>
          </a:p>
          <a:p>
            <a:pPr lvl="0" indent="0" marL="0">
              <a:buNone/>
            </a:pPr>
            <a:r>
              <a:rPr/>
              <a:t>The percentages are a different story, and since 27 September it is a good one. Every planning prevalence on the dashboard now carries a conformally calibrated 90 per cent band, built from out-of-fold residuals in the surveyed districts and checked by leave-one-out: it covers the survey’s own measured district value 91 per cent of the time, where the old resampling bands covered 8. The honest bands are wide — a median of 26 points either side, and much of that is the survey’s own single-cluster noise rather than the model — and the chance a district sits at or above a WHO action line is now a calibrated probability from the same residuals. So the full answer is: ranks get stability plus checked class probabilities; percentages get intervals that mean what they say.</a:t>
            </a:r>
          </a:p>
        </p:txBody>
      </p:sp>
      <p:sp>
        <p:nvSpPr>
          <p:cNvPr id="4" name="Slide Number Placeholder 3"/>
          <p:cNvSpPr>
            <a:spLocks noGrp="1"/>
          </p:cNvSpPr>
          <p:nvPr>
            <p:ph type="sldNum" sz="quarter" idx="10"/>
          </p:nvPr>
        </p:nvSpPr>
        <p:spPr/>
        <p:txBody>
          <a:bodyPr/>
          <a:lstStyle/>
          <a:p>
            <a:fld id="{57582FD5-DD72-EA41-90DE-BC5D4D375366}" type="slidenum">
              <a:rPr lang="en-US"/>
              <a:t>31</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Have this ready. An internal audit re-examined every headline claim this year and several did not survive, in both directions.</a:t>
            </a:r>
          </a:p>
          <a:p>
            <a:pPr lvl="0" indent="0" marL="0">
              <a:buNone/>
            </a:pPr>
          </a:p>
          <a:p>
            <a:pPr lvl="0" indent="0" marL="0">
              <a:buNone/>
            </a:pPr>
            <a:r>
              <a:rPr/>
              <a:t>Withdrawn: regional transport of “12 of 12 combinations at 0.50 to 0.56”, which was a fold-assignment bug; the correct figure over all 22 combinations is 0.28. Withdrawn: “26 per cent more burden captured than regional averages”; the honest margin is 2 percentage points, 21.9 against 20.3. Withdrawn: “two-thirds of attainable accuracy”; the ceiling was a diagnostic rather than a bound, and the ratio moves from 48 to 83 per cent depending on which ceiling and which target you pick. Withdrawn in our own favour: a covariate-free baseline at 0.516 that beat us, which turned out not to have been jackknifed.</a:t>
            </a:r>
          </a:p>
          <a:p>
            <a:pPr lvl="0" indent="0" marL="0">
              <a:buNone/>
            </a:pPr>
          </a:p>
          <a:p>
            <a:pPr lvl="0" indent="0" marL="0">
              <a:buNone/>
            </a:pPr>
            <a:r>
              <a:rPr/>
              <a:t>Also retired: presenting the twelve-learner SuperLearner ensemble as the model. It lost to an untuned index at these sample sizes, and saying otherwise would misdescribe what we fit.</a:t>
            </a:r>
          </a:p>
        </p:txBody>
      </p:sp>
      <p:sp>
        <p:nvSpPr>
          <p:cNvPr id="4" name="Slide Number Placeholder 3"/>
          <p:cNvSpPr>
            <a:spLocks noGrp="1"/>
          </p:cNvSpPr>
          <p:nvPr>
            <p:ph type="sldNum" sz="quarter" idx="10"/>
          </p:nvPr>
        </p:nvSpPr>
        <p:spPr/>
        <p:txBody>
          <a:bodyPr/>
          <a:lstStyle/>
          <a:p>
            <a:fld id="{57582FD5-DD72-EA41-90DE-BC5D4D375366}" type="slidenum">
              <a:rPr lang="en-US"/>
              <a:t>32</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 nutrient-country combination on one axis. The filled point is the model, the cross is the survey’s own regional average, and the bar is the spread over the ten fold draws. Six of the eighteen scored combinations clear 0.5 and average 0.64; the rest average 0.28.</a:t>
            </a:r>
          </a:p>
          <a:p>
            <a:pPr lvl="0" indent="0" marL="0">
              <a:buNone/>
            </a:pPr>
          </a:p>
          <a:p>
            <a:pPr lvl="0" indent="0" marL="0">
              <a:buNone/>
            </a:pPr>
            <a:r>
              <a:rPr/>
              <a:t>Sierra Leone has no row here: with 14 districts a five-fold split leaves eleven to train on, below the twelve the protocol requires, so it is scored only under region and country hold-out.</a:t>
            </a:r>
          </a:p>
        </p:txBody>
      </p:sp>
      <p:sp>
        <p:nvSpPr>
          <p:cNvPr id="4" name="Slide Number Placeholder 3"/>
          <p:cNvSpPr>
            <a:spLocks noGrp="1"/>
          </p:cNvSpPr>
          <p:nvPr>
            <p:ph type="sldNum" sz="quarter" idx="10"/>
          </p:nvPr>
        </p:nvSpPr>
        <p:spPr/>
        <p:txBody>
          <a:bodyPr/>
          <a:lstStyle/>
          <a:p>
            <a:fld id="{57582FD5-DD72-EA41-90DE-BC5D4D375366}" type="slidenum">
              <a:rPr lang="en-US"/>
              <a:t>33</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point is one nutrient in one country. Rarity bites at the extreme: below about 1 per cent the survey finds a handful of deficient respondents per district and its district estimates are mostly zero, so no predictor can recover an order. Above that, the spread is about the survey more than the nutrient.</a:t>
            </a:r>
          </a:p>
        </p:txBody>
      </p:sp>
      <p:sp>
        <p:nvSpPr>
          <p:cNvPr id="4" name="Slide Number Placeholder 3"/>
          <p:cNvSpPr>
            <a:spLocks noGrp="1"/>
          </p:cNvSpPr>
          <p:nvPr>
            <p:ph type="sldNum" sz="quarter" idx="10"/>
          </p:nvPr>
        </p:nvSpPr>
        <p:spPr/>
        <p:txBody>
          <a:bodyPr/>
          <a:lstStyle/>
          <a:p>
            <a:fld id="{57582FD5-DD72-EA41-90DE-BC5D4D375366}" type="slidenum">
              <a:rPr lang="en-US"/>
              <a:t>34</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Leave-one-region-out, where a spatial smoother has to extrapolate past the edge of its data. The index scores 0.39 on the biomarker level against 0.38 for the smoother; the penalised fits collapse. Ghana and Malawi are the countries where this estimand is well determined.</a:t>
            </a:r>
          </a:p>
        </p:txBody>
      </p:sp>
      <p:sp>
        <p:nvSpPr>
          <p:cNvPr id="4" name="Slide Number Placeholder 3"/>
          <p:cNvSpPr>
            <a:spLocks noGrp="1"/>
          </p:cNvSpPr>
          <p:nvPr>
            <p:ph type="sldNum" sz="quarter" idx="10"/>
          </p:nvPr>
        </p:nvSpPr>
        <p:spPr/>
        <p:txBody>
          <a:bodyPr/>
          <a:lstStyle/>
          <a:p>
            <a:fld id="{57582FD5-DD72-EA41-90DE-BC5D4D375366}" type="slidenum">
              <a:rPr lang="en-US"/>
              <a:t>35</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Trained on three countries and applied to the fourth. The full vocabulary scores 0.30 at district level, positive in 18 of 22 combinations, against a country-block permutation null whose 95th percentile is 0.08.</a:t>
            </a:r>
          </a:p>
          <a:p>
            <a:pPr lvl="0" indent="0" marL="0">
              <a:buNone/>
            </a:pPr>
          </a:p>
          <a:p>
            <a:pPr lvl="0" indent="0" marL="0">
              <a:buNone/>
            </a:pPr>
            <a:r>
              <a:rPr/>
              <a:t>The bottom panel is why levels do not travel: the surveys’ national mean biomarker concentrations differ several-fold, so a transported prevalence would be wrong before it started. What crosses a border is the order of districts.</a:t>
            </a:r>
          </a:p>
        </p:txBody>
      </p:sp>
      <p:sp>
        <p:nvSpPr>
          <p:cNvPr id="4" name="Slide Number Placeholder 3"/>
          <p:cNvSpPr>
            <a:spLocks noGrp="1"/>
          </p:cNvSpPr>
          <p:nvPr>
            <p:ph type="sldNum" sz="quarter" idx="10"/>
          </p:nvPr>
        </p:nvSpPr>
        <p:spPr/>
        <p:txBody>
          <a:bodyPr/>
          <a:lstStyle/>
          <a:p>
            <a:fld id="{57582FD5-DD72-EA41-90DE-BC5D4D375366}" type="slidenum">
              <a:rPr lang="en-US"/>
              <a:t>36</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Climate and soil alone transport at 0.38, better than the full 383-column vocabulary at 0.30. Adding the anaemia surfaces, agriculture and infection reaches 0.41.</a:t>
            </a:r>
          </a:p>
          <a:p>
            <a:pPr lvl="0" indent="0" marL="0">
              <a:buNone/>
            </a:pPr>
          </a:p>
          <a:p>
            <a:pPr lvl="0" indent="0" marL="0">
              <a:buNone/>
            </a:pPr>
            <a:r>
              <a:rPr/>
              <a:t>The honest caveat, and the reason 0.30 is the number quoted in the main body: both sets were chosen on the same 22 combinations they are scored on. Honest nested selection inside the training fold gives 0.31, no better than the full index. Both are pre-registered as candidates for the fifth survey rather than reported as findings.</a:t>
            </a:r>
          </a:p>
        </p:txBody>
      </p:sp>
      <p:sp>
        <p:nvSpPr>
          <p:cNvPr id="4" name="Slide Number Placeholder 3"/>
          <p:cNvSpPr>
            <a:spLocks noGrp="1"/>
          </p:cNvSpPr>
          <p:nvPr>
            <p:ph type="sldNum" sz="quarter" idx="10"/>
          </p:nvPr>
        </p:nvSpPr>
        <p:spPr/>
        <p:txBody>
          <a:bodyPr/>
          <a:lstStyle/>
          <a:p>
            <a:fld id="{57582FD5-DD72-EA41-90DE-BC5D4D375366}" type="slidenum">
              <a:rPr lang="en-US"/>
              <a:t>37</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Women’s iron in Ghana. What the survey measured; what the model predicts with each district held out; the model applied to every district, level-calibrated and anchored; and the calibrated chance that each district sits at or above the WHO moderate line.</a:t>
            </a:r>
          </a:p>
          <a:p>
            <a:pPr lvl="0" indent="0" marL="0">
              <a:buNone/>
            </a:pPr>
          </a:p>
          <a:p>
            <a:pPr lvl="0" indent="0" marL="0">
              <a:buNone/>
            </a:pPr>
            <a:r>
              <a:rPr/>
              <a:t>The fourth panel is a checked probability (CP-01, 27 September): it comes from out-of-fold conformal residuals whose 90 per cent band covers the survey’s own district value 91 per cent of the time under leave-one-out. The honest band is about 20 points either side here, much of it the survey’s own single-cluster noise.</a:t>
            </a:r>
          </a:p>
        </p:txBody>
      </p:sp>
      <p:sp>
        <p:nvSpPr>
          <p:cNvPr id="4" name="Slide Number Placeholder 3"/>
          <p:cNvSpPr>
            <a:spLocks noGrp="1"/>
          </p:cNvSpPr>
          <p:nvPr>
            <p:ph type="sldNum" sz="quarter" idx="10"/>
          </p:nvPr>
        </p:nvSpPr>
        <p:spPr/>
        <p:txBody>
          <a:bodyPr/>
          <a:lstStyle/>
          <a:p>
            <a:fld id="{57582FD5-DD72-EA41-90DE-BC5D4D375366}" type="slidenum">
              <a:rPr lang="en-US"/>
              <a:t>38</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Women’s iron in Malawi. Note that Malawi’s units are Traditional Authorities inside 27 districts, which is one reason its accuracy is lower: many proxy layers resolve to the district, not below it. The fourth panel is the calibrated chance of sitting at or above the WHO moderate line, as on the Ghana slide; this cell’s honest band is about 32 points either side.</a:t>
            </a:r>
          </a:p>
        </p:txBody>
      </p:sp>
      <p:sp>
        <p:nvSpPr>
          <p:cNvPr id="4" name="Slide Number Placeholder 3"/>
          <p:cNvSpPr>
            <a:spLocks noGrp="1"/>
          </p:cNvSpPr>
          <p:nvPr>
            <p:ph type="sldNum" sz="quarter" idx="10"/>
          </p:nvPr>
        </p:nvSpPr>
        <p:spPr/>
        <p:txBody>
          <a:bodyPr/>
          <a:lstStyle/>
          <a:p>
            <a:fld id="{57582FD5-DD72-EA41-90DE-BC5D4D375366}" type="slidenum">
              <a:rPr lang="en-US"/>
              <a:t>39</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judging the model, look at what it is judged against. Hatched districts hold a single survey cluster, so their value is one community’s respondents. The number under each title is how well a perfect predictor of the true district value could correlate with this map: roughly 0.5 to 0.7. That is the bar, not 1.0.</a:t>
            </a:r>
          </a:p>
        </p:txBody>
      </p:sp>
      <p:sp>
        <p:nvSpPr>
          <p:cNvPr id="4" name="Slide Number Placeholder 3"/>
          <p:cNvSpPr>
            <a:spLocks noGrp="1"/>
          </p:cNvSpPr>
          <p:nvPr>
            <p:ph type="sldNum" sz="quarter" idx="10"/>
          </p:nvPr>
        </p:nvSpPr>
        <p:spPr/>
        <p:txBody>
          <a:bodyPr/>
          <a:lstStyle/>
          <a:p>
            <a:fld id="{57582FD5-DD72-EA41-90DE-BC5D4D375366}" type="slidenum">
              <a:rPr lang="en-US"/>
              <a:t>40</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district’s survey estimate against its held-out prediction. Three things to read. The cloud is tilted but not on the line: the model ranks, and compresses the range, because it is rescaled to the training spread. Hollow points are single-cluster districts, and much of the vertical scatter around them is the survey’s noise rather than the model’s. The largest circles, the districts with the most respondents, sit closest to the line.</a:t>
            </a:r>
          </a:p>
        </p:txBody>
      </p:sp>
      <p:sp>
        <p:nvSpPr>
          <p:cNvPr id="4" name="Slide Number Placeholder 3"/>
          <p:cNvSpPr>
            <a:spLocks noGrp="1"/>
          </p:cNvSpPr>
          <p:nvPr>
            <p:ph type="sldNum" sz="quarter" idx="10"/>
          </p:nvPr>
        </p:nvSpPr>
        <p:spPr/>
        <p:txBody>
          <a:bodyPr/>
          <a:lstStyle/>
          <a:p>
            <a:fld id="{57582FD5-DD72-EA41-90DE-BC5D4D375366}" type="slidenum">
              <a:rPr lang="en-US"/>
              <a:t>41</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held-out district predictions and the survey, both aggregated to regions. This is the resolution the surveys were designed to be read at, and the comparison a ministry statistician makes first. The regional pattern is recovered in each country.</a:t>
            </a:r>
          </a:p>
        </p:txBody>
      </p:sp>
      <p:sp>
        <p:nvSpPr>
          <p:cNvPr id="4" name="Slide Number Placeholder 3"/>
          <p:cNvSpPr>
            <a:spLocks noGrp="1"/>
          </p:cNvSpPr>
          <p:nvPr>
            <p:ph type="sldNum" sz="quarter" idx="10"/>
          </p:nvPr>
        </p:nvSpPr>
        <p:spPr/>
        <p:txBody>
          <a:bodyPr/>
          <a:lstStyle/>
          <a:p>
            <a:fld id="{57582FD5-DD72-EA41-90DE-BC5D4D375366}" type="slidenum">
              <a:rPr lang="en-US"/>
              <a:t>42</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 “what is the prevalence” but “how likely is it to be above the line a programme acts on”. Ghana, child vitamin A, and since 27 September the probability is calibrated (CP-01): a conformal predictive distribution over out-of-fold residuals whose 90 per cent band covers the survey’s own district value 91 per cent of the time. 53 districts are above the 20 per cent line with at least 80 per cent probability, none is confidently below it, and 207 are honestly undecided - the resampling version of this map claimed 186 districts were confidently below, and resampling bands cover the survey’s value only 8 per cent of the time, which is why it was replaced. The honest band here is about 29 points either side, much of it the survey’s own single-cluster noise.</a:t>
            </a:r>
          </a:p>
          <a:p>
            <a:pPr lvl="0" indent="0" marL="0">
              <a:buNone/>
            </a:pPr>
          </a:p>
          <a:p>
            <a:pPr lvl="0" indent="0" marL="0">
              <a:buNone/>
            </a:pPr>
            <a:r>
              <a:rPr/>
              <a:t>The level comes from Ghana’s own survey. For a country with no survey the level would come from the national anchor and the map would read as a planning figure.</a:t>
            </a:r>
          </a:p>
        </p:txBody>
      </p:sp>
      <p:sp>
        <p:nvSpPr>
          <p:cNvPr id="4" name="Slide Number Placeholder 3"/>
          <p:cNvSpPr>
            <a:spLocks noGrp="1"/>
          </p:cNvSpPr>
          <p:nvPr>
            <p:ph type="sldNum" sz="quarter" idx="10"/>
          </p:nvPr>
        </p:nvSpPr>
        <p:spPr/>
        <p:txBody>
          <a:bodyPr/>
          <a:lstStyle/>
          <a:p>
            <a:fld id="{57582FD5-DD72-EA41-90DE-BC5D4D375366}" type="slidenum">
              <a:rPr lang="en-US"/>
              <a:t>43</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calibration check behind the “stability, not truth” caveat. Holding each surveyed country out, the survey’s rank falls inside the nominal 90 per cent interval 38 per cent of the time, 16 to 70 per cent across combinations. An honestly calibrated 90 per cent interval would be 55 per cent of the list either side, against 68 for a random ordering.</a:t>
            </a:r>
          </a:p>
          <a:p>
            <a:pPr lvl="0" indent="0" marL="0">
              <a:buNone/>
            </a:pPr>
          </a:p>
          <a:p>
            <a:pPr lvl="0" indent="0" marL="0">
              <a:buNone/>
            </a:pPr>
            <a:r>
              <a:rPr/>
              <a:t>Which is why the useful statement is a class probability, not an interval: worst-third calls land 52 per cent of the time against 33 by chance.</a:t>
            </a:r>
          </a:p>
          <a:p>
            <a:pPr lvl="0" indent="0" marL="0">
              <a:buNone/>
            </a:pPr>
          </a:p>
          <a:p>
            <a:pPr lvl="0" indent="0" marL="0">
              <a:buNone/>
            </a:pPr>
            <a:r>
              <a:rPr/>
              <a:t>That is the RANK side. The percentage side was fixed on 27 September: planning prevalences now carry conformally calibrated 90 per cent bands (covering the survey’s own value 91 per cent of the time under leave-one-out, against 8 for the old resampling bands; median half-width 26 points, much of it survey noise), and the WHO-threshold chances are calibrated probabilities from the same residuals.</a:t>
            </a:r>
          </a:p>
        </p:txBody>
      </p:sp>
      <p:sp>
        <p:nvSpPr>
          <p:cNvPr id="4" name="Slide Number Placeholder 3"/>
          <p:cNvSpPr>
            <a:spLocks noGrp="1"/>
          </p:cNvSpPr>
          <p:nvPr>
            <p:ph type="sldNum" sz="quarter" idx="10"/>
          </p:nvPr>
        </p:nvSpPr>
        <p:spPr/>
        <p:txBody>
          <a:bodyPr/>
          <a:lstStyle/>
          <a:p>
            <a:fld id="{57582FD5-DD72-EA41-90DE-BC5D4D375366}" type="slidenum">
              <a:rPr lang="en-US"/>
              <a:t>44</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index is linear in the rank-normalised predictors, so each district’s score decomposes exactly into per-predictor contributions — the SHAP-style view, computed rather than approximated. One row per predictor, one point per surveyed district, colour showing where the district sits on that predictor. A wide row separates districts strongly; a predictor with a modest average weight can still move a handful of districts a long way.</a:t>
            </a:r>
          </a:p>
        </p:txBody>
      </p:sp>
      <p:sp>
        <p:nvSpPr>
          <p:cNvPr id="4" name="Slide Number Placeholder 3"/>
          <p:cNvSpPr>
            <a:spLocks noGrp="1"/>
          </p:cNvSpPr>
          <p:nvPr>
            <p:ph type="sldNum" sz="quarter" idx="10"/>
          </p:nvPr>
        </p:nvSpPr>
        <p:spPr/>
        <p:txBody>
          <a:bodyPr/>
          <a:lstStyle/>
          <a:p>
            <a:fld id="{57582FD5-DD72-EA41-90DE-BC5D4D375366}" type="slidenum">
              <a:rPr lang="en-US"/>
              <a:t>45</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twelve heaviest predictors for children’s iron, pooled over the four countries. No single predictor carries more than a few per cent: the index is a sum of many small signals, mostly about landscape and livelihoods, not one master variable.</a:t>
            </a:r>
          </a:p>
          <a:p>
            <a:pPr lvl="0" indent="0" marL="0">
              <a:buNone/>
            </a:pPr>
          </a:p>
          <a:p>
            <a:pPr lvl="0" indent="0" marL="0">
              <a:buNone/>
            </a:pPr>
            <a:r>
              <a:rPr/>
              <a:t>Asked whether these are causes: they are not. The weights say where deficiency is.</a:t>
            </a:r>
          </a:p>
        </p:txBody>
      </p:sp>
      <p:sp>
        <p:nvSpPr>
          <p:cNvPr id="4" name="Slide Number Placeholder 3"/>
          <p:cNvSpPr>
            <a:spLocks noGrp="1"/>
          </p:cNvSpPr>
          <p:nvPr>
            <p:ph type="sldNum" sz="quarter" idx="10"/>
          </p:nvPr>
        </p:nvSpPr>
        <p:spPr/>
        <p:txBody>
          <a:bodyPr/>
          <a:lstStyle/>
          <a:p>
            <a:fld id="{57582FD5-DD72-EA41-90DE-BC5D4D375366}" type="slidenum">
              <a:rPr lang="en-US"/>
              <a:t>46</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twenty largest weights in the best-predicted combination in the study, with intervals from 300 bootstrap refits of Malawi’s 87 surveyed units. Every one keeps its sign in at least 95 per cent of refits.</a:t>
            </a:r>
          </a:p>
          <a:p>
            <a:pPr lvl="0" indent="0" marL="0">
              <a:buNone/>
            </a:pPr>
          </a:p>
          <a:p>
            <a:pPr lvl="0" indent="0" marL="0">
              <a:buNone/>
            </a:pPr>
            <a:r>
              <a:rPr/>
              <a:t>Districts where more infants are fed meat or fish, more households ate fish last week, and the wealth score is higher have better B12; poorer, grassier districts further from water have worse. The anaemia and malaria surfaces run the other way, which is the surrogate-marker story on the Malawi maps slide.</a:t>
            </a:r>
          </a:p>
        </p:txBody>
      </p:sp>
      <p:sp>
        <p:nvSpPr>
          <p:cNvPr id="4" name="Slide Number Placeholder 3"/>
          <p:cNvSpPr>
            <a:spLocks noGrp="1"/>
          </p:cNvSpPr>
          <p:nvPr>
            <p:ph type="sldNum" sz="quarter" idx="10"/>
          </p:nvPr>
        </p:nvSpPr>
        <p:spPr/>
        <p:txBody>
          <a:bodyPr/>
          <a:lstStyle/>
          <a:p>
            <a:fld id="{57582FD5-DD72-EA41-90DE-BC5D4D375366}" type="slidenum">
              <a:rPr lang="en-US"/>
              <a:t>47</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Drop each domain in turn, rebuild the components, and see what the transported ranking loses. Climate and soil are load-bearing at about 0.025 each; the anaemia surfaces, agriculture and greenness follow. Seven of 21 domains cost nothing or help when removed — the household-survey items among them.</a:t>
            </a:r>
          </a:p>
          <a:p>
            <a:pPr lvl="0" indent="0" marL="0">
              <a:buNone/>
            </a:pPr>
          </a:p>
          <a:p>
            <a:pPr lvl="0" indent="0" marL="0">
              <a:buNone/>
            </a:pPr>
            <a:r>
              <a:rPr/>
              <a:t>The physical environment is what carries across a border, and it is also the part a country without a survey can simply download.</a:t>
            </a:r>
          </a:p>
        </p:txBody>
      </p:sp>
      <p:sp>
        <p:nvSpPr>
          <p:cNvPr id="4" name="Slide Number Placeholder 3"/>
          <p:cNvSpPr>
            <a:spLocks noGrp="1"/>
          </p:cNvSpPr>
          <p:nvPr>
            <p:ph type="sldNum" sz="quarter" idx="10"/>
          </p:nvPr>
        </p:nvSpPr>
        <p:spPr/>
        <p:txBody>
          <a:bodyPr/>
          <a:lstStyle/>
          <a:p>
            <a:fld id="{57582FD5-DD72-EA41-90DE-BC5D4D375366}" type="slidenum">
              <a:rPr lang="en-US"/>
              <a:t>48</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Indicators whose district-level association holds the same sign in every country that measured the outcome, ranked by pooled meta-analytic z. Positive means more deficiency.</a:t>
            </a:r>
          </a:p>
          <a:p>
            <a:pPr lvl="0" indent="0" marL="0">
              <a:buNone/>
            </a:pPr>
          </a:p>
          <a:p>
            <a:pPr lvl="0" indent="0" marL="0">
              <a:buNone/>
            </a:pPr>
            <a:r>
              <a:rPr/>
              <a:t>Read the ecological-fallacy signature honestly: legume cultivation and cattle ownership track more deficiency at district level, the reverse of the household-level dietary relationship. The replicated axis is rural subsistence agro-ecology — useful for deciding where to look, uninformative about what to change.</a:t>
            </a:r>
          </a:p>
        </p:txBody>
      </p:sp>
      <p:sp>
        <p:nvSpPr>
          <p:cNvPr id="4" name="Slide Number Placeholder 3"/>
          <p:cNvSpPr>
            <a:spLocks noGrp="1"/>
          </p:cNvSpPr>
          <p:nvPr>
            <p:ph type="sldNum" sz="quarter" idx="10"/>
          </p:nvPr>
        </p:nvSpPr>
        <p:spPr/>
        <p:txBody>
          <a:bodyPr/>
          <a:lstStyle/>
          <a:p>
            <a:fld id="{57582FD5-DD72-EA41-90DE-BC5D4D375366}" type="slidenum">
              <a:rPr lang="en-US"/>
              <a:t>49</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ways to get district numbers, costed in units of survey sample. A national sample at 5 per cent of a full survey, with the transported ranking spread across districts, gives a median district error of about 9 to 10 percentage points; a district-representative survey needs a quarter to two-fifths of a full sample to match it.</a:t>
            </a:r>
          </a:p>
          <a:p>
            <a:pPr lvl="0" indent="0" marL="0">
              <a:buNone/>
            </a:pPr>
          </a:p>
          <a:p>
            <a:pPr lvl="0" indent="0" marL="0">
              <a:buNone/>
            </a:pPr>
            <a:r>
              <a:rPr/>
              <a:t>Two honest counterpoints. A regional survey at 10 to 15 per cent does the same job on level. And the anchored design loses to a district survey on burden captured at every size, because burden sits in populous districts that a survey measures precisely. Not a replacement; a cheaper first pass.</a:t>
            </a:r>
          </a:p>
        </p:txBody>
      </p:sp>
      <p:sp>
        <p:nvSpPr>
          <p:cNvPr id="4" name="Slide Number Placeholder 3"/>
          <p:cNvSpPr>
            <a:spLocks noGrp="1"/>
          </p:cNvSpPr>
          <p:nvPr>
            <p:ph type="sldNum" sz="quarter" idx="10"/>
          </p:nvPr>
        </p:nvSpPr>
        <p:spPr/>
        <p:txBody>
          <a:bodyPr/>
          <a:lstStyle/>
          <a:p>
            <a:fld id="{57582FD5-DD72-EA41-90DE-BC5D4D375366}" type="slidenum">
              <a:rPr lang="en-US"/>
              <a:t>50</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 subset of training countries scored on each held-out country. About +0.05 of transported accuracy per country added, monotone across all four specifications, and not flattened at three.</a:t>
            </a:r>
          </a:p>
          <a:p>
            <a:pPr lvl="0" indent="0" marL="0">
              <a:buNone/>
            </a:pPr>
          </a:p>
          <a:p>
            <a:pPr lvl="0" indent="0" marL="0">
              <a:buNone/>
            </a:pPr>
            <a:r>
              <a:rPr/>
              <a:t>The qualifier to volunteer: the gain is in The Gambia and Ghana as held-out countries; Malawi and Sierra Leone have not improved.</a:t>
            </a:r>
          </a:p>
        </p:txBody>
      </p:sp>
      <p:sp>
        <p:nvSpPr>
          <p:cNvPr id="4" name="Slide Number Placeholder 3"/>
          <p:cNvSpPr>
            <a:spLocks noGrp="1"/>
          </p:cNvSpPr>
          <p:nvPr>
            <p:ph type="sldNum" sz="quarter" idx="10"/>
          </p:nvPr>
        </p:nvSpPr>
        <p:spPr/>
        <p:txBody>
          <a:bodyPr/>
          <a:lstStyle/>
          <a:p>
            <a:fld id="{57582FD5-DD72-EA41-90DE-BC5D4D375366}" type="slidenum">
              <a:rPr lang="en-US"/>
              <a:t>51</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January approach, retained as a sensitivity analysis. A person-level ensemble under district-blocked folds has a mean AUC of 0.50 on district proxies, 0.52 on the survey’s own respondent variables, and 0.53 on both. Person-level skill exists for iron only.</a:t>
            </a:r>
          </a:p>
          <a:p>
            <a:pPr lvl="0" indent="0" marL="0">
              <a:buNone/>
            </a:pPr>
          </a:p>
          <a:p>
            <a:pPr lvl="0" indent="0" marL="0">
              <a:buNone/>
            </a:pPr>
            <a:r>
              <a:rPr/>
              <a:t>The earlier figure of 20 to 60 per cent Brier skill came from folds that were not blocked by district and a variable set that included biomarker-adjacent columns. Aggregating a person-level classifier also biases area means, which is why the area-level model is the headline.</a:t>
            </a:r>
          </a:p>
        </p:txBody>
      </p:sp>
      <p:sp>
        <p:nvSpPr>
          <p:cNvPr id="4" name="Slide Number Placeholder 3"/>
          <p:cNvSpPr>
            <a:spLocks noGrp="1"/>
          </p:cNvSpPr>
          <p:nvPr>
            <p:ph type="sldNum" sz="quarter" idx="10"/>
          </p:nvPr>
        </p:nvSpPr>
        <p:spPr/>
        <p:txBody>
          <a:bodyPr/>
          <a:lstStyle/>
          <a:p>
            <a:fld id="{57582FD5-DD72-EA41-90DE-BC5D4D375366}" type="slidenum">
              <a:rPr lang="en-US"/>
              <a:t>52</a:t>
            </a:fld>
            <a:endParaRPr lang="en-US"/>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SONJA, about 20 seconds (51 words). Good morning. I am Sonja Hess, from UC Davis, and this is joint work with Andrew Mertens at Berkeley and the survey teams you will see named in a moment. We are going to show you what public data can and cannot tell you about micronutrient deficiency at the district level.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nchor="b"/>
          <a:lstStyle>
            <a:lvl1pPr algn="ctr">
              <a:defRPr sz="3600"/>
            </a:lvl1pPr>
          </a:lstStyle>
          <a:p>
            <a:r>
              <a:rPr lang="en-GB"/>
              <a:t>Click to edit Master title style</a:t>
            </a:r>
            <a:endParaRPr lang="en-BG"/>
          </a:p>
        </p:txBody>
      </p:sp>
      <p:sp>
        <p:nvSpPr>
          <p:cNvPr id="3" name="Subtitle 2">
            <a:extLst>
              <a:ext uri="{FF2B5EF4-FFF2-40B4-BE49-F238E27FC236}">
                <a16:creationId xmlns:a16="http://schemas.microsoft.com/office/drawing/2014/main" id="{BFE7854F-01CE-7662-EA6B-3FD1C4D423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G"/>
          </a:p>
        </p:txBody>
      </p:sp>
      <p:sp>
        <p:nvSpPr>
          <p:cNvPr id="4" name="Date Placeholder 3">
            <a:extLst>
              <a:ext uri="{FF2B5EF4-FFF2-40B4-BE49-F238E27FC236}">
                <a16:creationId xmlns:a16="http://schemas.microsoft.com/office/drawing/2014/main" id="{2263929F-88AA-CA48-AF0A-AC827F137431}"/>
              </a:ext>
            </a:extLst>
          </p:cNvPr>
          <p:cNvSpPr>
            <a:spLocks noGrp="1"/>
          </p:cNvSpPr>
          <p:nvPr>
            <p:ph type="dt" sz="half" idx="10"/>
          </p:nvPr>
        </p:nvSpPr>
        <p:spPr/>
        <p:txBody>
          <a:bodyPr/>
          <a:lstStyle/>
          <a:p>
            <a:fld id="{4DA0349A-A6D6-3945-B600-E696345C6FEC}" type="datetime1">
              <a:rPr lang="en-US" smtClean="0"/>
              <a:t>6/15/2026</a:t>
            </a:fld>
            <a:endParaRPr lang="en-BG"/>
          </a:p>
        </p:txBody>
      </p:sp>
      <p:sp>
        <p:nvSpPr>
          <p:cNvPr id="5" name="Footer Placeholder 4">
            <a:extLst>
              <a:ext uri="{FF2B5EF4-FFF2-40B4-BE49-F238E27FC236}">
                <a16:creationId xmlns:a16="http://schemas.microsoft.com/office/drawing/2014/main" id="{D43DC429-1CDF-1153-5178-688B4F993C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27197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869312CD-D207-4B39-1878-4998D48F0B8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2396E2FA-EC7F-8687-8A05-DAF60C6BE25C}"/>
              </a:ext>
            </a:extLst>
          </p:cNvPr>
          <p:cNvSpPr>
            <a:spLocks noGrp="1"/>
          </p:cNvSpPr>
          <p:nvPr>
            <p:ph type="dt" sz="half" idx="10"/>
          </p:nvPr>
        </p:nvSpPr>
        <p:spPr/>
        <p:txBody>
          <a:bodyPr/>
          <a:lstStyle/>
          <a:p>
            <a:fld id="{A569796A-BA6B-7A47-9589-BE2D5549C8C0}" type="datetime1">
              <a:rPr lang="en-US" smtClean="0"/>
              <a:t>6/15/2026</a:t>
            </a:fld>
            <a:endParaRPr lang="en-BG"/>
          </a:p>
        </p:txBody>
      </p:sp>
      <p:sp>
        <p:nvSpPr>
          <p:cNvPr id="5" name="Footer Placeholder 4">
            <a:extLst>
              <a:ext uri="{FF2B5EF4-FFF2-40B4-BE49-F238E27FC236}">
                <a16:creationId xmlns:a16="http://schemas.microsoft.com/office/drawing/2014/main" id="{9D9141D3-7475-FFFE-CCE2-86C5E41D7464}"/>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866589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G"/>
          </a:p>
        </p:txBody>
      </p:sp>
      <p:sp>
        <p:nvSpPr>
          <p:cNvPr id="3" name="Text Placeholder 2">
            <a:extLst>
              <a:ext uri="{FF2B5EF4-FFF2-40B4-BE49-F238E27FC236}">
                <a16:creationId xmlns:a16="http://schemas.microsoft.com/office/drawing/2014/main" id="{E0FFC3BD-80C6-9769-80B9-A6BD93E24B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B9FBFEB-1288-7C7C-472C-12E4A72BA29F}"/>
              </a:ext>
            </a:extLst>
          </p:cNvPr>
          <p:cNvSpPr>
            <a:spLocks noGrp="1"/>
          </p:cNvSpPr>
          <p:nvPr>
            <p:ph type="dt" sz="half" idx="10"/>
          </p:nvPr>
        </p:nvSpPr>
        <p:spPr/>
        <p:txBody>
          <a:bodyPr/>
          <a:lstStyle/>
          <a:p>
            <a:fld id="{BCC84B04-1F41-EF4B-98F8-4C038AD3A24D}" type="datetime1">
              <a:rPr lang="en-US" smtClean="0"/>
              <a:t>6/15/2026</a:t>
            </a:fld>
            <a:endParaRPr lang="en-BG"/>
          </a:p>
        </p:txBody>
      </p:sp>
      <p:sp>
        <p:nvSpPr>
          <p:cNvPr id="5" name="Footer Placeholder 4">
            <a:extLst>
              <a:ext uri="{FF2B5EF4-FFF2-40B4-BE49-F238E27FC236}">
                <a16:creationId xmlns:a16="http://schemas.microsoft.com/office/drawing/2014/main" id="{9B9D6253-509A-1620-5684-CC17C908751B}"/>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345100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r>
              <a:rPr lang="en-GB"/>
              <a:t>Click to edit Master title style</a:t>
            </a:r>
            <a:endParaRPr lang="en-BG"/>
          </a:p>
        </p:txBody>
      </p:sp>
      <p:sp>
        <p:nvSpPr>
          <p:cNvPr id="3" name="Content Placeholder 2">
            <a:extLst>
              <a:ext uri="{FF2B5EF4-FFF2-40B4-BE49-F238E27FC236}">
                <a16:creationId xmlns:a16="http://schemas.microsoft.com/office/drawing/2014/main" id="{03B2A08F-AE11-FC4E-33FC-623D7AA3EFB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Content Placeholder 3">
            <a:extLst>
              <a:ext uri="{FF2B5EF4-FFF2-40B4-BE49-F238E27FC236}">
                <a16:creationId xmlns:a16="http://schemas.microsoft.com/office/drawing/2014/main" id="{4327201C-1AB1-5155-A12D-BBF575B2CA5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Date Placeholder 4">
            <a:extLst>
              <a:ext uri="{FF2B5EF4-FFF2-40B4-BE49-F238E27FC236}">
                <a16:creationId xmlns:a16="http://schemas.microsoft.com/office/drawing/2014/main" id="{631F99A8-E26C-E011-1C1A-576810E2FE41}"/>
              </a:ext>
            </a:extLst>
          </p:cNvPr>
          <p:cNvSpPr>
            <a:spLocks noGrp="1"/>
          </p:cNvSpPr>
          <p:nvPr>
            <p:ph type="dt" sz="half" idx="10"/>
          </p:nvPr>
        </p:nvSpPr>
        <p:spPr/>
        <p:txBody>
          <a:bodyPr/>
          <a:lstStyle/>
          <a:p>
            <a:fld id="{AD77CCEF-7735-3946-801D-962C1B28F1D5}" type="datetime1">
              <a:rPr lang="en-US" smtClean="0"/>
              <a:t>6/15/2026</a:t>
            </a:fld>
            <a:endParaRPr lang="en-BG"/>
          </a:p>
        </p:txBody>
      </p:sp>
      <p:sp>
        <p:nvSpPr>
          <p:cNvPr id="6" name="Footer Placeholder 5">
            <a:extLst>
              <a:ext uri="{FF2B5EF4-FFF2-40B4-BE49-F238E27FC236}">
                <a16:creationId xmlns:a16="http://schemas.microsoft.com/office/drawing/2014/main" id="{CDDA6176-5FB6-EB80-4208-0598E8D21C27}"/>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F5B86B62-BAFD-3A50-FBA9-961B856E0252}"/>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41070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095D2-A2BD-30EE-6D2D-7430178F1AEC}"/>
              </a:ext>
            </a:extLst>
          </p:cNvPr>
          <p:cNvSpPr>
            <a:spLocks noGrp="1"/>
          </p:cNvSpPr>
          <p:nvPr>
            <p:ph type="title"/>
          </p:nvPr>
        </p:nvSpPr>
        <p:spPr>
          <a:xfrm>
            <a:off x="839788" y="365125"/>
            <a:ext cx="10515600" cy="1325563"/>
          </a:xfrm>
        </p:spPr>
        <p:txBody>
          <a:bodyPr/>
          <a:lstStyle/>
          <a:p>
            <a:r>
              <a:rPr lang="en-GB"/>
              <a:t>Click to edit Master title style</a:t>
            </a:r>
            <a:endParaRPr lang="en-BG"/>
          </a:p>
        </p:txBody>
      </p:sp>
      <p:sp>
        <p:nvSpPr>
          <p:cNvPr id="3" name="Text Placeholder 2">
            <a:extLst>
              <a:ext uri="{FF2B5EF4-FFF2-40B4-BE49-F238E27FC236}">
                <a16:creationId xmlns:a16="http://schemas.microsoft.com/office/drawing/2014/main" id="{2690CC31-127F-0D5F-D3C5-7E9ECCD437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86C0E15-4E28-7987-AF1B-0DA8E286E3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5" name="Text Placeholder 4">
            <a:extLst>
              <a:ext uri="{FF2B5EF4-FFF2-40B4-BE49-F238E27FC236}">
                <a16:creationId xmlns:a16="http://schemas.microsoft.com/office/drawing/2014/main" id="{8F8A81A2-A428-6A78-7486-E1E749F46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0213699-AAD7-5D56-83F8-C8055F185AA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7" name="Date Placeholder 6">
            <a:extLst>
              <a:ext uri="{FF2B5EF4-FFF2-40B4-BE49-F238E27FC236}">
                <a16:creationId xmlns:a16="http://schemas.microsoft.com/office/drawing/2014/main" id="{CF37350C-26C0-7FD2-EB4E-D43A06C2797C}"/>
              </a:ext>
            </a:extLst>
          </p:cNvPr>
          <p:cNvSpPr>
            <a:spLocks noGrp="1"/>
          </p:cNvSpPr>
          <p:nvPr>
            <p:ph type="dt" sz="half" idx="10"/>
          </p:nvPr>
        </p:nvSpPr>
        <p:spPr/>
        <p:txBody>
          <a:bodyPr/>
          <a:lstStyle/>
          <a:p>
            <a:fld id="{500B6463-0D64-2746-95DF-3D8E93807C79}" type="datetime1">
              <a:rPr lang="en-US" smtClean="0"/>
              <a:t>6/15/2026</a:t>
            </a:fld>
            <a:endParaRPr lang="en-BG"/>
          </a:p>
        </p:txBody>
      </p:sp>
      <p:sp>
        <p:nvSpPr>
          <p:cNvPr id="8" name="Footer Placeholder 7">
            <a:extLst>
              <a:ext uri="{FF2B5EF4-FFF2-40B4-BE49-F238E27FC236}">
                <a16:creationId xmlns:a16="http://schemas.microsoft.com/office/drawing/2014/main" id="{579BB519-C431-4AFC-1999-6C78D2976776}"/>
              </a:ext>
            </a:extLst>
          </p:cNvPr>
          <p:cNvSpPr>
            <a:spLocks noGrp="1"/>
          </p:cNvSpPr>
          <p:nvPr>
            <p:ph type="ftr" sz="quarter" idx="11"/>
          </p:nvPr>
        </p:nvSpPr>
        <p:spPr/>
        <p:txBody>
          <a:bodyPr/>
          <a:lstStyle/>
          <a:p>
            <a:r>
              <a:rPr lang="en-GB"/>
              <a:t>Micronutrient Forum 7th Global Conference</a:t>
            </a:r>
            <a:endParaRPr lang="en-BG"/>
          </a:p>
        </p:txBody>
      </p:sp>
      <p:sp>
        <p:nvSpPr>
          <p:cNvPr id="9" name="Slide Number Placeholder 8">
            <a:extLst>
              <a:ext uri="{FF2B5EF4-FFF2-40B4-BE49-F238E27FC236}">
                <a16:creationId xmlns:a16="http://schemas.microsoft.com/office/drawing/2014/main" id="{506ACEE6-300A-374B-3C2B-3F470737D0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187508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7BFBF-ED9A-4C84-23BD-C822C5301144}"/>
              </a:ext>
            </a:extLst>
          </p:cNvPr>
          <p:cNvSpPr>
            <a:spLocks noGrp="1"/>
          </p:cNvSpPr>
          <p:nvPr>
            <p:ph type="title"/>
          </p:nvPr>
        </p:nvSpPr>
        <p:spPr/>
        <p:txBody>
          <a:bodyPr/>
          <a:lstStyle/>
          <a:p>
            <a:r>
              <a:rPr lang="en-GB"/>
              <a:t>Click to edit Master title style</a:t>
            </a:r>
            <a:endParaRPr lang="en-BG"/>
          </a:p>
        </p:txBody>
      </p:sp>
      <p:sp>
        <p:nvSpPr>
          <p:cNvPr id="3" name="Date Placeholder 2">
            <a:extLst>
              <a:ext uri="{FF2B5EF4-FFF2-40B4-BE49-F238E27FC236}">
                <a16:creationId xmlns:a16="http://schemas.microsoft.com/office/drawing/2014/main" id="{BA7E8A34-420D-477F-0CF1-AD19AABC7026}"/>
              </a:ext>
            </a:extLst>
          </p:cNvPr>
          <p:cNvSpPr>
            <a:spLocks noGrp="1"/>
          </p:cNvSpPr>
          <p:nvPr>
            <p:ph type="dt" sz="half" idx="10"/>
          </p:nvPr>
        </p:nvSpPr>
        <p:spPr/>
        <p:txBody>
          <a:bodyPr/>
          <a:lstStyle/>
          <a:p>
            <a:fld id="{D3023895-0D23-8E49-B871-82612DE48DA5}" type="datetime1">
              <a:rPr lang="en-US" smtClean="0"/>
              <a:t>6/15/2026</a:t>
            </a:fld>
            <a:endParaRPr lang="en-BG"/>
          </a:p>
        </p:txBody>
      </p:sp>
      <p:sp>
        <p:nvSpPr>
          <p:cNvPr id="4" name="Footer Placeholder 3">
            <a:extLst>
              <a:ext uri="{FF2B5EF4-FFF2-40B4-BE49-F238E27FC236}">
                <a16:creationId xmlns:a16="http://schemas.microsoft.com/office/drawing/2014/main" id="{33ABF9B4-D5AF-8CFE-C32A-FF037DA4272E}"/>
              </a:ext>
            </a:extLst>
          </p:cNvPr>
          <p:cNvSpPr>
            <a:spLocks noGrp="1"/>
          </p:cNvSpPr>
          <p:nvPr>
            <p:ph type="ftr" sz="quarter" idx="11"/>
          </p:nvPr>
        </p:nvSpPr>
        <p:spPr/>
        <p:txBody>
          <a:bodyPr/>
          <a:lstStyle/>
          <a:p>
            <a:r>
              <a:rPr lang="en-GB"/>
              <a:t>Micronutrient Forum 7th Global Conference</a:t>
            </a:r>
            <a:endParaRPr lang="en-BG"/>
          </a:p>
        </p:txBody>
      </p:sp>
      <p:sp>
        <p:nvSpPr>
          <p:cNvPr id="5" name="Slide Number Placeholder 4">
            <a:extLst>
              <a:ext uri="{FF2B5EF4-FFF2-40B4-BE49-F238E27FC236}">
                <a16:creationId xmlns:a16="http://schemas.microsoft.com/office/drawing/2014/main" id="{810233B8-2DB4-E1E4-D018-07FD0338F6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063980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FE01E9-07FC-C525-ED88-47D4AA1D93D0}"/>
              </a:ext>
            </a:extLst>
          </p:cNvPr>
          <p:cNvSpPr>
            <a:spLocks noGrp="1"/>
          </p:cNvSpPr>
          <p:nvPr>
            <p:ph type="dt" sz="half" idx="10"/>
          </p:nvPr>
        </p:nvSpPr>
        <p:spPr/>
        <p:txBody>
          <a:bodyPr/>
          <a:lstStyle/>
          <a:p>
            <a:fld id="{A2A0016C-4D4C-4444-9C30-4C9311EFABBD}" type="datetime1">
              <a:rPr lang="en-US" smtClean="0"/>
              <a:t>6/15/2026</a:t>
            </a:fld>
            <a:endParaRPr lang="en-BG"/>
          </a:p>
        </p:txBody>
      </p:sp>
      <p:sp>
        <p:nvSpPr>
          <p:cNvPr id="3" name="Footer Placeholder 2">
            <a:extLst>
              <a:ext uri="{FF2B5EF4-FFF2-40B4-BE49-F238E27FC236}">
                <a16:creationId xmlns:a16="http://schemas.microsoft.com/office/drawing/2014/main" id="{4926118E-6E2D-1DE0-6646-1F74AA3D3C87}"/>
              </a:ext>
            </a:extLst>
          </p:cNvPr>
          <p:cNvSpPr>
            <a:spLocks noGrp="1"/>
          </p:cNvSpPr>
          <p:nvPr>
            <p:ph type="ftr" sz="quarter" idx="11"/>
          </p:nvPr>
        </p:nvSpPr>
        <p:spPr/>
        <p:txBody>
          <a:bodyPr/>
          <a:lstStyle/>
          <a:p>
            <a:r>
              <a:rPr lang="en-GB"/>
              <a:t>Micronutrient Forum 7th Global Conference</a:t>
            </a:r>
            <a:endParaRPr lang="en-BG"/>
          </a:p>
        </p:txBody>
      </p:sp>
      <p:sp>
        <p:nvSpPr>
          <p:cNvPr id="4" name="Slide Number Placeholder 3">
            <a:extLst>
              <a:ext uri="{FF2B5EF4-FFF2-40B4-BE49-F238E27FC236}">
                <a16:creationId xmlns:a16="http://schemas.microsoft.com/office/drawing/2014/main" id="{E323B8E6-EA84-3D2F-EBBE-4B10458DA766}"/>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53880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907C-20EF-0CCF-21FB-C006565528E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Content Placeholder 2">
            <a:extLst>
              <a:ext uri="{FF2B5EF4-FFF2-40B4-BE49-F238E27FC236}">
                <a16:creationId xmlns:a16="http://schemas.microsoft.com/office/drawing/2014/main" id="{D4733A89-AC6B-F200-966F-0C32E0376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Text Placeholder 3">
            <a:extLst>
              <a:ext uri="{FF2B5EF4-FFF2-40B4-BE49-F238E27FC236}">
                <a16:creationId xmlns:a16="http://schemas.microsoft.com/office/drawing/2014/main" id="{32A6884C-FEF6-C29D-D749-4050A968F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BBAE82-533D-C866-4FDC-C98150986200}"/>
              </a:ext>
            </a:extLst>
          </p:cNvPr>
          <p:cNvSpPr>
            <a:spLocks noGrp="1"/>
          </p:cNvSpPr>
          <p:nvPr>
            <p:ph type="dt" sz="half" idx="10"/>
          </p:nvPr>
        </p:nvSpPr>
        <p:spPr/>
        <p:txBody>
          <a:bodyPr/>
          <a:lstStyle/>
          <a:p>
            <a:fld id="{2A900CA0-6551-0446-9D2F-5743A643800E}" type="datetime1">
              <a:rPr lang="en-US" smtClean="0"/>
              <a:t>6/15/2026</a:t>
            </a:fld>
            <a:endParaRPr lang="en-BG"/>
          </a:p>
        </p:txBody>
      </p:sp>
      <p:sp>
        <p:nvSpPr>
          <p:cNvPr id="6" name="Footer Placeholder 5">
            <a:extLst>
              <a:ext uri="{FF2B5EF4-FFF2-40B4-BE49-F238E27FC236}">
                <a16:creationId xmlns:a16="http://schemas.microsoft.com/office/drawing/2014/main" id="{DF4ED846-F849-8890-E522-44465A5EB4D3}"/>
              </a:ext>
            </a:extLst>
          </p:cNvPr>
          <p:cNvSpPr>
            <a:spLocks noGrp="1"/>
          </p:cNvSpPr>
          <p:nvPr>
            <p:ph type="ftr" sz="quarter" idx="11"/>
          </p:nvPr>
        </p:nvSpPr>
        <p:spPr/>
        <p:txBody>
          <a:bodyPr/>
          <a:lstStyle/>
          <a:p>
            <a:r>
              <a:rPr lang="en-GB"/>
              <a:t>Micronutrient Forum 7th Global Conference</a:t>
            </a:r>
            <a:endParaRPr lang="en-BG"/>
          </a:p>
        </p:txBody>
      </p:sp>
      <p:sp>
        <p:nvSpPr>
          <p:cNvPr id="7" name="Slide Number Placeholder 6">
            <a:extLst>
              <a:ext uri="{FF2B5EF4-FFF2-40B4-BE49-F238E27FC236}">
                <a16:creationId xmlns:a16="http://schemas.microsoft.com/office/drawing/2014/main" id="{8BA36B92-4C6F-23BA-6D2D-475437683EFE}"/>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09186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4C5F-2AE5-752F-D699-D7609DC752F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G"/>
          </a:p>
        </p:txBody>
      </p:sp>
      <p:sp>
        <p:nvSpPr>
          <p:cNvPr id="3" name="Picture Placeholder 2">
            <a:extLst>
              <a:ext uri="{FF2B5EF4-FFF2-40B4-BE49-F238E27FC236}">
                <a16:creationId xmlns:a16="http://schemas.microsoft.com/office/drawing/2014/main" id="{46E73131-BAC4-54B6-1CBE-4BB93A3EEF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G"/>
          </a:p>
        </p:txBody>
      </p:sp>
      <p:sp>
        <p:nvSpPr>
          <p:cNvPr id="4" name="Text Placeholder 3">
            <a:extLst>
              <a:ext uri="{FF2B5EF4-FFF2-40B4-BE49-F238E27FC236}">
                <a16:creationId xmlns:a16="http://schemas.microsoft.com/office/drawing/2014/main" id="{61913CC5-7E08-0A26-3A04-CC35255609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4A6F24F-4C05-E8D9-745E-EBD04ED9AFF3}"/>
              </a:ext>
            </a:extLst>
          </p:cNvPr>
          <p:cNvSpPr>
            <a:spLocks noGrp="1"/>
          </p:cNvSpPr>
          <p:nvPr>
            <p:ph type="dt" sz="half" idx="10"/>
          </p:nvPr>
        </p:nvSpPr>
        <p:spPr/>
        <p:txBody>
          <a:bodyPr/>
          <a:lstStyle/>
          <a:p>
            <a:fld id="{F0D44285-9839-6742-9B19-5E4024F394C1}" type="datetime1">
              <a:rPr lang="en-US" smtClean="0"/>
              <a:t>6/15/2026</a:t>
            </a:fld>
            <a:endParaRPr lang="en-BG"/>
          </a:p>
        </p:txBody>
      </p:sp>
      <p:sp>
        <p:nvSpPr>
          <p:cNvPr id="6" name="Footer Placeholder 5">
            <a:extLst>
              <a:ext uri="{FF2B5EF4-FFF2-40B4-BE49-F238E27FC236}">
                <a16:creationId xmlns:a16="http://schemas.microsoft.com/office/drawing/2014/main" id="{80470FAA-AC52-973C-470B-CF5AEFC5A8D1}"/>
              </a:ext>
            </a:extLst>
          </p:cNvPr>
          <p:cNvSpPr>
            <a:spLocks noGrp="1"/>
          </p:cNvSpPr>
          <p:nvPr>
            <p:ph type="ftr" sz="quarter" idx="11"/>
          </p:nvPr>
        </p:nvSpPr>
        <p:spPr/>
        <p:txBody>
          <a:bodyPr/>
          <a:lstStyle/>
          <a:p>
            <a:r>
              <a:rPr lang="en-US"/>
              <a:t>Micronutrient Forum 7th Global Conference</a:t>
            </a:r>
            <a:endParaRPr lang="en-US" dirty="0"/>
          </a:p>
        </p:txBody>
      </p:sp>
      <p:sp>
        <p:nvSpPr>
          <p:cNvPr id="7" name="Slide Number Placeholder 6">
            <a:extLst>
              <a:ext uri="{FF2B5EF4-FFF2-40B4-BE49-F238E27FC236}">
                <a16:creationId xmlns:a16="http://schemas.microsoft.com/office/drawing/2014/main" id="{23B4F77A-26C7-7652-1A10-A26B8420E74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586630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5476-2B41-13C8-0898-9934A604BE0D}"/>
              </a:ext>
            </a:extLst>
          </p:cNvPr>
          <p:cNvSpPr>
            <a:spLocks noGrp="1"/>
          </p:cNvSpPr>
          <p:nvPr>
            <p:ph type="title"/>
          </p:nvPr>
        </p:nvSpPr>
        <p:spPr/>
        <p:txBody>
          <a:bodyPr/>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A263FA52-E192-2D6D-EE53-2D27E1285FF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12E1A833-D43B-6E41-A783-07CBB8162244}"/>
              </a:ext>
            </a:extLst>
          </p:cNvPr>
          <p:cNvSpPr>
            <a:spLocks noGrp="1"/>
          </p:cNvSpPr>
          <p:nvPr>
            <p:ph type="dt" sz="half" idx="10"/>
          </p:nvPr>
        </p:nvSpPr>
        <p:spPr/>
        <p:txBody>
          <a:bodyPr/>
          <a:lstStyle/>
          <a:p>
            <a:fld id="{E898FA6F-B7A3-A743-BCB2-B9EF20F12D4F}" type="datetime1">
              <a:rPr lang="en-US" smtClean="0"/>
              <a:t>6/15/2026</a:t>
            </a:fld>
            <a:endParaRPr lang="en-BG"/>
          </a:p>
        </p:txBody>
      </p:sp>
      <p:sp>
        <p:nvSpPr>
          <p:cNvPr id="5" name="Footer Placeholder 4">
            <a:extLst>
              <a:ext uri="{FF2B5EF4-FFF2-40B4-BE49-F238E27FC236}">
                <a16:creationId xmlns:a16="http://schemas.microsoft.com/office/drawing/2014/main" id="{9F33F4D0-1654-9BB0-342D-64B3B247FB29}"/>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5D8943-EFEE-C7D7-A1B0-F7B34D8F7444}"/>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754640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E9516C-A5C3-B394-CCC6-CC9E98F29C9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G"/>
          </a:p>
        </p:txBody>
      </p:sp>
      <p:sp>
        <p:nvSpPr>
          <p:cNvPr id="3" name="Vertical Text Placeholder 2">
            <a:extLst>
              <a:ext uri="{FF2B5EF4-FFF2-40B4-BE49-F238E27FC236}">
                <a16:creationId xmlns:a16="http://schemas.microsoft.com/office/drawing/2014/main" id="{0C837AD8-F6F4-19C0-99E6-A1298567D29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8CE5D298-741C-3A59-AFD1-6C796F3F2BA3}"/>
              </a:ext>
            </a:extLst>
          </p:cNvPr>
          <p:cNvSpPr>
            <a:spLocks noGrp="1"/>
          </p:cNvSpPr>
          <p:nvPr>
            <p:ph type="dt" sz="half" idx="10"/>
          </p:nvPr>
        </p:nvSpPr>
        <p:spPr/>
        <p:txBody>
          <a:bodyPr/>
          <a:lstStyle/>
          <a:p>
            <a:fld id="{7A45FA1C-3388-4845-85D5-186908EBBF00}" type="datetime1">
              <a:rPr lang="en-US" smtClean="0"/>
              <a:t>6/15/2026</a:t>
            </a:fld>
            <a:endParaRPr lang="en-BG"/>
          </a:p>
        </p:txBody>
      </p:sp>
      <p:sp>
        <p:nvSpPr>
          <p:cNvPr id="5" name="Footer Placeholder 4">
            <a:extLst>
              <a:ext uri="{FF2B5EF4-FFF2-40B4-BE49-F238E27FC236}">
                <a16:creationId xmlns:a16="http://schemas.microsoft.com/office/drawing/2014/main" id="{86A8288D-1F58-E2D5-0354-651ACD37A8DA}"/>
              </a:ext>
            </a:extLst>
          </p:cNvPr>
          <p:cNvSpPr>
            <a:spLocks noGrp="1"/>
          </p:cNvSpPr>
          <p:nvPr>
            <p:ph type="ftr" sz="quarter" idx="11"/>
          </p:nvPr>
        </p:nvSpPr>
        <p:spPr/>
        <p:txBody>
          <a:body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76D1D088-6C49-1A81-697E-E68CB25C68A0}"/>
              </a:ext>
            </a:extLst>
          </p:cNvPr>
          <p:cNvSpPr>
            <a:spLocks noGrp="1"/>
          </p:cNvSpPr>
          <p:nvPr>
            <p:ph type="sldNum" sz="quarter" idx="12"/>
          </p:nvPr>
        </p:nvSpPr>
        <p:spPr/>
        <p:txBody>
          <a:bodyPr/>
          <a:lstStyle/>
          <a:p>
            <a:fld id="{8C903514-D622-FE49-B01E-C0625A22DB6C}" type="slidenum">
              <a:rPr lang="en-BG" smtClean="0"/>
              <a:t>‹#›</a:t>
            </a:fld>
            <a:endParaRPr lang="en-BG"/>
          </a:p>
        </p:txBody>
      </p:sp>
    </p:spTree>
    <p:extLst>
      <p:ext uri="{BB962C8B-B14F-4D97-AF65-F5344CB8AC3E}">
        <p14:creationId xmlns:p14="http://schemas.microsoft.com/office/powerpoint/2010/main" val="26133896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3">
            <a:alphaModFix amt="48000"/>
            <a:lum/>
          </a:blip>
          <a:srcRect/>
          <a:stretch>
            <a:fillRect b="-4000" t="-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54CC2-F5AB-F5CA-2461-FA1578B5F0C3}"/>
              </a:ext>
            </a:extLst>
          </p:cNvPr>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lang="en-GB"/>
              <a:t>Click to edit Master title style</a:t>
            </a:r>
            <a:endParaRPr lang="en-BG"/>
          </a:p>
        </p:txBody>
      </p:sp>
      <p:sp>
        <p:nvSpPr>
          <p:cNvPr id="3" name="Text Placeholder 2">
            <a:extLst>
              <a:ext uri="{FF2B5EF4-FFF2-40B4-BE49-F238E27FC236}">
                <a16:creationId xmlns:a16="http://schemas.microsoft.com/office/drawing/2014/main" id="{49E67A3B-D1BE-0BD1-1068-2E289943D23A}"/>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G"/>
          </a:p>
        </p:txBody>
      </p:sp>
      <p:sp>
        <p:nvSpPr>
          <p:cNvPr id="4" name="Date Placeholder 3">
            <a:extLst>
              <a:ext uri="{FF2B5EF4-FFF2-40B4-BE49-F238E27FC236}">
                <a16:creationId xmlns:a16="http://schemas.microsoft.com/office/drawing/2014/main" id="{D2563397-A025-132E-8587-E084AAAABC6A}"/>
              </a:ext>
            </a:extLst>
          </p:cNvPr>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E34A5735-1510-7049-BCA2-D05BF1104DA2}" type="datetime1">
              <a:rPr lang="en-US" smtClean="0"/>
              <a:t>6/15/2026</a:t>
            </a:fld>
            <a:endParaRPr lang="en-BG"/>
          </a:p>
        </p:txBody>
      </p:sp>
      <p:sp>
        <p:nvSpPr>
          <p:cNvPr id="5" name="Footer Placeholder 4">
            <a:extLst>
              <a:ext uri="{FF2B5EF4-FFF2-40B4-BE49-F238E27FC236}">
                <a16:creationId xmlns:a16="http://schemas.microsoft.com/office/drawing/2014/main" id="{909DFC3B-6DA0-5D89-738B-9EC851A00510}"/>
              </a:ext>
            </a:extLst>
          </p:cNvPr>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r>
              <a:rPr lang="en-GB"/>
              <a:t>Micronutrient Forum 7th Global Conference</a:t>
            </a:r>
            <a:endParaRPr lang="en-BG"/>
          </a:p>
        </p:txBody>
      </p:sp>
      <p:sp>
        <p:nvSpPr>
          <p:cNvPr id="6" name="Slide Number Placeholder 5">
            <a:extLst>
              <a:ext uri="{FF2B5EF4-FFF2-40B4-BE49-F238E27FC236}">
                <a16:creationId xmlns:a16="http://schemas.microsoft.com/office/drawing/2014/main" id="{B49B7BA3-B89F-FD2C-3403-80AB176913F2}"/>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8C903514-D622-FE49-B01E-C0625A22DB6C}" type="slidenum">
              <a:rPr lang="en-BG" smtClean="0"/>
              <a:t>‹#›</a:t>
            </a:fld>
            <a:endParaRPr lang="en-BG"/>
          </a:p>
        </p:txBody>
      </p:sp>
    </p:spTree>
    <p:extLst>
      <p:ext uri="{BB962C8B-B14F-4D97-AF65-F5344CB8AC3E}">
        <p14:creationId xmlns:p14="http://schemas.microsoft.com/office/powerpoint/2010/main" val="2277563779"/>
      </p:ext>
    </p:extLst>
  </p:cSld>
  <p:clrMap accent1="accent1" accent2="accent2" accent3="accent3" accent4="accent4" accent5="accent5" accent6="accent6" bg1="lt1" bg2="lt2" folHlink="folHlink" hlink="hlink" tx1="dk1" tx2="dk2"/>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hf dt="0" ftr="0" hdr="0"/>
  <p:txStyles>
    <p:titleStyle>
      <a:lvl1pPr algn="l" defTabSz="914400" eaLnBrk="1" hangingPunct="1" latinLnBrk="0" rtl="0">
        <a:lnSpc>
          <a:spcPct val="90000"/>
        </a:lnSpc>
        <a:spcBef>
          <a:spcPct val="0"/>
        </a:spcBef>
        <a:buNone/>
        <a:defRPr kern="1200" sz="36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4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BG"/>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notesSlide" Target="../notesSlides/notesSlide5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image" Target="../media/image55.png"/><Relationship Id="rId10" Type="http://schemas.openxmlformats.org/officeDocument/2006/relationships/image" Target="../media/image5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6.png"/><Relationship Id="rId4" Type="http://schemas.openxmlformats.org/officeDocument/2006/relationships/image" Target="../media/image6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8.png"/><Relationship Id="rId4" Type="http://schemas.openxmlformats.org/officeDocument/2006/relationships/image" Target="../media/image49.png"/><Relationship Id="rId5" Type="http://schemas.openxmlformats.org/officeDocument/2006/relationships/image" Target="../media/image69.png"/><Relationship Id="rId6" Type="http://schemas.openxmlformats.org/officeDocument/2006/relationships/image" Target="../media/image59.pn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png"/><Relationship Id="rId10" Type="http://schemas.openxmlformats.org/officeDocument/2006/relationships/image" Target="../media/image7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27C-59E1-959C-59F1-778BEA920FE3}"/>
              </a:ext>
            </a:extLst>
          </p:cNvPr>
          <p:cNvSpPr>
            <a:spLocks noGrp="1"/>
          </p:cNvSpPr>
          <p:nvPr>
            <p:ph type="ctrTitle"/>
          </p:nvPr>
        </p:nvSpPr>
        <p:spPr>
          <a:xfrm>
            <a:off x="1524000" y="1122363"/>
            <a:ext cx="9144000" cy="2387600"/>
          </a:xfrm>
        </p:spPr>
        <p:txBody>
          <a:bodyPr/>
          <a:lstStyle/>
          <a:p>
            <a:pPr lvl="0" indent="0" marL="0">
              <a:buNone/>
            </a:pPr>
            <a:r>
              <a:rPr sz="3000"/>
              <a:t>Predicting Micronutrient Deficiency Prevalence in Sub-Saharan Africa Using Proxy Indicators: A Multi-country Machine Learning Framework</a:t>
            </a:r>
          </a:p>
        </p:txBody>
      </p:sp>
      <p:sp>
        <p:nvSpPr>
          <p:cNvPr id="3" name="Subtitle 2">
            <a:extLst>
              <a:ext uri="{FF2B5EF4-FFF2-40B4-BE49-F238E27FC236}">
                <a16:creationId xmlns:a16="http://schemas.microsoft.com/office/drawing/2014/main" id="{BFE7854F-01CE-7662-EA6B-3FD1C4D423B6}"/>
              </a:ext>
            </a:extLst>
          </p:cNvPr>
          <p:cNvSpPr>
            <a:spLocks noGrp="1"/>
          </p:cNvSpPr>
          <p:nvPr>
            <p:ph idx="1" type="subTitle"/>
          </p:nvPr>
        </p:nvSpPr>
        <p:spPr>
          <a:xfrm>
            <a:off x="1524000" y="3602038"/>
            <a:ext cx="9144000" cy="1188720"/>
          </a:xfrm>
        </p:spPr>
        <p:txBody>
          <a:bodyPr/>
          <a:lstStyle/>
          <a:p>
            <a:pPr lvl="0" indent="0" marL="0">
              <a:buNone/>
            </a:pPr>
            <a:br/>
            <a:br/>
            <a:r>
              <a:rPr sz="1800"/>
              <a:t>Andrew N. Mertens (University of California, Berkeley) and Sonja Y. Hess (University of California, Davis)</a:t>
            </a:r>
          </a:p>
        </p:txBody>
      </p:sp>
      <p:sp>
        <p:nvSpPr>
          <p:cNvPr id="4" name="Date Placeholder 3">
            <a:extLst>
              <a:ext uri="{FF2B5EF4-FFF2-40B4-BE49-F238E27FC236}">
                <a16:creationId xmlns:a16="http://schemas.microsoft.com/office/drawing/2014/main" id="{2263929F-88AA-CA48-AF0A-AC827F137431}"/>
              </a:ext>
            </a:extLst>
          </p:cNvPr>
          <p:cNvSpPr>
            <a:spLocks noGrp="1"/>
          </p:cNvSpPr>
          <p:nvPr>
            <p:ph idx="10" sz="half" type="dt"/>
          </p:nvPr>
        </p:nvSpPr>
        <p:spPr/>
        <p:txBody>
          <a:bodyPr/>
          <a:lstStyle/>
          <a:p>
            <a:pPr lvl="0" indent="0" marL="0">
              <a:buNone/>
            </a:pPr>
            <a:r>
              <a:rPr sz="1800"/>
              <a:t>2026-09-18</a:t>
            </a:r>
          </a:p>
        </p:txBody>
      </p:sp>
      <p:sp>
        <p:nvSpPr>
          <p:cNvPr id="6" name="Slide Number Placeholder 5">
            <a:extLst>
              <a:ext uri="{FF2B5EF4-FFF2-40B4-BE49-F238E27FC236}">
                <a16:creationId xmlns:a16="http://schemas.microsoft.com/office/drawing/2014/main" id="{F15C6C9D-0A92-303C-CAA2-551CA77BAAFB}"/>
              </a:ext>
            </a:extLst>
          </p:cNvPr>
          <p:cNvSpPr>
            <a:spLocks noGrp="1"/>
          </p:cNvSpPr>
          <p:nvPr>
            <p:ph idx="12" sz="quarter" type="sldNum"/>
          </p:nvPr>
        </p:nvSpPr>
        <p:spPr/>
        <p:txBody>
          <a:bodyPr/>
          <a:lstStyle/>
          <a:p>
            <a:pPr/>
            <a:fld id="{8C903514-D622-FE49-B01E-C0625A22DB6C}" type="slidenum">
              <a:rPr lang="en-BG" smtClean="0"/>
              <a:t>‹#›</a:t>
            </a:fld>
            <a:endParaRPr lang="en-BG"/>
          </a:p>
        </p:txBody>
      </p:sp>
      <p:pic>
        <p:nvPicPr>
          <p:cNvPr id="7" name="Picture 6" descr="logo_ucberkeley.png"/>
          <p:cNvPicPr>
            <a:picLocks noChangeAspect="1"/>
          </p:cNvPicPr>
          <p:nvPr/>
        </p:nvPicPr>
        <p:blipFill>
          <a:blip r:embed="rId2"/>
          <a:stretch>
            <a:fillRect/>
          </a:stretch>
        </p:blipFill>
        <p:spPr>
          <a:xfrm>
            <a:off x="2167128" y="4983480"/>
            <a:ext cx="2116765" cy="502920"/>
          </a:xfrm>
          <a:prstGeom prst="rect">
            <a:avLst/>
          </a:prstGeom>
        </p:spPr>
      </p:pic>
      <p:pic>
        <p:nvPicPr>
          <p:cNvPr id="8" name="Picture 7" descr="logo_ucdavis.png"/>
          <p:cNvPicPr>
            <a:picLocks noChangeAspect="1"/>
          </p:cNvPicPr>
          <p:nvPr/>
        </p:nvPicPr>
        <p:blipFill>
          <a:blip r:embed="rId3"/>
          <a:stretch>
            <a:fillRect/>
          </a:stretch>
        </p:blipFill>
        <p:spPr>
          <a:xfrm>
            <a:off x="5184648" y="5045562"/>
            <a:ext cx="2194560" cy="378756"/>
          </a:xfrm>
          <a:prstGeom prst="rect">
            <a:avLst/>
          </a:prstGeom>
        </p:spPr>
      </p:pic>
      <p:pic>
        <p:nvPicPr>
          <p:cNvPr id="9" name="Picture 8" descr="logo_mnforum.png"/>
          <p:cNvPicPr>
            <a:picLocks noChangeAspect="1"/>
          </p:cNvPicPr>
          <p:nvPr/>
        </p:nvPicPr>
        <p:blipFill>
          <a:blip r:embed="rId4"/>
          <a:stretch>
            <a:fillRect/>
          </a:stretch>
        </p:blipFill>
        <p:spPr>
          <a:xfrm>
            <a:off x="8202168" y="4983480"/>
            <a:ext cx="1233439" cy="502920"/>
          </a:xfrm>
          <a:prstGeom prst="rect">
            <a:avLst/>
          </a:prstGeom>
        </p:spPr>
      </p:pic>
      <p:sp>
        <p:nvSpPr>
          <p:cNvPr id="10" name="TextBox 9"/>
          <p:cNvSpPr txBox="1"/>
          <p:nvPr/>
        </p:nvSpPr>
        <p:spPr>
          <a:xfrm>
            <a:off x="841248" y="5577840"/>
            <a:ext cx="10515600" cy="365760"/>
          </a:xfrm>
          <a:prstGeom prst="rect">
            <a:avLst/>
          </a:prstGeom>
          <a:noFill/>
        </p:spPr>
        <p:txBody>
          <a:bodyPr wrap="square" anchor="t" lIns="45720" rIns="45720" tIns="27432" bIns="27432">
            <a:spAutoFit/>
          </a:bodyPr>
          <a:lstStyle/>
          <a:p>
            <a:pPr algn="ctr"/>
            <a:r>
              <a:rPr sz="1200" b="0">
                <a:solidFill>
                  <a:srgbClr val="666666"/>
                </a:solidFill>
                <a:latin typeface="Calibri"/>
              </a:rPr>
              <a:t>We are grateful for the funding support of the Gates Foundation.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national biomarker surveys can measure</a:t>
            </a:r>
          </a:p>
        </p:txBody>
      </p:sp>
      <p:pic>
        <p:nvPicPr>
          <p:cNvPr descr="../../results/figures/mnf15/figL_what_you_have_today.png" id="0" name="Picture 1"/>
          <p:cNvPicPr>
            <a:picLocks noGrp="1" noChangeAspect="1"/>
          </p:cNvPicPr>
          <p:nvPr/>
        </p:nvPicPr>
        <p:blipFill>
          <a:blip r:embed="rId3"/>
          <a:stretch>
            <a:fillRect/>
          </a:stretch>
        </p:blipFill>
        <p:spPr bwMode="auto">
          <a:xfrm>
            <a:off x="844697" y="1600200"/>
            <a:ext cx="10499557"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2CBA-5A11-5AEE-644F-228E9B86DB9D}"/>
              </a:ext>
            </a:extLst>
          </p:cNvPr>
          <p:cNvSpPr>
            <a:spLocks noGrp="1"/>
          </p:cNvSpPr>
          <p:nvPr>
            <p:ph type="title"/>
          </p:nvPr>
        </p:nvSpPr>
        <p:spPr/>
        <p:txBody>
          <a:bodyPr/>
          <a:lstStyle/>
          <a:p>
            <a:pPr lvl="0" indent="0" marL="0">
              <a:buNone/>
            </a:pPr>
            <a:r>
              <a:rPr/>
              <a:t>Model training on four national biomarker surveys</a:t>
            </a:r>
          </a:p>
        </p:txBody>
      </p:sp>
      <p:graphicFrame>
        <p:nvGraphicFramePr>
          <p:cNvPr id="6" name="Content Placeholder 5"/>
          <p:cNvGraphicFramePr>
            <a:graphicFrameLocks noGrp="1"/>
          </p:cNvGraphicFramePr>
          <p:nvPr>
            <p:ph idx="1"/>
          </p:nvPr>
        </p:nvGraphicFramePr>
        <p:xfrm>
          <a:off x="838200" y="1816100"/>
          <a:ext cx="5181600" cy="4343400"/>
        </p:xfrm>
        <a:graphic>
          <a:graphicData uri="http://schemas.openxmlformats.org/drawingml/2006/table">
            <a:tbl>
              <a:tblPr firstRow="1" bandRow="1">
                <a:tableStyleId>{5C22544A-7EE6-4342-B048-85BDC9FD1C3A}</a:tableStyleId>
              </a:tblPr>
              <a:tblGrid>
                <a:gridCol w="1803400"/>
                <a:gridCol w="1371600"/>
                <a:gridCol w="2006600"/>
              </a:tblGrid>
              <a:tr h="0">
                <a:tc>
                  <a:txBody>
                    <a:bodyPr/>
                    <a:lstStyle/>
                    <a:p>
                      <a:pPr lvl="0" indent="0" marL="0" algn="l">
                        <a:buNone/>
                      </a:pPr>
                      <a:r>
                        <a:rPr sz="1500"/>
                        <a:t>Survey</a:t>
                      </a:r>
                    </a:p>
                  </a:txBody>
                  <a:tcPr/>
                </a:tc>
                <a:tc>
                  <a:txBody>
                    <a:bodyPr/>
                    <a:lstStyle/>
                    <a:p>
                      <a:pPr lvl="0" indent="0" marL="0" algn="l">
                        <a:buNone/>
                      </a:pPr>
                      <a:r>
                        <a:rPr sz="1500"/>
                        <a:t>Nutrients</a:t>
                      </a:r>
                    </a:p>
                  </a:txBody>
                  <a:tcPr/>
                </a:tc>
                <a:tc>
                  <a:txBody>
                    <a:bodyPr/>
                    <a:lstStyle/>
                    <a:p>
                      <a:pPr lvl="0" indent="0" marL="0" algn="l">
                        <a:buNone/>
                      </a:pPr>
                      <a:r>
                        <a:rPr sz="1500"/>
                        <a:t>How measured</a:t>
                      </a:r>
                    </a:p>
                  </a:txBody>
                  <a:tcPr/>
                </a:tc>
              </a:tr>
              <a:tr h="0">
                <a:tc>
                  <a:txBody>
                    <a:bodyPr/>
                    <a:lstStyle/>
                    <a:p>
                      <a:pPr lvl="0" indent="0" marL="0" algn="l">
                        <a:buNone/>
                      </a:pPr>
                      <a:r>
                        <a:rPr sz="1500"/>
                        <a:t>The Gambia 2018 — 30 districts, 70 clusters</a:t>
                      </a:r>
                    </a:p>
                  </a:txBody>
                </a:tc>
                <a:tc>
                  <a:txBody>
                    <a:bodyPr/>
                    <a:lstStyle/>
                    <a:p>
                      <a:pPr lvl="0" indent="0" marL="0" algn="l">
                        <a:buNone/>
                      </a:pPr>
                      <a:r>
                        <a:rPr sz="1500"/>
                        <a:t>Iron, vitamin A</a:t>
                      </a:r>
                    </a:p>
                  </a:txBody>
                </a:tc>
                <a:tc>
                  <a:txBody>
                    <a:bodyPr/>
                    <a:lstStyle/>
                    <a:p>
                      <a:pPr lvl="0" indent="0" marL="0" algn="l">
                        <a:buNone/>
                      </a:pPr>
                      <a:r>
                        <a:rPr sz="1500"/>
                        <a:t>Ferritin, RBP by ELISA</a:t>
                      </a:r>
                    </a:p>
                  </a:txBody>
                </a:tc>
              </a:tr>
              <a:tr h="0">
                <a:tc>
                  <a:txBody>
                    <a:bodyPr/>
                    <a:lstStyle/>
                    <a:p>
                      <a:pPr lvl="0" indent="0" marL="0" algn="l">
                        <a:buNone/>
                      </a:pPr>
                      <a:r>
                        <a:rPr sz="1500"/>
                        <a:t>Ghana 2017 — 75 of 260 districts, 90 clusters</a:t>
                      </a:r>
                    </a:p>
                  </a:txBody>
                </a:tc>
                <a:tc>
                  <a:txBody>
                    <a:bodyPr/>
                    <a:lstStyle/>
                    <a:p>
                      <a:pPr lvl="0" indent="0" marL="0" algn="l">
                        <a:buNone/>
                      </a:pPr>
                      <a:r>
                        <a:rPr sz="1500"/>
                        <a:t>Iron, vitamin A, folate, B12</a:t>
                      </a:r>
                    </a:p>
                  </a:txBody>
                </a:tc>
                <a:tc>
                  <a:txBody>
                    <a:bodyPr/>
                    <a:lstStyle/>
                    <a:p>
                      <a:pPr lvl="0" indent="0" marL="0" algn="l">
                        <a:buNone/>
                      </a:pPr>
                      <a:r>
                        <a:rPr sz="1500"/>
                        <a:t>Ferritin, RBP by ELISA; folate, B12 by Roche</a:t>
                      </a:r>
                    </a:p>
                  </a:txBody>
                </a:tc>
              </a:tr>
              <a:tr h="0">
                <a:tc>
                  <a:txBody>
                    <a:bodyPr/>
                    <a:lstStyle/>
                    <a:p>
                      <a:pPr lvl="0" indent="0" marL="0" algn="l">
                        <a:buNone/>
                      </a:pPr>
                      <a:r>
                        <a:rPr sz="1500"/>
                        <a:t>Sierra Leone 2013 — 14 districts, 60 clusters</a:t>
                      </a:r>
                    </a:p>
                  </a:txBody>
                </a:tc>
                <a:tc>
                  <a:txBody>
                    <a:bodyPr/>
                    <a:lstStyle/>
                    <a:p>
                      <a:pPr lvl="0" indent="0" marL="0" algn="l">
                        <a:buNone/>
                      </a:pPr>
                      <a:r>
                        <a:rPr sz="1500"/>
                        <a:t>Iron, vitamin A, folate, B12</a:t>
                      </a:r>
                    </a:p>
                  </a:txBody>
                </a:tc>
                <a:tc>
                  <a:txBody>
                    <a:bodyPr/>
                    <a:lstStyle/>
                    <a:p>
                      <a:pPr lvl="0" indent="0" marL="0" algn="l">
                        <a:buNone/>
                      </a:pPr>
                      <a:r>
                        <a:rPr sz="1500"/>
                        <a:t>Ferritin, RBP by ELISA; folate, B12 by Roche</a:t>
                      </a:r>
                    </a:p>
                  </a:txBody>
                </a:tc>
              </a:tr>
              <a:tr h="0">
                <a:tc>
                  <a:txBody>
                    <a:bodyPr/>
                    <a:lstStyle/>
                    <a:p>
                      <a:pPr lvl="0" indent="0" marL="0" algn="l">
                        <a:buNone/>
                      </a:pPr>
                      <a:r>
                        <a:rPr sz="1500"/>
                        <a:t>Malawi 2015-16 — 87 TAs, 103 clusters</a:t>
                      </a:r>
                    </a:p>
                  </a:txBody>
                </a:tc>
                <a:tc>
                  <a:txBody>
                    <a:bodyPr/>
                    <a:lstStyle/>
                    <a:p>
                      <a:pPr lvl="0" indent="0" marL="0" algn="l">
                        <a:buNone/>
                      </a:pPr>
                      <a:r>
                        <a:rPr sz="1500"/>
                        <a:t>Iron, vitamin A, folate, B12, zinc</a:t>
                      </a:r>
                    </a:p>
                  </a:txBody>
                </a:tc>
                <a:tc>
                  <a:txBody>
                    <a:bodyPr/>
                    <a:lstStyle/>
                    <a:p>
                      <a:pPr lvl="0" indent="0" marL="0" algn="l">
                        <a:buNone/>
                      </a:pPr>
                      <a:r>
                        <a:rPr sz="1500"/>
                        <a:t>Ferritin, RBP by ELISA; folate microbiologic; zinc</a:t>
                      </a:r>
                    </a:p>
                  </a:txBody>
                </a:tc>
              </a:tr>
            </a:tbl>
          </a:graphicData>
        </a:graphic>
      </p:graphicFrame>
      <p:pic>
        <p:nvPicPr>
          <p:cNvPr descr="../../results/figures/mnf15/figN_africa_training.png" id="0" name="Picture 1"/>
          <p:cNvPicPr>
            <a:picLocks noGrp="1" noChangeAspect="1"/>
          </p:cNvPicPr>
          <p:nvPr/>
        </p:nvPicPr>
        <p:blipFill>
          <a:blip r:embed="rId3"/>
          <a:stretch>
            <a:fillRect/>
          </a:stretch>
        </p:blipFill>
        <p:spPr bwMode="auto">
          <a:xfrm>
            <a:off x="6172200" y="1816100"/>
            <a:ext cx="5181600" cy="4343400"/>
          </a:xfrm>
          <a:prstGeom prst="rect">
            <a:avLst/>
          </a:prstGeom>
          <a:noFill/>
          <a:ln w="9525">
            <a:noFill/>
            <a:headEnd/>
            <a:tailEnd/>
          </a:ln>
        </p:spPr>
      </p:pic>
      <p:sp>
        <p:nvSpPr>
          <p:cNvPr id="7" name="Slide Number Placeholder 6">
            <a:extLst>
              <a:ext uri="{FF2B5EF4-FFF2-40B4-BE49-F238E27FC236}">
                <a16:creationId xmlns:a16="http://schemas.microsoft.com/office/drawing/2014/main" id="{F5B86B62-BAFD-3A50-FBA9-961B856E0252}"/>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Which causes of deficiency do public data reach?</a:t>
            </a:r>
          </a:p>
        </p:txBody>
      </p:sp>
      <p:pic>
        <p:nvPicPr>
          <p:cNvPr descr="../../results/figures/full_talk_extracts/ft_framework_coverage.png" id="0" name="Picture 1"/>
          <p:cNvPicPr>
            <a:picLocks noGrp="1" noChangeAspect="1"/>
          </p:cNvPicPr>
          <p:nvPr/>
        </p:nvPicPr>
        <p:blipFill>
          <a:blip r:embed="rId3"/>
          <a:stretch>
            <a:fillRect/>
          </a:stretch>
        </p:blipFill>
        <p:spPr bwMode="auto">
          <a:xfrm>
            <a:off x="912876" y="1600200"/>
            <a:ext cx="1036320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Proxy models to predict deficiencies where data is missing</a:t>
            </a:r>
          </a:p>
        </p:txBody>
      </p:sp>
      <p:pic>
        <p:nvPicPr>
          <p:cNvPr descr="../../results/figures/policy_deck/fig7_ghana_map_child_iron_level.png" id="0" name="Picture 1"/>
          <p:cNvPicPr>
            <a:picLocks noGrp="1" noChangeAspect="1"/>
          </p:cNvPicPr>
          <p:nvPr/>
        </p:nvPicPr>
        <p:blipFill>
          <a:blip r:embed="rId3"/>
          <a:stretch>
            <a:fillRect/>
          </a:stretch>
        </p:blipFill>
        <p:spPr bwMode="auto">
          <a:xfrm>
            <a:off x="810608" y="1600200"/>
            <a:ext cx="1056773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Where the predictors come from</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atellite_blue.png"/>
          <p:cNvPicPr>
            <a:picLocks noChangeAspect="1"/>
          </p:cNvPicPr>
          <p:nvPr/>
        </p:nvPicPr>
        <p:blipFill>
          <a:blip r:embed="rId3"/>
          <a:stretch>
            <a:fillRect/>
          </a:stretch>
        </p:blipFill>
        <p:spPr>
          <a:xfrm>
            <a:off x="978408" y="1828800"/>
            <a:ext cx="548640" cy="548640"/>
          </a:xfrm>
          <a:prstGeom prst="rect">
            <a:avLst/>
          </a:prstGeom>
        </p:spPr>
      </p:pic>
      <p:sp>
        <p:nvSpPr>
          <p:cNvPr id="9" name="TextBox 8"/>
          <p:cNvSpPr txBox="1"/>
          <p:nvPr/>
        </p:nvSpPr>
        <p:spPr>
          <a:xfrm>
            <a:off x="1664208" y="169164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Climate, satellite imagery, greenness  (144)</a:t>
            </a:r>
          </a:p>
          <a:p>
            <a:pPr algn="l">
              <a:spcBef>
                <a:spcPts val="300"/>
              </a:spcBef>
            </a:pPr>
            <a:r>
              <a:rPr sz="1150" b="0">
                <a:solidFill>
                  <a:srgbClr val="333333"/>
                </a:solidFill>
                <a:latin typeface="Calibri"/>
              </a:rPr>
              <a:t>TerraClimate rainfall and temperature; MODIS greenness; AlphaEarth satellite embedding; distance to water and coast</a:t>
            </a:r>
          </a:p>
        </p:txBody>
      </p:sp>
      <p:sp>
        <p:nvSpPr>
          <p:cNvPr id="10" name="Rounded Rectangle 9"/>
          <p:cNvSpPr/>
          <p:nvPr/>
        </p:nvSpPr>
        <p:spPr>
          <a:xfrm>
            <a:off x="6259068" y="169164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mound_blue.png"/>
          <p:cNvPicPr>
            <a:picLocks noChangeAspect="1"/>
          </p:cNvPicPr>
          <p:nvPr/>
        </p:nvPicPr>
        <p:blipFill>
          <a:blip r:embed="rId4"/>
          <a:stretch>
            <a:fillRect/>
          </a:stretch>
        </p:blipFill>
        <p:spPr>
          <a:xfrm>
            <a:off x="6396228" y="1828800"/>
            <a:ext cx="617220" cy="548640"/>
          </a:xfrm>
          <a:prstGeom prst="rect">
            <a:avLst/>
          </a:prstGeom>
        </p:spPr>
      </p:pic>
      <p:sp>
        <p:nvSpPr>
          <p:cNvPr id="12" name="TextBox 11"/>
          <p:cNvSpPr txBox="1"/>
          <p:nvPr/>
        </p:nvSpPr>
        <p:spPr>
          <a:xfrm>
            <a:off x="7082028" y="169164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Soil chemistry  (45)</a:t>
            </a:r>
          </a:p>
          <a:p>
            <a:pPr algn="l">
              <a:spcBef>
                <a:spcPts val="300"/>
              </a:spcBef>
            </a:pPr>
            <a:r>
              <a:rPr sz="1150" b="0">
                <a:solidFill>
                  <a:srgbClr val="333333"/>
                </a:solidFill>
                <a:latin typeface="Calibri"/>
              </a:rPr>
              <a:t>SoilGrids and iSDA: pH, organic carbon, texture, nutrient availability</a:t>
            </a:r>
          </a:p>
        </p:txBody>
      </p:sp>
      <p:sp>
        <p:nvSpPr>
          <p:cNvPr id="13" name="Rounded Rectangle 12"/>
          <p:cNvSpPr/>
          <p:nvPr/>
        </p:nvSpPr>
        <p:spPr>
          <a:xfrm>
            <a:off x="841248" y="265176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ractor_blue.png"/>
          <p:cNvPicPr>
            <a:picLocks noChangeAspect="1"/>
          </p:cNvPicPr>
          <p:nvPr/>
        </p:nvPicPr>
        <p:blipFill>
          <a:blip r:embed="rId5"/>
          <a:stretch>
            <a:fillRect/>
          </a:stretch>
        </p:blipFill>
        <p:spPr>
          <a:xfrm>
            <a:off x="978408" y="2788920"/>
            <a:ext cx="685800" cy="548640"/>
          </a:xfrm>
          <a:prstGeom prst="rect">
            <a:avLst/>
          </a:prstGeom>
        </p:spPr>
      </p:pic>
      <p:sp>
        <p:nvSpPr>
          <p:cNvPr id="15" name="TextBox 14"/>
          <p:cNvSpPr txBox="1"/>
          <p:nvPr/>
        </p:nvSpPr>
        <p:spPr>
          <a:xfrm>
            <a:off x="1664208" y="265176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Crops and livestock  (37)</a:t>
            </a:r>
          </a:p>
          <a:p>
            <a:pPr algn="l">
              <a:spcBef>
                <a:spcPts val="300"/>
              </a:spcBef>
            </a:pPr>
            <a:r>
              <a:rPr sz="1150" b="0">
                <a:solidFill>
                  <a:srgbClr val="333333"/>
                </a:solidFill>
                <a:latin typeface="Calibri"/>
              </a:rPr>
              <a:t>MapSPAM crop mix and cropland; cattle, goat and poultry density (Gridded Livestock of the World)</a:t>
            </a:r>
          </a:p>
        </p:txBody>
      </p:sp>
      <p:sp>
        <p:nvSpPr>
          <p:cNvPr id="16" name="Rounded Rectangle 15"/>
          <p:cNvSpPr/>
          <p:nvPr/>
        </p:nvSpPr>
        <p:spPr>
          <a:xfrm>
            <a:off x="6259068" y="265176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basket-shopping_blue.png"/>
          <p:cNvPicPr>
            <a:picLocks noChangeAspect="1"/>
          </p:cNvPicPr>
          <p:nvPr/>
        </p:nvPicPr>
        <p:blipFill>
          <a:blip r:embed="rId6"/>
          <a:stretch>
            <a:fillRect/>
          </a:stretch>
        </p:blipFill>
        <p:spPr>
          <a:xfrm>
            <a:off x="6396228" y="2788920"/>
            <a:ext cx="617220" cy="548640"/>
          </a:xfrm>
          <a:prstGeom prst="rect">
            <a:avLst/>
          </a:prstGeom>
        </p:spPr>
      </p:pic>
      <p:sp>
        <p:nvSpPr>
          <p:cNvPr id="18" name="TextBox 17"/>
          <p:cNvSpPr txBox="1"/>
          <p:nvPr/>
        </p:nvSpPr>
        <p:spPr>
          <a:xfrm>
            <a:off x="7082028" y="265176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Food prices, diet, fortification  (83)</a:t>
            </a:r>
          </a:p>
          <a:p>
            <a:pPr algn="l">
              <a:spcBef>
                <a:spcPts val="300"/>
              </a:spcBef>
            </a:pPr>
            <a:r>
              <a:rPr sz="1150" b="0">
                <a:solidFill>
                  <a:srgbClr val="333333"/>
                </a:solidFill>
                <a:latin typeface="Calibri"/>
              </a:rPr>
              <a:t>WFP and World Bank prices; household budget surveys; GFDx fortification coverage</a:t>
            </a:r>
          </a:p>
        </p:txBody>
      </p:sp>
      <p:sp>
        <p:nvSpPr>
          <p:cNvPr id="19" name="Rounded Rectangle 18"/>
          <p:cNvSpPr/>
          <p:nvPr/>
        </p:nvSpPr>
        <p:spPr>
          <a:xfrm>
            <a:off x="841248" y="361188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virus_blue.png"/>
          <p:cNvPicPr>
            <a:picLocks noChangeAspect="1"/>
          </p:cNvPicPr>
          <p:nvPr/>
        </p:nvPicPr>
        <p:blipFill>
          <a:blip r:embed="rId7"/>
          <a:stretch>
            <a:fillRect/>
          </a:stretch>
        </p:blipFill>
        <p:spPr>
          <a:xfrm>
            <a:off x="978408" y="3749040"/>
            <a:ext cx="548640" cy="548640"/>
          </a:xfrm>
          <a:prstGeom prst="rect">
            <a:avLst/>
          </a:prstGeom>
        </p:spPr>
      </p:pic>
      <p:sp>
        <p:nvSpPr>
          <p:cNvPr id="21" name="TextBox 20"/>
          <p:cNvSpPr txBox="1"/>
          <p:nvPr/>
        </p:nvSpPr>
        <p:spPr>
          <a:xfrm>
            <a:off x="1664208" y="361188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Infectious disease and immunisation  (84)</a:t>
            </a:r>
          </a:p>
          <a:p>
            <a:pPr algn="l">
              <a:spcBef>
                <a:spcPts val="300"/>
              </a:spcBef>
            </a:pPr>
            <a:r>
              <a:rPr sz="1150" b="0">
                <a:solidFill>
                  <a:srgbClr val="333333"/>
                </a:solidFill>
                <a:latin typeface="Calibri"/>
              </a:rPr>
              <a:t>Malaria Atlas; WHO ESPEN helminths; IHME child morbidity and mortality; immunisation coverage</a:t>
            </a:r>
          </a:p>
        </p:txBody>
      </p:sp>
      <p:sp>
        <p:nvSpPr>
          <p:cNvPr id="22" name="Rounded Rectangle 21"/>
          <p:cNvSpPr/>
          <p:nvPr/>
        </p:nvSpPr>
        <p:spPr>
          <a:xfrm>
            <a:off x="6259068" y="361188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ild_blue.png"/>
          <p:cNvPicPr>
            <a:picLocks noChangeAspect="1"/>
          </p:cNvPicPr>
          <p:nvPr/>
        </p:nvPicPr>
        <p:blipFill>
          <a:blip r:embed="rId8"/>
          <a:stretch>
            <a:fillRect/>
          </a:stretch>
        </p:blipFill>
        <p:spPr>
          <a:xfrm>
            <a:off x="6396228" y="3749040"/>
            <a:ext cx="342900" cy="548640"/>
          </a:xfrm>
          <a:prstGeom prst="rect">
            <a:avLst/>
          </a:prstGeom>
        </p:spPr>
      </p:pic>
      <p:sp>
        <p:nvSpPr>
          <p:cNvPr id="24" name="TextBox 23"/>
          <p:cNvSpPr txBox="1"/>
          <p:nvPr/>
        </p:nvSpPr>
        <p:spPr>
          <a:xfrm>
            <a:off x="7082028" y="361188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Nutrition status and infant feeding  (64)</a:t>
            </a:r>
          </a:p>
          <a:p>
            <a:pPr algn="l">
              <a:spcBef>
                <a:spcPts val="300"/>
              </a:spcBef>
            </a:pPr>
            <a:r>
              <a:rPr sz="1150" b="0">
                <a:solidFill>
                  <a:srgbClr val="333333"/>
                </a:solidFill>
                <a:latin typeface="Calibri"/>
              </a:rPr>
              <a:t>Stunting and wasting; anaemia (modelled); infant and young child feeding (IHME, MICS, DHS)</a:t>
            </a:r>
          </a:p>
        </p:txBody>
      </p:sp>
      <p:sp>
        <p:nvSpPr>
          <p:cNvPr id="25" name="Rounded Rectangle 24"/>
          <p:cNvSpPr/>
          <p:nvPr/>
        </p:nvSpPr>
        <p:spPr>
          <a:xfrm>
            <a:off x="841248" y="457200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house-chimney_blue.png"/>
          <p:cNvPicPr>
            <a:picLocks noChangeAspect="1"/>
          </p:cNvPicPr>
          <p:nvPr/>
        </p:nvPicPr>
        <p:blipFill>
          <a:blip r:embed="rId9"/>
          <a:stretch>
            <a:fillRect/>
          </a:stretch>
        </p:blipFill>
        <p:spPr>
          <a:xfrm>
            <a:off x="978408" y="4709160"/>
            <a:ext cx="617220" cy="548640"/>
          </a:xfrm>
          <a:prstGeom prst="rect">
            <a:avLst/>
          </a:prstGeom>
        </p:spPr>
      </p:pic>
      <p:sp>
        <p:nvSpPr>
          <p:cNvPr id="27" name="TextBox 26"/>
          <p:cNvSpPr txBox="1"/>
          <p:nvPr/>
        </p:nvSpPr>
        <p:spPr>
          <a:xfrm>
            <a:off x="1664208" y="457200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Households, schooling, water, health access  (90)</a:t>
            </a:r>
          </a:p>
          <a:p>
            <a:pPr algn="l">
              <a:spcBef>
                <a:spcPts val="300"/>
              </a:spcBef>
            </a:pPr>
            <a:r>
              <a:rPr sz="1150" b="0">
                <a:solidFill>
                  <a:srgbClr val="333333"/>
                </a:solidFill>
                <a:latin typeface="Calibri"/>
              </a:rPr>
              <a:t>Assets, schooling, employment; water and sanitation; fertility; access to care (MICS, DHS)</a:t>
            </a:r>
          </a:p>
        </p:txBody>
      </p:sp>
      <p:sp>
        <p:nvSpPr>
          <p:cNvPr id="28" name="Rounded Rectangle 27"/>
          <p:cNvSpPr/>
          <p:nvPr/>
        </p:nvSpPr>
        <p:spPr>
          <a:xfrm>
            <a:off x="6259068" y="4572000"/>
            <a:ext cx="5097780" cy="822960"/>
          </a:xfrm>
          <a:prstGeom prst="roundRect">
            <a:avLst>
              <a:gd name="adj" fmla="val 11111"/>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ity_blue.png"/>
          <p:cNvPicPr>
            <a:picLocks noChangeAspect="1"/>
          </p:cNvPicPr>
          <p:nvPr/>
        </p:nvPicPr>
        <p:blipFill>
          <a:blip r:embed="rId10"/>
          <a:stretch>
            <a:fillRect/>
          </a:stretch>
        </p:blipFill>
        <p:spPr>
          <a:xfrm>
            <a:off x="6396228" y="4709160"/>
            <a:ext cx="685800" cy="548640"/>
          </a:xfrm>
          <a:prstGeom prst="rect">
            <a:avLst/>
          </a:prstGeom>
        </p:spPr>
      </p:pic>
      <p:sp>
        <p:nvSpPr>
          <p:cNvPr id="30" name="TextBox 29"/>
          <p:cNvSpPr txBox="1"/>
          <p:nvPr/>
        </p:nvSpPr>
        <p:spPr>
          <a:xfrm>
            <a:off x="7082028" y="4572000"/>
            <a:ext cx="4183380" cy="822960"/>
          </a:xfrm>
          <a:prstGeom prst="rect">
            <a:avLst/>
          </a:prstGeom>
          <a:noFill/>
        </p:spPr>
        <p:txBody>
          <a:bodyPr wrap="square" anchor="ctr" lIns="45720" rIns="45720" tIns="27432" bIns="27432">
            <a:spAutoFit/>
          </a:bodyPr>
          <a:lstStyle/>
          <a:p>
            <a:pPr algn="l"/>
            <a:r>
              <a:rPr sz="1500" b="1">
                <a:solidFill>
                  <a:srgbClr val="1F4E79"/>
                </a:solidFill>
                <a:latin typeface="Calibri"/>
              </a:rPr>
              <a:t>Settlement, population, conflict  (28)</a:t>
            </a:r>
          </a:p>
          <a:p>
            <a:pPr algn="l">
              <a:spcBef>
                <a:spcPts val="300"/>
              </a:spcBef>
            </a:pPr>
            <a:r>
              <a:rPr sz="1150" b="0">
                <a:solidFill>
                  <a:srgbClr val="333333"/>
                </a:solidFill>
                <a:latin typeface="Calibri"/>
              </a:rPr>
              <a:t>Night lights, population density, built-up area (WorldPop, GHSL); ACLED conflict events</a:t>
            </a:r>
          </a:p>
        </p:txBody>
      </p:sp>
      <p:sp>
        <p:nvSpPr>
          <p:cNvPr id="31" name="TextBox 30"/>
          <p:cNvSpPr txBox="1"/>
          <p:nvPr/>
        </p:nvSpPr>
        <p:spPr>
          <a:xfrm>
            <a:off x="841248" y="5440680"/>
            <a:ext cx="10515600" cy="457200"/>
          </a:xfrm>
          <a:prstGeom prst="rect">
            <a:avLst/>
          </a:prstGeom>
          <a:noFill/>
        </p:spPr>
        <p:txBody>
          <a:bodyPr wrap="square" anchor="t" lIns="45720" rIns="45720" tIns="27432" bIns="27432">
            <a:spAutoFit/>
          </a:bodyPr>
          <a:lstStyle/>
          <a:p>
            <a:pPr algn="l"/>
            <a:r>
              <a:rPr sz="800" b="0">
                <a:solidFill>
                  <a:srgbClr val="666666"/>
                </a:solidFill>
                <a:latin typeface="Calibri"/>
              </a:rPr>
              <a:t>575 district-level predictors from 28 public sources, linked to 554 districts in four countries. Number of predictors in brackets; every layer is public.</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the model is built and how it is tested</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sliders_white.png"/>
          <p:cNvPicPr>
            <a:picLocks noChangeAspect="1"/>
          </p:cNvPicPr>
          <p:nvPr/>
        </p:nvPicPr>
        <p:blipFill>
          <a:blip r:embed="rId3"/>
          <a:stretch>
            <a:fillRect/>
          </a:stretch>
        </p:blipFill>
        <p:spPr>
          <a:xfrm>
            <a:off x="1024128" y="1810512"/>
            <a:ext cx="402336" cy="402336"/>
          </a:xfrm>
          <a:prstGeom prst="rect">
            <a:avLst/>
          </a:prstGeom>
        </p:spPr>
      </p:pic>
      <p:sp>
        <p:nvSpPr>
          <p:cNvPr id="10" name="TextBox 9"/>
          <p:cNvSpPr txBox="1"/>
          <p:nvPr/>
        </p:nvSpPr>
        <p:spPr>
          <a:xfrm>
            <a:off x="15270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How the model is built</a:t>
            </a:r>
          </a:p>
        </p:txBody>
      </p:sp>
      <p:pic>
        <p:nvPicPr>
          <p:cNvPr id="11" name="Picture 10" descr="arrow-down-wide-short_blue.png"/>
          <p:cNvPicPr>
            <a:picLocks noChangeAspect="1"/>
          </p:cNvPicPr>
          <p:nvPr/>
        </p:nvPicPr>
        <p:blipFill>
          <a:blip r:embed="rId4"/>
          <a:stretch>
            <a:fillRect/>
          </a:stretch>
        </p:blipFill>
        <p:spPr>
          <a:xfrm>
            <a:off x="1069848" y="2594610"/>
            <a:ext cx="565785" cy="502920"/>
          </a:xfrm>
          <a:prstGeom prst="rect">
            <a:avLst/>
          </a:prstGeom>
        </p:spPr>
      </p:pic>
      <p:sp>
        <p:nvSpPr>
          <p:cNvPr id="12" name="TextBox 11"/>
          <p:cNvSpPr txBox="1"/>
          <p:nvPr/>
        </p:nvSpPr>
        <p:spPr>
          <a:xfrm>
            <a:off x="1755648" y="2423160"/>
            <a:ext cx="3977640" cy="845820"/>
          </a:xfrm>
          <a:prstGeom prst="rect">
            <a:avLst/>
          </a:prstGeom>
          <a:noFill/>
        </p:spPr>
        <p:txBody>
          <a:bodyPr wrap="square" anchor="ctr" lIns="45720" rIns="45720" tIns="27432" bIns="27432">
            <a:spAutoFit/>
          </a:bodyPr>
          <a:lstStyle/>
          <a:p>
            <a:pPr algn="l"/>
            <a:r>
              <a:rPr sz="1500" b="1">
                <a:solidFill>
                  <a:srgbClr val="1F4E79"/>
                </a:solidFill>
                <a:latin typeface="Calibri"/>
              </a:rPr>
              <a:t>Every layer becomes a within-country rank</a:t>
            </a:r>
          </a:p>
          <a:p>
            <a:pPr algn="l">
              <a:spcBef>
                <a:spcPts val="300"/>
              </a:spcBef>
            </a:pPr>
            <a:r>
              <a:rPr sz="1200" b="0">
                <a:solidFill>
                  <a:srgbClr val="333333"/>
                </a:solidFill>
                <a:latin typeface="Calibri"/>
              </a:rPr>
              <a:t>A level difference between surveys cannot act as signal.</a:t>
            </a:r>
          </a:p>
        </p:txBody>
      </p:sp>
      <p:pic>
        <p:nvPicPr>
          <p:cNvPr id="13" name="Picture 12" descr="layer-group_blue.png"/>
          <p:cNvPicPr>
            <a:picLocks noChangeAspect="1"/>
          </p:cNvPicPr>
          <p:nvPr/>
        </p:nvPicPr>
        <p:blipFill>
          <a:blip r:embed="rId5"/>
          <a:stretch>
            <a:fillRect/>
          </a:stretch>
        </p:blipFill>
        <p:spPr>
          <a:xfrm>
            <a:off x="1069848" y="3440430"/>
            <a:ext cx="565785" cy="502920"/>
          </a:xfrm>
          <a:prstGeom prst="rect">
            <a:avLst/>
          </a:prstGeom>
        </p:spPr>
      </p:pic>
      <p:sp>
        <p:nvSpPr>
          <p:cNvPr id="14" name="TextBox 13"/>
          <p:cNvSpPr txBox="1"/>
          <p:nvPr/>
        </p:nvSpPr>
        <p:spPr>
          <a:xfrm>
            <a:off x="1755648" y="3268980"/>
            <a:ext cx="3977640" cy="845820"/>
          </a:xfrm>
          <a:prstGeom prst="rect">
            <a:avLst/>
          </a:prstGeom>
          <a:noFill/>
        </p:spPr>
        <p:txBody>
          <a:bodyPr wrap="square" anchor="ctr" lIns="45720" rIns="45720" tIns="27432" bIns="27432">
            <a:spAutoFit/>
          </a:bodyPr>
          <a:lstStyle/>
          <a:p>
            <a:pPr algn="l"/>
            <a:r>
              <a:rPr sz="1500" b="1">
                <a:solidFill>
                  <a:srgbClr val="1F4E79"/>
                </a:solidFill>
                <a:latin typeface="Calibri"/>
              </a:rPr>
              <a:t>Each family of layers is reduced to a few summary scores</a:t>
            </a:r>
          </a:p>
          <a:p>
            <a:pPr algn="l">
              <a:spcBef>
                <a:spcPts val="300"/>
              </a:spcBef>
            </a:pPr>
            <a:r>
              <a:rPr sz="1200" b="0">
                <a:solidFill>
                  <a:srgbClr val="333333"/>
                </a:solidFill>
                <a:latin typeface="Calibri"/>
              </a:rPr>
              <a:t>Learned from the predictors only, never from the outcome.</a:t>
            </a:r>
          </a:p>
        </p:txBody>
      </p:sp>
      <p:pic>
        <p:nvPicPr>
          <p:cNvPr id="15" name="Picture 14" descr="scale-balanced_blue.png"/>
          <p:cNvPicPr>
            <a:picLocks noChangeAspect="1"/>
          </p:cNvPicPr>
          <p:nvPr/>
        </p:nvPicPr>
        <p:blipFill>
          <a:blip r:embed="rId6"/>
          <a:stretch>
            <a:fillRect/>
          </a:stretch>
        </p:blipFill>
        <p:spPr>
          <a:xfrm>
            <a:off x="1069848" y="4286250"/>
            <a:ext cx="628650" cy="502920"/>
          </a:xfrm>
          <a:prstGeom prst="rect">
            <a:avLst/>
          </a:prstGeom>
        </p:spPr>
      </p:pic>
      <p:sp>
        <p:nvSpPr>
          <p:cNvPr id="16" name="TextBox 15"/>
          <p:cNvSpPr txBox="1"/>
          <p:nvPr/>
        </p:nvSpPr>
        <p:spPr>
          <a:xfrm>
            <a:off x="1755648" y="4114800"/>
            <a:ext cx="3977640" cy="845820"/>
          </a:xfrm>
          <a:prstGeom prst="rect">
            <a:avLst/>
          </a:prstGeom>
          <a:noFill/>
        </p:spPr>
        <p:txBody>
          <a:bodyPr wrap="square" anchor="ctr" lIns="45720" rIns="45720" tIns="27432" bIns="27432">
            <a:spAutoFit/>
          </a:bodyPr>
          <a:lstStyle/>
          <a:p>
            <a:pPr algn="l"/>
            <a:r>
              <a:rPr sz="1500" b="1">
                <a:solidFill>
                  <a:srgbClr val="1F4E79"/>
                </a:solidFill>
                <a:latin typeface="Calibri"/>
              </a:rPr>
              <a:t>Each score is weighted by how well it tracked deficiency</a:t>
            </a:r>
          </a:p>
          <a:p>
            <a:pPr algn="l">
              <a:spcBef>
                <a:spcPts val="300"/>
              </a:spcBef>
            </a:pPr>
            <a:r>
              <a:rPr sz="1200" b="0">
                <a:solidFill>
                  <a:srgbClr val="333333"/>
                </a:solidFill>
                <a:latin typeface="Calibri"/>
              </a:rPr>
              <a:t>In the training districts, where blood was drawn.</a:t>
            </a:r>
          </a:p>
        </p:txBody>
      </p:sp>
      <p:pic>
        <p:nvPicPr>
          <p:cNvPr id="17" name="Picture 16" descr="lock_blue.png"/>
          <p:cNvPicPr>
            <a:picLocks noChangeAspect="1"/>
          </p:cNvPicPr>
          <p:nvPr/>
        </p:nvPicPr>
        <p:blipFill>
          <a:blip r:embed="rId7"/>
          <a:stretch>
            <a:fillRect/>
          </a:stretch>
        </p:blipFill>
        <p:spPr>
          <a:xfrm>
            <a:off x="1069848" y="5132070"/>
            <a:ext cx="440055" cy="502920"/>
          </a:xfrm>
          <a:prstGeom prst="rect">
            <a:avLst/>
          </a:prstGeom>
        </p:spPr>
      </p:pic>
      <p:sp>
        <p:nvSpPr>
          <p:cNvPr id="18" name="TextBox 17"/>
          <p:cNvSpPr txBox="1"/>
          <p:nvPr/>
        </p:nvSpPr>
        <p:spPr>
          <a:xfrm>
            <a:off x="1755648" y="4960620"/>
            <a:ext cx="3977640" cy="845820"/>
          </a:xfrm>
          <a:prstGeom prst="rect">
            <a:avLst/>
          </a:prstGeom>
          <a:noFill/>
        </p:spPr>
        <p:txBody>
          <a:bodyPr wrap="square" anchor="ctr" lIns="45720" rIns="45720" tIns="27432" bIns="27432">
            <a:spAutoFit/>
          </a:bodyPr>
          <a:lstStyle/>
          <a:p>
            <a:pPr algn="l"/>
            <a:r>
              <a:rPr sz="1500" b="1">
                <a:solidFill>
                  <a:srgbClr val="1F4E79"/>
                </a:solidFill>
                <a:latin typeface="Calibri"/>
              </a:rPr>
              <a:t>The weighted sum, rescaled to the training districts' spread</a:t>
            </a:r>
          </a:p>
          <a:p>
            <a:pPr algn="l">
              <a:spcBef>
                <a:spcPts val="300"/>
              </a:spcBef>
            </a:pPr>
            <a:r>
              <a:rPr sz="1200" b="0">
                <a:solidFill>
                  <a:srgbClr val="333333"/>
                </a:solidFill>
                <a:latin typeface="Calibri"/>
              </a:rPr>
              <a:t>Nothing is tuned.</a:t>
            </a:r>
          </a:p>
        </p:txBody>
      </p:sp>
      <p:sp>
        <p:nvSpPr>
          <p:cNvPr id="19" name="Rounded Rectangle 18"/>
          <p:cNvSpPr/>
          <p:nvPr/>
        </p:nvSpPr>
        <p:spPr>
          <a:xfrm>
            <a:off x="6327648" y="1691640"/>
            <a:ext cx="5029200" cy="4206240"/>
          </a:xfrm>
          <a:prstGeom prst="roundRect">
            <a:avLst>
              <a:gd name="adj" fmla="val 260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clipboard-check_white.png"/>
          <p:cNvPicPr>
            <a:picLocks noChangeAspect="1"/>
          </p:cNvPicPr>
          <p:nvPr/>
        </p:nvPicPr>
        <p:blipFill>
          <a:blip r:embed="rId8"/>
          <a:stretch>
            <a:fillRect/>
          </a:stretch>
        </p:blipFill>
        <p:spPr>
          <a:xfrm>
            <a:off x="6510528" y="1810512"/>
            <a:ext cx="301752" cy="402336"/>
          </a:xfrm>
          <a:prstGeom prst="rect">
            <a:avLst/>
          </a:prstGeom>
        </p:spPr>
      </p:pic>
      <p:sp>
        <p:nvSpPr>
          <p:cNvPr id="22" name="TextBox 21"/>
          <p:cNvSpPr txBox="1"/>
          <p:nvPr/>
        </p:nvSpPr>
        <p:spPr>
          <a:xfrm>
            <a:off x="70134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How it is tested</a:t>
            </a:r>
          </a:p>
        </p:txBody>
      </p:sp>
      <p:pic>
        <p:nvPicPr>
          <p:cNvPr id="23" name="Picture 22" descr="location-crosshairs_blue.png"/>
          <p:cNvPicPr>
            <a:picLocks noChangeAspect="1"/>
          </p:cNvPicPr>
          <p:nvPr/>
        </p:nvPicPr>
        <p:blipFill>
          <a:blip r:embed="rId9"/>
          <a:stretch>
            <a:fillRect/>
          </a:stretch>
        </p:blipFill>
        <p:spPr>
          <a:xfrm>
            <a:off x="6556248" y="2735580"/>
            <a:ext cx="502920" cy="502920"/>
          </a:xfrm>
          <a:prstGeom prst="rect">
            <a:avLst/>
          </a:prstGeom>
        </p:spPr>
      </p:pic>
      <p:sp>
        <p:nvSpPr>
          <p:cNvPr id="24" name="TextBox 23"/>
          <p:cNvSpPr txBox="1"/>
          <p:nvPr/>
        </p:nvSpPr>
        <p:spPr>
          <a:xfrm>
            <a:off x="7242048" y="242316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One district in five is hidden</a:t>
            </a:r>
          </a:p>
          <a:p>
            <a:pPr algn="l">
              <a:spcBef>
                <a:spcPts val="300"/>
              </a:spcBef>
            </a:pPr>
            <a:r>
              <a:rPr sz="1200" b="0">
                <a:solidFill>
                  <a:srgbClr val="333333"/>
                </a:solidFill>
                <a:latin typeface="Calibri"/>
              </a:rPr>
              <a:t>Compared against the region's average, computed without that district.</a:t>
            </a:r>
          </a:p>
        </p:txBody>
      </p:sp>
      <p:pic>
        <p:nvPicPr>
          <p:cNvPr id="25" name="Picture 24" descr="draw-polygon_blue.png"/>
          <p:cNvPicPr>
            <a:picLocks noChangeAspect="1"/>
          </p:cNvPicPr>
          <p:nvPr/>
        </p:nvPicPr>
        <p:blipFill>
          <a:blip r:embed="rId10"/>
          <a:stretch>
            <a:fillRect/>
          </a:stretch>
        </p:blipFill>
        <p:spPr>
          <a:xfrm>
            <a:off x="6556248" y="3863340"/>
            <a:ext cx="440055" cy="502920"/>
          </a:xfrm>
          <a:prstGeom prst="rect">
            <a:avLst/>
          </a:prstGeom>
        </p:spPr>
      </p:pic>
      <p:sp>
        <p:nvSpPr>
          <p:cNvPr id="26" name="TextBox 25"/>
          <p:cNvSpPr txBox="1"/>
          <p:nvPr/>
        </p:nvSpPr>
        <p:spPr>
          <a:xfrm>
            <a:off x="7242048" y="355092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A whole region is hidden</a:t>
            </a:r>
          </a:p>
          <a:p>
            <a:pPr algn="l">
              <a:spcBef>
                <a:spcPts val="300"/>
              </a:spcBef>
            </a:pPr>
            <a:r>
              <a:rPr sz="1200" b="0">
                <a:solidFill>
                  <a:srgbClr val="333333"/>
                </a:solidFill>
                <a:latin typeface="Calibri"/>
              </a:rPr>
              <a:t>Compared against a map of the neighbouring districts.</a:t>
            </a:r>
          </a:p>
        </p:txBody>
      </p:sp>
      <p:pic>
        <p:nvPicPr>
          <p:cNvPr id="27" name="Picture 26" descr="earth-africa_blue.png"/>
          <p:cNvPicPr>
            <a:picLocks noChangeAspect="1"/>
          </p:cNvPicPr>
          <p:nvPr/>
        </p:nvPicPr>
        <p:blipFill>
          <a:blip r:embed="rId11"/>
          <a:stretch>
            <a:fillRect/>
          </a:stretch>
        </p:blipFill>
        <p:spPr>
          <a:xfrm>
            <a:off x="6556248" y="4991100"/>
            <a:ext cx="502920" cy="502920"/>
          </a:xfrm>
          <a:prstGeom prst="rect">
            <a:avLst/>
          </a:prstGeom>
        </p:spPr>
      </p:pic>
      <p:sp>
        <p:nvSpPr>
          <p:cNvPr id="28" name="TextBox 27"/>
          <p:cNvSpPr txBox="1"/>
          <p:nvPr/>
        </p:nvSpPr>
        <p:spPr>
          <a:xfrm>
            <a:off x="7242048" y="4678680"/>
            <a:ext cx="3977640" cy="1127760"/>
          </a:xfrm>
          <a:prstGeom prst="rect">
            <a:avLst/>
          </a:prstGeom>
          <a:noFill/>
        </p:spPr>
        <p:txBody>
          <a:bodyPr wrap="square" anchor="ctr" lIns="45720" rIns="45720" tIns="27432" bIns="27432">
            <a:spAutoFit/>
          </a:bodyPr>
          <a:lstStyle/>
          <a:p>
            <a:pPr algn="l"/>
            <a:r>
              <a:rPr sz="1500" b="1">
                <a:solidFill>
                  <a:srgbClr val="1F4E79"/>
                </a:solidFill>
                <a:latin typeface="Calibri"/>
              </a:rPr>
              <a:t>A whole country is hidden</a:t>
            </a:r>
          </a:p>
          <a:p>
            <a:pPr algn="l">
              <a:spcBef>
                <a:spcPts val="300"/>
              </a:spcBef>
            </a:pPr>
            <a:r>
              <a:rPr sz="1200" b="0">
                <a:solidFill>
                  <a:srgbClr val="333333"/>
                </a:solidFill>
                <a:latin typeface="Calibri"/>
              </a:rPr>
              <a:t>Compared against chance, with countries kept whole.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accurate is it?</a:t>
            </a:r>
          </a:p>
        </p:txBody>
      </p:sp>
      <p:pic>
        <p:nvPicPr>
          <p:cNvPr descr="../../results/figures/mnf15/figE_odds_ruler.png" id="0" name="Picture 1"/>
          <p:cNvPicPr>
            <a:picLocks noGrp="1" noChangeAspect="1"/>
          </p:cNvPicPr>
          <p:nvPr/>
        </p:nvPicPr>
        <p:blipFill>
          <a:blip r:embed="rId3"/>
          <a:stretch>
            <a:fillRect/>
          </a:stretch>
        </p:blipFill>
        <p:spPr bwMode="auto">
          <a:xfrm>
            <a:off x="502920" y="1600200"/>
            <a:ext cx="11183112" cy="4578592"/>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Accuracy varies by micronutrient deficiency, not prevalence</a:t>
            </a:r>
          </a:p>
        </p:txBody>
      </p:sp>
      <p:pic>
        <p:nvPicPr>
          <p:cNvPr descr="../../results/figures/mnf15/figB_accuracy_by_nutrient.png" id="0" name="Picture 1"/>
          <p:cNvPicPr>
            <a:picLocks noGrp="1" noChangeAspect="1"/>
          </p:cNvPicPr>
          <p:nvPr/>
        </p:nvPicPr>
        <p:blipFill>
          <a:blip r:embed="rId3"/>
          <a:stretch>
            <a:fillRect/>
          </a:stretch>
        </p:blipFill>
        <p:spPr bwMode="auto">
          <a:xfrm>
            <a:off x="1356039" y="1600200"/>
            <a:ext cx="947687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Most important domains of proxy predictors</a:t>
            </a:r>
          </a:p>
        </p:txBody>
      </p:sp>
      <p:pic>
        <p:nvPicPr>
          <p:cNvPr descr="../../results/figures/mnf15/figD_women_domains.png" id="0" name="Picture 1"/>
          <p:cNvPicPr>
            <a:picLocks noGrp="1" noChangeAspect="1"/>
          </p:cNvPicPr>
          <p:nvPr/>
        </p:nvPicPr>
        <p:blipFill>
          <a:blip r:embed="rId3"/>
          <a:stretch>
            <a:fillRect/>
          </a:stretch>
        </p:blipFill>
        <p:spPr bwMode="auto">
          <a:xfrm>
            <a:off x="1356039" y="1600200"/>
            <a:ext cx="947687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Transporting predictions to a country with no data</a:t>
            </a:r>
          </a:p>
        </p:txBody>
      </p:sp>
      <p:pic>
        <p:nvPicPr>
          <p:cNvPr descr="../../results/figures/policy_deck/fig10_civ_ranking.png" id="0" name="Picture 1"/>
          <p:cNvPicPr>
            <a:picLocks noGrp="1" noChangeAspect="1"/>
          </p:cNvPicPr>
          <p:nvPr/>
        </p:nvPicPr>
        <p:blipFill>
          <a:blip r:embed="rId3"/>
          <a:stretch>
            <a:fillRect/>
          </a:stretch>
        </p:blipFill>
        <p:spPr bwMode="auto">
          <a:xfrm>
            <a:off x="1512851" y="1600200"/>
            <a:ext cx="916325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2007 Côte d’Ivoire survey agrees with the transported ranking</a:t>
            </a:r>
          </a:p>
        </p:txBody>
      </p:sp>
      <p:pic>
        <p:nvPicPr>
          <p:cNvPr descr="../../results/figures/mnf15/figQ_civ_2007_b12_check.png" id="0" name="Picture 1"/>
          <p:cNvPicPr>
            <a:picLocks noGrp="1" noChangeAspect="1"/>
          </p:cNvPicPr>
          <p:nvPr/>
        </p:nvPicPr>
        <p:blipFill>
          <a:blip r:embed="rId3"/>
          <a:stretch>
            <a:fillRect/>
          </a:stretch>
        </p:blipFill>
        <p:spPr bwMode="auto">
          <a:xfrm>
            <a:off x="1724205" y="1600200"/>
            <a:ext cx="8740541"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type of decisions can this model support?</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10515600" cy="548640"/>
          </a:xfrm>
          <a:prstGeom prst="roundRect">
            <a:avLst>
              <a:gd name="adj" fmla="val 13333"/>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_green.png"/>
          <p:cNvPicPr>
            <a:picLocks noChangeAspect="1"/>
          </p:cNvPicPr>
          <p:nvPr/>
        </p:nvPicPr>
        <p:blipFill>
          <a:blip r:embed="rId3"/>
          <a:stretch>
            <a:fillRect/>
          </a:stretch>
        </p:blipFill>
        <p:spPr>
          <a:xfrm>
            <a:off x="1069848" y="1783080"/>
            <a:ext cx="320040" cy="365760"/>
          </a:xfrm>
          <a:prstGeom prst="rect">
            <a:avLst/>
          </a:prstGeom>
        </p:spPr>
      </p:pic>
      <p:sp>
        <p:nvSpPr>
          <p:cNvPr id="9" name="TextBox 8"/>
          <p:cNvSpPr txBox="1"/>
          <p:nvPr/>
        </p:nvSpPr>
        <p:spPr>
          <a:xfrm>
            <a:off x="1618488" y="1691640"/>
            <a:ext cx="4206240" cy="548640"/>
          </a:xfrm>
          <a:prstGeom prst="rect">
            <a:avLst/>
          </a:prstGeom>
          <a:noFill/>
        </p:spPr>
        <p:txBody>
          <a:bodyPr wrap="square" anchor="ctr" lIns="45720" rIns="45720" tIns="27432" bIns="27432">
            <a:spAutoFit/>
          </a:bodyPr>
          <a:lstStyle/>
          <a:p>
            <a:pPr algn="l"/>
            <a:r>
              <a:rPr sz="1500" b="1">
                <a:solidFill>
                  <a:srgbClr val="1F4E79"/>
                </a:solidFill>
                <a:latin typeface="Calibri"/>
              </a:rPr>
              <a:t>Which districts to reach first</a:t>
            </a:r>
          </a:p>
        </p:txBody>
      </p:sp>
      <p:sp>
        <p:nvSpPr>
          <p:cNvPr id="10" name="TextBox 9"/>
          <p:cNvSpPr txBox="1"/>
          <p:nvPr/>
        </p:nvSpPr>
        <p:spPr>
          <a:xfrm>
            <a:off x="5870448" y="1691640"/>
            <a:ext cx="5394960" cy="548640"/>
          </a:xfrm>
          <a:prstGeom prst="rect">
            <a:avLst/>
          </a:prstGeom>
          <a:noFill/>
        </p:spPr>
        <p:txBody>
          <a:bodyPr wrap="square" anchor="ctr" lIns="45720" rIns="45720" tIns="27432" bIns="27432">
            <a:spAutoFit/>
          </a:bodyPr>
          <a:lstStyle/>
          <a:p>
            <a:pPr algn="l"/>
            <a:r>
              <a:rPr sz="1300" b="0">
                <a:solidFill>
                  <a:srgbClr val="333333"/>
                </a:solidFill>
                <a:latin typeface="Calibri"/>
              </a:rPr>
              <a:t>Today: the region's average.  With the model: a ranked list of every district.</a:t>
            </a:r>
          </a:p>
        </p:txBody>
      </p:sp>
      <p:sp>
        <p:nvSpPr>
          <p:cNvPr id="11" name="Rounded Rectangle 10"/>
          <p:cNvSpPr/>
          <p:nvPr/>
        </p:nvSpPr>
        <p:spPr>
          <a:xfrm>
            <a:off x="841248" y="2313432"/>
            <a:ext cx="10515600" cy="548640"/>
          </a:xfrm>
          <a:prstGeom prst="roundRect">
            <a:avLst>
              <a:gd name="adj" fmla="val 13333"/>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_green.png"/>
          <p:cNvPicPr>
            <a:picLocks noChangeAspect="1"/>
          </p:cNvPicPr>
          <p:nvPr/>
        </p:nvPicPr>
        <p:blipFill>
          <a:blip r:embed="rId3"/>
          <a:stretch>
            <a:fillRect/>
          </a:stretch>
        </p:blipFill>
        <p:spPr>
          <a:xfrm>
            <a:off x="1069848" y="2404872"/>
            <a:ext cx="320040" cy="365760"/>
          </a:xfrm>
          <a:prstGeom prst="rect">
            <a:avLst/>
          </a:prstGeom>
        </p:spPr>
      </p:pic>
      <p:sp>
        <p:nvSpPr>
          <p:cNvPr id="13" name="TextBox 12"/>
          <p:cNvSpPr txBox="1"/>
          <p:nvPr/>
        </p:nvSpPr>
        <p:spPr>
          <a:xfrm>
            <a:off x="1618488" y="2313432"/>
            <a:ext cx="4206240" cy="548640"/>
          </a:xfrm>
          <a:prstGeom prst="rect">
            <a:avLst/>
          </a:prstGeom>
          <a:noFill/>
        </p:spPr>
        <p:txBody>
          <a:bodyPr wrap="square" anchor="ctr" lIns="45720" rIns="45720" tIns="27432" bIns="27432">
            <a:spAutoFit/>
          </a:bodyPr>
          <a:lstStyle/>
          <a:p>
            <a:pPr algn="l"/>
            <a:r>
              <a:rPr sz="1500" b="1">
                <a:solidFill>
                  <a:srgbClr val="1F4E79"/>
                </a:solidFill>
                <a:latin typeface="Calibri"/>
              </a:rPr>
              <a:t>Where the next survey should sample</a:t>
            </a:r>
          </a:p>
        </p:txBody>
      </p:sp>
      <p:sp>
        <p:nvSpPr>
          <p:cNvPr id="14" name="TextBox 13"/>
          <p:cNvSpPr txBox="1"/>
          <p:nvPr/>
        </p:nvSpPr>
        <p:spPr>
          <a:xfrm>
            <a:off x="5870448" y="2313432"/>
            <a:ext cx="5394960" cy="548640"/>
          </a:xfrm>
          <a:prstGeom prst="rect">
            <a:avLst/>
          </a:prstGeom>
          <a:noFill/>
        </p:spPr>
        <p:txBody>
          <a:bodyPr wrap="square" anchor="ctr" lIns="45720" rIns="45720" tIns="27432" bIns="27432">
            <a:spAutoFit/>
          </a:bodyPr>
          <a:lstStyle/>
          <a:p>
            <a:pPr algn="l"/>
            <a:r>
              <a:rPr sz="1300" b="0">
                <a:solidFill>
                  <a:srgbClr val="333333"/>
                </a:solidFill>
                <a:latin typeface="Calibri"/>
              </a:rPr>
              <a:t>Today: an equal spread.  With the model: model-informed sampling.</a:t>
            </a:r>
          </a:p>
        </p:txBody>
      </p:sp>
      <p:sp>
        <p:nvSpPr>
          <p:cNvPr id="15" name="Rounded Rectangle 14"/>
          <p:cNvSpPr/>
          <p:nvPr/>
        </p:nvSpPr>
        <p:spPr>
          <a:xfrm>
            <a:off x="841248" y="2935224"/>
            <a:ext cx="10515600" cy="548640"/>
          </a:xfrm>
          <a:prstGeom prst="roundRect">
            <a:avLst>
              <a:gd name="adj" fmla="val 13333"/>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_green.png"/>
          <p:cNvPicPr>
            <a:picLocks noChangeAspect="1"/>
          </p:cNvPicPr>
          <p:nvPr/>
        </p:nvPicPr>
        <p:blipFill>
          <a:blip r:embed="rId3"/>
          <a:stretch>
            <a:fillRect/>
          </a:stretch>
        </p:blipFill>
        <p:spPr>
          <a:xfrm>
            <a:off x="1069848" y="3026664"/>
            <a:ext cx="320040" cy="365760"/>
          </a:xfrm>
          <a:prstGeom prst="rect">
            <a:avLst/>
          </a:prstGeom>
        </p:spPr>
      </p:pic>
      <p:sp>
        <p:nvSpPr>
          <p:cNvPr id="17" name="TextBox 16"/>
          <p:cNvSpPr txBox="1"/>
          <p:nvPr/>
        </p:nvSpPr>
        <p:spPr>
          <a:xfrm>
            <a:off x="1618488" y="2935224"/>
            <a:ext cx="4206240" cy="548640"/>
          </a:xfrm>
          <a:prstGeom prst="rect">
            <a:avLst/>
          </a:prstGeom>
          <a:noFill/>
        </p:spPr>
        <p:txBody>
          <a:bodyPr wrap="square" anchor="ctr" lIns="45720" rIns="45720" tIns="27432" bIns="27432">
            <a:spAutoFit/>
          </a:bodyPr>
          <a:lstStyle/>
          <a:p>
            <a:pPr algn="l"/>
            <a:r>
              <a:rPr sz="1500" b="1">
                <a:solidFill>
                  <a:srgbClr val="1F4E79"/>
                </a:solidFill>
                <a:latin typeface="Calibri"/>
              </a:rPr>
              <a:t>The order of a programme roll-out</a:t>
            </a:r>
          </a:p>
        </p:txBody>
      </p:sp>
      <p:sp>
        <p:nvSpPr>
          <p:cNvPr id="18" name="TextBox 17"/>
          <p:cNvSpPr txBox="1"/>
          <p:nvPr/>
        </p:nvSpPr>
        <p:spPr>
          <a:xfrm>
            <a:off x="5870448" y="2935224"/>
            <a:ext cx="5394960" cy="548640"/>
          </a:xfrm>
          <a:prstGeom prst="rect">
            <a:avLst/>
          </a:prstGeom>
          <a:noFill/>
        </p:spPr>
        <p:txBody>
          <a:bodyPr wrap="square" anchor="ctr" lIns="45720" rIns="45720" tIns="27432" bIns="27432">
            <a:spAutoFit/>
          </a:bodyPr>
          <a:lstStyle/>
          <a:p>
            <a:pPr algn="l"/>
            <a:r>
              <a:rPr sz="1300" b="0">
                <a:solidFill>
                  <a:srgbClr val="333333"/>
                </a:solidFill>
                <a:latin typeface="Calibri"/>
              </a:rPr>
              <a:t>Today: region by region.  With the model: a ranked list.</a:t>
            </a:r>
          </a:p>
        </p:txBody>
      </p:sp>
      <p:sp>
        <p:nvSpPr>
          <p:cNvPr id="19" name="Rounded Rectangle 18"/>
          <p:cNvSpPr/>
          <p:nvPr/>
        </p:nvSpPr>
        <p:spPr>
          <a:xfrm>
            <a:off x="841248" y="3557016"/>
            <a:ext cx="10515600" cy="548640"/>
          </a:xfrm>
          <a:prstGeom prst="roundRect">
            <a:avLst>
              <a:gd name="adj" fmla="val 13333"/>
            </a:avLst>
          </a:prstGeom>
          <a:solidFill>
            <a:srgbClr val="E6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_green.png"/>
          <p:cNvPicPr>
            <a:picLocks noChangeAspect="1"/>
          </p:cNvPicPr>
          <p:nvPr/>
        </p:nvPicPr>
        <p:blipFill>
          <a:blip r:embed="rId3"/>
          <a:stretch>
            <a:fillRect/>
          </a:stretch>
        </p:blipFill>
        <p:spPr>
          <a:xfrm>
            <a:off x="1069848" y="3648456"/>
            <a:ext cx="320040" cy="365760"/>
          </a:xfrm>
          <a:prstGeom prst="rect">
            <a:avLst/>
          </a:prstGeom>
        </p:spPr>
      </p:pic>
      <p:sp>
        <p:nvSpPr>
          <p:cNvPr id="21" name="TextBox 20"/>
          <p:cNvSpPr txBox="1"/>
          <p:nvPr/>
        </p:nvSpPr>
        <p:spPr>
          <a:xfrm>
            <a:off x="1618488" y="3557016"/>
            <a:ext cx="4206240" cy="548640"/>
          </a:xfrm>
          <a:prstGeom prst="rect">
            <a:avLst/>
          </a:prstGeom>
          <a:noFill/>
        </p:spPr>
        <p:txBody>
          <a:bodyPr wrap="square" anchor="ctr" lIns="45720" rIns="45720" tIns="27432" bIns="27432">
            <a:spAutoFit/>
          </a:bodyPr>
          <a:lstStyle/>
          <a:p>
            <a:pPr algn="l"/>
            <a:r>
              <a:rPr sz="1500" b="1">
                <a:solidFill>
                  <a:srgbClr val="1F4E79"/>
                </a:solidFill>
                <a:latin typeface="Calibri"/>
              </a:rPr>
              <a:t>District prevalence in a surveyed country</a:t>
            </a:r>
          </a:p>
        </p:txBody>
      </p:sp>
      <p:sp>
        <p:nvSpPr>
          <p:cNvPr id="22" name="TextBox 21"/>
          <p:cNvSpPr txBox="1"/>
          <p:nvPr/>
        </p:nvSpPr>
        <p:spPr>
          <a:xfrm>
            <a:off x="5870448" y="3557016"/>
            <a:ext cx="5394960" cy="548640"/>
          </a:xfrm>
          <a:prstGeom prst="rect">
            <a:avLst/>
          </a:prstGeom>
          <a:noFill/>
        </p:spPr>
        <p:txBody>
          <a:bodyPr wrap="square" anchor="ctr" lIns="45720" rIns="45720" tIns="27432" bIns="27432">
            <a:spAutoFit/>
          </a:bodyPr>
          <a:lstStyle/>
          <a:p>
            <a:pPr algn="l"/>
            <a:r>
              <a:rPr sz="1300" b="0">
                <a:solidFill>
                  <a:srgbClr val="333333"/>
                </a:solidFill>
                <a:latin typeface="Calibri"/>
              </a:rPr>
              <a:t>Today: the region's average.  With the model: the ranking plus the survey.</a:t>
            </a:r>
          </a:p>
        </p:txBody>
      </p:sp>
      <p:sp>
        <p:nvSpPr>
          <p:cNvPr id="23" name="Rounded Rectangle 22"/>
          <p:cNvSpPr/>
          <p:nvPr/>
        </p:nvSpPr>
        <p:spPr>
          <a:xfrm>
            <a:off x="841248" y="4178808"/>
            <a:ext cx="10515600" cy="548640"/>
          </a:xfrm>
          <a:prstGeom prst="roundRect">
            <a:avLst>
              <a:gd name="adj" fmla="val 13333"/>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triangle-exclamation_amber.png"/>
          <p:cNvPicPr>
            <a:picLocks noChangeAspect="1"/>
          </p:cNvPicPr>
          <p:nvPr/>
        </p:nvPicPr>
        <p:blipFill>
          <a:blip r:embed="rId4"/>
          <a:stretch>
            <a:fillRect/>
          </a:stretch>
        </p:blipFill>
        <p:spPr>
          <a:xfrm>
            <a:off x="1069848" y="4270248"/>
            <a:ext cx="365760" cy="365760"/>
          </a:xfrm>
          <a:prstGeom prst="rect">
            <a:avLst/>
          </a:prstGeom>
        </p:spPr>
      </p:pic>
      <p:sp>
        <p:nvSpPr>
          <p:cNvPr id="25" name="TextBox 24"/>
          <p:cNvSpPr txBox="1"/>
          <p:nvPr/>
        </p:nvSpPr>
        <p:spPr>
          <a:xfrm>
            <a:off x="1618488" y="4178808"/>
            <a:ext cx="4206240" cy="548640"/>
          </a:xfrm>
          <a:prstGeom prst="rect">
            <a:avLst/>
          </a:prstGeom>
          <a:noFill/>
        </p:spPr>
        <p:txBody>
          <a:bodyPr wrap="square" anchor="ctr" lIns="45720" rIns="45720" tIns="27432" bIns="27432">
            <a:spAutoFit/>
          </a:bodyPr>
          <a:lstStyle/>
          <a:p>
            <a:pPr algn="l"/>
            <a:r>
              <a:rPr sz="1500" b="1">
                <a:solidFill>
                  <a:srgbClr val="1F4E79"/>
                </a:solidFill>
                <a:latin typeface="Calibri"/>
              </a:rPr>
              <a:t>District prevalence with no survey</a:t>
            </a:r>
          </a:p>
        </p:txBody>
      </p:sp>
      <p:sp>
        <p:nvSpPr>
          <p:cNvPr id="26" name="TextBox 25"/>
          <p:cNvSpPr txBox="1"/>
          <p:nvPr/>
        </p:nvSpPr>
        <p:spPr>
          <a:xfrm>
            <a:off x="5870448" y="4178808"/>
            <a:ext cx="5394960" cy="548640"/>
          </a:xfrm>
          <a:prstGeom prst="rect">
            <a:avLst/>
          </a:prstGeom>
          <a:noFill/>
        </p:spPr>
        <p:txBody>
          <a:bodyPr wrap="square" anchor="ctr" lIns="45720" rIns="45720" tIns="27432" bIns="27432">
            <a:spAutoFit/>
          </a:bodyPr>
          <a:lstStyle/>
          <a:p>
            <a:pPr algn="l"/>
            <a:r>
              <a:rPr sz="1300" b="0">
                <a:solidFill>
                  <a:srgbClr val="333333"/>
                </a:solidFill>
                <a:latin typeface="Calibri"/>
              </a:rPr>
              <a:t>Today: a national number, if any.  With the model: the ranking plus one national sample.</a:t>
            </a:r>
          </a:p>
        </p:txBody>
      </p:sp>
      <p:sp>
        <p:nvSpPr>
          <p:cNvPr id="27" name="Rounded Rectangle 26"/>
          <p:cNvSpPr/>
          <p:nvPr/>
        </p:nvSpPr>
        <p:spPr>
          <a:xfrm>
            <a:off x="841248" y="4800600"/>
            <a:ext cx="10515600" cy="548640"/>
          </a:xfrm>
          <a:prstGeom prst="roundRect">
            <a:avLst>
              <a:gd name="adj" fmla="val 13333"/>
            </a:avLst>
          </a:prstGeom>
          <a:solidFill>
            <a:srgbClr val="FC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triangle-exclamation_amber.png"/>
          <p:cNvPicPr>
            <a:picLocks noChangeAspect="1"/>
          </p:cNvPicPr>
          <p:nvPr/>
        </p:nvPicPr>
        <p:blipFill>
          <a:blip r:embed="rId4"/>
          <a:stretch>
            <a:fillRect/>
          </a:stretch>
        </p:blipFill>
        <p:spPr>
          <a:xfrm>
            <a:off x="1069848" y="4892040"/>
            <a:ext cx="365760" cy="365760"/>
          </a:xfrm>
          <a:prstGeom prst="rect">
            <a:avLst/>
          </a:prstGeom>
        </p:spPr>
      </p:pic>
      <p:sp>
        <p:nvSpPr>
          <p:cNvPr id="29" name="TextBox 28"/>
          <p:cNvSpPr txBox="1"/>
          <p:nvPr/>
        </p:nvSpPr>
        <p:spPr>
          <a:xfrm>
            <a:off x="1618488" y="4800600"/>
            <a:ext cx="4206240" cy="548640"/>
          </a:xfrm>
          <a:prstGeom prst="rect">
            <a:avLst/>
          </a:prstGeom>
          <a:noFill/>
        </p:spPr>
        <p:txBody>
          <a:bodyPr wrap="square" anchor="ctr" lIns="45720" rIns="45720" tIns="27432" bIns="27432">
            <a:spAutoFit/>
          </a:bodyPr>
          <a:lstStyle/>
          <a:p>
            <a:pPr algn="l"/>
            <a:r>
              <a:rPr sz="1500" b="1">
                <a:solidFill>
                  <a:srgbClr val="1F4E79"/>
                </a:solidFill>
                <a:latin typeface="Calibri"/>
              </a:rPr>
              <a:t>Targeting a district intervention</a:t>
            </a:r>
          </a:p>
        </p:txBody>
      </p:sp>
      <p:sp>
        <p:nvSpPr>
          <p:cNvPr id="30" name="TextBox 29"/>
          <p:cNvSpPr txBox="1"/>
          <p:nvPr/>
        </p:nvSpPr>
        <p:spPr>
          <a:xfrm>
            <a:off x="5870448" y="4800600"/>
            <a:ext cx="5394960" cy="548640"/>
          </a:xfrm>
          <a:prstGeom prst="rect">
            <a:avLst/>
          </a:prstGeom>
          <a:noFill/>
        </p:spPr>
        <p:txBody>
          <a:bodyPr wrap="square" anchor="ctr" lIns="45720" rIns="45720" tIns="27432" bIns="27432">
            <a:spAutoFit/>
          </a:bodyPr>
          <a:lstStyle/>
          <a:p>
            <a:pPr algn="l"/>
            <a:r>
              <a:rPr sz="1300" b="0">
                <a:solidFill>
                  <a:srgbClr val="333333"/>
                </a:solidFill>
                <a:latin typeface="Calibri"/>
              </a:rPr>
              <a:t>Today: population and the national rate.  With the model: model-targeted districts, likely better than untargeted.</a:t>
            </a:r>
          </a:p>
        </p:txBody>
      </p:sp>
      <p:sp>
        <p:nvSpPr>
          <p:cNvPr id="31" name="TextBox 30"/>
          <p:cNvSpPr txBox="1"/>
          <p:nvPr/>
        </p:nvSpPr>
        <p:spPr>
          <a:xfrm>
            <a:off x="841248" y="5422392"/>
            <a:ext cx="10515600" cy="475488"/>
          </a:xfrm>
          <a:prstGeom prst="rect">
            <a:avLst/>
          </a:prstGeom>
          <a:noFill/>
        </p:spPr>
        <p:txBody>
          <a:bodyPr wrap="square" anchor="t" lIns="45720" rIns="45720" tIns="27432" bIns="27432">
            <a:spAutoFit/>
          </a:bodyPr>
          <a:lstStyle/>
          <a:p>
            <a:pPr algn="l"/>
            <a:r>
              <a:rPr sz="1250" b="1">
                <a:solidFill>
                  <a:srgbClr val="1F4E79"/>
                </a:solidFill>
                <a:latin typeface="Calibri"/>
              </a:rPr>
              <a:t>Binduri, Upper East.</a:t>
            </a:r>
            <a:r>
              <a:rPr sz="1250">
                <a:solidFill>
                  <a:srgbClr val="333333"/>
                </a:solidFill>
                <a:latin typeface="Calibri"/>
              </a:rPr>
              <a:t> Geographic interpolation from its region ranks it 12th worst for children's iron. Our model, which never saw it, ranks it 1st. The survey measured it 6th worst of 75.</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Every survey added improves every other country’s map</a:t>
            </a:r>
          </a:p>
        </p:txBody>
      </p:sp>
      <p:pic>
        <p:nvPicPr>
          <p:cNvPr descr="../../results/figures/mnf15/figK_pooling_curve.png" id="0" name="Picture 1"/>
          <p:cNvPicPr>
            <a:picLocks noGrp="1" noChangeAspect="1"/>
          </p:cNvPicPr>
          <p:nvPr/>
        </p:nvPicPr>
        <p:blipFill>
          <a:blip r:embed="rId3"/>
          <a:stretch>
            <a:fillRect/>
          </a:stretch>
        </p:blipFill>
        <p:spPr bwMode="auto">
          <a:xfrm>
            <a:off x="940148" y="1600200"/>
            <a:ext cx="1030865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Conclusions and next steps</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
        <p:nvSpPr>
          <p:cNvPr id="7" name="Rounded Rectangle 6"/>
          <p:cNvSpPr/>
          <p:nvPr/>
        </p:nvSpPr>
        <p:spPr>
          <a:xfrm>
            <a:off x="841248" y="1691640"/>
            <a:ext cx="5029200" cy="3346704"/>
          </a:xfrm>
          <a:prstGeom prst="roundRect">
            <a:avLst>
              <a:gd name="adj" fmla="val 327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12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agnifying-glass-chart_white.png"/>
          <p:cNvPicPr>
            <a:picLocks noChangeAspect="1"/>
          </p:cNvPicPr>
          <p:nvPr/>
        </p:nvPicPr>
        <p:blipFill>
          <a:blip r:embed="rId3"/>
          <a:stretch>
            <a:fillRect/>
          </a:stretch>
        </p:blipFill>
        <p:spPr>
          <a:xfrm>
            <a:off x="1024128" y="1810512"/>
            <a:ext cx="402336" cy="402336"/>
          </a:xfrm>
          <a:prstGeom prst="rect">
            <a:avLst/>
          </a:prstGeom>
        </p:spPr>
      </p:pic>
      <p:sp>
        <p:nvSpPr>
          <p:cNvPr id="10" name="TextBox 9"/>
          <p:cNvSpPr txBox="1"/>
          <p:nvPr/>
        </p:nvSpPr>
        <p:spPr>
          <a:xfrm>
            <a:off x="15270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What we found</a:t>
            </a:r>
          </a:p>
        </p:txBody>
      </p:sp>
      <p:pic>
        <p:nvPicPr>
          <p:cNvPr id="11" name="Picture 10" descr="satellite_blue.png"/>
          <p:cNvPicPr>
            <a:picLocks noChangeAspect="1"/>
          </p:cNvPicPr>
          <p:nvPr/>
        </p:nvPicPr>
        <p:blipFill>
          <a:blip r:embed="rId4"/>
          <a:stretch>
            <a:fillRect/>
          </a:stretch>
        </p:blipFill>
        <p:spPr>
          <a:xfrm>
            <a:off x="1069848" y="2592324"/>
            <a:ext cx="502920" cy="502920"/>
          </a:xfrm>
          <a:prstGeom prst="rect">
            <a:avLst/>
          </a:prstGeom>
        </p:spPr>
      </p:pic>
      <p:sp>
        <p:nvSpPr>
          <p:cNvPr id="12" name="TextBox 11"/>
          <p:cNvSpPr txBox="1"/>
          <p:nvPr/>
        </p:nvSpPr>
        <p:spPr>
          <a:xfrm>
            <a:off x="1755648" y="2423160"/>
            <a:ext cx="3977640" cy="841248"/>
          </a:xfrm>
          <a:prstGeom prst="rect">
            <a:avLst/>
          </a:prstGeom>
          <a:noFill/>
        </p:spPr>
        <p:txBody>
          <a:bodyPr wrap="square" anchor="ctr" lIns="45720" rIns="45720" tIns="27432" bIns="27432">
            <a:spAutoFit/>
          </a:bodyPr>
          <a:lstStyle/>
          <a:p>
            <a:pPr algn="l"/>
            <a:r>
              <a:rPr sz="1500" b="1">
                <a:solidFill>
                  <a:srgbClr val="1F4E79"/>
                </a:solidFill>
                <a:latin typeface="Calibri"/>
              </a:rPr>
              <a:t>Public data carry real information about deficiency</a:t>
            </a:r>
          </a:p>
          <a:p>
            <a:pPr algn="l">
              <a:spcBef>
                <a:spcPts val="300"/>
              </a:spcBef>
            </a:pPr>
            <a:r>
              <a:rPr sz="1200" b="0">
                <a:solidFill>
                  <a:srgbClr val="333333"/>
                </a:solidFill>
                <a:latin typeface="Calibri"/>
              </a:rPr>
              <a:t>Most of it in environmental and climate layers, measured everywhere, every year.</a:t>
            </a:r>
          </a:p>
        </p:txBody>
      </p:sp>
      <p:pic>
        <p:nvPicPr>
          <p:cNvPr id="13" name="Picture 12" descr="ranking-star_blue.png"/>
          <p:cNvPicPr>
            <a:picLocks noChangeAspect="1"/>
          </p:cNvPicPr>
          <p:nvPr/>
        </p:nvPicPr>
        <p:blipFill>
          <a:blip r:embed="rId5"/>
          <a:stretch>
            <a:fillRect/>
          </a:stretch>
        </p:blipFill>
        <p:spPr>
          <a:xfrm>
            <a:off x="1069848" y="3433572"/>
            <a:ext cx="628650" cy="502920"/>
          </a:xfrm>
          <a:prstGeom prst="rect">
            <a:avLst/>
          </a:prstGeom>
        </p:spPr>
      </p:pic>
      <p:sp>
        <p:nvSpPr>
          <p:cNvPr id="14" name="TextBox 13"/>
          <p:cNvSpPr txBox="1"/>
          <p:nvPr/>
        </p:nvSpPr>
        <p:spPr>
          <a:xfrm>
            <a:off x="1755648" y="3264408"/>
            <a:ext cx="3977640" cy="841248"/>
          </a:xfrm>
          <a:prstGeom prst="rect">
            <a:avLst/>
          </a:prstGeom>
          <a:noFill/>
        </p:spPr>
        <p:txBody>
          <a:bodyPr wrap="square" anchor="ctr" lIns="45720" rIns="45720" tIns="27432" bIns="27432">
            <a:spAutoFit/>
          </a:bodyPr>
          <a:lstStyle/>
          <a:p>
            <a:pPr algn="l"/>
            <a:r>
              <a:rPr sz="1500" b="1">
                <a:solidFill>
                  <a:srgbClr val="1F4E79"/>
                </a:solidFill>
                <a:latin typeface="Calibri"/>
              </a:rPr>
              <a:t>The model ranks districts better than regional averages</a:t>
            </a:r>
          </a:p>
          <a:p>
            <a:pPr algn="l">
              <a:spcBef>
                <a:spcPts val="300"/>
              </a:spcBef>
            </a:pPr>
            <a:r>
              <a:rPr sz="1200" b="0">
                <a:solidFill>
                  <a:srgbClr val="333333"/>
                </a:solidFill>
                <a:latin typeface="Calibri"/>
              </a:rPr>
              <a:t>In surveyed countries and in a country never surveyed.</a:t>
            </a:r>
          </a:p>
        </p:txBody>
      </p:sp>
      <p:pic>
        <p:nvPicPr>
          <p:cNvPr id="15" name="Picture 14" descr="layer-group_blue.png"/>
          <p:cNvPicPr>
            <a:picLocks noChangeAspect="1"/>
          </p:cNvPicPr>
          <p:nvPr/>
        </p:nvPicPr>
        <p:blipFill>
          <a:blip r:embed="rId6"/>
          <a:stretch>
            <a:fillRect/>
          </a:stretch>
        </p:blipFill>
        <p:spPr>
          <a:xfrm>
            <a:off x="1069848" y="4274820"/>
            <a:ext cx="565785" cy="502920"/>
          </a:xfrm>
          <a:prstGeom prst="rect">
            <a:avLst/>
          </a:prstGeom>
        </p:spPr>
      </p:pic>
      <p:sp>
        <p:nvSpPr>
          <p:cNvPr id="16" name="TextBox 15"/>
          <p:cNvSpPr txBox="1"/>
          <p:nvPr/>
        </p:nvSpPr>
        <p:spPr>
          <a:xfrm>
            <a:off x="1755648" y="4105656"/>
            <a:ext cx="3977640" cy="841248"/>
          </a:xfrm>
          <a:prstGeom prst="rect">
            <a:avLst/>
          </a:prstGeom>
          <a:noFill/>
        </p:spPr>
        <p:txBody>
          <a:bodyPr wrap="square" anchor="ctr" lIns="45720" rIns="45720" tIns="27432" bIns="27432">
            <a:spAutoFit/>
          </a:bodyPr>
          <a:lstStyle/>
          <a:p>
            <a:pPr algn="l"/>
            <a:r>
              <a:rPr sz="1500" b="1">
                <a:solidFill>
                  <a:srgbClr val="1F4E79"/>
                </a:solidFill>
                <a:latin typeface="Calibri"/>
              </a:rPr>
              <a:t>Every survey added improves every other country's map</a:t>
            </a:r>
          </a:p>
          <a:p>
            <a:pPr algn="l">
              <a:spcBef>
                <a:spcPts val="300"/>
              </a:spcBef>
            </a:pPr>
            <a:r>
              <a:rPr sz="1200" b="0">
                <a:solidFill>
                  <a:srgbClr val="333333"/>
                </a:solidFill>
                <a:latin typeface="Calibri"/>
              </a:rPr>
              <a:t>The limit today is surveys, not predictors.</a:t>
            </a:r>
          </a:p>
        </p:txBody>
      </p:sp>
      <p:sp>
        <p:nvSpPr>
          <p:cNvPr id="17" name="Rounded Rectangle 16"/>
          <p:cNvSpPr/>
          <p:nvPr/>
        </p:nvSpPr>
        <p:spPr>
          <a:xfrm>
            <a:off x="6327648" y="1691640"/>
            <a:ext cx="5029200" cy="3346704"/>
          </a:xfrm>
          <a:prstGeom prst="roundRect">
            <a:avLst>
              <a:gd name="adj" fmla="val 3278"/>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327648" y="1691640"/>
            <a:ext cx="5029200" cy="640080"/>
          </a:xfrm>
          <a:prstGeom prst="roundRect">
            <a:avLst>
              <a:gd name="adj" fmla="val 17142"/>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lag-checkered_white.png"/>
          <p:cNvPicPr>
            <a:picLocks noChangeAspect="1"/>
          </p:cNvPicPr>
          <p:nvPr/>
        </p:nvPicPr>
        <p:blipFill>
          <a:blip r:embed="rId7"/>
          <a:stretch>
            <a:fillRect/>
          </a:stretch>
        </p:blipFill>
        <p:spPr>
          <a:xfrm>
            <a:off x="6510528" y="1810512"/>
            <a:ext cx="352044" cy="402336"/>
          </a:xfrm>
          <a:prstGeom prst="rect">
            <a:avLst/>
          </a:prstGeom>
        </p:spPr>
      </p:pic>
      <p:sp>
        <p:nvSpPr>
          <p:cNvPr id="20" name="TextBox 19"/>
          <p:cNvSpPr txBox="1"/>
          <p:nvPr/>
        </p:nvSpPr>
        <p:spPr>
          <a:xfrm>
            <a:off x="7013448" y="1691640"/>
            <a:ext cx="4251960" cy="640080"/>
          </a:xfrm>
          <a:prstGeom prst="rect">
            <a:avLst/>
          </a:prstGeom>
          <a:noFill/>
        </p:spPr>
        <p:txBody>
          <a:bodyPr wrap="square" anchor="ctr" lIns="45720" rIns="45720" tIns="27432" bIns="27432">
            <a:spAutoFit/>
          </a:bodyPr>
          <a:lstStyle/>
          <a:p>
            <a:pPr algn="l"/>
            <a:r>
              <a:rPr sz="1800" b="1">
                <a:solidFill>
                  <a:srgbClr val="FFFFFF"/>
                </a:solidFill>
                <a:latin typeface="Calibri"/>
              </a:rPr>
              <a:t>Next steps</a:t>
            </a:r>
          </a:p>
        </p:txBody>
      </p:sp>
      <p:pic>
        <p:nvPicPr>
          <p:cNvPr id="21" name="Picture 20" descr="map-location-dot_blue.png"/>
          <p:cNvPicPr>
            <a:picLocks noChangeAspect="1"/>
          </p:cNvPicPr>
          <p:nvPr/>
        </p:nvPicPr>
        <p:blipFill>
          <a:blip r:embed="rId8"/>
          <a:stretch>
            <a:fillRect/>
          </a:stretch>
        </p:blipFill>
        <p:spPr>
          <a:xfrm>
            <a:off x="6556248" y="2592324"/>
            <a:ext cx="565785" cy="502920"/>
          </a:xfrm>
          <a:prstGeom prst="rect">
            <a:avLst/>
          </a:prstGeom>
        </p:spPr>
      </p:pic>
      <p:sp>
        <p:nvSpPr>
          <p:cNvPr id="22" name="TextBox 21"/>
          <p:cNvSpPr txBox="1"/>
          <p:nvPr/>
        </p:nvSpPr>
        <p:spPr>
          <a:xfrm>
            <a:off x="7242048" y="2423160"/>
            <a:ext cx="3977640" cy="841248"/>
          </a:xfrm>
          <a:prstGeom prst="rect">
            <a:avLst/>
          </a:prstGeom>
          <a:noFill/>
        </p:spPr>
        <p:txBody>
          <a:bodyPr wrap="square" anchor="ctr" lIns="45720" rIns="45720" tIns="27432" bIns="27432">
            <a:spAutoFit/>
          </a:bodyPr>
          <a:lstStyle/>
          <a:p>
            <a:pPr algn="l"/>
            <a:r>
              <a:rPr sz="1500" b="1">
                <a:solidFill>
                  <a:srgbClr val="1F4E79"/>
                </a:solidFill>
                <a:latin typeface="Calibri"/>
              </a:rPr>
              <a:t>Make surveys count for more</a:t>
            </a:r>
          </a:p>
          <a:p>
            <a:pPr algn="l">
              <a:spcBef>
                <a:spcPts val="300"/>
              </a:spcBef>
            </a:pPr>
            <a:r>
              <a:rPr sz="1200" b="0">
                <a:solidFill>
                  <a:srgbClr val="333333"/>
                </a:solidFill>
                <a:latin typeface="Calibri"/>
              </a:rPr>
              <a:t>Which districts to sample, where to place clusters, how to fill the gaps.</a:t>
            </a:r>
          </a:p>
        </p:txBody>
      </p:sp>
      <p:pic>
        <p:nvPicPr>
          <p:cNvPr id="23" name="Picture 22" descr="vials_blue.png"/>
          <p:cNvPicPr>
            <a:picLocks noChangeAspect="1"/>
          </p:cNvPicPr>
          <p:nvPr/>
        </p:nvPicPr>
        <p:blipFill>
          <a:blip r:embed="rId9"/>
          <a:stretch>
            <a:fillRect/>
          </a:stretch>
        </p:blipFill>
        <p:spPr>
          <a:xfrm>
            <a:off x="6556248" y="3433572"/>
            <a:ext cx="502920" cy="502920"/>
          </a:xfrm>
          <a:prstGeom prst="rect">
            <a:avLst/>
          </a:prstGeom>
        </p:spPr>
      </p:pic>
      <p:sp>
        <p:nvSpPr>
          <p:cNvPr id="24" name="TextBox 23"/>
          <p:cNvSpPr txBox="1"/>
          <p:nvPr/>
        </p:nvSpPr>
        <p:spPr>
          <a:xfrm>
            <a:off x="7242048" y="3264408"/>
            <a:ext cx="3977640" cy="841248"/>
          </a:xfrm>
          <a:prstGeom prst="rect">
            <a:avLst/>
          </a:prstGeom>
          <a:noFill/>
        </p:spPr>
        <p:txBody>
          <a:bodyPr wrap="square" anchor="ctr" lIns="45720" rIns="45720" tIns="27432" bIns="27432">
            <a:spAutoFit/>
          </a:bodyPr>
          <a:lstStyle/>
          <a:p>
            <a:pPr algn="l"/>
            <a:r>
              <a:rPr sz="1500" b="1">
                <a:solidFill>
                  <a:srgbClr val="1F4E79"/>
                </a:solidFill>
                <a:latin typeface="Calibri"/>
              </a:rPr>
              <a:t>Add surveys to the pool</a:t>
            </a:r>
          </a:p>
          <a:p>
            <a:pPr algn="l">
              <a:spcBef>
                <a:spcPts val="300"/>
              </a:spcBef>
            </a:pPr>
            <a:r>
              <a:rPr sz="1200" b="0">
                <a:solidFill>
                  <a:srgbClr val="333333"/>
                </a:solidFill>
                <a:latin typeface="Calibri"/>
              </a:rPr>
              <a:t>And test the model on a fifth country before anyone acts on it.</a:t>
            </a:r>
          </a:p>
        </p:txBody>
      </p:sp>
      <p:pic>
        <p:nvPicPr>
          <p:cNvPr id="25" name="Picture 24" descr="handshake_blue.png"/>
          <p:cNvPicPr>
            <a:picLocks noChangeAspect="1"/>
          </p:cNvPicPr>
          <p:nvPr/>
        </p:nvPicPr>
        <p:blipFill>
          <a:blip r:embed="rId10"/>
          <a:stretch>
            <a:fillRect/>
          </a:stretch>
        </p:blipFill>
        <p:spPr>
          <a:xfrm>
            <a:off x="6556248" y="4274820"/>
            <a:ext cx="628650" cy="502920"/>
          </a:xfrm>
          <a:prstGeom prst="rect">
            <a:avLst/>
          </a:prstGeom>
        </p:spPr>
      </p:pic>
      <p:sp>
        <p:nvSpPr>
          <p:cNvPr id="26" name="TextBox 25"/>
          <p:cNvSpPr txBox="1"/>
          <p:nvPr/>
        </p:nvSpPr>
        <p:spPr>
          <a:xfrm>
            <a:off x="7242048" y="4105656"/>
            <a:ext cx="3977640" cy="841248"/>
          </a:xfrm>
          <a:prstGeom prst="rect">
            <a:avLst/>
          </a:prstGeom>
          <a:noFill/>
        </p:spPr>
        <p:txBody>
          <a:bodyPr wrap="square" anchor="ctr" lIns="45720" rIns="45720" tIns="27432" bIns="27432">
            <a:spAutoFit/>
          </a:bodyPr>
          <a:lstStyle/>
          <a:p>
            <a:pPr algn="l"/>
            <a:r>
              <a:rPr sz="1500" b="1">
                <a:solidFill>
                  <a:srgbClr val="1F4E79"/>
                </a:solidFill>
                <a:latin typeface="Calibri"/>
              </a:rPr>
              <a:t>Compare with the MIMI and GBD models</a:t>
            </a:r>
          </a:p>
          <a:p>
            <a:pPr algn="l">
              <a:spcBef>
                <a:spcPts val="300"/>
              </a:spcBef>
            </a:pPr>
            <a:r>
              <a:rPr sz="1200" b="0">
                <a:solidFill>
                  <a:srgbClr val="333333"/>
                </a:solidFill>
                <a:latin typeface="Calibri"/>
              </a:rPr>
              <a:t>Framework by framework.</a:t>
            </a:r>
          </a:p>
        </p:txBody>
      </p:sp>
      <p:sp>
        <p:nvSpPr>
          <p:cNvPr id="27" name="Rounded Rectangle 26"/>
          <p:cNvSpPr/>
          <p:nvPr/>
        </p:nvSpPr>
        <p:spPr>
          <a:xfrm>
            <a:off x="841248" y="5239512"/>
            <a:ext cx="10515600" cy="658368"/>
          </a:xfrm>
          <a:prstGeom prst="roundRect">
            <a:avLst>
              <a:gd name="adj" fmla="val 16666"/>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115568" y="5239512"/>
            <a:ext cx="9966960" cy="658368"/>
          </a:xfrm>
          <a:prstGeom prst="rect">
            <a:avLst/>
          </a:prstGeom>
          <a:noFill/>
        </p:spPr>
        <p:txBody>
          <a:bodyPr wrap="square" anchor="ctr" lIns="45720" rIns="45720" tIns="27432" bIns="27432">
            <a:spAutoFit/>
          </a:bodyPr>
          <a:lstStyle/>
          <a:p>
            <a:pPr algn="ctr"/>
            <a:r>
              <a:rPr sz="2000" b="1">
                <a:solidFill>
                  <a:srgbClr val="FFFFFF"/>
                </a:solidFill>
                <a:latin typeface="Calibri"/>
              </a:rPr>
              <a:t>Modelling extends a survey's reach. It does not replace the survey.</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D54DC-FB72-5297-5F8C-C5018B014C17}"/>
              </a:ext>
            </a:extLst>
          </p:cNvPr>
          <p:cNvSpPr>
            <a:spLocks noGrp="1"/>
          </p:cNvSpPr>
          <p:nvPr>
            <p:ph type="title"/>
          </p:nvPr>
        </p:nvSpPr>
        <p:spPr>
          <a:xfrm>
            <a:off x="831850" y="1709738"/>
            <a:ext cx="10515600" cy="2852737"/>
          </a:xfrm>
        </p:spPr>
        <p:txBody>
          <a:bodyPr/>
          <a:lstStyle/>
          <a:p>
            <a:pPr lvl="0" indent="0" marL="0">
              <a:buNone/>
            </a:pPr>
            <a:r>
              <a:rPr/>
              <a:t>Appendix</a:t>
            </a:r>
          </a:p>
        </p:txBody>
      </p:sp>
      <p:sp>
        <p:nvSpPr>
          <p:cNvPr id="6" name="Slide Number Placeholder 5">
            <a:extLst>
              <a:ext uri="{FF2B5EF4-FFF2-40B4-BE49-F238E27FC236}">
                <a16:creationId xmlns:a16="http://schemas.microsoft.com/office/drawing/2014/main" id="{C949C2AB-C32B-F139-A9B4-170A9888AC27}"/>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live dashboard</a:t>
            </a:r>
          </a:p>
        </p:txBody>
      </p:sp>
      <p:pic>
        <p:nvPicPr>
          <p:cNvPr descr="../../results/figures/mnf15/figS_dashboard_start.png" id="0" name="Picture 1"/>
          <p:cNvPicPr>
            <a:picLocks noGrp="1" noChangeAspect="1"/>
          </p:cNvPicPr>
          <p:nvPr/>
        </p:nvPicPr>
        <p:blipFill>
          <a:blip r:embed="rId3"/>
          <a:stretch>
            <a:fillRect/>
          </a:stretch>
        </p:blipFill>
        <p:spPr bwMode="auto">
          <a:xfrm>
            <a:off x="2446902" y="1600200"/>
            <a:ext cx="7295147"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Most districts rest on a single survey cluster</a:t>
            </a:r>
          </a:p>
        </p:txBody>
      </p:sp>
      <p:pic>
        <p:nvPicPr>
          <p:cNvPr descr="../../results/figures/mnf15/figJ_ceiling_staircase.png" id="0" name="Picture 1"/>
          <p:cNvPicPr>
            <a:picLocks noGrp="1" noChangeAspect="1"/>
          </p:cNvPicPr>
          <p:nvPr/>
        </p:nvPicPr>
        <p:blipFill>
          <a:blip r:embed="rId3"/>
          <a:stretch>
            <a:fillRect/>
          </a:stretch>
        </p:blipFill>
        <p:spPr bwMode="auto">
          <a:xfrm>
            <a:off x="1131049" y="1600200"/>
            <a:ext cx="9926854"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Predictor groups, with country coverage</a:t>
            </a:r>
          </a:p>
        </p:txBody>
      </p:sp>
      <p:pic>
        <p:nvPicPr>
          <p:cNvPr descr="../../results/figures/mnf15/figR_predictor_groups.png" id="0" name="Picture 1"/>
          <p:cNvPicPr>
            <a:picLocks noGrp="1" noChangeAspect="1"/>
          </p:cNvPicPr>
          <p:nvPr/>
        </p:nvPicPr>
        <p:blipFill>
          <a:blip r:embed="rId3"/>
          <a:stretch>
            <a:fillRect/>
          </a:stretch>
        </p:blipFill>
        <p:spPr bwMode="auto">
          <a:xfrm>
            <a:off x="844697" y="1600200"/>
            <a:ext cx="10499557"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Most important domains, all six outcomes</a:t>
            </a:r>
          </a:p>
        </p:txBody>
      </p:sp>
      <p:pic>
        <p:nvPicPr>
          <p:cNvPr descr="../../results/figures/mnf15/figD_what_each_model_uses.png" id="0" name="Picture 1"/>
          <p:cNvPicPr>
            <a:picLocks noGrp="1" noChangeAspect="1"/>
          </p:cNvPicPr>
          <p:nvPr/>
        </p:nvPicPr>
        <p:blipFill>
          <a:blip r:embed="rId3"/>
          <a:stretch>
            <a:fillRect/>
          </a:stretch>
        </p:blipFill>
        <p:spPr bwMode="auto">
          <a:xfrm>
            <a:off x="1506033" y="1600200"/>
            <a:ext cx="917688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Every source and every domain</a:t>
            </a:r>
          </a:p>
        </p:txBody>
      </p:sp>
      <p:pic>
        <p:nvPicPr>
          <p:cNvPr descr="../../results/figures/mnf15/figO_sources_and_domains.png" id="0" name="Picture 1"/>
          <p:cNvPicPr>
            <a:picLocks noGrp="1" noChangeAspect="1"/>
          </p:cNvPicPr>
          <p:nvPr/>
        </p:nvPicPr>
        <p:blipFill>
          <a:blip r:embed="rId3"/>
          <a:stretch>
            <a:fillRect/>
          </a:stretch>
        </p:blipFill>
        <p:spPr bwMode="auto">
          <a:xfrm>
            <a:off x="1506033" y="1600200"/>
            <a:ext cx="917688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Which deficiencies can be mapped at district level at all?</a:t>
            </a:r>
          </a:p>
        </p:txBody>
      </p:sp>
      <p:pic>
        <p:nvPicPr>
          <p:cNvPr descr="../../results/figures/mnf15/figA_measurability_screen.png" id="0" name="Picture 1"/>
          <p:cNvPicPr>
            <a:picLocks noGrp="1" noChangeAspect="1"/>
          </p:cNvPicPr>
          <p:nvPr/>
        </p:nvPicPr>
        <p:blipFill>
          <a:blip r:embed="rId3"/>
          <a:stretch>
            <a:fillRect/>
          </a:stretch>
        </p:blipFill>
        <p:spPr bwMode="auto">
          <a:xfrm>
            <a:off x="626524" y="1600200"/>
            <a:ext cx="1093590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Accuracy by country, and what each survey could see</a:t>
            </a:r>
          </a:p>
        </p:txBody>
      </p:sp>
      <p:pic>
        <p:nvPicPr>
          <p:cNvPr descr="../../results/figures/mnf15/figC_accuracy_by_country.png" id="0" name="Picture 1"/>
          <p:cNvPicPr>
            <a:picLocks noGrp="1" noChangeAspect="1"/>
          </p:cNvPicPr>
          <p:nvPr/>
        </p:nvPicPr>
        <p:blipFill>
          <a:blip r:embed="rId3"/>
          <a:stretch>
            <a:fillRect/>
          </a:stretch>
        </p:blipFill>
        <p:spPr bwMode="auto">
          <a:xfrm>
            <a:off x="824243" y="1600200"/>
            <a:ext cx="10540465"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data that travel across a border are the free ones</a:t>
            </a:r>
          </a:p>
        </p:txBody>
      </p:sp>
      <p:pic>
        <p:nvPicPr>
          <p:cNvPr descr="../../results/figures/mnf15/figI_cost_to_acquire.png" id="0" name="Picture 1"/>
          <p:cNvPicPr>
            <a:picLocks noGrp="1" noChangeAspect="1"/>
          </p:cNvPicPr>
          <p:nvPr/>
        </p:nvPicPr>
        <p:blipFill>
          <a:blip r:embed="rId3"/>
          <a:stretch>
            <a:fillRect/>
          </a:stretch>
        </p:blipFill>
        <p:spPr bwMode="auto">
          <a:xfrm>
            <a:off x="502920" y="1600200"/>
            <a:ext cx="11183112" cy="4038346"/>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Malawi: the model finds place-markers, not mechanisms</a:t>
            </a:r>
          </a:p>
        </p:txBody>
      </p:sp>
      <p:pic>
        <p:nvPicPr>
          <p:cNvPr descr="../../results/figures/mnf15/figM_malawi_b12_surrogate.png" id="0" name="Picture 1"/>
          <p:cNvPicPr>
            <a:picLocks noGrp="1" noChangeAspect="1"/>
          </p:cNvPicPr>
          <p:nvPr/>
        </p:nvPicPr>
        <p:blipFill>
          <a:blip r:embed="rId3"/>
          <a:stretch>
            <a:fillRect/>
          </a:stretch>
        </p:blipFill>
        <p:spPr bwMode="auto">
          <a:xfrm>
            <a:off x="1342403" y="1600200"/>
            <a:ext cx="9504145"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we compared the model against</a:t>
            </a:r>
          </a:p>
        </p:txBody>
      </p:sp>
      <p:pic>
        <p:nvPicPr>
          <p:cNvPr descr="../../results/figures/policy_deck/fig1_model_comparison.png" id="0" name="Picture 1"/>
          <p:cNvPicPr>
            <a:picLocks noGrp="1" noChangeAspect="1"/>
          </p:cNvPicPr>
          <p:nvPr/>
        </p:nvPicPr>
        <p:blipFill>
          <a:blip r:embed="rId3"/>
          <a:stretch>
            <a:fillRect/>
          </a:stretch>
        </p:blipFill>
        <p:spPr bwMode="auto">
          <a:xfrm>
            <a:off x="1785567" y="1600200"/>
            <a:ext cx="8617818"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much of the burden does the worst-ranked fifth reach?</a:t>
            </a:r>
          </a:p>
        </p:txBody>
      </p:sp>
      <p:pic>
        <p:nvPicPr>
          <p:cNvPr descr="../../results/figures/policy_deck/fig6_targeting.png" id="0" name="Picture 1"/>
          <p:cNvPicPr>
            <a:picLocks noGrp="1" noChangeAspect="1"/>
          </p:cNvPicPr>
          <p:nvPr/>
        </p:nvPicPr>
        <p:blipFill>
          <a:blip r:embed="rId3"/>
          <a:stretch>
            <a:fillRect/>
          </a:stretch>
        </p:blipFill>
        <p:spPr bwMode="auto">
          <a:xfrm>
            <a:off x="1356039" y="1600200"/>
            <a:ext cx="947687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geostatistical comparator: better levels, worse ranking</a:t>
            </a:r>
          </a:p>
        </p:txBody>
      </p:sp>
      <p:pic>
        <p:nvPicPr>
          <p:cNvPr descr="../../results/figures/policy_deck/fig9_geostatistical.png" id="0" name="Picture 1"/>
          <p:cNvPicPr>
            <a:picLocks noGrp="1" noChangeAspect="1"/>
          </p:cNvPicPr>
          <p:nvPr/>
        </p:nvPicPr>
        <p:blipFill>
          <a:blip r:embed="rId3"/>
          <a:stretch>
            <a:fillRect/>
          </a:stretch>
        </p:blipFill>
        <p:spPr bwMode="auto">
          <a:xfrm>
            <a:off x="1581030" y="1600200"/>
            <a:ext cx="9026892"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twenty layers behind children’s iron</a:t>
            </a:r>
          </a:p>
        </p:txBody>
      </p:sp>
      <p:pic>
        <p:nvPicPr>
          <p:cNvPr descr="../../results/figures/policy_deck/fig8_twenty_layers.png" id="0" name="Picture 1"/>
          <p:cNvPicPr>
            <a:picLocks noGrp="1" noChangeAspect="1"/>
          </p:cNvPicPr>
          <p:nvPr/>
        </p:nvPicPr>
        <p:blipFill>
          <a:blip r:embed="rId3"/>
          <a:stretch>
            <a:fillRect/>
          </a:stretch>
        </p:blipFill>
        <p:spPr bwMode="auto">
          <a:xfrm>
            <a:off x="1785567" y="1600200"/>
            <a:ext cx="8617818"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Cote d’Ivoire: two independently chosen models agree</a:t>
            </a:r>
          </a:p>
        </p:txBody>
      </p:sp>
      <p:pic>
        <p:nvPicPr>
          <p:cNvPr descr="../../results/figures/policy_deck/fig13_civ_candidates.png" id="0" name="Picture 1"/>
          <p:cNvPicPr>
            <a:picLocks noGrp="1" noChangeAspect="1"/>
          </p:cNvPicPr>
          <p:nvPr/>
        </p:nvPicPr>
        <p:blipFill>
          <a:blip r:embed="rId3"/>
          <a:stretch>
            <a:fillRect/>
          </a:stretch>
        </p:blipFill>
        <p:spPr bwMode="auto">
          <a:xfrm>
            <a:off x="3115056" y="1600200"/>
            <a:ext cx="595884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the uncertainty on the maps does and does not mean</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Numbers we withdrew</a:t>
            </a:r>
          </a:p>
        </p:txBody>
      </p:sp>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Where the ranking works, nutrient by nutrient and country by country</a:t>
            </a:r>
          </a:p>
        </p:txBody>
      </p:sp>
      <p:pic>
        <p:nvPicPr>
          <p:cNvPr descr="../../results/figures/full_talk_extracts/ft_percell_ranking.png" id="0" name="Picture 1"/>
          <p:cNvPicPr>
            <a:picLocks noGrp="1" noChangeAspect="1"/>
          </p:cNvPicPr>
          <p:nvPr/>
        </p:nvPicPr>
        <p:blipFill>
          <a:blip r:embed="rId3"/>
          <a:stretch>
            <a:fillRect/>
          </a:stretch>
        </p:blipFill>
        <p:spPr bwMode="auto">
          <a:xfrm>
            <a:off x="1240135" y="1600200"/>
            <a:ext cx="9708682"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Accuracy against how common the deficiency is</a:t>
            </a:r>
          </a:p>
        </p:txBody>
      </p:sp>
      <p:pic>
        <p:nvPicPr>
          <p:cNvPr descr="../../results/figures/full_talk_extracts/ft_ranking_vs_prevalence.png" id="0" name="Picture 1"/>
          <p:cNvPicPr>
            <a:picLocks noGrp="1" noChangeAspect="1"/>
          </p:cNvPicPr>
          <p:nvPr/>
        </p:nvPicPr>
        <p:blipFill>
          <a:blip r:embed="rId3"/>
          <a:stretch>
            <a:fillRect/>
          </a:stretch>
        </p:blipFill>
        <p:spPr bwMode="auto">
          <a:xfrm>
            <a:off x="2774161" y="1600200"/>
            <a:ext cx="6640629"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Holding out a whole region</a:t>
            </a:r>
          </a:p>
        </p:txBody>
      </p:sp>
      <p:pic>
        <p:nvPicPr>
          <p:cNvPr descr="../../results/figures/full_talk_extracts/ft_region_extrapolation.png" id="0" name="Picture 1"/>
          <p:cNvPicPr>
            <a:picLocks noGrp="1" noChangeAspect="1"/>
          </p:cNvPicPr>
          <p:nvPr/>
        </p:nvPicPr>
        <p:blipFill>
          <a:blip r:embed="rId3"/>
          <a:stretch>
            <a:fillRect/>
          </a:stretch>
        </p:blipFill>
        <p:spPr bwMode="auto">
          <a:xfrm>
            <a:off x="3155963" y="1600200"/>
            <a:ext cx="5877025"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Holding out a whole country</a:t>
            </a:r>
          </a:p>
        </p:txBody>
      </p:sp>
      <p:pic>
        <p:nvPicPr>
          <p:cNvPr descr="../../results/figures/full_talk_extracts/ft_transport.png" id="0" name="Picture 1"/>
          <p:cNvPicPr>
            <a:picLocks noGrp="1" noChangeAspect="1"/>
          </p:cNvPicPr>
          <p:nvPr/>
        </p:nvPicPr>
        <p:blipFill>
          <a:blip r:embed="rId3"/>
          <a:stretch>
            <a:fillRect/>
          </a:stretch>
        </p:blipFill>
        <p:spPr bwMode="auto">
          <a:xfrm>
            <a:off x="3762756" y="1600200"/>
            <a:ext cx="466344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Can the transported model be improved by adding domains?</a:t>
            </a:r>
          </a:p>
        </p:txBody>
      </p:sp>
      <p:pic>
        <p:nvPicPr>
          <p:cNvPr descr="../../results/figures/full_talk_extracts/ft_transport_domains.png" id="0" name="Picture 1"/>
          <p:cNvPicPr>
            <a:picLocks noGrp="1" noChangeAspect="1"/>
          </p:cNvPicPr>
          <p:nvPr/>
        </p:nvPicPr>
        <p:blipFill>
          <a:blip r:embed="rId3"/>
          <a:stretch>
            <a:fillRect/>
          </a:stretch>
        </p:blipFill>
        <p:spPr bwMode="auto">
          <a:xfrm>
            <a:off x="3155963" y="1600200"/>
            <a:ext cx="5877025"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Ghana, four ways of looking at one outcome</a:t>
            </a:r>
          </a:p>
        </p:txBody>
      </p:sp>
      <p:pic>
        <p:nvPicPr>
          <p:cNvPr descr="../../results/figures/full_talk_extracts/ft_ghana_four_panel.png" id="0" name="Picture 1"/>
          <p:cNvPicPr>
            <a:picLocks noGrp="1" noChangeAspect="1"/>
          </p:cNvPicPr>
          <p:nvPr/>
        </p:nvPicPr>
        <p:blipFill>
          <a:blip r:embed="rId3"/>
          <a:stretch>
            <a:fillRect/>
          </a:stretch>
        </p:blipFill>
        <p:spPr bwMode="auto">
          <a:xfrm>
            <a:off x="1949196" y="1600200"/>
            <a:ext cx="829056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Malawi, the same four views</a:t>
            </a:r>
          </a:p>
        </p:txBody>
      </p:sp>
      <p:pic>
        <p:nvPicPr>
          <p:cNvPr descr="../../results/figures/full_talk_extracts/ft_malawi_four_panel.png" id="0" name="Picture 1"/>
          <p:cNvPicPr>
            <a:picLocks noGrp="1" noChangeAspect="1"/>
          </p:cNvPicPr>
          <p:nvPr/>
        </p:nvPicPr>
        <p:blipFill>
          <a:blip r:embed="rId3"/>
          <a:stretch>
            <a:fillRect/>
          </a:stretch>
        </p:blipFill>
        <p:spPr bwMode="auto">
          <a:xfrm>
            <a:off x="1949196" y="1600200"/>
            <a:ext cx="829056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reliable is the survey’s own district map?</a:t>
            </a:r>
          </a:p>
        </p:txBody>
      </p:sp>
      <p:pic>
        <p:nvPicPr>
          <p:cNvPr descr="../../results/figures/full_talk_extracts/ft_survey_reliability.png" id="0" name="Picture 1"/>
          <p:cNvPicPr>
            <a:picLocks noGrp="1" noChangeAspect="1"/>
          </p:cNvPicPr>
          <p:nvPr/>
        </p:nvPicPr>
        <p:blipFill>
          <a:blip r:embed="rId3"/>
          <a:stretch>
            <a:fillRect/>
          </a:stretch>
        </p:blipFill>
        <p:spPr bwMode="auto">
          <a:xfrm>
            <a:off x="1342403" y="1600200"/>
            <a:ext cx="9504145"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Does the model track the survey, district by district?</a:t>
            </a:r>
          </a:p>
        </p:txBody>
      </p:sp>
      <p:pic>
        <p:nvPicPr>
          <p:cNvPr descr="../../results/figures/full_talk_extracts/ft_pred_vs_observed.png" id="0" name="Picture 1"/>
          <p:cNvPicPr>
            <a:picLocks noGrp="1" noChangeAspect="1"/>
          </p:cNvPicPr>
          <p:nvPr/>
        </p:nvPicPr>
        <p:blipFill>
          <a:blip r:embed="rId3"/>
          <a:stretch>
            <a:fillRect/>
          </a:stretch>
        </p:blipFill>
        <p:spPr bwMode="auto">
          <a:xfrm>
            <a:off x="502920" y="1600200"/>
            <a:ext cx="11183112" cy="4470543"/>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Does it match the survey at the regional level?</a:t>
            </a:r>
          </a:p>
        </p:txBody>
      </p:sp>
      <p:pic>
        <p:nvPicPr>
          <p:cNvPr descr="../../results/figures/full_talk_extracts/ft_regional_agreement.png" id="0" name="Picture 1"/>
          <p:cNvPicPr>
            <a:picLocks noGrp="1" noChangeAspect="1"/>
          </p:cNvPicPr>
          <p:nvPr/>
        </p:nvPicPr>
        <p:blipFill>
          <a:blip r:embed="rId3"/>
          <a:stretch>
            <a:fillRect/>
          </a:stretch>
        </p:blipFill>
        <p:spPr bwMode="auto">
          <a:xfrm>
            <a:off x="940148" y="1600200"/>
            <a:ext cx="10308656"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How likely is a district to be above the 20 per cent line?</a:t>
            </a:r>
          </a:p>
        </p:txBody>
      </p:sp>
      <p:pic>
        <p:nvPicPr>
          <p:cNvPr descr="../../results/figures/full_talk_extracts/ft_exceedance.png" id="0" name="Picture 1"/>
          <p:cNvPicPr>
            <a:picLocks noGrp="1" noChangeAspect="1"/>
          </p:cNvPicPr>
          <p:nvPr/>
        </p:nvPicPr>
        <p:blipFill>
          <a:blip r:embed="rId3"/>
          <a:stretch>
            <a:fillRect/>
          </a:stretch>
        </p:blipFill>
        <p:spPr bwMode="auto">
          <a:xfrm>
            <a:off x="1949196" y="1600200"/>
            <a:ext cx="8290560"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the rank intervals promise, and what they do not</a:t>
            </a:r>
          </a:p>
        </p:txBody>
      </p:sp>
      <p:pic>
        <p:nvPicPr>
          <p:cNvPr descr="../../results/figures/full_talk_extracts/ft_rank_intervals.png" id="0" name="Picture 1"/>
          <p:cNvPicPr>
            <a:picLocks noGrp="1" noChangeAspect="1"/>
          </p:cNvPicPr>
          <p:nvPr/>
        </p:nvPicPr>
        <p:blipFill>
          <a:blip r:embed="rId3"/>
          <a:stretch>
            <a:fillRect/>
          </a:stretch>
        </p:blipFill>
        <p:spPr bwMode="auto">
          <a:xfrm>
            <a:off x="502920" y="1600200"/>
            <a:ext cx="11183112" cy="4470543"/>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moves each district, predictor by predictor</a:t>
            </a:r>
          </a:p>
        </p:txBody>
      </p:sp>
      <p:pic>
        <p:nvPicPr>
          <p:cNvPr descr="../../results/figures/full_talk_extracts/ft_contributions.png" id="0" name="Picture 1"/>
          <p:cNvPicPr>
            <a:picLocks noGrp="1" noChangeAspect="1"/>
          </p:cNvPicPr>
          <p:nvPr/>
        </p:nvPicPr>
        <p:blipFill>
          <a:blip r:embed="rId3"/>
          <a:stretch>
            <a:fillRect/>
          </a:stretch>
        </p:blipFill>
        <p:spPr bwMode="auto">
          <a:xfrm>
            <a:off x="1308314" y="1600200"/>
            <a:ext cx="9572324"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Which predictors carry the most weight</a:t>
            </a:r>
          </a:p>
        </p:txBody>
      </p:sp>
      <p:pic>
        <p:nvPicPr>
          <p:cNvPr descr="../../results/figures/full_talk_extracts/ft_top_predictors.png" id="0" name="Picture 1"/>
          <p:cNvPicPr>
            <a:picLocks noGrp="1" noChangeAspect="1"/>
          </p:cNvPicPr>
          <p:nvPr/>
        </p:nvPicPr>
        <p:blipFill>
          <a:blip r:embed="rId3"/>
          <a:stretch>
            <a:fillRect/>
          </a:stretch>
        </p:blipFill>
        <p:spPr bwMode="auto">
          <a:xfrm>
            <a:off x="1608301" y="1600200"/>
            <a:ext cx="8972349"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The weights behind the best ranking: Malawi women’s B12</a:t>
            </a:r>
          </a:p>
        </p:txBody>
      </p:sp>
      <p:pic>
        <p:nvPicPr>
          <p:cNvPr descr="../../results/figures/full_talk_extracts/ft_malawi_b12_weights.png" id="0" name="Picture 1"/>
          <p:cNvPicPr>
            <a:picLocks noGrp="1" noChangeAspect="1"/>
          </p:cNvPicPr>
          <p:nvPr/>
        </p:nvPicPr>
        <p:blipFill>
          <a:blip r:embed="rId3"/>
          <a:stretch>
            <a:fillRect/>
          </a:stretch>
        </p:blipFill>
        <p:spPr bwMode="auto">
          <a:xfrm>
            <a:off x="1096959" y="1600200"/>
            <a:ext cx="9995033"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What travels across borders, and what does not</a:t>
            </a:r>
          </a:p>
        </p:txBody>
      </p:sp>
      <p:pic>
        <p:nvPicPr>
          <p:cNvPr descr="../../results/figures/full_talk_extracts/ft_domain_ablation.png" id="0" name="Picture 1"/>
          <p:cNvPicPr>
            <a:picLocks noGrp="1" noChangeAspect="1"/>
          </p:cNvPicPr>
          <p:nvPr/>
        </p:nvPicPr>
        <p:blipFill>
          <a:blip r:embed="rId3"/>
          <a:stretch>
            <a:fillRect/>
          </a:stretch>
        </p:blipFill>
        <p:spPr bwMode="auto">
          <a:xfrm>
            <a:off x="3680941" y="1600200"/>
            <a:ext cx="4827069"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Which associations replicate in every country?</a:t>
            </a:r>
          </a:p>
        </p:txBody>
      </p:sp>
      <p:pic>
        <p:nvPicPr>
          <p:cNvPr descr="../../results/figures/full_talk_extracts/ft_replicated.png" id="0" name="Picture 1"/>
          <p:cNvPicPr>
            <a:picLocks noGrp="1" noChangeAspect="1"/>
          </p:cNvPicPr>
          <p:nvPr/>
        </p:nvPicPr>
        <p:blipFill>
          <a:blip r:embed="rId3"/>
          <a:stretch>
            <a:fillRect/>
          </a:stretch>
        </p:blipFill>
        <p:spPr bwMode="auto">
          <a:xfrm>
            <a:off x="3333229" y="1600200"/>
            <a:ext cx="5522494"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Could a small national survey plus the model replace a district survey?</a:t>
            </a:r>
          </a:p>
        </p:txBody>
      </p:sp>
      <p:pic>
        <p:nvPicPr>
          <p:cNvPr descr="../../results/figures/full_talk_extracts/ft_anchor_design.png" id="0" name="Picture 1"/>
          <p:cNvPicPr>
            <a:picLocks noGrp="1" noChangeAspect="1"/>
          </p:cNvPicPr>
          <p:nvPr/>
        </p:nvPicPr>
        <p:blipFill>
          <a:blip r:embed="rId3"/>
          <a:stretch>
            <a:fillRect/>
          </a:stretch>
        </p:blipFill>
        <p:spPr bwMode="auto">
          <a:xfrm>
            <a:off x="3019605" y="1600200"/>
            <a:ext cx="6149741"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Does each survey added help the others?</a:t>
            </a:r>
          </a:p>
        </p:txBody>
      </p:sp>
      <p:pic>
        <p:nvPicPr>
          <p:cNvPr descr="../../results/figures/full_talk_extracts/ft_training_curve.png" id="0" name="Picture 1"/>
          <p:cNvPicPr>
            <a:picLocks noGrp="1" noChangeAspect="1"/>
          </p:cNvPicPr>
          <p:nvPr/>
        </p:nvPicPr>
        <p:blipFill>
          <a:blip r:embed="rId3"/>
          <a:stretch>
            <a:fillRect/>
          </a:stretch>
        </p:blipFill>
        <p:spPr bwMode="auto">
          <a:xfrm>
            <a:off x="3019605" y="1600200"/>
            <a:ext cx="6149741"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3E48-2765-D748-089D-83A321314B8F}"/>
              </a:ext>
            </a:extLst>
          </p:cNvPr>
          <p:cNvSpPr>
            <a:spLocks noGrp="1"/>
          </p:cNvSpPr>
          <p:nvPr>
            <p:ph type="title"/>
          </p:nvPr>
        </p:nvSpPr>
        <p:spPr/>
        <p:txBody>
          <a:bodyPr/>
          <a:lstStyle/>
          <a:p>
            <a:pPr lvl="0" indent="0" marL="0">
              <a:buNone/>
            </a:pPr>
            <a:r>
              <a:rPr/>
              <a:t>Person-level models: a coin toss on proxies alone</a:t>
            </a:r>
          </a:p>
        </p:txBody>
      </p:sp>
      <p:pic>
        <p:nvPicPr>
          <p:cNvPr descr="../../results/figures/full_talk_extracts/ft_individual_level.png" id="0" name="Picture 1"/>
          <p:cNvPicPr>
            <a:picLocks noGrp="1" noChangeAspect="1"/>
          </p:cNvPicPr>
          <p:nvPr/>
        </p:nvPicPr>
        <p:blipFill>
          <a:blip r:embed="rId3"/>
          <a:stretch>
            <a:fillRect/>
          </a:stretch>
        </p:blipFill>
        <p:spPr bwMode="auto">
          <a:xfrm>
            <a:off x="3155963" y="1600200"/>
            <a:ext cx="5877025" cy="4663440"/>
          </a:xfrm>
          <a:prstGeom prst="rect">
            <a:avLst/>
          </a:prstGeom>
          <a:noFill/>
          <a:ln w="9525">
            <a:noFill/>
            <a:headEnd/>
            <a:tailEnd/>
          </a:ln>
        </p:spPr>
      </p:pic>
      <p:sp>
        <p:nvSpPr>
          <p:cNvPr id="6" name="Slide Number Placeholder 5">
            <a:extLst>
              <a:ext uri="{FF2B5EF4-FFF2-40B4-BE49-F238E27FC236}">
                <a16:creationId xmlns:a16="http://schemas.microsoft.com/office/drawing/2014/main" id="{BAC10821-19FC-80D7-565F-E5FCE8D7AA90}"/>
              </a:ext>
            </a:extLst>
          </p:cNvPr>
          <p:cNvSpPr>
            <a:spLocks noGrp="1"/>
          </p:cNvSpPr>
          <p:nvPr>
            <p:ph idx="12" sz="quarter" type="sldNum"/>
          </p:nvPr>
        </p:nvSpPr>
        <p:spPr/>
        <p:txBody>
          <a:bodyPr/>
          <a:lstStyle/>
          <a:p>
            <a:pPr/>
            <a:fld id="{8C903514-D622-FE49-B01E-C0625A22DB6C}" type="slidenum">
              <a:rPr lang="en-BG" smtClean="0"/>
              <a:t>‹#›</a:t>
            </a:fld>
            <a:endParaRPr lang="en-BG"/>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NF2026" id="{C297CF86-E7ED-3F4F-A7BA-F3C55265C4A3}" vid="{7623D2EC-82FD-2D4E-ADF7-7C90E80A22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215</TotalTime>
  <Words>17</Words>
  <Application>Microsoft Office PowerPoint</Application>
  <PresentationFormat>Widescreen</PresentationFormat>
  <Paragraphs>7</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Aptos Display</vt:lpstr>
      <vt:lpstr>Arial</vt:lpstr>
      <vt:lpstr>Commissioner</vt:lpstr>
      <vt:lpstr>Commissioner SemiBold</vt:lpstr>
      <vt:lpstr>Office Theme</vt:lpstr>
      <vt:lpstr>PowerPoint Presentation</vt:lpstr>
      <vt:lpstr>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Micronutrient Deficiency Prevalence in Sub-Saharan Africa Using Proxy Indicators: A Multi-country Machine Learning Framework</dc:title>
  <dc:creator>Andrew N. Mertens (University of California, Berkeley) and Sonja Y. Hess (University of California, Davis)</dc:creator>
  <cp:keywords/>
  <dcterms:created xsi:type="dcterms:W3CDTF">2026-09-27T14:18:09Z</dcterms:created>
  <dcterms:modified xsi:type="dcterms:W3CDTF">2026-09-27T14:18:09Z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2026-09-18</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toc-title">
    <vt:lpwstr>Table of contents</vt:lpwstr>
  </property>
</Properties>
</file>