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notesMaster" Target="notesMasters/notesMaster1.xml" /><Relationship Id="rId3" Type="http://schemas.openxmlformats.org/officeDocument/2006/relationships/customXml" Target="../customXml/item3.xml" /><Relationship Id="rId43" Type="http://schemas.openxmlformats.org/officeDocument/2006/relationships/theme" Target="theme/theme1.xml" /><Relationship Id="rId42"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1" Type="http://schemas.openxmlformats.org/officeDocument/2006/relationships/presProps" Target="presProps.xml" /><Relationship Id="rId45" Type="http://schemas.microsoft.com/office/2018/10/relationships/authors" Target="authors.xml" /><Relationship Id="rId4" Type="http://schemas.openxmlformats.org/officeDocument/2006/relationships/slideMaster" Target="slideMasters/slideMaster1.xml" /><Relationship Id="rId4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Only soil and climate are load-bearing; ten survey-derived domains cost nothing to remove, or help. A fixed climate + soil index transports better than the full vocabulary at both tiers (0.37 vs 0.26 at district level; 0.45 vs 0.30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(0.26 to 0.31 on the level, 0.16 to 0.23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2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153</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Malaria Atlas Project</a:t>
                      </a:r>
                    </a:p>
                  </a:txBody>
                </a:tc>
                <a:tc>
                  <a:txBody>
                    <a:bodyPr/>
                    <a:lstStyle/>
                    <a:p>
                      <a:pPr lvl="0" indent="0" marL="0" algn="r">
                        <a:buNone/>
                      </a:pPr>
                      <a:r>
                        <a:rPr/>
                        <a:t>23</a:t>
                      </a:r>
                    </a:p>
                  </a:txBody>
                </a:tc>
              </a:tr>
              <a:tr h="0">
                <a:tc>
                  <a:txBody>
                    <a:bodyPr/>
                    <a:lstStyle/>
                    <a:p>
                      <a:pPr lvl="0" indent="0" marL="0" algn="l">
                        <a:buNone/>
                      </a:pPr>
                      <a:r>
                        <a:rPr/>
                        <a:t>Other (WorldPop, GHS, RWI, HFID, GFDx)</a:t>
                      </a:r>
                    </a:p>
                  </a:txBody>
                </a:tc>
                <a:tc>
                  <a:txBody>
                    <a:bodyPr/>
                    <a:lstStyle/>
                    <a:p>
                      <a:pPr lvl="0" indent="0" marL="0" algn="r">
                        <a:buNone/>
                      </a:pPr>
                      <a:r>
                        <a:rPr/>
                        <a:t>18</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Built environment</a:t>
                      </a:r>
                    </a:p>
                  </a:txBody>
                </a:tc>
                <a:tc>
                  <a:txBody>
                    <a:bodyPr/>
                    <a:lstStyle/>
                    <a:p>
                      <a:pPr lvl="0" indent="0" marL="0" algn="l">
                        <a:buNone/>
                      </a:pPr>
                      <a:r>
                        <a:rPr/>
                        <a:t>13</a:t>
                      </a:r>
                    </a:p>
                  </a:txBody>
                </a:tc>
              </a:tr>
              <a:tr h="0">
                <a:tc>
                  <a:txBody>
                    <a:bodyPr/>
                    <a:lstStyle/>
                    <a:p>
                      <a:pPr lvl="0" indent="0" marL="0" algn="l">
                        <a:buNone/>
                      </a:pPr>
                      <a:r>
                        <a:rPr/>
                        <a:t>Infant and child morbidity/mortality</a:t>
                      </a:r>
                    </a:p>
                  </a:txBody>
                </a:tc>
                <a:tc>
                  <a:txBody>
                    <a:bodyPr/>
                    <a:lstStyle/>
                    <a:p>
                      <a:pPr lvl="0" indent="0" marL="0" algn="r">
                        <a:buNone/>
                      </a:pPr>
                      <a:r>
                        <a:rPr/>
                        <a:t>60</a:t>
                      </a:r>
                    </a:p>
                  </a:txBody>
                </a:tc>
                <a:tc>
                  <a:txBody>
                    <a:bodyPr/>
                    <a:lstStyle/>
                    <a:p>
                      <a:pPr lvl="0" indent="0" marL="0" algn="l">
                        <a:buNone/>
                      </a:pPr>
                      <a:r>
                        <a:rPr/>
                        <a:t>Education, employment, SES</a:t>
                      </a:r>
                    </a:p>
                  </a:txBody>
                </a:tc>
                <a:tc>
                  <a:txBody>
                    <a:bodyPr/>
                    <a:lstStyle/>
                    <a:p>
                      <a:pPr lvl="0" indent="0" marL="0" algn="l">
                        <a:buNone/>
                      </a:pPr>
                      <a:r>
                        <a:rPr/>
                        <a:t>12</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Dietary diversity</a:t>
                      </a:r>
                    </a:p>
                  </a:txBody>
                </a:tc>
                <a:tc>
                  <a:txBody>
                    <a:bodyPr/>
                    <a:lstStyle/>
                    <a:p>
                      <a:pPr lvl="0" indent="0" marL="0" algn="l">
                        <a:buNone/>
                      </a:pPr>
                      <a:r>
                        <a:rPr/>
                        <a:t>11</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Malaria incidence and treatment</a:t>
                      </a:r>
                    </a:p>
                  </a:txBody>
                </a:tc>
                <a:tc>
                  <a:txBody>
                    <a:bodyPr/>
                    <a:lstStyle/>
                    <a:p>
                      <a:pPr lvl="0" indent="0" marL="0" algn="r">
                        <a:buNone/>
                      </a:pPr>
                      <a:r>
                        <a:rPr/>
                        <a:t>23</a:t>
                      </a:r>
                    </a:p>
                  </a:txBody>
                </a:tc>
                <a:tc>
                  <a:txBody>
                    <a:bodyPr/>
                    <a:lstStyle/>
                    <a:p>
                      <a:pPr lvl="0" indent="0" marL="0" algn="l">
                        <a:buNone/>
                      </a:pPr>
                      <a:r>
                        <a:rPr/>
                        <a:t>Adult nutrition</a:t>
                      </a:r>
                    </a:p>
                  </a:txBody>
                </a:tc>
                <a:tc>
                  <a:txBody>
                    <a:bodyPr/>
                    <a:lstStyle/>
                    <a:p>
                      <a:pPr lvl="0" indent="0" marL="0" algn="l">
                        <a:buNone/>
                      </a:pPr>
                      <a:r>
                        <a:rPr/>
                        <a:t>9</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Food fortification and supplementation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0.399</a:t>
                      </a:r>
                    </a:p>
                  </a:txBody>
                </a:tc>
                <a:tc>
                  <a:txBody>
                    <a:bodyPr/>
                    <a:lstStyle/>
                    <a:p>
                      <a:pPr lvl="0" indent="0" marL="0" algn="r">
                        <a:buNone/>
                      </a:pPr>
                      <a:r>
                        <a:rPr/>
                        <a:t>0.266</a:t>
                      </a:r>
                    </a:p>
                  </a:txBody>
                </a:tc>
              </a:tr>
              <a:tr h="0">
                <a:tc>
                  <a:txBody>
                    <a:bodyPr/>
                    <a:lstStyle/>
                    <a:p>
                      <a:pPr lvl="0" indent="0" marL="0" algn="l">
                        <a:buNone/>
                      </a:pPr>
                      <a:r>
                        <a:rPr/>
                        <a:t>Spatial smoother only</a:t>
                      </a:r>
                    </a:p>
                  </a:txBody>
                </a:tc>
                <a:tc>
                  <a:txBody>
                    <a:bodyPr/>
                    <a:lstStyle/>
                    <a:p>
                      <a:pPr lvl="0" indent="0" marL="0" algn="r">
                        <a:buNone/>
                      </a:pPr>
                      <a:r>
                        <a:rPr/>
                        <a:t>0.391</a:t>
                      </a:r>
                    </a:p>
                  </a:txBody>
                </a:tc>
                <a:tc>
                  <a:txBody>
                    <a:bodyPr/>
                    <a:lstStyle/>
                    <a:p>
                      <a:pPr lvl="0" indent="0" marL="0" algn="r">
                        <a:buNone/>
                      </a:pPr>
                      <a:r>
                        <a:rPr/>
                        <a:t>0.268</a:t>
                      </a:r>
                    </a:p>
                  </a:txBody>
                </a:tc>
              </a:tr>
              <a:tr h="0">
                <a:tc>
                  <a:txBody>
                    <a:bodyPr/>
                    <a:lstStyle/>
                    <a:p>
                      <a:pPr lvl="0" indent="0" marL="0" algn="l">
                        <a:buNone/>
                      </a:pPr>
                      <a:r>
                        <a:rPr/>
                        <a:t>Zero-tuning domain index</a:t>
                      </a:r>
                    </a:p>
                  </a:txBody>
                </a:tc>
                <a:tc>
                  <a:txBody>
                    <a:bodyPr/>
                    <a:lstStyle/>
                    <a:p>
                      <a:pPr lvl="0" indent="0" marL="0" algn="r">
                        <a:buNone/>
                      </a:pPr>
                      <a:r>
                        <a:rPr/>
                        <a:t>0.389</a:t>
                      </a:r>
                    </a:p>
                  </a:txBody>
                </a:tc>
                <a:tc>
                  <a:txBody>
                    <a:bodyPr/>
                    <a:lstStyle/>
                    <a:p>
                      <a:pPr lvl="0" indent="0" marL="0" algn="r">
                        <a:buNone/>
                      </a:pPr>
                      <a:r>
                        <a:rPr/>
                        <a:t>0.286</a:t>
                      </a:r>
                    </a:p>
                  </a:txBody>
                </a:tc>
              </a:tr>
              <a:tr h="0">
                <a:tc>
                  <a:txBody>
                    <a:bodyPr/>
                    <a:lstStyle/>
                    <a:p>
                      <a:pPr lvl="0" indent="0" marL="0" algn="l">
                        <a:buNone/>
                      </a:pPr>
                      <a:r>
                        <a:rPr/>
                        <a:t>Elastic net, domain PCs</a:t>
                      </a:r>
                    </a:p>
                  </a:txBody>
                </a:tc>
                <a:tc>
                  <a:txBody>
                    <a:bodyPr/>
                    <a:lstStyle/>
                    <a:p>
                      <a:pPr lvl="0" indent="0" marL="0" algn="r">
                        <a:buNone/>
                      </a:pPr>
                      <a:r>
                        <a:rPr/>
                        <a:t>0.321</a:t>
                      </a:r>
                    </a:p>
                  </a:txBody>
                </a:tc>
                <a:tc>
                  <a:txBody>
                    <a:bodyPr/>
                    <a:lstStyle/>
                    <a:p>
                      <a:pPr lvl="0" indent="0" marL="0" algn="r">
                        <a:buNone/>
                      </a:pPr>
                      <a:r>
                        <a:rPr/>
                        <a:t>0.154</a:t>
                      </a:r>
                    </a:p>
                  </a:txBody>
                </a:tc>
              </a:tr>
              <a:tr h="0">
                <a:tc>
                  <a:txBody>
                    <a:bodyPr/>
                    <a:lstStyle/>
                    <a:p>
                      <a:pPr lvl="0" indent="0" marL="0" algn="l">
                        <a:buNone/>
                      </a:pPr>
                      <a:r>
                        <a:rPr/>
                        <a:t>Survey: jackknifed regional mean</a:t>
                      </a:r>
                    </a:p>
                  </a:txBody>
                </a:tc>
                <a:tc>
                  <a:txBody>
                    <a:bodyPr/>
                    <a:lstStyle/>
                    <a:p>
                      <a:pPr lvl="0" indent="0" marL="0" algn="r">
                        <a:buNone/>
                      </a:pPr>
                      <a:r>
                        <a:rPr/>
                        <a:t>0.320</a:t>
                      </a:r>
                    </a:p>
                  </a:txBody>
                </a:tc>
                <a:tc>
                  <a:txBody>
                    <a:bodyPr/>
                    <a:lstStyle/>
                    <a:p>
                      <a:pPr lvl="0" indent="0" marL="0" algn="r">
                        <a:buNone/>
                      </a:pPr>
                      <a:r>
                        <a:rPr/>
                        <a:t>0.193</a:t>
                      </a:r>
                    </a:p>
                  </a:txBody>
                </a:tc>
              </a:tr>
              <a:tr h="0">
                <a:tc>
                  <a:txBody>
                    <a:bodyPr/>
                    <a:lstStyle/>
                    <a:p>
                      <a:pPr lvl="0" indent="0" marL="0" algn="l">
                        <a:buNone/>
                      </a:pPr>
                      <a:r>
                        <a:rPr/>
                        <a:t>Elastic net, all 451 columns</a:t>
                      </a:r>
                    </a:p>
                  </a:txBody>
                </a:tc>
                <a:tc>
                  <a:txBody>
                    <a:bodyPr/>
                    <a:lstStyle/>
                    <a:p>
                      <a:pPr lvl="0" indent="0" marL="0" algn="r">
                        <a:buNone/>
                      </a:pPr>
                      <a:r>
                        <a:rPr/>
                        <a:t>0.318</a:t>
                      </a:r>
                    </a:p>
                  </a:txBody>
                </a:tc>
                <a:tc>
                  <a:txBody>
                    <a:bodyPr/>
                    <a:lstStyle/>
                    <a:p>
                      <a:pPr lvl="0" indent="0" marL="0" algn="r">
                        <a:buNone/>
                      </a:pPr>
                      <a:r>
                        <a:rPr/>
                        <a:t>0.105</a:t>
                      </a:r>
                    </a:p>
                  </a:txBody>
                </a:tc>
              </a:tr>
              <a:tr h="0">
                <a:tc>
                  <a:txBody>
                    <a:bodyPr/>
                    <a:lstStyle/>
                    <a:p>
                      <a:pPr lvl="0" indent="0" marL="0" algn="l">
                        <a:buNone/>
                      </a:pPr>
                      <a:r>
                        <a:rPr/>
                        <a:t>Null: training mean</a:t>
                      </a:r>
                    </a:p>
                  </a:txBody>
                </a:tc>
                <a:tc>
                  <a:txBody>
                    <a:bodyPr/>
                    <a:lstStyle/>
                    <a:p>
                      <a:pPr lvl="0" indent="0" marL="0" algn="r">
                        <a:buNone/>
                      </a:pPr>
                      <a:r>
                        <a:rPr/>
                        <a:t>-0.227</a:t>
                      </a:r>
                    </a:p>
                  </a:txBody>
                </a:tc>
                <a:tc>
                  <a:txBody>
                    <a:bodyPr/>
                    <a:lstStyle/>
                    <a:p>
                      <a:pPr lvl="0" indent="0" marL="0" algn="r">
                        <a:buNone/>
                      </a:pPr>
                      <a:r>
                        <a:rPr/>
                        <a:t>-0.220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0.390</a:t>
                      </a:r>
                    </a:p>
                  </a:txBody>
                </a:tc>
                <a:tc>
                  <a:txBody>
                    <a:bodyPr/>
                    <a:lstStyle/>
                    <a:p>
                      <a:pPr lvl="0" indent="0" marL="0" algn="r">
                        <a:buNone/>
                      </a:pPr>
                      <a:r>
                        <a:rPr/>
                        <a:t>0.258</a:t>
                      </a:r>
                    </a:p>
                  </a:txBody>
                </a:tc>
              </a:tr>
              <a:tr h="0">
                <a:tc>
                  <a:txBody>
                    <a:bodyPr/>
                    <a:lstStyle/>
                    <a:p>
                      <a:pPr lvl="0" indent="0" marL="0" algn="l">
                        <a:buNone/>
                      </a:pPr>
                      <a:r>
                        <a:rPr/>
                        <a:t>Spatial smoother only</a:t>
                      </a:r>
                    </a:p>
                  </a:txBody>
                </a:tc>
                <a:tc>
                  <a:txBody>
                    <a:bodyPr/>
                    <a:lstStyle/>
                    <a:p>
                      <a:pPr lvl="0" indent="0" marL="0" algn="r">
                        <a:buNone/>
                      </a:pPr>
                      <a:r>
                        <a:rPr/>
                        <a:t>0.377</a:t>
                      </a:r>
                    </a:p>
                  </a:txBody>
                </a:tc>
                <a:tc>
                  <a:txBody>
                    <a:bodyPr/>
                    <a:lstStyle/>
                    <a:p>
                      <a:pPr lvl="0" indent="0" marL="0" algn="r">
                        <a:buNone/>
                      </a:pPr>
                      <a:r>
                        <a:rPr/>
                        <a:t>0.255</a:t>
                      </a:r>
                    </a:p>
                  </a:txBody>
                </a:tc>
              </a:tr>
              <a:tr h="0">
                <a:tc>
                  <a:txBody>
                    <a:bodyPr/>
                    <a:lstStyle/>
                    <a:p>
                      <a:pPr lvl="0" indent="0" marL="0" algn="l">
                        <a:buNone/>
                      </a:pPr>
                      <a:r>
                        <a:rPr/>
                        <a:t>Zero-tuning domain index</a:t>
                      </a:r>
                    </a:p>
                  </a:txBody>
                </a:tc>
                <a:tc>
                  <a:txBody>
                    <a:bodyPr/>
                    <a:lstStyle/>
                    <a:p>
                      <a:pPr lvl="0" indent="0" marL="0" algn="r">
                        <a:buNone/>
                      </a:pPr>
                      <a:r>
                        <a:rPr/>
                        <a:t>0.369</a:t>
                      </a:r>
                    </a:p>
                  </a:txBody>
                </a:tc>
                <a:tc>
                  <a:txBody>
                    <a:bodyPr/>
                    <a:lstStyle/>
                    <a:p>
                      <a:pPr lvl="0" indent="0" marL="0" algn="r">
                        <a:buNone/>
                      </a:pPr>
                      <a:r>
                        <a:rPr/>
                        <a:t>0.272</a:t>
                      </a:r>
                    </a:p>
                  </a:txBody>
                </a:tc>
              </a:tr>
              <a:tr h="0">
                <a:tc>
                  <a:txBody>
                    <a:bodyPr/>
                    <a:lstStyle/>
                    <a:p>
                      <a:pPr lvl="0" indent="0" marL="0" algn="l">
                        <a:buNone/>
                      </a:pPr>
                      <a:r>
                        <a:rPr/>
                        <a:t>Elastic net, domain PCs</a:t>
                      </a:r>
                    </a:p>
                  </a:txBody>
                </a:tc>
                <a:tc>
                  <a:txBody>
                    <a:bodyPr/>
                    <a:lstStyle/>
                    <a:p>
                      <a:pPr lvl="0" indent="0" marL="0" algn="r">
                        <a:buNone/>
                      </a:pPr>
                      <a:r>
                        <a:rPr/>
                        <a:t>0.251</a:t>
                      </a:r>
                    </a:p>
                  </a:txBody>
                </a:tc>
                <a:tc>
                  <a:txBody>
                    <a:bodyPr/>
                    <a:lstStyle/>
                    <a:p>
                      <a:pPr lvl="0" indent="0" marL="0" algn="r">
                        <a:buNone/>
                      </a:pPr>
                      <a:r>
                        <a:rPr/>
                        <a:t>0.052</a:t>
                      </a:r>
                    </a:p>
                  </a:txBody>
                </a:tc>
              </a:tr>
              <a:tr h="0">
                <a:tc>
                  <a:txBody>
                    <a:bodyPr/>
                    <a:lstStyle/>
                    <a:p>
                      <a:pPr lvl="0" indent="0" marL="0" algn="l">
                        <a:buNone/>
                      </a:pPr>
                      <a:r>
                        <a:rPr/>
                        <a:t>Elastic net, all 451 columns</a:t>
                      </a:r>
                    </a:p>
                  </a:txBody>
                </a:tc>
                <a:tc>
                  <a:txBody>
                    <a:bodyPr/>
                    <a:lstStyle/>
                    <a:p>
                      <a:pPr lvl="0" indent="0" marL="0" algn="r">
                        <a:buNone/>
                      </a:pPr>
                      <a:r>
                        <a:rPr/>
                        <a:t>0.220</a:t>
                      </a:r>
                    </a:p>
                  </a:txBody>
                </a:tc>
                <a:tc>
                  <a:txBody>
                    <a:bodyPr/>
                    <a:lstStyle/>
                    <a:p>
                      <a:pPr lvl="0" indent="0" marL="0" algn="r">
                        <a:buNone/>
                      </a:pPr>
                      <a:r>
                        <a:rPr/>
                        <a:t>-0.095</a:t>
                      </a:r>
                    </a:p>
                  </a:txBody>
                </a:tc>
              </a:tr>
              <a:tr h="0">
                <a:tc>
                  <a:txBody>
                    <a:bodyPr/>
                    <a:lstStyle/>
                    <a:p>
                      <a:pPr lvl="0" indent="0" marL="0" algn="l">
                        <a:buNone/>
                      </a:pPr>
                      <a:r>
                        <a:rPr/>
                        <a:t>Null: training mean</a:t>
                      </a:r>
                    </a:p>
                  </a:txBody>
                </a:tc>
                <a:tc>
                  <a:txBody>
                    <a:bodyPr/>
                    <a:lstStyle/>
                    <a:p>
                      <a:pPr lvl="0" indent="0" marL="0" algn="r">
                        <a:buNone/>
                      </a:pPr>
                      <a:r>
                        <a:rPr/>
                        <a:t>-0.603</a:t>
                      </a:r>
                    </a:p>
                  </a:txBody>
                </a:tc>
                <a:tc>
                  <a:txBody>
                    <a:bodyPr/>
                    <a:lstStyle/>
                    <a:p>
                      <a:pPr lvl="0" indent="0" marL="0" algn="r">
                        <a:buNone/>
                      </a:pPr>
                      <a:r>
                        <a:rPr/>
                        <a:t>-0.546</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0.26</a:t>
                      </a:r>
                    </a:p>
                  </a:txBody>
                </a:tc>
                <a:tc>
                  <a:txBody>
                    <a:bodyPr/>
                    <a:lstStyle/>
                    <a:p>
                      <a:pPr lvl="0" indent="0" marL="0" algn="r">
                        <a:buNone/>
                      </a:pPr>
                      <a:r>
                        <a:rPr/>
                        <a:t>0.16</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0.30</a:t>
                      </a:r>
                    </a:p>
                  </a:txBody>
                </a:tc>
                <a:tc>
                  <a:txBody>
                    <a:bodyPr/>
                    <a:lstStyle/>
                    <a:p>
                      <a:pPr lvl="0" indent="0" marL="0" algn="r">
                        <a:buNone/>
                      </a:pPr>
                      <a:r>
                        <a:rPr/>
                        <a:t>0.31</a:t>
                      </a:r>
                    </a:p>
                  </a:txBody>
                </a:tc>
                <a:tc>
                  <a:txBody>
                    <a:bodyPr/>
                    <a:lstStyle/>
                    <a:p>
                      <a:pPr lvl="0" indent="0" marL="0" algn="r">
                        <a:buNone/>
                      </a:pPr>
                      <a:r>
                        <a:rPr/>
                        <a:t>0.45</a:t>
                      </a:r>
                    </a:p>
                  </a:txBody>
                </a:tc>
                <a:tc>
                  <a:txBody>
                    <a:bodyPr/>
                    <a:lstStyle/>
                    <a:p>
                      <a:pPr lvl="0" indent="0" marL="0" algn="r">
                        <a:buNone/>
                      </a:pPr>
                      <a:r>
                        <a:rPr/>
                        <a:t>0.38</a:t>
                      </a:r>
                    </a:p>
                  </a:txBody>
                </a:tc>
                <a:tc>
                  <a:txBody>
                    <a:bodyPr/>
                    <a:lstStyle/>
                    <a:p>
                      <a:pPr lvl="0" indent="0" marL="0" algn="r">
                        <a:buNone/>
                      </a:pPr>
                      <a:r>
                        <a:rPr/>
                        <a:t>0.16</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0.24</a:t>
                      </a:r>
                    </a:p>
                  </a:txBody>
                </a:tc>
                <a:tc>
                  <a:txBody>
                    <a:bodyPr/>
                    <a:lstStyle/>
                    <a:p>
                      <a:pPr lvl="0" indent="0" marL="0" algn="r">
                        <a:buNone/>
                      </a:pPr>
                      <a:r>
                        <a:rPr/>
                        <a:t>1.21</a:t>
                      </a:r>
                    </a:p>
                  </a:txBody>
                </a:tc>
                <a:tc>
                  <a:txBody>
                    <a:bodyPr/>
                    <a:lstStyle/>
                    <a:p>
                      <a:pPr lvl="0" indent="0" marL="0" algn="r">
                        <a:buNone/>
                      </a:pPr>
                      <a:r>
                        <a:rPr/>
                        <a:t>13</a:t>
                      </a:r>
                    </a:p>
                  </a:txBody>
                </a:tc>
              </a:tr>
              <a:tr h="0">
                <a:tc>
                  <a:txBody>
                    <a:bodyPr/>
                    <a:lstStyle/>
                    <a:p>
                      <a:pPr lvl="0" indent="0" marL="0" algn="l">
                        <a:buNone/>
                      </a:pPr>
                      <a:r>
                        <a:rPr/>
                        <a:t>Spatial smoother + covariates</a:t>
                      </a:r>
                    </a:p>
                  </a:txBody>
                </a:tc>
                <a:tc>
                  <a:txBody>
                    <a:bodyPr/>
                    <a:lstStyle/>
                    <a:p>
                      <a:pPr lvl="0" indent="0" marL="0" algn="r">
                        <a:buNone/>
                      </a:pPr>
                      <a:r>
                        <a:rPr/>
                        <a:t>0.23</a:t>
                      </a:r>
                    </a:p>
                  </a:txBody>
                </a:tc>
                <a:tc>
                  <a:txBody>
                    <a:bodyPr/>
                    <a:lstStyle/>
                    <a:p>
                      <a:pPr lvl="0" indent="0" marL="0" algn="r">
                        <a:buNone/>
                      </a:pPr>
                      <a:r>
                        <a:rPr/>
                        <a:t>1.16</a:t>
                      </a:r>
                    </a:p>
                  </a:txBody>
                </a:tc>
                <a:tc>
                  <a:txBody>
                    <a:bodyPr/>
                    <a:lstStyle/>
                    <a:p>
                      <a:pPr lvl="0" indent="0" marL="0" algn="r">
                        <a:buNone/>
                      </a:pPr>
                      <a:r>
                        <a:rPr/>
                        <a:t>11</a:t>
                      </a:r>
                    </a:p>
                  </a:txBody>
                </a:tc>
              </a:tr>
              <a:tr h="0">
                <a:tc>
                  <a:txBody>
                    <a:bodyPr/>
                    <a:lstStyle/>
                    <a:p>
                      <a:pPr lvl="0" indent="0" marL="0" algn="l">
                        <a:buNone/>
                      </a:pPr>
                      <a:r>
                        <a:rPr/>
                        <a:t>Spatial smoother only</a:t>
                      </a:r>
                    </a:p>
                  </a:txBody>
                </a:tc>
                <a:tc>
                  <a:txBody>
                    <a:bodyPr/>
                    <a:lstStyle/>
                    <a:p>
                      <a:pPr lvl="0" indent="0" marL="0" algn="r">
                        <a:buNone/>
                      </a:pPr>
                      <a:r>
                        <a:rPr/>
                        <a:t>0.23</a:t>
                      </a:r>
                    </a:p>
                  </a:txBody>
                </a:tc>
                <a:tc>
                  <a:txBody>
                    <a:bodyPr/>
                    <a:lstStyle/>
                    <a:p>
                      <a:pPr lvl="0" indent="0" marL="0" algn="r">
                        <a:buNone/>
                      </a:pPr>
                      <a:r>
                        <a:rPr/>
                        <a:t>1.15</a:t>
                      </a:r>
                    </a:p>
                  </a:txBody>
                </a:tc>
                <a:tc>
                  <a:txBody>
                    <a:bodyPr/>
                    <a:lstStyle/>
                    <a:p>
                      <a:pPr lvl="0" indent="0" marL="0" algn="r">
                        <a:buNone/>
                      </a:pPr>
                      <a:r>
                        <a:rPr/>
                        <a:t>10</a:t>
                      </a:r>
                    </a:p>
                  </a:txBody>
                </a:tc>
              </a:tr>
              <a:tr h="0">
                <a:tc>
                  <a:txBody>
                    <a:bodyPr/>
                    <a:lstStyle/>
                    <a:p>
                      <a:pPr lvl="0" indent="0" marL="0" algn="l">
                        <a:buNone/>
                      </a:pPr>
                      <a:r>
                        <a:rPr/>
                        <a:t>Survey: jackknifed regional mean</a:t>
                      </a:r>
                    </a:p>
                  </a:txBody>
                </a:tc>
                <a:tc>
                  <a:txBody>
                    <a:bodyPr/>
                    <a:lstStyle/>
                    <a:p>
                      <a:pPr lvl="0" indent="0" marL="0" algn="r">
                        <a:buNone/>
                      </a:pPr>
                      <a:r>
                        <a:rPr/>
                        <a:t>0.19</a:t>
                      </a:r>
                    </a:p>
                  </a:txBody>
                </a:tc>
                <a:tc>
                  <a:txBody>
                    <a:bodyPr/>
                    <a:lstStyle/>
                    <a:p>
                      <a:pPr lvl="0" indent="0" marL="0" algn="r">
                        <a:buNone/>
                      </a:pPr>
                      <a:r>
                        <a:rPr/>
                        <a:t>0.95</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0.15</a:t>
                      </a:r>
                    </a:p>
                  </a:txBody>
                </a:tc>
                <a:tc>
                  <a:txBody>
                    <a:bodyPr/>
                    <a:lstStyle/>
                    <a:p>
                      <a:pPr lvl="0" indent="0" marL="0" algn="r">
                        <a:buNone/>
                      </a:pPr>
                      <a:r>
                        <a:rPr/>
                        <a:t>0.74</a:t>
                      </a:r>
                    </a:p>
                  </a:txBody>
                </a:tc>
                <a:tc>
                  <a:txBody>
                    <a:bodyPr/>
                    <a:lstStyle/>
                    <a:p>
                      <a:pPr lvl="0" indent="0" marL="0" algn="r">
                        <a:buNone/>
                      </a:pPr>
                      <a:r>
                        <a:rPr/>
                        <a:t>1</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0.037</a:t>
                      </a:r>
                    </a:p>
                  </a:txBody>
                </a:tc>
                <a:tc>
                  <a:txBody>
                    <a:bodyPr/>
                    <a:lstStyle/>
                    <a:p>
                      <a:pPr lvl="0" indent="0" marL="0" algn="r">
                        <a:buNone/>
                      </a:pPr>
                      <a:r>
                        <a:rPr/>
                        <a:t>0.318</a:t>
                      </a:r>
                    </a:p>
                  </a:txBody>
                </a:tc>
              </a:tr>
              <a:tr h="0">
                <a:tc>
                  <a:txBody>
                    <a:bodyPr/>
                    <a:lstStyle/>
                    <a:p>
                      <a:pPr lvl="0" indent="0" marL="0" algn="l">
                        <a:buNone/>
                      </a:pPr>
                      <a:r>
                        <a:rPr/>
                        <a:t>Climate and weather</a:t>
                      </a:r>
                    </a:p>
                  </a:txBody>
                </a:tc>
                <a:tc>
                  <a:txBody>
                    <a:bodyPr/>
                    <a:lstStyle/>
                    <a:p>
                      <a:pPr lvl="0" indent="0" marL="0" algn="r">
                        <a:buNone/>
                      </a:pPr>
                      <a:r>
                        <a:rPr/>
                        <a:t>0.028</a:t>
                      </a:r>
                    </a:p>
                  </a:txBody>
                </a:tc>
                <a:tc>
                  <a:txBody>
                    <a:bodyPr/>
                    <a:lstStyle/>
                    <a:p>
                      <a:pPr lvl="0" indent="0" marL="0" algn="r">
                        <a:buNone/>
                      </a:pPr>
                      <a:r>
                        <a:rPr/>
                        <a:t>0.351</a:t>
                      </a:r>
                    </a:p>
                  </a:txBody>
                </a:tc>
              </a:tr>
              <a:tr h="0">
                <a:tc>
                  <a:txBody>
                    <a:bodyPr/>
                    <a:lstStyle/>
                    <a:p>
                      <a:pPr lvl="0" indent="0" marL="0" algn="l">
                        <a:buNone/>
                      </a:pPr>
                      <a:r>
                        <a:rPr/>
                        <a:t>Agricultural production, land use</a:t>
                      </a:r>
                    </a:p>
                  </a:txBody>
                </a:tc>
                <a:tc>
                  <a:txBody>
                    <a:bodyPr/>
                    <a:lstStyle/>
                    <a:p>
                      <a:pPr lvl="0" indent="0" marL="0" algn="r">
                        <a:buNone/>
                      </a:pPr>
                      <a:r>
                        <a:rPr/>
                        <a:t>0.015</a:t>
                      </a:r>
                    </a:p>
                  </a:txBody>
                </a:tc>
                <a:tc>
                  <a:txBody>
                    <a:bodyPr/>
                    <a:lstStyle/>
                    <a:p>
                      <a:pPr lvl="0" indent="0" marL="0" algn="r">
                        <a:buNone/>
                      </a:pPr>
                      <a:r>
                        <a:rPr/>
                        <a:t>0.279</a:t>
                      </a:r>
                    </a:p>
                  </a:txBody>
                </a:tc>
              </a:tr>
              <a:tr h="0">
                <a:tc>
                  <a:txBody>
                    <a:bodyPr/>
                    <a:lstStyle/>
                    <a:p>
                      <a:pPr lvl="0" indent="0" marL="0" algn="l">
                        <a:buNone/>
                      </a:pPr>
                      <a:r>
                        <a:rPr/>
                        <a:t>Malaria incidence and treatment</a:t>
                      </a:r>
                    </a:p>
                  </a:txBody>
                </a:tc>
                <a:tc>
                  <a:txBody>
                    <a:bodyPr/>
                    <a:lstStyle/>
                    <a:p>
                      <a:pPr lvl="0" indent="0" marL="0" algn="r">
                        <a:buNone/>
                      </a:pPr>
                      <a:r>
                        <a:rPr/>
                        <a:t>0.013</a:t>
                      </a:r>
                    </a:p>
                  </a:txBody>
                </a:tc>
                <a:tc>
                  <a:txBody>
                    <a:bodyPr/>
                    <a:lstStyle/>
                    <a:p>
                      <a:pPr lvl="0" indent="0" marL="0" algn="r">
                        <a:buNone/>
                      </a:pPr>
                      <a:r>
                        <a:rPr/>
                        <a:t>0.129</a:t>
                      </a:r>
                    </a:p>
                  </a:txBody>
                </a:tc>
              </a:tr>
              <a:tr h="0">
                <a:tc>
                  <a:txBody>
                    <a:bodyPr/>
                    <a:lstStyle/>
                    <a:p>
                      <a:pPr lvl="0" indent="0" marL="0" algn="l">
                        <a:buNone/>
                      </a:pPr>
                      <a:r>
                        <a:rPr/>
                        <a:t>Satellite embedding</a:t>
                      </a:r>
                    </a:p>
                  </a:txBody>
                </a:tc>
                <a:tc>
                  <a:txBody>
                    <a:bodyPr/>
                    <a:lstStyle/>
                    <a:p>
                      <a:pPr lvl="0" indent="0" marL="0" algn="r">
                        <a:buNone/>
                      </a:pPr>
                      <a:r>
                        <a:rPr/>
                        <a:t>0.010</a:t>
                      </a:r>
                    </a:p>
                  </a:txBody>
                </a:tc>
                <a:tc>
                  <a:txBody>
                    <a:bodyPr/>
                    <a:lstStyle/>
                    <a:p>
                      <a:pPr lvl="0" indent="0" marL="0" algn="r">
                        <a:buNone/>
                      </a:pPr>
                      <a:r>
                        <a:rPr/>
                        <a:t>0.201</a:t>
                      </a:r>
                    </a:p>
                  </a:txBody>
                </a:tc>
              </a:tr>
              <a:tr h="0">
                <a:tc>
                  <a:txBody>
                    <a:bodyPr/>
                    <a:lstStyle/>
                    <a:p>
                      <a:pPr lvl="0" indent="0" marL="0" algn="l">
                        <a:buNone/>
                      </a:pPr>
                      <a:r>
                        <a:rPr/>
                        <a:t>Ecosystem productivity/greenness</a:t>
                      </a:r>
                    </a:p>
                  </a:txBody>
                </a:tc>
                <a:tc>
                  <a:txBody>
                    <a:bodyPr/>
                    <a:lstStyle/>
                    <a:p>
                      <a:pPr lvl="0" indent="0" marL="0" algn="r">
                        <a:buNone/>
                      </a:pPr>
                      <a:r>
                        <a:rPr/>
                        <a:t>0.005</a:t>
                      </a:r>
                    </a:p>
                  </a:txBody>
                </a:tc>
                <a:tc>
                  <a:txBody>
                    <a:bodyPr/>
                    <a:lstStyle/>
                    <a:p>
                      <a:pPr lvl="0" indent="0" marL="0" algn="r">
                        <a:buNone/>
                      </a:pPr>
                      <a:r>
                        <a:rPr/>
                        <a:t>0.143</a:t>
                      </a:r>
                    </a:p>
                  </a:txBody>
                </a:tc>
              </a:tr>
              <a:tr h="0">
                <a:tc>
                  <a:txBody>
                    <a:bodyPr/>
                    <a:lstStyle/>
                    <a:p>
                      <a:pPr lvl="0" indent="0" marL="0" algn="l">
                        <a:buNone/>
                      </a:pPr>
                      <a:r>
                        <a:rPr/>
                        <a:t>Adult nutrition</a:t>
                      </a:r>
                    </a:p>
                  </a:txBody>
                </a:tc>
                <a:tc>
                  <a:txBody>
                    <a:bodyPr/>
                    <a:lstStyle/>
                    <a:p>
                      <a:pPr lvl="0" indent="0" marL="0" algn="r">
                        <a:buNone/>
                      </a:pPr>
                      <a:r>
                        <a:rPr/>
                        <a:t>0.002</a:t>
                      </a:r>
                    </a:p>
                  </a:txBody>
                </a:tc>
                <a:tc>
                  <a:txBody>
                    <a:bodyPr/>
                    <a:lstStyle/>
                    <a:p>
                      <a:pPr lvl="0" indent="0" marL="0" algn="r">
                        <a:buNone/>
                      </a:pPr>
                      <a:r>
                        <a:rPr/>
                        <a:t>0.120</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0.037</a:t>
                      </a:r>
                    </a:p>
                  </a:txBody>
                </a:tc>
                <a:tc>
                  <a:txBody>
                    <a:bodyPr/>
                    <a:lstStyle/>
                    <a:p>
                      <a:pPr lvl="0" indent="0" marL="0" algn="r">
                        <a:buNone/>
                      </a:pPr>
                      <a:r>
                        <a:rPr/>
                        <a:t>0.318</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0.026</a:t>
                      </a:r>
                    </a:p>
                  </a:txBody>
                </a:tc>
                <a:tc>
                  <a:txBody>
                    <a:bodyPr/>
                    <a:lstStyle/>
                    <a:p>
                      <a:pPr lvl="0" indent="0" marL="0" algn="r">
                        <a:buNone/>
                      </a:pPr>
                      <a:r>
                        <a:rPr/>
                        <a:t>0.269</a:t>
                      </a:r>
                    </a:p>
                  </a:txBody>
                </a:tc>
              </a:tr>
              <a:tr h="0">
                <a:tc>
                  <a:txBody>
                    <a:bodyPr/>
                    <a:lstStyle/>
                    <a:p>
                      <a:pPr lvl="0" indent="0" marL="0" algn="l">
                        <a:buNone/>
                      </a:pPr>
                      <a:r>
                        <a:rPr/>
                        <a:t>Malaria Atlas</a:t>
                      </a:r>
                    </a:p>
                  </a:txBody>
                </a:tc>
                <a:tc>
                  <a:txBody>
                    <a:bodyPr/>
                    <a:lstStyle/>
                    <a:p>
                      <a:pPr lvl="0" indent="0" marL="0" algn="r">
                        <a:buNone/>
                      </a:pPr>
                      <a:r>
                        <a:rPr/>
                        <a:t>23</a:t>
                      </a:r>
                    </a:p>
                  </a:txBody>
                </a:tc>
                <a:tc>
                  <a:txBody>
                    <a:bodyPr/>
                    <a:lstStyle/>
                    <a:p>
                      <a:pPr lvl="0" indent="0" marL="0" algn="r">
                        <a:buNone/>
                      </a:pPr>
                      <a:r>
                        <a:rPr/>
                        <a:t>0.013</a:t>
                      </a:r>
                    </a:p>
                  </a:txBody>
                </a:tc>
                <a:tc>
                  <a:txBody>
                    <a:bodyPr/>
                    <a:lstStyle/>
                    <a:p>
                      <a:pPr lvl="0" indent="0" marL="0" algn="r">
                        <a:buNone/>
                      </a:pPr>
                      <a:r>
                        <a:rPr/>
                        <a:t>0.129</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0.010</a:t>
                      </a:r>
                    </a:p>
                  </a:txBody>
                </a:tc>
                <a:tc>
                  <a:txBody>
                    <a:bodyPr/>
                    <a:lstStyle/>
                    <a:p>
                      <a:pPr lvl="0" indent="0" marL="0" algn="r">
                        <a:buNone/>
                      </a:pPr>
                      <a:r>
                        <a:rPr/>
                        <a:t>0.174</a:t>
                      </a:r>
                    </a:p>
                  </a:txBody>
                </a:tc>
              </a:tr>
              <a:tr h="0">
                <a:tc>
                  <a:txBody>
                    <a:bodyPr/>
                    <a:lstStyle/>
                    <a:p>
                      <a:pPr lvl="0" indent="0" marL="0" algn="l">
                        <a:buNone/>
                      </a:pPr>
                      <a:r>
                        <a:rPr/>
                        <a:t>AlphaEarth</a:t>
                      </a:r>
                    </a:p>
                  </a:txBody>
                </a:tc>
                <a:tc>
                  <a:txBody>
                    <a:bodyPr/>
                    <a:lstStyle/>
                    <a:p>
                      <a:pPr lvl="0" indent="0" marL="0" algn="r">
                        <a:buNone/>
                      </a:pPr>
                      <a:r>
                        <a:rPr/>
                        <a:t>64</a:t>
                      </a:r>
                    </a:p>
                  </a:txBody>
                </a:tc>
                <a:tc>
                  <a:txBody>
                    <a:bodyPr/>
                    <a:lstStyle/>
                    <a:p>
                      <a:pPr lvl="0" indent="0" marL="0" algn="r">
                        <a:buNone/>
                      </a:pPr>
                      <a:r>
                        <a:rPr/>
                        <a:t>0.010</a:t>
                      </a:r>
                    </a:p>
                  </a:txBody>
                </a:tc>
                <a:tc>
                  <a:txBody>
                    <a:bodyPr/>
                    <a:lstStyle/>
                    <a:p>
                      <a:pPr lvl="0" indent="0" marL="0" algn="r">
                        <a:buNone/>
                      </a:pPr>
                      <a:r>
                        <a:rPr/>
                        <a:t>0.201</a:t>
                      </a:r>
                    </a:p>
                  </a:txBody>
                </a:tc>
              </a:tr>
              <a:tr h="0">
                <a:tc>
                  <a:txBody>
                    <a:bodyPr/>
                    <a:lstStyle/>
                    <a:p>
                      <a:pPr lvl="0" indent="0" marL="0" algn="l">
                        <a:buNone/>
                      </a:pPr>
                      <a:r>
                        <a:rPr/>
                        <a:t>WFP prices</a:t>
                      </a:r>
                    </a:p>
                  </a:txBody>
                </a:tc>
                <a:tc>
                  <a:txBody>
                    <a:bodyPr/>
                    <a:lstStyle/>
                    <a:p>
                      <a:pPr lvl="0" indent="0" marL="0" algn="r">
                        <a:buNone/>
                      </a:pPr>
                      <a:r>
                        <a:rPr/>
                        <a:t>4</a:t>
                      </a:r>
                    </a:p>
                  </a:txBody>
                </a:tc>
                <a:tc>
                  <a:txBody>
                    <a:bodyPr/>
                    <a:lstStyle/>
                    <a:p>
                      <a:pPr lvl="0" indent="0" marL="0" algn="r">
                        <a:buNone/>
                      </a:pPr>
                      <a:r>
                        <a:rPr/>
                        <a:t>0.001</a:t>
                      </a:r>
                    </a:p>
                  </a:txBody>
                </a:tc>
                <a:tc>
                  <a:txBody>
                    <a:bodyPr/>
                    <a:lstStyle/>
                    <a:p>
                      <a:pPr lvl="0" indent="0" marL="0" algn="r">
                        <a:buNone/>
                      </a:pPr>
                      <a:r>
                        <a:rPr/>
                        <a:t>-0.024</a:t>
                      </a:r>
                    </a:p>
                  </a:txBody>
                </a:tc>
              </a:tr>
              <a:tr h="0">
                <a:tc>
                  <a:txBody>
                    <a:bodyPr/>
                    <a:lstStyle/>
                    <a:p>
                      <a:pPr lvl="0" indent="0" marL="0" algn="l">
                        <a:buNone/>
                      </a:pPr>
                      <a:r>
                        <a:rPr/>
                        <a:t>DHS</a:t>
                      </a:r>
                    </a:p>
                  </a:txBody>
                </a:tc>
                <a:tc>
                  <a:txBody>
                    <a:bodyPr/>
                    <a:lstStyle/>
                    <a:p>
                      <a:pPr lvl="0" indent="0" marL="0" algn="r">
                        <a:buNone/>
                      </a:pPr>
                      <a:r>
                        <a:rPr/>
                        <a:t>138</a:t>
                      </a:r>
                    </a:p>
                  </a:txBody>
                </a:tc>
                <a:tc>
                  <a:txBody>
                    <a:bodyPr/>
                    <a:lstStyle/>
                    <a:p>
                      <a:pPr lvl="0" indent="0" marL="0" algn="r">
                        <a:buNone/>
                      </a:pPr>
                      <a:r>
                        <a:rPr/>
                        <a:t>-0.045</a:t>
                      </a:r>
                    </a:p>
                  </a:txBody>
                </a:tc>
                <a:tc>
                  <a:txBody>
                    <a:bodyPr/>
                    <a:lstStyle/>
                    <a:p>
                      <a:pPr lvl="0" indent="0" marL="0" algn="r">
                        <a:buNone/>
                      </a:pPr>
                      <a:r>
                        <a:rPr/>
                        <a:t>0.144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0.35</a:t>
                      </a:r>
                    </a:p>
                  </a:txBody>
                </a:tc>
                <a:tc>
                  <a:txBody>
                    <a:bodyPr/>
                    <a:lstStyle/>
                    <a:p>
                      <a:pPr lvl="0" indent="0" marL="0" algn="r">
                        <a:buNone/>
                      </a:pPr>
                      <a:r>
                        <a:rPr/>
                        <a:t>-0.07</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0.41</a:t>
                      </a:r>
                    </a:p>
                  </a:txBody>
                </a:tc>
                <a:tc>
                  <a:txBody>
                    <a:bodyPr/>
                    <a:lstStyle/>
                    <a:p>
                      <a:pPr lvl="0" indent="0" marL="0" algn="r">
                        <a:buNone/>
                      </a:pPr>
                      <a:r>
                        <a:rPr/>
                        <a:t>-0.07</a:t>
                      </a:r>
                    </a:p>
                  </a:txBody>
                </a:tc>
                <a:tc>
                  <a:txBody>
                    <a:bodyPr/>
                    <a:lstStyle/>
                    <a:p>
                      <a:pPr lvl="0" indent="0" marL="0" algn="r">
                        <a:buNone/>
                      </a:pPr>
                      <a:r>
                        <a:rPr/>
                        <a:t>0.13</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0.57</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0.58</a:t>
                      </a:r>
                    </a:p>
                  </a:txBody>
                </a:tc>
                <a:tc>
                  <a:txBody>
                    <a:bodyPr/>
                    <a:lstStyle/>
                    <a:p>
                      <a:pPr lvl="0" indent="0" marL="0" algn="r">
                        <a:buNone/>
                      </a:pPr>
                      <a:r>
                        <a:rPr/>
                        <a:t>0.54</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0.54</a:t>
                      </a:r>
                    </a:p>
                  </a:txBody>
                </a:tc>
                <a:tc>
                  <a:txBody>
                    <a:bodyPr/>
                    <a:lstStyle/>
                    <a:p>
                      <a:pPr lvl="0" indent="0" marL="0" algn="r">
                        <a:buNone/>
                      </a:pPr>
                      <a:r>
                        <a:rPr/>
                        <a:t>0.40</a:t>
                      </a:r>
                    </a:p>
                  </a:txBody>
                </a:tc>
                <a:tc>
                  <a:txBody>
                    <a:bodyPr/>
                    <a:lstStyle/>
                    <a:p>
                      <a:pPr lvl="0" indent="0" marL="0" algn="r">
                        <a:buNone/>
                      </a:pPr>
                      <a:r>
                        <a:rPr/>
                        <a:t>0.12</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0.38</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10.5</a:t>
                      </a:r>
                    </a:p>
                  </a:txBody>
                </a:tc>
                <a:tc>
                  <a:txBody>
                    <a:bodyPr/>
                    <a:lstStyle/>
                    <a:p>
                      <a:pPr lvl="0" indent="0" marL="0" algn="r">
                        <a:buNone/>
                      </a:pPr>
                      <a:r>
                        <a:rPr/>
                        <a:t>12.1</a:t>
                      </a:r>
                    </a:p>
                  </a:txBody>
                </a:tc>
                <a:tc>
                  <a:txBody>
                    <a:bodyPr/>
                    <a:lstStyle/>
                    <a:p>
                      <a:pPr lvl="0" indent="0" marL="0" algn="r">
                        <a:buNone/>
                      </a:pPr>
                      <a:r>
                        <a:rPr/>
                        <a:t>18.8</a:t>
                      </a:r>
                    </a:p>
                  </a:txBody>
                </a:tc>
                <a:tc>
                  <a:txBody>
                    <a:bodyPr/>
                    <a:lstStyle/>
                    <a:p>
                      <a:pPr lvl="0" indent="0" marL="0" algn="r">
                        <a:buNone/>
                      </a:pPr>
                      <a:r>
                        <a:rPr/>
                        <a:t>11.8</a:t>
                      </a:r>
                    </a:p>
                  </a:txBody>
                </a:tc>
              </a:tr>
              <a:tr h="0">
                <a:tc>
                  <a:txBody>
                    <a:bodyPr/>
                    <a:lstStyle/>
                    <a:p>
                      <a:pPr lvl="0" indent="0" marL="0" algn="l">
                        <a:buNone/>
                      </a:pPr>
                      <a:r>
                        <a:rPr/>
                        <a:t>15%</a:t>
                      </a:r>
                    </a:p>
                  </a:txBody>
                </a:tc>
                <a:tc>
                  <a:txBody>
                    <a:bodyPr/>
                    <a:lstStyle/>
                    <a:p>
                      <a:pPr lvl="0" indent="0" marL="0" algn="r">
                        <a:buNone/>
                      </a:pPr>
                      <a:r>
                        <a:rPr/>
                        <a:t>9.3</a:t>
                      </a:r>
                    </a:p>
                  </a:txBody>
                </a:tc>
                <a:tc>
                  <a:txBody>
                    <a:bodyPr/>
                    <a:lstStyle/>
                    <a:p>
                      <a:pPr lvl="0" indent="0" marL="0" algn="r">
                        <a:buNone/>
                      </a:pPr>
                      <a:r>
                        <a:rPr/>
                        <a:t>9.4</a:t>
                      </a:r>
                    </a:p>
                  </a:txBody>
                </a:tc>
                <a:tc>
                  <a:txBody>
                    <a:bodyPr/>
                    <a:lstStyle/>
                    <a:p>
                      <a:pPr lvl="0" indent="0" marL="0" algn="r">
                        <a:buNone/>
                      </a:pPr>
                      <a:r>
                        <a:rPr/>
                        <a:t>13.0</a:t>
                      </a:r>
                    </a:p>
                  </a:txBody>
                </a:tc>
                <a:tc>
                  <a:txBody>
                    <a:bodyPr/>
                    <a:lstStyle/>
                    <a:p>
                      <a:pPr lvl="0" indent="0" marL="0" algn="r">
                        <a:buNone/>
                      </a:pPr>
                      <a:r>
                        <a:rPr/>
                        <a:t>9.2</a:t>
                      </a:r>
                    </a:p>
                  </a:txBody>
                </a:tc>
              </a:tr>
              <a:tr h="0">
                <a:tc>
                  <a:txBody>
                    <a:bodyPr/>
                    <a:lstStyle/>
                    <a:p>
                      <a:pPr lvl="0" indent="0" marL="0" algn="l">
                        <a:buNone/>
                      </a:pPr>
                      <a:r>
                        <a:rPr/>
                        <a:t>25%</a:t>
                      </a:r>
                    </a:p>
                  </a:txBody>
                </a:tc>
                <a:tc>
                  <a:txBody>
                    <a:bodyPr/>
                    <a:lstStyle/>
                    <a:p>
                      <a:pPr lvl="0" indent="0" marL="0" algn="r">
                        <a:buNone/>
                      </a:pPr>
                      <a:r>
                        <a:rPr/>
                        <a:t>9.2</a:t>
                      </a:r>
                    </a:p>
                  </a:txBody>
                </a:tc>
                <a:tc>
                  <a:txBody>
                    <a:bodyPr/>
                    <a:lstStyle/>
                    <a:p>
                      <a:pPr lvl="0" indent="0" marL="0" algn="r">
                        <a:buNone/>
                      </a:pPr>
                      <a:r>
                        <a:rPr/>
                        <a:t>8.4</a:t>
                      </a:r>
                    </a:p>
                  </a:txBody>
                </a:tc>
                <a:tc>
                  <a:txBody>
                    <a:bodyPr/>
                    <a:lstStyle/>
                    <a:p>
                      <a:pPr lvl="0" indent="0" marL="0" algn="r">
                        <a:buNone/>
                      </a:pPr>
                      <a:r>
                        <a:rPr/>
                        <a:t>10.1</a:t>
                      </a:r>
                    </a:p>
                  </a:txBody>
                </a:tc>
                <a:tc>
                  <a:txBody>
                    <a:bodyPr/>
                    <a:lstStyle/>
                    <a:p>
                      <a:pPr lvl="0" indent="0" marL="0" algn="r">
                        <a:buNone/>
                      </a:pPr>
                      <a:r>
                        <a:rPr/>
                        <a:t>7.8</a:t>
                      </a:r>
                    </a:p>
                  </a:txBody>
                </a:tc>
              </a:tr>
              <a:tr h="0">
                <a:tc>
                  <a:txBody>
                    <a:bodyPr/>
                    <a:lstStyle/>
                    <a:p>
                      <a:pPr lvl="0" indent="0" marL="0" algn="l">
                        <a:buNone/>
                      </a:pPr>
                      <a:r>
                        <a:rPr/>
                        <a:t>40%</a:t>
                      </a:r>
                    </a:p>
                  </a:txBody>
                </a:tc>
                <a:tc>
                  <a:txBody>
                    <a:bodyPr/>
                    <a:lstStyle/>
                    <a:p>
                      <a:pPr lvl="0" indent="0" marL="0" algn="r">
                        <a:buNone/>
                      </a:pPr>
                      <a:r>
                        <a:rPr/>
                        <a:t>8.7</a:t>
                      </a:r>
                    </a:p>
                  </a:txBody>
                </a:tc>
                <a:tc>
                  <a:txBody>
                    <a:bodyPr/>
                    <a:lstStyle/>
                    <a:p>
                      <a:pPr lvl="0" indent="0" marL="0" algn="r">
                        <a:buNone/>
                      </a:pPr>
                      <a:r>
                        <a:rPr/>
                        <a:t>7.6</a:t>
                      </a:r>
                    </a:p>
                  </a:txBody>
                </a:tc>
                <a:tc>
                  <a:txBody>
                    <a:bodyPr/>
                    <a:lstStyle/>
                    <a:p>
                      <a:pPr lvl="0" indent="0" marL="0" algn="r">
                        <a:buNone/>
                      </a:pPr>
                      <a:r>
                        <a:rPr/>
                        <a:t>7.6</a:t>
                      </a:r>
                    </a:p>
                  </a:txBody>
                </a:tc>
                <a:tc>
                  <a:txBody>
                    <a:bodyPr/>
                    <a:lstStyle/>
                    <a:p>
                      <a:pPr lvl="0" indent="0" marL="0" algn="r">
                        <a:buNone/>
                      </a:pPr>
                      <a:r>
                        <a:rPr/>
                        <a:t>7.1</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7.2</a:t>
                      </a:r>
                    </a:p>
                  </a:txBody>
                </a:tc>
                <a:tc>
                  <a:txBody>
                    <a:bodyPr/>
                    <a:lstStyle/>
                    <a:p>
                      <a:pPr lvl="0" indent="0" marL="0" algn="r">
                        <a:buNone/>
                      </a:pPr>
                      <a:r>
                        <a:rPr/>
                        <a:t>5.2</a:t>
                      </a:r>
                    </a:p>
                  </a:txBody>
                </a:tc>
                <a:tc>
                  <a:txBody>
                    <a:bodyPr/>
                    <a:lstStyle/>
                    <a:p>
                      <a:pPr lvl="0" indent="0" marL="0" algn="r">
                        <a:buNone/>
                      </a:pPr>
                      <a:r>
                        <a:rPr/>
                        <a:t>6.4</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0.39</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0.22</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0.35</a:t>
                      </a:r>
                    </a:p>
                  </a:txBody>
                </a:tc>
                <a:tc>
                  <a:txBody>
                    <a:bodyPr/>
                    <a:lstStyle/>
                    <a:p>
                      <a:pPr lvl="0" indent="0" marL="0" algn="r">
                        <a:buNone/>
                      </a:pPr>
                      <a:r>
                        <a:rPr/>
                        <a:t>0.37</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0.20</a:t>
                      </a:r>
                    </a:p>
                  </a:txBody>
                </a:tc>
                <a:tc>
                  <a:txBody>
                    <a:bodyPr/>
                    <a:lstStyle/>
                    <a:p>
                      <a:pPr lvl="0" indent="0" marL="0" algn="r">
                        <a:buNone/>
                      </a:pPr>
                      <a:r>
                        <a:rPr/>
                        <a:t>0.27</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full index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55%</a:t>
                      </a:r>
                    </a:p>
                  </a:txBody>
                </a:tc>
                <a:tc>
                  <a:txBody>
                    <a:bodyPr/>
                    <a:lstStyle/>
                    <a:p>
                      <a:pPr lvl="0" indent="0" marL="0" algn="l">
                        <a:buNone/>
                      </a:pPr>
                      <a:r>
                        <a:rPr/>
                        <a:t>98%</a:t>
                      </a:r>
                    </a:p>
                  </a:txBody>
                </a:tc>
              </a:tr>
              <a:tr h="0">
                <a:tc>
                  <a:txBody>
                    <a:bodyPr/>
                    <a:lstStyle/>
                    <a:p>
                      <a:pPr lvl="0" indent="0" marL="0" algn="l">
                        <a:buNone/>
                      </a:pPr>
                      <a:r>
                        <a:rPr/>
                        <a:t>Transport, climate + soil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61%</a:t>
                      </a:r>
                    </a:p>
                  </a:txBody>
                </a:tc>
                <a:tc>
                  <a:txBody>
                    <a:bodyPr/>
                    <a:lstStyle/>
                    <a:p>
                      <a:pPr lvl="0" indent="0" marL="0" algn="l">
                        <a:buNone/>
                      </a:pPr>
                      <a:r>
                        <a:rPr/>
                        <a:t>97%</a:t>
                      </a:r>
                    </a:p>
                  </a:txBody>
                </a:tc>
              </a:tr>
              <a:tr h="0">
                <a:tc>
                  <a:txBody>
                    <a:bodyPr/>
                    <a:lstStyle/>
                    <a:p>
                      <a:pPr lvl="0" indent="0" marL="0" algn="l">
                        <a:buNone/>
                      </a:pPr>
                      <a:r>
                        <a:rPr/>
                        <a:t>Spatial smoother, in-fill</a:t>
                      </a:r>
                    </a:p>
                  </a:txBody>
                </a:tc>
                <a:tc>
                  <a:txBody>
                    <a:bodyPr/>
                    <a:lstStyle/>
                    <a:p>
                      <a:pPr lvl="0" indent="0" marL="0" algn="l">
                        <a:buNone/>
                      </a:pPr>
                      <a:r>
                        <a:rPr/>
                        <a:t>53%</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96%</a:t>
                      </a:r>
                    </a:p>
                  </a:txBody>
                </a:tc>
              </a:tr>
              <a:tr h="0">
                <a:tc>
                  <a:txBody>
                    <a:bodyPr/>
                    <a:lstStyle/>
                    <a:p>
                      <a:pPr lvl="0" indent="0" marL="0" algn="l">
                        <a:buNone/>
                      </a:pPr>
                      <a:r>
                        <a:rPr/>
                        <a:t>Zero-tuning index, in-fill</a:t>
                      </a:r>
                    </a:p>
                  </a:txBody>
                </a:tc>
                <a:tc>
                  <a:txBody>
                    <a:bodyPr/>
                    <a:lstStyle/>
                    <a:p>
                      <a:pPr lvl="0" indent="0" marL="0" algn="l">
                        <a:buNone/>
                      </a:pPr>
                      <a:r>
                        <a:rPr/>
                        <a:t>53%</a:t>
                      </a:r>
                    </a:p>
                  </a:txBody>
                </a:tc>
                <a:tc>
                  <a:txBody>
                    <a:bodyPr/>
                    <a:lstStyle/>
                    <a:p>
                      <a:pPr lvl="0" indent="0" marL="0" algn="l">
                        <a:buNone/>
                      </a:pPr>
                      <a:r>
                        <a:rPr/>
                        <a:t>89%</a:t>
                      </a:r>
                    </a:p>
                  </a:txBody>
                </a:tc>
                <a:tc>
                  <a:txBody>
                    <a:bodyPr/>
                    <a:lstStyle/>
                    <a:p>
                      <a:pPr lvl="0" indent="0" marL="0" algn="l">
                        <a:buNone/>
                      </a:pPr>
                      <a:r>
                        <a:rPr/>
                        <a:t>67%</a:t>
                      </a:r>
                    </a:p>
                  </a:txBody>
                </a:tc>
                <a:tc>
                  <a:txBody>
                    <a:bodyPr/>
                    <a:lstStyle/>
                    <a:p>
                      <a:pPr lvl="0" indent="0" marL="0" algn="l">
                        <a:buNone/>
                      </a:pPr>
                      <a:r>
                        <a:rPr/>
                        <a:t>96%</a:t>
                      </a:r>
                    </a:p>
                  </a:txBody>
                </a:tc>
              </a:tr>
              <a:tr h="0">
                <a:tc>
                  <a:txBody>
                    <a:bodyPr/>
                    <a:lstStyle/>
                    <a:p>
                      <a:pPr lvl="0" indent="0" marL="0" algn="l">
                        <a:buNone/>
                      </a:pPr>
                      <a:r>
                        <a:rPr/>
                        <a:t>Smoother + covariates, in-fill</a:t>
                      </a:r>
                    </a:p>
                  </a:txBody>
                </a:tc>
                <a:tc>
                  <a:txBody>
                    <a:bodyPr/>
                    <a:lstStyle/>
                    <a:p>
                      <a:pPr lvl="0" indent="0" marL="0" algn="l">
                        <a:buNone/>
                      </a:pPr>
                      <a:r>
                        <a:rPr/>
                        <a:t>52%</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98%</a:t>
                      </a:r>
                    </a:p>
                  </a:txBody>
                </a:tc>
              </a:tr>
              <a:tr h="0">
                <a:tc>
                  <a:txBody>
                    <a:bodyPr/>
                    <a:lstStyle/>
                    <a:p>
                      <a:pPr lvl="0" indent="0" marL="0" algn="l">
                        <a:buNone/>
                      </a:pPr>
                      <a:r>
                        <a:rPr/>
                        <a:t>Jackknifed regional mean, in-fill</a:t>
                      </a:r>
                    </a:p>
                  </a:txBody>
                </a:tc>
                <a:tc>
                  <a:txBody>
                    <a:bodyPr/>
                    <a:lstStyle/>
                    <a:p>
                      <a:pPr lvl="0" indent="0" marL="0" algn="l">
                        <a:buNone/>
                      </a:pPr>
                      <a:r>
                        <a:rPr/>
                        <a:t>52%</a:t>
                      </a:r>
                    </a:p>
                  </a:txBody>
                </a:tc>
                <a:tc>
                  <a:txBody>
                    <a:bodyPr/>
                    <a:lstStyle/>
                    <a:p>
                      <a:pPr lvl="0" indent="0" marL="0" algn="l">
                        <a:buNone/>
                      </a:pPr>
                      <a:r>
                        <a:rPr/>
                        <a:t>89%</a:t>
                      </a:r>
                    </a:p>
                  </a:txBody>
                </a:tc>
                <a:tc>
                  <a:txBody>
                    <a:bodyPr/>
                    <a:lstStyle/>
                    <a:p>
                      <a:pPr lvl="0" indent="0" marL="0" algn="l">
                        <a:buNone/>
                      </a:pPr>
                      <a:r>
                        <a:rPr/>
                        <a:t>65%</a:t>
                      </a:r>
                    </a:p>
                  </a:txBody>
                </a:tc>
                <a:tc>
                  <a:txBody>
                    <a:bodyPr/>
                    <a:lstStyle/>
                    <a:p>
                      <a:pPr lvl="0" indent="0" marL="0" algn="l">
                        <a:buNone/>
                      </a:pPr>
                      <a:r>
                        <a:rPr/>
                        <a:t>98%</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0.37</a:t>
                      </a:r>
                    </a:p>
                  </a:txBody>
                </a:tc>
                <a:tc>
                  <a:txBody>
                    <a:bodyPr/>
                    <a:lstStyle/>
                    <a:p>
                      <a:pPr lvl="0" indent="0" marL="0" algn="l">
                        <a:buNone/>
                      </a:pPr>
                      <a:r>
                        <a:rPr/>
                        <a:t>0.43</a:t>
                      </a:r>
                    </a:p>
                  </a:txBody>
                </a:tc>
                <a:tc>
                  <a:txBody>
                    <a:bodyPr/>
                    <a:lstStyle/>
                    <a:p>
                      <a:pPr lvl="0" indent="0" marL="0" algn="l">
                        <a:buNone/>
                      </a:pPr>
                      <a:r>
                        <a:rPr/>
                        <a:t>0.49</a:t>
                      </a:r>
                    </a:p>
                  </a:txBody>
                </a:tc>
                <a:tc>
                  <a:txBody>
                    <a:bodyPr/>
                    <a:lstStyle/>
                    <a:p>
                      <a:pPr lvl="0" indent="0" marL="0" algn="l">
                        <a:buNone/>
                      </a:pPr>
                      <a:r>
                        <a:rPr/>
                        <a:t>0.50</a:t>
                      </a:r>
                    </a:p>
                  </a:txBody>
                </a:tc>
                <a:tc>
                  <a:txBody>
                    <a:bodyPr/>
                    <a:lstStyle/>
                    <a:p>
                      <a:pPr lvl="0" indent="0" marL="0" algn="l">
                        <a:buNone/>
                      </a:pPr>
                      <a:r>
                        <a:rPr/>
                        <a:t>0.27</a:t>
                      </a:r>
                    </a:p>
                  </a:txBody>
                </a:tc>
              </a:tr>
              <a:tr h="0">
                <a:tc>
                  <a:txBody>
                    <a:bodyPr/>
                    <a:lstStyle/>
                    <a:p>
                      <a:pPr lvl="0" indent="0" marL="0" algn="l">
                        <a:buNone/>
                      </a:pPr>
                      <a:r>
                        <a:rPr/>
                        <a:t>Smoother + covariates</a:t>
                      </a:r>
                    </a:p>
                  </a:txBody>
                </a:tc>
                <a:tc>
                  <a:txBody>
                    <a:bodyPr/>
                    <a:lstStyle/>
                    <a:p>
                      <a:pPr lvl="0" indent="0" marL="0" algn="l">
                        <a:buNone/>
                      </a:pPr>
                      <a:r>
                        <a:rPr/>
                        <a:t>0.31</a:t>
                      </a:r>
                    </a:p>
                  </a:txBody>
                </a:tc>
                <a:tc>
                  <a:txBody>
                    <a:bodyPr/>
                    <a:lstStyle/>
                    <a:p>
                      <a:pPr lvl="0" indent="0" marL="0" algn="l">
                        <a:buNone/>
                      </a:pPr>
                      <a:r>
                        <a:rPr/>
                        <a:t>0.51</a:t>
                      </a:r>
                    </a:p>
                  </a:txBody>
                </a:tc>
                <a:tc>
                  <a:txBody>
                    <a:bodyPr/>
                    <a:lstStyle/>
                    <a:p>
                      <a:pPr lvl="0" indent="0" marL="0" algn="l">
                        <a:buNone/>
                      </a:pPr>
                      <a:r>
                        <a:rPr/>
                        <a:t>0.31</a:t>
                      </a:r>
                    </a:p>
                  </a:txBody>
                </a:tc>
                <a:tc>
                  <a:txBody>
                    <a:bodyPr/>
                    <a:lstStyle/>
                    <a:p>
                      <a:pPr lvl="0" indent="0" marL="0" algn="l">
                        <a:buNone/>
                      </a:pPr>
                      <a:r>
                        <a:rPr/>
                        <a:t>0.36</a:t>
                      </a:r>
                    </a:p>
                  </a:txBody>
                </a:tc>
                <a:tc>
                  <a:txBody>
                    <a:bodyPr/>
                    <a:lstStyle/>
                    <a:p>
                      <a:pPr lvl="0" indent="0" marL="0" algn="l">
                        <a:buNone/>
                      </a:pPr>
                      <a:r>
                        <a:rPr/>
                        <a:t>-0.33</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0.45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2026-09-05T06:58:28Z</dcterms:created>
  <dcterms:modified xsi:type="dcterms:W3CDTF">2026-09-05T06:58:28Z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