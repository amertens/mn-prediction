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5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46" Type="http://schemas.openxmlformats.org/officeDocument/2006/relationships/slide" Target="slides/slide42.xml" /><Relationship Id="rId47" Type="http://schemas.openxmlformats.org/officeDocument/2006/relationships/slide" Target="slides/slide43.xml" /><Relationship Id="rId48" Type="http://schemas.openxmlformats.org/officeDocument/2006/relationships/slide" Target="slides/slide44.xml" /><Relationship Id="rId49" Type="http://schemas.openxmlformats.org/officeDocument/2006/relationships/slide" Target="slides/slide45.xml" /><Relationship Id="rId50" Type="http://schemas.openxmlformats.org/officeDocument/2006/relationships/slide" Target="slides/slide46.xml" /><Relationship Id="rId51" Type="http://schemas.openxmlformats.org/officeDocument/2006/relationships/slide" Target="slides/slide47.xml" /><Relationship Id="rId52" Type="http://schemas.openxmlformats.org/officeDocument/2006/relationships/slide" Target="slides/slide48.xml" /><Relationship Id="rId53" Type="http://schemas.openxmlformats.org/officeDocument/2006/relationships/slide" Target="slides/slide49.xml" /><Relationship Id="rId54" Type="http://schemas.openxmlformats.org/officeDocument/2006/relationships/notesMaster" Target="notesMasters/notesMaster1.xml" /><Relationship Id="rId3" Type="http://schemas.openxmlformats.org/officeDocument/2006/relationships/customXml" Target="../customXml/item3.xml" /><Relationship Id="rId57" Type="http://schemas.openxmlformats.org/officeDocument/2006/relationships/theme" Target="theme/theme1.xml" /><Relationship Id="rId56"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55" Type="http://schemas.openxmlformats.org/officeDocument/2006/relationships/presProps" Target="presProps.xml" /><Relationship Id="rId59" Type="http://schemas.microsoft.com/office/2018/10/relationships/authors" Target="authors.xml" /><Relationship Id="rId4" Type="http://schemas.openxmlformats.org/officeDocument/2006/relationships/slideMaster" Target="slideMasters/slideMaster1.xml" /><Relationship Id="rId58"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Vitamin A uses each survey’s published RBP-to-retinol calibration before the 0.70 cut-off (VA-01).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 listed LSMS (275) and FluNet (3) predictors; both are on disk but did not survive the all-country harmonisation and are scored as add-ons in the sensitivity section.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0.28 against 0.30 for the rank-loss ensemble, 0.25 for random forest, 0.26 for the squared-error ensemble, 0.22 for the principal-component highly adaptive ridge and 0.20 for the elastic net (mean of cell medians, prevalence, in-fill; SL-01 to SL-05).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0.16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0.34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0.18 at district level (15 of 22 positive) and 0.33 at regional level for the full index; 0.24 at district level for climate and soil. The climate-and-soil pair was chosen on these four countries, so it enters the next country as a pre-registered prediction; honest nested selection of domains inside the training fold gives a median difference of +0.04 from the full index (better in 13 of 22). Since 9 September the DHS-derived predictors are cluster-level spatial estimates at every district (DS-01), which changed nothing in-country and cost the full index 0.01 across borders. Likely question: what a correlation of 0.26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(15 of 22 transport cells scored for the elastic net). The twenty-predictor composite gains +0.028 across borders (better in 12 of 22) and costs -0.02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454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30% to 48%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13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not a targeting gain. Likely question: why the ceiling is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The survey-derived domains (household assets, fertility, education, child morbidity, health access) sit at or below zero: removing them does not hurt a new country and in several cases helps. A fixed climate-and-soil index transports at 0.37 at district level and 0.45 regionally against 0.26 and 0.31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data-source importance was one country’s in-sample change in mean squared error; this scores transport to a held-out country. Soil, the modelled IHME surfaces, crops and livestock carry it. The household-survey aggregates fit the training countries and do not carry, and the DHS Program’s own cluster-level estimator of those aggregates (DS-01) did not change that.</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22%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LSMS exists for Ghana alone (GLSS7): 134 region-level household expenditure and asset means, broadcast to districts through the 16-to-10 region crosswalk, so the block varies only across ten regions. It does not improve any Ghana cell beyond noise and cannot be scored across borders. FluNet reports for Ghana and Sierra Leone only and is a national weekly count, constant within a country; it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2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 Id="rId3" Type="http://schemas.openxmlformats.org/officeDocument/2006/relationships/image" Target="../media/image2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2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3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5.xml" /><Relationship Id="rId3" Type="http://schemas.openxmlformats.org/officeDocument/2006/relationships/image" Target="../media/image3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5.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0.xml" /><Relationship Id="rId3" Type="http://schemas.openxmlformats.org/officeDocument/2006/relationships/image" Target="../media/image37.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3" Type="http://schemas.openxmlformats.org/officeDocument/2006/relationships/image" Target="../media/image3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2.xml" /><Relationship Id="rId3" Type="http://schemas.openxmlformats.org/officeDocument/2006/relationships/image" Target="../media/image3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3" Type="http://schemas.openxmlformats.org/officeDocument/2006/relationships/image" Target="../media/image4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 Id="rId3" Type="http://schemas.openxmlformats.org/officeDocument/2006/relationships/image" Target="../media/image4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 Id="rId3" Type="http://schemas.openxmlformats.org/officeDocument/2006/relationships/image" Target="../media/image4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4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 Id="rId3" Type="http://schemas.openxmlformats.org/officeDocument/2006/relationships/image" Target="../media/image4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4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46.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47.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3.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48.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4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modelling of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Four surveys, one evaluation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Background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sz="half"/>
          </p:nvPr>
        </p:nvSpPr>
        <p:spPr/>
        <p:txBody>
          <a:bodyPr/>
          <a:lstStyle/>
          <a:p>
            <a:pPr lvl="0"/>
            <a:r>
              <a:rPr/>
              <a:t>Biomarker surveys are infrequent and costly, and programmes need sub-national estimates of vitamin and mineral deficiencies between surveys.</a:t>
            </a:r>
          </a:p>
          <a:p>
            <a:pPr lvl="0"/>
            <a:r>
              <a:rPr/>
              <a:t>This project predicts deficiency (iron, vitamin A, folate, B12, zinc) from proxies available across sub-Saharan Africa, using four biomarker surveys linked to 454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Identification of the districts at greatest risk, and a statement of which product survives validation: a ranking or a level.</a:t>
            </a:r>
          </a:p>
          <a:p>
            <a:pPr lvl="0"/>
            <a:r>
              <a:rPr/>
              <a:t>A statement of what a country without a survey can expect from the model, and what it must still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00500"/>
                <a:gridCol w="1828800"/>
                <a:gridCol w="863600"/>
                <a:gridCol w="787400"/>
                <a:gridCol w="30480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r">
                        <a:buNone/>
                      </a:pPr>
                      <a:r>
                        <a:rPr/>
                        <a:t>Districts</a:t>
                      </a:r>
                    </a:p>
                  </a:txBody>
                  <a:tcPr/>
                </a:tc>
                <a:tc>
                  <a:txBody>
                    <a:bodyPr/>
                    <a:lstStyle/>
                    <a:p>
                      <a:pPr lvl="0" indent="0" marL="0" algn="r">
                        <a:buNone/>
                      </a:pPr>
                      <a:r>
                        <a:rPr/>
                        <a:t>Clusters</a:t>
                      </a:r>
                    </a:p>
                  </a:txBody>
                  <a:tcPr/>
                </a:tc>
                <a:tc>
                  <a:txBody>
                    <a:bodyPr/>
                    <a:lstStyle/>
                    <a:p>
                      <a:pPr lvl="0" indent="0" marL="0" algn="l">
                        <a:buNone/>
                      </a:pPr>
                      <a:r>
                        <a:rPr/>
                        <a:t>Outcomes</a:t>
                      </a:r>
                    </a:p>
                  </a:txBody>
                  <a:tcPr/>
                </a:tc>
              </a:tr>
              <a:tr h="0">
                <a:tc>
                  <a:txBody>
                    <a:bodyPr/>
                    <a:lstStyle/>
                    <a:p>
                      <a:pPr lvl="0" indent="0" marL="0" algn="l">
                        <a:buNone/>
                      </a:pPr>
                      <a:r>
                        <a:rPr/>
                        <a:t>Gambia Micronutrient Survey 2018 (GMNS)</a:t>
                      </a:r>
                    </a:p>
                  </a:txBody>
                </a:tc>
                <a:tc>
                  <a:txBody>
                    <a:bodyPr/>
                    <a:lstStyle/>
                    <a:p>
                      <a:pPr lvl="0" indent="0" marL="0" algn="l">
                        <a:buNone/>
                      </a:pPr>
                      <a:r>
                        <a:rPr/>
                        <a:t>Jan 2018 to Apr 2018</a:t>
                      </a:r>
                    </a:p>
                  </a:txBody>
                </a:tc>
                <a:tc>
                  <a:txBody>
                    <a:bodyPr/>
                    <a:lstStyle/>
                    <a:p>
                      <a:pPr lvl="0" indent="0" marL="0" algn="r">
                        <a:buNone/>
                      </a:pPr>
                      <a:r>
                        <a:rPr/>
                        <a:t>30</a:t>
                      </a:r>
                    </a:p>
                  </a:txBody>
                </a:tc>
                <a:tc>
                  <a:txBody>
                    <a:bodyPr/>
                    <a:lstStyle/>
                    <a:p>
                      <a:pPr lvl="0" indent="0" marL="0" algn="r">
                        <a:buNone/>
                      </a:pPr>
                      <a:r>
                        <a:rPr/>
                        <a:t>70</a:t>
                      </a:r>
                    </a:p>
                  </a:txBody>
                </a:tc>
                <a:tc>
                  <a:txBody>
                    <a:bodyPr/>
                    <a:lstStyle/>
                    <a:p>
                      <a:pPr lvl="0" indent="0" marL="0" algn="l">
                        <a:buNone/>
                      </a:pPr>
                      <a:r>
                        <a:rPr/>
                        <a:t>vitamin A, iron</a:t>
                      </a:r>
                    </a:p>
                  </a:txBody>
                </a:tc>
              </a:tr>
              <a:tr h="0">
                <a:tc>
                  <a:txBody>
                    <a:bodyPr/>
                    <a:lstStyle/>
                    <a:p>
                      <a:pPr lvl="0" indent="0" marL="0" algn="l">
                        <a:buNone/>
                      </a:pPr>
                      <a:r>
                        <a:rPr/>
                        <a:t>Ghana Micronutrient Survey 2017 (GMS)</a:t>
                      </a:r>
                    </a:p>
                  </a:txBody>
                </a:tc>
                <a:tc>
                  <a:txBody>
                    <a:bodyPr/>
                    <a:lstStyle/>
                    <a:p>
                      <a:pPr lvl="0" indent="0" marL="0" algn="l">
                        <a:buNone/>
                      </a:pPr>
                      <a:r>
                        <a:rPr/>
                        <a:t>Apr 2017 to Jun 2017</a:t>
                      </a:r>
                    </a:p>
                  </a:txBody>
                </a:tc>
                <a:tc>
                  <a:txBody>
                    <a:bodyPr/>
                    <a:lstStyle/>
                    <a:p>
                      <a:pPr lvl="0" indent="0" marL="0" algn="r">
                        <a:buNone/>
                      </a:pPr>
                      <a:r>
                        <a:rPr/>
                        <a:t>75</a:t>
                      </a:r>
                    </a:p>
                  </a:txBody>
                </a:tc>
                <a:tc>
                  <a:txBody>
                    <a:bodyPr/>
                    <a:lstStyle/>
                    <a:p>
                      <a:pPr lvl="0" indent="0" marL="0" algn="r">
                        <a:buNone/>
                      </a:pPr>
                      <a:r>
                        <a:rPr/>
                        <a:t>90</a:t>
                      </a:r>
                    </a:p>
                  </a:txBody>
                </a:tc>
                <a:tc>
                  <a:txBody>
                    <a:bodyPr/>
                    <a:lstStyle/>
                    <a:p>
                      <a:pPr lvl="0" indent="0" marL="0" algn="l">
                        <a:buNone/>
                      </a:pPr>
                      <a:r>
                        <a:rPr/>
                        <a:t>vitamin A, iron, folate, b12</a:t>
                      </a:r>
                    </a:p>
                  </a:txBody>
                </a:tc>
              </a:tr>
              <a:tr h="0">
                <a:tc>
                  <a:txBody>
                    <a:bodyPr/>
                    <a:lstStyle/>
                    <a:p>
                      <a:pPr lvl="0" indent="0" marL="0" algn="l">
                        <a:buNone/>
                      </a:pPr>
                      <a:r>
                        <a:rPr/>
                        <a:t>Malawi Micronutrient Survey 2015-16 (MNS)</a:t>
                      </a:r>
                    </a:p>
                  </a:txBody>
                </a:tc>
                <a:tc>
                  <a:txBody>
                    <a:bodyPr/>
                    <a:lstStyle/>
                    <a:p>
                      <a:pPr lvl="0" indent="0" marL="0" algn="l">
                        <a:buNone/>
                      </a:pPr>
                      <a:r>
                        <a:rPr/>
                        <a:t>Dec 2015 to Feb 2016</a:t>
                      </a:r>
                    </a:p>
                  </a:txBody>
                </a:tc>
                <a:tc>
                  <a:txBody>
                    <a:bodyPr/>
                    <a:lstStyle/>
                    <a:p>
                      <a:pPr lvl="0" indent="0" marL="0" algn="r">
                        <a:buNone/>
                      </a:pPr>
                      <a:r>
                        <a:rPr/>
                        <a:t>87</a:t>
                      </a:r>
                    </a:p>
                  </a:txBody>
                </a:tc>
                <a:tc>
                  <a:txBody>
                    <a:bodyPr/>
                    <a:lstStyle/>
                    <a:p>
                      <a:pPr lvl="0" indent="0" marL="0" algn="r">
                        <a:buNone/>
                      </a:pPr>
                      <a:r>
                        <a:rPr/>
                        <a:t>103</a:t>
                      </a:r>
                    </a:p>
                  </a:txBody>
                </a:tc>
                <a:tc>
                  <a:txBody>
                    <a:bodyPr/>
                    <a:lstStyle/>
                    <a:p>
                      <a:pPr lvl="0" indent="0" marL="0" algn="l">
                        <a:buNone/>
                      </a:pPr>
                      <a:r>
                        <a:rPr/>
                        <a:t>vitamin A, iron, folate, b12, zinc</a:t>
                      </a:r>
                    </a:p>
                  </a:txBody>
                </a:tc>
              </a:tr>
              <a:tr h="0">
                <a:tc>
                  <a:txBody>
                    <a:bodyPr/>
                    <a:lstStyle/>
                    <a:p>
                      <a:pPr lvl="0" indent="0" marL="0" algn="l">
                        <a:buNone/>
                      </a:pPr>
                      <a:r>
                        <a:rPr/>
                        <a:t>Sierra Leone Micronutrient Survey 2013 (SLMS)</a:t>
                      </a:r>
                    </a:p>
                  </a:txBody>
                </a:tc>
                <a:tc>
                  <a:txBody>
                    <a:bodyPr/>
                    <a:lstStyle/>
                    <a:p>
                      <a:pPr lvl="0" indent="0" marL="0" algn="l">
                        <a:buNone/>
                      </a:pPr>
                      <a:r>
                        <a:rPr/>
                        <a:t>Oct 2013 to Dec 2013</a:t>
                      </a:r>
                    </a:p>
                  </a:txBody>
                </a:tc>
                <a:tc>
                  <a:txBody>
                    <a:bodyPr/>
                    <a:lstStyle/>
                    <a:p>
                      <a:pPr lvl="0" indent="0" marL="0" algn="r">
                        <a:buNone/>
                      </a:pPr>
                      <a:r>
                        <a:rPr/>
                        <a:t>14</a:t>
                      </a:r>
                    </a:p>
                  </a:txBody>
                </a:tc>
                <a:tc>
                  <a:txBody>
                    <a:bodyPr/>
                    <a:lstStyle/>
                    <a:p>
                      <a:pPr lvl="0" indent="0" marL="0" algn="r">
                        <a:buNone/>
                      </a:pPr>
                      <a:r>
                        <a:rPr/>
                        <a:t>60</a:t>
                      </a:r>
                    </a:p>
                  </a:txBody>
                </a:tc>
                <a:tc>
                  <a:txBody>
                    <a:bodyPr/>
                    <a:lstStyle/>
                    <a:p>
                      <a:pPr lvl="0" indent="0" marL="0" algn="l">
                        <a:buNone/>
                      </a:pPr>
                      <a:r>
                        <a:rPr/>
                        <a:t>vitamin A, iron, folate, b12</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965200"/>
                <a:gridCol w="2616200"/>
                <a:gridCol w="1587500"/>
                <a:gridCol w="3467100"/>
                <a:gridCol w="18796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Retinol-binding protein, BRINDA-adjusted, retinol equivalent</a:t>
                      </a:r>
                    </a:p>
                  </a:txBody>
                </a:tc>
                <a:tc>
                  <a:txBody>
                    <a:bodyPr/>
                    <a:lstStyle/>
                    <a:p>
                      <a:pPr lvl="0" indent="0" marL="0" algn="l">
                        <a:buNone/>
                      </a:pPr>
                      <a:r>
                        <a:rPr/>
                        <a:t>&lt; 0.70 umol/L retinol equivalent</a:t>
                      </a:r>
                    </a:p>
                  </a:txBody>
                </a:tc>
              </a:tr>
              <a:tr h="0">
                <a:tc>
                  <a:txBody>
                    <a:bodyPr/>
                    <a:lstStyle/>
                    <a:p>
                      <a:pPr lvl="0" indent="0" marL="0" algn="l">
                        <a:buNone/>
                      </a:pPr>
                      <a:r>
                        <a:rPr/>
                        <a:t>Folate</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Content Placeholder 2"/>
          <p:cNvSpPr>
            <a:spLocks noGrp="1"/>
          </p:cNvSpPr>
          <p:nvPr>
            <p:ph idx="1"/>
          </p:nvPr>
        </p:nvSpPr>
        <p:spPr/>
        <p:txBody>
          <a:bodyPr/>
          <a:lstStyle/>
          <a:p>
            <a:pPr lvl="0"/>
            <a:r>
              <a:rPr/>
              <a:t>Clean and merge the national micronutrient surveys, with one uniform outcome definition per nutrient across countries.</a:t>
            </a:r>
          </a:p>
          <a:p>
            <a:pPr lvl="0"/>
            <a:r>
              <a:rPr/>
              <a:t>Link gridded layers to districts as zonal means, and to survey clusters as buffer means.</a:t>
            </a:r>
          </a:p>
          <a:p>
            <a:pPr lvl="0"/>
            <a:r>
              <a:rPr/>
              <a:t>Aggregate DHS and MICS indicators to districts with a cluster-level spatial model, so every district has a value.</a:t>
            </a:r>
          </a:p>
          <a:p>
            <a:pPr lvl="0"/>
            <a:r>
              <a:rPr/>
              <a:t>Rank-normalise every predictor within country before pooling, so that cross-country level offsets cannot act as signal.</a:t>
            </a:r>
          </a:p>
          <a:p>
            <a:pPr lvl="0"/>
            <a:r>
              <a:rPr/>
              <a:t>Reduce each of 24 domains to its leading principal components; nothing is selected on the outcome.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by source</a:t>
            </a:r>
          </a:p>
        </p:txBody>
      </p:sp>
      <p:sp>
        <p:nvSpPr>
          <p:cNvPr id="3" name="Content Placeholder 2"/>
          <p:cNvSpPr>
            <a:spLocks noGrp="1"/>
          </p:cNvSpPr>
          <p:nvPr>
            <p:ph idx="1" sz="half"/>
          </p:nvPr>
        </p:nvSpPr>
        <p:spPr/>
        <p:txBody>
          <a:bodyPr/>
          <a:lstStyle/>
          <a:p>
            <a:pPr lvl="0" indent="0" marL="0">
              <a:buNone/>
            </a:pPr>
            <a:r>
              <a:rPr/>
              <a:t>454 predictors in 24 domains. The household-survey aggregates and the Earth Engine layers are the largest blocks.</a:t>
            </a:r>
          </a:p>
        </p:txBody>
      </p:sp>
      <p:pic>
        <p:nvPicPr>
          <p:cNvPr descr="MN-proxy-Ghana-presentation-2026-09_files/figure-pptx/sources-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Content Placeholder 2"/>
          <p:cNvSpPr>
            <a:spLocks noGrp="1"/>
          </p:cNvSpPr>
          <p:nvPr>
            <p:ph idx="1" sz="half"/>
          </p:nvPr>
        </p:nvSpPr>
        <p:spPr/>
        <p:txBody>
          <a:bodyPr/>
          <a:lstStyle/>
          <a:p>
            <a:pPr lvl="0" indent="0" marL="0">
              <a:buNone/>
            </a:pPr>
            <a:r>
              <a:rPr/>
              <a:t>Columns per domain. The satellite embedding, child morbidity, climate and soil are the four largest domains; each enters the models as its leading principal components to 80% of variance.</a:t>
            </a:r>
          </a:p>
        </p:txBody>
      </p:sp>
      <p:pic>
        <p:nvPicPr>
          <p:cNvPr descr="MN-proxy-Ghana-presentation-2026-09_files/figure-pptx/domains-1.png" id="0" name="Picture 1"/>
          <p:cNvPicPr>
            <a:picLocks noGrp="1" noChangeAspect="1"/>
          </p:cNvPicPr>
          <p:nvPr/>
        </p:nvPicPr>
        <p:blipFill>
          <a:blip r:embed="rId2"/>
          <a:stretch>
            <a:fillRect/>
          </a:stretch>
        </p:blipFill>
        <p:spPr bwMode="auto">
          <a:xfrm>
            <a:off x="6337300" y="1816100"/>
            <a:ext cx="48387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Protocol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Content Placeholder 2"/>
          <p:cNvSpPr>
            <a:spLocks noGrp="1"/>
          </p:cNvSpPr>
          <p:nvPr>
            <p:ph idx="1" sz="half"/>
          </p:nvPr>
        </p:nvSpPr>
        <p:spPr/>
        <p:txBody>
          <a:bodyPr/>
          <a:lstStyle/>
          <a:p>
            <a:pPr lvl="0" indent="0" marL="0">
              <a:buNone/>
            </a:pPr>
            <a:r>
              <a:rPr/>
              <a:t>January: spatial ensemble learning</a:t>
            </a:r>
          </a:p>
          <a:p>
            <a:pPr lvl="0"/>
            <a:r>
              <a:rPr/>
              <a:t>SuperLearner library, weighted by cross-validated performance.</a:t>
            </a:r>
          </a:p>
          <a:p>
            <a:pPr lvl="0"/>
            <a:r>
              <a:rPr/>
              <a:t>Prescreening from thousands of predictors to 10 to 100 per model.</a:t>
            </a:r>
          </a:p>
          <a:p>
            <a:pPr lvl="0"/>
            <a:r>
              <a:rPr/>
              <a:t>Importance by change in mean squared error.</a:t>
            </a:r>
          </a:p>
        </p:txBody>
      </p:sp>
      <p:sp>
        <p:nvSpPr>
          <p:cNvPr id="4" name="Content Placeholder 3"/>
          <p:cNvSpPr>
            <a:spLocks noGrp="1"/>
          </p:cNvSpPr>
          <p:nvPr>
            <p:ph idx="2" sz="half"/>
          </p:nvPr>
        </p:nvSpPr>
        <p:spPr/>
        <p:txBody>
          <a:bodyPr/>
          <a:lstStyle/>
          <a:p>
            <a:pPr lvl="0" indent="0" marL="0">
              <a:buNone/>
            </a:pPr>
            <a:r>
              <a:rPr/>
              <a:t>Current: the corrected protocol</a:t>
            </a:r>
          </a:p>
          <a:p>
            <a:pPr lvl="0"/>
            <a:r>
              <a:rPr/>
              <a:t>Zero-tuning index: domain principal components weighted by their training-fold rank correlation with the outcome.</a:t>
            </a:r>
          </a:p>
          <a:p>
            <a:pPr lvl="0"/>
            <a:r>
              <a:rPr/>
              <a:t>SuperLearner retained as a comparison.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51000"/>
                <a:gridCol w="3213100"/>
                <a:gridCol w="2273300"/>
                <a:gridCol w="33782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Region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Country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Ghana-presentation-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a:t>Leave-one-region-out, mean over cells with a 95% interval. The index scores 0.38 on the level and 0.26 on prevalence; the penalised fits fall to 0.11 and -0.01 on prevalence.</a:t>
            </a:r>
          </a:p>
        </p:txBody>
      </p:sp>
      <p:pic>
        <p:nvPicPr>
          <p:cNvPr descr="MN-proxy-Ghana-presentation-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a:t>Leave-one-country-out, 22 cells. The full index scores 0.26 at district level (positive in 17 of 22) and 0.31 at regional level; the climate-and-soil index scores 0.37 and 0.45. Dashed lines are the 95th percentile of the permutation null.</a:t>
            </a:r>
          </a:p>
        </p:txBody>
      </p:sp>
      <p:pic>
        <p:nvPicPr>
          <p:cNvPr descr="MN-proxy-Ghana-presentation-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Ghana-presentation-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a:t>Alternative weightings of the same components on the biomarker level. In-country every joint fit loses to the marginal-correlation weights (ridge -0.05, elastic net -0.06, lasso -0.06). Across borders the decorrelated index gains +0.026 (better in 11 of 22).</a:t>
            </a:r>
          </a:p>
        </p:txBody>
      </p:sp>
      <p:pic>
        <p:nvPicPr>
          <p:cNvPr descr="MN-proxy-Ghana-presentation-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3898900"/>
                <a:gridCol w="1955800"/>
                <a:gridCol w="647700"/>
                <a:gridCol w="10795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9.4</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7.0</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9.2</a:t>
                      </a:r>
                    </a:p>
                  </a:txBody>
                </a:tc>
              </a:tr>
              <a:tr h="0">
                <a:tc>
                  <a:txBody>
                    <a:bodyPr/>
                    <a:lstStyle/>
                    <a:p>
                      <a:pPr lvl="0" indent="0" marL="0" algn="l">
                        <a:buNone/>
                      </a:pPr>
                      <a:r>
                        <a:rPr/>
                        <a:t>ihme_underweightprevalence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2.3</a:t>
                      </a:r>
                    </a:p>
                  </a:txBody>
                </a:tc>
              </a:tr>
              <a:tr h="0">
                <a:tc>
                  <a:txBody>
                    <a:bodyPr/>
                    <a:lstStyle/>
                    <a:p>
                      <a:pPr lvl="0" indent="0" marL="0" algn="l">
                        <a:buNone/>
                      </a:pPr>
                      <a:r>
                        <a:rPr/>
                        <a:t>dhs_w_working</a:t>
                      </a:r>
                    </a:p>
                  </a:txBody>
                </a:tc>
                <a:tc>
                  <a:txBody>
                    <a:bodyPr/>
                    <a:lstStyle/>
                    <a:p>
                      <a:pPr lvl="0" indent="0" marL="0" algn="l">
                        <a:buNone/>
                      </a:pPr>
                      <a:r>
                        <a:rPr/>
                        <a:t>Education, employment, SES</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4.0</a:t>
                      </a:r>
                    </a:p>
                  </a:txBody>
                </a:tc>
              </a:tr>
              <a:tr h="0">
                <a:tc>
                  <a:txBody>
                    <a:bodyPr/>
                    <a:lstStyle/>
                    <a:p>
                      <a:pPr lvl="0" indent="0" marL="0" algn="l">
                        <a:buNone/>
                      </a:pPr>
                      <a:r>
                        <a:rPr/>
                        <a:t>ihme_stuntingprevalence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4.3</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5.7</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7.3</a:t>
                      </a:r>
                    </a:p>
                  </a:txBody>
                </a:tc>
              </a:tr>
              <a:tr h="0">
                <a:tc>
                  <a:txBody>
                    <a:bodyPr/>
                    <a:lstStyle/>
                    <a:p>
                      <a:pPr lvl="0" indent="0" marL="0" algn="l">
                        <a:buNone/>
                      </a:pPr>
                      <a:r>
                        <a:rPr/>
                        <a:t>ihme_wastingprevalence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16.0</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a:t>Equal-weight composites of the top 5, 10 and 20 predictors, membership chosen inside each training fold by back-projected index weight. Twenty predictors cost -0.02 in-fill and gain +0.028 across borders; five predictors cost -0.07 in-fill.</a:t>
            </a:r>
          </a:p>
        </p:txBody>
      </p:sp>
      <p:pic>
        <p:nvPicPr>
          <p:cNvPr descr="MN-proxy-Ghana-presentation-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13200"/>
                <a:gridCol w="2501900"/>
                <a:gridCol w="2349500"/>
                <a:gridCol w="16637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dhs_w_modern_fp (-)</a:t>
                      </a:r>
                    </a:p>
                  </a:txBody>
                </a:tc>
                <a:tc>
                  <a:txBody>
                    <a:bodyPr/>
                    <a:lstStyle/>
                    <a:p>
                      <a:pPr lvl="0" indent="0" marL="0" algn="l">
                        <a:buNone/>
                      </a:pPr>
                      <a:r>
                        <a:rPr/>
                        <a:t>DHS</a:t>
                      </a:r>
                    </a:p>
                  </a:txBody>
                </a:tc>
              </a:tr>
              <a:tr h="0">
                <a:tc>
                  <a:txBody>
                    <a:bodyPr/>
                    <a:lstStyle/>
                    <a:p>
                      <a:pPr lvl="0" indent="0" marL="0" algn="l">
                        <a:buNone/>
                      </a:pPr>
                      <a:r>
                        <a:rPr/>
                        <a:t>dhs_w_owns_house (-)</a:t>
                      </a:r>
                    </a:p>
                  </a:txBody>
                </a:tc>
                <a:tc>
                  <a:txBody>
                    <a:bodyPr/>
                    <a:lstStyle/>
                    <a:p>
                      <a:pPr lvl="0" indent="0" marL="0" algn="l">
                        <a:buNone/>
                      </a:pPr>
                      <a:r>
                        <a:rPr/>
                        <a:t>DHS</a:t>
                      </a:r>
                    </a:p>
                  </a:txBody>
                </a:tc>
                <a:tc>
                  <a:txBody>
                    <a:bodyPr/>
                    <a:lstStyle/>
                    <a:p>
                      <a:pPr lvl="0" indent="0" marL="0" algn="l">
                        <a:buNone/>
                      </a:pPr>
                      <a:r>
                        <a:rPr/>
                        <a:t>npp_npp_t0 (-)</a:t>
                      </a:r>
                    </a:p>
                  </a:txBody>
                </a:tc>
                <a:tc>
                  <a:txBody>
                    <a:bodyPr/>
                    <a:lstStyle/>
                    <a:p>
                      <a:pPr lvl="0" indent="0" marL="0" algn="l">
                        <a:buNone/>
                      </a:pPr>
                      <a:r>
                        <a:rPr/>
                        <a:t>GEE</a:t>
                      </a:r>
                    </a:p>
                  </a:txBody>
                </a:tc>
              </a:tr>
              <a:tr h="0">
                <a:tc>
                  <a:txBody>
                    <a:bodyPr/>
                    <a:lstStyle/>
                    <a:p>
                      <a:pPr lvl="0" indent="0" marL="0" algn="l">
                        <a:buNone/>
                      </a:pPr>
                      <a:r>
                        <a:rPr/>
                        <a:t>dhs_w_birth_interval_short (-)</a:t>
                      </a:r>
                    </a:p>
                  </a:txBody>
                </a:tc>
                <a:tc>
                  <a:txBody>
                    <a:bodyPr/>
                    <a:lstStyle/>
                    <a:p>
                      <a:pPr lvl="0" indent="0" marL="0" algn="l">
                        <a:buNone/>
                      </a:pPr>
                      <a:r>
                        <a:rPr/>
                        <a:t>DHS</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dhs_w_health_insurance (+)</a:t>
                      </a:r>
                    </a:p>
                  </a:txBody>
                </a:tc>
                <a:tc>
                  <a:txBody>
                    <a:bodyPr/>
                    <a:lstStyle/>
                    <a:p>
                      <a:pPr lvl="0" indent="0" marL="0" algn="l">
                        <a:buNone/>
                      </a:pPr>
                      <a:r>
                        <a:rPr/>
                        <a:t>DHS</a:t>
                      </a:r>
                    </a:p>
                  </a:txBody>
                </a:tc>
                <a:tc>
                  <a:txBody>
                    <a:bodyPr/>
                    <a:lstStyle/>
                    <a:p>
                      <a:pPr lvl="0" indent="0" marL="0" algn="l">
                        <a:buNone/>
                      </a:pPr>
                      <a:r>
                        <a:rPr/>
                        <a:t>dhs_hh_soap_available (+)</a:t>
                      </a:r>
                    </a:p>
                  </a:txBody>
                </a:tc>
                <a:tc>
                  <a:txBody>
                    <a:bodyPr/>
                    <a:lstStyle/>
                    <a:p>
                      <a:pPr lvl="0" indent="0" marL="0" algn="l">
                        <a:buNone/>
                      </a:pPr>
                      <a:r>
                        <a:rPr/>
                        <a:t>DHS</a:t>
                      </a:r>
                    </a:p>
                  </a:txBody>
                </a:tc>
              </a:tr>
              <a:tr h="0">
                <a:tc>
                  <a:txBody>
                    <a:bodyPr/>
                    <a:lstStyle/>
                    <a:p>
                      <a:pPr lvl="0" indent="0" marL="0" algn="l">
                        <a:buNone/>
                      </a:pPr>
                      <a:r>
                        <a:rPr/>
                        <a:t>dhs_w_working (-)</a:t>
                      </a:r>
                    </a:p>
                  </a:txBody>
                </a:tc>
                <a:tc>
                  <a:txBody>
                    <a:bodyPr/>
                    <a:lstStyle/>
                    <a:p>
                      <a:pPr lvl="0" indent="0" marL="0" algn="l">
                        <a:buNone/>
                      </a:pPr>
                      <a:r>
                        <a:rPr/>
                        <a:t>DHS</a:t>
                      </a:r>
                    </a:p>
                  </a:txBody>
                </a:tc>
                <a:tc>
                  <a:txBody>
                    <a:bodyPr/>
                    <a:lstStyle/>
                    <a:p>
                      <a:pPr lvl="0" indent="0" marL="0" algn="l">
                        <a:buNone/>
                      </a:pPr>
                      <a:r>
                        <a:rPr/>
                        <a:t>npp_gpp_t0 (-)</a:t>
                      </a:r>
                    </a:p>
                  </a:txBody>
                </a:tc>
                <a:tc>
                  <a:txBody>
                    <a:bodyPr/>
                    <a:lstStyle/>
                    <a:p>
                      <a:pPr lvl="0" indent="0" marL="0" algn="l">
                        <a:buNone/>
                      </a:pPr>
                      <a:r>
                        <a:rPr/>
                        <a:t>GEE</a:t>
                      </a:r>
                    </a:p>
                  </a:txBody>
                </a:tc>
              </a:tr>
              <a:tr h="0">
                <a:tc>
                  <a:txBody>
                    <a:bodyPr/>
                    <a:lstStyle/>
                    <a:p>
                      <a:pPr lvl="0" indent="0" marL="0" algn="l">
                        <a:buNone/>
                      </a:pPr>
                      <a:r>
                        <a:rPr/>
                        <a:t>spam_share_cereals (+)</a:t>
                      </a:r>
                    </a:p>
                  </a:txBody>
                </a:tc>
                <a:tc>
                  <a:txBody>
                    <a:bodyPr/>
                    <a:lstStyle/>
                    <a:p>
                      <a:pPr lvl="0" indent="0" marL="0" algn="l">
                        <a:buNone/>
                      </a:pPr>
                      <a:r>
                        <a:rPr/>
                        <a:t>MapSPAM</a:t>
                      </a:r>
                    </a:p>
                  </a:txBody>
                </a:tc>
                <a:tc>
                  <a:txBody>
                    <a:bodyPr/>
                    <a:lstStyle/>
                    <a:p>
                      <a:pPr lvl="0" indent="0" marL="0" algn="l">
                        <a:buNone/>
                      </a:pPr>
                      <a:r>
                        <a:rPr/>
                        <a:t>dhs_w_bmi_low (+)</a:t>
                      </a:r>
                    </a:p>
                  </a:txBody>
                </a:tc>
                <a:tc>
                  <a:txBody>
                    <a:bodyPr/>
                    <a:lstStyle/>
                    <a:p>
                      <a:pPr lvl="0" indent="0" marL="0" algn="l">
                        <a:buNone/>
                      </a:pPr>
                      <a:r>
                        <a:rPr/>
                        <a:t>DHS</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dhs_AN_NUTS_W_THN (+)</a:t>
                      </a:r>
                    </a:p>
                  </a:txBody>
                </a:tc>
                <a:tc>
                  <a:txBody>
                    <a:bodyPr/>
                    <a:lstStyle/>
                    <a:p>
                      <a:pPr lvl="0" indent="0" marL="0" algn="l">
                        <a:buNone/>
                      </a:pPr>
                      <a:r>
                        <a:rPr/>
                        <a:t>DHS</a:t>
                      </a:r>
                    </a:p>
                  </a:txBody>
                </a:tc>
              </a:tr>
              <a:tr h="0">
                <a:tc>
                  <a:txBody>
                    <a:bodyPr/>
                    <a:lstStyle/>
                    <a:p>
                      <a:pPr lvl="0" indent="0" marL="0" algn="l">
                        <a:buNone/>
                      </a:pPr>
                      <a:r>
                        <a:rPr/>
                        <a:t>map_blooddisorders201201africahbcallelefrequency (+)</a:t>
                      </a:r>
                    </a:p>
                  </a:txBody>
                </a:tc>
                <a:tc>
                  <a:txBody>
                    <a:bodyPr/>
                    <a:lstStyle/>
                    <a:p>
                      <a:pPr lvl="0" indent="0" marL="0" algn="l">
                        <a:buNone/>
                      </a:pPr>
                      <a:r>
                        <a:rPr/>
                        <a:t>Malaria Atlas</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dhs_hh_cows_any (+)</a:t>
                      </a:r>
                    </a:p>
                  </a:txBody>
                </a:tc>
                <a:tc>
                  <a:txBody>
                    <a:bodyPr/>
                    <a:lstStyle/>
                    <a:p>
                      <a:pPr lvl="0" indent="0" marL="0" algn="l">
                        <a:buNone/>
                      </a:pPr>
                      <a:r>
                        <a:rPr/>
                        <a:t>DHS</a:t>
                      </a:r>
                    </a:p>
                  </a:txBody>
                </a:tc>
              </a:tr>
              <a:tr h="0">
                <a:tc>
                  <a:txBody>
                    <a:bodyPr/>
                    <a:lstStyle/>
                    <a:p>
                      <a:pPr lvl="0" indent="0" marL="0" algn="l">
                        <a:buNone/>
                      </a:pPr>
                      <a:r>
                        <a:rPr/>
                        <a:t>dhs_FP_CUSA_W_MOD (-)</a:t>
                      </a:r>
                    </a:p>
                  </a:txBody>
                </a:tc>
                <a:tc>
                  <a:txBody>
                    <a:bodyPr/>
                    <a:lstStyle/>
                    <a:p>
                      <a:pPr lvl="0" indent="0" marL="0" algn="l">
                        <a:buNone/>
                      </a:pPr>
                      <a:r>
                        <a:rPr/>
                        <a:t>DHS</a:t>
                      </a:r>
                    </a:p>
                  </a:txBody>
                </a:tc>
                <a:tc>
                  <a:txBody>
                    <a:bodyPr/>
                    <a:lstStyle/>
                    <a:p>
                      <a:pPr lvl="0" indent="0" marL="0" algn="l">
                        <a:buNone/>
                      </a:pPr>
                      <a:r>
                        <a:rPr/>
                        <a:t>spam_share_roots (-)</a:t>
                      </a:r>
                    </a:p>
                  </a:txBody>
                </a:tc>
                <a:tc>
                  <a:txBody>
                    <a:bodyPr/>
                    <a:lstStyle/>
                    <a:p>
                      <a:pPr lvl="0" indent="0" marL="0" algn="l">
                        <a:buNone/>
                      </a:pPr>
                      <a:r>
                        <a:rPr/>
                        <a:t>MapSPAM</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a:t>Share of the national deficiency burden in the fifth of districts each method ranks worst, in-fill, mean over cells with a 95% interval. The index reaches 22%, the jackknifed regional mean 20%, no information 14% and perfect knowledge 47%.</a:t>
            </a:r>
          </a:p>
        </p:txBody>
      </p:sp>
      <p:pic>
        <p:nvPicPr>
          <p:cNvPr descr="MN-proxy-Ghana-presentation-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a:t>Loss in transported Spearman (biomarker level, 22 cells) when each domain is dropped and the components rebuilt, mean over cells with a 95% interval. The load-bearing domains are Climate and weather, Soil characteristics, Nutrition status (MODELLED SURFACE); 16 of 23 domains cost nothing to remove or help.</a:t>
            </a:r>
          </a:p>
        </p:txBody>
      </p:sp>
      <p:pic>
        <p:nvPicPr>
          <p:cNvPr descr="MN-proxy-Ghana-presentation-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 ablation under transport</a:t>
            </a:r>
          </a:p>
        </p:txBody>
      </p:sp>
      <p:sp>
        <p:nvSpPr>
          <p:cNvPr id="3" name="Content Placeholder 2"/>
          <p:cNvSpPr>
            <a:spLocks noGrp="1"/>
          </p:cNvSpPr>
          <p:nvPr>
            <p:ph idx="1" sz="half"/>
          </p:nvPr>
        </p:nvSpPr>
        <p:spPr/>
        <p:txBody>
          <a:bodyPr/>
          <a:lstStyle/>
          <a:p>
            <a:pPr lvl="0" indent="0" marL="0">
              <a:buNone/>
            </a:pPr>
            <a:r>
              <a:rPr/>
              <a:t>The same ablation by data source. Dropping all 131 DHS and MICS columns moves the transported Spearman from 0.26 to 0.33.</a:t>
            </a:r>
          </a:p>
        </p:txBody>
      </p:sp>
      <p:pic>
        <p:nvPicPr>
          <p:cNvPr descr="MN-proxy-Ghana-presentation-2026-09_files/figure-pptx/sources-ablation-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a:t>Every subset of training countries scored on each held-out country. The full vocabulary gains about 0.05 per added training country on the level; the climate-and-soil index starts higher and is positive in 98% of single-country fits.</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a:t>Transported Spearman of the climate-and-soil index at district level (0.37), the same after partialling out an urbanicity composite (0.36), and urbanicity alone (-0.05).</a:t>
            </a:r>
          </a:p>
        </p:txBody>
      </p:sp>
      <p:pic>
        <p:nvPicPr>
          <p:cNvPr descr="MN-proxy-Ghana-presentation-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a:t>Indicators whose district-level association with the outcome has the same sign in every country with the outcome, ranked by pooled meta-analytic z. Positive z means more deficiency.</a:t>
            </a:r>
          </a:p>
        </p:txBody>
      </p:sp>
      <p:pic>
        <p:nvPicPr>
          <p:cNvPr descr="MN-proxy-Ghana-presentation-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a:t>The correlation a perfect predictor of the true district prevalence could reach, given the survey’s sampling noise, by country. The honest ceiling averages 0.44 against a split-half ceiling of 0.54; the index reaches its ceiling in 2 of 24 cells.</a:t>
            </a:r>
          </a:p>
        </p:txBody>
      </p:sp>
      <p:pic>
        <p:nvPicPr>
          <p:cNvPr descr="MN-proxy-Ghana-presentation-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a:t>Median district error in percentage points against the share of a full survey sampled, four designs, 22 cells. At 5% of the sample a national anchor plus the transported ranking gives 9.5 points, a regional survey 11.7 and a district survey 17.3.</a:t>
            </a:r>
          </a:p>
        </p:txBody>
      </p:sp>
      <p:pic>
        <p:nvPicPr>
          <p:cNvPr descr="MN-proxy-Ghana-presentation-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Sensitivity analyses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a:t>Median change in Spearman when a block is added to the base vocabulary, in-fill and district transport on the biomarker level, scored under one harness with the same folds.</a:t>
            </a:r>
          </a:p>
        </p:txBody>
      </p:sp>
      <p:pic>
        <p:nvPicPr>
          <p:cNvPr descr="MN-proxy-Ghana-presentation-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a:t>The same index fitted at the survey cluster and aggregated to districts, against the district fit, on the same cells. In-fill on the level: 0.38 cluster-fitted against 0.40 district-fitted.</a:t>
            </a:r>
          </a:p>
        </p:txBody>
      </p:sp>
      <p:pic>
        <p:nvPicPr>
          <p:cNvPr descr="MN-proxy-Ghana-presentation-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a:t>Share of districts placed in the correct WHO vitamin A band (under 2%, 2 to 10, 10 to 20, 20 or more), and within one band, mean over the vitamin A cells. The index in-fill: 64% exact and 92% within one band.</a:t>
            </a:r>
          </a:p>
        </p:txBody>
      </p:sp>
      <p:pic>
        <p:nvPicPr>
          <p:cNvPr descr="MN-proxy-Ghana-presentation-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a:t>Ghana in-fill on the biomarker level with the base vocabulary, the base plus the LSMS block, and the LSMS block alone, median over ten draws.</a:t>
            </a:r>
          </a:p>
        </p:txBody>
      </p:sp>
      <p:pic>
        <p:nvPicPr>
          <p:cNvPr descr="MN-proxy-Ghana-presentation-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a:t>Person-level SuperLearner under district-blocked folds, Brier skill over the national prevalence, by country and outcome. Mean AUC over 19 cells: 0.52 for survey variables, 0.51 for district proxies, 0.52 for both.</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absolute error (pp)</a:t>
                      </a:r>
                    </a:p>
                  </a:txBody>
                  <a:tcPr/>
                </a:tc>
              </a:tr>
              <a:tr h="0">
                <a:tc>
                  <a:txBody>
                    <a:bodyPr/>
                    <a:lstStyle/>
                    <a:p>
                      <a:pPr lvl="0" indent="0" marL="0" algn="l">
                        <a:buNone/>
                      </a:pPr>
                      <a:r>
                        <a:rPr/>
                        <a:t>Child 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 vitamin 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Women’s 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Women’s vitamin 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Training mean</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0.46</a:t>
                      </a:r>
                    </a:p>
                  </a:txBody>
                </a:tc>
                <a:tc>
                  <a:txBody>
                    <a:bodyPr/>
                    <a:lstStyle/>
                    <a:p>
                      <a:pPr lvl="0" indent="0" marL="0" algn="l">
                        <a:buNone/>
                      </a:pPr>
                      <a:r>
                        <a:rPr/>
                        <a:t>0.45</a:t>
                      </a:r>
                    </a:p>
                  </a:txBody>
                </a:tc>
                <a:tc>
                  <a:txBody>
                    <a:bodyPr/>
                    <a:lstStyle/>
                    <a:p>
                      <a:pPr lvl="0" indent="0" marL="0" algn="l">
                        <a:buNone/>
                      </a:pPr>
                      <a:r>
                        <a:rPr/>
                        <a:t>0.53</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0.30</a:t>
                      </a:r>
                    </a:p>
                  </a:txBody>
                </a:tc>
                <a:tc>
                  <a:txBody>
                    <a:bodyPr/>
                    <a:lstStyle/>
                    <a:p>
                      <a:pPr lvl="0" indent="0" marL="0" algn="l">
                        <a:buNone/>
                      </a:pPr>
                      <a:r>
                        <a:rPr/>
                        <a:t>0.45</a:t>
                      </a:r>
                    </a:p>
                  </a:txBody>
                </a:tc>
                <a:tc>
                  <a:txBody>
                    <a:bodyPr/>
                    <a:lstStyle/>
                    <a:p>
                      <a:pPr lvl="0" indent="0" marL="0" algn="l">
                        <a:buNone/>
                      </a:pPr>
                      <a:r>
                        <a:rPr/>
                        <a:t>0.31</a:t>
                      </a:r>
                    </a:p>
                  </a:txBody>
                </a:tc>
                <a:tc>
                  <a:txBody>
                    <a:bodyPr/>
                    <a:lstStyle/>
                    <a:p>
                      <a:pPr lvl="0" indent="0" marL="0" algn="l">
                        <a:buNone/>
                      </a:pPr>
                      <a:r>
                        <a:rPr/>
                        <a:t>0.39</a:t>
                      </a:r>
                    </a:p>
                  </a:txBody>
                </a:tc>
                <a:tc>
                  <a:txBody>
                    <a:bodyPr/>
                    <a:lstStyle/>
                    <a:p>
                      <a:pPr lvl="0" indent="0" marL="0" algn="l">
                        <a:buNone/>
                      </a:pPr>
                      <a:r>
                        <a:rPr/>
                        <a:t>-0.35</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Conclusions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In-fill: the index scores 0.40 against 0.31 for the survey’s own regional averages and 0.39 for a covariate-free smoother.</a:t>
            </a:r>
          </a:p>
          <a:p>
            <a:pPr lvl="0"/>
            <a:r>
              <a:rPr/>
              <a:t>Transport: rankings carry (0.26 at district level, 0.37 from climate and soil alone, null 0.08); levels do not.</a:t>
            </a:r>
          </a:p>
          <a:p>
            <a:pPr lvl="0"/>
            <a:r>
              <a:rPr/>
              <a:t>Survey-derived inputs help inside a country and hold a new country back; the cross-border model should lean on the environment.</a:t>
            </a:r>
          </a:p>
          <a:p>
            <a:pPr lvl="0"/>
            <a:r>
              <a:rPr/>
              <a:t>A national anchor puts levels on the ranking: district error 9.5 points at 5% of a full sample, matched by a district survey at 25%.</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Content Placeholder 2"/>
          <p:cNvSpPr>
            <a:spLocks noGrp="1"/>
          </p:cNvSpPr>
          <p:nvPr>
            <p:ph idx="1" sz="half"/>
          </p:nvPr>
        </p:nvSpPr>
        <p:spPr/>
        <p:txBody>
          <a:bodyPr/>
          <a:lstStyle/>
          <a:p>
            <a:pPr lvl="0" indent="0" marL="0">
              <a:buNone/>
            </a:pPr>
            <a:r>
              <a:rPr/>
              <a:t>Planned</a:t>
            </a:r>
          </a:p>
          <a:p>
            <a:pPr lvl="0"/>
            <a:r>
              <a:rPr/>
              <a:t>Score the pre-registered predictions on the next countries added to the panel.</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a:t>Open questions</a:t>
            </a:r>
          </a:p>
          <a:p>
            <a:pPr lvl="0"/>
            <a:r>
              <a:rPr/>
              <a:t>What rank correlation is sufficient to act on?</a:t>
            </a:r>
          </a:p>
          <a:p>
            <a:pPr lvl="0"/>
            <a:r>
              <a:rPr/>
              <a:t>Which national number is the cheapest honest anchor?</a:t>
            </a:r>
          </a:p>
          <a:p>
            <a:pPr lvl="0"/>
            <a:r>
              <a:rPr/>
              <a:t>Without new biomarker surveys, what benchmarks the models?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Ghana-presentation-2026-09_files/figure-pptx/weights-prev-1.png" id="0" name="Picture 1"/>
          <p:cNvPicPr>
            <a:picLocks noGrp="1" noChangeAspect="1"/>
          </p:cNvPicPr>
          <p:nvPr/>
        </p:nvPicPr>
        <p:blipFill>
          <a:blip r:embed="rId3"/>
          <a:stretch>
            <a:fillRect/>
          </a:stretch>
        </p:blipFill>
        <p:spPr bwMode="auto">
          <a:xfrm>
            <a:off x="1752600" y="1816100"/>
            <a:ext cx="8686800" cy="43434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Ghana-presentation-2026-09_files/figure-pptx/geostat-wma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versus survey-only models (Brier skill, AUC, PR gain)</a:t>
                      </a:r>
                    </a:p>
                  </a:txBody>
                </a:tc>
                <a:tc>
                  <a:txBody>
                    <a:bodyPr/>
                    <a:lstStyle/>
                    <a:p>
                      <a:pPr lvl="0" indent="0" marL="0" algn="l">
                        <a:buNone/>
                      </a:pPr>
                      <a:r>
                        <a:rPr/>
                        <a:t>Sensitivity layer; rerun under district-blocked folds</a:t>
                      </a:r>
                    </a:p>
                  </a:txBody>
                </a:tc>
                <a:tc>
                  <a:txBody>
                    <a:bodyPr/>
                    <a:lstStyle/>
                    <a:p>
                      <a:pPr lvl="0" indent="0" marL="0" algn="l">
                        <a:buNone/>
                      </a:pPr>
                      <a:r>
                        <a:rPr/>
                        <a:t>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within country (The Gambia, Sierra Leone)</a:t>
                      </a:r>
                    </a:p>
                  </a:txBody>
                </a:tc>
                <a:tc>
                  <a:txBody>
                    <a:bodyPr/>
                    <a:lstStyle/>
                    <a:p>
                      <a:pPr lvl="0" indent="0" marL="0" algn="l">
                        <a:buNone/>
                      </a:pPr>
                      <a:r>
                        <a:rPr/>
                        <a:t>Iodine</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under the protocol, WHO bands</a:t>
                      </a:r>
                    </a:p>
                  </a:txBody>
                </a:tc>
                <a:tc>
                  <a:txBody>
                    <a:bodyPr/>
                    <a:lstStyle/>
                    <a:p>
                      <a:pPr lvl="0" indent="0" marL="0" algn="l">
                        <a:buNone/>
                      </a:pPr>
                      <a:r>
                        <a:rPr/>
                        <a:t>Risk-class accuracy</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327400"/>
                <a:gridCol w="5422900"/>
                <a:gridCol w="17653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LSMS is Ghana-only and region-level, FluNet national; neither adds skill</a:t>
                      </a:r>
                    </a:p>
                  </a:txBody>
                </a:tc>
                <a:tc>
                  <a:txBody>
                    <a:bodyPr/>
                    <a:lstStyle/>
                    <a:p>
                      <a:pPr lvl="0" indent="0" marL="0" algn="l">
                        <a:buNone/>
                      </a:pPr>
                      <a:r>
                        <a:rPr/>
                        <a:t>LSMS and FluNet predictors</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and source ablation under transport</a:t>
                      </a:r>
                    </a:p>
                  </a:txBody>
                </a:tc>
                <a:tc>
                  <a:txBody>
                    <a:bodyPr/>
                    <a:lstStyle/>
                    <a:p>
                      <a:pPr lvl="0" indent="0" marL="0" algn="l">
                        <a:buNone/>
                      </a:pPr>
                      <a:r>
                        <a:rPr/>
                        <a:t>Domain and source ablation</a:t>
                      </a:r>
                    </a:p>
                  </a:txBody>
                </a:tc>
              </a:tr>
              <a:tr h="0">
                <a:tc>
                  <a:txBody>
                    <a:bodyPr/>
                    <a:lstStyle/>
                    <a:p>
                      <a:pPr lvl="0" indent="0" marL="0" algn="l">
                        <a:buNone/>
                      </a:pPr>
                      <a:r>
                        <a:rPr/>
                        <a:t>Admin-1 women’s iron maps, predicted versus survey</a:t>
                      </a:r>
                    </a:p>
                  </a:txBody>
                </a:tc>
                <a:tc>
                  <a:txBody>
                    <a:bodyPr/>
                    <a:lstStyle/>
                    <a:p>
                      <a:pPr lvl="0" indent="0" marL="0" algn="l">
                        <a:buNone/>
                      </a:pPr>
                      <a:r>
                        <a:rPr/>
                        <a:t>Replaced by district maps with held-out predictions</a:t>
                      </a:r>
                    </a:p>
                  </a:txBody>
                </a:tc>
                <a:tc>
                  <a:txBody>
                    <a:bodyPr/>
                    <a:lstStyle/>
                    <a:p>
                      <a:pPr lvl="0" indent="0" marL="0" algn="l">
                        <a:buNone/>
                      </a:pPr>
                      <a:r>
                        <a:rPr/>
                        <a:t>Ghana maps</a:t>
                      </a:r>
                    </a:p>
                  </a:txBody>
                </a:tc>
              </a:tr>
              <a:tr h="0">
                <a:tc>
                  <a:txBody>
                    <a:bodyPr/>
                    <a:lstStyle/>
                    <a:p>
                      <a:pPr lvl="0" indent="0" marL="0" algn="l">
                        <a:buNone/>
                      </a:pPr>
                      <a:r>
                        <a:rPr/>
                        <a:t>Prescreened SuperLearner as the model</a:t>
                      </a:r>
                    </a:p>
                  </a:txBody>
                </a:tc>
                <a:tc>
                  <a:txBody>
                    <a:bodyPr/>
                    <a:lstStyle/>
                    <a:p>
                      <a:pPr lvl="0" indent="0" marL="0" algn="l">
                        <a:buNone/>
                      </a:pPr>
                      <a:r>
                        <a:rPr/>
                        <a:t>Retained as comparison; does not beat the zero-tuning index</a:t>
                      </a:r>
                    </a:p>
                  </a:txBody>
                </a:tc>
                <a:tc>
                  <a:txBody>
                    <a:bodyPr/>
                    <a:lstStyle/>
                    <a:p>
                      <a:pPr lvl="0" indent="0" marL="0" algn="l">
                        <a:buNone/>
                      </a:pPr>
                      <a:r>
                        <a:rPr/>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modelling of vitamin and mineral deficiencies</dc:title>
  <dc:creator>Andrew N. Mertens, University of California, Berkeley</dc:creator>
  <cp:keywords/>
  <dcterms:created xsi:type="dcterms:W3CDTF">2026-09-10T17:43:56Z</dcterms:created>
  <dcterms:modified xsi:type="dcterms:W3CDTF">2026-09-10T17:43:56Z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2026-09-10</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surveys, one evaluation protocol, September 2026</vt:lpwstr>
  </property>
  <property fmtid="{D5CDD505-2E9C-101B-9397-08002B2CF9AE}" pid="12" name="toc-title">
    <vt:lpwstr>Table of contents</vt:lpwstr>
  </property>
</Properties>
</file>