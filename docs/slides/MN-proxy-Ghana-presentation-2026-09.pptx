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1.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p:sldMasterIdLst>
    <p:sldMasterId id="2147483696" r:id="rId4"/>
  </p:sldMasterIdLst>
  <p:notesMasterIdLst>
    <p:notesMasterId r:id="rId40"/>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Lst>
  <p:sldSz cx="12192000" cy="6858000"/>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5348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987"/>
    <p:restoredTop autoAdjust="0" sz="78478"/>
  </p:normalViewPr>
  <p:slideViewPr>
    <p:cSldViewPr snapToGrid="0">
      <p:cViewPr varScale="1">
        <p:scale>
          <a:sx d="100" n="86"/>
          <a:sy d="100" n="86"/>
        </p:scale>
        <p:origin x="960" y="72"/>
      </p:cViewPr>
      <p:guideLst/>
    </p:cSldViewPr>
  </p:slideViewPr>
  <p:notesTextViewPr>
    <p:cViewPr>
      <p:scale>
        <a:sx d="1" n="1"/>
        <a:sy d="1" n="1"/>
      </p:scale>
      <p:origin x="0" y="0"/>
    </p:cViewPr>
  </p:notesTextViewPr>
  <p:gridSpacing cx="72008" cy="72008"/>
</p:viewPr>
</file>

<file path=ppt/_rels/presentation.xml.rels><?xml version="1.0" encoding="UTF-8"?><Relationships xmlns="http://schemas.openxmlformats.org/package/2006/relationships"><Relationship Id="rId5" Type="http://schemas.openxmlformats.org/officeDocument/2006/relationships/slide" Target="slides/slide1.xml" /><Relationship Id="rId6" Type="http://schemas.openxmlformats.org/officeDocument/2006/relationships/slide" Target="slides/slide2.xml" /><Relationship Id="rId7" Type="http://schemas.openxmlformats.org/officeDocument/2006/relationships/slide" Target="slides/slide3.xml" /><Relationship Id="rId8" Type="http://schemas.openxmlformats.org/officeDocument/2006/relationships/slide" Target="slides/slide4.xml" /><Relationship Id="rId9" Type="http://schemas.openxmlformats.org/officeDocument/2006/relationships/slide" Target="slides/slide5.xml" /><Relationship Id="rId10" Type="http://schemas.openxmlformats.org/officeDocument/2006/relationships/slide" Target="slides/slide6.xml" /><Relationship Id="rId11" Type="http://schemas.openxmlformats.org/officeDocument/2006/relationships/slide" Target="slides/slide7.xml" /><Relationship Id="rId12" Type="http://schemas.openxmlformats.org/officeDocument/2006/relationships/slide" Target="slides/slide8.xml" /><Relationship Id="rId13" Type="http://schemas.openxmlformats.org/officeDocument/2006/relationships/slide" Target="slides/slide9.xml" /><Relationship Id="rId14" Type="http://schemas.openxmlformats.org/officeDocument/2006/relationships/slide" Target="slides/slide10.xml" /><Relationship Id="rId15" Type="http://schemas.openxmlformats.org/officeDocument/2006/relationships/slide" Target="slides/slide11.xml" /><Relationship Id="rId16" Type="http://schemas.openxmlformats.org/officeDocument/2006/relationships/slide" Target="slides/slide12.xml" /><Relationship Id="rId17" Type="http://schemas.openxmlformats.org/officeDocument/2006/relationships/slide" Target="slides/slide13.xml" /><Relationship Id="rId18" Type="http://schemas.openxmlformats.org/officeDocument/2006/relationships/slide" Target="slides/slide14.xml" /><Relationship Id="rId19" Type="http://schemas.openxmlformats.org/officeDocument/2006/relationships/slide" Target="slides/slide15.xml" /><Relationship Id="rId20" Type="http://schemas.openxmlformats.org/officeDocument/2006/relationships/slide" Target="slides/slide16.xml" /><Relationship Id="rId21" Type="http://schemas.openxmlformats.org/officeDocument/2006/relationships/slide" Target="slides/slide17.xml" /><Relationship Id="rId22" Type="http://schemas.openxmlformats.org/officeDocument/2006/relationships/slide" Target="slides/slide18.xml" /><Relationship Id="rId23" Type="http://schemas.openxmlformats.org/officeDocument/2006/relationships/slide" Target="slides/slide19.xml" /><Relationship Id="rId24" Type="http://schemas.openxmlformats.org/officeDocument/2006/relationships/slide" Target="slides/slide20.xml" /><Relationship Id="rId25" Type="http://schemas.openxmlformats.org/officeDocument/2006/relationships/slide" Target="slides/slide21.xml" /><Relationship Id="rId26" Type="http://schemas.openxmlformats.org/officeDocument/2006/relationships/slide" Target="slides/slide22.xml" /><Relationship Id="rId27" Type="http://schemas.openxmlformats.org/officeDocument/2006/relationships/slide" Target="slides/slide23.xml" /><Relationship Id="rId28" Type="http://schemas.openxmlformats.org/officeDocument/2006/relationships/slide" Target="slides/slide24.xml" /><Relationship Id="rId29" Type="http://schemas.openxmlformats.org/officeDocument/2006/relationships/slide" Target="slides/slide25.xml" /><Relationship Id="rId30" Type="http://schemas.openxmlformats.org/officeDocument/2006/relationships/slide" Target="slides/slide26.xml" /><Relationship Id="rId31" Type="http://schemas.openxmlformats.org/officeDocument/2006/relationships/slide" Target="slides/slide27.xml" /><Relationship Id="rId32" Type="http://schemas.openxmlformats.org/officeDocument/2006/relationships/slide" Target="slides/slide28.xml" /><Relationship Id="rId33" Type="http://schemas.openxmlformats.org/officeDocument/2006/relationships/slide" Target="slides/slide29.xml" /><Relationship Id="rId34" Type="http://schemas.openxmlformats.org/officeDocument/2006/relationships/slide" Target="slides/slide30.xml" /><Relationship Id="rId35" Type="http://schemas.openxmlformats.org/officeDocument/2006/relationships/slide" Target="slides/slide31.xml" /><Relationship Id="rId36" Type="http://schemas.openxmlformats.org/officeDocument/2006/relationships/slide" Target="slides/slide32.xml" /><Relationship Id="rId37" Type="http://schemas.openxmlformats.org/officeDocument/2006/relationships/slide" Target="slides/slide33.xml" /><Relationship Id="rId38" Type="http://schemas.openxmlformats.org/officeDocument/2006/relationships/slide" Target="slides/slide34.xml" /><Relationship Id="rId39" Type="http://schemas.openxmlformats.org/officeDocument/2006/relationships/slide" Target="slides/slide35.xml" /><Relationship Id="rId40" Type="http://schemas.openxmlformats.org/officeDocument/2006/relationships/notesMaster" Target="notesMasters/notesMaster1.xml" /><Relationship Id="rId3" Type="http://schemas.openxmlformats.org/officeDocument/2006/relationships/customXml" Target="../customXml/item3.xml" /><Relationship Id="rId43" Type="http://schemas.openxmlformats.org/officeDocument/2006/relationships/theme" Target="theme/theme1.xml" /><Relationship Id="rId42" Type="http://schemas.openxmlformats.org/officeDocument/2006/relationships/viewProps" Target="viewProps.xml" /><Relationship Id="rId2" Type="http://schemas.openxmlformats.org/officeDocument/2006/relationships/customXml" Target="../customXml/item2.xml" /><Relationship Id="rId1" Type="http://schemas.openxmlformats.org/officeDocument/2006/relationships/customXml" Target="../customXml/item1.xml" /><Relationship Id="rId41" Type="http://schemas.openxmlformats.org/officeDocument/2006/relationships/presProps" Target="presProps.xml" /><Relationship Id="rId45" Type="http://schemas.microsoft.com/office/2018/10/relationships/authors" Target="authors.xml" /><Relationship Id="rId4" Type="http://schemas.openxmlformats.org/officeDocument/2006/relationships/slideMaster" Target="slideMasters/slideMaster1.xml" /><Relationship Id="rId44" Type="http://schemas.openxmlformats.org/officeDocument/2006/relationships/tableStyles" Target="tableStyle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0068F7-1A27-4717-A728-A996FAEDE383}" type="datetimeFigureOut">
              <a:rPr lang="en-GB" smtClean="0"/>
              <a:t>14/01/2026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2A43B92-3A2D-4964-BD32-AF28A47106C9}" type="slidenum">
              <a:rPr lang="en-GB" smtClean="0"/>
              <a:t>‹#›</a:t>
            </a:fld>
            <a:endParaRPr lang="en-GB"/>
          </a:p>
        </p:txBody>
      </p:sp>
    </p:spTree>
    <p:extLst>
      <p:ext uri="{BB962C8B-B14F-4D97-AF65-F5344CB8AC3E}">
        <p14:creationId xmlns:p14="http://schemas.microsoft.com/office/powerpoint/2010/main" val="15817077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Photo credit: Latter-day Saint Charities. GMS 2017 collaborators: University of Ghana, GroundWork, University of Wisconsin-Madison, KEMRI-Wellcome Trust; with UNICEF and Global Affairs Canada.</a:t>
            </a:r>
          </a:p>
        </p:txBody>
      </p:sp>
      <p:sp>
        <p:nvSpPr>
          <p:cNvPr id="4" name="Slide Number Placeholder 3"/>
          <p:cNvSpPr>
            <a:spLocks noGrp="1"/>
          </p:cNvSpPr>
          <p:nvPr>
            <p:ph type="sldNum" sz="quarter" idx="10"/>
          </p:nvPr>
        </p:nvSpPr>
        <p:spPr/>
        <p:txBody>
          <a:bodyPr/>
          <a:lstStyle/>
          <a:p>
            <a:fld id="{E2A43B92-3A2D-4964-BD32-AF28A47106C9}"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audit and every corrected figure are documented in docs/findings; TWO_READINGS_2026-09f.md is the current summary and SANDBOX_LOG_2026-09.md records every experiment.</a:t>
            </a:r>
          </a:p>
        </p:txBody>
      </p:sp>
      <p:sp>
        <p:nvSpPr>
          <p:cNvPr id="4" name="Slide Number Placeholder 3"/>
          <p:cNvSpPr>
            <a:spLocks noGrp="1"/>
          </p:cNvSpPr>
          <p:nvPr>
            <p:ph type="sldNum" sz="quarter" idx="10"/>
          </p:nvPr>
        </p:nvSpPr>
        <p:spPr/>
        <p:txBody>
          <a:bodyPr/>
          <a:lstStyle/>
          <a:p>
            <a:fld id="{E2A43B92-3A2D-4964-BD32-AF28A47106C9}"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population-based surveys with biomarkers: 24 country-outcome cells, 146 districts on a common administrative rung, 323 survey clusters, all with GPS. Fieldwork dates were recovered for every cluster this month (Sierra Leone reconstructed from date of birth plus age in days); they matter because ferritin, retinol and food prices are seasonal. Three surveys ran in the dry season, Malawi in the lean season.</a:t>
            </a:r>
          </a:p>
        </p:txBody>
      </p:sp>
      <p:sp>
        <p:nvSpPr>
          <p:cNvPr id="4" name="Slide Number Placeholder 3"/>
          <p:cNvSpPr>
            <a:spLocks noGrp="1"/>
          </p:cNvSpPr>
          <p:nvPr>
            <p:ph type="sldNum" sz="quarter" idx="10"/>
          </p:nvPr>
        </p:nvSpPr>
        <p:spPr/>
        <p:txBody>
          <a:bodyPr/>
          <a:lstStyle/>
          <a:p>
            <a:fld id="{E2A43B92-3A2D-4964-BD32-AF28A47106C9}"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targets per cell: the deficiency prevalence, and the district mean of the negated log biomarker level (higher = worse), which carries more signal than the dichotomy and is reported alongside it. Iodine (The Gambia, Sierra Leone) is analysed within country only, on its own slide: a one- or two-country outcome has no cross-border test.</a:t>
            </a:r>
          </a:p>
        </p:txBody>
      </p:sp>
      <p:sp>
        <p:nvSpPr>
          <p:cNvPr id="4" name="Slide Number Placeholder 3"/>
          <p:cNvSpPr>
            <a:spLocks noGrp="1"/>
          </p:cNvSpPr>
          <p:nvPr>
            <p:ph type="sldNum" sz="quarter" idx="10"/>
          </p:nvPr>
        </p:nvSpPr>
        <p:spPr/>
        <p:txBody>
          <a:bodyPr/>
          <a:lstStyle/>
          <a:p>
            <a:fld id="{E2A43B92-3A2D-4964-BD32-AF28A47106C9}"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Adapted from Hess et al., Ann N Y Acad Sci 2023. The framework is unchanged; what the data can and cannot see of it is on the “what travels” slides.</a:t>
            </a:r>
          </a:p>
        </p:txBody>
      </p:sp>
      <p:sp>
        <p:nvSpPr>
          <p:cNvPr id="4" name="Slide Number Placeholder 3"/>
          <p:cNvSpPr>
            <a:spLocks noGrp="1"/>
          </p:cNvSpPr>
          <p:nvPr>
            <p:ph type="sldNum" sz="quarter" idx="10"/>
          </p:nvPr>
        </p:nvSpPr>
        <p:spPr/>
        <p:txBody>
          <a:bodyPr/>
          <a:lstStyle/>
          <a:p>
            <a:fld id="{E2A43B92-3A2D-4964-BD32-AF28A47106C9}"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451 predictors in total. The January deck listed LSMS (275) and FluNet (3) predictors; both are on disk but did not survive the all-country harmonisation, and are candidates to add back (see the “no longer in the pipeline” slide).</a:t>
            </a:r>
          </a:p>
        </p:txBody>
      </p:sp>
      <p:sp>
        <p:nvSpPr>
          <p:cNvPr id="4" name="Slide Number Placeholder 3"/>
          <p:cNvSpPr>
            <a:spLocks noGrp="1"/>
          </p:cNvSpPr>
          <p:nvPr>
            <p:ph type="sldNum" sz="quarter" idx="10"/>
          </p:nvPr>
        </p:nvSpPr>
        <p:spPr/>
        <p:txBody>
          <a:bodyPr/>
          <a:lstStyle/>
          <a:p>
            <a:fld id="{E2A43B92-3A2D-4964-BD32-AF28A47106C9}"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Twenty-one domains, column counts in brackets. The satellite embedding was filed under agriculture until this month and now has a domain of its own.</a:t>
            </a:r>
          </a:p>
        </p:txBody>
      </p:sp>
      <p:sp>
        <p:nvSpPr>
          <p:cNvPr id="4" name="Slide Number Placeholder 3"/>
          <p:cNvSpPr>
            <a:spLocks noGrp="1"/>
          </p:cNvSpPr>
          <p:nvPr>
            <p:ph type="sldNum" sz="quarter" idx="10"/>
          </p:nvPr>
        </p:nvSpPr>
        <p:spPr/>
        <p:txBody>
          <a:bodyPr/>
          <a:lstStyle/>
          <a:p>
            <a:fld id="{E2A43B92-3A2D-4964-BD32-AF28A47106C9}"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Capacity is a liability at these sample sizes: the index beats the penalised fit over all 451 columns by up to 0.38 and beats a SuperLearner that contains it under four meta-learner losses (SL-01 to SL-04). The ensemble was also fitted without survey weights or region-blocked folds until this month; both are fixed.</a:t>
            </a:r>
          </a:p>
        </p:txBody>
      </p:sp>
      <p:sp>
        <p:nvSpPr>
          <p:cNvPr id="4" name="Slide Number Placeholder 3"/>
          <p:cNvSpPr>
            <a:spLocks noGrp="1"/>
          </p:cNvSpPr>
          <p:nvPr>
            <p:ph type="sldNum" sz="quarter" idx="10"/>
          </p:nvPr>
        </p:nvSpPr>
        <p:spPr/>
        <p:txBody>
          <a:bodyPr/>
          <a:lstStyle/>
          <a:p>
            <a:fld id="{E2A43B92-3A2D-4964-BD32-AF28A47106C9}"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earlier leaderboard scored transport-style models against an in-fill baseline that read the held-out district’s own respondents; that comparison is withdrawn. Counts of positive cells have a fat null when a country’s outcomes are correlated (no transport at all still yields 15-16 of 22 positive cells five percent of the time), so the mean rank correlation is the statistic compared with its null.</a:t>
            </a:r>
          </a:p>
        </p:txBody>
      </p:sp>
      <p:sp>
        <p:nvSpPr>
          <p:cNvPr id="4" name="Slide Number Placeholder 3"/>
          <p:cNvSpPr>
            <a:spLocks noGrp="1"/>
          </p:cNvSpPr>
          <p:nvPr>
            <p:ph type="sldNum" sz="quarter" idx="10"/>
          </p:nvPr>
        </p:nvSpPr>
        <p:spPr/>
        <p:txBody>
          <a:bodyPr/>
          <a:lstStyle/>
          <a:p>
            <a:fld id="{E2A43B92-3A2D-4964-BD32-AF28A47106C9}"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Mean Spearman over 24 country-outcome cells. Within a surveyed country a covariate-free spatial smoother delivers almost everything the covariates do: the two are within 0.01 on the level target, and covariates fitted to the smoother’s residuals add a median of zero. Against the survey’s own regional averages made information-symmetric by jackknife, the index is better in 15 of 18 cells. Withdrawn: the “median r 0.058” within-country negative (one unreplicated fold draw) and the 0.516 self-inclusive baseline.</a:t>
            </a:r>
          </a:p>
        </p:txBody>
      </p:sp>
      <p:sp>
        <p:nvSpPr>
          <p:cNvPr id="4" name="Slide Number Placeholder 3"/>
          <p:cNvSpPr>
            <a:spLocks noGrp="1"/>
          </p:cNvSpPr>
          <p:nvPr>
            <p:ph type="sldNum" sz="quarter" idx="10"/>
          </p:nvPr>
        </p:nvSpPr>
        <p:spPr/>
        <p:txBody>
          <a:bodyPr/>
          <a:lstStyle/>
          <a:p>
            <a:fld id="{E2A43B92-3A2D-4964-BD32-AF28A47106C9}"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Leaving out a whole region is where a smoother must extrapolate past the edge of its data. The index and the smoother stay close; the null training mean collapses. Ghana (16 regions) and Malawi (27 districts) are the countries where this estimand is well determined; The Gambia (6) and Sierra Leone (4) give one number per region.</a:t>
            </a:r>
          </a:p>
        </p:txBody>
      </p:sp>
      <p:sp>
        <p:nvSpPr>
          <p:cNvPr id="4" name="Slide Number Placeholder 3"/>
          <p:cNvSpPr>
            <a:spLocks noGrp="1"/>
          </p:cNvSpPr>
          <p:nvPr>
            <p:ph type="sldNum" sz="quarter" idx="10"/>
          </p:nvPr>
        </p:nvSpPr>
        <p:spPr/>
        <p:txBody>
          <a:bodyPr/>
          <a:lstStyle/>
          <a:p>
            <a:fld id="{E2A43B92-3A2D-4964-BD32-AF28A47106C9}"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Mean rank correlation in a country never used in training, over 22 cells. The climate + soil index is positive in all 22 at district level and 20 of 22 at regional level; the full index in 17 of 22 at both. Absolute levels do not transport: anchoring to the country’s own national value halves the level error, anchoring to a published external estimate triples it. Correction to earlier decks: a regional figure of 0.50-0.56 over “12 of 12” cells rested on three countries, because a spelling mismatch in the population file dropped Sierra Leone from every population-joined run; it is withdrawn.</a:t>
            </a:r>
          </a:p>
        </p:txBody>
      </p:sp>
      <p:sp>
        <p:nvSpPr>
          <p:cNvPr id="4" name="Slide Number Placeholder 3"/>
          <p:cNvSpPr>
            <a:spLocks noGrp="1"/>
          </p:cNvSpPr>
          <p:nvPr>
            <p:ph type="sldNum" sz="quarter" idx="10"/>
          </p:nvPr>
        </p:nvSpPr>
        <p:spPr/>
        <p:txBody>
          <a:bodyPr/>
          <a:lstStyle/>
          <a:p>
            <a:fld id="{E2A43B92-3A2D-4964-BD32-AF28A47106C9}"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Districts with survey data only (grey: no survey clusters). Each district’s prediction is made with that district held out (5-fold, averaged over ten draws). The model orders districts; the survey’s own estimate at a single-cluster district is itself noisy, which is why the ceiling slide matters.</a:t>
            </a:r>
          </a:p>
        </p:txBody>
      </p:sp>
      <p:sp>
        <p:nvSpPr>
          <p:cNvPr id="4" name="Slide Number Placeholder 3"/>
          <p:cNvSpPr>
            <a:spLocks noGrp="1"/>
          </p:cNvSpPr>
          <p:nvPr>
            <p:ph type="sldNum" sz="quarter" idx="10"/>
          </p:nvPr>
        </p:nvSpPr>
        <p:spPr/>
        <p:txBody>
          <a:bodyPr/>
          <a:lstStyle/>
          <a:p>
            <a:fld id="{E2A43B92-3A2D-4964-BD32-AF28A47106C9}" type="slidenum">
              <a:rPr lang="en-US"/>
              <a:t>16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Directing effort to the fifth of districts the model ranks worst reaches about 24 percent of national deficiency burden, against 19 percent for jackknifed regional survey averages and 20 percent at random. The margin is small per cell (better in 8-11 of 18) and concentrates where regions hold three to five districts. Under transport, burden captured is at chance (lift 1.01): the transported product is an ordering, not a targeting gain.</a:t>
            </a:r>
          </a:p>
        </p:txBody>
      </p:sp>
      <p:sp>
        <p:nvSpPr>
          <p:cNvPr id="4" name="Slide Number Placeholder 3"/>
          <p:cNvSpPr>
            <a:spLocks noGrp="1"/>
          </p:cNvSpPr>
          <p:nvPr>
            <p:ph type="sldNum" sz="quarter" idx="10"/>
          </p:nvPr>
        </p:nvSpPr>
        <p:spPr/>
        <p:txBody>
          <a:bodyPr/>
          <a:lstStyle/>
          <a:p>
            <a:fld id="{E2A43B92-3A2D-4964-BD32-AF28A47106C9}" type="slidenum">
              <a:rPr lang="en-US"/>
              <a:t>17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Leave-one-country-out ablation, biomarker level, 22 cells. Soil, climate, agriculture and the survey-year malaria block are the load-bearing domains (+0.009 to +0.024 each when dropped), with the new livestock layer just behind (+0.007); the survey-derived domains cost nothing to remove, or help. A fixed climate + soil index transports better than the full vocabulary at both tiers (0.37 vs 0.27 at district level; 0.46 vs 0.31 regional). It was found on the same four countries it is scored on, so it enters the next countries as a pre-registered prediction, not a result.</a:t>
            </a:r>
          </a:p>
        </p:txBody>
      </p:sp>
      <p:sp>
        <p:nvSpPr>
          <p:cNvPr id="4" name="Slide Number Placeholder 3"/>
          <p:cNvSpPr>
            <a:spLocks noGrp="1"/>
          </p:cNvSpPr>
          <p:nvPr>
            <p:ph type="sldNum" sz="quarter" idx="10"/>
          </p:nvPr>
        </p:nvSpPr>
        <p:spPr/>
        <p:txBody>
          <a:bodyPr/>
          <a:lstStyle/>
          <a:p>
            <a:fld id="{E2A43B92-3A2D-4964-BD32-AF28A47106C9}" type="slidenum">
              <a:rPr lang="en-US"/>
              <a:t>18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January deck’s “which data sources contribute” question, redone under the protocol: drop every column from a source, rebuild the domain PCs, score transport to a held-out country. Soil and Earth Engine layers carry it; dropping the 138 DHS/MICS columns IMPROVES transport (0.27 to 0.33 on the level, 0.18 to 0.24 on prevalence). The January version scored one country’s in-sample change in MSE; this one scores transport.</a:t>
            </a:r>
          </a:p>
        </p:txBody>
      </p:sp>
      <p:sp>
        <p:nvSpPr>
          <p:cNvPr id="4" name="Slide Number Placeholder 3"/>
          <p:cNvSpPr>
            <a:spLocks noGrp="1"/>
          </p:cNvSpPr>
          <p:nvPr>
            <p:ph type="sldNum" sz="quarter" idx="10"/>
          </p:nvPr>
        </p:nvSpPr>
        <p:spPr/>
        <p:txBody>
          <a:bodyPr/>
          <a:lstStyle/>
          <a:p>
            <a:fld id="{E2A43B92-3A2D-4964-BD32-AF28A47106C9}" type="slidenum">
              <a:rPr lang="en-US"/>
              <a:t>19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 subset of training countries, scored on each held-out country. About +0.05 per added country for the full vocabulary, +0.03 to +0.04 for climate + soil from a much higher start; the two-domain index is positive in 98 percent of single-country fits.</a:t>
            </a:r>
          </a:p>
        </p:txBody>
      </p:sp>
      <p:sp>
        <p:nvSpPr>
          <p:cNvPr id="4" name="Slide Number Placeholder 3"/>
          <p:cNvSpPr>
            <a:spLocks noGrp="1"/>
          </p:cNvSpPr>
          <p:nvPr>
            <p:ph type="sldNum" sz="quarter" idx="10"/>
          </p:nvPr>
        </p:nvSpPr>
        <p:spPr/>
        <p:txBody>
          <a:bodyPr/>
          <a:lstStyle/>
          <a:p>
            <a:fld id="{E2A43B92-3A2D-4964-BD32-AF28A47106C9}" type="slidenum">
              <a:rPr lang="en-US"/>
              <a:t>20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replicated associations (legumes, cattle, soil chemistry, night-time temperature, all toward more deficiency) describe where subsistence agriculture is, so the rival explanation was an urbanicity map with extra steps. Urbanicity composite: night lights, population density, built surface, urban land cover, travel time to healthcare. Partialling it out moves the transported correlation by less than 0.02, and urbanicity alone does not transport.</a:t>
            </a:r>
          </a:p>
        </p:txBody>
      </p:sp>
      <p:sp>
        <p:nvSpPr>
          <p:cNvPr id="4" name="Slide Number Placeholder 3"/>
          <p:cNvSpPr>
            <a:spLocks noGrp="1"/>
          </p:cNvSpPr>
          <p:nvPr>
            <p:ph type="sldNum" sz="quarter" idx="10"/>
          </p:nvPr>
        </p:nvSpPr>
        <p:spPr/>
        <p:txBody>
          <a:bodyPr/>
          <a:lstStyle/>
          <a:p>
            <a:fld id="{E2A43B92-3A2D-4964-BD32-AF28A47106C9}" type="slidenum">
              <a:rPr lang="en-US"/>
              <a:t>21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Legume cultivation and cattle ownership track MORE deficiency at district level, the reverse of the household-level dietary relationship: an ecological-fallacy signature. The replicated axis is rural subsistence agro-ecology, useful for deciding where to look, uninformative about what to change. No malaria burden indicator replicates; child wasting tracks women’s vitamin A deficiency in all four countries. An earlier version of these slides had the signs inverted.</a:t>
            </a:r>
          </a:p>
        </p:txBody>
      </p:sp>
      <p:sp>
        <p:nvSpPr>
          <p:cNvPr id="4" name="Slide Number Placeholder 3"/>
          <p:cNvSpPr>
            <a:spLocks noGrp="1"/>
          </p:cNvSpPr>
          <p:nvPr>
            <p:ph type="sldNum" sz="quarter" idx="10"/>
          </p:nvPr>
        </p:nvSpPr>
        <p:spPr/>
        <p:txBody>
          <a:bodyPr/>
          <a:lstStyle/>
          <a:p>
            <a:fld id="{E2A43B92-3A2D-4964-BD32-AF28A47106C9}" type="slidenum">
              <a:rPr lang="en-US"/>
              <a:t>22</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respondent-in-cluster-in-district-in-region variance model reproduces the split-half ceiling when the cluster is counted as geography, then removes it. One fifth of the published ceiling was cluster effect; the honest ceiling averages 0.44 on prevalence and the model already reaches it in five of 24 cells. Child zinc has no district geography at all: what looked like geography was the cluster, and afternoon blood draws lower serum zinc by 3.5-7 percent without explaining any district difference.</a:t>
            </a:r>
          </a:p>
        </p:txBody>
      </p:sp>
      <p:sp>
        <p:nvSpPr>
          <p:cNvPr id="4" name="Slide Number Placeholder 3"/>
          <p:cNvSpPr>
            <a:spLocks noGrp="1"/>
          </p:cNvSpPr>
          <p:nvPr>
            <p:ph type="sldNum" sz="quarter" idx="10"/>
          </p:nvPr>
        </p:nvSpPr>
        <p:spPr/>
        <p:txBody>
          <a:bodyPr/>
          <a:lstStyle/>
          <a:p>
            <a:fld id="{E2A43B92-3A2D-4964-BD32-AF28A47106C9}" type="slidenum">
              <a:rPr lang="en-US"/>
              <a:t>23</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Median district error in percentage points, 22 cells. A national biomarker sample of about five percent of a full survey (50-70 respondents) plus the transported ranking gives district levels a district survey only matches at about 40 percent of the sample. It wins on level error only: a district survey of any size captures more burden, because burden sits in populous districts that surveys measure precisely. Fitted symmetrically on a reduced survey, the model’s error degrades in step with the survey’s (+3.36 vs +3.33 pp from full to 15 percent): it improves the ordering at any sample size, it does not reduce the sample a survey needs.</a:t>
            </a:r>
          </a:p>
        </p:txBody>
      </p:sp>
      <p:sp>
        <p:nvSpPr>
          <p:cNvPr id="4" name="Slide Number Placeholder 3"/>
          <p:cNvSpPr>
            <a:spLocks noGrp="1"/>
          </p:cNvSpPr>
          <p:nvPr>
            <p:ph type="sldNum" sz="quarter" idx="10"/>
          </p:nvPr>
        </p:nvSpPr>
        <p:spPr/>
        <p:txBody>
          <a:bodyPr/>
          <a:lstStyle/>
          <a:p>
            <a:fld id="{E2A43B92-3A2D-4964-BD32-AF28A47106C9}" type="slidenum">
              <a:rPr lang="en-US"/>
              <a:t>24</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Scored under one harness with the same folds. The vocabulary is saturated: nothing added this month moves in-fill or transport by more than 0.01. Survey timing is a nuisance to adjust for, not a predictor: a covariate defined by when the survey happened cannot rank districts that have not been surveyed. Found in passing and fixed: the existing price columns used 2021 as The Gambia’s survey year (fieldwork was January-April 2018), and the satellite embedding had been filed under agriculture; every table was re-run.</a:t>
            </a:r>
          </a:p>
        </p:txBody>
      </p:sp>
      <p:sp>
        <p:nvSpPr>
          <p:cNvPr id="4" name="Slide Number Placeholder 3"/>
          <p:cNvSpPr>
            <a:spLocks noGrp="1"/>
          </p:cNvSpPr>
          <p:nvPr>
            <p:ph type="sldNum" sz="quarter" idx="10"/>
          </p:nvPr>
        </p:nvSpPr>
        <p:spPr/>
        <p:txBody>
          <a:bodyPr/>
          <a:lstStyle/>
          <a:p>
            <a:fld id="{E2A43B92-3A2D-4964-BD32-AF28A47106C9}" type="slidenum">
              <a:rPr lang="en-US"/>
              <a:t>25</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323 clusters with GPS; covariates as 2 km (urban) / 5 km (rural) buffer means from rasters on disk; the same three estimands with folds cut by district and region. Cluster-fitted models trail district-fitted ones on every estimand and for transport (climate + soil at district level 0.24 vs 0.37). A precision-weighted index and empirical-Bayes shrinkage of cluster outcomes recover a third to a half of the gap, never all of it: on this vocabulary the 2-5 km covariates are not better predictors than district means. The cluster track is a sensitivity analysis until its vocabulary is matched layer for layer.</a:t>
            </a:r>
          </a:p>
        </p:txBody>
      </p:sp>
      <p:sp>
        <p:nvSpPr>
          <p:cNvPr id="4" name="Slide Number Placeholder 3"/>
          <p:cNvSpPr>
            <a:spLocks noGrp="1"/>
          </p:cNvSpPr>
          <p:nvPr>
            <p:ph type="sldNum" sz="quarter" idx="10"/>
          </p:nvPr>
        </p:nvSpPr>
        <p:spPr/>
        <p:txBody>
          <a:bodyPr/>
          <a:lstStyle/>
          <a:p>
            <a:fld id="{E2A43B92-3A2D-4964-BD32-AF28A47106C9}" type="slidenum">
              <a:rPr lang="en-US"/>
              <a:t>26</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January deck’s national-level track (WHO VMNIS and BRINDA outcomes, FAOSTAT and policy predictors, 12-63 percent improvement over null) lives in a separate sub-pipeline last run in April 2026. It is not part of the current protocol and has not been re-audited; the table is its last output for the four survey countries. Worth re-running under the corrected protocol: it is the only track with time series and fortification policy indicators.</a:t>
            </a:r>
          </a:p>
        </p:txBody>
      </p:sp>
      <p:sp>
        <p:nvSpPr>
          <p:cNvPr id="4" name="Slide Number Placeholder 3"/>
          <p:cNvSpPr>
            <a:spLocks noGrp="1"/>
          </p:cNvSpPr>
          <p:nvPr>
            <p:ph type="sldNum" sz="quarter" idx="10"/>
          </p:nvPr>
        </p:nvSpPr>
        <p:spPr/>
        <p:txBody>
          <a:bodyPr/>
          <a:lstStyle/>
          <a:p>
            <a:fld id="{E2A43B92-3A2D-4964-BD32-AF28A47106C9}" type="slidenum">
              <a:rPr lang="en-US"/>
              <a:t>27</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Vitamin A, WHO 2009 public-health bands (under 2 percent none, 2-10 mild, 10-20 moderate, 20 or more severe), mean share of units over the vitamin A cells, out-of-fold predictions averaged over ten draws. The January deck’s child vitamin A cell was 44 / 75 percent exact / within-one at Admin-2 for the full model and 31 / 49 for proxies only, from the old leaderboard. Transport rows use the held-out country’s own national prevalence as the anchor (AR-01 design), the only honest way to put a transported ranking on the prevalence scale. For iron and the other outcomes only the 20 percent threshold has a WHO source; the two-class accuracies are in results/tables/protocol_v2/risk_category_accuracy_summary.csv (scheme who20).</a:t>
            </a:r>
          </a:p>
        </p:txBody>
      </p:sp>
      <p:sp>
        <p:nvSpPr>
          <p:cNvPr id="4" name="Slide Number Placeholder 3"/>
          <p:cNvSpPr>
            <a:spLocks noGrp="1"/>
          </p:cNvSpPr>
          <p:nvPr>
            <p:ph type="sldNum" sz="quarter" idx="10"/>
          </p:nvPr>
        </p:nvSpPr>
        <p:spPr/>
        <p:txBody>
          <a:bodyPr/>
          <a:lstStyle/>
          <a:p>
            <a:fld id="{E2A43B92-3A2D-4964-BD32-AF28A47106C9}" type="slidenum">
              <a:rPr lang="en-US"/>
              <a:t>28</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Ghana only, in-fill, biomarker level, median Spearman over ten draws. LSMS exists for Ghana alone (GLSS7): 134 region-level household expenditure and asset means, broadcast to districts through the 16-to-10 region crosswalk, so the block varies only across ten regions. It does not improve any Ghana cell beyond noise (level: within 0.02 of base in five of six, +0.02 for B12; prevalence: +0.05 for B12, otherwise no change) and cannot be scored across borders. FluNet reports for Ghana and Sierra Leone only and is a national weekly count, constant within a country; it was built (survey-year specimens, share positive, influenza A share) and contributes nothing by construction. Both are candidates only if collected sub-nationally in the next countries.</a:t>
            </a:r>
          </a:p>
        </p:txBody>
      </p:sp>
      <p:sp>
        <p:nvSpPr>
          <p:cNvPr id="4" name="Slide Number Placeholder 3"/>
          <p:cNvSpPr>
            <a:spLocks noGrp="1"/>
          </p:cNvSpPr>
          <p:nvPr>
            <p:ph type="sldNum" sz="quarter" idx="10"/>
          </p:nvPr>
        </p:nvSpPr>
        <p:spPr/>
        <p:txBody>
          <a:bodyPr/>
          <a:lstStyle/>
          <a:p>
            <a:fld id="{E2A43B92-3A2D-4964-BD32-AF28A47106C9}" type="slidenum">
              <a:rPr lang="en-US"/>
              <a:t>29</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Person-level SuperLearner (mean, elastic net, random forest; survey weights; inner folds blocked by district), outer 5-fold by district so no district’s respondents are split across training and test. Survey variables: up to 80 respondent columns with 70 percent coverage after removing biomarkers, adjustments, ids, weights, dates and locations. Proxies: the district’s domain principal components joined to each respondent. Under these folds person-level skill is small: over 19 cells the mean AUC is 0.51 for survey variables, 0.50 for proxies and 0.53 for both, with Brier skill of 0.01 to 0.02. The exception is iron: Ghana child iron (AUC 0.76, Brier skill 0.14) and Malawi child and women’s iron (AUC 0.75-0.78, Brier skill 0.10-0.13), all from survey variables, with proxies adding nothing. Vitamin A, folate and B12 show no person-level skill anywhere. The January figure (Brier skill 20-60 percent) came from folds not blocked by district and a survey set that included biomarker-adjacent variables; neither survives here. Survey variables beat proxies in 8 of 19 cells and both together beat survey variables in 12 of 19. Malawi’s cells use the clean respondent file and the survey’s own outcome definitions (folate and B12 are not in that file). AUC and precision-recall gain are in results/tables/protocol_v2/individual_level_models.csv. This remains a sensitivity analysis: aggregating a person-level classifier biases area means.</a:t>
            </a:r>
          </a:p>
        </p:txBody>
      </p:sp>
      <p:sp>
        <p:nvSpPr>
          <p:cNvPr id="4" name="Slide Number Placeholder 3"/>
          <p:cNvSpPr>
            <a:spLocks noGrp="1"/>
          </p:cNvSpPr>
          <p:nvPr>
            <p:ph type="sldNum" sz="quarter" idx="10"/>
          </p:nvPr>
        </p:nvSpPr>
        <p:spPr/>
        <p:txBody>
          <a:bodyPr/>
          <a:lstStyle/>
          <a:p>
            <a:fld id="{E2A43B92-3A2D-4964-BD32-AF28A47106C9}" type="slidenum">
              <a:rPr lang="en-US"/>
              <a:t>30</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Urinary iodine is measured in The Gambia (continuous, 1,285 women, with household salt iodine in ppm) and in Sierra Leone (six WHO categories, 571 non-lactating women); it left the modelling outcomes because a one- or two-country outcome has no leave-one-country-out test. Targets: district prevalence of UIC below 100 micrograms per litre and, for The Gambia, the district median UIC. In-fill needs at least 15 districts, so it runs for The Gambia (30) only; leave-one-region-out runs in both. The descriptive that matters for a programme, whether district salt iodisation tracks district iodine status, is in results/tables/protocol_v2/iodine_in_country.csv (rows analysis = descriptive).</a:t>
            </a:r>
          </a:p>
        </p:txBody>
      </p:sp>
      <p:sp>
        <p:nvSpPr>
          <p:cNvPr id="4" name="Slide Number Placeholder 3"/>
          <p:cNvSpPr>
            <a:spLocks noGrp="1"/>
          </p:cNvSpPr>
          <p:nvPr>
            <p:ph type="sldNum" sz="quarter" idx="10"/>
          </p:nvPr>
        </p:nvSpPr>
        <p:spPr/>
        <p:txBody>
          <a:bodyPr/>
          <a:lstStyle/>
          <a:p>
            <a:fld id="{E2A43B92-3A2D-4964-BD32-AF28A47106C9}" type="slidenum">
              <a:rPr lang="en-US"/>
              <a:t>31</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individual-level SuperLearner remains a sensitivity analysis because shrinking a noisy individual classifier biases area means; it is retained and labelled in the dashboard.</a:t>
            </a:r>
          </a:p>
        </p:txBody>
      </p:sp>
      <p:sp>
        <p:nvSpPr>
          <p:cNvPr id="4" name="Slide Number Placeholder 3"/>
          <p:cNvSpPr>
            <a:spLocks noGrp="1"/>
          </p:cNvSpPr>
          <p:nvPr>
            <p:ph type="sldNum" sz="quarter" idx="10"/>
          </p:nvPr>
        </p:nvSpPr>
        <p:spPr/>
        <p:txBody>
          <a:bodyPr/>
          <a:lstStyle/>
          <a:p>
            <a:fld id="{E2A43B92-3A2D-4964-BD32-AF28A47106C9}" type="slidenum">
              <a:rPr lang="en-US"/>
              <a:t>32</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Sources: docs/findings/TWO_READINGS_2026-09f.md (current abstracts), SANDBOX_LOG_2026-09.md (every experiment), PREREGISTRATION_NEW_COUNTRIES_2026-09.md, CLUSTER_LEVEL_DESIGN_2026-09.md. Nothing in this deck is quoted from a table older than 4 September 2026.</a:t>
            </a:r>
          </a:p>
        </p:txBody>
      </p:sp>
      <p:sp>
        <p:nvSpPr>
          <p:cNvPr id="4" name="Slide Number Placeholder 3"/>
          <p:cNvSpPr>
            <a:spLocks noGrp="1"/>
          </p:cNvSpPr>
          <p:nvPr>
            <p:ph type="sldNum" sz="quarter" idx="10"/>
          </p:nvPr>
        </p:nvSpPr>
        <p:spPr/>
        <p:txBody>
          <a:bodyPr/>
          <a:lstStyle/>
          <a:p>
            <a:fld id="{E2A43B92-3A2D-4964-BD32-AF28A47106C9}" type="slidenum">
              <a:rPr lang="en-US"/>
              <a:t>35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dirty="0"/>
          </a:p>
        </p:txBody>
      </p:sp>
      <p:sp>
        <p:nvSpPr>
          <p:cNvPr id="7" name="TextBox 6">
            <a:extLst>
              <a:ext uri="{FF2B5EF4-FFF2-40B4-BE49-F238E27FC236}">
                <a16:creationId xmlns:a16="http://schemas.microsoft.com/office/drawing/2014/main" id="{DBB63C27-DD85-8476-375D-EB16F5A6ADB0}"/>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8446916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dirty="0"/>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AE1C6CC3-8F74-EDBB-C900-31606B76182B}"/>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7613882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7FA9F931-E5AE-F452-FEFF-7D5D0E3B6E23}"/>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4792660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
        <p:nvSpPr>
          <p:cNvPr id="8" name="TextBox 7">
            <a:extLst>
              <a:ext uri="{FF2B5EF4-FFF2-40B4-BE49-F238E27FC236}">
                <a16:creationId xmlns:a16="http://schemas.microsoft.com/office/drawing/2014/main" id="{6792EBD8-CFBD-9CA6-B371-55CFC4AF9CA6}"/>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24177120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59A3B38-64E1-431E-BEA9-6580D124E61C}" type="datetimeFigureOut">
              <a:rPr lang="en-GB" smtClean="0"/>
              <a:t>14/01/2026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7558A8C7-06A4-4826-B9D4-6AFEE114A5DB}" type="slidenum">
              <a:rPr lang="en-GB" smtClean="0"/>
              <a:t>‹#›</a:t>
            </a:fld>
            <a:endParaRPr lang="en-GB"/>
          </a:p>
        </p:txBody>
      </p:sp>
      <p:sp>
        <p:nvSpPr>
          <p:cNvPr id="10" name="TextBox 9">
            <a:extLst>
              <a:ext uri="{FF2B5EF4-FFF2-40B4-BE49-F238E27FC236}">
                <a16:creationId xmlns:a16="http://schemas.microsoft.com/office/drawing/2014/main" id="{B9BEB713-6C4A-8232-ACDD-6FA7B502F31D}"/>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0870727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59A3B38-64E1-431E-BEA9-6580D124E61C}" type="datetimeFigureOut">
              <a:rPr lang="en-GB" smtClean="0"/>
              <a:t>14/01/2026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7558A8C7-06A4-4826-B9D4-6AFEE114A5DB}" type="slidenum">
              <a:rPr lang="en-GB" smtClean="0"/>
              <a:t>‹#›</a:t>
            </a:fld>
            <a:endParaRPr lang="en-GB"/>
          </a:p>
        </p:txBody>
      </p:sp>
      <p:sp>
        <p:nvSpPr>
          <p:cNvPr id="6" name="TextBox 5">
            <a:extLst>
              <a:ext uri="{FF2B5EF4-FFF2-40B4-BE49-F238E27FC236}">
                <a16:creationId xmlns:a16="http://schemas.microsoft.com/office/drawing/2014/main" id="{EDB3E47D-A329-EFAE-BBAF-0D11D0605DC9}"/>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2096321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59A3B38-64E1-431E-BEA9-6580D124E61C}" type="datetimeFigureOut">
              <a:rPr lang="en-GB" smtClean="0"/>
              <a:t>14/01/2026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7558A8C7-06A4-4826-B9D4-6AFEE114A5DB}" type="slidenum">
              <a:rPr lang="en-GB" smtClean="0"/>
              <a:t>‹#›</a:t>
            </a:fld>
            <a:endParaRPr lang="en-GB"/>
          </a:p>
        </p:txBody>
      </p:sp>
      <p:sp>
        <p:nvSpPr>
          <p:cNvPr id="5" name="TextBox 4">
            <a:extLst>
              <a:ext uri="{FF2B5EF4-FFF2-40B4-BE49-F238E27FC236}">
                <a16:creationId xmlns:a16="http://schemas.microsoft.com/office/drawing/2014/main" id="{B1477A53-470A-CC57-81B5-B7AEF3704FA4}"/>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19328423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
        <p:nvSpPr>
          <p:cNvPr id="8" name="TextBox 7">
            <a:extLst>
              <a:ext uri="{FF2B5EF4-FFF2-40B4-BE49-F238E27FC236}">
                <a16:creationId xmlns:a16="http://schemas.microsoft.com/office/drawing/2014/main" id="{0FEBA640-1EAD-1558-1817-2B531018C357}"/>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4149407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Tree>
    <p:extLst>
      <p:ext uri="{BB962C8B-B14F-4D97-AF65-F5344CB8AC3E}">
        <p14:creationId xmlns:p14="http://schemas.microsoft.com/office/powerpoint/2010/main" val="23567870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EC4FC9C3-F78F-EDAD-63EB-2DBDD24DFA28}"/>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1771549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A22A0341-EDCF-508D-A7A9-B7A8B8B805AF}"/>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291448896"/>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media/image1.jpg" Type="http://schemas.openxmlformats.org/officeDocument/2006/relationships/image"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US"/>
              <a:t>Click to edit Master title style</a:t>
            </a:r>
            <a:endParaRPr dirty="0" lang="en-US"/>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dirty="0" lang="en-US"/>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75000"/>
                  </a:schemeClr>
                </a:solidFill>
              </a:defRPr>
            </a:lvl1pPr>
          </a:lstStyle>
          <a:p>
            <a:fld id="{159A3B38-64E1-431E-BEA9-6580D124E61C}" type="datetimeFigureOut">
              <a:rPr lang="en-GB" smtClean="0"/>
              <a:t>14/01/2026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75000"/>
                  </a:schemeClr>
                </a:solidFill>
              </a:defRPr>
            </a:lvl1pPr>
          </a:lstStyle>
          <a:p>
            <a:endParaRPr lang="en-GB"/>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75000"/>
                  </a:schemeClr>
                </a:solidFill>
              </a:defRPr>
            </a:lvl1pPr>
          </a:lstStyle>
          <a:p>
            <a:fld id="{7558A8C7-06A4-4826-B9D4-6AFEE114A5DB}" type="slidenum">
              <a:rPr lang="en-GB" smtClean="0"/>
              <a:t>‹#›</a:t>
            </a:fld>
            <a:endParaRPr lang="en-GB"/>
          </a:p>
        </p:txBody>
      </p:sp>
      <p:pic>
        <p:nvPicPr>
          <p:cNvPr id="7" name="Image 9">
            <a:extLst>
              <a:ext uri="{FF2B5EF4-FFF2-40B4-BE49-F238E27FC236}">
                <a16:creationId xmlns:a16="http://schemas.microsoft.com/office/drawing/2014/main" id="{C0C6644B-E5FD-0AA4-EE55-11FB45AB938A}"/>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0" y="6045200"/>
            <a:ext cx="12192000" cy="812800"/>
          </a:xfrm>
          <a:prstGeom prst="rect">
            <a:avLst/>
          </a:prstGeom>
        </p:spPr>
      </p:pic>
    </p:spTree>
    <p:extLst>
      <p:ext uri="{BB962C8B-B14F-4D97-AF65-F5344CB8AC3E}">
        <p14:creationId xmlns:p14="http://schemas.microsoft.com/office/powerpoint/2010/main" val="3175565750"/>
      </p:ext>
    </p:extLst>
  </p:cSld>
  <p:clrMap accent1="accent1" accent2="accent2" accent3="accent3" accent4="accent4" accent5="accent5" accent6="accent6" bg1="lt1" bg2="lt2" folHlink="folHlink" hlink="hlink" tx1="dk1" tx2="dk2"/>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US"/>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xml" /><Relationship Id="rId3" Type="http://schemas.openxmlformats.org/officeDocument/2006/relationships/image" Target="../media/image22.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 Id="rId3" Type="http://schemas.openxmlformats.org/officeDocument/2006/relationships/image" Target="../media/image2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image" Target="../media/image25.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 Id="rId3" Type="http://schemas.openxmlformats.org/officeDocument/2006/relationships/image" Target="../media/image2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 Id="rId3" Type="http://schemas.openxmlformats.org/officeDocument/2006/relationships/image" Target="../media/image27.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0.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Proxy Modeling for Vitamin and Mineral Deficiencies</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Ghana presentation, updated to the corrected protocol, September 2026</a:t>
            </a:r>
            <a:br/>
            <a:br/>
            <a:r>
              <a:rPr/>
              <a:t>Andrew N. Mertens, University of California, Berkeley</a:t>
            </a:r>
          </a:p>
        </p:txBody>
      </p:sp>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this project</a:t>
            </a:r>
          </a:p>
        </p:txBody>
      </p:sp>
      <p:sp>
        <p:nvSpPr>
          <p:cNvPr id="3" name="Content Placeholder 2"/>
          <p:cNvSpPr>
            <a:spLocks noGrp="1"/>
          </p:cNvSpPr>
          <p:nvPr>
            <p:ph idx="1" sz="half"/>
          </p:nvPr>
        </p:nvSpPr>
        <p:spPr/>
        <p:txBody>
          <a:bodyPr/>
          <a:lstStyle/>
          <a:p>
            <a:pPr lvl="0"/>
            <a:r>
              <a:rPr/>
              <a:t>Biomarker surveys are rare and costly; programmes need timely intelligence on vitamin and mineral deficiencies (VMD).</a:t>
            </a:r>
          </a:p>
          <a:p>
            <a:pPr lvl="0"/>
            <a:r>
              <a:rPr/>
              <a:t>We predict VMD (iron, vitamin A, folate, B12, zinc) from proxies available across sub-Saharan Africa: four biomarker surveys linked to 451 district-level indicators.</a:t>
            </a:r>
          </a:p>
        </p:txBody>
      </p:sp>
      <p:pic>
        <p:nvPicPr>
          <p:cNvPr descr="img/old_s02_intro_photo_1.png" id="0" name="Picture 1"/>
          <p:cNvPicPr>
            <a:picLocks noGrp="1" noChangeAspect="1"/>
          </p:cNvPicPr>
          <p:nvPr/>
        </p:nvPicPr>
        <p:blipFill>
          <a:blip r:embed="rId3"/>
          <a:stretch>
            <a:fillRect/>
          </a:stretch>
        </p:blipFill>
        <p:spPr bwMode="auto">
          <a:xfrm>
            <a:off x="6172200" y="2044700"/>
            <a:ext cx="5181600" cy="38862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changed since the January deck</a:t>
            </a:r>
          </a:p>
        </p:txBody>
      </p:sp>
      <p:sp>
        <p:nvSpPr>
          <p:cNvPr id="3" name="Content Placeholder 2"/>
          <p:cNvSpPr>
            <a:spLocks noGrp="1"/>
          </p:cNvSpPr>
          <p:nvPr>
            <p:ph idx="1"/>
          </p:nvPr>
        </p:nvSpPr>
        <p:spPr/>
        <p:txBody>
          <a:bodyPr/>
          <a:lstStyle/>
          <a:p>
            <a:pPr lvl="0"/>
            <a:r>
              <a:rPr/>
              <a:t>A methods audit found the earlier headline numbers rested on evaluation artefacts: one unreplicated fold draw, a self-inclusive baseline, a dropped country.</a:t>
            </a:r>
          </a:p>
          <a:p>
            <a:pPr lvl="0"/>
            <a:r>
              <a:rPr/>
              <a:t>Every result here comes from the corrected protocol: replicated folds, information-matched baselines, permutation nulls, three separately scored questions.</a:t>
            </a:r>
          </a:p>
          <a:p>
            <a:pPr lvl="0"/>
            <a:r>
              <a:rPr/>
              <a:t>The estimator of record is a zero-tuning index over domain principal components; the SuperLearner ensemble is kept as a comparison and never beats it.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Goals</a:t>
            </a:r>
          </a:p>
        </p:txBody>
      </p:sp>
      <p:sp>
        <p:nvSpPr>
          <p:cNvPr id="3" name="Content Placeholder 2"/>
          <p:cNvSpPr>
            <a:spLocks noGrp="1"/>
          </p:cNvSpPr>
          <p:nvPr>
            <p:ph idx="1" sz="half"/>
          </p:nvPr>
        </p:nvSpPr>
        <p:spPr/>
        <p:txBody>
          <a:bodyPr/>
          <a:lstStyle/>
          <a:p>
            <a:pPr lvl="0"/>
            <a:r>
              <a:rPr/>
              <a:t>Sub-national deficiency estimates from proxies, validated against biomarker surveys.</a:t>
            </a:r>
          </a:p>
          <a:p>
            <a:pPr lvl="0"/>
            <a:r>
              <a:rPr/>
              <a:t>Identify the units at greatest risk; say which product survives validation, a ranking or a level.</a:t>
            </a:r>
          </a:p>
          <a:p>
            <a:pPr lvl="0"/>
            <a:r>
              <a:rPr/>
              <a:t>Say what a country without a survey can expect, and what it must measure.</a:t>
            </a:r>
          </a:p>
        </p:txBody>
      </p:sp>
      <p:pic>
        <p:nvPicPr>
          <p:cNvPr descr="img/old_s03_goals_2.png" id="0" name="Picture 1"/>
          <p:cNvPicPr>
            <a:picLocks noGrp="1" noChangeAspect="1"/>
          </p:cNvPicPr>
          <p:nvPr/>
        </p:nvPicPr>
        <p:blipFill>
          <a:blip r:embed="rId2"/>
          <a:stretch>
            <a:fillRect/>
          </a:stretch>
        </p:blipFill>
        <p:spPr bwMode="auto">
          <a:xfrm>
            <a:off x="7200900" y="1816100"/>
            <a:ext cx="3111500" cy="43434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Nationally representative survey data</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3035300"/>
                <a:gridCol w="1816100"/>
                <a:gridCol w="2120900"/>
                <a:gridCol w="3543300"/>
              </a:tblGrid>
              <a:tr h="0">
                <a:tc>
                  <a:txBody>
                    <a:bodyPr/>
                    <a:lstStyle/>
                    <a:p>
                      <a:pPr lvl="0" indent="0" marL="0" algn="l">
                        <a:buNone/>
                      </a:pPr>
                      <a:r>
                        <a:rPr/>
                        <a:t>Survey</a:t>
                      </a:r>
                    </a:p>
                  </a:txBody>
                  <a:tcPr/>
                </a:tc>
                <a:tc>
                  <a:txBody>
                    <a:bodyPr/>
                    <a:lstStyle/>
                    <a:p>
                      <a:pPr lvl="0" indent="0" marL="0" algn="l">
                        <a:buNone/>
                      </a:pPr>
                      <a:r>
                        <a:rPr/>
                        <a:t>Fieldwork</a:t>
                      </a:r>
                    </a:p>
                  </a:txBody>
                  <a:tcPr/>
                </a:tc>
                <a:tc>
                  <a:txBody>
                    <a:bodyPr/>
                    <a:lstStyle/>
                    <a:p>
                      <a:pPr lvl="0" indent="0" marL="0" algn="l">
                        <a:buNone/>
                      </a:pPr>
                      <a:r>
                        <a:rPr/>
                        <a:t>Districts / clusters</a:t>
                      </a:r>
                    </a:p>
                  </a:txBody>
                  <a:tcPr/>
                </a:tc>
                <a:tc>
                  <a:txBody>
                    <a:bodyPr/>
                    <a:lstStyle/>
                    <a:p>
                      <a:pPr lvl="0" indent="0" marL="0" algn="l">
                        <a:buNone/>
                      </a:pPr>
                      <a:r>
                        <a:rPr/>
                        <a:t>Outcomes</a:t>
                      </a:r>
                    </a:p>
                  </a:txBody>
                  <a:tcPr/>
                </a:tc>
              </a:tr>
              <a:tr h="0">
                <a:tc>
                  <a:txBody>
                    <a:bodyPr/>
                    <a:lstStyle/>
                    <a:p>
                      <a:pPr lvl="0" indent="0" marL="0" algn="l">
                        <a:buNone/>
                      </a:pPr>
                      <a:r>
                        <a:rPr/>
                        <a:t>Ghana 2017 (GMS)</a:t>
                      </a:r>
                    </a:p>
                  </a:txBody>
                </a:tc>
                <a:tc>
                  <a:txBody>
                    <a:bodyPr/>
                    <a:lstStyle/>
                    <a:p>
                      <a:pPr lvl="0" indent="0" marL="0" algn="l">
                        <a:buNone/>
                      </a:pPr>
                      <a:r>
                        <a:rPr/>
                        <a:t>Apr-Jun 2017</a:t>
                      </a:r>
                    </a:p>
                  </a:txBody>
                </a:tc>
                <a:tc>
                  <a:txBody>
                    <a:bodyPr/>
                    <a:lstStyle/>
                    <a:p>
                      <a:pPr lvl="0" indent="0" marL="0" algn="l">
                        <a:buNone/>
                      </a:pPr>
                      <a:r>
                        <a:rPr/>
                        <a:t>75 / 90</a:t>
                      </a:r>
                    </a:p>
                  </a:txBody>
                </a:tc>
                <a:tc>
                  <a:txBody>
                    <a:bodyPr/>
                    <a:lstStyle/>
                    <a:p>
                      <a:pPr lvl="0" indent="0" marL="0" algn="l">
                        <a:buNone/>
                      </a:pPr>
                      <a:r>
                        <a:rPr/>
                        <a:t>iron, vitamin A, folate, B12</a:t>
                      </a:r>
                    </a:p>
                  </a:txBody>
                </a:tc>
              </a:tr>
              <a:tr h="0">
                <a:tc>
                  <a:txBody>
                    <a:bodyPr/>
                    <a:lstStyle/>
                    <a:p>
                      <a:pPr lvl="0" indent="0" marL="0" algn="l">
                        <a:buNone/>
                      </a:pPr>
                      <a:r>
                        <a:rPr/>
                        <a:t>Sierra Leone 2013</a:t>
                      </a:r>
                    </a:p>
                  </a:txBody>
                </a:tc>
                <a:tc>
                  <a:txBody>
                    <a:bodyPr/>
                    <a:lstStyle/>
                    <a:p>
                      <a:pPr lvl="0" indent="0" marL="0" algn="l">
                        <a:buNone/>
                      </a:pPr>
                      <a:r>
                        <a:rPr/>
                        <a:t>Nov-Dec 2013</a:t>
                      </a:r>
                    </a:p>
                  </a:txBody>
                </a:tc>
                <a:tc>
                  <a:txBody>
                    <a:bodyPr/>
                    <a:lstStyle/>
                    <a:p>
                      <a:pPr lvl="0" indent="0" marL="0" algn="l">
                        <a:buNone/>
                      </a:pPr>
                      <a:r>
                        <a:rPr/>
                        <a:t>14 / 60</a:t>
                      </a:r>
                    </a:p>
                  </a:txBody>
                </a:tc>
                <a:tc>
                  <a:txBody>
                    <a:bodyPr/>
                    <a:lstStyle/>
                    <a:p>
                      <a:pPr lvl="0" indent="0" marL="0" algn="l">
                        <a:buNone/>
                      </a:pPr>
                      <a:r>
                        <a:rPr/>
                        <a:t>iron, vitamin A, folate, B12</a:t>
                      </a:r>
                    </a:p>
                  </a:txBody>
                </a:tc>
              </a:tr>
              <a:tr h="0">
                <a:tc>
                  <a:txBody>
                    <a:bodyPr/>
                    <a:lstStyle/>
                    <a:p>
                      <a:pPr lvl="0" indent="0" marL="0" algn="l">
                        <a:buNone/>
                      </a:pPr>
                      <a:r>
                        <a:rPr/>
                        <a:t>Malawi 2015-16 (DHS-linked)</a:t>
                      </a:r>
                    </a:p>
                  </a:txBody>
                </a:tc>
                <a:tc>
                  <a:txBody>
                    <a:bodyPr/>
                    <a:lstStyle/>
                    <a:p>
                      <a:pPr lvl="0" indent="0" marL="0" algn="l">
                        <a:buNone/>
                      </a:pPr>
                      <a:r>
                        <a:rPr/>
                        <a:t>Dec 2015-Feb 2016</a:t>
                      </a:r>
                    </a:p>
                  </a:txBody>
                </a:tc>
                <a:tc>
                  <a:txBody>
                    <a:bodyPr/>
                    <a:lstStyle/>
                    <a:p>
                      <a:pPr lvl="0" indent="0" marL="0" algn="l">
                        <a:buNone/>
                      </a:pPr>
                      <a:r>
                        <a:rPr/>
                        <a:t>27 (87 TAs) / 105</a:t>
                      </a:r>
                    </a:p>
                  </a:txBody>
                </a:tc>
                <a:tc>
                  <a:txBody>
                    <a:bodyPr/>
                    <a:lstStyle/>
                    <a:p>
                      <a:pPr lvl="0" indent="0" marL="0" algn="l">
                        <a:buNone/>
                      </a:pPr>
                      <a:r>
                        <a:rPr/>
                        <a:t>iron, vitamin A, folate, B12, zinc</a:t>
                      </a:r>
                    </a:p>
                  </a:txBody>
                </a:tc>
              </a:tr>
              <a:tr h="0">
                <a:tc>
                  <a:txBody>
                    <a:bodyPr/>
                    <a:lstStyle/>
                    <a:p>
                      <a:pPr lvl="0" indent="0" marL="0" algn="l">
                        <a:buNone/>
                      </a:pPr>
                      <a:r>
                        <a:rPr/>
                        <a:t>The Gambia 2018 (MICS-linked)</a:t>
                      </a:r>
                    </a:p>
                  </a:txBody>
                </a:tc>
                <a:tc>
                  <a:txBody>
                    <a:bodyPr/>
                    <a:lstStyle/>
                    <a:p>
                      <a:pPr lvl="0" indent="0" marL="0" algn="l">
                        <a:buNone/>
                      </a:pPr>
                      <a:r>
                        <a:rPr/>
                        <a:t>Jan-Apr 2018</a:t>
                      </a:r>
                    </a:p>
                  </a:txBody>
                </a:tc>
                <a:tc>
                  <a:txBody>
                    <a:bodyPr/>
                    <a:lstStyle/>
                    <a:p>
                      <a:pPr lvl="0" indent="0" marL="0" algn="l">
                        <a:buNone/>
                      </a:pPr>
                      <a:r>
                        <a:rPr/>
                        <a:t>30 / 70</a:t>
                      </a:r>
                    </a:p>
                  </a:txBody>
                </a:tc>
                <a:tc>
                  <a:txBody>
                    <a:bodyPr/>
                    <a:lstStyle/>
                    <a:p>
                      <a:pPr lvl="0" indent="0" marL="0" algn="l">
                        <a:buNone/>
                      </a:pPr>
                      <a:r>
                        <a:rPr/>
                        <a:t>iron, vitamin A</a:t>
                      </a:r>
                    </a:p>
                  </a:txBody>
                </a:tc>
              </a:tr>
            </a:tbl>
          </a:graphicData>
        </a:graphic>
      </p:graphicFrame>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VMD outcomes modelled</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257300"/>
                <a:gridCol w="2374900"/>
                <a:gridCol w="2070100"/>
                <a:gridCol w="3035300"/>
                <a:gridCol w="1778000"/>
              </a:tblGrid>
              <a:tr h="0">
                <a:tc>
                  <a:txBody>
                    <a:bodyPr/>
                    <a:lstStyle/>
                    <a:p>
                      <a:pPr lvl="0" indent="0" marL="0" algn="l">
                        <a:buNone/>
                      </a:pPr>
                      <a:r>
                        <a:rPr/>
                        <a:t>Outcome</a:t>
                      </a:r>
                    </a:p>
                  </a:txBody>
                  <a:tcPr/>
                </a:tc>
                <a:tc>
                  <a:txBody>
                    <a:bodyPr/>
                    <a:lstStyle/>
                    <a:p>
                      <a:pPr lvl="0" indent="0" marL="0" algn="l">
                        <a:buNone/>
                      </a:pPr>
                      <a:r>
                        <a:rPr/>
                        <a:t>Population</a:t>
                      </a:r>
                    </a:p>
                  </a:txBody>
                  <a:tcPr/>
                </a:tc>
                <a:tc>
                  <a:txBody>
                    <a:bodyPr/>
                    <a:lstStyle/>
                    <a:p>
                      <a:pPr lvl="0" indent="0" marL="0" algn="l">
                        <a:buNone/>
                      </a:pPr>
                      <a:r>
                        <a:rPr/>
                        <a:t>Countries</a:t>
                      </a:r>
                    </a:p>
                  </a:txBody>
                  <a:tcPr/>
                </a:tc>
                <a:tc>
                  <a:txBody>
                    <a:bodyPr/>
                    <a:lstStyle/>
                    <a:p>
                      <a:pPr lvl="0" indent="0" marL="0" algn="l">
                        <a:buNone/>
                      </a:pPr>
                      <a:r>
                        <a:rPr/>
                        <a:t>Biomarker</a:t>
                      </a:r>
                    </a:p>
                  </a:txBody>
                  <a:tcPr/>
                </a:tc>
                <a:tc>
                  <a:txBody>
                    <a:bodyPr/>
                    <a:lstStyle/>
                    <a:p>
                      <a:pPr lvl="0" indent="0" marL="0" algn="l">
                        <a:buNone/>
                      </a:pPr>
                      <a:r>
                        <a:rPr/>
                        <a:t>Uniform cutoff</a:t>
                      </a:r>
                    </a:p>
                  </a:txBody>
                  <a:tcPr/>
                </a:tc>
              </a:tr>
              <a:tr h="0">
                <a:tc>
                  <a:txBody>
                    <a:bodyPr/>
                    <a:lstStyle/>
                    <a:p>
                      <a:pPr lvl="0" indent="0" marL="0" algn="l">
                        <a:buNone/>
                      </a:pPr>
                      <a:r>
                        <a:rPr/>
                        <a:t>Iron status</a:t>
                      </a:r>
                    </a:p>
                  </a:txBody>
                </a:tc>
                <a:tc>
                  <a:txBody>
                    <a:bodyPr/>
                    <a:lstStyle/>
                    <a:p>
                      <a:pPr lvl="0" indent="0" marL="0" algn="l">
                        <a:buNone/>
                      </a:pPr>
                      <a:r>
                        <a:rPr/>
                        <a:t>Children 6-59 mo; women 15-49 y</a:t>
                      </a:r>
                    </a:p>
                  </a:txBody>
                </a:tc>
                <a:tc>
                  <a:txBody>
                    <a:bodyPr/>
                    <a:lstStyle/>
                    <a:p>
                      <a:pPr lvl="0" indent="0" marL="0" algn="l">
                        <a:buNone/>
                      </a:pPr>
                      <a:r>
                        <a:rPr/>
                        <a:t>All four</a:t>
                      </a:r>
                    </a:p>
                  </a:txBody>
                </a:tc>
                <a:tc>
                  <a:txBody>
                    <a:bodyPr/>
                    <a:lstStyle/>
                    <a:p>
                      <a:pPr lvl="0" indent="0" marL="0" algn="l">
                        <a:buNone/>
                      </a:pPr>
                      <a:r>
                        <a:rPr/>
                        <a:t>Serum ferritin, BRINDA-adjusted</a:t>
                      </a:r>
                    </a:p>
                  </a:txBody>
                </a:tc>
                <a:tc>
                  <a:txBody>
                    <a:bodyPr/>
                    <a:lstStyle/>
                    <a:p>
                      <a:pPr lvl="0" indent="0" marL="0" algn="l">
                        <a:buNone/>
                      </a:pPr>
                      <a:r>
                        <a:rPr/>
                        <a:t>&lt; 12 / &lt; 15 ug/L</a:t>
                      </a:r>
                    </a:p>
                  </a:txBody>
                </a:tc>
              </a:tr>
              <a:tr h="0">
                <a:tc>
                  <a:txBody>
                    <a:bodyPr/>
                    <a:lstStyle/>
                    <a:p>
                      <a:pPr lvl="0" indent="0" marL="0" algn="l">
                        <a:buNone/>
                      </a:pPr>
                      <a:r>
                        <a:rPr/>
                        <a:t>Vitamin A status</a:t>
                      </a:r>
                    </a:p>
                  </a:txBody>
                </a:tc>
                <a:tc>
                  <a:txBody>
                    <a:bodyPr/>
                    <a:lstStyle/>
                    <a:p>
                      <a:pPr lvl="0" indent="0" marL="0" algn="l">
                        <a:buNone/>
                      </a:pPr>
                      <a:r>
                        <a:rPr/>
                        <a:t>Children 6-59 mo; women 15-49 y</a:t>
                      </a:r>
                    </a:p>
                  </a:txBody>
                </a:tc>
                <a:tc>
                  <a:txBody>
                    <a:bodyPr/>
                    <a:lstStyle/>
                    <a:p>
                      <a:pPr lvl="0" indent="0" marL="0" algn="l">
                        <a:buNone/>
                      </a:pPr>
                      <a:r>
                        <a:rPr/>
                        <a:t>All four</a:t>
                      </a:r>
                    </a:p>
                  </a:txBody>
                </a:tc>
                <a:tc>
                  <a:txBody>
                    <a:bodyPr/>
                    <a:lstStyle/>
                    <a:p>
                      <a:pPr lvl="0" indent="0" marL="0" algn="l">
                        <a:buNone/>
                      </a:pPr>
                      <a:r>
                        <a:rPr/>
                        <a:t>Retinol-binding protein, BRINDA-adjusted</a:t>
                      </a:r>
                    </a:p>
                  </a:txBody>
                </a:tc>
                <a:tc>
                  <a:txBody>
                    <a:bodyPr/>
                    <a:lstStyle/>
                    <a:p>
                      <a:pPr lvl="0" indent="0" marL="0" algn="l">
                        <a:buNone/>
                      </a:pPr>
                      <a:r>
                        <a:rPr/>
                        <a:t>&lt; 0.70 umol/L</a:t>
                      </a:r>
                    </a:p>
                  </a:txBody>
                </a:tc>
              </a:tr>
              <a:tr h="0">
                <a:tc>
                  <a:txBody>
                    <a:bodyPr/>
                    <a:lstStyle/>
                    <a:p>
                      <a:pPr lvl="0" indent="0" marL="0" algn="l">
                        <a:buNone/>
                      </a:pPr>
                      <a:r>
                        <a:rPr/>
                        <a:t>Folate</a:t>
                      </a:r>
                    </a:p>
                  </a:txBody>
                </a:tc>
                <a:tc>
                  <a:txBody>
                    <a:bodyPr/>
                    <a:lstStyle/>
                    <a:p>
                      <a:pPr lvl="0" indent="0" marL="0" algn="l">
                        <a:buNone/>
                      </a:pPr>
                      <a:r>
                        <a:rPr/>
                        <a:t>Women 15-49 y</a:t>
                      </a:r>
                    </a:p>
                  </a:txBody>
                </a:tc>
                <a:tc>
                  <a:txBody>
                    <a:bodyPr/>
                    <a:lstStyle/>
                    <a:p>
                      <a:pPr lvl="0" indent="0" marL="0" algn="l">
                        <a:buNone/>
                      </a:pPr>
                      <a:r>
                        <a:rPr/>
                        <a:t>Ghana, Sierra Leone, Malawi</a:t>
                      </a:r>
                    </a:p>
                  </a:txBody>
                </a:tc>
                <a:tc>
                  <a:txBody>
                    <a:bodyPr/>
                    <a:lstStyle/>
                    <a:p>
                      <a:pPr lvl="0" indent="0" marL="0" algn="l">
                        <a:buNone/>
                      </a:pPr>
                      <a:r>
                        <a:rPr/>
                        <a:t>Serum folate</a:t>
                      </a:r>
                    </a:p>
                  </a:txBody>
                </a:tc>
                <a:tc>
                  <a:txBody>
                    <a:bodyPr/>
                    <a:lstStyle/>
                    <a:p>
                      <a:pPr lvl="0" indent="0" marL="0" algn="l">
                        <a:buNone/>
                      </a:pPr>
                      <a:r>
                        <a:rPr/>
                        <a:t>&lt; 10 nmol/L</a:t>
                      </a:r>
                    </a:p>
                  </a:txBody>
                </a:tc>
              </a:tr>
              <a:tr h="0">
                <a:tc>
                  <a:txBody>
                    <a:bodyPr/>
                    <a:lstStyle/>
                    <a:p>
                      <a:pPr lvl="0" indent="0" marL="0" algn="l">
                        <a:buNone/>
                      </a:pPr>
                      <a:r>
                        <a:rPr/>
                        <a:t>Vitamin B12</a:t>
                      </a:r>
                    </a:p>
                  </a:txBody>
                </a:tc>
                <a:tc>
                  <a:txBody>
                    <a:bodyPr/>
                    <a:lstStyle/>
                    <a:p>
                      <a:pPr lvl="0" indent="0" marL="0" algn="l">
                        <a:buNone/>
                      </a:pPr>
                      <a:r>
                        <a:rPr/>
                        <a:t>Women 15-49 y</a:t>
                      </a:r>
                    </a:p>
                  </a:txBody>
                </a:tc>
                <a:tc>
                  <a:txBody>
                    <a:bodyPr/>
                    <a:lstStyle/>
                    <a:p>
                      <a:pPr lvl="0" indent="0" marL="0" algn="l">
                        <a:buNone/>
                      </a:pPr>
                      <a:r>
                        <a:rPr/>
                        <a:t>Ghana, Sierra Leone, Malawi</a:t>
                      </a:r>
                    </a:p>
                  </a:txBody>
                </a:tc>
                <a:tc>
                  <a:txBody>
                    <a:bodyPr/>
                    <a:lstStyle/>
                    <a:p>
                      <a:pPr lvl="0" indent="0" marL="0" algn="l">
                        <a:buNone/>
                      </a:pPr>
                      <a:r>
                        <a:rPr/>
                        <a:t>Serum B12</a:t>
                      </a:r>
                    </a:p>
                  </a:txBody>
                </a:tc>
                <a:tc>
                  <a:txBody>
                    <a:bodyPr/>
                    <a:lstStyle/>
                    <a:p>
                      <a:pPr lvl="0" indent="0" marL="0" algn="l">
                        <a:buNone/>
                      </a:pPr>
                      <a:r>
                        <a:rPr/>
                        <a:t>&lt; 150 pmol/L</a:t>
                      </a:r>
                    </a:p>
                  </a:txBody>
                </a:tc>
              </a:tr>
              <a:tr h="0">
                <a:tc>
                  <a:txBody>
                    <a:bodyPr/>
                    <a:lstStyle/>
                    <a:p>
                      <a:pPr lvl="0" indent="0" marL="0" algn="l">
                        <a:buNone/>
                      </a:pPr>
                      <a:r>
                        <a:rPr/>
                        <a:t>Zinc</a:t>
                      </a:r>
                    </a:p>
                  </a:txBody>
                </a:tc>
                <a:tc>
                  <a:txBody>
                    <a:bodyPr/>
                    <a:lstStyle/>
                    <a:p>
                      <a:pPr lvl="0" indent="0" marL="0" algn="l">
                        <a:buNone/>
                      </a:pPr>
                      <a:r>
                        <a:rPr/>
                        <a:t>Children; women</a:t>
                      </a:r>
                    </a:p>
                  </a:txBody>
                </a:tc>
                <a:tc>
                  <a:txBody>
                    <a:bodyPr/>
                    <a:lstStyle/>
                    <a:p>
                      <a:pPr lvl="0" indent="0" marL="0" algn="l">
                        <a:buNone/>
                      </a:pPr>
                      <a:r>
                        <a:rPr/>
                        <a:t>Malawi only</a:t>
                      </a:r>
                    </a:p>
                  </a:txBody>
                </a:tc>
                <a:tc>
                  <a:txBody>
                    <a:bodyPr/>
                    <a:lstStyle/>
                    <a:p>
                      <a:pPr lvl="0" indent="0" marL="0" algn="l">
                        <a:buNone/>
                      </a:pPr>
                      <a:r>
                        <a:rPr/>
                        <a:t>Serum zinc</a:t>
                      </a:r>
                    </a:p>
                  </a:txBody>
                </a:tc>
                <a:tc>
                  <a:txBody>
                    <a:bodyPr/>
                    <a:lstStyle/>
                    <a:p>
                      <a:pPr lvl="0" indent="0" marL="0" algn="l">
                        <a:buNone/>
                      </a:pPr>
                      <a:r>
                        <a:rPr/>
                        <a:t>IZiNCG, by time of draw</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Conceptual framework for iron deficiency</a:t>
            </a:r>
          </a:p>
        </p:txBody>
      </p:sp>
      <p:pic>
        <p:nvPicPr>
          <p:cNvPr descr="img/old_s06_framework_1.png" id="0" name="Picture 1"/>
          <p:cNvPicPr>
            <a:picLocks noGrp="1" noChangeAspect="1"/>
          </p:cNvPicPr>
          <p:nvPr/>
        </p:nvPicPr>
        <p:blipFill>
          <a:blip r:embed="rId3"/>
          <a:stretch>
            <a:fillRect/>
          </a:stretch>
        </p:blipFill>
        <p:spPr bwMode="auto">
          <a:xfrm>
            <a:off x="3200400" y="1816100"/>
            <a:ext cx="5791200" cy="43434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merging process</a:t>
            </a:r>
          </a:p>
        </p:txBody>
      </p:sp>
      <p:sp>
        <p:nvSpPr>
          <p:cNvPr id="3" name="Content Placeholder 2"/>
          <p:cNvSpPr>
            <a:spLocks noGrp="1"/>
          </p:cNvSpPr>
          <p:nvPr>
            <p:ph idx="1"/>
          </p:nvPr>
        </p:nvSpPr>
        <p:spPr/>
        <p:txBody>
          <a:bodyPr/>
          <a:lstStyle/>
          <a:p>
            <a:pPr lvl="0"/>
            <a:r>
              <a:rPr/>
              <a:t>Clean and merge the national micronutrient surveys; one uniform outcome definition per nutrient across countries.</a:t>
            </a:r>
          </a:p>
          <a:p>
            <a:pPr lvl="0"/>
            <a:r>
              <a:rPr/>
              <a:t>Link gridded layers to districts as zonal means, and now to survey clusters as buffer means.</a:t>
            </a:r>
          </a:p>
          <a:p>
            <a:pPr lvl="0"/>
            <a:r>
              <a:rPr/>
              <a:t>Aggregate DHS and MICS indicators to Admin-2.</a:t>
            </a:r>
          </a:p>
          <a:p>
            <a:pPr lvl="0"/>
            <a:r>
              <a:rPr/>
              <a:t>Rank-normalise every predictor within country before pooling, so cross-country level offsets cannot pose as signal.</a:t>
            </a:r>
          </a:p>
          <a:p>
            <a:pPr lvl="0"/>
            <a:r>
              <a:rPr/>
              <a:t>Collapse the vocabulary to principal components within each of 21 domains; nothing is selected on the outcome.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Predictor vocabulary by source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5257800"/>
                <a:gridCol w="5257800"/>
              </a:tblGrid>
              <a:tr h="0">
                <a:tc>
                  <a:txBody>
                    <a:bodyPr/>
                    <a:lstStyle/>
                    <a:p>
                      <a:pPr lvl="0" indent="0" marL="0" algn="l">
                        <a:buNone/>
                      </a:pPr>
                      <a:r>
                        <a:rPr/>
                        <a:t>Source</a:t>
                      </a:r>
                    </a:p>
                  </a:txBody>
                  <a:tcPr/>
                </a:tc>
                <a:tc>
                  <a:txBody>
                    <a:bodyPr/>
                    <a:lstStyle/>
                    <a:p>
                      <a:pPr lvl="0" indent="0" marL="0" algn="r">
                        <a:buNone/>
                      </a:pPr>
                      <a:r>
                        <a:rPr/>
                        <a:t>Predictors</a:t>
                      </a:r>
                    </a:p>
                  </a:txBody>
                  <a:tcPr/>
                </a:tc>
              </a:tr>
              <a:tr h="0">
                <a:tc>
                  <a:txBody>
                    <a:bodyPr/>
                    <a:lstStyle/>
                    <a:p>
                      <a:pPr lvl="0" indent="0" marL="0" algn="l">
                        <a:buNone/>
                      </a:pPr>
                      <a:r>
                        <a:rPr/>
                        <a:t>DHS / MICS indicators</a:t>
                      </a:r>
                    </a:p>
                  </a:txBody>
                </a:tc>
                <a:tc>
                  <a:txBody>
                    <a:bodyPr/>
                    <a:lstStyle/>
                    <a:p>
                      <a:pPr lvl="0" indent="0" marL="0" algn="r">
                        <a:buNone/>
                      </a:pPr>
                      <a:r>
                        <a:rPr/>
                        <a:t>145</a:t>
                      </a:r>
                    </a:p>
                  </a:txBody>
                </a:tc>
              </a:tr>
              <a:tr h="0">
                <a:tc>
                  <a:txBody>
                    <a:bodyPr/>
                    <a:lstStyle/>
                    <a:p>
                      <a:pPr lvl="0" indent="0" marL="0" algn="l">
                        <a:buNone/>
                      </a:pPr>
                      <a:r>
                        <a:rPr/>
                        <a:t>Earth Engine climate, land, built environment</a:t>
                      </a:r>
                    </a:p>
                  </a:txBody>
                </a:tc>
                <a:tc>
                  <a:txBody>
                    <a:bodyPr/>
                    <a:lstStyle/>
                    <a:p>
                      <a:pPr lvl="0" indent="0" marL="0" algn="r">
                        <a:buNone/>
                      </a:pPr>
                      <a:r>
                        <a:rPr/>
                        <a:t>76</a:t>
                      </a:r>
                    </a:p>
                  </a:txBody>
                </a:tc>
              </a:tr>
              <a:tr h="0">
                <a:tc>
                  <a:txBody>
                    <a:bodyPr/>
                    <a:lstStyle/>
                    <a:p>
                      <a:pPr lvl="0" indent="0" marL="0" algn="l">
                        <a:buNone/>
                      </a:pPr>
                      <a:r>
                        <a:rPr/>
                        <a:t>AlphaEarth satellite embedding</a:t>
                      </a:r>
                    </a:p>
                  </a:txBody>
                </a:tc>
                <a:tc>
                  <a:txBody>
                    <a:bodyPr/>
                    <a:lstStyle/>
                    <a:p>
                      <a:pPr lvl="0" indent="0" marL="0" algn="r">
                        <a:buNone/>
                      </a:pPr>
                      <a:r>
                        <a:rPr/>
                        <a:t>64</a:t>
                      </a:r>
                    </a:p>
                  </a:txBody>
                </a:tc>
              </a:tr>
              <a:tr h="0">
                <a:tc>
                  <a:txBody>
                    <a:bodyPr/>
                    <a:lstStyle/>
                    <a:p>
                      <a:pPr lvl="0" indent="0" marL="0" algn="l">
                        <a:buNone/>
                      </a:pPr>
                      <a:r>
                        <a:rPr/>
                        <a:t>SoilGrids / iSDA soil</a:t>
                      </a:r>
                    </a:p>
                  </a:txBody>
                </a:tc>
                <a:tc>
                  <a:txBody>
                    <a:bodyPr/>
                    <a:lstStyle/>
                    <a:p>
                      <a:pPr lvl="0" indent="0" marL="0" algn="r">
                        <a:buNone/>
                      </a:pPr>
                      <a:r>
                        <a:rPr/>
                        <a:t>45</a:t>
                      </a:r>
                    </a:p>
                  </a:txBody>
                </a:tc>
              </a:tr>
              <a:tr h="0">
                <a:tc>
                  <a:txBody>
                    <a:bodyPr/>
                    <a:lstStyle/>
                    <a:p>
                      <a:pPr lvl="0" indent="0" marL="0" algn="l">
                        <a:buNone/>
                      </a:pPr>
                      <a:r>
                        <a:rPr/>
                        <a:t>Other (WorldPop, GHS, RWI, HFID, GFDx)</a:t>
                      </a:r>
                    </a:p>
                  </a:txBody>
                </a:tc>
                <a:tc>
                  <a:txBody>
                    <a:bodyPr/>
                    <a:lstStyle/>
                    <a:p>
                      <a:pPr lvl="0" indent="0" marL="0" algn="r">
                        <a:buNone/>
                      </a:pPr>
                      <a:r>
                        <a:rPr/>
                        <a:t>40</a:t>
                      </a:r>
                    </a:p>
                  </a:txBody>
                </a:tc>
              </a:tr>
              <a:tr h="0">
                <a:tc>
                  <a:txBody>
                    <a:bodyPr/>
                    <a:lstStyle/>
                    <a:p>
                      <a:pPr lvl="0" indent="0" marL="0" algn="l">
                        <a:buNone/>
                      </a:pPr>
                      <a:r>
                        <a:rPr/>
                        <a:t>IHME modelled surfaces</a:t>
                      </a:r>
                    </a:p>
                  </a:txBody>
                </a:tc>
                <a:tc>
                  <a:txBody>
                    <a:bodyPr/>
                    <a:lstStyle/>
                    <a:p>
                      <a:pPr lvl="0" indent="0" marL="0" algn="r">
                        <a:buNone/>
                      </a:pPr>
                      <a:r>
                        <a:rPr/>
                        <a:t>30</a:t>
                      </a:r>
                    </a:p>
                  </a:txBody>
                </a:tc>
              </a:tr>
              <a:tr h="0">
                <a:tc>
                  <a:txBody>
                    <a:bodyPr/>
                    <a:lstStyle/>
                    <a:p>
                      <a:pPr lvl="0" indent="0" marL="0" algn="l">
                        <a:buNone/>
                      </a:pPr>
                      <a:r>
                        <a:rPr/>
                        <a:t>WFP market prices</a:t>
                      </a:r>
                    </a:p>
                  </a:txBody>
                </a:tc>
                <a:tc>
                  <a:txBody>
                    <a:bodyPr/>
                    <a:lstStyle/>
                    <a:p>
                      <a:pPr lvl="0" indent="0" marL="0" algn="r">
                        <a:buNone/>
                      </a:pPr>
                      <a:r>
                        <a:rPr/>
                        <a:t>13</a:t>
                      </a:r>
                    </a:p>
                  </a:txBody>
                </a:tc>
              </a:tr>
              <a:tr h="0">
                <a:tc>
                  <a:txBody>
                    <a:bodyPr/>
                    <a:lstStyle/>
                    <a:p>
                      <a:pPr lvl="0" indent="0" marL="0" algn="l">
                        <a:buNone/>
                      </a:pPr>
                      <a:r>
                        <a:rPr/>
                        <a:t>Malaria Atlas Project</a:t>
                      </a:r>
                    </a:p>
                  </a:txBody>
                </a:tc>
                <a:tc>
                  <a:txBody>
                    <a:bodyPr/>
                    <a:lstStyle/>
                    <a:p>
                      <a:pPr lvl="0" indent="0" marL="0" algn="r">
                        <a:buNone/>
                      </a:pPr>
                      <a:r>
                        <a:rPr/>
                        <a:t>12</a:t>
                      </a:r>
                    </a:p>
                  </a:txBody>
                </a:tc>
              </a:tr>
              <a:tr h="0">
                <a:tc>
                  <a:txBody>
                    <a:bodyPr/>
                    <a:lstStyle/>
                    <a:p>
                      <a:pPr lvl="0" indent="0" marL="0" algn="l">
                        <a:buNone/>
                      </a:pPr>
                      <a:r>
                        <a:rPr/>
                        <a:t>MapSPAM crops</a:t>
                      </a:r>
                    </a:p>
                  </a:txBody>
                </a:tc>
                <a:tc>
                  <a:txBody>
                    <a:bodyPr/>
                    <a:lstStyle/>
                    <a:p>
                      <a:pPr lvl="0" indent="0" marL="0" algn="r">
                        <a:buNone/>
                      </a:pPr>
                      <a:r>
                        <a:rPr/>
                        <a:t>12</a:t>
                      </a:r>
                    </a:p>
                  </a:txBody>
                </a:tc>
              </a:tr>
              <a:tr h="0">
                <a:tc>
                  <a:txBody>
                    <a:bodyPr/>
                    <a:lstStyle/>
                    <a:p>
                      <a:pPr lvl="0" indent="0" marL="0" algn="l">
                        <a:buNone/>
                      </a:pPr>
                      <a:r>
                        <a:rPr/>
                        <a:t>Koppen / agro-ecological zones</a:t>
                      </a:r>
                    </a:p>
                  </a:txBody>
                </a:tc>
                <a:tc>
                  <a:txBody>
                    <a:bodyPr/>
                    <a:lstStyle/>
                    <a:p>
                      <a:pPr lvl="0" indent="0" marL="0" algn="r">
                        <a:buNone/>
                      </a:pPr>
                      <a:r>
                        <a:rPr/>
                        <a:t>9</a:t>
                      </a:r>
                    </a:p>
                  </a:txBody>
                </a:tc>
              </a:tr>
              <a:tr h="0">
                <a:tc>
                  <a:txBody>
                    <a:bodyPr/>
                    <a:lstStyle/>
                    <a:p>
                      <a:pPr lvl="0" indent="0" marL="0" algn="l">
                        <a:buNone/>
                      </a:pPr>
                      <a:r>
                        <a:rPr/>
                        <a:t>FAOSTAT (national)</a:t>
                      </a:r>
                    </a:p>
                  </a:txBody>
                </a:tc>
                <a:tc>
                  <a:txBody>
                    <a:bodyPr/>
                    <a:lstStyle/>
                    <a:p>
                      <a:pPr lvl="0" indent="0" marL="0" algn="r">
                        <a:buNone/>
                      </a:pPr>
                      <a:r>
                        <a:rPr/>
                        <a:t>8</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Domains of data covered</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3771900"/>
                <a:gridCol w="812800"/>
                <a:gridCol w="5003800"/>
                <a:gridCol w="914400"/>
              </a:tblGrid>
              <a:tr h="0">
                <a:tc>
                  <a:txBody>
                    <a:bodyPr/>
                    <a:lstStyle/>
                    <a:p>
                      <a:pPr lvl="0" indent="0" marL="0" algn="l">
                        <a:buNone/>
                      </a:pPr>
                      <a:r>
                        <a:rPr/>
                        <a:t>Domain</a:t>
                      </a:r>
                    </a:p>
                  </a:txBody>
                  <a:tcPr/>
                </a:tc>
                <a:tc>
                  <a:txBody>
                    <a:bodyPr/>
                    <a:lstStyle/>
                    <a:p>
                      <a:pPr lvl="0" indent="0" marL="0" algn="r">
                        <a:buNone/>
                      </a:pPr>
                      <a:r>
                        <a:rPr/>
                        <a:t>Columns</a:t>
                      </a:r>
                    </a:p>
                  </a:txBody>
                  <a:tcPr/>
                </a:tc>
                <a:tc>
                  <a:txBody>
                    <a:bodyPr/>
                    <a:lstStyle/>
                    <a:p>
                      <a:pPr lvl="0" indent="0" marL="0" algn="l">
                        <a:buNone/>
                      </a:pPr>
                      <a:r>
                        <a:rPr/>
                        <a:t>Domain</a:t>
                      </a:r>
                    </a:p>
                  </a:txBody>
                  <a:tcPr/>
                </a:tc>
                <a:tc>
                  <a:txBody>
                    <a:bodyPr/>
                    <a:lstStyle/>
                    <a:p>
                      <a:pPr lvl="0" indent="0" marL="0" algn="l">
                        <a:buNone/>
                      </a:pPr>
                      <a:r>
                        <a:rPr/>
                        <a:t>Columns</a:t>
                      </a:r>
                    </a:p>
                  </a:txBody>
                  <a:tcPr/>
                </a:tc>
              </a:tr>
              <a:tr h="0">
                <a:tc>
                  <a:txBody>
                    <a:bodyPr/>
                    <a:lstStyle/>
                    <a:p>
                      <a:pPr lvl="0" indent="0" marL="0" algn="l">
                        <a:buNone/>
                      </a:pPr>
                      <a:r>
                        <a:rPr/>
                        <a:t>Satellite embedding</a:t>
                      </a:r>
                    </a:p>
                  </a:txBody>
                </a:tc>
                <a:tc>
                  <a:txBody>
                    <a:bodyPr/>
                    <a:lstStyle/>
                    <a:p>
                      <a:pPr lvl="0" indent="0" marL="0" algn="r">
                        <a:buNone/>
                      </a:pPr>
                      <a:r>
                        <a:rPr/>
                        <a:t>64</a:t>
                      </a:r>
                    </a:p>
                  </a:txBody>
                </a:tc>
                <a:tc>
                  <a:txBody>
                    <a:bodyPr/>
                    <a:lstStyle/>
                    <a:p>
                      <a:pPr lvl="0" indent="0" marL="0" algn="l">
                        <a:buNone/>
                      </a:pPr>
                      <a:r>
                        <a:rPr/>
                        <a:t>Ruralness, population density, built environment</a:t>
                      </a:r>
                    </a:p>
                  </a:txBody>
                </a:tc>
                <a:tc>
                  <a:txBody>
                    <a:bodyPr/>
                    <a:lstStyle/>
                    <a:p>
                      <a:pPr lvl="0" indent="0" marL="0" algn="l">
                        <a:buNone/>
                      </a:pPr>
                      <a:r>
                        <a:rPr/>
                        <a:t>11</a:t>
                      </a:r>
                    </a:p>
                  </a:txBody>
                </a:tc>
              </a:tr>
              <a:tr h="0">
                <a:tc>
                  <a:txBody>
                    <a:bodyPr/>
                    <a:lstStyle/>
                    <a:p>
                      <a:pPr lvl="0" indent="0" marL="0" algn="l">
                        <a:buNone/>
                      </a:pPr>
                      <a:r>
                        <a:rPr/>
                        <a:t>Infant and child morbidity/mortality</a:t>
                      </a:r>
                    </a:p>
                  </a:txBody>
                </a:tc>
                <a:tc>
                  <a:txBody>
                    <a:bodyPr/>
                    <a:lstStyle/>
                    <a:p>
                      <a:pPr lvl="0" indent="0" marL="0" algn="r">
                        <a:buNone/>
                      </a:pPr>
                      <a:r>
                        <a:rPr/>
                        <a:t>59</a:t>
                      </a:r>
                    </a:p>
                  </a:txBody>
                </a:tc>
                <a:tc>
                  <a:txBody>
                    <a:bodyPr/>
                    <a:lstStyle/>
                    <a:p>
                      <a:pPr lvl="0" indent="0" marL="0" algn="l">
                        <a:buNone/>
                      </a:pPr>
                      <a:r>
                        <a:rPr/>
                        <a:t>Dietary diversity</a:t>
                      </a:r>
                    </a:p>
                  </a:txBody>
                </a:tc>
                <a:tc>
                  <a:txBody>
                    <a:bodyPr/>
                    <a:lstStyle/>
                    <a:p>
                      <a:pPr lvl="0" indent="0" marL="0" algn="l">
                        <a:buNone/>
                      </a:pPr>
                      <a:r>
                        <a:rPr/>
                        <a:t>10</a:t>
                      </a:r>
                    </a:p>
                  </a:txBody>
                </a:tc>
              </a:tr>
              <a:tr h="0">
                <a:tc>
                  <a:txBody>
                    <a:bodyPr/>
                    <a:lstStyle/>
                    <a:p>
                      <a:pPr lvl="0" indent="0" marL="0" algn="l">
                        <a:buNone/>
                      </a:pPr>
                      <a:r>
                        <a:rPr/>
                        <a:t>Climate and weather</a:t>
                      </a:r>
                    </a:p>
                  </a:txBody>
                </a:tc>
                <a:tc>
                  <a:txBody>
                    <a:bodyPr/>
                    <a:lstStyle/>
                    <a:p>
                      <a:pPr lvl="0" indent="0" marL="0" algn="r">
                        <a:buNone/>
                      </a:pPr>
                      <a:r>
                        <a:rPr/>
                        <a:t>50</a:t>
                      </a:r>
                    </a:p>
                  </a:txBody>
                </a:tc>
                <a:tc>
                  <a:txBody>
                    <a:bodyPr/>
                    <a:lstStyle/>
                    <a:p>
                      <a:pPr lvl="0" indent="0" marL="0" algn="l">
                        <a:buNone/>
                      </a:pPr>
                      <a:r>
                        <a:rPr/>
                        <a:t>Nutrition status (MODELLED SURFACE)</a:t>
                      </a:r>
                    </a:p>
                  </a:txBody>
                </a:tc>
                <a:tc>
                  <a:txBody>
                    <a:bodyPr/>
                    <a:lstStyle/>
                    <a:p>
                      <a:pPr lvl="0" indent="0" marL="0" algn="l">
                        <a:buNone/>
                      </a:pPr>
                      <a:r>
                        <a:rPr/>
                        <a:t>10</a:t>
                      </a:r>
                    </a:p>
                  </a:txBody>
                </a:tc>
              </a:tr>
              <a:tr h="0">
                <a:tc>
                  <a:txBody>
                    <a:bodyPr/>
                    <a:lstStyle/>
                    <a:p>
                      <a:pPr lvl="0" indent="0" marL="0" algn="l">
                        <a:buNone/>
                      </a:pPr>
                      <a:r>
                        <a:rPr/>
                        <a:t>Soil characteristics</a:t>
                      </a:r>
                    </a:p>
                  </a:txBody>
                </a:tc>
                <a:tc>
                  <a:txBody>
                    <a:bodyPr/>
                    <a:lstStyle/>
                    <a:p>
                      <a:pPr lvl="0" indent="0" marL="0" algn="r">
                        <a:buNone/>
                      </a:pPr>
                      <a:r>
                        <a:rPr/>
                        <a:t>45</a:t>
                      </a:r>
                    </a:p>
                  </a:txBody>
                </a:tc>
                <a:tc>
                  <a:txBody>
                    <a:bodyPr/>
                    <a:lstStyle/>
                    <a:p>
                      <a:pPr lvl="0" indent="0" marL="0" algn="l">
                        <a:buNone/>
                      </a:pPr>
                      <a:r>
                        <a:rPr/>
                        <a:t>Adult and maternal mortality</a:t>
                      </a:r>
                    </a:p>
                  </a:txBody>
                </a:tc>
                <a:tc>
                  <a:txBody>
                    <a:bodyPr/>
                    <a:lstStyle/>
                    <a:p>
                      <a:pPr lvl="0" indent="0" marL="0" algn="l">
                        <a:buNone/>
                      </a:pPr>
                      <a:r>
                        <a:rPr/>
                        <a:t>9</a:t>
                      </a:r>
                    </a:p>
                  </a:txBody>
                </a:tc>
              </a:tr>
              <a:tr h="0">
                <a:tc>
                  <a:txBody>
                    <a:bodyPr/>
                    <a:lstStyle/>
                    <a:p>
                      <a:pPr lvl="0" indent="0" marL="0" algn="l">
                        <a:buNone/>
                      </a:pPr>
                      <a:r>
                        <a:rPr/>
                        <a:t>Agricultural production, land use</a:t>
                      </a:r>
                    </a:p>
                  </a:txBody>
                </a:tc>
                <a:tc>
                  <a:txBody>
                    <a:bodyPr/>
                    <a:lstStyle/>
                    <a:p>
                      <a:pPr lvl="0" indent="0" marL="0" algn="r">
                        <a:buNone/>
                      </a:pPr>
                      <a:r>
                        <a:rPr/>
                        <a:t>29</a:t>
                      </a:r>
                    </a:p>
                  </a:txBody>
                </a:tc>
                <a:tc>
                  <a:txBody>
                    <a:bodyPr/>
                    <a:lstStyle/>
                    <a:p>
                      <a:pPr lvl="0" indent="0" marL="0" algn="l">
                        <a:buNone/>
                      </a:pPr>
                      <a:r>
                        <a:rPr/>
                        <a:t>Water and sanitation</a:t>
                      </a:r>
                    </a:p>
                  </a:txBody>
                </a:tc>
                <a:tc>
                  <a:txBody>
                    <a:bodyPr/>
                    <a:lstStyle/>
                    <a:p>
                      <a:pPr lvl="0" indent="0" marL="0" algn="l">
                        <a:buNone/>
                      </a:pPr>
                      <a:r>
                        <a:rPr/>
                        <a:t>9</a:t>
                      </a:r>
                    </a:p>
                  </a:txBody>
                </a:tc>
              </a:tr>
              <a:tr h="0">
                <a:tc>
                  <a:txBody>
                    <a:bodyPr/>
                    <a:lstStyle/>
                    <a:p>
                      <a:pPr lvl="0" indent="0" marL="0" algn="l">
                        <a:buNone/>
                      </a:pPr>
                      <a:r>
                        <a:rPr/>
                        <a:t>Fertility, reproductive health</a:t>
                      </a:r>
                    </a:p>
                  </a:txBody>
                </a:tc>
                <a:tc>
                  <a:txBody>
                    <a:bodyPr/>
                    <a:lstStyle/>
                    <a:p>
                      <a:pPr lvl="0" indent="0" marL="0" algn="r">
                        <a:buNone/>
                      </a:pPr>
                      <a:r>
                        <a:rPr/>
                        <a:t>23</a:t>
                      </a:r>
                    </a:p>
                  </a:txBody>
                </a:tc>
                <a:tc>
                  <a:txBody>
                    <a:bodyPr/>
                    <a:lstStyle/>
                    <a:p>
                      <a:pPr lvl="0" indent="0" marL="0" algn="l">
                        <a:buNone/>
                      </a:pPr>
                      <a:r>
                        <a:rPr/>
                        <a:t>Helminth burden and control</a:t>
                      </a:r>
                    </a:p>
                  </a:txBody>
                </a:tc>
                <a:tc>
                  <a:txBody>
                    <a:bodyPr/>
                    <a:lstStyle/>
                    <a:p>
                      <a:pPr lvl="0" indent="0" marL="0" algn="l">
                        <a:buNone/>
                      </a:pPr>
                      <a:r>
                        <a:rPr/>
                        <a:t>8</a:t>
                      </a:r>
                    </a:p>
                  </a:txBody>
                </a:tc>
              </a:tr>
              <a:tr h="0">
                <a:tc>
                  <a:txBody>
                    <a:bodyPr/>
                    <a:lstStyle/>
                    <a:p>
                      <a:pPr lvl="0" indent="0" marL="0" algn="l">
                        <a:buNone/>
                      </a:pPr>
                      <a:r>
                        <a:rPr/>
                        <a:t>Food prices and supply</a:t>
                      </a:r>
                    </a:p>
                  </a:txBody>
                </a:tc>
                <a:tc>
                  <a:txBody>
                    <a:bodyPr/>
                    <a:lstStyle/>
                    <a:p>
                      <a:pPr lvl="0" indent="0" marL="0" algn="r">
                        <a:buNone/>
                      </a:pPr>
                      <a:r>
                        <a:rPr/>
                        <a:t>21</a:t>
                      </a:r>
                    </a:p>
                  </a:txBody>
                </a:tc>
                <a:tc>
                  <a:txBody>
                    <a:bodyPr/>
                    <a:lstStyle/>
                    <a:p>
                      <a:pPr lvl="0" indent="0" marL="0" algn="l">
                        <a:buNone/>
                      </a:pPr>
                      <a:r>
                        <a:rPr/>
                        <a:t>Livestock density</a:t>
                      </a:r>
                    </a:p>
                  </a:txBody>
                </a:tc>
                <a:tc>
                  <a:txBody>
                    <a:bodyPr/>
                    <a:lstStyle/>
                    <a:p>
                      <a:pPr lvl="0" indent="0" marL="0" algn="l">
                        <a:buNone/>
                      </a:pPr>
                      <a:r>
                        <a:rPr/>
                        <a:t>8</a:t>
                      </a:r>
                    </a:p>
                  </a:txBody>
                </a:tc>
              </a:tr>
              <a:tr h="0">
                <a:tc>
                  <a:txBody>
                    <a:bodyPr/>
                    <a:lstStyle/>
                    <a:p>
                      <a:pPr lvl="0" indent="0" marL="0" algn="l">
                        <a:buNone/>
                      </a:pPr>
                      <a:r>
                        <a:rPr/>
                        <a:t>Household assets and characteristics</a:t>
                      </a:r>
                    </a:p>
                  </a:txBody>
                </a:tc>
                <a:tc>
                  <a:txBody>
                    <a:bodyPr/>
                    <a:lstStyle/>
                    <a:p>
                      <a:pPr lvl="0" indent="0" marL="0" algn="r">
                        <a:buNone/>
                      </a:pPr>
                      <a:r>
                        <a:rPr/>
                        <a:t>21</a:t>
                      </a:r>
                    </a:p>
                  </a:txBody>
                </a:tc>
                <a:tc>
                  <a:txBody>
                    <a:bodyPr/>
                    <a:lstStyle/>
                    <a:p>
                      <a:pPr lvl="0" indent="0" marL="0" algn="l">
                        <a:buNone/>
                      </a:pPr>
                      <a:r>
                        <a:rPr/>
                        <a:t>Adult nutrition</a:t>
                      </a:r>
                    </a:p>
                  </a:txBody>
                </a:tc>
                <a:tc>
                  <a:txBody>
                    <a:bodyPr/>
                    <a:lstStyle/>
                    <a:p>
                      <a:pPr lvl="0" indent="0" marL="0" algn="l">
                        <a:buNone/>
                      </a:pPr>
                      <a:r>
                        <a:rPr/>
                        <a:t>7</a:t>
                      </a:r>
                    </a:p>
                  </a:txBody>
                </a:tc>
              </a:tr>
              <a:tr h="0">
                <a:tc>
                  <a:txBody>
                    <a:bodyPr/>
                    <a:lstStyle/>
                    <a:p>
                      <a:pPr lvl="0" indent="0" marL="0" algn="l">
                        <a:buNone/>
                      </a:pPr>
                      <a:r>
                        <a:rPr/>
                        <a:t>Ecosystem productivity/greenness</a:t>
                      </a:r>
                    </a:p>
                  </a:txBody>
                </a:tc>
                <a:tc>
                  <a:txBody>
                    <a:bodyPr/>
                    <a:lstStyle/>
                    <a:p>
                      <a:pPr lvl="0" indent="0" marL="0" algn="r">
                        <a:buNone/>
                      </a:pPr>
                      <a:r>
                        <a:rPr/>
                        <a:t>16</a:t>
                      </a:r>
                    </a:p>
                  </a:txBody>
                </a:tc>
                <a:tc>
                  <a:txBody>
                    <a:bodyPr/>
                    <a:lstStyle/>
                    <a:p>
                      <a:pPr lvl="0" indent="0" marL="0" algn="l">
                        <a:buNone/>
                      </a:pPr>
                      <a:r>
                        <a:rPr/>
                        <a:t>Healthcare access</a:t>
                      </a:r>
                    </a:p>
                  </a:txBody>
                </a:tc>
                <a:tc>
                  <a:txBody>
                    <a:bodyPr/>
                    <a:lstStyle/>
                    <a:p>
                      <a:pPr lvl="0" indent="0" marL="0" algn="l">
                        <a:buNone/>
                      </a:pPr>
                      <a:r>
                        <a:rPr/>
                        <a:t>7</a:t>
                      </a:r>
                    </a:p>
                  </a:txBody>
                </a:tc>
              </a:tr>
              <a:tr h="0">
                <a:tc>
                  <a:txBody>
                    <a:bodyPr/>
                    <a:lstStyle/>
                    <a:p>
                      <a:pPr lvl="0" indent="0" marL="0" algn="l">
                        <a:buNone/>
                      </a:pPr>
                      <a:r>
                        <a:rPr/>
                        <a:t>Built environment</a:t>
                      </a:r>
                    </a:p>
                  </a:txBody>
                </a:tc>
                <a:tc>
                  <a:txBody>
                    <a:bodyPr/>
                    <a:lstStyle/>
                    <a:p>
                      <a:pPr lvl="0" indent="0" marL="0" algn="r">
                        <a:buNone/>
                      </a:pPr>
                      <a:r>
                        <a:rPr/>
                        <a:t>13</a:t>
                      </a:r>
                    </a:p>
                  </a:txBody>
                </a:tc>
                <a:tc>
                  <a:txBody>
                    <a:bodyPr/>
                    <a:lstStyle/>
                    <a:p>
                      <a:pPr lvl="0" indent="0" marL="0" algn="l">
                        <a:buNone/>
                      </a:pPr>
                      <a:r>
                        <a:rPr/>
                        <a:t>Water and coast proximity</a:t>
                      </a:r>
                    </a:p>
                  </a:txBody>
                </a:tc>
                <a:tc>
                  <a:txBody>
                    <a:bodyPr/>
                    <a:lstStyle/>
                    <a:p>
                      <a:pPr lvl="0" indent="0" marL="0" algn="l">
                        <a:buNone/>
                      </a:pPr>
                      <a:r>
                        <a:rPr/>
                        <a:t>6</a:t>
                      </a:r>
                    </a:p>
                  </a:txBody>
                </a:tc>
              </a:tr>
              <a:tr h="0">
                <a:tc>
                  <a:txBody>
                    <a:bodyPr/>
                    <a:lstStyle/>
                    <a:p>
                      <a:pPr lvl="0" indent="0" marL="0" algn="l">
                        <a:buNone/>
                      </a:pPr>
                      <a:r>
                        <a:rPr/>
                        <a:t>Education, employment, SES</a:t>
                      </a:r>
                    </a:p>
                  </a:txBody>
                </a:tc>
                <a:tc>
                  <a:txBody>
                    <a:bodyPr/>
                    <a:lstStyle/>
                    <a:p>
                      <a:pPr lvl="0" indent="0" marL="0" algn="r">
                        <a:buNone/>
                      </a:pPr>
                      <a:r>
                        <a:rPr/>
                        <a:t>12</a:t>
                      </a:r>
                    </a:p>
                  </a:txBody>
                </a:tc>
                <a:tc>
                  <a:txBody>
                    <a:bodyPr/>
                    <a:lstStyle/>
                    <a:p>
                      <a:pPr lvl="0" indent="0" marL="0" algn="l">
                        <a:buNone/>
                      </a:pPr>
                      <a:r>
                        <a:rPr/>
                        <a:t>Food fortification and supplementation</a:t>
                      </a:r>
                    </a:p>
                  </a:txBody>
                </a:tc>
                <a:tc>
                  <a:txBody>
                    <a:bodyPr/>
                    <a:lstStyle/>
                    <a:p>
                      <a:pPr lvl="0" indent="0" marL="0" algn="l">
                        <a:buNone/>
                      </a:pPr>
                      <a:r>
                        <a:rPr/>
                        <a:t>3</a:t>
                      </a:r>
                    </a:p>
                  </a:txBody>
                </a:tc>
              </a:tr>
              <a:tr h="0">
                <a:tc>
                  <a:txBody>
                    <a:bodyPr/>
                    <a:lstStyle/>
                    <a:p>
                      <a:pPr lvl="0" indent="0" marL="0" algn="l">
                        <a:buNone/>
                      </a:pPr>
                      <a:r>
                        <a:rPr/>
                        <a:t>Malaria incidence and treatment</a:t>
                      </a:r>
                    </a:p>
                  </a:txBody>
                </a:tc>
                <a:tc>
                  <a:txBody>
                    <a:bodyPr/>
                    <a:lstStyle/>
                    <a:p>
                      <a:pPr lvl="0" indent="0" marL="0" algn="r">
                        <a:buNone/>
                      </a:pPr>
                      <a:r>
                        <a:rPr/>
                        <a:t>12</a:t>
                      </a:r>
                    </a:p>
                  </a:txBody>
                </a:tc>
                <a:tc>
                  <a:txBody>
                    <a:bodyPr/>
                    <a:lstStyle/>
                    <a:p>
                      <a:endParaRPr/>
                    </a:p>
                  </a:txBody>
                </a:tc>
                <a:tc>
                  <a:txBody>
                    <a:bodyPr/>
                    <a:lstStyle/>
                    <a:p>
                      <a:endParaRP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Prediction approach, then and now</a:t>
            </a:r>
          </a:p>
        </p:txBody>
      </p:sp>
      <p:sp>
        <p:nvSpPr>
          <p:cNvPr id="3" name="Content Placeholder 2"/>
          <p:cNvSpPr>
            <a:spLocks noGrp="1"/>
          </p:cNvSpPr>
          <p:nvPr>
            <p:ph idx="1" sz="half"/>
          </p:nvPr>
        </p:nvSpPr>
        <p:spPr/>
        <p:txBody>
          <a:bodyPr/>
          <a:lstStyle/>
          <a:p>
            <a:pPr lvl="0" indent="0" marL="0">
              <a:buNone/>
            </a:pPr>
            <a:r>
              <a:rPr b="1"/>
              <a:t>January: spatial ensemble learning</a:t>
            </a:r>
          </a:p>
          <a:p>
            <a:pPr lvl="0"/>
            <a:r>
              <a:rPr/>
              <a:t>SuperLearner library, weighted by cross-validated performance.</a:t>
            </a:r>
          </a:p>
          <a:p>
            <a:pPr lvl="0"/>
            <a:r>
              <a:rPr/>
              <a:t>Prescreening from thousands of predictors to 10-100 per model.</a:t>
            </a:r>
          </a:p>
          <a:p>
            <a:pPr lvl="0"/>
            <a:r>
              <a:rPr/>
              <a:t>Importance by change in MSE.</a:t>
            </a:r>
          </a:p>
        </p:txBody>
      </p:sp>
      <p:sp>
        <p:nvSpPr>
          <p:cNvPr id="4" name="Content Placeholder 3"/>
          <p:cNvSpPr>
            <a:spLocks noGrp="1"/>
          </p:cNvSpPr>
          <p:nvPr>
            <p:ph idx="2" sz="half"/>
          </p:nvPr>
        </p:nvSpPr>
        <p:spPr/>
        <p:txBody>
          <a:bodyPr/>
          <a:lstStyle/>
          <a:p>
            <a:pPr lvl="0" indent="0" marL="0">
              <a:buNone/>
            </a:pPr>
            <a:r>
              <a:rPr b="1"/>
              <a:t>Now: the corrected protocol</a:t>
            </a:r>
          </a:p>
          <a:p>
            <a:pPr lvl="0"/>
            <a:r>
              <a:rPr/>
              <a:t>Zero-tuning index: domain PCs weighted by their training-fold rank correlation with the outcome.</a:t>
            </a:r>
          </a:p>
          <a:p>
            <a:pPr lvl="0"/>
            <a:r>
              <a:rPr/>
              <a:t>SuperLearner kept as a comparison; never beats the index at 14-87 districts.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questions, three estimands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371600"/>
                <a:gridCol w="3314700"/>
                <a:gridCol w="2349500"/>
                <a:gridCol w="3479800"/>
              </a:tblGrid>
              <a:tr h="0">
                <a:tc>
                  <a:txBody>
                    <a:bodyPr/>
                    <a:lstStyle/>
                    <a:p>
                      <a:pPr lvl="0" indent="0" marL="0" algn="l">
                        <a:buNone/>
                      </a:pPr>
                      <a:r>
                        <a:rPr/>
                        <a:t>Estimand</a:t>
                      </a:r>
                    </a:p>
                  </a:txBody>
                  <a:tcPr/>
                </a:tc>
                <a:tc>
                  <a:txBody>
                    <a:bodyPr/>
                    <a:lstStyle/>
                    <a:p>
                      <a:pPr lvl="0" indent="0" marL="0" algn="l">
                        <a:buNone/>
                      </a:pPr>
                      <a:r>
                        <a:rPr/>
                        <a:t>Question</a:t>
                      </a:r>
                    </a:p>
                  </a:txBody>
                  <a:tcPr/>
                </a:tc>
                <a:tc>
                  <a:txBody>
                    <a:bodyPr/>
                    <a:lstStyle/>
                    <a:p>
                      <a:pPr lvl="0" indent="0" marL="0" algn="l">
                        <a:buNone/>
                      </a:pPr>
                      <a:r>
                        <a:rPr/>
                        <a:t>Folds</a:t>
                      </a:r>
                    </a:p>
                  </a:txBody>
                  <a:tcPr/>
                </a:tc>
                <a:tc>
                  <a:txBody>
                    <a:bodyPr/>
                    <a:lstStyle/>
                    <a:p>
                      <a:pPr lvl="0" indent="0" marL="0" algn="l">
                        <a:buNone/>
                      </a:pPr>
                      <a:r>
                        <a:rPr/>
                        <a:t>Matched baseline</a:t>
                      </a:r>
                    </a:p>
                  </a:txBody>
                  <a:tcPr/>
                </a:tc>
              </a:tr>
              <a:tr h="0">
                <a:tc>
                  <a:txBody>
                    <a:bodyPr/>
                    <a:lstStyle/>
                    <a:p>
                      <a:pPr lvl="0" indent="0" marL="0" algn="l">
                        <a:buNone/>
                      </a:pPr>
                      <a:r>
                        <a:rPr/>
                        <a:t>A. In-fill</a:t>
                      </a:r>
                    </a:p>
                  </a:txBody>
                </a:tc>
                <a:tc>
                  <a:txBody>
                    <a:bodyPr/>
                    <a:lstStyle/>
                    <a:p>
                      <a:pPr lvl="0" indent="0" marL="0" algn="l">
                        <a:buNone/>
                      </a:pPr>
                      <a:r>
                        <a:rPr/>
                        <a:t>Unsurveyed district in a surveyed region</a:t>
                      </a:r>
                    </a:p>
                  </a:txBody>
                </a:tc>
                <a:tc>
                  <a:txBody>
                    <a:bodyPr/>
                    <a:lstStyle/>
                    <a:p>
                      <a:pPr lvl="0" indent="0" marL="0" algn="l">
                        <a:buNone/>
                      </a:pPr>
                      <a:r>
                        <a:rPr/>
                        <a:t>5-fold by district, 10 draws</a:t>
                      </a:r>
                    </a:p>
                  </a:txBody>
                </a:tc>
                <a:tc>
                  <a:txBody>
                    <a:bodyPr/>
                    <a:lstStyle/>
                    <a:p>
                      <a:pPr lvl="0" indent="0" marL="0" algn="l">
                        <a:buNone/>
                      </a:pPr>
                      <a:r>
                        <a:rPr/>
                        <a:t>Jackknifed regional mean; spatial smoother</a:t>
                      </a:r>
                    </a:p>
                  </a:txBody>
                </a:tc>
              </a:tr>
              <a:tr h="0">
                <a:tc>
                  <a:txBody>
                    <a:bodyPr/>
                    <a:lstStyle/>
                    <a:p>
                      <a:pPr lvl="0" indent="0" marL="0" algn="l">
                        <a:buNone/>
                      </a:pPr>
                      <a:r>
                        <a:rPr/>
                        <a:t>B. Extrapolation</a:t>
                      </a:r>
                    </a:p>
                  </a:txBody>
                </a:tc>
                <a:tc>
                  <a:txBody>
                    <a:bodyPr/>
                    <a:lstStyle/>
                    <a:p>
                      <a:pPr lvl="0" indent="0" marL="0" algn="l">
                        <a:buNone/>
                      </a:pPr>
                      <a:r>
                        <a:rPr/>
                        <a:t>Whole unsurveyed region</a:t>
                      </a:r>
                    </a:p>
                  </a:txBody>
                </a:tc>
                <a:tc>
                  <a:txBody>
                    <a:bodyPr/>
                    <a:lstStyle/>
                    <a:p>
                      <a:pPr lvl="0" indent="0" marL="0" algn="l">
                        <a:buNone/>
                      </a:pPr>
                      <a:r>
                        <a:rPr/>
                        <a:t>Leave-one-region-out</a:t>
                      </a:r>
                    </a:p>
                  </a:txBody>
                </a:tc>
                <a:tc>
                  <a:txBody>
                    <a:bodyPr/>
                    <a:lstStyle/>
                    <a:p>
                      <a:pPr lvl="0" indent="0" marL="0" algn="l">
                        <a:buNone/>
                      </a:pPr>
                      <a:r>
                        <a:rPr/>
                        <a:t>Spatial smoother</a:t>
                      </a:r>
                    </a:p>
                  </a:txBody>
                </a:tc>
              </a:tr>
              <a:tr h="0">
                <a:tc>
                  <a:txBody>
                    <a:bodyPr/>
                    <a:lstStyle/>
                    <a:p>
                      <a:pPr lvl="0" indent="0" marL="0" algn="l">
                        <a:buNone/>
                      </a:pPr>
                      <a:r>
                        <a:rPr/>
                        <a:t>C. Transport</a:t>
                      </a:r>
                    </a:p>
                  </a:txBody>
                </a:tc>
                <a:tc>
                  <a:txBody>
                    <a:bodyPr/>
                    <a:lstStyle/>
                    <a:p>
                      <a:pPr lvl="0" indent="0" marL="0" algn="l">
                        <a:buNone/>
                      </a:pPr>
                      <a:r>
                        <a:rPr/>
                        <a:t>Country with no biomarker survey</a:t>
                      </a:r>
                    </a:p>
                  </a:txBody>
                </a:tc>
                <a:tc>
                  <a:txBody>
                    <a:bodyPr/>
                    <a:lstStyle/>
                    <a:p>
                      <a:pPr lvl="0" indent="0" marL="0" algn="l">
                        <a:buNone/>
                      </a:pPr>
                      <a:r>
                        <a:rPr/>
                        <a:t>Leave-one-country-out</a:t>
                      </a:r>
                    </a:p>
                  </a:txBody>
                </a:tc>
                <a:tc>
                  <a:txBody>
                    <a:bodyPr/>
                    <a:lstStyle/>
                    <a:p>
                      <a:pPr lvl="0" indent="0" marL="0" algn="l">
                        <a:buNone/>
                      </a:pPr>
                      <a:r>
                        <a:rPr/>
                        <a:t>Country-block permutation null</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In-fill: covariates beat the honest baseline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3505200"/>
                <a:gridCol w="3505200"/>
                <a:gridCol w="3505200"/>
              </a:tblGrid>
              <a:tr h="0">
                <a:tc>
                  <a:txBody>
                    <a:bodyPr/>
                    <a:lstStyle/>
                    <a:p>
                      <a:pPr lvl="0" indent="0" marL="0" algn="l">
                        <a:buNone/>
                      </a:pPr>
                      <a:r>
                        <a:rPr/>
                        <a:t>Model</a:t>
                      </a:r>
                    </a:p>
                  </a:txBody>
                  <a:tcPr/>
                </a:tc>
                <a:tc>
                  <a:txBody>
                    <a:bodyPr/>
                    <a:lstStyle/>
                    <a:p>
                      <a:pPr lvl="0" indent="0" marL="0" algn="r">
                        <a:buNone/>
                      </a:pPr>
                      <a:r>
                        <a:rPr/>
                        <a:t>Biomarker level</a:t>
                      </a:r>
                    </a:p>
                  </a:txBody>
                  <a:tcPr/>
                </a:tc>
                <a:tc>
                  <a:txBody>
                    <a:bodyPr/>
                    <a:lstStyle/>
                    <a:p>
                      <a:pPr lvl="0" indent="0" marL="0" algn="r">
                        <a:buNone/>
                      </a:pPr>
                      <a:r>
                        <a:rPr/>
                        <a:t>Prevalence</a:t>
                      </a:r>
                    </a:p>
                  </a:txBody>
                  <a:tcPr/>
                </a:tc>
              </a:tr>
              <a:tr h="0">
                <a:tc>
                  <a:txBody>
                    <a:bodyPr/>
                    <a:lstStyle/>
                    <a:p>
                      <a:pPr lvl="0" indent="0" marL="0" algn="l">
                        <a:buNone/>
                      </a:pPr>
                      <a:r>
                        <a:rPr/>
                        <a:t>Spatial smoother + covariates</a:t>
                      </a:r>
                    </a:p>
                  </a:txBody>
                </a:tc>
                <a:tc>
                  <a:txBody>
                    <a:bodyPr/>
                    <a:lstStyle/>
                    <a:p>
                      <a:pPr lvl="0" indent="0" marL="0" algn="r">
                        <a:buNone/>
                      </a:pPr>
                      <a:r>
                        <a:rPr/>
                        <a:t>0.399</a:t>
                      </a:r>
                    </a:p>
                  </a:txBody>
                </a:tc>
                <a:tc>
                  <a:txBody>
                    <a:bodyPr/>
                    <a:lstStyle/>
                    <a:p>
                      <a:pPr lvl="0" indent="0" marL="0" algn="r">
                        <a:buNone/>
                      </a:pPr>
                      <a:r>
                        <a:rPr/>
                        <a:t>0.252</a:t>
                      </a:r>
                    </a:p>
                  </a:txBody>
                </a:tc>
              </a:tr>
              <a:tr h="0">
                <a:tc>
                  <a:txBody>
                    <a:bodyPr/>
                    <a:lstStyle/>
                    <a:p>
                      <a:pPr lvl="0" indent="0" marL="0" algn="l">
                        <a:buNone/>
                      </a:pPr>
                      <a:r>
                        <a:rPr/>
                        <a:t>Zero-tuning domain index</a:t>
                      </a:r>
                    </a:p>
                  </a:txBody>
                </a:tc>
                <a:tc>
                  <a:txBody>
                    <a:bodyPr/>
                    <a:lstStyle/>
                    <a:p>
                      <a:pPr lvl="0" indent="0" marL="0" algn="r">
                        <a:buNone/>
                      </a:pPr>
                      <a:r>
                        <a:rPr/>
                        <a:t>0.397</a:t>
                      </a:r>
                    </a:p>
                  </a:txBody>
                </a:tc>
                <a:tc>
                  <a:txBody>
                    <a:bodyPr/>
                    <a:lstStyle/>
                    <a:p>
                      <a:pPr lvl="0" indent="0" marL="0" algn="r">
                        <a:buNone/>
                      </a:pPr>
                      <a:r>
                        <a:rPr/>
                        <a:t>0.288</a:t>
                      </a:r>
                    </a:p>
                  </a:txBody>
                </a:tc>
              </a:tr>
              <a:tr h="0">
                <a:tc>
                  <a:txBody>
                    <a:bodyPr/>
                    <a:lstStyle/>
                    <a:p>
                      <a:pPr lvl="0" indent="0" marL="0" algn="l">
                        <a:buNone/>
                      </a:pPr>
                      <a:r>
                        <a:rPr/>
                        <a:t>Spatial smoother only</a:t>
                      </a:r>
                    </a:p>
                  </a:txBody>
                </a:tc>
                <a:tc>
                  <a:txBody>
                    <a:bodyPr/>
                    <a:lstStyle/>
                    <a:p>
                      <a:pPr lvl="0" indent="0" marL="0" algn="r">
                        <a:buNone/>
                      </a:pPr>
                      <a:r>
                        <a:rPr/>
                        <a:t>0.390</a:t>
                      </a:r>
                    </a:p>
                  </a:txBody>
                </a:tc>
                <a:tc>
                  <a:txBody>
                    <a:bodyPr/>
                    <a:lstStyle/>
                    <a:p>
                      <a:pPr lvl="0" indent="0" marL="0" algn="r">
                        <a:buNone/>
                      </a:pPr>
                      <a:r>
                        <a:rPr/>
                        <a:t>0.257</a:t>
                      </a:r>
                    </a:p>
                  </a:txBody>
                </a:tc>
              </a:tr>
              <a:tr h="0">
                <a:tc>
                  <a:txBody>
                    <a:bodyPr/>
                    <a:lstStyle/>
                    <a:p>
                      <a:pPr lvl="0" indent="0" marL="0" algn="l">
                        <a:buNone/>
                      </a:pPr>
                      <a:r>
                        <a:rPr/>
                        <a:t>Elastic net, domain PCs</a:t>
                      </a:r>
                    </a:p>
                  </a:txBody>
                </a:tc>
                <a:tc>
                  <a:txBody>
                    <a:bodyPr/>
                    <a:lstStyle/>
                    <a:p>
                      <a:pPr lvl="0" indent="0" marL="0" algn="r">
                        <a:buNone/>
                      </a:pPr>
                      <a:r>
                        <a:rPr/>
                        <a:t>0.328</a:t>
                      </a:r>
                    </a:p>
                  </a:txBody>
                </a:tc>
                <a:tc>
                  <a:txBody>
                    <a:bodyPr/>
                    <a:lstStyle/>
                    <a:p>
                      <a:pPr lvl="0" indent="0" marL="0" algn="r">
                        <a:buNone/>
                      </a:pPr>
                      <a:r>
                        <a:rPr/>
                        <a:t>0.153</a:t>
                      </a:r>
                    </a:p>
                  </a:txBody>
                </a:tc>
              </a:tr>
              <a:tr h="0">
                <a:tc>
                  <a:txBody>
                    <a:bodyPr/>
                    <a:lstStyle/>
                    <a:p>
                      <a:pPr lvl="0" indent="0" marL="0" algn="l">
                        <a:buNone/>
                      </a:pPr>
                      <a:r>
                        <a:rPr/>
                        <a:t>Elastic net, all 451 columns</a:t>
                      </a:r>
                    </a:p>
                  </a:txBody>
                </a:tc>
                <a:tc>
                  <a:txBody>
                    <a:bodyPr/>
                    <a:lstStyle/>
                    <a:p>
                      <a:pPr lvl="0" indent="0" marL="0" algn="r">
                        <a:buNone/>
                      </a:pPr>
                      <a:r>
                        <a:rPr/>
                        <a:t>0.327</a:t>
                      </a:r>
                    </a:p>
                  </a:txBody>
                </a:tc>
                <a:tc>
                  <a:txBody>
                    <a:bodyPr/>
                    <a:lstStyle/>
                    <a:p>
                      <a:pPr lvl="0" indent="0" marL="0" algn="r">
                        <a:buNone/>
                      </a:pPr>
                      <a:r>
                        <a:rPr/>
                        <a:t>0.147</a:t>
                      </a:r>
                    </a:p>
                  </a:txBody>
                </a:tc>
              </a:tr>
              <a:tr h="0">
                <a:tc>
                  <a:txBody>
                    <a:bodyPr/>
                    <a:lstStyle/>
                    <a:p>
                      <a:pPr lvl="0" indent="0" marL="0" algn="l">
                        <a:buNone/>
                      </a:pPr>
                      <a:r>
                        <a:rPr/>
                        <a:t>Survey: jackknifed regional mean</a:t>
                      </a:r>
                    </a:p>
                  </a:txBody>
                </a:tc>
                <a:tc>
                  <a:txBody>
                    <a:bodyPr/>
                    <a:lstStyle/>
                    <a:p>
                      <a:pPr lvl="0" indent="0" marL="0" algn="r">
                        <a:buNone/>
                      </a:pPr>
                      <a:r>
                        <a:rPr/>
                        <a:t>0.314</a:t>
                      </a:r>
                    </a:p>
                  </a:txBody>
                </a:tc>
                <a:tc>
                  <a:txBody>
                    <a:bodyPr/>
                    <a:lstStyle/>
                    <a:p>
                      <a:pPr lvl="0" indent="0" marL="0" algn="r">
                        <a:buNone/>
                      </a:pPr>
                      <a:r>
                        <a:rPr/>
                        <a:t>0.220</a:t>
                      </a:r>
                    </a:p>
                  </a:txBody>
                </a:tc>
              </a:tr>
              <a:tr h="0">
                <a:tc>
                  <a:txBody>
                    <a:bodyPr/>
                    <a:lstStyle/>
                    <a:p>
                      <a:pPr lvl="0" indent="0" marL="0" algn="l">
                        <a:buNone/>
                      </a:pPr>
                      <a:r>
                        <a:rPr/>
                        <a:t>Null: training mean</a:t>
                      </a:r>
                    </a:p>
                  </a:txBody>
                </a:tc>
                <a:tc>
                  <a:txBody>
                    <a:bodyPr/>
                    <a:lstStyle/>
                    <a:p>
                      <a:pPr lvl="0" indent="0" marL="0" algn="r">
                        <a:buNone/>
                      </a:pPr>
                      <a:r>
                        <a:rPr/>
                        <a:t>-0.228</a:t>
                      </a:r>
                    </a:p>
                  </a:txBody>
                </a:tc>
                <a:tc>
                  <a:txBody>
                    <a:bodyPr/>
                    <a:lstStyle/>
                    <a:p>
                      <a:pPr lvl="0" indent="0" marL="0" algn="r">
                        <a:buNone/>
                      </a:pPr>
                      <a:r>
                        <a:rPr/>
                        <a:t>-0.218</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 Extrapolation to an unsurveyed region</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3505200"/>
                <a:gridCol w="3505200"/>
                <a:gridCol w="3505200"/>
              </a:tblGrid>
              <a:tr h="0">
                <a:tc>
                  <a:txBody>
                    <a:bodyPr/>
                    <a:lstStyle/>
                    <a:p>
                      <a:pPr lvl="0" indent="0" marL="0" algn="l">
                        <a:buNone/>
                      </a:pPr>
                      <a:r>
                        <a:rPr/>
                        <a:t>Model</a:t>
                      </a:r>
                    </a:p>
                  </a:txBody>
                  <a:tcPr/>
                </a:tc>
                <a:tc>
                  <a:txBody>
                    <a:bodyPr/>
                    <a:lstStyle/>
                    <a:p>
                      <a:pPr lvl="0" indent="0" marL="0" algn="r">
                        <a:buNone/>
                      </a:pPr>
                      <a:r>
                        <a:rPr/>
                        <a:t>Biomarker level</a:t>
                      </a:r>
                    </a:p>
                  </a:txBody>
                  <a:tcPr/>
                </a:tc>
                <a:tc>
                  <a:txBody>
                    <a:bodyPr/>
                    <a:lstStyle/>
                    <a:p>
                      <a:pPr lvl="0" indent="0" marL="0" algn="r">
                        <a:buNone/>
                      </a:pPr>
                      <a:r>
                        <a:rPr/>
                        <a:t>Prevalence</a:t>
                      </a:r>
                    </a:p>
                  </a:txBody>
                  <a:tcPr/>
                </a:tc>
              </a:tr>
              <a:tr h="0">
                <a:tc>
                  <a:txBody>
                    <a:bodyPr/>
                    <a:lstStyle/>
                    <a:p>
                      <a:pPr lvl="0" indent="0" marL="0" algn="l">
                        <a:buNone/>
                      </a:pPr>
                      <a:r>
                        <a:rPr/>
                        <a:t>Spatial smoother + covariates</a:t>
                      </a:r>
                    </a:p>
                  </a:txBody>
                </a:tc>
                <a:tc>
                  <a:txBody>
                    <a:bodyPr/>
                    <a:lstStyle/>
                    <a:p>
                      <a:pPr lvl="0" indent="0" marL="0" algn="r">
                        <a:buNone/>
                      </a:pPr>
                      <a:r>
                        <a:rPr/>
                        <a:t>0.396</a:t>
                      </a:r>
                    </a:p>
                  </a:txBody>
                </a:tc>
                <a:tc>
                  <a:txBody>
                    <a:bodyPr/>
                    <a:lstStyle/>
                    <a:p>
                      <a:pPr lvl="0" indent="0" marL="0" algn="r">
                        <a:buNone/>
                      </a:pPr>
                      <a:r>
                        <a:rPr/>
                        <a:t>0.233</a:t>
                      </a:r>
                    </a:p>
                  </a:txBody>
                </a:tc>
              </a:tr>
              <a:tr h="0">
                <a:tc>
                  <a:txBody>
                    <a:bodyPr/>
                    <a:lstStyle/>
                    <a:p>
                      <a:pPr lvl="0" indent="0" marL="0" algn="l">
                        <a:buNone/>
                      </a:pPr>
                      <a:r>
                        <a:rPr/>
                        <a:t>Zero-tuning domain index</a:t>
                      </a:r>
                    </a:p>
                  </a:txBody>
                </a:tc>
                <a:tc>
                  <a:txBody>
                    <a:bodyPr/>
                    <a:lstStyle/>
                    <a:p>
                      <a:pPr lvl="0" indent="0" marL="0" algn="r">
                        <a:buNone/>
                      </a:pPr>
                      <a:r>
                        <a:rPr/>
                        <a:t>0.379</a:t>
                      </a:r>
                    </a:p>
                  </a:txBody>
                </a:tc>
                <a:tc>
                  <a:txBody>
                    <a:bodyPr/>
                    <a:lstStyle/>
                    <a:p>
                      <a:pPr lvl="0" indent="0" marL="0" algn="r">
                        <a:buNone/>
                      </a:pPr>
                      <a:r>
                        <a:rPr/>
                        <a:t>0.269</a:t>
                      </a:r>
                    </a:p>
                  </a:txBody>
                </a:tc>
              </a:tr>
              <a:tr h="0">
                <a:tc>
                  <a:txBody>
                    <a:bodyPr/>
                    <a:lstStyle/>
                    <a:p>
                      <a:pPr lvl="0" indent="0" marL="0" algn="l">
                        <a:buNone/>
                      </a:pPr>
                      <a:r>
                        <a:rPr/>
                        <a:t>Spatial smoother only</a:t>
                      </a:r>
                    </a:p>
                  </a:txBody>
                </a:tc>
                <a:tc>
                  <a:txBody>
                    <a:bodyPr/>
                    <a:lstStyle/>
                    <a:p>
                      <a:pPr lvl="0" indent="0" marL="0" algn="r">
                        <a:buNone/>
                      </a:pPr>
                      <a:r>
                        <a:rPr/>
                        <a:t>0.377</a:t>
                      </a:r>
                    </a:p>
                  </a:txBody>
                </a:tc>
                <a:tc>
                  <a:txBody>
                    <a:bodyPr/>
                    <a:lstStyle/>
                    <a:p>
                      <a:pPr lvl="0" indent="0" marL="0" algn="r">
                        <a:buNone/>
                      </a:pPr>
                      <a:r>
                        <a:rPr/>
                        <a:t>0.229</a:t>
                      </a:r>
                    </a:p>
                  </a:txBody>
                </a:tc>
              </a:tr>
              <a:tr h="0">
                <a:tc>
                  <a:txBody>
                    <a:bodyPr/>
                    <a:lstStyle/>
                    <a:p>
                      <a:pPr lvl="0" indent="0" marL="0" algn="l">
                        <a:buNone/>
                      </a:pPr>
                      <a:r>
                        <a:rPr/>
                        <a:t>Elastic net, domain PCs</a:t>
                      </a:r>
                    </a:p>
                  </a:txBody>
                </a:tc>
                <a:tc>
                  <a:txBody>
                    <a:bodyPr/>
                    <a:lstStyle/>
                    <a:p>
                      <a:pPr lvl="0" indent="0" marL="0" algn="r">
                        <a:buNone/>
                      </a:pPr>
                      <a:r>
                        <a:rPr/>
                        <a:t>0.272</a:t>
                      </a:r>
                    </a:p>
                  </a:txBody>
                </a:tc>
                <a:tc>
                  <a:txBody>
                    <a:bodyPr/>
                    <a:lstStyle/>
                    <a:p>
                      <a:pPr lvl="0" indent="0" marL="0" algn="r">
                        <a:buNone/>
                      </a:pPr>
                      <a:r>
                        <a:rPr/>
                        <a:t>0.062</a:t>
                      </a:r>
                    </a:p>
                  </a:txBody>
                </a:tc>
              </a:tr>
              <a:tr h="0">
                <a:tc>
                  <a:txBody>
                    <a:bodyPr/>
                    <a:lstStyle/>
                    <a:p>
                      <a:pPr lvl="0" indent="0" marL="0" algn="l">
                        <a:buNone/>
                      </a:pPr>
                      <a:r>
                        <a:rPr/>
                        <a:t>Elastic net, all 451 columns</a:t>
                      </a:r>
                    </a:p>
                  </a:txBody>
                </a:tc>
                <a:tc>
                  <a:txBody>
                    <a:bodyPr/>
                    <a:lstStyle/>
                    <a:p>
                      <a:pPr lvl="0" indent="0" marL="0" algn="r">
                        <a:buNone/>
                      </a:pPr>
                      <a:r>
                        <a:rPr/>
                        <a:t>0.248</a:t>
                      </a:r>
                    </a:p>
                  </a:txBody>
                </a:tc>
                <a:tc>
                  <a:txBody>
                    <a:bodyPr/>
                    <a:lstStyle/>
                    <a:p>
                      <a:pPr lvl="0" indent="0" marL="0" algn="r">
                        <a:buNone/>
                      </a:pPr>
                      <a:r>
                        <a:rPr/>
                        <a:t>-0.047</a:t>
                      </a:r>
                    </a:p>
                  </a:txBody>
                </a:tc>
              </a:tr>
              <a:tr h="0">
                <a:tc>
                  <a:txBody>
                    <a:bodyPr/>
                    <a:lstStyle/>
                    <a:p>
                      <a:pPr lvl="0" indent="0" marL="0" algn="l">
                        <a:buNone/>
                      </a:pPr>
                      <a:r>
                        <a:rPr/>
                        <a:t>Null: training mean</a:t>
                      </a:r>
                    </a:p>
                  </a:txBody>
                </a:tc>
                <a:tc>
                  <a:txBody>
                    <a:bodyPr/>
                    <a:lstStyle/>
                    <a:p>
                      <a:pPr lvl="0" indent="0" marL="0" algn="r">
                        <a:buNone/>
                      </a:pPr>
                      <a:r>
                        <a:rPr/>
                        <a:t>-0.604</a:t>
                      </a:r>
                    </a:p>
                  </a:txBody>
                </a:tc>
                <a:tc>
                  <a:txBody>
                    <a:bodyPr/>
                    <a:lstStyle/>
                    <a:p>
                      <a:pPr lvl="0" indent="0" marL="0" algn="r">
                        <a:buNone/>
                      </a:pPr>
                      <a:r>
                        <a:rPr/>
                        <a:t>-0.535</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 Transport: rankings cross borders, levels do not</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765300"/>
                <a:gridCol w="1676400"/>
                <a:gridCol w="1676400"/>
                <a:gridCol w="2044700"/>
                <a:gridCol w="2044700"/>
                <a:gridCol w="1308100"/>
              </a:tblGrid>
              <a:tr h="0">
                <a:tc>
                  <a:txBody>
                    <a:bodyPr/>
                    <a:lstStyle/>
                    <a:p>
                      <a:pPr lvl="0" indent="0" marL="0" algn="l">
                        <a:buNone/>
                      </a:pPr>
                      <a:r>
                        <a:rPr/>
                        <a:t>Tier</a:t>
                      </a:r>
                    </a:p>
                  </a:txBody>
                  <a:tcPr/>
                </a:tc>
                <a:tc>
                  <a:txBody>
                    <a:bodyPr/>
                    <a:lstStyle/>
                    <a:p>
                      <a:pPr lvl="0" indent="0" marL="0" algn="r">
                        <a:buNone/>
                      </a:pPr>
                      <a:r>
                        <a:rPr/>
                        <a:t>Full index, level</a:t>
                      </a:r>
                    </a:p>
                  </a:txBody>
                  <a:tcPr/>
                </a:tc>
                <a:tc>
                  <a:txBody>
                    <a:bodyPr/>
                    <a:lstStyle/>
                    <a:p>
                      <a:pPr lvl="0" indent="0" marL="0" algn="r">
                        <a:buNone/>
                      </a:pPr>
                      <a:r>
                        <a:rPr/>
                        <a:t>Full index, prev.</a:t>
                      </a:r>
                    </a:p>
                  </a:txBody>
                  <a:tcPr/>
                </a:tc>
                <a:tc>
                  <a:txBody>
                    <a:bodyPr/>
                    <a:lstStyle/>
                    <a:p>
                      <a:pPr lvl="0" indent="0" marL="0" algn="r">
                        <a:buNone/>
                      </a:pPr>
                      <a:r>
                        <a:rPr/>
                        <a:t>Climate + soil, level</a:t>
                      </a:r>
                    </a:p>
                  </a:txBody>
                  <a:tcPr/>
                </a:tc>
                <a:tc>
                  <a:txBody>
                    <a:bodyPr/>
                    <a:lstStyle/>
                    <a:p>
                      <a:pPr lvl="0" indent="0" marL="0" algn="r">
                        <a:buNone/>
                      </a:pPr>
                      <a:r>
                        <a:rPr/>
                        <a:t>Climate + soil, prev.</a:t>
                      </a:r>
                    </a:p>
                  </a:txBody>
                  <a:tcPr/>
                </a:tc>
                <a:tc>
                  <a:txBody>
                    <a:bodyPr/>
                    <a:lstStyle/>
                    <a:p>
                      <a:pPr lvl="0" indent="0" marL="0" algn="r">
                        <a:buNone/>
                      </a:pPr>
                      <a:r>
                        <a:rPr/>
                        <a:t>Null 95th pct</a:t>
                      </a:r>
                    </a:p>
                  </a:txBody>
                  <a:tcPr/>
                </a:tc>
              </a:tr>
              <a:tr h="0">
                <a:tc>
                  <a:txBody>
                    <a:bodyPr/>
                    <a:lstStyle/>
                    <a:p>
                      <a:pPr lvl="0" indent="0" marL="0" algn="l">
                        <a:buNone/>
                      </a:pPr>
                      <a:r>
                        <a:rPr/>
                        <a:t>District (Admin-2)</a:t>
                      </a:r>
                    </a:p>
                  </a:txBody>
                </a:tc>
                <a:tc>
                  <a:txBody>
                    <a:bodyPr/>
                    <a:lstStyle/>
                    <a:p>
                      <a:pPr lvl="0" indent="0" marL="0" algn="r">
                        <a:buNone/>
                      </a:pPr>
                      <a:r>
                        <a:rPr/>
                        <a:t>0.28</a:t>
                      </a:r>
                    </a:p>
                  </a:txBody>
                </a:tc>
                <a:tc>
                  <a:txBody>
                    <a:bodyPr/>
                    <a:lstStyle/>
                    <a:p>
                      <a:pPr lvl="0" indent="0" marL="0" algn="r">
                        <a:buNone/>
                      </a:pPr>
                      <a:r>
                        <a:rPr/>
                        <a:t>0.21</a:t>
                      </a:r>
                    </a:p>
                  </a:txBody>
                </a:tc>
                <a:tc>
                  <a:txBody>
                    <a:bodyPr/>
                    <a:lstStyle/>
                    <a:p>
                      <a:pPr lvl="0" indent="0" marL="0" algn="r">
                        <a:buNone/>
                      </a:pPr>
                      <a:r>
                        <a:rPr/>
                        <a:t>0.37</a:t>
                      </a:r>
                    </a:p>
                  </a:txBody>
                </a:tc>
                <a:tc>
                  <a:txBody>
                    <a:bodyPr/>
                    <a:lstStyle/>
                    <a:p>
                      <a:pPr lvl="0" indent="0" marL="0" algn="r">
                        <a:buNone/>
                      </a:pPr>
                      <a:r>
                        <a:rPr/>
                        <a:t>0.24</a:t>
                      </a:r>
                    </a:p>
                  </a:txBody>
                </a:tc>
                <a:tc>
                  <a:txBody>
                    <a:bodyPr/>
                    <a:lstStyle/>
                    <a:p>
                      <a:pPr lvl="0" indent="0" marL="0" algn="r">
                        <a:buNone/>
                      </a:pPr>
                      <a:r>
                        <a:rPr/>
                        <a:t>0.08</a:t>
                      </a:r>
                    </a:p>
                  </a:txBody>
                </a:tc>
              </a:tr>
              <a:tr h="0">
                <a:tc>
                  <a:txBody>
                    <a:bodyPr/>
                    <a:lstStyle/>
                    <a:p>
                      <a:pPr lvl="0" indent="0" marL="0" algn="l">
                        <a:buNone/>
                      </a:pPr>
                      <a:r>
                        <a:rPr/>
                        <a:t>Regional (Admin-1)</a:t>
                      </a:r>
                    </a:p>
                  </a:txBody>
                </a:tc>
                <a:tc>
                  <a:txBody>
                    <a:bodyPr/>
                    <a:lstStyle/>
                    <a:p>
                      <a:pPr lvl="0" indent="0" marL="0" algn="r">
                        <a:buNone/>
                      </a:pPr>
                      <a:r>
                        <a:rPr/>
                        <a:t>0.30</a:t>
                      </a:r>
                    </a:p>
                  </a:txBody>
                </a:tc>
                <a:tc>
                  <a:txBody>
                    <a:bodyPr/>
                    <a:lstStyle/>
                    <a:p>
                      <a:pPr lvl="0" indent="0" marL="0" algn="r">
                        <a:buNone/>
                      </a:pPr>
                      <a:r>
                        <a:rPr/>
                        <a:t>0.25</a:t>
                      </a:r>
                    </a:p>
                  </a:txBody>
                </a:tc>
                <a:tc>
                  <a:txBody>
                    <a:bodyPr/>
                    <a:lstStyle/>
                    <a:p>
                      <a:pPr lvl="0" indent="0" marL="0" algn="r">
                        <a:buNone/>
                      </a:pPr>
                      <a:r>
                        <a:rPr/>
                        <a:t>0.45</a:t>
                      </a:r>
                    </a:p>
                  </a:txBody>
                </a:tc>
                <a:tc>
                  <a:txBody>
                    <a:bodyPr/>
                    <a:lstStyle/>
                    <a:p>
                      <a:pPr lvl="0" indent="0" marL="0" algn="r">
                        <a:buNone/>
                      </a:pPr>
                      <a:r>
                        <a:rPr/>
                        <a:t>0.27</a:t>
                      </a:r>
                    </a:p>
                  </a:txBody>
                </a:tc>
                <a:tc>
                  <a:txBody>
                    <a:bodyPr/>
                    <a:lstStyle/>
                    <a:p>
                      <a:pPr lvl="0" indent="0" marL="0" algn="r">
                        <a:buNone/>
                      </a:pPr>
                      <a:r>
                        <a:rPr/>
                        <a:t>0.16</a:t>
                      </a:r>
                    </a:p>
                  </a:txBody>
                </a:tc>
              </a:tr>
            </a:tbl>
          </a:graphicData>
        </a:graphic>
      </p:graphicFrame>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Ghana: survey versus held-out prediction</a:t>
            </a:r>
          </a:p>
        </p:txBody>
      </p:sp>
      <p:pic>
        <p:nvPicPr>
          <p:cNvPr descr="MN-proxy-Ghana-presentation-2026-09_files/figure-pptx/ghana-maps-1.png" id="0" name="Picture 1"/>
          <p:cNvPicPr>
            <a:picLocks noGrp="1" noChangeAspect="1"/>
          </p:cNvPicPr>
          <p:nvPr/>
        </p:nvPicPr>
        <p:blipFill>
          <a:blip r:embed="rId3"/>
          <a:stretch>
            <a:fillRect/>
          </a:stretch>
        </p:blipFill>
        <p:spPr bwMode="auto">
          <a:xfrm>
            <a:off x="1828800" y="1816100"/>
            <a:ext cx="8534400" cy="43434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Targeting: what the ranking is worth</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3581400"/>
                <a:gridCol w="3149600"/>
                <a:gridCol w="1625600"/>
                <a:gridCol w="2171700"/>
              </a:tblGrid>
              <a:tr h="0">
                <a:tc>
                  <a:txBody>
                    <a:bodyPr/>
                    <a:lstStyle/>
                    <a:p>
                      <a:pPr lvl="0" indent="0" marL="0" algn="l">
                        <a:buNone/>
                      </a:pPr>
                      <a:r>
                        <a:rPr/>
                        <a:t>Model</a:t>
                      </a:r>
                    </a:p>
                  </a:txBody>
                  <a:tcPr/>
                </a:tc>
                <a:tc>
                  <a:txBody>
                    <a:bodyPr/>
                    <a:lstStyle/>
                    <a:p>
                      <a:pPr lvl="0" indent="0" marL="0" algn="r">
                        <a:buNone/>
                      </a:pPr>
                      <a:r>
                        <a:rPr/>
                        <a:t>Burden in worst-ranked fifth</a:t>
                      </a:r>
                    </a:p>
                  </a:txBody>
                  <a:tcPr/>
                </a:tc>
                <a:tc>
                  <a:txBody>
                    <a:bodyPr/>
                    <a:lstStyle/>
                    <a:p>
                      <a:pPr lvl="0" indent="0" marL="0" algn="r">
                        <a:buNone/>
                      </a:pPr>
                      <a:r>
                        <a:rPr/>
                        <a:t>Lift vs random</a:t>
                      </a:r>
                    </a:p>
                  </a:txBody>
                  <a:tcPr/>
                </a:tc>
                <a:tc>
                  <a:txBody>
                    <a:bodyPr/>
                    <a:lstStyle/>
                    <a:p>
                      <a:pPr lvl="0" indent="0" marL="0" algn="r">
                        <a:buNone/>
                      </a:pPr>
                      <a:r>
                        <a:rPr/>
                        <a:t>Cells with lift &gt; 1</a:t>
                      </a:r>
                    </a:p>
                  </a:txBody>
                  <a:tcPr/>
                </a:tc>
              </a:tr>
              <a:tr h="0">
                <a:tc>
                  <a:txBody>
                    <a:bodyPr/>
                    <a:lstStyle/>
                    <a:p>
                      <a:pPr lvl="0" indent="0" marL="0" algn="l">
                        <a:buNone/>
                      </a:pPr>
                      <a:r>
                        <a:rPr/>
                        <a:t>Oracle: true worst fifth</a:t>
                      </a:r>
                    </a:p>
                  </a:txBody>
                </a:tc>
                <a:tc>
                  <a:txBody>
                    <a:bodyPr/>
                    <a:lstStyle/>
                    <a:p>
                      <a:pPr lvl="0" indent="0" marL="0" algn="r">
                        <a:buNone/>
                      </a:pPr>
                      <a:r>
                        <a:rPr/>
                        <a:t>0.47</a:t>
                      </a:r>
                    </a:p>
                  </a:txBody>
                </a:tc>
                <a:tc>
                  <a:txBody>
                    <a:bodyPr/>
                    <a:lstStyle/>
                    <a:p>
                      <a:pPr lvl="0" indent="0" marL="0" algn="r">
                        <a:buNone/>
                      </a:pPr>
                      <a:r>
                        <a:rPr/>
                        <a:t>2.37</a:t>
                      </a:r>
                    </a:p>
                  </a:txBody>
                </a:tc>
                <a:tc>
                  <a:txBody>
                    <a:bodyPr/>
                    <a:lstStyle/>
                    <a:p>
                      <a:pPr lvl="0" indent="0" marL="0" algn="r">
                        <a:buNone/>
                      </a:pPr>
                      <a:r>
                        <a:rPr/>
                        <a:t>21</a:t>
                      </a:r>
                    </a:p>
                  </a:txBody>
                </a:tc>
              </a:tr>
              <a:tr h="0">
                <a:tc>
                  <a:txBody>
                    <a:bodyPr/>
                    <a:lstStyle/>
                    <a:p>
                      <a:pPr lvl="0" indent="0" marL="0" algn="l">
                        <a:buNone/>
                      </a:pPr>
                      <a:r>
                        <a:rPr/>
                        <a:t>Zero-tuning domain index</a:t>
                      </a:r>
                    </a:p>
                  </a:txBody>
                </a:tc>
                <a:tc>
                  <a:txBody>
                    <a:bodyPr/>
                    <a:lstStyle/>
                    <a:p>
                      <a:pPr lvl="0" indent="0" marL="0" algn="r">
                        <a:buNone/>
                      </a:pPr>
                      <a:r>
                        <a:rPr/>
                        <a:t>0.22</a:t>
                      </a:r>
                    </a:p>
                  </a:txBody>
                </a:tc>
                <a:tc>
                  <a:txBody>
                    <a:bodyPr/>
                    <a:lstStyle/>
                    <a:p>
                      <a:pPr lvl="0" indent="0" marL="0" algn="r">
                        <a:buNone/>
                      </a:pPr>
                      <a:r>
                        <a:rPr/>
                        <a:t>1.12</a:t>
                      </a:r>
                    </a:p>
                  </a:txBody>
                </a:tc>
                <a:tc>
                  <a:txBody>
                    <a:bodyPr/>
                    <a:lstStyle/>
                    <a:p>
                      <a:pPr lvl="0" indent="0" marL="0" algn="r">
                        <a:buNone/>
                      </a:pPr>
                      <a:r>
                        <a:rPr/>
                        <a:t>12</a:t>
                      </a:r>
                    </a:p>
                  </a:txBody>
                </a:tc>
              </a:tr>
              <a:tr h="0">
                <a:tc>
                  <a:txBody>
                    <a:bodyPr/>
                    <a:lstStyle/>
                    <a:p>
                      <a:pPr lvl="0" indent="0" marL="0" algn="l">
                        <a:buNone/>
                      </a:pPr>
                      <a:r>
                        <a:rPr/>
                        <a:t>Survey: jackknifed regional mean</a:t>
                      </a:r>
                    </a:p>
                  </a:txBody>
                </a:tc>
                <a:tc>
                  <a:txBody>
                    <a:bodyPr/>
                    <a:lstStyle/>
                    <a:p>
                      <a:pPr lvl="0" indent="0" marL="0" algn="r">
                        <a:buNone/>
                      </a:pPr>
                      <a:r>
                        <a:rPr/>
                        <a:t>0.20</a:t>
                      </a:r>
                    </a:p>
                  </a:txBody>
                </a:tc>
                <a:tc>
                  <a:txBody>
                    <a:bodyPr/>
                    <a:lstStyle/>
                    <a:p>
                      <a:pPr lvl="0" indent="0" marL="0" algn="r">
                        <a:buNone/>
                      </a:pPr>
                      <a:r>
                        <a:rPr/>
                        <a:t>1.02</a:t>
                      </a:r>
                    </a:p>
                  </a:txBody>
                </a:tc>
                <a:tc>
                  <a:txBody>
                    <a:bodyPr/>
                    <a:lstStyle/>
                    <a:p>
                      <a:pPr lvl="0" indent="0" marL="0" algn="r">
                        <a:buNone/>
                      </a:pPr>
                      <a:r>
                        <a:rPr/>
                        <a:t>8</a:t>
                      </a:r>
                    </a:p>
                  </a:txBody>
                </a:tc>
              </a:tr>
              <a:tr h="0">
                <a:tc>
                  <a:txBody>
                    <a:bodyPr/>
                    <a:lstStyle/>
                    <a:p>
                      <a:pPr lvl="0" indent="0" marL="0" algn="l">
                        <a:buNone/>
                      </a:pPr>
                      <a:r>
                        <a:rPr/>
                        <a:t>Spatial smoother only</a:t>
                      </a:r>
                    </a:p>
                  </a:txBody>
                </a:tc>
                <a:tc>
                  <a:txBody>
                    <a:bodyPr/>
                    <a:lstStyle/>
                    <a:p>
                      <a:pPr lvl="0" indent="0" marL="0" algn="r">
                        <a:buNone/>
                      </a:pPr>
                      <a:r>
                        <a:rPr/>
                        <a:t>0.20</a:t>
                      </a:r>
                    </a:p>
                  </a:txBody>
                </a:tc>
                <a:tc>
                  <a:txBody>
                    <a:bodyPr/>
                    <a:lstStyle/>
                    <a:p>
                      <a:pPr lvl="0" indent="0" marL="0" algn="r">
                        <a:buNone/>
                      </a:pPr>
                      <a:r>
                        <a:rPr/>
                        <a:t>0.99</a:t>
                      </a:r>
                    </a:p>
                  </a:txBody>
                </a:tc>
                <a:tc>
                  <a:txBody>
                    <a:bodyPr/>
                    <a:lstStyle/>
                    <a:p>
                      <a:pPr lvl="0" indent="0" marL="0" algn="r">
                        <a:buNone/>
                      </a:pPr>
                      <a:r>
                        <a:rPr/>
                        <a:t>7</a:t>
                      </a:r>
                    </a:p>
                  </a:txBody>
                </a:tc>
              </a:tr>
              <a:tr h="0">
                <a:tc>
                  <a:txBody>
                    <a:bodyPr/>
                    <a:lstStyle/>
                    <a:p>
                      <a:pPr lvl="0" indent="0" marL="0" algn="l">
                        <a:buNone/>
                      </a:pPr>
                      <a:r>
                        <a:rPr/>
                        <a:t>Spatial smoother + covariates</a:t>
                      </a:r>
                    </a:p>
                  </a:txBody>
                </a:tc>
                <a:tc>
                  <a:txBody>
                    <a:bodyPr/>
                    <a:lstStyle/>
                    <a:p>
                      <a:pPr lvl="0" indent="0" marL="0" algn="r">
                        <a:buNone/>
                      </a:pPr>
                      <a:r>
                        <a:rPr/>
                        <a:t>0.20</a:t>
                      </a:r>
                    </a:p>
                  </a:txBody>
                </a:tc>
                <a:tc>
                  <a:txBody>
                    <a:bodyPr/>
                    <a:lstStyle/>
                    <a:p>
                      <a:pPr lvl="0" indent="0" marL="0" algn="r">
                        <a:buNone/>
                      </a:pPr>
                      <a:r>
                        <a:rPr/>
                        <a:t>0.98</a:t>
                      </a:r>
                    </a:p>
                  </a:txBody>
                </a:tc>
                <a:tc>
                  <a:txBody>
                    <a:bodyPr/>
                    <a:lstStyle/>
                    <a:p>
                      <a:pPr lvl="0" indent="0" marL="0" algn="r">
                        <a:buNone/>
                      </a:pPr>
                      <a:r>
                        <a:rPr/>
                        <a:t>6</a:t>
                      </a:r>
                    </a:p>
                  </a:txBody>
                </a:tc>
              </a:tr>
              <a:tr h="0">
                <a:tc>
                  <a:txBody>
                    <a:bodyPr/>
                    <a:lstStyle/>
                    <a:p>
                      <a:pPr lvl="0" indent="0" marL="0" algn="l">
                        <a:buNone/>
                      </a:pPr>
                      <a:r>
                        <a:rPr/>
                        <a:t>Null: training mean</a:t>
                      </a:r>
                    </a:p>
                  </a:txBody>
                </a:tc>
                <a:tc>
                  <a:txBody>
                    <a:bodyPr/>
                    <a:lstStyle/>
                    <a:p>
                      <a:pPr lvl="0" indent="0" marL="0" algn="r">
                        <a:buNone/>
                      </a:pPr>
                      <a:r>
                        <a:rPr/>
                        <a:t>0.14</a:t>
                      </a:r>
                    </a:p>
                  </a:txBody>
                </a:tc>
                <a:tc>
                  <a:txBody>
                    <a:bodyPr/>
                    <a:lstStyle/>
                    <a:p>
                      <a:pPr lvl="0" indent="0" marL="0" algn="r">
                        <a:buNone/>
                      </a:pPr>
                      <a:r>
                        <a:rPr/>
                        <a:t>0.68</a:t>
                      </a:r>
                    </a:p>
                  </a:txBody>
                </a:tc>
                <a:tc>
                  <a:txBody>
                    <a:bodyPr/>
                    <a:lstStyle/>
                    <a:p>
                      <a:pPr lvl="0" indent="0" marL="0" algn="r">
                        <a:buNone/>
                      </a:pPr>
                      <a:r>
                        <a:rPr/>
                        <a:t>1</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travels: two remotely sensed domains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3505200"/>
                <a:gridCol w="3505200"/>
                <a:gridCol w="3505200"/>
              </a:tblGrid>
              <a:tr h="0">
                <a:tc>
                  <a:txBody>
                    <a:bodyPr/>
                    <a:lstStyle/>
                    <a:p>
                      <a:pPr lvl="0" indent="0" marL="0" algn="l">
                        <a:buNone/>
                      </a:pPr>
                      <a:r>
                        <a:rPr/>
                        <a:t>Domain</a:t>
                      </a:r>
                    </a:p>
                  </a:txBody>
                  <a:tcPr/>
                </a:tc>
                <a:tc>
                  <a:txBody>
                    <a:bodyPr/>
                    <a:lstStyle/>
                    <a:p>
                      <a:pPr lvl="0" indent="0" marL="0" algn="r">
                        <a:buNone/>
                      </a:pPr>
                      <a:r>
                        <a:rPr/>
                        <a:t>Loss when dropped</a:t>
                      </a:r>
                    </a:p>
                  </a:txBody>
                  <a:tcPr/>
                </a:tc>
                <a:tc>
                  <a:txBody>
                    <a:bodyPr/>
                    <a:lstStyle/>
                    <a:p>
                      <a:pPr lvl="0" indent="0" marL="0" algn="r">
                        <a:buNone/>
                      </a:pPr>
                      <a:r>
                        <a:rPr/>
                        <a:t>Domain alone</a:t>
                      </a:r>
                    </a:p>
                  </a:txBody>
                  <a:tcPr/>
                </a:tc>
              </a:tr>
              <a:tr h="0">
                <a:tc>
                  <a:txBody>
                    <a:bodyPr/>
                    <a:lstStyle/>
                    <a:p>
                      <a:pPr lvl="0" indent="0" marL="0" algn="l">
                        <a:buNone/>
                      </a:pPr>
                      <a:r>
                        <a:rPr/>
                        <a:t>Soil characteristics</a:t>
                      </a:r>
                    </a:p>
                  </a:txBody>
                </a:tc>
                <a:tc>
                  <a:txBody>
                    <a:bodyPr/>
                    <a:lstStyle/>
                    <a:p>
                      <a:pPr lvl="0" indent="0" marL="0" algn="r">
                        <a:buNone/>
                      </a:pPr>
                      <a:r>
                        <a:rPr/>
                        <a:t>0.024</a:t>
                      </a:r>
                    </a:p>
                  </a:txBody>
                </a:tc>
                <a:tc>
                  <a:txBody>
                    <a:bodyPr/>
                    <a:lstStyle/>
                    <a:p>
                      <a:pPr lvl="0" indent="0" marL="0" algn="r">
                        <a:buNone/>
                      </a:pPr>
                      <a:r>
                        <a:rPr/>
                        <a:t>0.327</a:t>
                      </a:r>
                    </a:p>
                  </a:txBody>
                </a:tc>
              </a:tr>
              <a:tr h="0">
                <a:tc>
                  <a:txBody>
                    <a:bodyPr/>
                    <a:lstStyle/>
                    <a:p>
                      <a:pPr lvl="0" indent="0" marL="0" algn="l">
                        <a:buNone/>
                      </a:pPr>
                      <a:r>
                        <a:rPr/>
                        <a:t>Climate and weather</a:t>
                      </a:r>
                    </a:p>
                  </a:txBody>
                </a:tc>
                <a:tc>
                  <a:txBody>
                    <a:bodyPr/>
                    <a:lstStyle/>
                    <a:p>
                      <a:pPr lvl="0" indent="0" marL="0" algn="r">
                        <a:buNone/>
                      </a:pPr>
                      <a:r>
                        <a:rPr/>
                        <a:t>0.015</a:t>
                      </a:r>
                    </a:p>
                  </a:txBody>
                </a:tc>
                <a:tc>
                  <a:txBody>
                    <a:bodyPr/>
                    <a:lstStyle/>
                    <a:p>
                      <a:pPr lvl="0" indent="0" marL="0" algn="r">
                        <a:buNone/>
                      </a:pPr>
                      <a:r>
                        <a:rPr/>
                        <a:t>0.353</a:t>
                      </a:r>
                    </a:p>
                  </a:txBody>
                </a:tc>
              </a:tr>
              <a:tr h="0">
                <a:tc>
                  <a:txBody>
                    <a:bodyPr/>
                    <a:lstStyle/>
                    <a:p>
                      <a:pPr lvl="0" indent="0" marL="0" algn="l">
                        <a:buNone/>
                      </a:pPr>
                      <a:r>
                        <a:rPr/>
                        <a:t>Agricultural production, land use</a:t>
                      </a:r>
                    </a:p>
                  </a:txBody>
                </a:tc>
                <a:tc>
                  <a:txBody>
                    <a:bodyPr/>
                    <a:lstStyle/>
                    <a:p>
                      <a:pPr lvl="0" indent="0" marL="0" algn="r">
                        <a:buNone/>
                      </a:pPr>
                      <a:r>
                        <a:rPr/>
                        <a:t>0.011</a:t>
                      </a:r>
                    </a:p>
                  </a:txBody>
                </a:tc>
                <a:tc>
                  <a:txBody>
                    <a:bodyPr/>
                    <a:lstStyle/>
                    <a:p>
                      <a:pPr lvl="0" indent="0" marL="0" algn="r">
                        <a:buNone/>
                      </a:pPr>
                      <a:r>
                        <a:rPr/>
                        <a:t>0.290</a:t>
                      </a:r>
                    </a:p>
                  </a:txBody>
                </a:tc>
              </a:tr>
              <a:tr h="0">
                <a:tc>
                  <a:txBody>
                    <a:bodyPr/>
                    <a:lstStyle/>
                    <a:p>
                      <a:pPr lvl="0" indent="0" marL="0" algn="l">
                        <a:buNone/>
                      </a:pPr>
                      <a:r>
                        <a:rPr/>
                        <a:t>Malaria incidence and treatment</a:t>
                      </a:r>
                    </a:p>
                  </a:txBody>
                </a:tc>
                <a:tc>
                  <a:txBody>
                    <a:bodyPr/>
                    <a:lstStyle/>
                    <a:p>
                      <a:pPr lvl="0" indent="0" marL="0" algn="r">
                        <a:buNone/>
                      </a:pPr>
                      <a:r>
                        <a:rPr/>
                        <a:t>0.009</a:t>
                      </a:r>
                    </a:p>
                  </a:txBody>
                </a:tc>
                <a:tc>
                  <a:txBody>
                    <a:bodyPr/>
                    <a:lstStyle/>
                    <a:p>
                      <a:pPr lvl="0" indent="0" marL="0" algn="r">
                        <a:buNone/>
                      </a:pPr>
                      <a:r>
                        <a:rPr/>
                        <a:t>0.043</a:t>
                      </a:r>
                    </a:p>
                  </a:txBody>
                </a:tc>
              </a:tr>
              <a:tr h="0">
                <a:tc>
                  <a:txBody>
                    <a:bodyPr/>
                    <a:lstStyle/>
                    <a:p>
                      <a:pPr lvl="0" indent="0" marL="0" algn="l">
                        <a:buNone/>
                      </a:pPr>
                      <a:r>
                        <a:rPr/>
                        <a:t>Livestock density</a:t>
                      </a:r>
                    </a:p>
                  </a:txBody>
                </a:tc>
                <a:tc>
                  <a:txBody>
                    <a:bodyPr/>
                    <a:lstStyle/>
                    <a:p>
                      <a:pPr lvl="0" indent="0" marL="0" algn="r">
                        <a:buNone/>
                      </a:pPr>
                      <a:r>
                        <a:rPr/>
                        <a:t>0.007</a:t>
                      </a:r>
                    </a:p>
                  </a:txBody>
                </a:tc>
                <a:tc>
                  <a:txBody>
                    <a:bodyPr/>
                    <a:lstStyle/>
                    <a:p>
                      <a:pPr lvl="0" indent="0" marL="0" algn="r">
                        <a:buNone/>
                      </a:pPr>
                      <a:r>
                        <a:rPr/>
                        <a:t>0.236</a:t>
                      </a:r>
                    </a:p>
                  </a:txBody>
                </a:tc>
              </a:tr>
              <a:tr h="0">
                <a:tc>
                  <a:txBody>
                    <a:bodyPr/>
                    <a:lstStyle/>
                    <a:p>
                      <a:pPr lvl="0" indent="0" marL="0" algn="l">
                        <a:buNone/>
                      </a:pPr>
                      <a:r>
                        <a:rPr/>
                        <a:t>Nutrition status (MODELLED SURFACE)</a:t>
                      </a:r>
                    </a:p>
                  </a:txBody>
                </a:tc>
                <a:tc>
                  <a:txBody>
                    <a:bodyPr/>
                    <a:lstStyle/>
                    <a:p>
                      <a:pPr lvl="0" indent="0" marL="0" algn="r">
                        <a:buNone/>
                      </a:pPr>
                      <a:r>
                        <a:rPr/>
                        <a:t>0.007</a:t>
                      </a:r>
                    </a:p>
                  </a:txBody>
                </a:tc>
                <a:tc>
                  <a:txBody>
                    <a:bodyPr/>
                    <a:lstStyle/>
                    <a:p>
                      <a:pPr lvl="0" indent="0" marL="0" algn="r">
                        <a:buNone/>
                      </a:pPr>
                      <a:r>
                        <a:rPr/>
                        <a:t>0.220</a:t>
                      </a:r>
                    </a:p>
                  </a:txBody>
                </a:tc>
              </a:tr>
              <a:tr h="0">
                <a:tc>
                  <a:txBody>
                    <a:bodyPr/>
                    <a:lstStyle/>
                    <a:p>
                      <a:pPr lvl="0" indent="0" marL="0" algn="l">
                        <a:buNone/>
                      </a:pPr>
                      <a:r>
                        <a:rPr/>
                        <a:t>Helminth burden and control</a:t>
                      </a:r>
                    </a:p>
                  </a:txBody>
                </a:tc>
                <a:tc>
                  <a:txBody>
                    <a:bodyPr/>
                    <a:lstStyle/>
                    <a:p>
                      <a:pPr lvl="0" indent="0" marL="0" algn="r">
                        <a:buNone/>
                      </a:pPr>
                      <a:r>
                        <a:rPr/>
                        <a:t>0.001</a:t>
                      </a:r>
                    </a:p>
                  </a:txBody>
                </a:tc>
                <a:tc>
                  <a:txBody>
                    <a:bodyPr/>
                    <a:lstStyle/>
                    <a:p>
                      <a:pPr lvl="0" indent="0" marL="0" algn="r">
                        <a:buNone/>
                      </a:pPr>
                      <a:r>
                        <a:rPr/>
                        <a:t>-0.030</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Which data sources carry transport</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6946900"/>
                <a:gridCol w="736600"/>
                <a:gridCol w="1651000"/>
                <a:gridCol w="1193800"/>
              </a:tblGrid>
              <a:tr h="0">
                <a:tc>
                  <a:txBody>
                    <a:bodyPr/>
                    <a:lstStyle/>
                    <a:p>
                      <a:pPr lvl="0" indent="0" marL="0" algn="l">
                        <a:buNone/>
                      </a:pPr>
                      <a:r>
                        <a:rPr/>
                        <a:t>Source</a:t>
                      </a:r>
                    </a:p>
                  </a:txBody>
                  <a:tcPr/>
                </a:tc>
                <a:tc>
                  <a:txBody>
                    <a:bodyPr/>
                    <a:lstStyle/>
                    <a:p>
                      <a:pPr lvl="0" indent="0" marL="0" algn="r">
                        <a:buNone/>
                      </a:pPr>
                      <a:r>
                        <a:rPr/>
                        <a:t>Columns</a:t>
                      </a:r>
                    </a:p>
                  </a:txBody>
                  <a:tcPr/>
                </a:tc>
                <a:tc>
                  <a:txBody>
                    <a:bodyPr/>
                    <a:lstStyle/>
                    <a:p>
                      <a:pPr lvl="0" indent="0" marL="0" algn="r">
                        <a:buNone/>
                      </a:pPr>
                      <a:r>
                        <a:rPr/>
                        <a:t>Loss when dropped</a:t>
                      </a:r>
                    </a:p>
                  </a:txBody>
                  <a:tcPr/>
                </a:tc>
                <a:tc>
                  <a:txBody>
                    <a:bodyPr/>
                    <a:lstStyle/>
                    <a:p>
                      <a:pPr lvl="0" indent="0" marL="0" algn="r">
                        <a:buNone/>
                      </a:pPr>
                      <a:r>
                        <a:rPr/>
                        <a:t>Source alone</a:t>
                      </a:r>
                    </a:p>
                  </a:txBody>
                  <a:tcPr/>
                </a:tc>
              </a:tr>
              <a:tr h="0">
                <a:tc>
                  <a:txBody>
                    <a:bodyPr/>
                    <a:lstStyle/>
                    <a:p>
                      <a:pPr lvl="0" indent="0" marL="0" algn="l">
                        <a:buNone/>
                      </a:pPr>
                      <a:r>
                        <a:rPr/>
                        <a:t>SoilGrids/iSDA</a:t>
                      </a:r>
                    </a:p>
                  </a:txBody>
                </a:tc>
                <a:tc>
                  <a:txBody>
                    <a:bodyPr/>
                    <a:lstStyle/>
                    <a:p>
                      <a:pPr lvl="0" indent="0" marL="0" algn="r">
                        <a:buNone/>
                      </a:pPr>
                      <a:r>
                        <a:rPr/>
                        <a:t>45</a:t>
                      </a:r>
                    </a:p>
                  </a:txBody>
                </a:tc>
                <a:tc>
                  <a:txBody>
                    <a:bodyPr/>
                    <a:lstStyle/>
                    <a:p>
                      <a:pPr lvl="0" indent="0" marL="0" algn="r">
                        <a:buNone/>
                      </a:pPr>
                      <a:r>
                        <a:rPr/>
                        <a:t>0.024</a:t>
                      </a:r>
                    </a:p>
                  </a:txBody>
                </a:tc>
                <a:tc>
                  <a:txBody>
                    <a:bodyPr/>
                    <a:lstStyle/>
                    <a:p>
                      <a:pPr lvl="0" indent="0" marL="0" algn="r">
                        <a:buNone/>
                      </a:pPr>
                      <a:r>
                        <a:rPr/>
                        <a:t>0.327</a:t>
                      </a:r>
                    </a:p>
                  </a:txBody>
                </a:tc>
              </a:tr>
              <a:tr h="0">
                <a:tc>
                  <a:txBody>
                    <a:bodyPr/>
                    <a:lstStyle/>
                    <a:p>
                      <a:pPr lvl="0" indent="0" marL="0" algn="l">
                        <a:buNone/>
                      </a:pPr>
                      <a:r>
                        <a:rPr/>
                        <a:t>Malaria Atlas</a:t>
                      </a:r>
                    </a:p>
                  </a:txBody>
                </a:tc>
                <a:tc>
                  <a:txBody>
                    <a:bodyPr/>
                    <a:lstStyle/>
                    <a:p>
                      <a:pPr lvl="0" indent="0" marL="0" algn="r">
                        <a:buNone/>
                      </a:pPr>
                      <a:r>
                        <a:rPr/>
                        <a:t>11</a:t>
                      </a:r>
                    </a:p>
                  </a:txBody>
                </a:tc>
                <a:tc>
                  <a:txBody>
                    <a:bodyPr/>
                    <a:lstStyle/>
                    <a:p>
                      <a:pPr lvl="0" indent="0" marL="0" algn="r">
                        <a:buNone/>
                      </a:pPr>
                      <a:r>
                        <a:rPr/>
                        <a:t>0.009</a:t>
                      </a:r>
                    </a:p>
                  </a:txBody>
                </a:tc>
                <a:tc>
                  <a:txBody>
                    <a:bodyPr/>
                    <a:lstStyle/>
                    <a:p>
                      <a:pPr lvl="0" indent="0" marL="0" algn="r">
                        <a:buNone/>
                      </a:pPr>
                      <a:r>
                        <a:rPr/>
                        <a:t>0.043</a:t>
                      </a:r>
                    </a:p>
                  </a:txBody>
                </a:tc>
              </a:tr>
              <a:tr h="0">
                <a:tc>
                  <a:txBody>
                    <a:bodyPr/>
                    <a:lstStyle/>
                    <a:p>
                      <a:pPr lvl="0" indent="0" marL="0" algn="l">
                        <a:buNone/>
                      </a:pPr>
                      <a:r>
                        <a:rPr/>
                        <a:t>MapSPAM</a:t>
                      </a:r>
                    </a:p>
                  </a:txBody>
                </a:tc>
                <a:tc>
                  <a:txBody>
                    <a:bodyPr/>
                    <a:lstStyle/>
                    <a:p>
                      <a:pPr lvl="0" indent="0" marL="0" algn="r">
                        <a:buNone/>
                      </a:pPr>
                      <a:r>
                        <a:rPr/>
                        <a:t>12</a:t>
                      </a:r>
                    </a:p>
                  </a:txBody>
                </a:tc>
                <a:tc>
                  <a:txBody>
                    <a:bodyPr/>
                    <a:lstStyle/>
                    <a:p>
                      <a:pPr lvl="0" indent="0" marL="0" algn="r">
                        <a:buNone/>
                      </a:pPr>
                      <a:r>
                        <a:rPr/>
                        <a:t>0.008</a:t>
                      </a:r>
                    </a:p>
                  </a:txBody>
                </a:tc>
                <a:tc>
                  <a:txBody>
                    <a:bodyPr/>
                    <a:lstStyle/>
                    <a:p>
                      <a:pPr lvl="0" indent="0" marL="0" algn="r">
                        <a:buNone/>
                      </a:pPr>
                      <a:r>
                        <a:rPr/>
                        <a:t>0.179</a:t>
                      </a:r>
                    </a:p>
                  </a:txBody>
                </a:tc>
              </a:tr>
              <a:tr h="0">
                <a:tc>
                  <a:txBody>
                    <a:bodyPr/>
                    <a:lstStyle/>
                    <a:p>
                      <a:pPr lvl="0" indent="0" marL="0" algn="l">
                        <a:buNone/>
                      </a:pPr>
                      <a:r>
                        <a:rPr/>
                        <a:t>Gridded Livestock of the World 4 (2020, 5 arc-min, dasymetric; FAO catalog)</a:t>
                      </a:r>
                    </a:p>
                  </a:txBody>
                </a:tc>
                <a:tc>
                  <a:txBody>
                    <a:bodyPr/>
                    <a:lstStyle/>
                    <a:p>
                      <a:pPr lvl="0" indent="0" marL="0" algn="r">
                        <a:buNone/>
                      </a:pPr>
                      <a:r>
                        <a:rPr/>
                        <a:t>8</a:t>
                      </a:r>
                    </a:p>
                  </a:txBody>
                </a:tc>
                <a:tc>
                  <a:txBody>
                    <a:bodyPr/>
                    <a:lstStyle/>
                    <a:p>
                      <a:pPr lvl="0" indent="0" marL="0" algn="r">
                        <a:buNone/>
                      </a:pPr>
                      <a:r>
                        <a:rPr/>
                        <a:t>0.007</a:t>
                      </a:r>
                    </a:p>
                  </a:txBody>
                </a:tc>
                <a:tc>
                  <a:txBody>
                    <a:bodyPr/>
                    <a:lstStyle/>
                    <a:p>
                      <a:pPr lvl="0" indent="0" marL="0" algn="r">
                        <a:buNone/>
                      </a:pPr>
                      <a:r>
                        <a:rPr/>
                        <a:t>0.236</a:t>
                      </a:r>
                    </a:p>
                  </a:txBody>
                </a:tc>
              </a:tr>
              <a:tr h="0">
                <a:tc>
                  <a:txBody>
                    <a:bodyPr/>
                    <a:lstStyle/>
                    <a:p>
                      <a:pPr lvl="0" indent="0" marL="0" algn="l">
                        <a:buNone/>
                      </a:pPr>
                      <a:r>
                        <a:rPr/>
                        <a:t>GEE</a:t>
                      </a:r>
                    </a:p>
                  </a:txBody>
                </a:tc>
                <a:tc>
                  <a:txBody>
                    <a:bodyPr/>
                    <a:lstStyle/>
                    <a:p>
                      <a:pPr lvl="0" indent="0" marL="0" algn="r">
                        <a:buNone/>
                      </a:pPr>
                      <a:r>
                        <a:rPr/>
                        <a:t>76</a:t>
                      </a:r>
                    </a:p>
                  </a:txBody>
                </a:tc>
                <a:tc>
                  <a:txBody>
                    <a:bodyPr/>
                    <a:lstStyle/>
                    <a:p>
                      <a:pPr lvl="0" indent="0" marL="0" algn="r">
                        <a:buNone/>
                      </a:pPr>
                      <a:r>
                        <a:rPr/>
                        <a:t>0.003</a:t>
                      </a:r>
                    </a:p>
                  </a:txBody>
                </a:tc>
                <a:tc>
                  <a:txBody>
                    <a:bodyPr/>
                    <a:lstStyle/>
                    <a:p>
                      <a:pPr lvl="0" indent="0" marL="0" algn="r">
                        <a:buNone/>
                      </a:pPr>
                      <a:r>
                        <a:rPr/>
                        <a:t>0.270</a:t>
                      </a:r>
                    </a:p>
                  </a:txBody>
                </a:tc>
              </a:tr>
              <a:tr h="0">
                <a:tc>
                  <a:txBody>
                    <a:bodyPr/>
                    <a:lstStyle/>
                    <a:p>
                      <a:pPr lvl="0" indent="0" marL="0" algn="l">
                        <a:buNone/>
                      </a:pPr>
                      <a:r>
                        <a:rPr/>
                        <a:t>IHME</a:t>
                      </a:r>
                    </a:p>
                  </a:txBody>
                </a:tc>
                <a:tc>
                  <a:txBody>
                    <a:bodyPr/>
                    <a:lstStyle/>
                    <a:p>
                      <a:pPr lvl="0" indent="0" marL="0" algn="r">
                        <a:buNone/>
                      </a:pPr>
                      <a:r>
                        <a:rPr/>
                        <a:t>17</a:t>
                      </a:r>
                    </a:p>
                  </a:txBody>
                </a:tc>
                <a:tc>
                  <a:txBody>
                    <a:bodyPr/>
                    <a:lstStyle/>
                    <a:p>
                      <a:pPr lvl="0" indent="0" marL="0" algn="r">
                        <a:buNone/>
                      </a:pPr>
                      <a:r>
                        <a:rPr/>
                        <a:t>0.002</a:t>
                      </a:r>
                    </a:p>
                  </a:txBody>
                </a:tc>
                <a:tc>
                  <a:txBody>
                    <a:bodyPr/>
                    <a:lstStyle/>
                    <a:p>
                      <a:pPr lvl="0" indent="0" marL="0" algn="r">
                        <a:buNone/>
                      </a:pPr>
                      <a:r>
                        <a:rPr/>
                        <a:t>0.209</a:t>
                      </a:r>
                    </a:p>
                  </a:txBody>
                </a:tc>
              </a:tr>
              <a:tr h="0">
                <a:tc>
                  <a:txBody>
                    <a:bodyPr/>
                    <a:lstStyle/>
                    <a:p>
                      <a:pPr lvl="0" indent="0" marL="0" algn="l">
                        <a:buNone/>
                      </a:pPr>
                      <a:r>
                        <a:rPr/>
                        <a:t>DHS</a:t>
                      </a:r>
                    </a:p>
                  </a:txBody>
                </a:tc>
                <a:tc>
                  <a:txBody>
                    <a:bodyPr/>
                    <a:lstStyle/>
                    <a:p>
                      <a:pPr lvl="0" indent="0" marL="0" algn="r">
                        <a:buNone/>
                      </a:pPr>
                      <a:r>
                        <a:rPr/>
                        <a:t>130</a:t>
                      </a:r>
                    </a:p>
                  </a:txBody>
                </a:tc>
                <a:tc>
                  <a:txBody>
                    <a:bodyPr/>
                    <a:lstStyle/>
                    <a:p>
                      <a:pPr lvl="0" indent="0" marL="0" algn="r">
                        <a:buNone/>
                      </a:pPr>
                      <a:r>
                        <a:rPr/>
                        <a:t>-0.056</a:t>
                      </a:r>
                    </a:p>
                  </a:txBody>
                </a:tc>
                <a:tc>
                  <a:txBody>
                    <a:bodyPr/>
                    <a:lstStyle/>
                    <a:p>
                      <a:pPr lvl="0" indent="0" marL="0" algn="r">
                        <a:buNone/>
                      </a:pPr>
                      <a:r>
                        <a:rPr/>
                        <a:t>0.138</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Each added training country still buys accuracy</a:t>
            </a:r>
          </a:p>
        </p:txBody>
      </p:sp>
      <p:pic>
        <p:nvPicPr>
          <p:cNvPr descr="MN-proxy-Ghana-presentation-2026-09_files/figure-pptx/curve-1.png" id="0" name="Picture 1"/>
          <p:cNvPicPr>
            <a:picLocks noGrp="1" noChangeAspect="1"/>
          </p:cNvPicPr>
          <p:nvPr/>
        </p:nvPicPr>
        <p:blipFill>
          <a:blip r:embed="rId3"/>
          <a:stretch>
            <a:fillRect/>
          </a:stretch>
        </p:blipFill>
        <p:spPr bwMode="auto">
          <a:xfrm>
            <a:off x="1371600" y="1816100"/>
            <a:ext cx="9436100" cy="43434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 an urban-rural map</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003300"/>
                <a:gridCol w="2349500"/>
                <a:gridCol w="3022600"/>
                <a:gridCol w="1905000"/>
                <a:gridCol w="2235200"/>
              </a:tblGrid>
              <a:tr h="0">
                <a:tc>
                  <a:txBody>
                    <a:bodyPr/>
                    <a:lstStyle/>
                    <a:p>
                      <a:pPr lvl="0" indent="0" marL="0" algn="l">
                        <a:buNone/>
                      </a:pPr>
                      <a:r>
                        <a:rPr/>
                        <a:t>Tier</a:t>
                      </a:r>
                    </a:p>
                  </a:txBody>
                  <a:tcPr/>
                </a:tc>
                <a:tc>
                  <a:txBody>
                    <a:bodyPr/>
                    <a:lstStyle/>
                    <a:p>
                      <a:pPr lvl="0" indent="0" marL="0" algn="r">
                        <a:buNone/>
                      </a:pPr>
                      <a:r>
                        <a:rPr/>
                        <a:t>Climate + soil index</a:t>
                      </a:r>
                    </a:p>
                  </a:txBody>
                  <a:tcPr/>
                </a:tc>
                <a:tc>
                  <a:txBody>
                    <a:bodyPr/>
                    <a:lstStyle/>
                    <a:p>
                      <a:pPr lvl="0" indent="0" marL="0" algn="r">
                        <a:buNone/>
                      </a:pPr>
                      <a:r>
                        <a:rPr/>
                        <a:t>Partialling out urbanicity</a:t>
                      </a:r>
                    </a:p>
                  </a:txBody>
                  <a:tcPr/>
                </a:tc>
                <a:tc>
                  <a:txBody>
                    <a:bodyPr/>
                    <a:lstStyle/>
                    <a:p>
                      <a:pPr lvl="0" indent="0" marL="0" algn="r">
                        <a:buNone/>
                      </a:pPr>
                      <a:r>
                        <a:rPr/>
                        <a:t>Urbanicity alone</a:t>
                      </a:r>
                    </a:p>
                  </a:txBody>
                  <a:tcPr/>
                </a:tc>
                <a:tc>
                  <a:txBody>
                    <a:bodyPr/>
                    <a:lstStyle/>
                    <a:p>
                      <a:pPr lvl="0" indent="0" marL="0" algn="r">
                        <a:buNone/>
                      </a:pPr>
                      <a:r>
                        <a:rPr/>
                        <a:t>Index vs urbanicity</a:t>
                      </a:r>
                    </a:p>
                  </a:txBody>
                  <a:tcPr/>
                </a:tc>
              </a:tr>
              <a:tr h="0">
                <a:tc>
                  <a:txBody>
                    <a:bodyPr/>
                    <a:lstStyle/>
                    <a:p>
                      <a:pPr lvl="0" indent="0" marL="0" algn="l">
                        <a:buNone/>
                      </a:pPr>
                      <a:r>
                        <a:rPr/>
                        <a:t>District</a:t>
                      </a:r>
                    </a:p>
                  </a:txBody>
                </a:tc>
                <a:tc>
                  <a:txBody>
                    <a:bodyPr/>
                    <a:lstStyle/>
                    <a:p>
                      <a:pPr lvl="0" indent="0" marL="0" algn="r">
                        <a:buNone/>
                      </a:pPr>
                      <a:r>
                        <a:rPr/>
                        <a:t>0.37</a:t>
                      </a:r>
                    </a:p>
                  </a:txBody>
                </a:tc>
                <a:tc>
                  <a:txBody>
                    <a:bodyPr/>
                    <a:lstStyle/>
                    <a:p>
                      <a:pPr lvl="0" indent="0" marL="0" algn="r">
                        <a:buNone/>
                      </a:pPr>
                      <a:r>
                        <a:rPr/>
                        <a:t>0.36</a:t>
                      </a:r>
                    </a:p>
                  </a:txBody>
                </a:tc>
                <a:tc>
                  <a:txBody>
                    <a:bodyPr/>
                    <a:lstStyle/>
                    <a:p>
                      <a:pPr lvl="0" indent="0" marL="0" algn="r">
                        <a:buNone/>
                      </a:pPr>
                      <a:r>
                        <a:rPr/>
                        <a:t>-0.05</a:t>
                      </a:r>
                    </a:p>
                  </a:txBody>
                </a:tc>
                <a:tc>
                  <a:txBody>
                    <a:bodyPr/>
                    <a:lstStyle/>
                    <a:p>
                      <a:pPr lvl="0" indent="0" marL="0" algn="r">
                        <a:buNone/>
                      </a:pPr>
                      <a:r>
                        <a:rPr/>
                        <a:t>0.14</a:t>
                      </a:r>
                    </a:p>
                  </a:txBody>
                </a:tc>
              </a:tr>
              <a:tr h="0">
                <a:tc>
                  <a:txBody>
                    <a:bodyPr/>
                    <a:lstStyle/>
                    <a:p>
                      <a:pPr lvl="0" indent="0" marL="0" algn="l">
                        <a:buNone/>
                      </a:pPr>
                      <a:r>
                        <a:rPr/>
                        <a:t>Regional</a:t>
                      </a:r>
                    </a:p>
                  </a:txBody>
                </a:tc>
                <a:tc>
                  <a:txBody>
                    <a:bodyPr/>
                    <a:lstStyle/>
                    <a:p>
                      <a:pPr lvl="0" indent="0" marL="0" algn="r">
                        <a:buNone/>
                      </a:pPr>
                      <a:r>
                        <a:rPr/>
                        <a:t>0.45</a:t>
                      </a:r>
                    </a:p>
                  </a:txBody>
                </a:tc>
                <a:tc>
                  <a:txBody>
                    <a:bodyPr/>
                    <a:lstStyle/>
                    <a:p>
                      <a:pPr lvl="0" indent="0" marL="0" algn="r">
                        <a:buNone/>
                      </a:pPr>
                      <a:r>
                        <a:rPr/>
                        <a:t>0.42</a:t>
                      </a:r>
                    </a:p>
                  </a:txBody>
                </a:tc>
                <a:tc>
                  <a:txBody>
                    <a:bodyPr/>
                    <a:lstStyle/>
                    <a:p>
                      <a:pPr lvl="0" indent="0" marL="0" algn="r">
                        <a:buNone/>
                      </a:pPr>
                      <a:r>
                        <a:rPr/>
                        <a:t>-0.08</a:t>
                      </a:r>
                    </a:p>
                  </a:txBody>
                </a:tc>
                <a:tc>
                  <a:txBody>
                    <a:bodyPr/>
                    <a:lstStyle/>
                    <a:p>
                      <a:pPr lvl="0" indent="0" marL="0" algn="r">
                        <a:buNone/>
                      </a:pPr>
                      <a:r>
                        <a:rPr/>
                        <a:t>0.16</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Indicators that replicate in every country</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527300"/>
                <a:gridCol w="3644900"/>
                <a:gridCol w="1257300"/>
                <a:gridCol w="2247900"/>
                <a:gridCol w="838200"/>
              </a:tblGrid>
              <a:tr h="0">
                <a:tc>
                  <a:txBody>
                    <a:bodyPr/>
                    <a:lstStyle/>
                    <a:p>
                      <a:pPr lvl="0" indent="0" marL="0" algn="l">
                        <a:buNone/>
                      </a:pPr>
                      <a:r>
                        <a:rPr/>
                        <a:t>Outcome</a:t>
                      </a:r>
                    </a:p>
                  </a:txBody>
                  <a:tcPr/>
                </a:tc>
                <a:tc>
                  <a:txBody>
                    <a:bodyPr/>
                    <a:lstStyle/>
                    <a:p>
                      <a:pPr lvl="0" indent="0" marL="0" algn="l">
                        <a:buNone/>
                      </a:pPr>
                      <a:r>
                        <a:rPr/>
                        <a:t>Indicator</a:t>
                      </a:r>
                    </a:p>
                  </a:txBody>
                  <a:tcPr/>
                </a:tc>
                <a:tc>
                  <a:txBody>
                    <a:bodyPr/>
                    <a:lstStyle/>
                    <a:p>
                      <a:pPr lvl="0" indent="0" marL="0" algn="r">
                        <a:buNone/>
                      </a:pPr>
                      <a:r>
                        <a:rPr/>
                        <a:t>Pooled z</a:t>
                      </a:r>
                    </a:p>
                  </a:txBody>
                  <a:tcPr/>
                </a:tc>
                <a:tc>
                  <a:txBody>
                    <a:bodyPr/>
                    <a:lstStyle/>
                    <a:p>
                      <a:pPr lvl="0" indent="0" marL="0" algn="l">
                        <a:buNone/>
                      </a:pPr>
                      <a:r>
                        <a:rPr/>
                        <a:t>Direction</a:t>
                      </a:r>
                    </a:p>
                  </a:txBody>
                  <a:tcPr/>
                </a:tc>
                <a:tc>
                  <a:txBody>
                    <a:bodyPr/>
                    <a:lstStyle/>
                    <a:p>
                      <a:pPr lvl="0" indent="0" marL="0" algn="l">
                        <a:buNone/>
                      </a:pPr>
                      <a:r>
                        <a:rPr/>
                        <a:t>Agree</a:t>
                      </a:r>
                    </a:p>
                  </a:txBody>
                  <a:tcPr/>
                </a:tc>
              </a:tr>
              <a:tr h="0">
                <a:tc>
                  <a:txBody>
                    <a:bodyPr/>
                    <a:lstStyle/>
                    <a:p>
                      <a:pPr lvl="0" indent="0" marL="0" algn="l">
                        <a:buNone/>
                      </a:pPr>
                      <a:r>
                        <a:rPr/>
                        <a:t>Child iron</a:t>
                      </a:r>
                    </a:p>
                  </a:txBody>
                </a:tc>
                <a:tc>
                  <a:txBody>
                    <a:bodyPr/>
                    <a:lstStyle/>
                    <a:p>
                      <a:pPr lvl="0" indent="0" marL="0" algn="l">
                        <a:buNone/>
                      </a:pPr>
                      <a:r>
                        <a:rPr/>
                        <a:t>dhs_hh_cattle</a:t>
                      </a:r>
                    </a:p>
                  </a:txBody>
                </a:tc>
                <a:tc>
                  <a:txBody>
                    <a:bodyPr/>
                    <a:lstStyle/>
                    <a:p>
                      <a:pPr lvl="0" indent="0" marL="0" algn="r">
                        <a:buNone/>
                      </a:pPr>
                      <a:r>
                        <a:rPr/>
                        <a:t>4.4</a:t>
                      </a:r>
                    </a:p>
                  </a:txBody>
                </a:tc>
                <a:tc>
                  <a:txBody>
                    <a:bodyPr/>
                    <a:lstStyle/>
                    <a:p>
                      <a:pPr lvl="0" indent="0" marL="0" algn="l">
                        <a:buNone/>
                      </a:pPr>
                      <a:r>
                        <a:rPr/>
                        <a:t>more deficiency</a:t>
                      </a:r>
                    </a:p>
                  </a:txBody>
                </a:tc>
                <a:tc>
                  <a:txBody>
                    <a:bodyPr/>
                    <a:lstStyle/>
                    <a:p>
                      <a:pPr lvl="0" indent="0" marL="0" algn="l">
                        <a:buNone/>
                      </a:pPr>
                      <a:r>
                        <a:rPr/>
                        <a:t>3/3</a:t>
                      </a:r>
                    </a:p>
                  </a:txBody>
                </a:tc>
              </a:tr>
              <a:tr h="0">
                <a:tc>
                  <a:txBody>
                    <a:bodyPr/>
                    <a:lstStyle/>
                    <a:p>
                      <a:pPr lvl="0" indent="0" marL="0" algn="l">
                        <a:buNone/>
                      </a:pPr>
                      <a:r>
                        <a:rPr/>
                        <a:t>Child iron</a:t>
                      </a:r>
                    </a:p>
                  </a:txBody>
                </a:tc>
                <a:tc>
                  <a:txBody>
                    <a:bodyPr/>
                    <a:lstStyle/>
                    <a:p>
                      <a:pPr lvl="0" indent="0" marL="0" algn="l">
                        <a:buNone/>
                      </a:pPr>
                      <a:r>
                        <a:rPr/>
                        <a:t>spam_share_cereals</a:t>
                      </a:r>
                    </a:p>
                  </a:txBody>
                </a:tc>
                <a:tc>
                  <a:txBody>
                    <a:bodyPr/>
                    <a:lstStyle/>
                    <a:p>
                      <a:pPr lvl="0" indent="0" marL="0" algn="r">
                        <a:buNone/>
                      </a:pPr>
                      <a:r>
                        <a:rPr/>
                        <a:t>4.3</a:t>
                      </a:r>
                    </a:p>
                  </a:txBody>
                </a:tc>
                <a:tc>
                  <a:txBody>
                    <a:bodyPr/>
                    <a:lstStyle/>
                    <a:p>
                      <a:pPr lvl="0" indent="0" marL="0" algn="l">
                        <a:buNone/>
                      </a:pPr>
                      <a:r>
                        <a:rPr/>
                        <a:t>more deficiency</a:t>
                      </a:r>
                    </a:p>
                  </a:txBody>
                </a:tc>
                <a:tc>
                  <a:txBody>
                    <a:bodyPr/>
                    <a:lstStyle/>
                    <a:p>
                      <a:pPr lvl="0" indent="0" marL="0" algn="l">
                        <a:buNone/>
                      </a:pPr>
                      <a:r>
                        <a:rPr/>
                        <a:t>4/4</a:t>
                      </a:r>
                    </a:p>
                  </a:txBody>
                </a:tc>
              </a:tr>
              <a:tr h="0">
                <a:tc>
                  <a:txBody>
                    <a:bodyPr/>
                    <a:lstStyle/>
                    <a:p>
                      <a:pPr lvl="0" indent="0" marL="0" algn="l">
                        <a:buNone/>
                      </a:pPr>
                      <a:r>
                        <a:rPr/>
                        <a:t>Child vitamin A</a:t>
                      </a:r>
                    </a:p>
                  </a:txBody>
                </a:tc>
                <a:tc>
                  <a:txBody>
                    <a:bodyPr/>
                    <a:lstStyle/>
                    <a:p>
                      <a:pPr lvl="0" indent="0" marL="0" algn="l">
                        <a:buNone/>
                      </a:pPr>
                      <a:r>
                        <a:rPr/>
                        <a:t>dhs_c_fg_legumes</a:t>
                      </a:r>
                    </a:p>
                  </a:txBody>
                </a:tc>
                <a:tc>
                  <a:txBody>
                    <a:bodyPr/>
                    <a:lstStyle/>
                    <a:p>
                      <a:pPr lvl="0" indent="0" marL="0" algn="r">
                        <a:buNone/>
                      </a:pPr>
                      <a:r>
                        <a:rPr/>
                        <a:t>4.9</a:t>
                      </a:r>
                    </a:p>
                  </a:txBody>
                </a:tc>
                <a:tc>
                  <a:txBody>
                    <a:bodyPr/>
                    <a:lstStyle/>
                    <a:p>
                      <a:pPr lvl="0" indent="0" marL="0" algn="l">
                        <a:buNone/>
                      </a:pPr>
                      <a:r>
                        <a:rPr/>
                        <a:t>more deficiency</a:t>
                      </a:r>
                    </a:p>
                  </a:txBody>
                </a:tc>
                <a:tc>
                  <a:txBody>
                    <a:bodyPr/>
                    <a:lstStyle/>
                    <a:p>
                      <a:pPr lvl="0" indent="0" marL="0" algn="l">
                        <a:buNone/>
                      </a:pPr>
                      <a:r>
                        <a:rPr/>
                        <a:t>4/4</a:t>
                      </a:r>
                    </a:p>
                  </a:txBody>
                </a:tc>
              </a:tr>
              <a:tr h="0">
                <a:tc>
                  <a:txBody>
                    <a:bodyPr/>
                    <a:lstStyle/>
                    <a:p>
                      <a:pPr lvl="0" indent="0" marL="0" algn="l">
                        <a:buNone/>
                      </a:pPr>
                      <a:r>
                        <a:rPr/>
                        <a:t>Child vitamin A</a:t>
                      </a:r>
                    </a:p>
                  </a:txBody>
                </a:tc>
                <a:tc>
                  <a:txBody>
                    <a:bodyPr/>
                    <a:lstStyle/>
                    <a:p>
                      <a:pPr lvl="0" indent="0" marL="0" algn="l">
                        <a:buNone/>
                      </a:pPr>
                      <a:r>
                        <a:rPr/>
                        <a:t>lst_night_annual_mean_t0</a:t>
                      </a:r>
                    </a:p>
                  </a:txBody>
                </a:tc>
                <a:tc>
                  <a:txBody>
                    <a:bodyPr/>
                    <a:lstStyle/>
                    <a:p>
                      <a:pPr lvl="0" indent="0" marL="0" algn="r">
                        <a:buNone/>
                      </a:pPr>
                      <a:r>
                        <a:rPr/>
                        <a:t>4.4</a:t>
                      </a:r>
                    </a:p>
                  </a:txBody>
                </a:tc>
                <a:tc>
                  <a:txBody>
                    <a:bodyPr/>
                    <a:lstStyle/>
                    <a:p>
                      <a:pPr lvl="0" indent="0" marL="0" algn="l">
                        <a:buNone/>
                      </a:pPr>
                      <a:r>
                        <a:rPr/>
                        <a:t>more deficiency</a:t>
                      </a:r>
                    </a:p>
                  </a:txBody>
                </a:tc>
                <a:tc>
                  <a:txBody>
                    <a:bodyPr/>
                    <a:lstStyle/>
                    <a:p>
                      <a:pPr lvl="0" indent="0" marL="0" algn="l">
                        <a:buNone/>
                      </a:pPr>
                      <a:r>
                        <a:rPr/>
                        <a:t>4/4</a:t>
                      </a:r>
                    </a:p>
                  </a:txBody>
                </a:tc>
              </a:tr>
              <a:tr h="0">
                <a:tc>
                  <a:txBody>
                    <a:bodyPr/>
                    <a:lstStyle/>
                    <a:p>
                      <a:pPr lvl="0" indent="0" marL="0" algn="l">
                        <a:buNone/>
                      </a:pPr>
                      <a:r>
                        <a:rPr/>
                        <a:t>Women’s iron</a:t>
                      </a:r>
                    </a:p>
                  </a:txBody>
                </a:tc>
                <a:tc>
                  <a:txBody>
                    <a:bodyPr/>
                    <a:lstStyle/>
                    <a:p>
                      <a:pPr lvl="0" indent="0" marL="0" algn="l">
                        <a:buNone/>
                      </a:pPr>
                      <a:r>
                        <a:rPr/>
                        <a:t>lst_night_m04_t0</a:t>
                      </a:r>
                    </a:p>
                  </a:txBody>
                </a:tc>
                <a:tc>
                  <a:txBody>
                    <a:bodyPr/>
                    <a:lstStyle/>
                    <a:p>
                      <a:pPr lvl="0" indent="0" marL="0" algn="r">
                        <a:buNone/>
                      </a:pPr>
                      <a:r>
                        <a:rPr/>
                        <a:t>5.0</a:t>
                      </a:r>
                    </a:p>
                  </a:txBody>
                </a:tc>
                <a:tc>
                  <a:txBody>
                    <a:bodyPr/>
                    <a:lstStyle/>
                    <a:p>
                      <a:pPr lvl="0" indent="0" marL="0" algn="l">
                        <a:buNone/>
                      </a:pPr>
                      <a:r>
                        <a:rPr/>
                        <a:t>more deficiency</a:t>
                      </a:r>
                    </a:p>
                  </a:txBody>
                </a:tc>
                <a:tc>
                  <a:txBody>
                    <a:bodyPr/>
                    <a:lstStyle/>
                    <a:p>
                      <a:pPr lvl="0" indent="0" marL="0" algn="l">
                        <a:buNone/>
                      </a:pPr>
                      <a:r>
                        <a:rPr/>
                        <a:t>4/4</a:t>
                      </a:r>
                    </a:p>
                  </a:txBody>
                </a:tc>
              </a:tr>
              <a:tr h="0">
                <a:tc>
                  <a:txBody>
                    <a:bodyPr/>
                    <a:lstStyle/>
                    <a:p>
                      <a:pPr lvl="0" indent="0" marL="0" algn="l">
                        <a:buNone/>
                      </a:pPr>
                      <a:r>
                        <a:rPr/>
                        <a:t>Women’s iron</a:t>
                      </a:r>
                    </a:p>
                  </a:txBody>
                </a:tc>
                <a:tc>
                  <a:txBody>
                    <a:bodyPr/>
                    <a:lstStyle/>
                    <a:p>
                      <a:pPr lvl="0" indent="0" marL="0" algn="l">
                        <a:buNone/>
                      </a:pPr>
                      <a:r>
                        <a:rPr/>
                        <a:t>soil_aluminium_stdev_0_20</a:t>
                      </a:r>
                    </a:p>
                  </a:txBody>
                </a:tc>
                <a:tc>
                  <a:txBody>
                    <a:bodyPr/>
                    <a:lstStyle/>
                    <a:p>
                      <a:pPr lvl="0" indent="0" marL="0" algn="r">
                        <a:buNone/>
                      </a:pPr>
                      <a:r>
                        <a:rPr/>
                        <a:t>3.7</a:t>
                      </a:r>
                    </a:p>
                  </a:txBody>
                </a:tc>
                <a:tc>
                  <a:txBody>
                    <a:bodyPr/>
                    <a:lstStyle/>
                    <a:p>
                      <a:pPr lvl="0" indent="0" marL="0" algn="l">
                        <a:buNone/>
                      </a:pPr>
                      <a:r>
                        <a:rPr/>
                        <a:t>more deficiency</a:t>
                      </a:r>
                    </a:p>
                  </a:txBody>
                </a:tc>
                <a:tc>
                  <a:txBody>
                    <a:bodyPr/>
                    <a:lstStyle/>
                    <a:p>
                      <a:pPr lvl="0" indent="0" marL="0" algn="l">
                        <a:buNone/>
                      </a:pPr>
                      <a:r>
                        <a:rPr/>
                        <a:t>4/4</a:t>
                      </a:r>
                    </a:p>
                  </a:txBody>
                </a:tc>
              </a:tr>
              <a:tr h="0">
                <a:tc>
                  <a:txBody>
                    <a:bodyPr/>
                    <a:lstStyle/>
                    <a:p>
                      <a:pPr lvl="0" indent="0" marL="0" algn="l">
                        <a:buNone/>
                      </a:pPr>
                      <a:r>
                        <a:rPr/>
                        <a:t>Women’s vitamin A</a:t>
                      </a:r>
                    </a:p>
                  </a:txBody>
                </a:tc>
                <a:tc>
                  <a:txBody>
                    <a:bodyPr/>
                    <a:lstStyle/>
                    <a:p>
                      <a:pPr lvl="0" indent="0" marL="0" algn="l">
                        <a:buNone/>
                      </a:pPr>
                      <a:r>
                        <a:rPr/>
                        <a:t>aef_A03</a:t>
                      </a:r>
                    </a:p>
                  </a:txBody>
                </a:tc>
                <a:tc>
                  <a:txBody>
                    <a:bodyPr/>
                    <a:lstStyle/>
                    <a:p>
                      <a:pPr lvl="0" indent="0" marL="0" algn="r">
                        <a:buNone/>
                      </a:pPr>
                      <a:r>
                        <a:rPr/>
                        <a:t>3.6</a:t>
                      </a:r>
                    </a:p>
                  </a:txBody>
                </a:tc>
                <a:tc>
                  <a:txBody>
                    <a:bodyPr/>
                    <a:lstStyle/>
                    <a:p>
                      <a:pPr lvl="0" indent="0" marL="0" algn="l">
                        <a:buNone/>
                      </a:pPr>
                      <a:r>
                        <a:rPr/>
                        <a:t>more deficiency</a:t>
                      </a:r>
                    </a:p>
                  </a:txBody>
                </a:tc>
                <a:tc>
                  <a:txBody>
                    <a:bodyPr/>
                    <a:lstStyle/>
                    <a:p>
                      <a:pPr lvl="0" indent="0" marL="0" algn="l">
                        <a:buNone/>
                      </a:pPr>
                      <a:r>
                        <a:rPr/>
                        <a:t>4/4</a:t>
                      </a:r>
                    </a:p>
                  </a:txBody>
                </a:tc>
              </a:tr>
              <a:tr h="0">
                <a:tc>
                  <a:txBody>
                    <a:bodyPr/>
                    <a:lstStyle/>
                    <a:p>
                      <a:pPr lvl="0" indent="0" marL="0" algn="l">
                        <a:buNone/>
                      </a:pPr>
                      <a:r>
                        <a:rPr/>
                        <a:t>Women’s vitamin A</a:t>
                      </a:r>
                    </a:p>
                  </a:txBody>
                </a:tc>
                <a:tc>
                  <a:txBody>
                    <a:bodyPr/>
                    <a:lstStyle/>
                    <a:p>
                      <a:pPr lvl="0" indent="0" marL="0" algn="l">
                        <a:buNone/>
                      </a:pPr>
                      <a:r>
                        <a:rPr/>
                        <a:t>soil_aluminium_stdev_0_20</a:t>
                      </a:r>
                    </a:p>
                  </a:txBody>
                </a:tc>
                <a:tc>
                  <a:txBody>
                    <a:bodyPr/>
                    <a:lstStyle/>
                    <a:p>
                      <a:pPr lvl="0" indent="0" marL="0" algn="r">
                        <a:buNone/>
                      </a:pPr>
                      <a:r>
                        <a:rPr/>
                        <a:t>3.5</a:t>
                      </a:r>
                    </a:p>
                  </a:txBody>
                </a:tc>
                <a:tc>
                  <a:txBody>
                    <a:bodyPr/>
                    <a:lstStyle/>
                    <a:p>
                      <a:pPr lvl="0" indent="0" marL="0" algn="l">
                        <a:buNone/>
                      </a:pPr>
                      <a:r>
                        <a:rPr/>
                        <a:t>more deficiency</a:t>
                      </a:r>
                    </a:p>
                  </a:txBody>
                </a:tc>
                <a:tc>
                  <a:txBody>
                    <a:bodyPr/>
                    <a:lstStyle/>
                    <a:p>
                      <a:pPr lvl="0" indent="0" marL="0" algn="l">
                        <a:buNone/>
                      </a:pPr>
                      <a:r>
                        <a:rPr/>
                        <a:t>4/4</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much is attainable: the ceiling, corrected</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422400"/>
                <a:gridCol w="2959100"/>
                <a:gridCol w="2247900"/>
                <a:gridCol w="1778000"/>
                <a:gridCol w="2120900"/>
              </a:tblGrid>
              <a:tr h="0">
                <a:tc>
                  <a:txBody>
                    <a:bodyPr/>
                    <a:lstStyle/>
                    <a:p>
                      <a:pPr lvl="0" indent="0" marL="0" algn="l">
                        <a:buNone/>
                      </a:pPr>
                      <a:r>
                        <a:rPr/>
                        <a:t>Country</a:t>
                      </a:r>
                    </a:p>
                  </a:txBody>
                  <a:tcPr/>
                </a:tc>
                <a:tc>
                  <a:txBody>
                    <a:bodyPr/>
                    <a:lstStyle/>
                    <a:p>
                      <a:pPr lvl="0" indent="0" marL="0" algn="l">
                        <a:buNone/>
                      </a:pPr>
                      <a:r>
                        <a:rPr/>
                        <a:t>Single-cluster districts</a:t>
                      </a:r>
                    </a:p>
                  </a:txBody>
                  <a:tcPr/>
                </a:tc>
                <a:tc>
                  <a:txBody>
                    <a:bodyPr/>
                    <a:lstStyle/>
                    <a:p>
                      <a:pPr lvl="0" indent="0" marL="0" algn="r">
                        <a:buNone/>
                      </a:pPr>
                      <a:r>
                        <a:rPr/>
                        <a:t>Split-half ceiling</a:t>
                      </a:r>
                    </a:p>
                  </a:txBody>
                  <a:tcPr/>
                </a:tc>
                <a:tc>
                  <a:txBody>
                    <a:bodyPr/>
                    <a:lstStyle/>
                    <a:p>
                      <a:pPr lvl="0" indent="0" marL="0" algn="r">
                        <a:buNone/>
                      </a:pPr>
                      <a:r>
                        <a:rPr/>
                        <a:t>Honest ceiling</a:t>
                      </a:r>
                    </a:p>
                  </a:txBody>
                  <a:tcPr/>
                </a:tc>
                <a:tc>
                  <a:txBody>
                    <a:bodyPr/>
                    <a:lstStyle/>
                    <a:p>
                      <a:pPr lvl="0" indent="0" marL="0" algn="r">
                        <a:buNone/>
                      </a:pPr>
                      <a:r>
                        <a:rPr/>
                        <a:t>Achieved, in-fill</a:t>
                      </a:r>
                    </a:p>
                  </a:txBody>
                  <a:tcPr/>
                </a:tc>
              </a:tr>
              <a:tr h="0">
                <a:tc>
                  <a:txBody>
                    <a:bodyPr/>
                    <a:lstStyle/>
                    <a:p>
                      <a:pPr lvl="0" indent="0" marL="0" algn="l">
                        <a:buNone/>
                      </a:pPr>
                      <a:r>
                        <a:rPr/>
                        <a:t>Gambia</a:t>
                      </a:r>
                    </a:p>
                  </a:txBody>
                </a:tc>
                <a:tc>
                  <a:txBody>
                    <a:bodyPr/>
                    <a:lstStyle/>
                    <a:p>
                      <a:pPr lvl="0" indent="0" marL="0" algn="l">
                        <a:buNone/>
                      </a:pPr>
                      <a:r>
                        <a:rPr/>
                        <a:t>57%</a:t>
                      </a:r>
                    </a:p>
                  </a:txBody>
                </a:tc>
                <a:tc>
                  <a:txBody>
                    <a:bodyPr/>
                    <a:lstStyle/>
                    <a:p>
                      <a:pPr lvl="0" indent="0" marL="0" algn="r">
                        <a:buNone/>
                      </a:pPr>
                      <a:r>
                        <a:rPr/>
                        <a:t>0.76</a:t>
                      </a:r>
                    </a:p>
                  </a:txBody>
                </a:tc>
                <a:tc>
                  <a:txBody>
                    <a:bodyPr/>
                    <a:lstStyle/>
                    <a:p>
                      <a:pPr lvl="0" indent="0" marL="0" algn="r">
                        <a:buNone/>
                      </a:pPr>
                      <a:r>
                        <a:rPr/>
                        <a:t>0.70</a:t>
                      </a:r>
                    </a:p>
                  </a:txBody>
                </a:tc>
                <a:tc>
                  <a:txBody>
                    <a:bodyPr/>
                    <a:lstStyle/>
                    <a:p>
                      <a:pPr lvl="0" indent="0" marL="0" algn="r">
                        <a:buNone/>
                      </a:pPr>
                      <a:r>
                        <a:rPr/>
                        <a:t>0.58</a:t>
                      </a:r>
                    </a:p>
                  </a:txBody>
                </a:tc>
              </a:tr>
              <a:tr h="0">
                <a:tc>
                  <a:txBody>
                    <a:bodyPr/>
                    <a:lstStyle/>
                    <a:p>
                      <a:pPr lvl="0" indent="0" marL="0" algn="l">
                        <a:buNone/>
                      </a:pPr>
                      <a:r>
                        <a:rPr/>
                        <a:t>Ghana</a:t>
                      </a:r>
                    </a:p>
                  </a:txBody>
                </a:tc>
                <a:tc>
                  <a:txBody>
                    <a:bodyPr/>
                    <a:lstStyle/>
                    <a:p>
                      <a:pPr lvl="0" indent="0" marL="0" algn="l">
                        <a:buNone/>
                      </a:pPr>
                      <a:r>
                        <a:rPr/>
                        <a:t>83%</a:t>
                      </a:r>
                    </a:p>
                  </a:txBody>
                </a:tc>
                <a:tc>
                  <a:txBody>
                    <a:bodyPr/>
                    <a:lstStyle/>
                    <a:p>
                      <a:pPr lvl="0" indent="0" marL="0" algn="r">
                        <a:buNone/>
                      </a:pPr>
                      <a:r>
                        <a:rPr/>
                        <a:t>0.62</a:t>
                      </a:r>
                    </a:p>
                  </a:txBody>
                </a:tc>
                <a:tc>
                  <a:txBody>
                    <a:bodyPr/>
                    <a:lstStyle/>
                    <a:p>
                      <a:pPr lvl="0" indent="0" marL="0" algn="r">
                        <a:buNone/>
                      </a:pPr>
                      <a:r>
                        <a:rPr/>
                        <a:t>0.58</a:t>
                      </a:r>
                    </a:p>
                  </a:txBody>
                </a:tc>
                <a:tc>
                  <a:txBody>
                    <a:bodyPr/>
                    <a:lstStyle/>
                    <a:p>
                      <a:pPr lvl="0" indent="0" marL="0" algn="r">
                        <a:buNone/>
                      </a:pPr>
                      <a:r>
                        <a:rPr/>
                        <a:t>0.30</a:t>
                      </a:r>
                    </a:p>
                  </a:txBody>
                </a:tc>
              </a:tr>
              <a:tr h="0">
                <a:tc>
                  <a:txBody>
                    <a:bodyPr/>
                    <a:lstStyle/>
                    <a:p>
                      <a:pPr lvl="0" indent="0" marL="0" algn="l">
                        <a:buNone/>
                      </a:pPr>
                      <a:r>
                        <a:rPr/>
                        <a:t>Malawi</a:t>
                      </a:r>
                    </a:p>
                  </a:txBody>
                </a:tc>
                <a:tc>
                  <a:txBody>
                    <a:bodyPr/>
                    <a:lstStyle/>
                    <a:p>
                      <a:pPr lvl="0" indent="0" marL="0" algn="l">
                        <a:buNone/>
                      </a:pPr>
                      <a:r>
                        <a:rPr/>
                        <a:t>85%</a:t>
                      </a:r>
                    </a:p>
                  </a:txBody>
                </a:tc>
                <a:tc>
                  <a:txBody>
                    <a:bodyPr/>
                    <a:lstStyle/>
                    <a:p>
                      <a:pPr lvl="0" indent="0" marL="0" algn="r">
                        <a:buNone/>
                      </a:pPr>
                      <a:r>
                        <a:rPr/>
                        <a:t>0.51</a:t>
                      </a:r>
                    </a:p>
                  </a:txBody>
                </a:tc>
                <a:tc>
                  <a:txBody>
                    <a:bodyPr/>
                    <a:lstStyle/>
                    <a:p>
                      <a:pPr lvl="0" indent="0" marL="0" algn="r">
                        <a:buNone/>
                      </a:pPr>
                      <a:r>
                        <a:rPr/>
                        <a:t>0.37</a:t>
                      </a:r>
                    </a:p>
                  </a:txBody>
                </a:tc>
                <a:tc>
                  <a:txBody>
                    <a:bodyPr/>
                    <a:lstStyle/>
                    <a:p>
                      <a:pPr lvl="0" indent="0" marL="0" algn="r">
                        <a:buNone/>
                      </a:pPr>
                      <a:r>
                        <a:rPr/>
                        <a:t>0.13</a:t>
                      </a:r>
                    </a:p>
                  </a:txBody>
                </a:tc>
              </a:tr>
              <a:tr h="0">
                <a:tc>
                  <a:txBody>
                    <a:bodyPr/>
                    <a:lstStyle/>
                    <a:p>
                      <a:pPr lvl="0" indent="0" marL="0" algn="l">
                        <a:buNone/>
                      </a:pPr>
                      <a:r>
                        <a:rPr/>
                        <a:t>SierraLeone</a:t>
                      </a:r>
                    </a:p>
                  </a:txBody>
                </a:tc>
                <a:tc>
                  <a:txBody>
                    <a:bodyPr/>
                    <a:lstStyle/>
                    <a:p>
                      <a:pPr lvl="0" indent="0" marL="0" algn="l">
                        <a:buNone/>
                      </a:pPr>
                      <a:r>
                        <a:rPr/>
                        <a:t>0%</a:t>
                      </a:r>
                    </a:p>
                  </a:txBody>
                </a:tc>
                <a:tc>
                  <a:txBody>
                    <a:bodyPr/>
                    <a:lstStyle/>
                    <a:p>
                      <a:pPr lvl="0" indent="0" marL="0" algn="r">
                        <a:buNone/>
                      </a:pPr>
                      <a:r>
                        <a:rPr/>
                        <a:t>0.37</a:t>
                      </a:r>
                    </a:p>
                  </a:txBody>
                </a:tc>
                <a:tc>
                  <a:txBody>
                    <a:bodyPr/>
                    <a:lstStyle/>
                    <a:p>
                      <a:pPr lvl="0" indent="0" marL="0" algn="r">
                        <a:buNone/>
                      </a:pPr>
                      <a:r>
                        <a:rPr/>
                        <a:t>0.21</a:t>
                      </a:r>
                    </a:p>
                  </a:txBody>
                </a:tc>
                <a:tc>
                  <a:txBody>
                    <a:bodyPr/>
                    <a:lstStyle/>
                    <a:p>
                      <a:pPr lvl="0" indent="0" marL="0" algn="r">
                        <a:buNone/>
                      </a:pPr>
                      <a:r>
                        <a:rPr/>
                        <a:t>NaN</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Survey design: district error, matched sample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082800"/>
                <a:gridCol w="2578100"/>
                <a:gridCol w="2679700"/>
                <a:gridCol w="1587500"/>
                <a:gridCol w="1587500"/>
              </a:tblGrid>
              <a:tr h="0">
                <a:tc>
                  <a:txBody>
                    <a:bodyPr/>
                    <a:lstStyle/>
                    <a:p>
                      <a:pPr lvl="0" indent="0" marL="0" algn="l">
                        <a:buNone/>
                      </a:pPr>
                      <a:r>
                        <a:rPr/>
                        <a:t>Share of full sample</a:t>
                      </a:r>
                    </a:p>
                  </a:txBody>
                  <a:tcPr/>
                </a:tc>
                <a:tc>
                  <a:txBody>
                    <a:bodyPr/>
                    <a:lstStyle/>
                    <a:p>
                      <a:pPr lvl="0" indent="0" marL="0" algn="r">
                        <a:buNone/>
                      </a:pPr>
                      <a:r>
                        <a:rPr/>
                        <a:t>National anchor + ranking</a:t>
                      </a:r>
                    </a:p>
                  </a:txBody>
                  <a:tcPr/>
                </a:tc>
                <a:tc>
                  <a:txBody>
                    <a:bodyPr/>
                    <a:lstStyle/>
                    <a:p>
                      <a:pPr lvl="0" indent="0" marL="0" algn="r">
                        <a:buNone/>
                      </a:pPr>
                      <a:r>
                        <a:rPr/>
                        <a:t>Regional anchors + ranking</a:t>
                      </a:r>
                    </a:p>
                  </a:txBody>
                  <a:tcPr/>
                </a:tc>
                <a:tc>
                  <a:txBody>
                    <a:bodyPr/>
                    <a:lstStyle/>
                    <a:p>
                      <a:pPr lvl="0" indent="0" marL="0" algn="r">
                        <a:buNone/>
                      </a:pPr>
                      <a:r>
                        <a:rPr/>
                        <a:t>District survey</a:t>
                      </a:r>
                    </a:p>
                  </a:txBody>
                  <a:tcPr/>
                </a:tc>
                <a:tc>
                  <a:txBody>
                    <a:bodyPr/>
                    <a:lstStyle/>
                    <a:p>
                      <a:pPr lvl="0" indent="0" marL="0" algn="r">
                        <a:buNone/>
                      </a:pPr>
                      <a:r>
                        <a:rPr/>
                        <a:t>Regional survey</a:t>
                      </a:r>
                    </a:p>
                  </a:txBody>
                  <a:tcPr/>
                </a:tc>
              </a:tr>
              <a:tr h="0">
                <a:tc>
                  <a:txBody>
                    <a:bodyPr/>
                    <a:lstStyle/>
                    <a:p>
                      <a:pPr lvl="0" indent="0" marL="0" algn="l">
                        <a:buNone/>
                      </a:pPr>
                      <a:r>
                        <a:rPr/>
                        <a:t>5%</a:t>
                      </a:r>
                    </a:p>
                  </a:txBody>
                </a:tc>
                <a:tc>
                  <a:txBody>
                    <a:bodyPr/>
                    <a:lstStyle/>
                    <a:p>
                      <a:pPr lvl="0" indent="0" marL="0" algn="r">
                        <a:buNone/>
                      </a:pPr>
                      <a:r>
                        <a:rPr/>
                        <a:t>10.3</a:t>
                      </a:r>
                    </a:p>
                  </a:txBody>
                </a:tc>
                <a:tc>
                  <a:txBody>
                    <a:bodyPr/>
                    <a:lstStyle/>
                    <a:p>
                      <a:pPr lvl="0" indent="0" marL="0" algn="r">
                        <a:buNone/>
                      </a:pPr>
                      <a:r>
                        <a:rPr/>
                        <a:t>12.8</a:t>
                      </a:r>
                    </a:p>
                  </a:txBody>
                </a:tc>
                <a:tc>
                  <a:txBody>
                    <a:bodyPr/>
                    <a:lstStyle/>
                    <a:p>
                      <a:pPr lvl="0" indent="0" marL="0" algn="r">
                        <a:buNone/>
                      </a:pPr>
                      <a:r>
                        <a:rPr/>
                        <a:t>19.7</a:t>
                      </a:r>
                    </a:p>
                  </a:txBody>
                </a:tc>
                <a:tc>
                  <a:txBody>
                    <a:bodyPr/>
                    <a:lstStyle/>
                    <a:p>
                      <a:pPr lvl="0" indent="0" marL="0" algn="r">
                        <a:buNone/>
                      </a:pPr>
                      <a:r>
                        <a:rPr/>
                        <a:t>12.8</a:t>
                      </a:r>
                    </a:p>
                  </a:txBody>
                </a:tc>
              </a:tr>
              <a:tr h="0">
                <a:tc>
                  <a:txBody>
                    <a:bodyPr/>
                    <a:lstStyle/>
                    <a:p>
                      <a:pPr lvl="0" indent="0" marL="0" algn="l">
                        <a:buNone/>
                      </a:pPr>
                      <a:r>
                        <a:rPr/>
                        <a:t>15%</a:t>
                      </a:r>
                    </a:p>
                  </a:txBody>
                </a:tc>
                <a:tc>
                  <a:txBody>
                    <a:bodyPr/>
                    <a:lstStyle/>
                    <a:p>
                      <a:pPr lvl="0" indent="0" marL="0" algn="r">
                        <a:buNone/>
                      </a:pPr>
                      <a:r>
                        <a:rPr/>
                        <a:t>9.1</a:t>
                      </a:r>
                    </a:p>
                  </a:txBody>
                </a:tc>
                <a:tc>
                  <a:txBody>
                    <a:bodyPr/>
                    <a:lstStyle/>
                    <a:p>
                      <a:pPr lvl="0" indent="0" marL="0" algn="r">
                        <a:buNone/>
                      </a:pPr>
                      <a:r>
                        <a:rPr/>
                        <a:t>9.5</a:t>
                      </a:r>
                    </a:p>
                  </a:txBody>
                </a:tc>
                <a:tc>
                  <a:txBody>
                    <a:bodyPr/>
                    <a:lstStyle/>
                    <a:p>
                      <a:pPr lvl="0" indent="0" marL="0" algn="r">
                        <a:buNone/>
                      </a:pPr>
                      <a:r>
                        <a:rPr/>
                        <a:t>13.1</a:t>
                      </a:r>
                    </a:p>
                  </a:txBody>
                </a:tc>
                <a:tc>
                  <a:txBody>
                    <a:bodyPr/>
                    <a:lstStyle/>
                    <a:p>
                      <a:pPr lvl="0" indent="0" marL="0" algn="r">
                        <a:buNone/>
                      </a:pPr>
                      <a:r>
                        <a:rPr/>
                        <a:t>9.1</a:t>
                      </a:r>
                    </a:p>
                  </a:txBody>
                </a:tc>
              </a:tr>
              <a:tr h="0">
                <a:tc>
                  <a:txBody>
                    <a:bodyPr/>
                    <a:lstStyle/>
                    <a:p>
                      <a:pPr lvl="0" indent="0" marL="0" algn="l">
                        <a:buNone/>
                      </a:pPr>
                      <a:r>
                        <a:rPr/>
                        <a:t>25%</a:t>
                      </a:r>
                    </a:p>
                  </a:txBody>
                </a:tc>
                <a:tc>
                  <a:txBody>
                    <a:bodyPr/>
                    <a:lstStyle/>
                    <a:p>
                      <a:pPr lvl="0" indent="0" marL="0" algn="r">
                        <a:buNone/>
                      </a:pPr>
                      <a:r>
                        <a:rPr/>
                        <a:t>8.9</a:t>
                      </a:r>
                    </a:p>
                  </a:txBody>
                </a:tc>
                <a:tc>
                  <a:txBody>
                    <a:bodyPr/>
                    <a:lstStyle/>
                    <a:p>
                      <a:pPr lvl="0" indent="0" marL="0" algn="r">
                        <a:buNone/>
                      </a:pPr>
                      <a:r>
                        <a:rPr/>
                        <a:t>8.5</a:t>
                      </a:r>
                    </a:p>
                  </a:txBody>
                </a:tc>
                <a:tc>
                  <a:txBody>
                    <a:bodyPr/>
                    <a:lstStyle/>
                    <a:p>
                      <a:pPr lvl="0" indent="0" marL="0" algn="r">
                        <a:buNone/>
                      </a:pPr>
                      <a:r>
                        <a:rPr/>
                        <a:t>9.5</a:t>
                      </a:r>
                    </a:p>
                  </a:txBody>
                </a:tc>
                <a:tc>
                  <a:txBody>
                    <a:bodyPr/>
                    <a:lstStyle/>
                    <a:p>
                      <a:pPr lvl="0" indent="0" marL="0" algn="r">
                        <a:buNone/>
                      </a:pPr>
                      <a:r>
                        <a:rPr/>
                        <a:t>8.3</a:t>
                      </a:r>
                    </a:p>
                  </a:txBody>
                </a:tc>
              </a:tr>
              <a:tr h="0">
                <a:tc>
                  <a:txBody>
                    <a:bodyPr/>
                    <a:lstStyle/>
                    <a:p>
                      <a:pPr lvl="0" indent="0" marL="0" algn="l">
                        <a:buNone/>
                      </a:pPr>
                      <a:r>
                        <a:rPr/>
                        <a:t>40%</a:t>
                      </a:r>
                    </a:p>
                  </a:txBody>
                </a:tc>
                <a:tc>
                  <a:txBody>
                    <a:bodyPr/>
                    <a:lstStyle/>
                    <a:p>
                      <a:pPr lvl="0" indent="0" marL="0" algn="r">
                        <a:buNone/>
                      </a:pPr>
                      <a:r>
                        <a:rPr/>
                        <a:t>9.0</a:t>
                      </a:r>
                    </a:p>
                  </a:txBody>
                </a:tc>
                <a:tc>
                  <a:txBody>
                    <a:bodyPr/>
                    <a:lstStyle/>
                    <a:p>
                      <a:pPr lvl="0" indent="0" marL="0" algn="r">
                        <a:buNone/>
                      </a:pPr>
                      <a:r>
                        <a:rPr/>
                        <a:t>8.0</a:t>
                      </a:r>
                    </a:p>
                  </a:txBody>
                </a:tc>
                <a:tc>
                  <a:txBody>
                    <a:bodyPr/>
                    <a:lstStyle/>
                    <a:p>
                      <a:pPr lvl="0" indent="0" marL="0" algn="r">
                        <a:buNone/>
                      </a:pPr>
                      <a:r>
                        <a:rPr/>
                        <a:t>6.9</a:t>
                      </a:r>
                    </a:p>
                  </a:txBody>
                </a:tc>
                <a:tc>
                  <a:txBody>
                    <a:bodyPr/>
                    <a:lstStyle/>
                    <a:p>
                      <a:pPr lvl="0" indent="0" marL="0" algn="r">
                        <a:buNone/>
                      </a:pPr>
                      <a:r>
                        <a:rPr/>
                        <a:t>7.8</a:t>
                      </a:r>
                    </a:p>
                  </a:txBody>
                </a:tc>
              </a:tr>
              <a:tr h="0">
                <a:tc>
                  <a:txBody>
                    <a:bodyPr/>
                    <a:lstStyle/>
                    <a:p>
                      <a:pPr lvl="0" indent="0" marL="0" algn="l">
                        <a:buNone/>
                      </a:pPr>
                      <a:r>
                        <a:rPr/>
                        <a:t>60%</a:t>
                      </a:r>
                    </a:p>
                  </a:txBody>
                </a:tc>
                <a:tc>
                  <a:txBody>
                    <a:bodyPr/>
                    <a:lstStyle/>
                    <a:p>
                      <a:pPr lvl="0" indent="0" marL="0" algn="r">
                        <a:buNone/>
                      </a:pPr>
                      <a:r>
                        <a:rPr/>
                        <a:t>8.6</a:t>
                      </a:r>
                    </a:p>
                  </a:txBody>
                </a:tc>
                <a:tc>
                  <a:txBody>
                    <a:bodyPr/>
                    <a:lstStyle/>
                    <a:p>
                      <a:pPr lvl="0" indent="0" marL="0" algn="r">
                        <a:buNone/>
                      </a:pPr>
                      <a:r>
                        <a:rPr/>
                        <a:t>7.5</a:t>
                      </a:r>
                    </a:p>
                  </a:txBody>
                </a:tc>
                <a:tc>
                  <a:txBody>
                    <a:bodyPr/>
                    <a:lstStyle/>
                    <a:p>
                      <a:pPr lvl="0" indent="0" marL="0" algn="r">
                        <a:buNone/>
                      </a:pPr>
                      <a:r>
                        <a:rPr/>
                        <a:t>5.0</a:t>
                      </a:r>
                    </a:p>
                  </a:txBody>
                </a:tc>
                <a:tc>
                  <a:txBody>
                    <a:bodyPr/>
                    <a:lstStyle/>
                    <a:p>
                      <a:pPr lvl="0" indent="0" marL="0" algn="r">
                        <a:buNone/>
                      </a:pPr>
                      <a:r>
                        <a:rPr/>
                        <a:t>7.1</a:t>
                      </a:r>
                    </a:p>
                  </a:txBody>
                </a:tc>
              </a:tr>
            </a:tbl>
          </a:graphicData>
        </a:graphic>
      </p:graphicFrame>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New data tried this month</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4648200"/>
                <a:gridCol w="698500"/>
                <a:gridCol w="876300"/>
                <a:gridCol w="4292600"/>
              </a:tblGrid>
              <a:tr h="0">
                <a:tc>
                  <a:txBody>
                    <a:bodyPr/>
                    <a:lstStyle/>
                    <a:p>
                      <a:pPr lvl="0" indent="0" marL="0" algn="l">
                        <a:buNone/>
                      </a:pPr>
                      <a:r>
                        <a:rPr/>
                        <a:t>Block</a:t>
                      </a:r>
                    </a:p>
                  </a:txBody>
                  <a:tcPr/>
                </a:tc>
                <a:tc>
                  <a:txBody>
                    <a:bodyPr/>
                    <a:lstStyle/>
                    <a:p>
                      <a:pPr lvl="0" indent="0" marL="0" algn="l">
                        <a:buNone/>
                      </a:pPr>
                      <a:r>
                        <a:rPr/>
                        <a:t>In-fill</a:t>
                      </a:r>
                    </a:p>
                  </a:txBody>
                  <a:tcPr/>
                </a:tc>
                <a:tc>
                  <a:txBody>
                    <a:bodyPr/>
                    <a:lstStyle/>
                    <a:p>
                      <a:pPr lvl="0" indent="0" marL="0" algn="l">
                        <a:buNone/>
                      </a:pPr>
                      <a:r>
                        <a:rPr/>
                        <a:t>Transport</a:t>
                      </a:r>
                    </a:p>
                  </a:txBody>
                  <a:tcPr/>
                </a:tc>
                <a:tc>
                  <a:txBody>
                    <a:bodyPr/>
                    <a:lstStyle/>
                    <a:p>
                      <a:pPr lvl="0" indent="0" marL="0" algn="l">
                        <a:buNone/>
                      </a:pPr>
                      <a:r>
                        <a:rPr/>
                        <a:t>Verdict</a:t>
                      </a:r>
                    </a:p>
                  </a:txBody>
                  <a:tcPr/>
                </a:tc>
              </a:tr>
              <a:tr h="0">
                <a:tc>
                  <a:txBody>
                    <a:bodyPr/>
                    <a:lstStyle/>
                    <a:p>
                      <a:pPr lvl="0" indent="0" marL="0" algn="l">
                        <a:buNone/>
                      </a:pPr>
                      <a:r>
                        <a:rPr/>
                        <a:t>Food prices matched to fieldwork month (WFP)</a:t>
                      </a:r>
                    </a:p>
                  </a:txBody>
                </a:tc>
                <a:tc>
                  <a:txBody>
                    <a:bodyPr/>
                    <a:lstStyle/>
                    <a:p>
                      <a:pPr lvl="0" indent="0" marL="0" algn="l">
                        <a:buNone/>
                      </a:pPr>
                      <a:r>
                        <a:rPr/>
                        <a:t>+0.005</a:t>
                      </a:r>
                    </a:p>
                  </a:txBody>
                </a:tc>
                <a:tc>
                  <a:txBody>
                    <a:bodyPr/>
                    <a:lstStyle/>
                    <a:p>
                      <a:pPr lvl="0" indent="0" marL="0" algn="l">
                        <a:buNone/>
                      </a:pPr>
                      <a:r>
                        <a:rPr/>
                        <a:t>+0.002</a:t>
                      </a:r>
                    </a:p>
                  </a:txBody>
                </a:tc>
                <a:tc>
                  <a:txBody>
                    <a:bodyPr/>
                    <a:lstStyle/>
                    <a:p>
                      <a:pPr lvl="0" indent="0" marL="0" algn="l">
                        <a:buNone/>
                      </a:pPr>
                      <a:r>
                        <a:rPr/>
                        <a:t>No gain; signs follow the urban gradient</a:t>
                      </a:r>
                    </a:p>
                  </a:txBody>
                </a:tc>
              </a:tr>
              <a:tr h="0">
                <a:tc>
                  <a:txBody>
                    <a:bodyPr/>
                    <a:lstStyle/>
                    <a:p>
                      <a:pPr lvl="0" indent="0" marL="0" algn="l">
                        <a:buNone/>
                      </a:pPr>
                      <a:r>
                        <a:rPr/>
                        <a:t>Temperature and rainfall matched to fieldwork window</a:t>
                      </a:r>
                    </a:p>
                  </a:txBody>
                </a:tc>
                <a:tc>
                  <a:txBody>
                    <a:bodyPr/>
                    <a:lstStyle/>
                    <a:p>
                      <a:pPr lvl="0" indent="0" marL="0" algn="l">
                        <a:buNone/>
                      </a:pPr>
                      <a:r>
                        <a:rPr/>
                        <a:t>+0.001</a:t>
                      </a:r>
                    </a:p>
                  </a:txBody>
                </a:tc>
                <a:tc>
                  <a:txBody>
                    <a:bodyPr/>
                    <a:lstStyle/>
                    <a:p>
                      <a:pPr lvl="0" indent="0" marL="0" algn="l">
                        <a:buNone/>
                      </a:pPr>
                      <a:r>
                        <a:rPr/>
                        <a:t>+0.002</a:t>
                      </a:r>
                    </a:p>
                  </a:txBody>
                </a:tc>
                <a:tc>
                  <a:txBody>
                    <a:bodyPr/>
                    <a:lstStyle/>
                    <a:p>
                      <a:pPr lvl="0" indent="0" marL="0" algn="l">
                        <a:buNone/>
                      </a:pPr>
                      <a:r>
                        <a:rPr/>
                        <a:t>Strong associations, no fold improves</a:t>
                      </a:r>
                    </a:p>
                  </a:txBody>
                </a:tc>
              </a:tr>
              <a:tr h="0">
                <a:tc>
                  <a:txBody>
                    <a:bodyPr/>
                    <a:lstStyle/>
                    <a:p>
                      <a:pPr lvl="0" indent="0" marL="0" algn="l">
                        <a:buNone/>
                      </a:pPr>
                      <a:r>
                        <a:rPr/>
                        <a:t>AlphaEarth embedding as its own domain</a:t>
                      </a:r>
                    </a:p>
                  </a:txBody>
                </a:tc>
                <a:tc>
                  <a:txBody>
                    <a:bodyPr/>
                    <a:lstStyle/>
                    <a:p>
                      <a:pPr lvl="0" indent="0" marL="0" algn="l">
                        <a:buNone/>
                      </a:pPr>
                      <a:r>
                        <a:rPr/>
                        <a:t>0.000</a:t>
                      </a:r>
                    </a:p>
                  </a:txBody>
                </a:tc>
                <a:tc>
                  <a:txBody>
                    <a:bodyPr/>
                    <a:lstStyle/>
                    <a:p>
                      <a:pPr lvl="0" indent="0" marL="0" algn="l">
                        <a:buNone/>
                      </a:pPr>
                      <a:r>
                        <a:rPr/>
                        <a:t>+0.009</a:t>
                      </a:r>
                    </a:p>
                  </a:txBody>
                </a:tc>
                <a:tc>
                  <a:txBody>
                    <a:bodyPr/>
                    <a:lstStyle/>
                    <a:p>
                      <a:pPr lvl="0" indent="0" marL="0" algn="l">
                        <a:buNone/>
                      </a:pPr>
                      <a:r>
                        <a:rPr/>
                        <a:t>Replicated signal, nothing beyond climate + soil</a:t>
                      </a:r>
                    </a:p>
                  </a:txBody>
                </a:tc>
              </a:tr>
            </a:tbl>
          </a:graphicData>
        </a:graphic>
      </p:graphicFrame>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Fitting at the survey cluster, not the district</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374900"/>
                <a:gridCol w="1803400"/>
                <a:gridCol w="4521200"/>
                <a:gridCol w="1803400"/>
              </a:tblGrid>
              <a:tr h="0">
                <a:tc>
                  <a:txBody>
                    <a:bodyPr/>
                    <a:lstStyle/>
                    <a:p>
                      <a:pPr lvl="0" indent="0" marL="0" algn="l">
                        <a:buNone/>
                      </a:pPr>
                      <a:r>
                        <a:rPr/>
                        <a:t>Estimand</a:t>
                      </a:r>
                    </a:p>
                  </a:txBody>
                  <a:tcPr/>
                </a:tc>
                <a:tc>
                  <a:txBody>
                    <a:bodyPr/>
                    <a:lstStyle/>
                    <a:p>
                      <a:pPr lvl="0" indent="0" marL="0" algn="l">
                        <a:buNone/>
                      </a:pPr>
                      <a:r>
                        <a:rPr/>
                        <a:t>Target</a:t>
                      </a:r>
                    </a:p>
                  </a:txBody>
                  <a:tcPr/>
                </a:tc>
                <a:tc>
                  <a:txBody>
                    <a:bodyPr/>
                    <a:lstStyle/>
                    <a:p>
                      <a:pPr lvl="0" indent="0" marL="0" algn="r">
                        <a:buNone/>
                      </a:pPr>
                      <a:r>
                        <a:rPr/>
                        <a:t>Cluster-fitted, aggregated to districts</a:t>
                      </a:r>
                    </a:p>
                  </a:txBody>
                  <a:tcPr/>
                </a:tc>
                <a:tc>
                  <a:txBody>
                    <a:bodyPr/>
                    <a:lstStyle/>
                    <a:p>
                      <a:pPr lvl="0" indent="0" marL="0" algn="r">
                        <a:buNone/>
                      </a:pPr>
                      <a:r>
                        <a:rPr/>
                        <a:t>District-fitted</a:t>
                      </a:r>
                    </a:p>
                  </a:txBody>
                  <a:tcPr/>
                </a:tc>
              </a:tr>
              <a:tr h="0">
                <a:tc>
                  <a:txBody>
                    <a:bodyPr/>
                    <a:lstStyle/>
                    <a:p>
                      <a:pPr lvl="0" indent="0" marL="0" algn="l">
                        <a:buNone/>
                      </a:pPr>
                      <a:r>
                        <a:rPr/>
                        <a:t>In-fill</a:t>
                      </a:r>
                    </a:p>
                  </a:txBody>
                </a:tc>
                <a:tc>
                  <a:txBody>
                    <a:bodyPr/>
                    <a:lstStyle/>
                    <a:p>
                      <a:pPr lvl="0" indent="0" marL="0" algn="l">
                        <a:buNone/>
                      </a:pPr>
                      <a:r>
                        <a:rPr/>
                        <a:t>Biomarker level</a:t>
                      </a:r>
                    </a:p>
                  </a:txBody>
                </a:tc>
                <a:tc>
                  <a:txBody>
                    <a:bodyPr/>
                    <a:lstStyle/>
                    <a:p>
                      <a:pPr lvl="0" indent="0" marL="0" algn="r">
                        <a:buNone/>
                      </a:pPr>
                      <a:r>
                        <a:rPr/>
                        <a:t>0.38</a:t>
                      </a:r>
                    </a:p>
                  </a:txBody>
                </a:tc>
                <a:tc>
                  <a:txBody>
                    <a:bodyPr/>
                    <a:lstStyle/>
                    <a:p>
                      <a:pPr lvl="0" indent="0" marL="0" algn="r">
                        <a:buNone/>
                      </a:pPr>
                      <a:r>
                        <a:rPr/>
                        <a:t>0.40</a:t>
                      </a:r>
                    </a:p>
                  </a:txBody>
                </a:tc>
              </a:tr>
              <a:tr h="0">
                <a:tc>
                  <a:txBody>
                    <a:bodyPr/>
                    <a:lstStyle/>
                    <a:p>
                      <a:pPr lvl="0" indent="0" marL="0" algn="l">
                        <a:buNone/>
                      </a:pPr>
                      <a:r>
                        <a:rPr/>
                        <a:t>In-fill</a:t>
                      </a:r>
                    </a:p>
                  </a:txBody>
                </a:tc>
                <a:tc>
                  <a:txBody>
                    <a:bodyPr/>
                    <a:lstStyle/>
                    <a:p>
                      <a:pPr lvl="0" indent="0" marL="0" algn="l">
                        <a:buNone/>
                      </a:pPr>
                      <a:r>
                        <a:rPr/>
                        <a:t>Prevalence</a:t>
                      </a:r>
                    </a:p>
                  </a:txBody>
                </a:tc>
                <a:tc>
                  <a:txBody>
                    <a:bodyPr/>
                    <a:lstStyle/>
                    <a:p>
                      <a:pPr lvl="0" indent="0" marL="0" algn="r">
                        <a:buNone/>
                      </a:pPr>
                      <a:r>
                        <a:rPr/>
                        <a:t>0.21</a:t>
                      </a:r>
                    </a:p>
                  </a:txBody>
                </a:tc>
                <a:tc>
                  <a:txBody>
                    <a:bodyPr/>
                    <a:lstStyle/>
                    <a:p>
                      <a:pPr lvl="0" indent="0" marL="0" algn="r">
                        <a:buNone/>
                      </a:pPr>
                      <a:r>
                        <a:rPr/>
                        <a:t>0.29</a:t>
                      </a:r>
                    </a:p>
                  </a:txBody>
                </a:tc>
              </a:tr>
              <a:tr h="0">
                <a:tc>
                  <a:txBody>
                    <a:bodyPr/>
                    <a:lstStyle/>
                    <a:p>
                      <a:pPr lvl="0" indent="0" marL="0" algn="l">
                        <a:buNone/>
                      </a:pPr>
                      <a:r>
                        <a:rPr/>
                        <a:t>Region extrapolation</a:t>
                      </a:r>
                    </a:p>
                  </a:txBody>
                </a:tc>
                <a:tc>
                  <a:txBody>
                    <a:bodyPr/>
                    <a:lstStyle/>
                    <a:p>
                      <a:pPr lvl="0" indent="0" marL="0" algn="l">
                        <a:buNone/>
                      </a:pPr>
                      <a:r>
                        <a:rPr/>
                        <a:t>Biomarker level</a:t>
                      </a:r>
                    </a:p>
                  </a:txBody>
                </a:tc>
                <a:tc>
                  <a:txBody>
                    <a:bodyPr/>
                    <a:lstStyle/>
                    <a:p>
                      <a:pPr lvl="0" indent="0" marL="0" algn="r">
                        <a:buNone/>
                      </a:pPr>
                      <a:r>
                        <a:rPr/>
                        <a:t>0.36</a:t>
                      </a:r>
                    </a:p>
                  </a:txBody>
                </a:tc>
                <a:tc>
                  <a:txBody>
                    <a:bodyPr/>
                    <a:lstStyle/>
                    <a:p>
                      <a:pPr lvl="0" indent="0" marL="0" algn="r">
                        <a:buNone/>
                      </a:pPr>
                      <a:r>
                        <a:rPr/>
                        <a:t>0.38</a:t>
                      </a:r>
                    </a:p>
                  </a:txBody>
                </a:tc>
              </a:tr>
              <a:tr h="0">
                <a:tc>
                  <a:txBody>
                    <a:bodyPr/>
                    <a:lstStyle/>
                    <a:p>
                      <a:pPr lvl="0" indent="0" marL="0" algn="l">
                        <a:buNone/>
                      </a:pPr>
                      <a:r>
                        <a:rPr/>
                        <a:t>Region extrapolation</a:t>
                      </a:r>
                    </a:p>
                  </a:txBody>
                </a:tc>
                <a:tc>
                  <a:txBody>
                    <a:bodyPr/>
                    <a:lstStyle/>
                    <a:p>
                      <a:pPr lvl="0" indent="0" marL="0" algn="l">
                        <a:buNone/>
                      </a:pPr>
                      <a:r>
                        <a:rPr/>
                        <a:t>Prevalence</a:t>
                      </a:r>
                    </a:p>
                  </a:txBody>
                </a:tc>
                <a:tc>
                  <a:txBody>
                    <a:bodyPr/>
                    <a:lstStyle/>
                    <a:p>
                      <a:pPr lvl="0" indent="0" marL="0" algn="r">
                        <a:buNone/>
                      </a:pPr>
                      <a:r>
                        <a:rPr/>
                        <a:t>0.21</a:t>
                      </a:r>
                    </a:p>
                  </a:txBody>
                </a:tc>
                <a:tc>
                  <a:txBody>
                    <a:bodyPr/>
                    <a:lstStyle/>
                    <a:p>
                      <a:pPr lvl="0" indent="0" marL="0" algn="r">
                        <a:buNone/>
                      </a:pPr>
                      <a:r>
                        <a:rPr/>
                        <a:t>0.27</a:t>
                      </a:r>
                    </a:p>
                  </a:txBody>
                </a:tc>
              </a:tr>
            </a:tbl>
          </a:graphicData>
        </a:graphic>
      </p:graphicFrame>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National-level track (BRINDA / VMNIS)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536700"/>
                <a:gridCol w="1397000"/>
                <a:gridCol w="2247900"/>
                <a:gridCol w="2387600"/>
                <a:gridCol w="2946400"/>
              </a:tblGrid>
              <a:tr h="0">
                <a:tc>
                  <a:txBody>
                    <a:bodyPr/>
                    <a:lstStyle/>
                    <a:p>
                      <a:pPr lvl="0" indent="0" marL="0" algn="l">
                        <a:buNone/>
                      </a:pPr>
                      <a:r>
                        <a:rPr/>
                        <a:t>Outcome</a:t>
                      </a:r>
                    </a:p>
                  </a:txBody>
                  <a:tcPr/>
                </a:tc>
                <a:tc>
                  <a:txBody>
                    <a:bodyPr/>
                    <a:lstStyle/>
                    <a:p>
                      <a:pPr lvl="0" indent="0" marL="0" algn="r">
                        <a:buNone/>
                      </a:pPr>
                      <a:r>
                        <a:rPr/>
                        <a:t>Countries</a:t>
                      </a:r>
                    </a:p>
                  </a:txBody>
                  <a:tcPr/>
                </a:tc>
                <a:tc>
                  <a:txBody>
                    <a:bodyPr/>
                    <a:lstStyle/>
                    <a:p>
                      <a:pPr lvl="0" indent="0" marL="0" algn="r">
                        <a:buNone/>
                      </a:pPr>
                      <a:r>
                        <a:rPr/>
                        <a:t>Observed (mean)</a:t>
                      </a:r>
                    </a:p>
                  </a:txBody>
                  <a:tcPr/>
                </a:tc>
                <a:tc>
                  <a:txBody>
                    <a:bodyPr/>
                    <a:lstStyle/>
                    <a:p>
                      <a:pPr lvl="0" indent="0" marL="0" algn="r">
                        <a:buNone/>
                      </a:pPr>
                      <a:r>
                        <a:rPr/>
                        <a:t>Predicted (mean)</a:t>
                      </a:r>
                    </a:p>
                  </a:txBody>
                  <a:tcPr/>
                </a:tc>
                <a:tc>
                  <a:txBody>
                    <a:bodyPr/>
                    <a:lstStyle/>
                    <a:p>
                      <a:pPr lvl="0" indent="0" marL="0" algn="r">
                        <a:buNone/>
                      </a:pPr>
                      <a:r>
                        <a:rPr/>
                        <a:t>Mean abs. error (pp)</a:t>
                      </a:r>
                    </a:p>
                  </a:txBody>
                  <a:tcPr/>
                </a:tc>
              </a:tr>
              <a:tr h="0">
                <a:tc>
                  <a:txBody>
                    <a:bodyPr/>
                    <a:lstStyle/>
                    <a:p>
                      <a:pPr lvl="0" indent="0" marL="0" algn="l">
                        <a:buNone/>
                      </a:pPr>
                      <a:r>
                        <a:rPr/>
                        <a:t>child_iron</a:t>
                      </a:r>
                    </a:p>
                  </a:txBody>
                </a:tc>
                <a:tc>
                  <a:txBody>
                    <a:bodyPr/>
                    <a:lstStyle/>
                    <a:p>
                      <a:pPr lvl="0" indent="0" marL="0" algn="r">
                        <a:buNone/>
                      </a:pPr>
                      <a:r>
                        <a:rPr/>
                        <a:t>4</a:t>
                      </a:r>
                    </a:p>
                  </a:txBody>
                </a:tc>
                <a:tc>
                  <a:txBody>
                    <a:bodyPr/>
                    <a:lstStyle/>
                    <a:p>
                      <a:pPr lvl="0" indent="0" marL="0" algn="r">
                        <a:buNone/>
                      </a:pPr>
                      <a:r>
                        <a:rPr/>
                        <a:t>0.19</a:t>
                      </a:r>
                    </a:p>
                  </a:txBody>
                </a:tc>
                <a:tc>
                  <a:txBody>
                    <a:bodyPr/>
                    <a:lstStyle/>
                    <a:p>
                      <a:pPr lvl="0" indent="0" marL="0" algn="r">
                        <a:buNone/>
                      </a:pPr>
                      <a:r>
                        <a:rPr/>
                        <a:t>0.21</a:t>
                      </a:r>
                    </a:p>
                  </a:txBody>
                </a:tc>
                <a:tc>
                  <a:txBody>
                    <a:bodyPr/>
                    <a:lstStyle/>
                    <a:p>
                      <a:pPr lvl="0" indent="0" marL="0" algn="r">
                        <a:buNone/>
                      </a:pPr>
                      <a:r>
                        <a:rPr/>
                        <a:t>2.09</a:t>
                      </a:r>
                    </a:p>
                  </a:txBody>
                </a:tc>
              </a:tr>
              <a:tr h="0">
                <a:tc>
                  <a:txBody>
                    <a:bodyPr/>
                    <a:lstStyle/>
                    <a:p>
                      <a:pPr lvl="0" indent="0" marL="0" algn="l">
                        <a:buNone/>
                      </a:pPr>
                      <a:r>
                        <a:rPr/>
                        <a:t>child_vitA</a:t>
                      </a:r>
                    </a:p>
                  </a:txBody>
                </a:tc>
                <a:tc>
                  <a:txBody>
                    <a:bodyPr/>
                    <a:lstStyle/>
                    <a:p>
                      <a:pPr lvl="0" indent="0" marL="0" algn="r">
                        <a:buNone/>
                      </a:pPr>
                      <a:r>
                        <a:rPr/>
                        <a:t>4</a:t>
                      </a:r>
                    </a:p>
                  </a:txBody>
                </a:tc>
                <a:tc>
                  <a:txBody>
                    <a:bodyPr/>
                    <a:lstStyle/>
                    <a:p>
                      <a:pPr lvl="0" indent="0" marL="0" algn="r">
                        <a:buNone/>
                      </a:pPr>
                      <a:r>
                        <a:rPr/>
                        <a:t>0.14</a:t>
                      </a:r>
                    </a:p>
                  </a:txBody>
                </a:tc>
                <a:tc>
                  <a:txBody>
                    <a:bodyPr/>
                    <a:lstStyle/>
                    <a:p>
                      <a:pPr lvl="0" indent="0" marL="0" algn="r">
                        <a:buNone/>
                      </a:pPr>
                      <a:r>
                        <a:rPr/>
                        <a:t>0.14</a:t>
                      </a:r>
                    </a:p>
                  </a:txBody>
                </a:tc>
                <a:tc>
                  <a:txBody>
                    <a:bodyPr/>
                    <a:lstStyle/>
                    <a:p>
                      <a:pPr lvl="0" indent="0" marL="0" algn="r">
                        <a:buNone/>
                      </a:pPr>
                      <a:r>
                        <a:rPr/>
                        <a:t>0.94</a:t>
                      </a:r>
                    </a:p>
                  </a:txBody>
                </a:tc>
              </a:tr>
              <a:tr h="0">
                <a:tc>
                  <a:txBody>
                    <a:bodyPr/>
                    <a:lstStyle/>
                    <a:p>
                      <a:pPr lvl="0" indent="0" marL="0" algn="l">
                        <a:buNone/>
                      </a:pPr>
                      <a:r>
                        <a:rPr/>
                        <a:t>women_iron</a:t>
                      </a:r>
                    </a:p>
                  </a:txBody>
                </a:tc>
                <a:tc>
                  <a:txBody>
                    <a:bodyPr/>
                    <a:lstStyle/>
                    <a:p>
                      <a:pPr lvl="0" indent="0" marL="0" algn="r">
                        <a:buNone/>
                      </a:pPr>
                      <a:r>
                        <a:rPr/>
                        <a:t>4</a:t>
                      </a:r>
                    </a:p>
                  </a:txBody>
                </a:tc>
                <a:tc>
                  <a:txBody>
                    <a:bodyPr/>
                    <a:lstStyle/>
                    <a:p>
                      <a:pPr lvl="0" indent="0" marL="0" algn="r">
                        <a:buNone/>
                      </a:pPr>
                      <a:r>
                        <a:rPr/>
                        <a:t>0.14</a:t>
                      </a:r>
                    </a:p>
                  </a:txBody>
                </a:tc>
                <a:tc>
                  <a:txBody>
                    <a:bodyPr/>
                    <a:lstStyle/>
                    <a:p>
                      <a:pPr lvl="0" indent="0" marL="0" algn="r">
                        <a:buNone/>
                      </a:pPr>
                      <a:r>
                        <a:rPr/>
                        <a:t>0.14</a:t>
                      </a:r>
                    </a:p>
                  </a:txBody>
                </a:tc>
                <a:tc>
                  <a:txBody>
                    <a:bodyPr/>
                    <a:lstStyle/>
                    <a:p>
                      <a:pPr lvl="0" indent="0" marL="0" algn="r">
                        <a:buNone/>
                      </a:pPr>
                      <a:r>
                        <a:rPr/>
                        <a:t>0.63</a:t>
                      </a:r>
                    </a:p>
                  </a:txBody>
                </a:tc>
              </a:tr>
              <a:tr h="0">
                <a:tc>
                  <a:txBody>
                    <a:bodyPr/>
                    <a:lstStyle/>
                    <a:p>
                      <a:pPr lvl="0" indent="0" marL="0" algn="l">
                        <a:buNone/>
                      </a:pPr>
                      <a:r>
                        <a:rPr/>
                        <a:t>women_vitA</a:t>
                      </a:r>
                    </a:p>
                  </a:txBody>
                </a:tc>
                <a:tc>
                  <a:txBody>
                    <a:bodyPr/>
                    <a:lstStyle/>
                    <a:p>
                      <a:pPr lvl="0" indent="0" marL="0" algn="r">
                        <a:buNone/>
                      </a:pPr>
                      <a:r>
                        <a:rPr/>
                        <a:t>4</a:t>
                      </a:r>
                    </a:p>
                  </a:txBody>
                </a:tc>
                <a:tc>
                  <a:txBody>
                    <a:bodyPr/>
                    <a:lstStyle/>
                    <a:p>
                      <a:pPr lvl="0" indent="0" marL="0" algn="r">
                        <a:buNone/>
                      </a:pPr>
                      <a:r>
                        <a:rPr/>
                        <a:t>0.02</a:t>
                      </a:r>
                    </a:p>
                  </a:txBody>
                </a:tc>
                <a:tc>
                  <a:txBody>
                    <a:bodyPr/>
                    <a:lstStyle/>
                    <a:p>
                      <a:pPr lvl="0" indent="0" marL="0" algn="r">
                        <a:buNone/>
                      </a:pPr>
                      <a:r>
                        <a:rPr/>
                        <a:t>0.02</a:t>
                      </a:r>
                    </a:p>
                  </a:txBody>
                </a:tc>
                <a:tc>
                  <a:txBody>
                    <a:bodyPr/>
                    <a:lstStyle/>
                    <a:p>
                      <a:pPr lvl="0" indent="0" marL="0" algn="r">
                        <a:buNone/>
                      </a:pPr>
                      <a:r>
                        <a:rPr/>
                        <a:t>0.23</a:t>
                      </a:r>
                    </a:p>
                  </a:txBody>
                </a:tc>
              </a:tr>
            </a:tbl>
          </a:graphicData>
        </a:graphic>
      </p:graphicFrame>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 classes: how often the model gets the WHO band right</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4064000"/>
                <a:gridCol w="1473200"/>
                <a:gridCol w="1943100"/>
                <a:gridCol w="1295400"/>
                <a:gridCol w="1752600"/>
              </a:tblGrid>
              <a:tr h="0">
                <a:tc>
                  <a:txBody>
                    <a:bodyPr/>
                    <a:lstStyle/>
                    <a:p>
                      <a:pPr lvl="0" indent="0" marL="0" algn="l">
                        <a:buNone/>
                      </a:pPr>
                      <a:r>
                        <a:rPr/>
                        <a:t>Model</a:t>
                      </a:r>
                    </a:p>
                  </a:txBody>
                  <a:tcPr/>
                </a:tc>
                <a:tc>
                  <a:txBody>
                    <a:bodyPr/>
                    <a:lstStyle/>
                    <a:p>
                      <a:pPr lvl="0" indent="0" marL="0" algn="l">
                        <a:buNone/>
                      </a:pPr>
                      <a:r>
                        <a:rPr/>
                        <a:t>Exact, district</a:t>
                      </a:r>
                    </a:p>
                  </a:txBody>
                  <a:tcPr/>
                </a:tc>
                <a:tc>
                  <a:txBody>
                    <a:bodyPr/>
                    <a:lstStyle/>
                    <a:p>
                      <a:pPr lvl="0" indent="0" marL="0" algn="l">
                        <a:buNone/>
                      </a:pPr>
                      <a:r>
                        <a:rPr/>
                        <a:t>Within one, district</a:t>
                      </a:r>
                    </a:p>
                  </a:txBody>
                  <a:tcPr/>
                </a:tc>
                <a:tc>
                  <a:txBody>
                    <a:bodyPr/>
                    <a:lstStyle/>
                    <a:p>
                      <a:pPr lvl="0" indent="0" marL="0" algn="l">
                        <a:buNone/>
                      </a:pPr>
                      <a:r>
                        <a:rPr/>
                        <a:t>Exact, region</a:t>
                      </a:r>
                    </a:p>
                  </a:txBody>
                  <a:tcPr/>
                </a:tc>
                <a:tc>
                  <a:txBody>
                    <a:bodyPr/>
                    <a:lstStyle/>
                    <a:p>
                      <a:pPr lvl="0" indent="0" marL="0" algn="l">
                        <a:buNone/>
                      </a:pPr>
                      <a:r>
                        <a:rPr/>
                        <a:t>Within one, region</a:t>
                      </a:r>
                    </a:p>
                  </a:txBody>
                  <a:tcPr/>
                </a:tc>
              </a:tr>
              <a:tr h="0">
                <a:tc>
                  <a:txBody>
                    <a:bodyPr/>
                    <a:lstStyle/>
                    <a:p>
                      <a:pPr lvl="0" indent="0" marL="0" algn="l">
                        <a:buNone/>
                      </a:pPr>
                      <a:r>
                        <a:rPr/>
                        <a:t>Transport, full index + national anchor</a:t>
                      </a:r>
                    </a:p>
                  </a:txBody>
                </a:tc>
                <a:tc>
                  <a:txBody>
                    <a:bodyPr/>
                    <a:lstStyle/>
                    <a:p>
                      <a:pPr lvl="0" indent="0" marL="0" algn="l">
                        <a:buNone/>
                      </a:pPr>
                      <a:r>
                        <a:rPr/>
                        <a:t>60%</a:t>
                      </a:r>
                    </a:p>
                  </a:txBody>
                </a:tc>
                <a:tc>
                  <a:txBody>
                    <a:bodyPr/>
                    <a:lstStyle/>
                    <a:p>
                      <a:pPr lvl="0" indent="0" marL="0" algn="l">
                        <a:buNone/>
                      </a:pPr>
                      <a:r>
                        <a:rPr/>
                        <a:t>95%</a:t>
                      </a:r>
                    </a:p>
                  </a:txBody>
                </a:tc>
                <a:tc>
                  <a:txBody>
                    <a:bodyPr/>
                    <a:lstStyle/>
                    <a:p>
                      <a:pPr lvl="0" indent="0" marL="0" algn="l">
                        <a:buNone/>
                      </a:pPr>
                      <a:r>
                        <a:rPr/>
                        <a:t>78%</a:t>
                      </a:r>
                    </a:p>
                  </a:txBody>
                </a:tc>
                <a:tc>
                  <a:txBody>
                    <a:bodyPr/>
                    <a:lstStyle/>
                    <a:p>
                      <a:pPr lvl="0" indent="0" marL="0" algn="l">
                        <a:buNone/>
                      </a:pPr>
                      <a:r>
                        <a:rPr/>
                        <a:t>100%</a:t>
                      </a:r>
                    </a:p>
                  </a:txBody>
                </a:tc>
              </a:tr>
              <a:tr h="0">
                <a:tc>
                  <a:txBody>
                    <a:bodyPr/>
                    <a:lstStyle/>
                    <a:p>
                      <a:pPr lvl="0" indent="0" marL="0" algn="l">
                        <a:buNone/>
                      </a:pPr>
                      <a:r>
                        <a:rPr/>
                        <a:t>Transport, climate + soil + national anchor</a:t>
                      </a:r>
                    </a:p>
                  </a:txBody>
                </a:tc>
                <a:tc>
                  <a:txBody>
                    <a:bodyPr/>
                    <a:lstStyle/>
                    <a:p>
                      <a:pPr lvl="0" indent="0" marL="0" algn="l">
                        <a:buNone/>
                      </a:pPr>
                      <a:r>
                        <a:rPr/>
                        <a:t>60%</a:t>
                      </a:r>
                    </a:p>
                  </a:txBody>
                </a:tc>
                <a:tc>
                  <a:txBody>
                    <a:bodyPr/>
                    <a:lstStyle/>
                    <a:p>
                      <a:pPr lvl="0" indent="0" marL="0" algn="l">
                        <a:buNone/>
                      </a:pPr>
                      <a:r>
                        <a:rPr/>
                        <a:t>95%</a:t>
                      </a:r>
                    </a:p>
                  </a:txBody>
                </a:tc>
                <a:tc>
                  <a:txBody>
                    <a:bodyPr/>
                    <a:lstStyle/>
                    <a:p>
                      <a:pPr lvl="0" indent="0" marL="0" algn="l">
                        <a:buNone/>
                      </a:pPr>
                      <a:r>
                        <a:rPr/>
                        <a:t>75%</a:t>
                      </a:r>
                    </a:p>
                  </a:txBody>
                </a:tc>
                <a:tc>
                  <a:txBody>
                    <a:bodyPr/>
                    <a:lstStyle/>
                    <a:p>
                      <a:pPr lvl="0" indent="0" marL="0" algn="l">
                        <a:buNone/>
                      </a:pPr>
                      <a:r>
                        <a:rPr/>
                        <a:t>100%</a:t>
                      </a:r>
                    </a:p>
                  </a:txBody>
                </a:tc>
              </a:tr>
              <a:tr h="0">
                <a:tc>
                  <a:txBody>
                    <a:bodyPr/>
                    <a:lstStyle/>
                    <a:p>
                      <a:pPr lvl="0" indent="0" marL="0" algn="l">
                        <a:buNone/>
                      </a:pPr>
                      <a:r>
                        <a:rPr/>
                        <a:t>Smoother + covariates, in-fill</a:t>
                      </a:r>
                    </a:p>
                  </a:txBody>
                </a:tc>
                <a:tc>
                  <a:txBody>
                    <a:bodyPr/>
                    <a:lstStyle/>
                    <a:p>
                      <a:pPr lvl="0" indent="0" marL="0" algn="l">
                        <a:buNone/>
                      </a:pPr>
                      <a:r>
                        <a:rPr/>
                        <a:t>68%</a:t>
                      </a:r>
                    </a:p>
                  </a:txBody>
                </a:tc>
                <a:tc>
                  <a:txBody>
                    <a:bodyPr/>
                    <a:lstStyle/>
                    <a:p>
                      <a:pPr lvl="0" indent="0" marL="0" algn="l">
                        <a:buNone/>
                      </a:pPr>
                      <a:r>
                        <a:rPr/>
                        <a:t>94%</a:t>
                      </a:r>
                    </a:p>
                  </a:txBody>
                </a:tc>
                <a:tc>
                  <a:txBody>
                    <a:bodyPr/>
                    <a:lstStyle/>
                    <a:p>
                      <a:pPr lvl="0" indent="0" marL="0" algn="l">
                        <a:buNone/>
                      </a:pPr>
                      <a:r>
                        <a:rPr/>
                        <a:t>77%</a:t>
                      </a:r>
                    </a:p>
                  </a:txBody>
                </a:tc>
                <a:tc>
                  <a:txBody>
                    <a:bodyPr/>
                    <a:lstStyle/>
                    <a:p>
                      <a:pPr lvl="0" indent="0" marL="0" algn="l">
                        <a:buNone/>
                      </a:pPr>
                      <a:r>
                        <a:rPr/>
                        <a:t>100%</a:t>
                      </a:r>
                    </a:p>
                  </a:txBody>
                </a:tc>
              </a:tr>
              <a:tr h="0">
                <a:tc>
                  <a:txBody>
                    <a:bodyPr/>
                    <a:lstStyle/>
                    <a:p>
                      <a:pPr lvl="0" indent="0" marL="0" algn="l">
                        <a:buNone/>
                      </a:pPr>
                      <a:r>
                        <a:rPr/>
                        <a:t>Spatial smoother, in-fill</a:t>
                      </a:r>
                    </a:p>
                  </a:txBody>
                </a:tc>
                <a:tc>
                  <a:txBody>
                    <a:bodyPr/>
                    <a:lstStyle/>
                    <a:p>
                      <a:pPr lvl="0" indent="0" marL="0" algn="l">
                        <a:buNone/>
                      </a:pPr>
                      <a:r>
                        <a:rPr/>
                        <a:t>68%</a:t>
                      </a:r>
                    </a:p>
                  </a:txBody>
                </a:tc>
                <a:tc>
                  <a:txBody>
                    <a:bodyPr/>
                    <a:lstStyle/>
                    <a:p>
                      <a:pPr lvl="0" indent="0" marL="0" algn="l">
                        <a:buNone/>
                      </a:pPr>
                      <a:r>
                        <a:rPr/>
                        <a:t>94%</a:t>
                      </a:r>
                    </a:p>
                  </a:txBody>
                </a:tc>
                <a:tc>
                  <a:txBody>
                    <a:bodyPr/>
                    <a:lstStyle/>
                    <a:p>
                      <a:pPr lvl="0" indent="0" marL="0" algn="l">
                        <a:buNone/>
                      </a:pPr>
                      <a:r>
                        <a:rPr/>
                        <a:t>75%</a:t>
                      </a:r>
                    </a:p>
                  </a:txBody>
                </a:tc>
                <a:tc>
                  <a:txBody>
                    <a:bodyPr/>
                    <a:lstStyle/>
                    <a:p>
                      <a:pPr lvl="0" indent="0" marL="0" algn="l">
                        <a:buNone/>
                      </a:pPr>
                      <a:r>
                        <a:rPr/>
                        <a:t>100%</a:t>
                      </a:r>
                    </a:p>
                  </a:txBody>
                </a:tc>
              </a:tr>
              <a:tr h="0">
                <a:tc>
                  <a:txBody>
                    <a:bodyPr/>
                    <a:lstStyle/>
                    <a:p>
                      <a:pPr lvl="0" indent="0" marL="0" algn="l">
                        <a:buNone/>
                      </a:pPr>
                      <a:r>
                        <a:rPr/>
                        <a:t>Zero-tuning index, in-fill</a:t>
                      </a:r>
                    </a:p>
                  </a:txBody>
                </a:tc>
                <a:tc>
                  <a:txBody>
                    <a:bodyPr/>
                    <a:lstStyle/>
                    <a:p>
                      <a:pPr lvl="0" indent="0" marL="0" algn="l">
                        <a:buNone/>
                      </a:pPr>
                      <a:r>
                        <a:rPr/>
                        <a:t>66%</a:t>
                      </a:r>
                    </a:p>
                  </a:txBody>
                </a:tc>
                <a:tc>
                  <a:txBody>
                    <a:bodyPr/>
                    <a:lstStyle/>
                    <a:p>
                      <a:pPr lvl="0" indent="0" marL="0" algn="l">
                        <a:buNone/>
                      </a:pPr>
                      <a:r>
                        <a:rPr/>
                        <a:t>92%</a:t>
                      </a:r>
                    </a:p>
                  </a:txBody>
                </a:tc>
                <a:tc>
                  <a:txBody>
                    <a:bodyPr/>
                    <a:lstStyle/>
                    <a:p>
                      <a:pPr lvl="0" indent="0" marL="0" algn="l">
                        <a:buNone/>
                      </a:pPr>
                      <a:r>
                        <a:rPr/>
                        <a:t>75%</a:t>
                      </a:r>
                    </a:p>
                  </a:txBody>
                </a:tc>
                <a:tc>
                  <a:txBody>
                    <a:bodyPr/>
                    <a:lstStyle/>
                    <a:p>
                      <a:pPr lvl="0" indent="0" marL="0" algn="l">
                        <a:buNone/>
                      </a:pPr>
                      <a:r>
                        <a:rPr/>
                        <a:t>95%</a:t>
                      </a:r>
                    </a:p>
                  </a:txBody>
                </a:tc>
              </a:tr>
              <a:tr h="0">
                <a:tc>
                  <a:txBody>
                    <a:bodyPr/>
                    <a:lstStyle/>
                    <a:p>
                      <a:pPr lvl="0" indent="0" marL="0" algn="l">
                        <a:buNone/>
                      </a:pPr>
                      <a:r>
                        <a:rPr/>
                        <a:t>Jackknifed regional mean, in-fill</a:t>
                      </a:r>
                    </a:p>
                  </a:txBody>
                </a:tc>
                <a:tc>
                  <a:txBody>
                    <a:bodyPr/>
                    <a:lstStyle/>
                    <a:p>
                      <a:pPr lvl="0" indent="0" marL="0" algn="l">
                        <a:buNone/>
                      </a:pPr>
                      <a:r>
                        <a:rPr/>
                        <a:t>66%</a:t>
                      </a:r>
                    </a:p>
                  </a:txBody>
                </a:tc>
                <a:tc>
                  <a:txBody>
                    <a:bodyPr/>
                    <a:lstStyle/>
                    <a:p>
                      <a:pPr lvl="0" indent="0" marL="0" algn="l">
                        <a:buNone/>
                      </a:pPr>
                      <a:r>
                        <a:rPr/>
                        <a:t>94%</a:t>
                      </a:r>
                    </a:p>
                  </a:txBody>
                </a:tc>
                <a:tc>
                  <a:txBody>
                    <a:bodyPr/>
                    <a:lstStyle/>
                    <a:p>
                      <a:pPr lvl="0" indent="0" marL="0" algn="l">
                        <a:buNone/>
                      </a:pPr>
                      <a:r>
                        <a:rPr/>
                        <a:t>74%</a:t>
                      </a:r>
                    </a:p>
                  </a:txBody>
                </a:tc>
                <a:tc>
                  <a:txBody>
                    <a:bodyPr/>
                    <a:lstStyle/>
                    <a:p>
                      <a:pPr lvl="0" indent="0" marL="0" algn="l">
                        <a:buNone/>
                      </a:pPr>
                      <a:r>
                        <a:rPr/>
                        <a:t>100%</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LSMS and FluNet, added back and scored</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628900"/>
                <a:gridCol w="2628900"/>
                <a:gridCol w="2628900"/>
                <a:gridCol w="2628900"/>
              </a:tblGrid>
              <a:tr h="0">
                <a:tc>
                  <a:txBody>
                    <a:bodyPr/>
                    <a:lstStyle/>
                    <a:p>
                      <a:pPr lvl="0" indent="0" marL="0" algn="l">
                        <a:buNone/>
                      </a:pPr>
                      <a:r>
                        <a:rPr/>
                        <a:t>Outcome</a:t>
                      </a:r>
                    </a:p>
                  </a:txBody>
                  <a:tcPr/>
                </a:tc>
                <a:tc>
                  <a:txBody>
                    <a:bodyPr/>
                    <a:lstStyle/>
                    <a:p>
                      <a:pPr lvl="0" indent="0" marL="0" algn="r">
                        <a:buNone/>
                      </a:pPr>
                      <a:r>
                        <a:rPr/>
                        <a:t>Base vocabulary</a:t>
                      </a:r>
                    </a:p>
                  </a:txBody>
                  <a:tcPr/>
                </a:tc>
                <a:tc>
                  <a:txBody>
                    <a:bodyPr/>
                    <a:lstStyle/>
                    <a:p>
                      <a:pPr lvl="0" indent="0" marL="0" algn="r">
                        <a:buNone/>
                      </a:pPr>
                      <a:r>
                        <a:rPr/>
                        <a:t>Base + LSMS</a:t>
                      </a:r>
                    </a:p>
                  </a:txBody>
                  <a:tcPr/>
                </a:tc>
                <a:tc>
                  <a:txBody>
                    <a:bodyPr/>
                    <a:lstStyle/>
                    <a:p>
                      <a:pPr lvl="0" indent="0" marL="0" algn="r">
                        <a:buNone/>
                      </a:pPr>
                      <a:r>
                        <a:rPr/>
                        <a:t>LSMS alone</a:t>
                      </a:r>
                    </a:p>
                  </a:txBody>
                  <a:tcPr/>
                </a:tc>
              </a:tr>
              <a:tr h="0">
                <a:tc>
                  <a:txBody>
                    <a:bodyPr/>
                    <a:lstStyle/>
                    <a:p>
                      <a:pPr lvl="0" indent="0" marL="0" algn="l">
                        <a:buNone/>
                      </a:pPr>
                      <a:r>
                        <a:rPr/>
                        <a:t>Child iron</a:t>
                      </a:r>
                    </a:p>
                  </a:txBody>
                </a:tc>
                <a:tc>
                  <a:txBody>
                    <a:bodyPr/>
                    <a:lstStyle/>
                    <a:p>
                      <a:pPr lvl="0" indent="0" marL="0" algn="r">
                        <a:buNone/>
                      </a:pPr>
                      <a:r>
                        <a:rPr/>
                        <a:t>0.59</a:t>
                      </a:r>
                    </a:p>
                  </a:txBody>
                </a:tc>
                <a:tc>
                  <a:txBody>
                    <a:bodyPr/>
                    <a:lstStyle/>
                    <a:p>
                      <a:pPr lvl="0" indent="0" marL="0" algn="r">
                        <a:buNone/>
                      </a:pPr>
                      <a:r>
                        <a:rPr/>
                        <a:t>0.57</a:t>
                      </a:r>
                    </a:p>
                  </a:txBody>
                </a:tc>
                <a:tc>
                  <a:txBody>
                    <a:bodyPr/>
                    <a:lstStyle/>
                    <a:p>
                      <a:pPr lvl="0" indent="0" marL="0" algn="r">
                        <a:buNone/>
                      </a:pPr>
                      <a:r>
                        <a:rPr/>
                        <a:t>0.37</a:t>
                      </a:r>
                    </a:p>
                  </a:txBody>
                </a:tc>
              </a:tr>
              <a:tr h="0">
                <a:tc>
                  <a:txBody>
                    <a:bodyPr/>
                    <a:lstStyle/>
                    <a:p>
                      <a:pPr lvl="0" indent="0" marL="0" algn="l">
                        <a:buNone/>
                      </a:pPr>
                      <a:r>
                        <a:rPr/>
                        <a:t>Child vitamin A</a:t>
                      </a:r>
                    </a:p>
                  </a:txBody>
                </a:tc>
                <a:tc>
                  <a:txBody>
                    <a:bodyPr/>
                    <a:lstStyle/>
                    <a:p>
                      <a:pPr lvl="0" indent="0" marL="0" algn="r">
                        <a:buNone/>
                      </a:pPr>
                      <a:r>
                        <a:rPr/>
                        <a:t>0.30</a:t>
                      </a:r>
                    </a:p>
                  </a:txBody>
                </a:tc>
                <a:tc>
                  <a:txBody>
                    <a:bodyPr/>
                    <a:lstStyle/>
                    <a:p>
                      <a:pPr lvl="0" indent="0" marL="0" algn="r">
                        <a:buNone/>
                      </a:pPr>
                      <a:r>
                        <a:rPr/>
                        <a:t>0.28</a:t>
                      </a:r>
                    </a:p>
                  </a:txBody>
                </a:tc>
                <a:tc>
                  <a:txBody>
                    <a:bodyPr/>
                    <a:lstStyle/>
                    <a:p>
                      <a:pPr lvl="0" indent="0" marL="0" algn="r">
                        <a:buNone/>
                      </a:pPr>
                      <a:r>
                        <a:rPr/>
                        <a:t>0.27</a:t>
                      </a:r>
                    </a:p>
                  </a:txBody>
                </a:tc>
              </a:tr>
              <a:tr h="0">
                <a:tc>
                  <a:txBody>
                    <a:bodyPr/>
                    <a:lstStyle/>
                    <a:p>
                      <a:pPr lvl="0" indent="0" marL="0" algn="l">
                        <a:buNone/>
                      </a:pPr>
                      <a:r>
                        <a:rPr/>
                        <a:t>Women’s B12</a:t>
                      </a:r>
                    </a:p>
                  </a:txBody>
                </a:tc>
                <a:tc>
                  <a:txBody>
                    <a:bodyPr/>
                    <a:lstStyle/>
                    <a:p>
                      <a:pPr lvl="0" indent="0" marL="0" algn="r">
                        <a:buNone/>
                      </a:pPr>
                      <a:r>
                        <a:rPr/>
                        <a:t>0.58</a:t>
                      </a:r>
                    </a:p>
                  </a:txBody>
                </a:tc>
                <a:tc>
                  <a:txBody>
                    <a:bodyPr/>
                    <a:lstStyle/>
                    <a:p>
                      <a:pPr lvl="0" indent="0" marL="0" algn="r">
                        <a:buNone/>
                      </a:pPr>
                      <a:r>
                        <a:rPr/>
                        <a:t>0.60</a:t>
                      </a:r>
                    </a:p>
                  </a:txBody>
                </a:tc>
                <a:tc>
                  <a:txBody>
                    <a:bodyPr/>
                    <a:lstStyle/>
                    <a:p>
                      <a:pPr lvl="0" indent="0" marL="0" algn="r">
                        <a:buNone/>
                      </a:pPr>
                      <a:r>
                        <a:rPr/>
                        <a:t>0.58</a:t>
                      </a:r>
                    </a:p>
                  </a:txBody>
                </a:tc>
              </a:tr>
              <a:tr h="0">
                <a:tc>
                  <a:txBody>
                    <a:bodyPr/>
                    <a:lstStyle/>
                    <a:p>
                      <a:pPr lvl="0" indent="0" marL="0" algn="l">
                        <a:buNone/>
                      </a:pPr>
                      <a:r>
                        <a:rPr/>
                        <a:t>Women’s folate</a:t>
                      </a:r>
                    </a:p>
                  </a:txBody>
                </a:tc>
                <a:tc>
                  <a:txBody>
                    <a:bodyPr/>
                    <a:lstStyle/>
                    <a:p>
                      <a:pPr lvl="0" indent="0" marL="0" algn="r">
                        <a:buNone/>
                      </a:pPr>
                      <a:r>
                        <a:rPr/>
                        <a:t>0.40</a:t>
                      </a:r>
                    </a:p>
                  </a:txBody>
                </a:tc>
                <a:tc>
                  <a:txBody>
                    <a:bodyPr/>
                    <a:lstStyle/>
                    <a:p>
                      <a:pPr lvl="0" indent="0" marL="0" algn="r">
                        <a:buNone/>
                      </a:pPr>
                      <a:r>
                        <a:rPr/>
                        <a:t>0.38</a:t>
                      </a:r>
                    </a:p>
                  </a:txBody>
                </a:tc>
                <a:tc>
                  <a:txBody>
                    <a:bodyPr/>
                    <a:lstStyle/>
                    <a:p>
                      <a:pPr lvl="0" indent="0" marL="0" algn="r">
                        <a:buNone/>
                      </a:pPr>
                      <a:r>
                        <a:rPr/>
                        <a:t>0.19</a:t>
                      </a:r>
                    </a:p>
                  </a:txBody>
                </a:tc>
              </a:tr>
              <a:tr h="0">
                <a:tc>
                  <a:txBody>
                    <a:bodyPr/>
                    <a:lstStyle/>
                    <a:p>
                      <a:pPr lvl="0" indent="0" marL="0" algn="l">
                        <a:buNone/>
                      </a:pPr>
                      <a:r>
                        <a:rPr/>
                        <a:t>Women’s iron</a:t>
                      </a:r>
                    </a:p>
                  </a:txBody>
                </a:tc>
                <a:tc>
                  <a:txBody>
                    <a:bodyPr/>
                    <a:lstStyle/>
                    <a:p>
                      <a:pPr lvl="0" indent="0" marL="0" algn="r">
                        <a:buNone/>
                      </a:pPr>
                      <a:r>
                        <a:rPr/>
                        <a:t>0.39</a:t>
                      </a:r>
                    </a:p>
                  </a:txBody>
                </a:tc>
                <a:tc>
                  <a:txBody>
                    <a:bodyPr/>
                    <a:lstStyle/>
                    <a:p>
                      <a:pPr lvl="0" indent="0" marL="0" algn="r">
                        <a:buNone/>
                      </a:pPr>
                      <a:r>
                        <a:rPr/>
                        <a:t>0.38</a:t>
                      </a:r>
                    </a:p>
                  </a:txBody>
                </a:tc>
                <a:tc>
                  <a:txBody>
                    <a:bodyPr/>
                    <a:lstStyle/>
                    <a:p>
                      <a:pPr lvl="0" indent="0" marL="0" algn="r">
                        <a:buNone/>
                      </a:pPr>
                      <a:r>
                        <a:rPr/>
                        <a:t>0.20</a:t>
                      </a:r>
                    </a:p>
                  </a:txBody>
                </a:tc>
              </a:tr>
              <a:tr h="0">
                <a:tc>
                  <a:txBody>
                    <a:bodyPr/>
                    <a:lstStyle/>
                    <a:p>
                      <a:pPr lvl="0" indent="0" marL="0" algn="l">
                        <a:buNone/>
                      </a:pPr>
                      <a:r>
                        <a:rPr/>
                        <a:t>Women’s vitamin A</a:t>
                      </a:r>
                    </a:p>
                  </a:txBody>
                </a:tc>
                <a:tc>
                  <a:txBody>
                    <a:bodyPr/>
                    <a:lstStyle/>
                    <a:p>
                      <a:pPr lvl="0" indent="0" marL="0" algn="r">
                        <a:buNone/>
                      </a:pPr>
                      <a:r>
                        <a:rPr/>
                        <a:t>0.50</a:t>
                      </a:r>
                    </a:p>
                  </a:txBody>
                </a:tc>
                <a:tc>
                  <a:txBody>
                    <a:bodyPr/>
                    <a:lstStyle/>
                    <a:p>
                      <a:pPr lvl="0" indent="0" marL="0" algn="r">
                        <a:buNone/>
                      </a:pPr>
                      <a:r>
                        <a:rPr/>
                        <a:t>0.50</a:t>
                      </a:r>
                    </a:p>
                  </a:txBody>
                </a:tc>
                <a:tc>
                  <a:txBody>
                    <a:bodyPr/>
                    <a:lstStyle/>
                    <a:p>
                      <a:pPr lvl="0" indent="0" marL="0" algn="r">
                        <a:buNone/>
                      </a:pPr>
                      <a:r>
                        <a:rPr/>
                        <a:t>0.39</a:t>
                      </a:r>
                    </a:p>
                  </a:txBody>
                </a:tc>
              </a:tr>
            </a:tbl>
          </a:graphicData>
        </a:graphic>
      </p:graphicFrame>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Individual-level models: survey variables versus proxies</a:t>
            </a:r>
          </a:p>
        </p:txBody>
      </p:sp>
      <p:pic>
        <p:nvPicPr>
          <p:cNvPr descr="MN-proxy-Ghana-presentation-2026-09_files/figure-pptx/individual-1.png" id="0" name="Picture 1"/>
          <p:cNvPicPr>
            <a:picLocks noGrp="1" noChangeAspect="1"/>
          </p:cNvPicPr>
          <p:nvPr/>
        </p:nvPicPr>
        <p:blipFill>
          <a:blip r:embed="rId3"/>
          <a:stretch>
            <a:fillRect/>
          </a:stretch>
        </p:blipFill>
        <p:spPr bwMode="auto">
          <a:xfrm>
            <a:off x="1371600" y="1816100"/>
            <a:ext cx="9436100" cy="43434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Iodine, within country</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638300"/>
                <a:gridCol w="1714500"/>
                <a:gridCol w="1638300"/>
                <a:gridCol w="1778000"/>
                <a:gridCol w="1714500"/>
                <a:gridCol w="2032000"/>
              </a:tblGrid>
              <a:tr h="0">
                <a:tc>
                  <a:txBody>
                    <a:bodyPr/>
                    <a:lstStyle/>
                    <a:p>
                      <a:pPr lvl="0" indent="0" marL="0" algn="l">
                        <a:buNone/>
                      </a:pPr>
                      <a:r>
                        <a:rPr/>
                        <a:t>Model</a:t>
                      </a:r>
                    </a:p>
                  </a:txBody>
                  <a:tcPr/>
                </a:tc>
                <a:tc>
                  <a:txBody>
                    <a:bodyPr/>
                    <a:lstStyle/>
                    <a:p>
                      <a:pPr lvl="0" indent="0" marL="0" algn="l">
                        <a:buNone/>
                      </a:pPr>
                      <a:r>
                        <a:rPr/>
                        <a:t>Gambia UIC &lt; 100, in-fill</a:t>
                      </a:r>
                    </a:p>
                  </a:txBody>
                  <a:tcPr/>
                </a:tc>
                <a:tc>
                  <a:txBody>
                    <a:bodyPr/>
                    <a:lstStyle/>
                    <a:p>
                      <a:pPr lvl="0" indent="0" marL="0" algn="l">
                        <a:buNone/>
                      </a:pPr>
                      <a:r>
                        <a:rPr/>
                        <a:t>Gambia UIC &lt; 100, region</a:t>
                      </a:r>
                    </a:p>
                  </a:txBody>
                  <a:tcPr/>
                </a:tc>
                <a:tc>
                  <a:txBody>
                    <a:bodyPr/>
                    <a:lstStyle/>
                    <a:p>
                      <a:pPr lvl="0" indent="0" marL="0" algn="l">
                        <a:buNone/>
                      </a:pPr>
                      <a:r>
                        <a:rPr/>
                        <a:t>Gambia median UIC, in-fill</a:t>
                      </a:r>
                    </a:p>
                  </a:txBody>
                  <a:tcPr/>
                </a:tc>
                <a:tc>
                  <a:txBody>
                    <a:bodyPr/>
                    <a:lstStyle/>
                    <a:p>
                      <a:pPr lvl="0" indent="0" marL="0" algn="l">
                        <a:buNone/>
                      </a:pPr>
                      <a:r>
                        <a:rPr/>
                        <a:t>Gambia median UIC, region</a:t>
                      </a:r>
                    </a:p>
                  </a:txBody>
                  <a:tcPr/>
                </a:tc>
                <a:tc>
                  <a:txBody>
                    <a:bodyPr/>
                    <a:lstStyle/>
                    <a:p>
                      <a:pPr lvl="0" indent="0" marL="0" algn="l">
                        <a:buNone/>
                      </a:pPr>
                      <a:r>
                        <a:rPr/>
                        <a:t>Sierra Leone UIC &lt; 100, region</a:t>
                      </a:r>
                    </a:p>
                  </a:txBody>
                  <a:tcPr/>
                </a:tc>
              </a:tr>
              <a:tr h="0">
                <a:tc>
                  <a:txBody>
                    <a:bodyPr/>
                    <a:lstStyle/>
                    <a:p>
                      <a:pPr lvl="0" indent="0" marL="0" algn="l">
                        <a:buNone/>
                      </a:pPr>
                      <a:r>
                        <a:rPr/>
                        <a:t>Null</a:t>
                      </a:r>
                    </a:p>
                  </a:txBody>
                </a:tc>
                <a:tc>
                  <a:txBody>
                    <a:bodyPr/>
                    <a:lstStyle/>
                    <a:p>
                      <a:pPr lvl="0" indent="0" marL="0" algn="l">
                        <a:buNone/>
                      </a:pPr>
                      <a:r>
                        <a:rPr/>
                        <a:t>-0.31</a:t>
                      </a:r>
                    </a:p>
                  </a:txBody>
                </a:tc>
                <a:tc>
                  <a:txBody>
                    <a:bodyPr/>
                    <a:lstStyle/>
                    <a:p>
                      <a:pPr lvl="0" indent="0" marL="0" algn="l">
                        <a:buNone/>
                      </a:pPr>
                      <a:r>
                        <a:rPr/>
                        <a:t>-0.55</a:t>
                      </a:r>
                    </a:p>
                  </a:txBody>
                </a:tc>
                <a:tc>
                  <a:txBody>
                    <a:bodyPr/>
                    <a:lstStyle/>
                    <a:p>
                      <a:pPr lvl="0" indent="0" marL="0" algn="l">
                        <a:buNone/>
                      </a:pPr>
                      <a:r>
                        <a:rPr/>
                        <a:t>-0.29</a:t>
                      </a:r>
                    </a:p>
                  </a:txBody>
                </a:tc>
                <a:tc>
                  <a:txBody>
                    <a:bodyPr/>
                    <a:lstStyle/>
                    <a:p>
                      <a:pPr lvl="0" indent="0" marL="0" algn="l">
                        <a:buNone/>
                      </a:pPr>
                      <a:r>
                        <a:rPr/>
                        <a:t>-0.60</a:t>
                      </a:r>
                    </a:p>
                  </a:txBody>
                </a:tc>
                <a:tc>
                  <a:txBody>
                    <a:bodyPr/>
                    <a:lstStyle/>
                    <a:p>
                      <a:pPr lvl="0" indent="0" marL="0" algn="l">
                        <a:buNone/>
                      </a:pPr>
                      <a:r>
                        <a:rPr/>
                        <a:t>-0.34</a:t>
                      </a:r>
                    </a:p>
                  </a:txBody>
                </a:tc>
              </a:tr>
              <a:tr h="0">
                <a:tc>
                  <a:txBody>
                    <a:bodyPr/>
                    <a:lstStyle/>
                    <a:p>
                      <a:pPr lvl="0" indent="0" marL="0" algn="l">
                        <a:buNone/>
                      </a:pPr>
                      <a:r>
                        <a:rPr/>
                        <a:t>Jackknifed regional mean</a:t>
                      </a:r>
                    </a:p>
                  </a:txBody>
                </a:tc>
                <a:tc>
                  <a:txBody>
                    <a:bodyPr/>
                    <a:lstStyle/>
                    <a:p>
                      <a:pPr lvl="0" indent="0" marL="0" algn="l">
                        <a:buNone/>
                      </a:pPr>
                      <a:r>
                        <a:rPr/>
                        <a:t>0.33</a:t>
                      </a:r>
                    </a:p>
                  </a:txBody>
                </a:tc>
                <a:tc>
                  <a:txBody>
                    <a:bodyPr/>
                    <a:lstStyle/>
                    <a:p>
                      <a:pPr lvl="0" indent="0" marL="0" algn="l">
                        <a:buNone/>
                      </a:pPr>
                      <a:r>
                        <a:rPr/>
                        <a:t>-</a:t>
                      </a:r>
                    </a:p>
                  </a:txBody>
                </a:tc>
                <a:tc>
                  <a:txBody>
                    <a:bodyPr/>
                    <a:lstStyle/>
                    <a:p>
                      <a:pPr lvl="0" indent="0" marL="0" algn="l">
                        <a:buNone/>
                      </a:pPr>
                      <a:r>
                        <a:rPr/>
                        <a:t>0.35</a:t>
                      </a:r>
                    </a:p>
                  </a:txBody>
                </a:tc>
                <a:tc>
                  <a:txBody>
                    <a:bodyPr/>
                    <a:lstStyle/>
                    <a:p>
                      <a:pPr lvl="0" indent="0" marL="0" algn="l">
                        <a:buNone/>
                      </a:pPr>
                      <a:r>
                        <a:rPr/>
                        <a:t>-</a:t>
                      </a:r>
                    </a:p>
                  </a:txBody>
                </a:tc>
                <a:tc>
                  <a:txBody>
                    <a:bodyPr/>
                    <a:lstStyle/>
                    <a:p>
                      <a:pPr lvl="0" indent="0" marL="0" algn="l">
                        <a:buNone/>
                      </a:pPr>
                      <a:r>
                        <a:rPr/>
                        <a:t>-</a:t>
                      </a:r>
                    </a:p>
                  </a:txBody>
                </a:tc>
              </a:tr>
              <a:tr h="0">
                <a:tc>
                  <a:txBody>
                    <a:bodyPr/>
                    <a:lstStyle/>
                    <a:p>
                      <a:pPr lvl="0" indent="0" marL="0" algn="l">
                        <a:buNone/>
                      </a:pPr>
                      <a:r>
                        <a:rPr/>
                        <a:t>Spatial smoother</a:t>
                      </a:r>
                    </a:p>
                  </a:txBody>
                </a:tc>
                <a:tc>
                  <a:txBody>
                    <a:bodyPr/>
                    <a:lstStyle/>
                    <a:p>
                      <a:pPr lvl="0" indent="0" marL="0" algn="l">
                        <a:buNone/>
                      </a:pPr>
                      <a:r>
                        <a:rPr/>
                        <a:t>0.31</a:t>
                      </a:r>
                    </a:p>
                  </a:txBody>
                </a:tc>
                <a:tc>
                  <a:txBody>
                    <a:bodyPr/>
                    <a:lstStyle/>
                    <a:p>
                      <a:pPr lvl="0" indent="0" marL="0" algn="l">
                        <a:buNone/>
                      </a:pPr>
                      <a:r>
                        <a:rPr/>
                        <a:t>0.50</a:t>
                      </a:r>
                    </a:p>
                  </a:txBody>
                </a:tc>
                <a:tc>
                  <a:txBody>
                    <a:bodyPr/>
                    <a:lstStyle/>
                    <a:p>
                      <a:pPr lvl="0" indent="0" marL="0" algn="l">
                        <a:buNone/>
                      </a:pPr>
                      <a:r>
                        <a:rPr/>
                        <a:t>0.27</a:t>
                      </a:r>
                    </a:p>
                  </a:txBody>
                </a:tc>
                <a:tc>
                  <a:txBody>
                    <a:bodyPr/>
                    <a:lstStyle/>
                    <a:p>
                      <a:pPr lvl="0" indent="0" marL="0" algn="l">
                        <a:buNone/>
                      </a:pPr>
                      <a:r>
                        <a:rPr/>
                        <a:t>0.27</a:t>
                      </a:r>
                    </a:p>
                  </a:txBody>
                </a:tc>
                <a:tc>
                  <a:txBody>
                    <a:bodyPr/>
                    <a:lstStyle/>
                    <a:p>
                      <a:pPr lvl="0" indent="0" marL="0" algn="l">
                        <a:buNone/>
                      </a:pPr>
                      <a:r>
                        <a:rPr/>
                        <a:t>-0.35</a:t>
                      </a:r>
                    </a:p>
                  </a:txBody>
                </a:tc>
              </a:tr>
              <a:tr h="0">
                <a:tc>
                  <a:txBody>
                    <a:bodyPr/>
                    <a:lstStyle/>
                    <a:p>
                      <a:pPr lvl="0" indent="0" marL="0" algn="l">
                        <a:buNone/>
                      </a:pPr>
                      <a:r>
                        <a:rPr/>
                        <a:t>Zero-tuning index</a:t>
                      </a:r>
                    </a:p>
                  </a:txBody>
                </a:tc>
                <a:tc>
                  <a:txBody>
                    <a:bodyPr/>
                    <a:lstStyle/>
                    <a:p>
                      <a:pPr lvl="0" indent="0" marL="0" algn="l">
                        <a:buNone/>
                      </a:pPr>
                      <a:r>
                        <a:rPr/>
                        <a:t>0.37</a:t>
                      </a:r>
                    </a:p>
                  </a:txBody>
                </a:tc>
                <a:tc>
                  <a:txBody>
                    <a:bodyPr/>
                    <a:lstStyle/>
                    <a:p>
                      <a:pPr lvl="0" indent="0" marL="0" algn="l">
                        <a:buNone/>
                      </a:pPr>
                      <a:r>
                        <a:rPr/>
                        <a:t>0.48</a:t>
                      </a:r>
                    </a:p>
                  </a:txBody>
                </a:tc>
                <a:tc>
                  <a:txBody>
                    <a:bodyPr/>
                    <a:lstStyle/>
                    <a:p>
                      <a:pPr lvl="0" indent="0" marL="0" algn="l">
                        <a:buNone/>
                      </a:pPr>
                      <a:r>
                        <a:rPr/>
                        <a:t>0.48</a:t>
                      </a:r>
                    </a:p>
                  </a:txBody>
                </a:tc>
                <a:tc>
                  <a:txBody>
                    <a:bodyPr/>
                    <a:lstStyle/>
                    <a:p>
                      <a:pPr lvl="0" indent="0" marL="0" algn="l">
                        <a:buNone/>
                      </a:pPr>
                      <a:r>
                        <a:rPr/>
                        <a:t>0.51</a:t>
                      </a:r>
                    </a:p>
                  </a:txBody>
                </a:tc>
                <a:tc>
                  <a:txBody>
                    <a:bodyPr/>
                    <a:lstStyle/>
                    <a:p>
                      <a:pPr lvl="0" indent="0" marL="0" algn="l">
                        <a:buNone/>
                      </a:pPr>
                      <a:r>
                        <a:rPr/>
                        <a:t>0.27</a:t>
                      </a:r>
                    </a:p>
                  </a:txBody>
                </a:tc>
              </a:tr>
              <a:tr h="0">
                <a:tc>
                  <a:txBody>
                    <a:bodyPr/>
                    <a:lstStyle/>
                    <a:p>
                      <a:pPr lvl="0" indent="0" marL="0" algn="l">
                        <a:buNone/>
                      </a:pPr>
                      <a:r>
                        <a:rPr/>
                        <a:t>Smoother + covariates</a:t>
                      </a:r>
                    </a:p>
                  </a:txBody>
                </a:tc>
                <a:tc>
                  <a:txBody>
                    <a:bodyPr/>
                    <a:lstStyle/>
                    <a:p>
                      <a:pPr lvl="0" indent="0" marL="0" algn="l">
                        <a:buNone/>
                      </a:pPr>
                      <a:r>
                        <a:rPr/>
                        <a:t>0.32</a:t>
                      </a:r>
                    </a:p>
                  </a:txBody>
                </a:tc>
                <a:tc>
                  <a:txBody>
                    <a:bodyPr/>
                    <a:lstStyle/>
                    <a:p>
                      <a:pPr lvl="0" indent="0" marL="0" algn="l">
                        <a:buNone/>
                      </a:pPr>
                      <a:r>
                        <a:rPr/>
                        <a:t>0.44</a:t>
                      </a:r>
                    </a:p>
                  </a:txBody>
                </a:tc>
                <a:tc>
                  <a:txBody>
                    <a:bodyPr/>
                    <a:lstStyle/>
                    <a:p>
                      <a:pPr lvl="0" indent="0" marL="0" algn="l">
                        <a:buNone/>
                      </a:pPr>
                      <a:r>
                        <a:rPr/>
                        <a:t>0.32</a:t>
                      </a:r>
                    </a:p>
                  </a:txBody>
                </a:tc>
                <a:tc>
                  <a:txBody>
                    <a:bodyPr/>
                    <a:lstStyle/>
                    <a:p>
                      <a:pPr lvl="0" indent="0" marL="0" algn="l">
                        <a:buNone/>
                      </a:pPr>
                      <a:r>
                        <a:rPr/>
                        <a:t>0.36</a:t>
                      </a:r>
                    </a:p>
                  </a:txBody>
                </a:tc>
                <a:tc>
                  <a:txBody>
                    <a:bodyPr/>
                    <a:lstStyle/>
                    <a:p>
                      <a:pPr lvl="0" indent="0" marL="0" algn="l">
                        <a:buNone/>
                      </a:pPr>
                      <a:r>
                        <a:rPr/>
                        <a:t>-0.33</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January analyses now outside the pipeline (1)</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4318000"/>
                <a:gridCol w="3606800"/>
                <a:gridCol w="2603500"/>
              </a:tblGrid>
              <a:tr h="0">
                <a:tc>
                  <a:txBody>
                    <a:bodyPr/>
                    <a:lstStyle/>
                    <a:p>
                      <a:pPr lvl="0" indent="0" marL="0" algn="l">
                        <a:buNone/>
                      </a:pPr>
                      <a:r>
                        <a:rPr/>
                        <a:t>January slide</a:t>
                      </a:r>
                    </a:p>
                  </a:txBody>
                  <a:tcPr/>
                </a:tc>
                <a:tc>
                  <a:txBody>
                    <a:bodyPr/>
                    <a:lstStyle/>
                    <a:p>
                      <a:pPr lvl="0" indent="0" marL="0" algn="l">
                        <a:buNone/>
                      </a:pPr>
                      <a:r>
                        <a:rPr/>
                        <a:t>Status</a:t>
                      </a:r>
                    </a:p>
                  </a:txBody>
                  <a:tcPr/>
                </a:tc>
                <a:tc>
                  <a:txBody>
                    <a:bodyPr/>
                    <a:lstStyle/>
                    <a:p>
                      <a:pPr lvl="0" indent="0" marL="0" algn="l">
                        <a:buNone/>
                      </a:pPr>
                      <a:r>
                        <a:rPr/>
                        <a:t>Where</a:t>
                      </a:r>
                    </a:p>
                  </a:txBody>
                  <a:tcPr/>
                </a:tc>
              </a:tr>
              <a:tr h="0">
                <a:tc>
                  <a:txBody>
                    <a:bodyPr/>
                    <a:lstStyle/>
                    <a:p>
                      <a:pPr lvl="0" indent="0" marL="0" algn="l">
                        <a:buNone/>
                      </a:pPr>
                      <a:r>
                        <a:rPr/>
                        <a:t>Individual-level proxy vs survey-only models (Brier skill, AUC, PR gain)</a:t>
                      </a:r>
                    </a:p>
                  </a:txBody>
                </a:tc>
                <a:tc>
                  <a:txBody>
                    <a:bodyPr/>
                    <a:lstStyle/>
                    <a:p>
                      <a:pPr lvl="0" indent="0" marL="0" algn="l">
                        <a:buNone/>
                      </a:pPr>
                      <a:r>
                        <a:rPr/>
                        <a:t>Sensitivity layer; re-run today under district-blocked folds</a:t>
                      </a:r>
                    </a:p>
                  </a:txBody>
                </a:tc>
                <a:tc>
                  <a:txBody>
                    <a:bodyPr/>
                    <a:lstStyle/>
                    <a:p>
                      <a:pPr lvl="0" indent="0" marL="0" algn="l">
                        <a:buNone/>
                      </a:pPr>
                      <a:r>
                        <a:rPr/>
                        <a:t>Slide: individual-level models</a:t>
                      </a:r>
                    </a:p>
                  </a:txBody>
                </a:tc>
              </a:tr>
              <a:tr h="0">
                <a:tc>
                  <a:txBody>
                    <a:bodyPr/>
                    <a:lstStyle/>
                    <a:p>
                      <a:pPr lvl="0" indent="0" marL="0" algn="l">
                        <a:buNone/>
                      </a:pPr>
                      <a:r>
                        <a:rPr/>
                        <a:t>National-level VMNIS / BRINDA predictions</a:t>
                      </a:r>
                    </a:p>
                  </a:txBody>
                </a:tc>
                <a:tc>
                  <a:txBody>
                    <a:bodyPr/>
                    <a:lstStyle/>
                    <a:p>
                      <a:pPr lvl="0" indent="0" marL="0" algn="l">
                        <a:buNone/>
                      </a:pPr>
                      <a:r>
                        <a:rPr/>
                        <a:t>Separate sub-pipeline, last run April 2026</a:t>
                      </a:r>
                    </a:p>
                  </a:txBody>
                </a:tc>
                <a:tc>
                  <a:txBody>
                    <a:bodyPr/>
                    <a:lstStyle/>
                    <a:p>
                      <a:pPr lvl="0" indent="0" marL="0" algn="l">
                        <a:buNone/>
                      </a:pPr>
                      <a:r>
                        <a:rPr/>
                        <a:t>Slide: national-level track; not re-audited</a:t>
                      </a:r>
                    </a:p>
                  </a:txBody>
                </a:tc>
              </a:tr>
              <a:tr h="0">
                <a:tc>
                  <a:txBody>
                    <a:bodyPr/>
                    <a:lstStyle/>
                    <a:p>
                      <a:pPr lvl="0" indent="0" marL="0" algn="l">
                        <a:buNone/>
                      </a:pPr>
                      <a:r>
                        <a:rPr/>
                        <a:t>Iodine (Sierra Leone)</a:t>
                      </a:r>
                    </a:p>
                  </a:txBody>
                </a:tc>
                <a:tc>
                  <a:txBody>
                    <a:bodyPr/>
                    <a:lstStyle/>
                    <a:p>
                      <a:pPr lvl="0" indent="0" marL="0" algn="l">
                        <a:buNone/>
                      </a:pPr>
                      <a:r>
                        <a:rPr/>
                        <a:t>Re-run today within country (Gambia, Sierra Leone)</a:t>
                      </a:r>
                    </a:p>
                  </a:txBody>
                </a:tc>
                <a:tc>
                  <a:txBody>
                    <a:bodyPr/>
                    <a:lstStyle/>
                    <a:p>
                      <a:pPr lvl="0" indent="0" marL="0" algn="l">
                        <a:buNone/>
                      </a:pPr>
                      <a:r>
                        <a:rPr/>
                        <a:t>Slide: iodine, within country</a:t>
                      </a:r>
                    </a:p>
                  </a:txBody>
                </a:tc>
              </a:tr>
              <a:tr h="0">
                <a:tc>
                  <a:txBody>
                    <a:bodyPr/>
                    <a:lstStyle/>
                    <a:p>
                      <a:pPr lvl="0" indent="0" marL="0" algn="l">
                        <a:buNone/>
                      </a:pPr>
                      <a:r>
                        <a:rPr/>
                        <a:t>Risk-category accuracy (none / mild / moderate / severe)</a:t>
                      </a:r>
                    </a:p>
                  </a:txBody>
                </a:tc>
                <a:tc>
                  <a:txBody>
                    <a:bodyPr/>
                    <a:lstStyle/>
                    <a:p>
                      <a:pPr lvl="0" indent="0" marL="0" algn="l">
                        <a:buNone/>
                      </a:pPr>
                      <a:r>
                        <a:rPr/>
                        <a:t>Re-run today under the protocol, WHO bands</a:t>
                      </a:r>
                    </a:p>
                  </a:txBody>
                </a:tc>
                <a:tc>
                  <a:txBody>
                    <a:bodyPr/>
                    <a:lstStyle/>
                    <a:p>
                      <a:pPr lvl="0" indent="0" marL="0" algn="l">
                        <a:buNone/>
                      </a:pPr>
                      <a:r>
                        <a:rPr/>
                        <a:t>Slide: risk classes</a:t>
                      </a:r>
                    </a:p>
                  </a:txBody>
                </a:tc>
              </a:tr>
            </a:tbl>
          </a:graphicData>
        </a:graphic>
      </p:graphicFrame>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January analyses now outside the pipeline (2)</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781300"/>
                <a:gridCol w="5257800"/>
                <a:gridCol w="2476500"/>
              </a:tblGrid>
              <a:tr h="0">
                <a:tc>
                  <a:txBody>
                    <a:bodyPr/>
                    <a:lstStyle/>
                    <a:p>
                      <a:pPr lvl="0" indent="0" marL="0" algn="l">
                        <a:buNone/>
                      </a:pPr>
                      <a:r>
                        <a:rPr/>
                        <a:t>January slide</a:t>
                      </a:r>
                    </a:p>
                  </a:txBody>
                  <a:tcPr/>
                </a:tc>
                <a:tc>
                  <a:txBody>
                    <a:bodyPr/>
                    <a:lstStyle/>
                    <a:p>
                      <a:pPr lvl="0" indent="0" marL="0" algn="l">
                        <a:buNone/>
                      </a:pPr>
                      <a:r>
                        <a:rPr/>
                        <a:t>Status</a:t>
                      </a:r>
                    </a:p>
                  </a:txBody>
                  <a:tcPr/>
                </a:tc>
                <a:tc>
                  <a:txBody>
                    <a:bodyPr/>
                    <a:lstStyle/>
                    <a:p>
                      <a:pPr lvl="0" indent="0" marL="0" algn="l">
                        <a:buNone/>
                      </a:pPr>
                      <a:r>
                        <a:rPr/>
                        <a:t>Where</a:t>
                      </a:r>
                    </a:p>
                  </a:txBody>
                  <a:tcPr/>
                </a:tc>
              </a:tr>
              <a:tr h="0">
                <a:tc>
                  <a:txBody>
                    <a:bodyPr/>
                    <a:lstStyle/>
                    <a:p>
                      <a:pPr lvl="0" indent="0" marL="0" algn="l">
                        <a:buNone/>
                      </a:pPr>
                      <a:r>
                        <a:rPr/>
                        <a:t>LSMS (275) and FluNet (3) predictors</a:t>
                      </a:r>
                    </a:p>
                  </a:txBody>
                </a:tc>
                <a:tc>
                  <a:txBody>
                    <a:bodyPr/>
                    <a:lstStyle/>
                    <a:p>
                      <a:pPr lvl="0" indent="0" marL="0" algn="l">
                        <a:buNone/>
                      </a:pPr>
                      <a:r>
                        <a:rPr/>
                        <a:t>Re-added today: LSMS is Ghana-only and region-level, FluNet national; neither adds skill</a:t>
                      </a:r>
                    </a:p>
                  </a:txBody>
                </a:tc>
                <a:tc>
                  <a:txBody>
                    <a:bodyPr/>
                    <a:lstStyle/>
                    <a:p>
                      <a:pPr lvl="0" indent="0" marL="0" algn="l">
                        <a:buNone/>
                      </a:pPr>
                      <a:r>
                        <a:rPr/>
                        <a:t>Slide: LSMS and FluNet</a:t>
                      </a:r>
                    </a:p>
                  </a:txBody>
                </a:tc>
              </a:tr>
              <a:tr h="0">
                <a:tc>
                  <a:txBody>
                    <a:bodyPr/>
                    <a:lstStyle/>
                    <a:p>
                      <a:pPr lvl="0" indent="0" marL="0" algn="l">
                        <a:buNone/>
                      </a:pPr>
                      <a:r>
                        <a:rPr/>
                        <a:t>Data-source importance by change in MSE</a:t>
                      </a:r>
                    </a:p>
                  </a:txBody>
                </a:tc>
                <a:tc>
                  <a:txBody>
                    <a:bodyPr/>
                    <a:lstStyle/>
                    <a:p>
                      <a:pPr lvl="0" indent="0" marL="0" algn="l">
                        <a:buNone/>
                      </a:pPr>
                      <a:r>
                        <a:rPr/>
                        <a:t>Replaced by domain ablation; source ablation added back</a:t>
                      </a:r>
                    </a:p>
                  </a:txBody>
                </a:tc>
                <a:tc>
                  <a:txBody>
                    <a:bodyPr/>
                    <a:lstStyle/>
                    <a:p>
                      <a:pPr lvl="0" indent="0" marL="0" algn="l">
                        <a:buNone/>
                      </a:pPr>
                      <a:r>
                        <a:rPr/>
                        <a:t>Slide: which data sources carry transport</a:t>
                      </a:r>
                    </a:p>
                  </a:txBody>
                </a:tc>
              </a:tr>
              <a:tr h="0">
                <a:tc>
                  <a:txBody>
                    <a:bodyPr/>
                    <a:lstStyle/>
                    <a:p>
                      <a:pPr lvl="0" indent="0" marL="0" algn="l">
                        <a:buNone/>
                      </a:pPr>
                      <a:r>
                        <a:rPr/>
                        <a:t>Admin-1 women’s iron maps, predicted vs survey</a:t>
                      </a:r>
                    </a:p>
                  </a:txBody>
                </a:tc>
                <a:tc>
                  <a:txBody>
                    <a:bodyPr/>
                    <a:lstStyle/>
                    <a:p>
                      <a:pPr lvl="0" indent="0" marL="0" algn="l">
                        <a:buNone/>
                      </a:pPr>
                      <a:r>
                        <a:rPr/>
                        <a:t>Replaced by district maps with held-out predictions</a:t>
                      </a:r>
                    </a:p>
                  </a:txBody>
                </a:tc>
                <a:tc>
                  <a:txBody>
                    <a:bodyPr/>
                    <a:lstStyle/>
                    <a:p>
                      <a:pPr lvl="0" indent="0" marL="0" algn="l">
                        <a:buNone/>
                      </a:pPr>
                      <a:r>
                        <a:rPr/>
                        <a:t>Slide: Ghana maps</a:t>
                      </a:r>
                    </a:p>
                  </a:txBody>
                </a:tc>
              </a:tr>
              <a:tr h="0">
                <a:tc>
                  <a:txBody>
                    <a:bodyPr/>
                    <a:lstStyle/>
                    <a:p>
                      <a:pPr lvl="0" indent="0" marL="0" algn="l">
                        <a:buNone/>
                      </a:pPr>
                      <a:r>
                        <a:rPr/>
                        <a:t>Prescreened SuperLearner as the model</a:t>
                      </a:r>
                    </a:p>
                  </a:txBody>
                </a:tc>
                <a:tc>
                  <a:txBody>
                    <a:bodyPr/>
                    <a:lstStyle/>
                    <a:p>
                      <a:pPr lvl="0" indent="0" marL="0" algn="l">
                        <a:buNone/>
                      </a:pPr>
                      <a:r>
                        <a:rPr/>
                        <a:t>Kept as comparison; never beats the zero-tuning index</a:t>
                      </a:r>
                    </a:p>
                  </a:txBody>
                </a:tc>
                <a:tc>
                  <a:txBody>
                    <a:bodyPr/>
                    <a:lstStyle/>
                    <a:p>
                      <a:pPr lvl="0" indent="0" marL="0" algn="l">
                        <a:buNone/>
                      </a:pPr>
                      <a:r>
                        <a:rPr/>
                        <a:t>Slide: prediction approach</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Conclusions</a:t>
            </a:r>
          </a:p>
        </p:txBody>
      </p:sp>
      <p:sp>
        <p:nvSpPr>
          <p:cNvPr id="3" name="Content Placeholder 2"/>
          <p:cNvSpPr>
            <a:spLocks noGrp="1"/>
          </p:cNvSpPr>
          <p:nvPr>
            <p:ph idx="1"/>
          </p:nvPr>
        </p:nvSpPr>
        <p:spPr/>
        <p:txBody>
          <a:bodyPr/>
          <a:lstStyle/>
          <a:p>
            <a:pPr lvl="0"/>
            <a:r>
              <a:rPr/>
              <a:t>Within a surveyed country, geography does most of the work: covariates beat the survey’s own averages made honest, a smoother delivers almost as much.</a:t>
            </a:r>
          </a:p>
          <a:p>
            <a:pPr lvl="0"/>
            <a:r>
              <a:rPr/>
              <a:t>Across borders, rankings transport and levels do not: about 0.3 at both tiers, 0.37 and 0.46 from climate and soil alone.</a:t>
            </a:r>
          </a:p>
          <a:p>
            <a:pPr lvl="0"/>
            <a:r>
              <a:rPr/>
              <a:t>One national estimate puts levels on the ranking, matching a district survey eight times the sample on level error.</a:t>
            </a:r>
          </a:p>
          <a:p>
            <a:pPr lvl="0"/>
            <a:r>
              <a:rPr/>
              <a:t>The deliverable is a ranked district priority list plus a level calibration that needs one national number.</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Next steps and open questions</a:t>
            </a:r>
          </a:p>
        </p:txBody>
      </p:sp>
      <p:sp>
        <p:nvSpPr>
          <p:cNvPr id="3" name="Content Placeholder 2"/>
          <p:cNvSpPr>
            <a:spLocks noGrp="1"/>
          </p:cNvSpPr>
          <p:nvPr>
            <p:ph idx="1" sz="half"/>
          </p:nvPr>
        </p:nvSpPr>
        <p:spPr/>
        <p:txBody>
          <a:bodyPr/>
          <a:lstStyle/>
          <a:p>
            <a:pPr lvl="0" indent="0" marL="0">
              <a:buNone/>
            </a:pPr>
            <a:r>
              <a:rPr b="1"/>
              <a:t>Next</a:t>
            </a:r>
          </a:p>
          <a:p>
            <a:pPr lvl="0"/>
            <a:r>
              <a:rPr/>
              <a:t>Score the seven pre-registered predictions on the next countries.</a:t>
            </a:r>
          </a:p>
          <a:p>
            <a:pPr lvl="0"/>
            <a:r>
              <a:rPr/>
              <a:t>Re-run the national track under the corrected protocol.</a:t>
            </a:r>
          </a:p>
          <a:p>
            <a:pPr lvl="0"/>
            <a:r>
              <a:rPr/>
              <a:t>Model-assisted cluster allocation for survey design.</a:t>
            </a:r>
          </a:p>
        </p:txBody>
      </p:sp>
      <p:sp>
        <p:nvSpPr>
          <p:cNvPr id="4" name="Content Placeholder 3"/>
          <p:cNvSpPr>
            <a:spLocks noGrp="1"/>
          </p:cNvSpPr>
          <p:nvPr>
            <p:ph idx="2" sz="half"/>
          </p:nvPr>
        </p:nvSpPr>
        <p:spPr/>
        <p:txBody>
          <a:bodyPr/>
          <a:lstStyle/>
          <a:p>
            <a:pPr lvl="0" indent="0" marL="0">
              <a:buNone/>
            </a:pPr>
            <a:r>
              <a:rPr b="1"/>
              <a:t>Open</a:t>
            </a:r>
          </a:p>
          <a:p>
            <a:pPr lvl="0"/>
            <a:r>
              <a:rPr/>
              <a:t>What rank correlation is good enough to act on?</a:t>
            </a:r>
          </a:p>
          <a:p>
            <a:pPr lvl="0"/>
            <a:r>
              <a:rPr/>
              <a:t>Which national number is the cheapest honest anchor?</a:t>
            </a:r>
          </a:p>
          <a:p>
            <a:pPr lvl="0"/>
            <a:r>
              <a:rPr/>
              <a:t>Without new biomarker surveys, what benchmarks the models?</a:t>
            </a:r>
          </a:p>
        </p:txBody>
      </p:sp>
    </p:spTree>
  </p:cSld>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4824</TotalTime>
  <Words>2454</Words>
  <Application>Microsoft Office PowerPoint</Application>
  <PresentationFormat>Widescreen</PresentationFormat>
  <Paragraphs>309</Paragraphs>
  <Slides>26</Slides>
  <Notes>12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26</vt:i4>
      </vt:variant>
    </vt:vector>
  </HeadingPairs>
  <TitlesOfParts>
    <vt:vector size="31" baseType="lpstr">
      <vt:lpstr>Aptos Narrow</vt:lpstr>
      <vt:lpstr>Arial</vt:lpstr>
      <vt:lpstr>Calibri</vt:lpstr>
      <vt:lpstr>Calibri Light</vt:lpstr>
      <vt:lpstr>Office 2013 - 2022 Theme</vt:lpstr>
      <vt:lpstr>Proxy VMD Modeling Project Andrew Mertens (University of California, Berkeley)  </vt:lpstr>
      <vt:lpstr>PowerPoint Presentation</vt:lpstr>
      <vt:lpstr>Goals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Details on one model-b12</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National-level BRINDA and VMNIS predictions</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Proxy Modeling for Vitamin and Mineral Deficiencies</dc:title>
  <dc:creator>Andrew N. Mertens, University of California, Berkeley</dc:creator>
  <cp:keywords/>
  <dcterms:created xsi:type="dcterms:W3CDTF">2026-09-08T19:41:15Z</dcterms:created>
  <dcterms:modified xsi:type="dcterms:W3CDTF">2026-09-08T19:41:15Z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2026-09-04</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subtitle">
    <vt:lpwstr>Ghana presentation, updated to the corrected protocol, September 2026</vt:lpwstr>
  </property>
  <property fmtid="{D5CDD505-2E9C-101B-9397-08002B2CF9AE}" pid="12" name="toc-title">
    <vt:lpwstr>Table of contents</vt:lpwstr>
  </property>
</Properties>
</file>