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notesMaster" Target="notesMasters/notesMaster1.xml" /><Relationship Id="rId3" Type="http://schemas.openxmlformats.org/officeDocument/2006/relationships/customXml" Target="../customXml/item3.xml" /><Relationship Id="rId43" Type="http://schemas.openxmlformats.org/officeDocument/2006/relationships/theme" Target="theme/theme1.xml" /><Relationship Id="rId42"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1" Type="http://schemas.openxmlformats.org/officeDocument/2006/relationships/presProps" Target="presProps.xml" /><Relationship Id="rId45" Type="http://schemas.microsoft.com/office/2018/10/relationships/authors" Target="authors.xml" /><Relationship Id="rId4" Type="http://schemas.openxmlformats.org/officeDocument/2006/relationships/slideMaster" Target="slideMasters/slideMaster1.xml" /><Relationship Id="rId4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Soil, climate, agriculture and the new livestock layer are the load-bearing domains (+0.009 to +0.025 each when dropped); the survey-derived domains cost nothing to remove, or help. A fixed climate + soil index transports better than the full vocabulary at both tiers (0.37 vs 0.27 at district level; 0.46 vs 0.31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2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151</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Malaria Atlas Project</a:t>
                      </a:r>
                    </a:p>
                  </a:txBody>
                </a:tc>
                <a:tc>
                  <a:txBody>
                    <a:bodyPr/>
                    <a:lstStyle/>
                    <a:p>
                      <a:pPr lvl="0" indent="0" marL="0" algn="r">
                        <a:buNone/>
                      </a:pPr>
                      <a:r>
                        <a:rPr/>
                        <a:t>23</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Dietary diversity</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60</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Malaria incidence and treatment</a:t>
                      </a:r>
                    </a:p>
                  </a:txBody>
                </a:tc>
                <a:tc>
                  <a:txBody>
                    <a:bodyPr/>
                    <a:lstStyle/>
                    <a:p>
                      <a:pPr lvl="0" indent="0" marL="0" algn="r">
                        <a:buNone/>
                      </a:pPr>
                      <a:r>
                        <a:rPr/>
                        <a:t>23</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Adult nutrition</a:t>
                      </a:r>
                    </a:p>
                  </a:txBody>
                </a:tc>
                <a:tc>
                  <a:txBody>
                    <a:bodyPr/>
                    <a:lstStyle/>
                    <a:p>
                      <a:pPr lvl="0" indent="0" marL="0" algn="l">
                        <a:buNone/>
                      </a:pPr>
                      <a:r>
                        <a:rPr/>
                        <a:t>7</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Food fortification and supplementation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0.399</a:t>
                      </a:r>
                    </a:p>
                  </a:txBody>
                </a:tc>
                <a:tc>
                  <a:txBody>
                    <a:bodyPr/>
                    <a:lstStyle/>
                    <a:p>
                      <a:pPr lvl="0" indent="0" marL="0" algn="r">
                        <a:buNone/>
                      </a:pPr>
                      <a:r>
                        <a:rPr/>
                        <a:t>0.266</a:t>
                      </a:r>
                    </a:p>
                  </a:txBody>
                </a:tc>
              </a:tr>
              <a:tr h="0">
                <a:tc>
                  <a:txBody>
                    <a:bodyPr/>
                    <a:lstStyle/>
                    <a:p>
                      <a:pPr lvl="0" indent="0" marL="0" algn="l">
                        <a:buNone/>
                      </a:pPr>
                      <a:r>
                        <a:rPr/>
                        <a:t>Zero-tuning domain index</a:t>
                      </a:r>
                    </a:p>
                  </a:txBody>
                </a:tc>
                <a:tc>
                  <a:txBody>
                    <a:bodyPr/>
                    <a:lstStyle/>
                    <a:p>
                      <a:pPr lvl="0" indent="0" marL="0" algn="r">
                        <a:buNone/>
                      </a:pPr>
                      <a:r>
                        <a:rPr/>
                        <a:t>0.393</a:t>
                      </a:r>
                    </a:p>
                  </a:txBody>
                </a:tc>
                <a:tc>
                  <a:txBody>
                    <a:bodyPr/>
                    <a:lstStyle/>
                    <a:p>
                      <a:pPr lvl="0" indent="0" marL="0" algn="r">
                        <a:buNone/>
                      </a:pPr>
                      <a:r>
                        <a:rPr/>
                        <a:t>0.292</a:t>
                      </a:r>
                    </a:p>
                  </a:txBody>
                </a:tc>
              </a:tr>
              <a:tr h="0">
                <a:tc>
                  <a:txBody>
                    <a:bodyPr/>
                    <a:lstStyle/>
                    <a:p>
                      <a:pPr lvl="0" indent="0" marL="0" algn="l">
                        <a:buNone/>
                      </a:pPr>
                      <a:r>
                        <a:rPr/>
                        <a:t>Spatial smoother only</a:t>
                      </a:r>
                    </a:p>
                  </a:txBody>
                </a:tc>
                <a:tc>
                  <a:txBody>
                    <a:bodyPr/>
                    <a:lstStyle/>
                    <a:p>
                      <a:pPr lvl="0" indent="0" marL="0" algn="r">
                        <a:buNone/>
                      </a:pPr>
                      <a:r>
                        <a:rPr/>
                        <a:t>0.390</a:t>
                      </a:r>
                    </a:p>
                  </a:txBody>
                </a:tc>
                <a:tc>
                  <a:txBody>
                    <a:bodyPr/>
                    <a:lstStyle/>
                    <a:p>
                      <a:pPr lvl="0" indent="0" marL="0" algn="r">
                        <a:buNone/>
                      </a:pPr>
                      <a:r>
                        <a:rPr/>
                        <a:t>0.268</a:t>
                      </a:r>
                    </a:p>
                  </a:txBody>
                </a:tc>
              </a:tr>
              <a:tr h="0">
                <a:tc>
                  <a:txBody>
                    <a:bodyPr/>
                    <a:lstStyle/>
                    <a:p>
                      <a:pPr lvl="0" indent="0" marL="0" algn="l">
                        <a:buNone/>
                      </a:pPr>
                      <a:r>
                        <a:rPr/>
                        <a:t>Elastic net, domain PCs</a:t>
                      </a:r>
                    </a:p>
                  </a:txBody>
                </a:tc>
                <a:tc>
                  <a:txBody>
                    <a:bodyPr/>
                    <a:lstStyle/>
                    <a:p>
                      <a:pPr lvl="0" indent="0" marL="0" algn="r">
                        <a:buNone/>
                      </a:pPr>
                      <a:r>
                        <a:rPr/>
                        <a:t>0.328</a:t>
                      </a:r>
                    </a:p>
                  </a:txBody>
                </a:tc>
                <a:tc>
                  <a:txBody>
                    <a:bodyPr/>
                    <a:lstStyle/>
                    <a:p>
                      <a:pPr lvl="0" indent="0" marL="0" algn="r">
                        <a:buNone/>
                      </a:pPr>
                      <a:r>
                        <a:rPr/>
                        <a:t>0.154</a:t>
                      </a:r>
                    </a:p>
                  </a:txBody>
                </a:tc>
              </a:tr>
              <a:tr h="0">
                <a:tc>
                  <a:txBody>
                    <a:bodyPr/>
                    <a:lstStyle/>
                    <a:p>
                      <a:pPr lvl="0" indent="0" marL="0" algn="l">
                        <a:buNone/>
                      </a:pPr>
                      <a:r>
                        <a:rPr/>
                        <a:t>Elastic net, all 451 columns</a:t>
                      </a:r>
                    </a:p>
                  </a:txBody>
                </a:tc>
                <a:tc>
                  <a:txBody>
                    <a:bodyPr/>
                    <a:lstStyle/>
                    <a:p>
                      <a:pPr lvl="0" indent="0" marL="0" algn="r">
                        <a:buNone/>
                      </a:pPr>
                      <a:r>
                        <a:rPr/>
                        <a:t>0.327</a:t>
                      </a:r>
                    </a:p>
                  </a:txBody>
                </a:tc>
                <a:tc>
                  <a:txBody>
                    <a:bodyPr/>
                    <a:lstStyle/>
                    <a:p>
                      <a:pPr lvl="0" indent="0" marL="0" algn="r">
                        <a:buNone/>
                      </a:pPr>
                      <a:r>
                        <a:rPr/>
                        <a:t>0.125</a:t>
                      </a:r>
                    </a:p>
                  </a:txBody>
                </a:tc>
              </a:tr>
              <a:tr h="0">
                <a:tc>
                  <a:txBody>
                    <a:bodyPr/>
                    <a:lstStyle/>
                    <a:p>
                      <a:pPr lvl="0" indent="0" marL="0" algn="l">
                        <a:buNone/>
                      </a:pPr>
                      <a:r>
                        <a:rPr/>
                        <a:t>Survey: jackknifed regional mean</a:t>
                      </a:r>
                    </a:p>
                  </a:txBody>
                </a:tc>
                <a:tc>
                  <a:txBody>
                    <a:bodyPr/>
                    <a:lstStyle/>
                    <a:p>
                      <a:pPr lvl="0" indent="0" marL="0" algn="r">
                        <a:buNone/>
                      </a:pPr>
                      <a:r>
                        <a:rPr/>
                        <a:t>0.314</a:t>
                      </a:r>
                    </a:p>
                  </a:txBody>
                </a:tc>
                <a:tc>
                  <a:txBody>
                    <a:bodyPr/>
                    <a:lstStyle/>
                    <a:p>
                      <a:pPr lvl="0" indent="0" marL="0" algn="r">
                        <a:buNone/>
                      </a:pPr>
                      <a:r>
                        <a:rPr/>
                        <a:t>0.193</a:t>
                      </a:r>
                    </a:p>
                  </a:txBody>
                </a:tc>
              </a:tr>
              <a:tr h="0">
                <a:tc>
                  <a:txBody>
                    <a:bodyPr/>
                    <a:lstStyle/>
                    <a:p>
                      <a:pPr lvl="0" indent="0" marL="0" algn="l">
                        <a:buNone/>
                      </a:pPr>
                      <a:r>
                        <a:rPr/>
                        <a:t>Null: training mean</a:t>
                      </a:r>
                    </a:p>
                  </a:txBody>
                </a:tc>
                <a:tc>
                  <a:txBody>
                    <a:bodyPr/>
                    <a:lstStyle/>
                    <a:p>
                      <a:pPr lvl="0" indent="0" marL="0" algn="r">
                        <a:buNone/>
                      </a:pPr>
                      <a:r>
                        <a:rPr/>
                        <a:t>-0.228</a:t>
                      </a:r>
                    </a:p>
                  </a:txBody>
                </a:tc>
                <a:tc>
                  <a:txBody>
                    <a:bodyPr/>
                    <a:lstStyle/>
                    <a:p>
                      <a:pPr lvl="0" indent="0" marL="0" algn="r">
                        <a:buNone/>
                      </a:pPr>
                      <a:r>
                        <a:rPr/>
                        <a:t>-0.220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0.398</a:t>
                      </a:r>
                    </a:p>
                  </a:txBody>
                </a:tc>
                <a:tc>
                  <a:txBody>
                    <a:bodyPr/>
                    <a:lstStyle/>
                    <a:p>
                      <a:pPr lvl="0" indent="0" marL="0" algn="r">
                        <a:buNone/>
                      </a:pPr>
                      <a:r>
                        <a:rPr/>
                        <a:t>0.250</a:t>
                      </a:r>
                    </a:p>
                  </a:txBody>
                </a:tc>
              </a:tr>
              <a:tr h="0">
                <a:tc>
                  <a:txBody>
                    <a:bodyPr/>
                    <a:lstStyle/>
                    <a:p>
                      <a:pPr lvl="0" indent="0" marL="0" algn="l">
                        <a:buNone/>
                      </a:pPr>
                      <a:r>
                        <a:rPr/>
                        <a:t>Zero-tuning domain index</a:t>
                      </a:r>
                    </a:p>
                  </a:txBody>
                </a:tc>
                <a:tc>
                  <a:txBody>
                    <a:bodyPr/>
                    <a:lstStyle/>
                    <a:p>
                      <a:pPr lvl="0" indent="0" marL="0" algn="r">
                        <a:buNone/>
                      </a:pPr>
                      <a:r>
                        <a:rPr/>
                        <a:t>0.378</a:t>
                      </a:r>
                    </a:p>
                  </a:txBody>
                </a:tc>
                <a:tc>
                  <a:txBody>
                    <a:bodyPr/>
                    <a:lstStyle/>
                    <a:p>
                      <a:pPr lvl="0" indent="0" marL="0" algn="r">
                        <a:buNone/>
                      </a:pPr>
                      <a:r>
                        <a:rPr/>
                        <a:t>0.275</a:t>
                      </a:r>
                    </a:p>
                  </a:txBody>
                </a:tc>
              </a:tr>
              <a:tr h="0">
                <a:tc>
                  <a:txBody>
                    <a:bodyPr/>
                    <a:lstStyle/>
                    <a:p>
                      <a:pPr lvl="0" indent="0" marL="0" algn="l">
                        <a:buNone/>
                      </a:pPr>
                      <a:r>
                        <a:rPr/>
                        <a:t>Spatial smoother only</a:t>
                      </a:r>
                    </a:p>
                  </a:txBody>
                </a:tc>
                <a:tc>
                  <a:txBody>
                    <a:bodyPr/>
                    <a:lstStyle/>
                    <a:p>
                      <a:pPr lvl="0" indent="0" marL="0" algn="r">
                        <a:buNone/>
                      </a:pPr>
                      <a:r>
                        <a:rPr/>
                        <a:t>0.378</a:t>
                      </a:r>
                    </a:p>
                  </a:txBody>
                </a:tc>
                <a:tc>
                  <a:txBody>
                    <a:bodyPr/>
                    <a:lstStyle/>
                    <a:p>
                      <a:pPr lvl="0" indent="0" marL="0" algn="r">
                        <a:buNone/>
                      </a:pPr>
                      <a:r>
                        <a:rPr/>
                        <a:t>0.255</a:t>
                      </a:r>
                    </a:p>
                  </a:txBody>
                </a:tc>
              </a:tr>
              <a:tr h="0">
                <a:tc>
                  <a:txBody>
                    <a:bodyPr/>
                    <a:lstStyle/>
                    <a:p>
                      <a:pPr lvl="0" indent="0" marL="0" algn="l">
                        <a:buNone/>
                      </a:pPr>
                      <a:r>
                        <a:rPr/>
                        <a:t>Elastic net, domain PCs</a:t>
                      </a:r>
                    </a:p>
                  </a:txBody>
                </a:tc>
                <a:tc>
                  <a:txBody>
                    <a:bodyPr/>
                    <a:lstStyle/>
                    <a:p>
                      <a:pPr lvl="0" indent="0" marL="0" algn="r">
                        <a:buNone/>
                      </a:pPr>
                      <a:r>
                        <a:rPr/>
                        <a:t>0.274</a:t>
                      </a:r>
                    </a:p>
                  </a:txBody>
                </a:tc>
                <a:tc>
                  <a:txBody>
                    <a:bodyPr/>
                    <a:lstStyle/>
                    <a:p>
                      <a:pPr lvl="0" indent="0" marL="0" algn="r">
                        <a:buNone/>
                      </a:pPr>
                      <a:r>
                        <a:rPr/>
                        <a:t>0.056</a:t>
                      </a:r>
                    </a:p>
                  </a:txBody>
                </a:tc>
              </a:tr>
              <a:tr h="0">
                <a:tc>
                  <a:txBody>
                    <a:bodyPr/>
                    <a:lstStyle/>
                    <a:p>
                      <a:pPr lvl="0" indent="0" marL="0" algn="l">
                        <a:buNone/>
                      </a:pPr>
                      <a:r>
                        <a:rPr/>
                        <a:t>Elastic net, all 451 columns</a:t>
                      </a:r>
                    </a:p>
                  </a:txBody>
                </a:tc>
                <a:tc>
                  <a:txBody>
                    <a:bodyPr/>
                    <a:lstStyle/>
                    <a:p>
                      <a:pPr lvl="0" indent="0" marL="0" algn="r">
                        <a:buNone/>
                      </a:pPr>
                      <a:r>
                        <a:rPr/>
                        <a:t>0.225</a:t>
                      </a:r>
                    </a:p>
                  </a:txBody>
                </a:tc>
                <a:tc>
                  <a:txBody>
                    <a:bodyPr/>
                    <a:lstStyle/>
                    <a:p>
                      <a:pPr lvl="0" indent="0" marL="0" algn="r">
                        <a:buNone/>
                      </a:pPr>
                      <a:r>
                        <a:rPr/>
                        <a:t>-0.071</a:t>
                      </a:r>
                    </a:p>
                  </a:txBody>
                </a:tc>
              </a:tr>
              <a:tr h="0">
                <a:tc>
                  <a:txBody>
                    <a:bodyPr/>
                    <a:lstStyle/>
                    <a:p>
                      <a:pPr lvl="0" indent="0" marL="0" algn="l">
                        <a:buNone/>
                      </a:pPr>
                      <a:r>
                        <a:rPr/>
                        <a:t>Null: training mean</a:t>
                      </a:r>
                    </a:p>
                  </a:txBody>
                </a:tc>
                <a:tc>
                  <a:txBody>
                    <a:bodyPr/>
                    <a:lstStyle/>
                    <a:p>
                      <a:pPr lvl="0" indent="0" marL="0" algn="r">
                        <a:buNone/>
                      </a:pPr>
                      <a:r>
                        <a:rPr/>
                        <a:t>-0.603</a:t>
                      </a:r>
                    </a:p>
                  </a:txBody>
                </a:tc>
                <a:tc>
                  <a:txBody>
                    <a:bodyPr/>
                    <a:lstStyle/>
                    <a:p>
                      <a:pPr lvl="0" indent="0" marL="0" algn="r">
                        <a:buNone/>
                      </a:pPr>
                      <a:r>
                        <a:rPr/>
                        <a:t>-0.546</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0.27</a:t>
                      </a:r>
                    </a:p>
                  </a:txBody>
                </a:tc>
                <a:tc>
                  <a:txBody>
                    <a:bodyPr/>
                    <a:lstStyle/>
                    <a:p>
                      <a:pPr lvl="0" indent="0" marL="0" algn="r">
                        <a:buNone/>
                      </a:pPr>
                      <a:r>
                        <a:rPr/>
                        <a:t>0.18</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0.31</a:t>
                      </a:r>
                    </a:p>
                  </a:txBody>
                </a:tc>
                <a:tc>
                  <a:txBody>
                    <a:bodyPr/>
                    <a:lstStyle/>
                    <a:p>
                      <a:pPr lvl="0" indent="0" marL="0" algn="r">
                        <a:buNone/>
                      </a:pPr>
                      <a:r>
                        <a:rPr/>
                        <a:t>0.32</a:t>
                      </a:r>
                    </a:p>
                  </a:txBody>
                </a:tc>
                <a:tc>
                  <a:txBody>
                    <a:bodyPr/>
                    <a:lstStyle/>
                    <a:p>
                      <a:pPr lvl="0" indent="0" marL="0" algn="r">
                        <a:buNone/>
                      </a:pPr>
                      <a:r>
                        <a:rPr/>
                        <a:t>0.46</a:t>
                      </a:r>
                    </a:p>
                  </a:txBody>
                </a:tc>
                <a:tc>
                  <a:txBody>
                    <a:bodyPr/>
                    <a:lstStyle/>
                    <a:p>
                      <a:pPr lvl="0" indent="0" marL="0" algn="r">
                        <a:buNone/>
                      </a:pPr>
                      <a:r>
                        <a:rPr/>
                        <a:t>0.38</a:t>
                      </a:r>
                    </a:p>
                  </a:txBody>
                </a:tc>
                <a:tc>
                  <a:txBody>
                    <a:bodyPr/>
                    <a:lstStyle/>
                    <a:p>
                      <a:pPr lvl="0" indent="0" marL="0" algn="r">
                        <a:buNone/>
                      </a:pPr>
                      <a:r>
                        <a:rPr/>
                        <a:t>0.16</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0.24</a:t>
                      </a:r>
                    </a:p>
                  </a:txBody>
                </a:tc>
                <a:tc>
                  <a:txBody>
                    <a:bodyPr/>
                    <a:lstStyle/>
                    <a:p>
                      <a:pPr lvl="0" indent="0" marL="0" algn="r">
                        <a:buNone/>
                      </a:pPr>
                      <a:r>
                        <a:rPr/>
                        <a:t>1.23</a:t>
                      </a:r>
                    </a:p>
                  </a:txBody>
                </a:tc>
                <a:tc>
                  <a:txBody>
                    <a:bodyPr/>
                    <a:lstStyle/>
                    <a:p>
                      <a:pPr lvl="0" indent="0" marL="0" algn="r">
                        <a:buNone/>
                      </a:pPr>
                      <a:r>
                        <a:rPr/>
                        <a:t>12</a:t>
                      </a:r>
                    </a:p>
                  </a:txBody>
                </a:tc>
              </a:tr>
              <a:tr h="0">
                <a:tc>
                  <a:txBody>
                    <a:bodyPr/>
                    <a:lstStyle/>
                    <a:p>
                      <a:pPr lvl="0" indent="0" marL="0" algn="l">
                        <a:buNone/>
                      </a:pPr>
                      <a:r>
                        <a:rPr/>
                        <a:t>Spatial smoother only</a:t>
                      </a:r>
                    </a:p>
                  </a:txBody>
                </a:tc>
                <a:tc>
                  <a:txBody>
                    <a:bodyPr/>
                    <a:lstStyle/>
                    <a:p>
                      <a:pPr lvl="0" indent="0" marL="0" algn="r">
                        <a:buNone/>
                      </a:pPr>
                      <a:r>
                        <a:rPr/>
                        <a:t>0.23</a:t>
                      </a:r>
                    </a:p>
                  </a:txBody>
                </a:tc>
                <a:tc>
                  <a:txBody>
                    <a:bodyPr/>
                    <a:lstStyle/>
                    <a:p>
                      <a:pPr lvl="0" indent="0" marL="0" algn="r">
                        <a:buNone/>
                      </a:pPr>
                      <a:r>
                        <a:rPr/>
                        <a:t>1.15</a:t>
                      </a:r>
                    </a:p>
                  </a:txBody>
                </a:tc>
                <a:tc>
                  <a:txBody>
                    <a:bodyPr/>
                    <a:lstStyle/>
                    <a:p>
                      <a:pPr lvl="0" indent="0" marL="0" algn="r">
                        <a:buNone/>
                      </a:pPr>
                      <a:r>
                        <a:rPr/>
                        <a:t>10</a:t>
                      </a:r>
                    </a:p>
                  </a:txBody>
                </a:tc>
              </a:tr>
              <a:tr h="0">
                <a:tc>
                  <a:txBody>
                    <a:bodyPr/>
                    <a:lstStyle/>
                    <a:p>
                      <a:pPr lvl="0" indent="0" marL="0" algn="l">
                        <a:buNone/>
                      </a:pPr>
                      <a:r>
                        <a:rPr/>
                        <a:t>Spatial smoother + covariates</a:t>
                      </a:r>
                    </a:p>
                  </a:txBody>
                </a:tc>
                <a:tc>
                  <a:txBody>
                    <a:bodyPr/>
                    <a:lstStyle/>
                    <a:p>
                      <a:pPr lvl="0" indent="0" marL="0" algn="r">
                        <a:buNone/>
                      </a:pPr>
                      <a:r>
                        <a:rPr/>
                        <a:t>0.22</a:t>
                      </a:r>
                    </a:p>
                  </a:txBody>
                </a:tc>
                <a:tc>
                  <a:txBody>
                    <a:bodyPr/>
                    <a:lstStyle/>
                    <a:p>
                      <a:pPr lvl="0" indent="0" marL="0" algn="r">
                        <a:buNone/>
                      </a:pPr>
                      <a:r>
                        <a:rPr/>
                        <a:t>1.12</a:t>
                      </a:r>
                    </a:p>
                  </a:txBody>
                </a:tc>
                <a:tc>
                  <a:txBody>
                    <a:bodyPr/>
                    <a:lstStyle/>
                    <a:p>
                      <a:pPr lvl="0" indent="0" marL="0" algn="r">
                        <a:buNone/>
                      </a:pPr>
                      <a:r>
                        <a:rPr/>
                        <a:t>9</a:t>
                      </a:r>
                    </a:p>
                  </a:txBody>
                </a:tc>
              </a:tr>
              <a:tr h="0">
                <a:tc>
                  <a:txBody>
                    <a:bodyPr/>
                    <a:lstStyle/>
                    <a:p>
                      <a:pPr lvl="0" indent="0" marL="0" algn="l">
                        <a:buNone/>
                      </a:pPr>
                      <a:r>
                        <a:rPr/>
                        <a:t>Survey: jackknifed regional mean</a:t>
                      </a:r>
                    </a:p>
                  </a:txBody>
                </a:tc>
                <a:tc>
                  <a:txBody>
                    <a:bodyPr/>
                    <a:lstStyle/>
                    <a:p>
                      <a:pPr lvl="0" indent="0" marL="0" algn="r">
                        <a:buNone/>
                      </a:pPr>
                      <a:r>
                        <a:rPr/>
                        <a:t>0.19</a:t>
                      </a:r>
                    </a:p>
                  </a:txBody>
                </a:tc>
                <a:tc>
                  <a:txBody>
                    <a:bodyPr/>
                    <a:lstStyle/>
                    <a:p>
                      <a:pPr lvl="0" indent="0" marL="0" algn="r">
                        <a:buNone/>
                      </a:pPr>
                      <a:r>
                        <a:rPr/>
                        <a:t>0.95</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0.15</a:t>
                      </a:r>
                    </a:p>
                  </a:txBody>
                </a:tc>
                <a:tc>
                  <a:txBody>
                    <a:bodyPr/>
                    <a:lstStyle/>
                    <a:p>
                      <a:pPr lvl="0" indent="0" marL="0" algn="r">
                        <a:buNone/>
                      </a:pPr>
                      <a:r>
                        <a:rPr/>
                        <a:t>0.74</a:t>
                      </a:r>
                    </a:p>
                  </a:txBody>
                </a:tc>
                <a:tc>
                  <a:txBody>
                    <a:bodyPr/>
                    <a:lstStyle/>
                    <a:p>
                      <a:pPr lvl="0" indent="0" marL="0" algn="r">
                        <a:buNone/>
                      </a:pPr>
                      <a:r>
                        <a:rPr/>
                        <a:t>1</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0.025</a:t>
                      </a:r>
                    </a:p>
                  </a:txBody>
                </a:tc>
                <a:tc>
                  <a:txBody>
                    <a:bodyPr/>
                    <a:lstStyle/>
                    <a:p>
                      <a:pPr lvl="0" indent="0" marL="0" algn="r">
                        <a:buNone/>
                      </a:pPr>
                      <a:r>
                        <a:rPr/>
                        <a:t>0.328</a:t>
                      </a:r>
                    </a:p>
                  </a:txBody>
                </a:tc>
              </a:tr>
              <a:tr h="0">
                <a:tc>
                  <a:txBody>
                    <a:bodyPr/>
                    <a:lstStyle/>
                    <a:p>
                      <a:pPr lvl="0" indent="0" marL="0" algn="l">
                        <a:buNone/>
                      </a:pPr>
                      <a:r>
                        <a:rPr/>
                        <a:t>Climate and weather</a:t>
                      </a:r>
                    </a:p>
                  </a:txBody>
                </a:tc>
                <a:tc>
                  <a:txBody>
                    <a:bodyPr/>
                    <a:lstStyle/>
                    <a:p>
                      <a:pPr lvl="0" indent="0" marL="0" algn="r">
                        <a:buNone/>
                      </a:pPr>
                      <a:r>
                        <a:rPr/>
                        <a:t>0.014</a:t>
                      </a:r>
                    </a:p>
                  </a:txBody>
                </a:tc>
                <a:tc>
                  <a:txBody>
                    <a:bodyPr/>
                    <a:lstStyle/>
                    <a:p>
                      <a:pPr lvl="0" indent="0" marL="0" algn="r">
                        <a:buNone/>
                      </a:pPr>
                      <a:r>
                        <a:rPr/>
                        <a:t>0.354</a:t>
                      </a:r>
                    </a:p>
                  </a:txBody>
                </a:tc>
              </a:tr>
              <a:tr h="0">
                <a:tc>
                  <a:txBody>
                    <a:bodyPr/>
                    <a:lstStyle/>
                    <a:p>
                      <a:pPr lvl="0" indent="0" marL="0" algn="l">
                        <a:buNone/>
                      </a:pPr>
                      <a:r>
                        <a:rPr/>
                        <a:t>Agricultural production, land use</a:t>
                      </a:r>
                    </a:p>
                  </a:txBody>
                </a:tc>
                <a:tc>
                  <a:txBody>
                    <a:bodyPr/>
                    <a:lstStyle/>
                    <a:p>
                      <a:pPr lvl="0" indent="0" marL="0" algn="r">
                        <a:buNone/>
                      </a:pPr>
                      <a:r>
                        <a:rPr/>
                        <a:t>0.012</a:t>
                      </a:r>
                    </a:p>
                  </a:txBody>
                </a:tc>
                <a:tc>
                  <a:txBody>
                    <a:bodyPr/>
                    <a:lstStyle/>
                    <a:p>
                      <a:pPr lvl="0" indent="0" marL="0" algn="r">
                        <a:buNone/>
                      </a:pPr>
                      <a:r>
                        <a:rPr/>
                        <a:t>0.291</a:t>
                      </a:r>
                    </a:p>
                  </a:txBody>
                </a:tc>
              </a:tr>
              <a:tr h="0">
                <a:tc>
                  <a:txBody>
                    <a:bodyPr/>
                    <a:lstStyle/>
                    <a:p>
                      <a:pPr lvl="0" indent="0" marL="0" algn="l">
                        <a:buNone/>
                      </a:pPr>
                      <a:r>
                        <a:rPr/>
                        <a:t>Livestock density</a:t>
                      </a:r>
                    </a:p>
                  </a:txBody>
                </a:tc>
                <a:tc>
                  <a:txBody>
                    <a:bodyPr/>
                    <a:lstStyle/>
                    <a:p>
                      <a:pPr lvl="0" indent="0" marL="0" algn="r">
                        <a:buNone/>
                      </a:pPr>
                      <a:r>
                        <a:rPr/>
                        <a:t>0.009</a:t>
                      </a:r>
                    </a:p>
                  </a:txBody>
                </a:tc>
                <a:tc>
                  <a:txBody>
                    <a:bodyPr/>
                    <a:lstStyle/>
                    <a:p>
                      <a:pPr lvl="0" indent="0" marL="0" algn="r">
                        <a:buNone/>
                      </a:pPr>
                      <a:r>
                        <a:rPr/>
                        <a:t>0.238</a:t>
                      </a:r>
                    </a:p>
                  </a:txBody>
                </a:tc>
              </a:tr>
              <a:tr h="0">
                <a:tc>
                  <a:txBody>
                    <a:bodyPr/>
                    <a:lstStyle/>
                    <a:p>
                      <a:pPr lvl="0" indent="0" marL="0" algn="l">
                        <a:buNone/>
                      </a:pPr>
                      <a:r>
                        <a:rPr/>
                        <a:t>Malaria incidence and treatment</a:t>
                      </a:r>
                    </a:p>
                  </a:txBody>
                </a:tc>
                <a:tc>
                  <a:txBody>
                    <a:bodyPr/>
                    <a:lstStyle/>
                    <a:p>
                      <a:pPr lvl="0" indent="0" marL="0" algn="r">
                        <a:buNone/>
                      </a:pPr>
                      <a:r>
                        <a:rPr/>
                        <a:t>0.007</a:t>
                      </a:r>
                    </a:p>
                  </a:txBody>
                </a:tc>
                <a:tc>
                  <a:txBody>
                    <a:bodyPr/>
                    <a:lstStyle/>
                    <a:p>
                      <a:pPr lvl="0" indent="0" marL="0" algn="r">
                        <a:buNone/>
                      </a:pPr>
                      <a:r>
                        <a:rPr/>
                        <a:t>0.139</a:t>
                      </a:r>
                    </a:p>
                  </a:txBody>
                </a:tc>
              </a:tr>
              <a:tr h="0">
                <a:tc>
                  <a:txBody>
                    <a:bodyPr/>
                    <a:lstStyle/>
                    <a:p>
                      <a:pPr lvl="0" indent="0" marL="0" algn="l">
                        <a:buNone/>
                      </a:pPr>
                      <a:r>
                        <a:rPr/>
                        <a:t>Helminth burden and control</a:t>
                      </a:r>
                    </a:p>
                  </a:txBody>
                </a:tc>
                <a:tc>
                  <a:txBody>
                    <a:bodyPr/>
                    <a:lstStyle/>
                    <a:p>
                      <a:pPr lvl="0" indent="0" marL="0" algn="r">
                        <a:buNone/>
                      </a:pPr>
                      <a:r>
                        <a:rPr/>
                        <a:t>0.005</a:t>
                      </a:r>
                    </a:p>
                  </a:txBody>
                </a:tc>
                <a:tc>
                  <a:txBody>
                    <a:bodyPr/>
                    <a:lstStyle/>
                    <a:p>
                      <a:pPr lvl="0" indent="0" marL="0" algn="r">
                        <a:buNone/>
                      </a:pPr>
                      <a:r>
                        <a:rPr/>
                        <a:t>-0.072</a:t>
                      </a:r>
                    </a:p>
                  </a:txBody>
                </a:tc>
              </a:tr>
              <a:tr h="0">
                <a:tc>
                  <a:txBody>
                    <a:bodyPr/>
                    <a:lstStyle/>
                    <a:p>
                      <a:pPr lvl="0" indent="0" marL="0" algn="l">
                        <a:buNone/>
                      </a:pPr>
                      <a:r>
                        <a:rPr/>
                        <a:t>Nutrition status (MODELLED SURFACE)</a:t>
                      </a:r>
                    </a:p>
                  </a:txBody>
                </a:tc>
                <a:tc>
                  <a:txBody>
                    <a:bodyPr/>
                    <a:lstStyle/>
                    <a:p>
                      <a:pPr lvl="0" indent="0" marL="0" algn="r">
                        <a:buNone/>
                      </a:pPr>
                      <a:r>
                        <a:rPr/>
                        <a:t>0.005</a:t>
                      </a:r>
                    </a:p>
                  </a:txBody>
                </a:tc>
                <a:tc>
                  <a:txBody>
                    <a:bodyPr/>
                    <a:lstStyle/>
                    <a:p>
                      <a:pPr lvl="0" indent="0" marL="0" algn="r">
                        <a:buNone/>
                      </a:pPr>
                      <a:r>
                        <a:rPr/>
                        <a:t>0.219</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6946900"/>
                <a:gridCol w="736600"/>
                <a:gridCol w="1651000"/>
                <a:gridCol w="11938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0.025</a:t>
                      </a:r>
                    </a:p>
                  </a:txBody>
                </a:tc>
                <a:tc>
                  <a:txBody>
                    <a:bodyPr/>
                    <a:lstStyle/>
                    <a:p>
                      <a:pPr lvl="0" indent="0" marL="0" algn="r">
                        <a:buNone/>
                      </a:pPr>
                      <a:r>
                        <a:rPr/>
                        <a:t>0.328</a:t>
                      </a:r>
                    </a:p>
                  </a:txBody>
                </a:tc>
              </a:tr>
              <a:tr h="0">
                <a:tc>
                  <a:txBody>
                    <a:bodyPr/>
                    <a:lstStyle/>
                    <a:p>
                      <a:pPr lvl="0" indent="0" marL="0" algn="l">
                        <a:buNone/>
                      </a:pPr>
                      <a:r>
                        <a:rPr/>
                        <a:t>Gridded Livestock of the World 4 (2020, 5 arc-min, dasymetric; FAO catalog)</a:t>
                      </a:r>
                    </a:p>
                  </a:txBody>
                </a:tc>
                <a:tc>
                  <a:txBody>
                    <a:bodyPr/>
                    <a:lstStyle/>
                    <a:p>
                      <a:pPr lvl="0" indent="0" marL="0" algn="r">
                        <a:buNone/>
                      </a:pPr>
                      <a:r>
                        <a:rPr/>
                        <a:t>8</a:t>
                      </a:r>
                    </a:p>
                  </a:txBody>
                </a:tc>
                <a:tc>
                  <a:txBody>
                    <a:bodyPr/>
                    <a:lstStyle/>
                    <a:p>
                      <a:pPr lvl="0" indent="0" marL="0" algn="r">
                        <a:buNone/>
                      </a:pPr>
                      <a:r>
                        <a:rPr/>
                        <a:t>0.009</a:t>
                      </a:r>
                    </a:p>
                  </a:txBody>
                </a:tc>
                <a:tc>
                  <a:txBody>
                    <a:bodyPr/>
                    <a:lstStyle/>
                    <a:p>
                      <a:pPr lvl="0" indent="0" marL="0" algn="r">
                        <a:buNone/>
                      </a:pPr>
                      <a:r>
                        <a:rPr/>
                        <a:t>0.238</a:t>
                      </a:r>
                    </a:p>
                  </a:txBody>
                </a:tc>
              </a:tr>
              <a:tr h="0">
                <a:tc>
                  <a:txBody>
                    <a:bodyPr/>
                    <a:lstStyle/>
                    <a:p>
                      <a:pPr lvl="0" indent="0" marL="0" algn="l">
                        <a:buNone/>
                      </a:pPr>
                      <a:r>
                        <a:rPr/>
                        <a:t>Malaria Atlas</a:t>
                      </a:r>
                    </a:p>
                  </a:txBody>
                </a:tc>
                <a:tc>
                  <a:txBody>
                    <a:bodyPr/>
                    <a:lstStyle/>
                    <a:p>
                      <a:pPr lvl="0" indent="0" marL="0" algn="r">
                        <a:buNone/>
                      </a:pPr>
                      <a:r>
                        <a:rPr/>
                        <a:t>23</a:t>
                      </a:r>
                    </a:p>
                  </a:txBody>
                </a:tc>
                <a:tc>
                  <a:txBody>
                    <a:bodyPr/>
                    <a:lstStyle/>
                    <a:p>
                      <a:pPr lvl="0" indent="0" marL="0" algn="r">
                        <a:buNone/>
                      </a:pPr>
                      <a:r>
                        <a:rPr/>
                        <a:t>0.007</a:t>
                      </a:r>
                    </a:p>
                  </a:txBody>
                </a:tc>
                <a:tc>
                  <a:txBody>
                    <a:bodyPr/>
                    <a:lstStyle/>
                    <a:p>
                      <a:pPr lvl="0" indent="0" marL="0" algn="r">
                        <a:buNone/>
                      </a:pPr>
                      <a:r>
                        <a:rPr/>
                        <a:t>0.139</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0.007</a:t>
                      </a:r>
                    </a:p>
                  </a:txBody>
                </a:tc>
                <a:tc>
                  <a:txBody>
                    <a:bodyPr/>
                    <a:lstStyle/>
                    <a:p>
                      <a:pPr lvl="0" indent="0" marL="0" algn="r">
                        <a:buNone/>
                      </a:pPr>
                      <a:r>
                        <a:rPr/>
                        <a:t>0.183</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0.005</a:t>
                      </a:r>
                    </a:p>
                  </a:txBody>
                </a:tc>
                <a:tc>
                  <a:txBody>
                    <a:bodyPr/>
                    <a:lstStyle/>
                    <a:p>
                      <a:pPr lvl="0" indent="0" marL="0" algn="r">
                        <a:buNone/>
                      </a:pPr>
                      <a:r>
                        <a:rPr/>
                        <a:t>0.274</a:t>
                      </a:r>
                    </a:p>
                  </a:txBody>
                </a:tc>
              </a:tr>
              <a:tr h="0">
                <a:tc>
                  <a:txBody>
                    <a:bodyPr/>
                    <a:lstStyle/>
                    <a:p>
                      <a:pPr lvl="0" indent="0" marL="0" algn="l">
                        <a:buNone/>
                      </a:pPr>
                      <a:r>
                        <a:rPr/>
                        <a:t>WHO ESPEN implementation-unit database 2014-2025 (portal export, no key)</a:t>
                      </a:r>
                    </a:p>
                  </a:txBody>
                </a:tc>
                <a:tc>
                  <a:txBody>
                    <a:bodyPr/>
                    <a:lstStyle/>
                    <a:p>
                      <a:pPr lvl="0" indent="0" marL="0" algn="r">
                        <a:buNone/>
                      </a:pPr>
                      <a:r>
                        <a:rPr/>
                        <a:t>4</a:t>
                      </a:r>
                    </a:p>
                  </a:txBody>
                </a:tc>
                <a:tc>
                  <a:txBody>
                    <a:bodyPr/>
                    <a:lstStyle/>
                    <a:p>
                      <a:pPr lvl="0" indent="0" marL="0" algn="r">
                        <a:buNone/>
                      </a:pPr>
                      <a:r>
                        <a:rPr/>
                        <a:t>0.005</a:t>
                      </a:r>
                    </a:p>
                  </a:txBody>
                </a:tc>
                <a:tc>
                  <a:txBody>
                    <a:bodyPr/>
                    <a:lstStyle/>
                    <a:p>
                      <a:pPr lvl="0" indent="0" marL="0" algn="r">
                        <a:buNone/>
                      </a:pPr>
                      <a:r>
                        <a:rPr/>
                        <a:t>-0.072</a:t>
                      </a:r>
                    </a:p>
                  </a:txBody>
                </a:tc>
              </a:tr>
              <a:tr h="0">
                <a:tc>
                  <a:txBody>
                    <a:bodyPr/>
                    <a:lstStyle/>
                    <a:p>
                      <a:pPr lvl="0" indent="0" marL="0" algn="l">
                        <a:buNone/>
                      </a:pPr>
                      <a:r>
                        <a:rPr/>
                        <a:t>DHS</a:t>
                      </a:r>
                    </a:p>
                  </a:txBody>
                </a:tc>
                <a:tc>
                  <a:txBody>
                    <a:bodyPr/>
                    <a:lstStyle/>
                    <a:p>
                      <a:pPr lvl="0" indent="0" marL="0" algn="r">
                        <a:buNone/>
                      </a:pPr>
                      <a:r>
                        <a:rPr/>
                        <a:t>136</a:t>
                      </a:r>
                    </a:p>
                  </a:txBody>
                </a:tc>
                <a:tc>
                  <a:txBody>
                    <a:bodyPr/>
                    <a:lstStyle/>
                    <a:p>
                      <a:pPr lvl="0" indent="0" marL="0" algn="r">
                        <a:buNone/>
                      </a:pPr>
                      <a:r>
                        <a:rPr/>
                        <a:t>-0.067</a:t>
                      </a:r>
                    </a:p>
                  </a:txBody>
                </a:tc>
                <a:tc>
                  <a:txBody>
                    <a:bodyPr/>
                    <a:lstStyle/>
                    <a:p>
                      <a:pPr lvl="0" indent="0" marL="0" algn="r">
                        <a:buNone/>
                      </a:pPr>
                      <a:r>
                        <a:rPr/>
                        <a:t>0.140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0.36</a:t>
                      </a:r>
                    </a:p>
                  </a:txBody>
                </a:tc>
                <a:tc>
                  <a:txBody>
                    <a:bodyPr/>
                    <a:lstStyle/>
                    <a:p>
                      <a:pPr lvl="0" indent="0" marL="0" algn="r">
                        <a:buNone/>
                      </a:pPr>
                      <a:r>
                        <a:rPr/>
                        <a:t>-0.15</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0.46</a:t>
                      </a:r>
                    </a:p>
                  </a:txBody>
                </a:tc>
                <a:tc>
                  <a:txBody>
                    <a:bodyPr/>
                    <a:lstStyle/>
                    <a:p>
                      <a:pPr lvl="0" indent="0" marL="0" algn="r">
                        <a:buNone/>
                      </a:pPr>
                      <a:r>
                        <a:rPr/>
                        <a:t>0.42</a:t>
                      </a:r>
                    </a:p>
                  </a:txBody>
                </a:tc>
                <a:tc>
                  <a:txBody>
                    <a:bodyPr/>
                    <a:lstStyle/>
                    <a:p>
                      <a:pPr lvl="0" indent="0" marL="0" algn="r">
                        <a:buNone/>
                      </a:pPr>
                      <a:r>
                        <a:rPr/>
                        <a:t>-0.08</a:t>
                      </a:r>
                    </a:p>
                  </a:txBody>
                </a:tc>
                <a:tc>
                  <a:txBody>
                    <a:bodyPr/>
                    <a:lstStyle/>
                    <a:p>
                      <a:pPr lvl="0" indent="0" marL="0" algn="r">
                        <a:buNone/>
                      </a:pPr>
                      <a:r>
                        <a:rPr/>
                        <a:t>0.12</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0.58</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0.58</a:t>
                      </a:r>
                    </a:p>
                  </a:txBody>
                </a:tc>
                <a:tc>
                  <a:txBody>
                    <a:bodyPr/>
                    <a:lstStyle/>
                    <a:p>
                      <a:pPr lvl="0" indent="0" marL="0" algn="r">
                        <a:buNone/>
                      </a:pPr>
                      <a:r>
                        <a:rPr/>
                        <a:t>0.54</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0.54</a:t>
                      </a:r>
                    </a:p>
                  </a:txBody>
                </a:tc>
                <a:tc>
                  <a:txBody>
                    <a:bodyPr/>
                    <a:lstStyle/>
                    <a:p>
                      <a:pPr lvl="0" indent="0" marL="0" algn="r">
                        <a:buNone/>
                      </a:pPr>
                      <a:r>
                        <a:rPr/>
                        <a:t>0.40</a:t>
                      </a:r>
                    </a:p>
                  </a:txBody>
                </a:tc>
                <a:tc>
                  <a:txBody>
                    <a:bodyPr/>
                    <a:lstStyle/>
                    <a:p>
                      <a:pPr lvl="0" indent="0" marL="0" algn="r">
                        <a:buNone/>
                      </a:pPr>
                      <a:r>
                        <a:rPr/>
                        <a:t>0.14</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0.38</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10.5</a:t>
                      </a:r>
                    </a:p>
                  </a:txBody>
                </a:tc>
                <a:tc>
                  <a:txBody>
                    <a:bodyPr/>
                    <a:lstStyle/>
                    <a:p>
                      <a:pPr lvl="0" indent="0" marL="0" algn="r">
                        <a:buNone/>
                      </a:pPr>
                      <a:r>
                        <a:rPr/>
                        <a:t>12.1</a:t>
                      </a:r>
                    </a:p>
                  </a:txBody>
                </a:tc>
                <a:tc>
                  <a:txBody>
                    <a:bodyPr/>
                    <a:lstStyle/>
                    <a:p>
                      <a:pPr lvl="0" indent="0" marL="0" algn="r">
                        <a:buNone/>
                      </a:pPr>
                      <a:r>
                        <a:rPr/>
                        <a:t>18.8</a:t>
                      </a:r>
                    </a:p>
                  </a:txBody>
                </a:tc>
                <a:tc>
                  <a:txBody>
                    <a:bodyPr/>
                    <a:lstStyle/>
                    <a:p>
                      <a:pPr lvl="0" indent="0" marL="0" algn="r">
                        <a:buNone/>
                      </a:pPr>
                      <a:r>
                        <a:rPr/>
                        <a:t>11.8</a:t>
                      </a:r>
                    </a:p>
                  </a:txBody>
                </a:tc>
              </a:tr>
              <a:tr h="0">
                <a:tc>
                  <a:txBody>
                    <a:bodyPr/>
                    <a:lstStyle/>
                    <a:p>
                      <a:pPr lvl="0" indent="0" marL="0" algn="l">
                        <a:buNone/>
                      </a:pPr>
                      <a:r>
                        <a:rPr/>
                        <a:t>15%</a:t>
                      </a:r>
                    </a:p>
                  </a:txBody>
                </a:tc>
                <a:tc>
                  <a:txBody>
                    <a:bodyPr/>
                    <a:lstStyle/>
                    <a:p>
                      <a:pPr lvl="0" indent="0" marL="0" algn="r">
                        <a:buNone/>
                      </a:pPr>
                      <a:r>
                        <a:rPr/>
                        <a:t>9.3</a:t>
                      </a:r>
                    </a:p>
                  </a:txBody>
                </a:tc>
                <a:tc>
                  <a:txBody>
                    <a:bodyPr/>
                    <a:lstStyle/>
                    <a:p>
                      <a:pPr lvl="0" indent="0" marL="0" algn="r">
                        <a:buNone/>
                      </a:pPr>
                      <a:r>
                        <a:rPr/>
                        <a:t>9.4</a:t>
                      </a:r>
                    </a:p>
                  </a:txBody>
                </a:tc>
                <a:tc>
                  <a:txBody>
                    <a:bodyPr/>
                    <a:lstStyle/>
                    <a:p>
                      <a:pPr lvl="0" indent="0" marL="0" algn="r">
                        <a:buNone/>
                      </a:pPr>
                      <a:r>
                        <a:rPr/>
                        <a:t>13.0</a:t>
                      </a:r>
                    </a:p>
                  </a:txBody>
                </a:tc>
                <a:tc>
                  <a:txBody>
                    <a:bodyPr/>
                    <a:lstStyle/>
                    <a:p>
                      <a:pPr lvl="0" indent="0" marL="0" algn="r">
                        <a:buNone/>
                      </a:pPr>
                      <a:r>
                        <a:rPr/>
                        <a:t>9.2</a:t>
                      </a:r>
                    </a:p>
                  </a:txBody>
                </a:tc>
              </a:tr>
              <a:tr h="0">
                <a:tc>
                  <a:txBody>
                    <a:bodyPr/>
                    <a:lstStyle/>
                    <a:p>
                      <a:pPr lvl="0" indent="0" marL="0" algn="l">
                        <a:buNone/>
                      </a:pPr>
                      <a:r>
                        <a:rPr/>
                        <a:t>25%</a:t>
                      </a:r>
                    </a:p>
                  </a:txBody>
                </a:tc>
                <a:tc>
                  <a:txBody>
                    <a:bodyPr/>
                    <a:lstStyle/>
                    <a:p>
                      <a:pPr lvl="0" indent="0" marL="0" algn="r">
                        <a:buNone/>
                      </a:pPr>
                      <a:r>
                        <a:rPr/>
                        <a:t>9.2</a:t>
                      </a:r>
                    </a:p>
                  </a:txBody>
                </a:tc>
                <a:tc>
                  <a:txBody>
                    <a:bodyPr/>
                    <a:lstStyle/>
                    <a:p>
                      <a:pPr lvl="0" indent="0" marL="0" algn="r">
                        <a:buNone/>
                      </a:pPr>
                      <a:r>
                        <a:rPr/>
                        <a:t>8.4</a:t>
                      </a:r>
                    </a:p>
                  </a:txBody>
                </a:tc>
                <a:tc>
                  <a:txBody>
                    <a:bodyPr/>
                    <a:lstStyle/>
                    <a:p>
                      <a:pPr lvl="0" indent="0" marL="0" algn="r">
                        <a:buNone/>
                      </a:pPr>
                      <a:r>
                        <a:rPr/>
                        <a:t>10.1</a:t>
                      </a:r>
                    </a:p>
                  </a:txBody>
                </a:tc>
                <a:tc>
                  <a:txBody>
                    <a:bodyPr/>
                    <a:lstStyle/>
                    <a:p>
                      <a:pPr lvl="0" indent="0" marL="0" algn="r">
                        <a:buNone/>
                      </a:pPr>
                      <a:r>
                        <a:rPr/>
                        <a:t>7.8</a:t>
                      </a:r>
                    </a:p>
                  </a:txBody>
                </a:tc>
              </a:tr>
              <a:tr h="0">
                <a:tc>
                  <a:txBody>
                    <a:bodyPr/>
                    <a:lstStyle/>
                    <a:p>
                      <a:pPr lvl="0" indent="0" marL="0" algn="l">
                        <a:buNone/>
                      </a:pPr>
                      <a:r>
                        <a:rPr/>
                        <a:t>40%</a:t>
                      </a:r>
                    </a:p>
                  </a:txBody>
                </a:tc>
                <a:tc>
                  <a:txBody>
                    <a:bodyPr/>
                    <a:lstStyle/>
                    <a:p>
                      <a:pPr lvl="0" indent="0" marL="0" algn="r">
                        <a:buNone/>
                      </a:pPr>
                      <a:r>
                        <a:rPr/>
                        <a:t>8.7</a:t>
                      </a:r>
                    </a:p>
                  </a:txBody>
                </a:tc>
                <a:tc>
                  <a:txBody>
                    <a:bodyPr/>
                    <a:lstStyle/>
                    <a:p>
                      <a:pPr lvl="0" indent="0" marL="0" algn="r">
                        <a:buNone/>
                      </a:pPr>
                      <a:r>
                        <a:rPr/>
                        <a:t>7.6</a:t>
                      </a:r>
                    </a:p>
                  </a:txBody>
                </a:tc>
                <a:tc>
                  <a:txBody>
                    <a:bodyPr/>
                    <a:lstStyle/>
                    <a:p>
                      <a:pPr lvl="0" indent="0" marL="0" algn="r">
                        <a:buNone/>
                      </a:pPr>
                      <a:r>
                        <a:rPr/>
                        <a:t>7.6</a:t>
                      </a:r>
                    </a:p>
                  </a:txBody>
                </a:tc>
                <a:tc>
                  <a:txBody>
                    <a:bodyPr/>
                    <a:lstStyle/>
                    <a:p>
                      <a:pPr lvl="0" indent="0" marL="0" algn="r">
                        <a:buNone/>
                      </a:pPr>
                      <a:r>
                        <a:rPr/>
                        <a:t>7.1</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7.2</a:t>
                      </a:r>
                    </a:p>
                  </a:txBody>
                </a:tc>
                <a:tc>
                  <a:txBody>
                    <a:bodyPr/>
                    <a:lstStyle/>
                    <a:p>
                      <a:pPr lvl="0" indent="0" marL="0" algn="r">
                        <a:buNone/>
                      </a:pPr>
                      <a:r>
                        <a:rPr/>
                        <a:t>5.2</a:t>
                      </a:r>
                    </a:p>
                  </a:txBody>
                </a:tc>
                <a:tc>
                  <a:txBody>
                    <a:bodyPr/>
                    <a:lstStyle/>
                    <a:p>
                      <a:pPr lvl="0" indent="0" marL="0" algn="r">
                        <a:buNone/>
                      </a:pPr>
                      <a:r>
                        <a:rPr/>
                        <a:t>6.4</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0.38</a:t>
                      </a:r>
                    </a:p>
                  </a:txBody>
                </a:tc>
                <a:tc>
                  <a:txBody>
                    <a:bodyPr/>
                    <a:lstStyle/>
                    <a:p>
                      <a:pPr lvl="0" indent="0" marL="0" algn="r">
                        <a:buNone/>
                      </a:pPr>
                      <a:r>
                        <a:rPr/>
                        <a:t>0.39</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0.23</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0.38</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0.28</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full index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55%</a:t>
                      </a:r>
                    </a:p>
                  </a:txBody>
                </a:tc>
                <a:tc>
                  <a:txBody>
                    <a:bodyPr/>
                    <a:lstStyle/>
                    <a:p>
                      <a:pPr lvl="0" indent="0" marL="0" algn="l">
                        <a:buNone/>
                      </a:pPr>
                      <a:r>
                        <a:rPr/>
                        <a:t>98%</a:t>
                      </a:r>
                    </a:p>
                  </a:txBody>
                </a:tc>
              </a:tr>
              <a:tr h="0">
                <a:tc>
                  <a:txBody>
                    <a:bodyPr/>
                    <a:lstStyle/>
                    <a:p>
                      <a:pPr lvl="0" indent="0" marL="0" algn="l">
                        <a:buNone/>
                      </a:pPr>
                      <a:r>
                        <a:rPr/>
                        <a:t>Transport, climate + soil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61%</a:t>
                      </a:r>
                    </a:p>
                  </a:txBody>
                </a:tc>
                <a:tc>
                  <a:txBody>
                    <a:bodyPr/>
                    <a:lstStyle/>
                    <a:p>
                      <a:pPr lvl="0" indent="0" marL="0" algn="l">
                        <a:buNone/>
                      </a:pPr>
                      <a:r>
                        <a:rPr/>
                        <a:t>97%</a:t>
                      </a:r>
                    </a:p>
                  </a:txBody>
                </a:tc>
              </a:tr>
              <a:tr h="0">
                <a:tc>
                  <a:txBody>
                    <a:bodyPr/>
                    <a:lstStyle/>
                    <a:p>
                      <a:pPr lvl="0" indent="0" marL="0" algn="l">
                        <a:buNone/>
                      </a:pPr>
                      <a:r>
                        <a:rPr/>
                        <a:t>Zero-tuning index, in-fill</a:t>
                      </a:r>
                    </a:p>
                  </a:txBody>
                </a:tc>
                <a:tc>
                  <a:txBody>
                    <a:bodyPr/>
                    <a:lstStyle/>
                    <a:p>
                      <a:pPr lvl="0" indent="0" marL="0" algn="l">
                        <a:buNone/>
                      </a:pPr>
                      <a:r>
                        <a:rPr/>
                        <a:t>54%</a:t>
                      </a:r>
                    </a:p>
                  </a:txBody>
                </a:tc>
                <a:tc>
                  <a:txBody>
                    <a:bodyPr/>
                    <a:lstStyle/>
                    <a:p>
                      <a:pPr lvl="0" indent="0" marL="0" algn="l">
                        <a:buNone/>
                      </a:pPr>
                      <a:r>
                        <a:rPr/>
                        <a:t>89%</a:t>
                      </a:r>
                    </a:p>
                  </a:txBody>
                </a:tc>
                <a:tc>
                  <a:txBody>
                    <a:bodyPr/>
                    <a:lstStyle/>
                    <a:p>
                      <a:pPr lvl="0" indent="0" marL="0" algn="l">
                        <a:buNone/>
                      </a:pPr>
                      <a:r>
                        <a:rPr/>
                        <a:t>65%</a:t>
                      </a:r>
                    </a:p>
                  </a:txBody>
                </a:tc>
                <a:tc>
                  <a:txBody>
                    <a:bodyPr/>
                    <a:lstStyle/>
                    <a:p>
                      <a:pPr lvl="0" indent="0" marL="0" algn="l">
                        <a:buNone/>
                      </a:pPr>
                      <a:r>
                        <a:rPr/>
                        <a:t>96%</a:t>
                      </a:r>
                    </a:p>
                  </a:txBody>
                </a:tc>
              </a:tr>
              <a:tr h="0">
                <a:tc>
                  <a:txBody>
                    <a:bodyPr/>
                    <a:lstStyle/>
                    <a:p>
                      <a:pPr lvl="0" indent="0" marL="0" algn="l">
                        <a:buNone/>
                      </a:pPr>
                      <a:r>
                        <a:rPr/>
                        <a:t>Spatial smoother, in-fill</a:t>
                      </a:r>
                    </a:p>
                  </a:txBody>
                </a:tc>
                <a:tc>
                  <a:txBody>
                    <a:bodyPr/>
                    <a:lstStyle/>
                    <a:p>
                      <a:pPr lvl="0" indent="0" marL="0" algn="l">
                        <a:buNone/>
                      </a:pPr>
                      <a:r>
                        <a:rPr/>
                        <a:t>53%</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96%</a:t>
                      </a:r>
                    </a:p>
                  </a:txBody>
                </a:tc>
              </a:tr>
              <a:tr h="0">
                <a:tc>
                  <a:txBody>
                    <a:bodyPr/>
                    <a:lstStyle/>
                    <a:p>
                      <a:pPr lvl="0" indent="0" marL="0" algn="l">
                        <a:buNone/>
                      </a:pPr>
                      <a:r>
                        <a:rPr/>
                        <a:t>Smoother + covariates, in-fill</a:t>
                      </a:r>
                    </a:p>
                  </a:txBody>
                </a:tc>
                <a:tc>
                  <a:txBody>
                    <a:bodyPr/>
                    <a:lstStyle/>
                    <a:p>
                      <a:pPr lvl="0" indent="0" marL="0" algn="l">
                        <a:buNone/>
                      </a:pPr>
                      <a:r>
                        <a:rPr/>
                        <a:t>52%</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98%</a:t>
                      </a:r>
                    </a:p>
                  </a:txBody>
                </a:tc>
              </a:tr>
              <a:tr h="0">
                <a:tc>
                  <a:txBody>
                    <a:bodyPr/>
                    <a:lstStyle/>
                    <a:p>
                      <a:pPr lvl="0" indent="0" marL="0" algn="l">
                        <a:buNone/>
                      </a:pPr>
                      <a:r>
                        <a:rPr/>
                        <a:t>Jackknifed regional mean, in-fill</a:t>
                      </a:r>
                    </a:p>
                  </a:txBody>
                </a:tc>
                <a:tc>
                  <a:txBody>
                    <a:bodyPr/>
                    <a:lstStyle/>
                    <a:p>
                      <a:pPr lvl="0" indent="0" marL="0" algn="l">
                        <a:buNone/>
                      </a:pPr>
                      <a:r>
                        <a:rPr/>
                        <a:t>52%</a:t>
                      </a:r>
                    </a:p>
                  </a:txBody>
                </a:tc>
                <a:tc>
                  <a:txBody>
                    <a:bodyPr/>
                    <a:lstStyle/>
                    <a:p>
                      <a:pPr lvl="0" indent="0" marL="0" algn="l">
                        <a:buNone/>
                      </a:pPr>
                      <a:r>
                        <a:rPr/>
                        <a:t>89%</a:t>
                      </a:r>
                    </a:p>
                  </a:txBody>
                </a:tc>
                <a:tc>
                  <a:txBody>
                    <a:bodyPr/>
                    <a:lstStyle/>
                    <a:p>
                      <a:pPr lvl="0" indent="0" marL="0" algn="l">
                        <a:buNone/>
                      </a:pPr>
                      <a:r>
                        <a:rPr/>
                        <a:t>65%</a:t>
                      </a:r>
                    </a:p>
                  </a:txBody>
                </a:tc>
                <a:tc>
                  <a:txBody>
                    <a:bodyPr/>
                    <a:lstStyle/>
                    <a:p>
                      <a:pPr lvl="0" indent="0" marL="0" algn="l">
                        <a:buNone/>
                      </a:pPr>
                      <a:r>
                        <a:rPr/>
                        <a:t>98%</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0.35</a:t>
                      </a:r>
                    </a:p>
                  </a:txBody>
                </a:tc>
                <a:tc>
                  <a:txBody>
                    <a:bodyPr/>
                    <a:lstStyle/>
                    <a:p>
                      <a:pPr lvl="0" indent="0" marL="0" algn="l">
                        <a:buNone/>
                      </a:pPr>
                      <a:r>
                        <a:rPr/>
                        <a:t>0.45</a:t>
                      </a:r>
                    </a:p>
                  </a:txBody>
                </a:tc>
                <a:tc>
                  <a:txBody>
                    <a:bodyPr/>
                    <a:lstStyle/>
                    <a:p>
                      <a:pPr lvl="0" indent="0" marL="0" algn="l">
                        <a:buNone/>
                      </a:pPr>
                      <a:r>
                        <a:rPr/>
                        <a:t>0.48</a:t>
                      </a:r>
                    </a:p>
                  </a:txBody>
                </a:tc>
                <a:tc>
                  <a:txBody>
                    <a:bodyPr/>
                    <a:lstStyle/>
                    <a:p>
                      <a:pPr lvl="0" indent="0" marL="0" algn="l">
                        <a:buNone/>
                      </a:pPr>
                      <a:r>
                        <a:rPr/>
                        <a:t>0.51</a:t>
                      </a:r>
                    </a:p>
                  </a:txBody>
                </a:tc>
                <a:tc>
                  <a:txBody>
                    <a:bodyPr/>
                    <a:lstStyle/>
                    <a:p>
                      <a:pPr lvl="0" indent="0" marL="0" algn="l">
                        <a:buNone/>
                      </a:pPr>
                      <a:r>
                        <a:rPr/>
                        <a:t>0.23</a:t>
                      </a:r>
                    </a:p>
                  </a:txBody>
                </a:tc>
              </a:tr>
              <a:tr h="0">
                <a:tc>
                  <a:txBody>
                    <a:bodyPr/>
                    <a:lstStyle/>
                    <a:p>
                      <a:pPr lvl="0" indent="0" marL="0" algn="l">
                        <a:buNone/>
                      </a:pPr>
                      <a:r>
                        <a:rPr/>
                        <a:t>Smoother + covariates</a:t>
                      </a:r>
                    </a:p>
                  </a:txBody>
                </a:tc>
                <a:tc>
                  <a:txBody>
                    <a:bodyPr/>
                    <a:lstStyle/>
                    <a:p>
                      <a:pPr lvl="0" indent="0" marL="0" algn="l">
                        <a:buNone/>
                      </a:pPr>
                      <a:r>
                        <a:rPr/>
                        <a:t>0.31</a:t>
                      </a:r>
                    </a:p>
                  </a:txBody>
                </a:tc>
                <a:tc>
                  <a:txBody>
                    <a:bodyPr/>
                    <a:lstStyle/>
                    <a:p>
                      <a:pPr lvl="0" indent="0" marL="0" algn="l">
                        <a:buNone/>
                      </a:pPr>
                      <a:r>
                        <a:rPr/>
                        <a:t>0.46</a:t>
                      </a:r>
                    </a:p>
                  </a:txBody>
                </a:tc>
                <a:tc>
                  <a:txBody>
                    <a:bodyPr/>
                    <a:lstStyle/>
                    <a:p>
                      <a:pPr lvl="0" indent="0" marL="0" algn="l">
                        <a:buNone/>
                      </a:pPr>
                      <a:r>
                        <a:rPr/>
                        <a:t>0.31</a:t>
                      </a:r>
                    </a:p>
                  </a:txBody>
                </a:tc>
                <a:tc>
                  <a:txBody>
                    <a:bodyPr/>
                    <a:lstStyle/>
                    <a:p>
                      <a:pPr lvl="0" indent="0" marL="0" algn="l">
                        <a:buNone/>
                      </a:pPr>
                      <a:r>
                        <a:rPr/>
                        <a:t>0.24</a:t>
                      </a:r>
                    </a:p>
                  </a:txBody>
                </a:tc>
                <a:tc>
                  <a:txBody>
                    <a:bodyPr/>
                    <a:lstStyle/>
                    <a:p>
                      <a:pPr lvl="0" indent="0" marL="0" algn="l">
                        <a:buNone/>
                      </a:pPr>
                      <a:r>
                        <a:rPr/>
                        <a:t>-0.33</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0.46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2026-09-07T23:23:13Z</dcterms:created>
  <dcterms:modified xsi:type="dcterms:W3CDTF">2026-09-07T23:23:13Z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