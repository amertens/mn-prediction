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4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notesMaster" Target="notesMasters/notesMaster1.xml" /><Relationship Id="rId3" Type="http://schemas.openxmlformats.org/officeDocument/2006/relationships/customXml" Target="../customXml/item3.xml" /><Relationship Id="rId48" Type="http://schemas.openxmlformats.org/officeDocument/2006/relationships/theme" Target="theme/theme1.xml" /><Relationship Id="rId47"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46" Type="http://schemas.openxmlformats.org/officeDocument/2006/relationships/presProps" Target="presProps.xml" /><Relationship Id="rId50" Type="http://schemas.microsoft.com/office/2018/10/relationships/authors" Target="authors.xml" /><Relationship Id="rId4" Type="http://schemas.openxmlformats.org/officeDocument/2006/relationships/slideMaster" Target="slideMasters/slideMaster1.xml" /><Relationship Id="rId4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population-based surveys with biomarkers: 24 country-outcome cells, 146 districts on a common administrative rung, 323 survey clusters, all with GPS. Fieldwork dates were recovered for every cluster this month (Sierra Leone reconstructed from date of birth plus age in days); they matter because ferritin, retinol and food prices are seasonal. Three surveys ran in the dry season, Malawi in the lean season.</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level (higher = worse), which carries more signal than the dichotomy and is reported alongside it. Iodine (The Gambia, Sierra Leone) is analysed within country only, on its own slide: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what the data can and cannot see of it is on the “what travels” slides.</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451 predictors in total. The January deck listed LSMS (275) and FluNet (3) predictors; both are on disk but did not survive the all-country harmonisation, and are candidates to add back (see the “no longer in the pipeline” slide).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Twenty-one domains, column counts in brackets. The satellite embedding was filed under agriculture until this month and now has a domain of its own.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Capacity is a liability at these sample sizes: the index beats the penalised fit over all 451 columns by up to 0.38 and beats a SuperLearner that contains it under four meta-learner losses (SL-01 to SL-04). The ensemble was also fitted without survey weights or region-blocked folds until this month; both are fixed.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(no transport at all still yields 15-16 of 22 positive cells five percent of the time), so the mean rank correlation is the statistic compared with its null.</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24 country-outcome cells. Within a surveyed country a covariate-free spatial smoother delivers almost everything the covariates do: the two are within 0.01 on the level target, and covariates fitted to the smoother’s residuals add a median of zero. Against the survey’s own regional averages made information-symmetric by jackknife, the index is better in 15 of 18 cells. Withdrawn: the “median r 0.058” within-country negative (one unreplicated fold draw) and the 0.516 self-inclusive baseline.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the null training mean collapses. Ghana (16 regions) and Malawi (27 districts) are the countries where this estimand is well determined; The Gambia (6) and Sierra Leone (4)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rank correlation in a country never used in training, over 22 cells. The climate + soil index is positive in all 22 at district level and 20 of 22 at regional level; the full index in 17 of 22 at both on the concentration (15 and 17 on prevalence). Since RR-10 (2026-09-09) the DHS-derived predictors are cluster-level BYM2 estimates at every district, which cost the full index 0.01 at district level and changed nothing in-country. Absolute levels do not transport: anchoring to the country’s own national value halves the level error, anchoring to a published external estimate triples it. Correction to earlier decks: a regional figure of 0.50-0.56 over “12 of 12” cells rested on three countries, because a spelling mismatch in the population file dropped Sierra Leone from every population-joined run; it is withdrawn.</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the scored cells (18 in-fill and region, 22 transport), the same domain axes, folds and targets for every row: five replicated 5-fold draws in-fill, exhaustive leave-one-region-out, leave-one-country-out. The production index weights each axis by its pooled training-fold rank correlation, which is the infinite-penalty limit of a ridge regression on the axes; the other rows are other points of that family (ridge, elastic net, lasso; penalty by inner CV at lambda.min or lambda.1se, by nested block CV on the rank metric, or that with a one-SE rule) and three other sources of evidence for the weights (soft thresholding, meta-analytic replication across countries, decorrelation across domains), plus the sparse composites. Reading: in-country nothing beats the index and two arms tie it (soft threshold at |z| &lt; 1, decorrelated); every joint fit loses 0.04 (ridge) to 0.08 (elastic net, lasso) and lambda.1se collapses to the null model. Across borders seven variants gain 0.01 to 0.02 on the level; the most consistent is soft thresholding (+0.024, better in 18 of 22 cells) at no in-country cost, chosen among 21 arms on these 22 cells and therefore a candidate to pre-register for the next country, not a new estimator of record. Replication weighting is only defined across borders (its in-country blocks are regions of five to eight districts). Paired differences by cell: results/tables/protocol_v2/weight_sources_paired.csv; full reading: SANDBOX_LOG_2026-09.md, WS-01 / WS-02.</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zero-tuning index is linear in the rank-normalised predictors, so its axis weights project back exactly onto the 454 columns (beta per unit rank-normal score; script 57, results/tables/protocol_v2/index_importance_*.csv; figure from script 58). Shown: the ten largest |beta| in the pooled four-country fit on the biomarker level, the fit that would be deployed to a fifth country; bar colour is the predictor’s data source; a star marks a predictor whose sign is not reproduced in every country’s own independent fit. Shares of the index’s variance are exact and small per predictor (1 to 2 percent each: the index spreads its weight); by domain, the satellite embedding, climate and soil carry 40 to 50 percent in every outcome, matching the leave-one-domain-out ablation. The prevalence-target version is results/figures/protocol_v2/index_importance_top10_prev.png.</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The common pattern is one gradient: districts that are drier and grassier, less productive (lower NPP and GPP), more pastoral (ruminant share, tropical livestock units per head), poorer (less house ownership, fewer women working, less schooling) and more stunted score high on every deficiency; vegetation productivity and market and schooling proxies score low. Livestock density carrying a positive sign for iron and B12 is ecological, not dietary: pastoral zones are the poor, dry zones in these four countries. Outcome-specific signals sit below that gradient: haemoglobin C allele frequency and cattle for iron, modelled anaemia surfaces and malaria for women’s iron, helminth coverage and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the scored cells (18 in-fill and region, 22 transport), same folds as every other arm. Inside each training fold the index’s weights are projected back onto the predictors, the m columns with the largest |weight| are kept, and they are summed with equal weights and the sign of the weight (Dawes’ improper linear model), then rescaled like the index; nothing is chosen on held-out districts. Twenty predictors lose 0.04 in-fill and 0.07 under region extrapolation on the level, and beat the full index across borders by 0.02 (11 of 22 cells, positive in 20 of 22 against 17). Five is too few everywhere; weighting the ten by their index weights instead of equally changes nothing. The composite is a transport and communication tool, not an in-country one: a ministry can compute it from twenty public layers.</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their contribution (+ = more deficiency). All twenty have the same sign in every country’s own independent fit. In the benchmark the membership is re-chosen inside each training fold; this is the version fitted on all four countries. The other five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why the ceiling slide matters.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Directing effort to the fifth of districts the model ranks worst reaches about 24 percent of national deficiency burden, against 19 percent for jackknifed regional survey averages and 20 percent at random. The margin is small per cell (better in 8-11 of 18) and concentrates where regions hold three to five districts. Under transport, burden captured is at chance (lift 1.01): the transported product is an ordering, not a targeting gain.</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ablation, biomarker level, 22 cells. Climate, soil, the modelled nutrition surfaces, agriculture and livestock density are the load-bearing domains (RR-10; the survey-year malaria block sat among them until the DHS columns were re-estimated in DS-01) (+0.009 to +0.024 each when dropped), with the new livestock layer just behind (+0.007); the survey-derived domains cost nothing to remove, or help. A fixed climate + soil index transports better than the full vocabulary at both tiers (0.37 vs 0.27 at district level; 0.46 vs 0.31 regional). It was found on the same four countries it is scored on, so it enters the next countries as a pre-registered prediction, not a result.</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“which data sources contribute” question, redone under the protocol: drop every column from a source, rebuild the domain PCs, score transport to a held-out country. Soil and Earth Engine layers carry it; dropping the 138 DHS/MICS columns IMPROVES transport (0.27 to 0.33 on the level, 0.18 to 0.24 on prevalence). The January version scored one country’s in-sample change in MSE; this one scores transport.</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per added country for the full vocabulary, +0.03 to +0.04 for climate + soil from a much higher start; the two-domain index is positive in 98 percent of single-country fits.</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replicated associations (legumes, cattle, soil chemistry, night-time temperature, all toward more deficiency) describe where subsistence agriculture is, so the rival explanation was an urbanicity map with extra steps. Urbanicity composite: night lights, population density, built surface, urban land cover, travel time to healthcare.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an ecological-fallacy signature. The replicated axis is rural subsistence agro-ecology, useful for deciding where to look,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it. One fifth of the published ceiling was cluster effect; the honest ceiling averages 0.44 on prevalence and the model already reaches it in five of 24 cells. Child zinc has no district geography at all: what looked like geography was the cluster, and afternoon blood draws lower serum zinc by 3.5-7 percent without explaining any district difference.</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Median district error in percentage points, 22 cells. A national biomarker sample of about five percent of a full survey (50-70 respondents) plus the transported ranking gives district levels a district survey only matches at about 40 percent of the sample. It wins on level error only: a district survey of any size captures more burden, because burden sits in populous districts that surveys measure precisely. Fitted symmetrically on a reduced survey, the model’s error degrades in step with the survey’s (+3.36 vs +3.33 pp from full to 15 percent): it improves the ordering at any sample size, it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Scored under one harness with the same folds. The vocabulary is saturated: nothing added this month moves in-fill or transport by more than 0.01. Survey timing is a nuisance to adjust for, not a predictor: a covariate defined by when the survey happened cannot rank districts that have not been surveyed. Found in passing and fixed: the existing price columns used 2021 as The Gambia’s survey year (fieldwork was January-April 2018), and the satellite embedding had been filed under agriculture; every table was re-run.</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 5 km (rural) buffer means from rasters on disk; the same three estimands with folds cut by district and region. Cluster-fitted models trail district-fitted ones on every estimand and for transport (climate + soil at district level 0.24 vs 0.37). A precision-weighted index and empirical-Bayes shrinkage of cluster outcomes recover a third to a half of the gap, never all of it: on this vocabulary the 2-5 km covariates are not better predictors than district means.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12-63 percent improvement over null) lives in a separate sub-pipeline last run in April 2026. It is not part of the current protocol and has not been re-audited; the table is its last output for the four survey countries. Worth re-running under the corrected protocol: it is the only track with time series and fortification policy indicators.</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Vitamin A, WHO 2009 public-health bands (under 2 percent none, 2-10 mild, 10-20 moderate, 20 or more severe), mean share of units over the vitamin A cells, out-of-fold predictions averaged over ten draws. The January deck’s child vitamin A cell was 44 / 75 percent exact / within-one at Admin-2 for the full model and 31 / 49 for proxies only, from the old leaderboard. Transport rows use the held-out country’s own national prevalence as the anchor (AR-01 design), the only honest way to put a transported ranking on the prevalence scale. For iron and the other outcomes only the 20 percent threshold has a WHO source; the two-class accuracies are in results/tables/protocol_v2/risk_category_accuracy_summary.csv (scheme who20).</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only, in-fill, biomarker level, median Spearman over ten draws. LSMS exists for Ghana alone (GLSS7): 134 region-level household expenditure and asset means, broadcast to districts through the 16-to-10 region crosswalk, so the block varies only across ten regions. It does not improve any Ghana cell beyond noise (level: within 0.02 of base in five of six, +0.02 for B12; prevalence: +0.05 for B12, otherwise no change) and cannot be scored across borders. FluNet reports for Ghana and Sierra Leone only and is a national weekly count, constant within a country; it was built (survey-year specimens, share positive, influenza A share) and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Person-level SuperLearner (mean, elastic net, random forest; survey weights; inner folds blocked by district), outer 5-fold by district so no district’s respondents are split across training and test. Survey variables: up to 80 respondent columns with 70 percent coverage after removing biomarkers, adjustments, ids, weights, dates and locations. Proxies: the district’s domain principal components joined to each respondent. Under these folds person-level skill is small: over 19 cells the mean AUC is 0.51 for survey variables, 0.50 for proxies and 0.53 for both, with Brier skill of 0.01 to 0.02. The exception is iron: Ghana child iron (AUC 0.76, Brier skill 0.14) and Malawi child and women’s iron (AUC 0.75-0.78, Brier skill 0.10-0.13), all from survey variables, with proxies adding nothing. Vitamin A, folate and B12 show no person-level skill anywhere. The January figure (Brier skill 20-60 percent) came from folds not blocked by district and a survey set that included biomarker-adjacent variables; neither survives here. Survey variables beat proxies in 8 of 19 cells and both together beat survey variables in 12 of 19. Malawi’s cells use the clean respondent file and the survey’s own outcome definitions (folate and B12 are not in that file). AUC and precision-recall gain are in results/tables/protocol_v2/individual_level_models.csv. This remains a sensitivity analysis: aggregating a person-level classifier biases area means.</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1,285 women, with household salt iodine in ppm) and in Sierra Leone (six WHO categories, 571 non-lactating women); it left the modelling outcomes because a one- or two-country outcome has no leave-one-country-out test. Targets: district prevalence of UIC below 100 micrograms per litre and, for The Gambia, the district median UIC. In-fill needs at least 15 districts, so it runs for The Gambia (30) only; leave-one-region-out runs in both. The descriptive that matters for a programme,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Nothing in this deck is quoted from a table older than 4 September 2026.</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2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2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2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Modeling for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Ghana presentation, updated to the corrected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a:t>
            </a:r>
          </a:p>
        </p:txBody>
      </p:sp>
      <p:sp>
        <p:nvSpPr>
          <p:cNvPr id="3" name="Content Placeholder 2"/>
          <p:cNvSpPr>
            <a:spLocks noGrp="1"/>
          </p:cNvSpPr>
          <p:nvPr>
            <p:ph idx="1" sz="half"/>
          </p:nvPr>
        </p:nvSpPr>
        <p:spPr/>
        <p:txBody>
          <a:bodyPr/>
          <a:lstStyle/>
          <a:p>
            <a:pPr lvl="0"/>
            <a:r>
              <a:rPr/>
              <a:t>Biomarker surveys are rare and costly; programmes need timely intelligence on vitamin and mineral deficiencies (VMD).</a:t>
            </a:r>
          </a:p>
          <a:p>
            <a:pPr lvl="0"/>
            <a:r>
              <a:rPr/>
              <a:t>We predict VMD (iron, vitamin A, folate, B12, zinc) from proxies available across sub-Saharan Africa: four biomarker surveys linked to 451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changed since the January deck</a:t>
            </a:r>
          </a:p>
        </p:txBody>
      </p:sp>
      <p:sp>
        <p:nvSpPr>
          <p:cNvPr id="3" name="Content Placeholder 2"/>
          <p:cNvSpPr>
            <a:spLocks noGrp="1"/>
          </p:cNvSpPr>
          <p:nvPr>
            <p:ph idx="1"/>
          </p:nvPr>
        </p:nvSpPr>
        <p:spPr/>
        <p:txBody>
          <a:bodyPr/>
          <a:lstStyle/>
          <a:p>
            <a:pPr lvl="0"/>
            <a:r>
              <a:rPr/>
              <a:t>A methods audit found the earlier headline numbers rested on evaluation artefacts: one unreplicated fold draw, a self-inclusive baseline, a dropped country.</a:t>
            </a:r>
          </a:p>
          <a:p>
            <a:pPr lvl="0"/>
            <a:r>
              <a:rPr/>
              <a:t>Every result here comes from the corrected protocol: replicated folds, information-matched baselines, permutation nulls, three separately scored questions.</a:t>
            </a:r>
          </a:p>
          <a:p>
            <a:pPr lvl="0"/>
            <a:r>
              <a:rPr/>
              <a:t>The estimator of record is a zero-tuning index over domain principal components; the SuperLearner ensemble is kept as a comparison and never beats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Identify the units at greatest risk; say which product survives validation, a ranking or a level.</a:t>
            </a:r>
          </a:p>
          <a:p>
            <a:pPr lvl="0"/>
            <a:r>
              <a:rPr/>
              <a:t>Say what a country without a survey can expect, and what it must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Nationally representative survey data</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035300"/>
                <a:gridCol w="1816100"/>
                <a:gridCol w="2120900"/>
                <a:gridCol w="35433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l">
                        <a:buNone/>
                      </a:pPr>
                      <a:r>
                        <a:rPr/>
                        <a:t>Districts / clusters</a:t>
                      </a:r>
                    </a:p>
                  </a:txBody>
                  <a:tcPr/>
                </a:tc>
                <a:tc>
                  <a:txBody>
                    <a:bodyPr/>
                    <a:lstStyle/>
                    <a:p>
                      <a:pPr lvl="0" indent="0" marL="0" algn="l">
                        <a:buNone/>
                      </a:pPr>
                      <a:r>
                        <a:rPr/>
                        <a:t>Outcomes</a:t>
                      </a:r>
                    </a:p>
                  </a:txBody>
                  <a:tcPr/>
                </a:tc>
              </a:tr>
              <a:tr h="0">
                <a:tc>
                  <a:txBody>
                    <a:bodyPr/>
                    <a:lstStyle/>
                    <a:p>
                      <a:pPr lvl="0" indent="0" marL="0" algn="l">
                        <a:buNone/>
                      </a:pPr>
                      <a:r>
                        <a:rPr/>
                        <a:t>Ghana 2017 (GMS)</a:t>
                      </a:r>
                    </a:p>
                  </a:txBody>
                </a:tc>
                <a:tc>
                  <a:txBody>
                    <a:bodyPr/>
                    <a:lstStyle/>
                    <a:p>
                      <a:pPr lvl="0" indent="0" marL="0" algn="l">
                        <a:buNone/>
                      </a:pPr>
                      <a:r>
                        <a:rPr/>
                        <a:t>Apr-Jun 2017</a:t>
                      </a:r>
                    </a:p>
                  </a:txBody>
                </a:tc>
                <a:tc>
                  <a:txBody>
                    <a:bodyPr/>
                    <a:lstStyle/>
                    <a:p>
                      <a:pPr lvl="0" indent="0" marL="0" algn="l">
                        <a:buNone/>
                      </a:pPr>
                      <a:r>
                        <a:rPr/>
                        <a:t>75 / 90</a:t>
                      </a:r>
                    </a:p>
                  </a:txBody>
                </a:tc>
                <a:tc>
                  <a:txBody>
                    <a:bodyPr/>
                    <a:lstStyle/>
                    <a:p>
                      <a:pPr lvl="0" indent="0" marL="0" algn="l">
                        <a:buNone/>
                      </a:pPr>
                      <a:r>
                        <a:rPr/>
                        <a:t>iron, vitamin A, folate, B12</a:t>
                      </a:r>
                    </a:p>
                  </a:txBody>
                </a:tc>
              </a:tr>
              <a:tr h="0">
                <a:tc>
                  <a:txBody>
                    <a:bodyPr/>
                    <a:lstStyle/>
                    <a:p>
                      <a:pPr lvl="0" indent="0" marL="0" algn="l">
                        <a:buNone/>
                      </a:pPr>
                      <a:r>
                        <a:rPr/>
                        <a:t>Sierra Leone 2013</a:t>
                      </a:r>
                    </a:p>
                  </a:txBody>
                </a:tc>
                <a:tc>
                  <a:txBody>
                    <a:bodyPr/>
                    <a:lstStyle/>
                    <a:p>
                      <a:pPr lvl="0" indent="0" marL="0" algn="l">
                        <a:buNone/>
                      </a:pPr>
                      <a:r>
                        <a:rPr/>
                        <a:t>Nov-Dec 2013</a:t>
                      </a:r>
                    </a:p>
                  </a:txBody>
                </a:tc>
                <a:tc>
                  <a:txBody>
                    <a:bodyPr/>
                    <a:lstStyle/>
                    <a:p>
                      <a:pPr lvl="0" indent="0" marL="0" algn="l">
                        <a:buNone/>
                      </a:pPr>
                      <a:r>
                        <a:rPr/>
                        <a:t>14 / 60</a:t>
                      </a:r>
                    </a:p>
                  </a:txBody>
                </a:tc>
                <a:tc>
                  <a:txBody>
                    <a:bodyPr/>
                    <a:lstStyle/>
                    <a:p>
                      <a:pPr lvl="0" indent="0" marL="0" algn="l">
                        <a:buNone/>
                      </a:pPr>
                      <a:r>
                        <a:rPr/>
                        <a:t>iron, vitamin A, folate, B12</a:t>
                      </a:r>
                    </a:p>
                  </a:txBody>
                </a:tc>
              </a:tr>
              <a:tr h="0">
                <a:tc>
                  <a:txBody>
                    <a:bodyPr/>
                    <a:lstStyle/>
                    <a:p>
                      <a:pPr lvl="0" indent="0" marL="0" algn="l">
                        <a:buNone/>
                      </a:pPr>
                      <a:r>
                        <a:rPr/>
                        <a:t>Malawi 2015-16 (DHS-linked)</a:t>
                      </a:r>
                    </a:p>
                  </a:txBody>
                </a:tc>
                <a:tc>
                  <a:txBody>
                    <a:bodyPr/>
                    <a:lstStyle/>
                    <a:p>
                      <a:pPr lvl="0" indent="0" marL="0" algn="l">
                        <a:buNone/>
                      </a:pPr>
                      <a:r>
                        <a:rPr/>
                        <a:t>Dec 2015-Feb 2016</a:t>
                      </a:r>
                    </a:p>
                  </a:txBody>
                </a:tc>
                <a:tc>
                  <a:txBody>
                    <a:bodyPr/>
                    <a:lstStyle/>
                    <a:p>
                      <a:pPr lvl="0" indent="0" marL="0" algn="l">
                        <a:buNone/>
                      </a:pPr>
                      <a:r>
                        <a:rPr/>
                        <a:t>27 (87 TAs) / 105</a:t>
                      </a:r>
                    </a:p>
                  </a:txBody>
                </a:tc>
                <a:tc>
                  <a:txBody>
                    <a:bodyPr/>
                    <a:lstStyle/>
                    <a:p>
                      <a:pPr lvl="0" indent="0" marL="0" algn="l">
                        <a:buNone/>
                      </a:pPr>
                      <a:r>
                        <a:rPr/>
                        <a:t>iron, vitamin A, folate, B12, zinc</a:t>
                      </a:r>
                    </a:p>
                  </a:txBody>
                </a:tc>
              </a:tr>
              <a:tr h="0">
                <a:tc>
                  <a:txBody>
                    <a:bodyPr/>
                    <a:lstStyle/>
                    <a:p>
                      <a:pPr lvl="0" indent="0" marL="0" algn="l">
                        <a:buNone/>
                      </a:pPr>
                      <a:r>
                        <a:rPr/>
                        <a:t>The Gambia 2018 (MICS-linked)</a:t>
                      </a:r>
                    </a:p>
                  </a:txBody>
                </a:tc>
                <a:tc>
                  <a:txBody>
                    <a:bodyPr/>
                    <a:lstStyle/>
                    <a:p>
                      <a:pPr lvl="0" indent="0" marL="0" algn="l">
                        <a:buNone/>
                      </a:pPr>
                      <a:r>
                        <a:rPr/>
                        <a:t>Jan-Apr 2018</a:t>
                      </a:r>
                    </a:p>
                  </a:txBody>
                </a:tc>
                <a:tc>
                  <a:txBody>
                    <a:bodyPr/>
                    <a:lstStyle/>
                    <a:p>
                      <a:pPr lvl="0" indent="0" marL="0" algn="l">
                        <a:buNone/>
                      </a:pPr>
                      <a:r>
                        <a:rPr/>
                        <a:t>30 / 70</a:t>
                      </a:r>
                    </a:p>
                  </a:txBody>
                </a:tc>
                <a:tc>
                  <a:txBody>
                    <a:bodyPr/>
                    <a:lstStyle/>
                    <a:p>
                      <a:pPr lvl="0" indent="0" marL="0" algn="l">
                        <a:buNone/>
                      </a:pPr>
                      <a:r>
                        <a:rPr/>
                        <a:t>iron, vitamin A</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VMD outcomes modelled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257300"/>
                <a:gridCol w="2374900"/>
                <a:gridCol w="2070100"/>
                <a:gridCol w="3035300"/>
                <a:gridCol w="17780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Retinol-binding protein, BRINDA-adjusted</a:t>
                      </a:r>
                    </a:p>
                  </a:txBody>
                </a:tc>
                <a:tc>
                  <a:txBody>
                    <a:bodyPr/>
                    <a:lstStyle/>
                    <a:p>
                      <a:pPr lvl="0" indent="0" marL="0" algn="l">
                        <a:buNone/>
                      </a:pPr>
                      <a:r>
                        <a:rPr/>
                        <a:t>&lt; 0.70 umol/L</a:t>
                      </a:r>
                    </a:p>
                  </a:txBody>
                </a:tc>
              </a:tr>
              <a:tr h="0">
                <a:tc>
                  <a:txBody>
                    <a:bodyPr/>
                    <a:lstStyle/>
                    <a:p>
                      <a:pPr lvl="0" indent="0" marL="0" algn="l">
                        <a:buNone/>
                      </a:pPr>
                      <a:r>
                        <a:rPr/>
                        <a:t>Folate</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for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merging process</a:t>
            </a:r>
          </a:p>
        </p:txBody>
      </p:sp>
      <p:sp>
        <p:nvSpPr>
          <p:cNvPr id="3" name="Content Placeholder 2"/>
          <p:cNvSpPr>
            <a:spLocks noGrp="1"/>
          </p:cNvSpPr>
          <p:nvPr>
            <p:ph idx="1"/>
          </p:nvPr>
        </p:nvSpPr>
        <p:spPr/>
        <p:txBody>
          <a:bodyPr/>
          <a:lstStyle/>
          <a:p>
            <a:pPr lvl="0"/>
            <a:r>
              <a:rPr/>
              <a:t>Clean and merge the national micronutrient surveys; one uniform outcome definition per nutrient across countries.</a:t>
            </a:r>
          </a:p>
          <a:p>
            <a:pPr lvl="0"/>
            <a:r>
              <a:rPr/>
              <a:t>Link gridded layers to districts as zonal means, and now to survey clusters as buffer means.</a:t>
            </a:r>
          </a:p>
          <a:p>
            <a:pPr lvl="0"/>
            <a:r>
              <a:rPr/>
              <a:t>Aggregate DHS and MICS indicators to Admin-2.</a:t>
            </a:r>
          </a:p>
          <a:p>
            <a:pPr lvl="0"/>
            <a:r>
              <a:rPr/>
              <a:t>Rank-normalise every predictor within country before pooling, so cross-country level offsets cannot pose as signal.</a:t>
            </a:r>
          </a:p>
          <a:p>
            <a:pPr lvl="0"/>
            <a:r>
              <a:rPr/>
              <a:t>Collapse the vocabulary to principal components within each of 21 domains; nothing is selected on the outcome.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vocabulary by source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257800"/>
                <a:gridCol w="5257800"/>
              </a:tblGrid>
              <a:tr h="0">
                <a:tc>
                  <a:txBody>
                    <a:bodyPr/>
                    <a:lstStyle/>
                    <a:p>
                      <a:pPr lvl="0" indent="0" marL="0" algn="l">
                        <a:buNone/>
                      </a:pPr>
                      <a:r>
                        <a:rPr/>
                        <a:t>Source</a:t>
                      </a:r>
                    </a:p>
                  </a:txBody>
                  <a:tcPr/>
                </a:tc>
                <a:tc>
                  <a:txBody>
                    <a:bodyPr/>
                    <a:lstStyle/>
                    <a:p>
                      <a:pPr lvl="0" indent="0" marL="0" algn="r">
                        <a:buNone/>
                      </a:pPr>
                      <a:r>
                        <a:rPr/>
                        <a:t>Predictors</a:t>
                      </a:r>
                    </a:p>
                  </a:txBody>
                  <a:tcPr/>
                </a:tc>
              </a:tr>
              <a:tr h="0">
                <a:tc>
                  <a:txBody>
                    <a:bodyPr/>
                    <a:lstStyle/>
                    <a:p>
                      <a:pPr lvl="0" indent="0" marL="0" algn="l">
                        <a:buNone/>
                      </a:pPr>
                      <a:r>
                        <a:rPr/>
                        <a:t>DHS / MICS indicators</a:t>
                      </a:r>
                    </a:p>
                  </a:txBody>
                </a:tc>
                <a:tc>
                  <a:txBody>
                    <a:bodyPr/>
                    <a:lstStyle/>
                    <a:p>
                      <a:pPr lvl="0" indent="0" marL="0" algn="r">
                        <a:buNone/>
                      </a:pPr>
                      <a:r>
                        <a:rPr/>
                        <a:t>145</a:t>
                      </a:r>
                    </a:p>
                  </a:txBody>
                </a:tc>
              </a:tr>
              <a:tr h="0">
                <a:tc>
                  <a:txBody>
                    <a:bodyPr/>
                    <a:lstStyle/>
                    <a:p>
                      <a:pPr lvl="0" indent="0" marL="0" algn="l">
                        <a:buNone/>
                      </a:pPr>
                      <a:r>
                        <a:rPr/>
                        <a:t>Earth Engine climate, land, built environment</a:t>
                      </a:r>
                    </a:p>
                  </a:txBody>
                </a:tc>
                <a:tc>
                  <a:txBody>
                    <a:bodyPr/>
                    <a:lstStyle/>
                    <a:p>
                      <a:pPr lvl="0" indent="0" marL="0" algn="r">
                        <a:buNone/>
                      </a:pPr>
                      <a:r>
                        <a:rPr/>
                        <a:t>76</a:t>
                      </a:r>
                    </a:p>
                  </a:txBody>
                </a:tc>
              </a:tr>
              <a:tr h="0">
                <a:tc>
                  <a:txBody>
                    <a:bodyPr/>
                    <a:lstStyle/>
                    <a:p>
                      <a:pPr lvl="0" indent="0" marL="0" algn="l">
                        <a:buNone/>
                      </a:pPr>
                      <a:r>
                        <a:rPr/>
                        <a:t>AlphaEarth satellite embedding</a:t>
                      </a:r>
                    </a:p>
                  </a:txBody>
                </a:tc>
                <a:tc>
                  <a:txBody>
                    <a:bodyPr/>
                    <a:lstStyle/>
                    <a:p>
                      <a:pPr lvl="0" indent="0" marL="0" algn="r">
                        <a:buNone/>
                      </a:pPr>
                      <a:r>
                        <a:rPr/>
                        <a:t>64</a:t>
                      </a:r>
                    </a:p>
                  </a:txBody>
                </a:tc>
              </a:tr>
              <a:tr h="0">
                <a:tc>
                  <a:txBody>
                    <a:bodyPr/>
                    <a:lstStyle/>
                    <a:p>
                      <a:pPr lvl="0" indent="0" marL="0" algn="l">
                        <a:buNone/>
                      </a:pPr>
                      <a:r>
                        <a:rPr/>
                        <a:t>SoilGrids / iSDA soil</a:t>
                      </a:r>
                    </a:p>
                  </a:txBody>
                </a:tc>
                <a:tc>
                  <a:txBody>
                    <a:bodyPr/>
                    <a:lstStyle/>
                    <a:p>
                      <a:pPr lvl="0" indent="0" marL="0" algn="r">
                        <a:buNone/>
                      </a:pPr>
                      <a:r>
                        <a:rPr/>
                        <a:t>45</a:t>
                      </a:r>
                    </a:p>
                  </a:txBody>
                </a:tc>
              </a:tr>
              <a:tr h="0">
                <a:tc>
                  <a:txBody>
                    <a:bodyPr/>
                    <a:lstStyle/>
                    <a:p>
                      <a:pPr lvl="0" indent="0" marL="0" algn="l">
                        <a:buNone/>
                      </a:pPr>
                      <a:r>
                        <a:rPr/>
                        <a:t>Other (WorldPop, GHS, RWI, HFID, GFDx)</a:t>
                      </a:r>
                    </a:p>
                  </a:txBody>
                </a:tc>
                <a:tc>
                  <a:txBody>
                    <a:bodyPr/>
                    <a:lstStyle/>
                    <a:p>
                      <a:pPr lvl="0" indent="0" marL="0" algn="r">
                        <a:buNone/>
                      </a:pPr>
                      <a:r>
                        <a:rPr/>
                        <a:t>40</a:t>
                      </a:r>
                    </a:p>
                  </a:txBody>
                </a:tc>
              </a:tr>
              <a:tr h="0">
                <a:tc>
                  <a:txBody>
                    <a:bodyPr/>
                    <a:lstStyle/>
                    <a:p>
                      <a:pPr lvl="0" indent="0" marL="0" algn="l">
                        <a:buNone/>
                      </a:pPr>
                      <a:r>
                        <a:rPr/>
                        <a:t>IHME modelled surfaces</a:t>
                      </a:r>
                    </a:p>
                  </a:txBody>
                </a:tc>
                <a:tc>
                  <a:txBody>
                    <a:bodyPr/>
                    <a:lstStyle/>
                    <a:p>
                      <a:pPr lvl="0" indent="0" marL="0" algn="r">
                        <a:buNone/>
                      </a:pPr>
                      <a:r>
                        <a:rPr/>
                        <a:t>30</a:t>
                      </a:r>
                    </a:p>
                  </a:txBody>
                </a:tc>
              </a:tr>
              <a:tr h="0">
                <a:tc>
                  <a:txBody>
                    <a:bodyPr/>
                    <a:lstStyle/>
                    <a:p>
                      <a:pPr lvl="0" indent="0" marL="0" algn="l">
                        <a:buNone/>
                      </a:pPr>
                      <a:r>
                        <a:rPr/>
                        <a:t>WFP market prices</a:t>
                      </a:r>
                    </a:p>
                  </a:txBody>
                </a:tc>
                <a:tc>
                  <a:txBody>
                    <a:bodyPr/>
                    <a:lstStyle/>
                    <a:p>
                      <a:pPr lvl="0" indent="0" marL="0" algn="r">
                        <a:buNone/>
                      </a:pPr>
                      <a:r>
                        <a:rPr/>
                        <a:t>13</a:t>
                      </a:r>
                    </a:p>
                  </a:txBody>
                </a:tc>
              </a:tr>
              <a:tr h="0">
                <a:tc>
                  <a:txBody>
                    <a:bodyPr/>
                    <a:lstStyle/>
                    <a:p>
                      <a:pPr lvl="0" indent="0" marL="0" algn="l">
                        <a:buNone/>
                      </a:pPr>
                      <a:r>
                        <a:rPr/>
                        <a:t>Malaria Atlas Project</a:t>
                      </a:r>
                    </a:p>
                  </a:txBody>
                </a:tc>
                <a:tc>
                  <a:txBody>
                    <a:bodyPr/>
                    <a:lstStyle/>
                    <a:p>
                      <a:pPr lvl="0" indent="0" marL="0" algn="r">
                        <a:buNone/>
                      </a:pPr>
                      <a:r>
                        <a:rPr/>
                        <a:t>12</a:t>
                      </a:r>
                    </a:p>
                  </a:txBody>
                </a:tc>
              </a:tr>
              <a:tr h="0">
                <a:tc>
                  <a:txBody>
                    <a:bodyPr/>
                    <a:lstStyle/>
                    <a:p>
                      <a:pPr lvl="0" indent="0" marL="0" algn="l">
                        <a:buNone/>
                      </a:pPr>
                      <a:r>
                        <a:rPr/>
                        <a:t>MapSPAM crops</a:t>
                      </a:r>
                    </a:p>
                  </a:txBody>
                </a:tc>
                <a:tc>
                  <a:txBody>
                    <a:bodyPr/>
                    <a:lstStyle/>
                    <a:p>
                      <a:pPr lvl="0" indent="0" marL="0" algn="r">
                        <a:buNone/>
                      </a:pPr>
                      <a:r>
                        <a:rPr/>
                        <a:t>12</a:t>
                      </a:r>
                    </a:p>
                  </a:txBody>
                </a:tc>
              </a:tr>
              <a:tr h="0">
                <a:tc>
                  <a:txBody>
                    <a:bodyPr/>
                    <a:lstStyle/>
                    <a:p>
                      <a:pPr lvl="0" indent="0" marL="0" algn="l">
                        <a:buNone/>
                      </a:pPr>
                      <a:r>
                        <a:rPr/>
                        <a:t>Koppen / agro-ecological zones</a:t>
                      </a:r>
                    </a:p>
                  </a:txBody>
                </a:tc>
                <a:tc>
                  <a:txBody>
                    <a:bodyPr/>
                    <a:lstStyle/>
                    <a:p>
                      <a:pPr lvl="0" indent="0" marL="0" algn="r">
                        <a:buNone/>
                      </a:pPr>
                      <a:r>
                        <a:rPr/>
                        <a:t>9</a:t>
                      </a:r>
                    </a:p>
                  </a:txBody>
                </a:tc>
              </a:tr>
              <a:tr h="0">
                <a:tc>
                  <a:txBody>
                    <a:bodyPr/>
                    <a:lstStyle/>
                    <a:p>
                      <a:pPr lvl="0" indent="0" marL="0" algn="l">
                        <a:buNone/>
                      </a:pPr>
                      <a:r>
                        <a:rPr/>
                        <a:t>FAOSTAT (national)</a:t>
                      </a:r>
                    </a:p>
                  </a:txBody>
                </a:tc>
                <a:tc>
                  <a:txBody>
                    <a:bodyPr/>
                    <a:lstStyle/>
                    <a:p>
                      <a:pPr lvl="0" indent="0" marL="0" algn="r">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Domains of data covered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771900"/>
                <a:gridCol w="812800"/>
                <a:gridCol w="5003800"/>
                <a:gridCol w="914400"/>
              </a:tblGrid>
              <a:tr h="0">
                <a:tc>
                  <a:txBody>
                    <a:bodyPr/>
                    <a:lstStyle/>
                    <a:p>
                      <a:pPr lvl="0" indent="0" marL="0" algn="l">
                        <a:buNone/>
                      </a:pPr>
                      <a:r>
                        <a:rPr/>
                        <a:t>Domain</a:t>
                      </a:r>
                    </a:p>
                  </a:txBody>
                  <a:tcPr/>
                </a:tc>
                <a:tc>
                  <a:txBody>
                    <a:bodyPr/>
                    <a:lstStyle/>
                    <a:p>
                      <a:pPr lvl="0" indent="0" marL="0" algn="r">
                        <a:buNone/>
                      </a:pPr>
                      <a:r>
                        <a:rPr/>
                        <a:t>Columns</a:t>
                      </a:r>
                    </a:p>
                  </a:txBody>
                  <a:tcPr/>
                </a:tc>
                <a:tc>
                  <a:txBody>
                    <a:bodyPr/>
                    <a:lstStyle/>
                    <a:p>
                      <a:pPr lvl="0" indent="0" marL="0" algn="l">
                        <a:buNone/>
                      </a:pPr>
                      <a:r>
                        <a:rPr/>
                        <a:t>Domain</a:t>
                      </a:r>
                    </a:p>
                  </a:txBody>
                  <a:tcPr/>
                </a:tc>
                <a:tc>
                  <a:txBody>
                    <a:bodyPr/>
                    <a:lstStyle/>
                    <a:p>
                      <a:pPr lvl="0" indent="0" marL="0" algn="l">
                        <a:buNone/>
                      </a:pPr>
                      <a:r>
                        <a:rPr/>
                        <a:t>Columns</a:t>
                      </a:r>
                    </a:p>
                  </a:txBody>
                  <a:tcPr/>
                </a:tc>
              </a:tr>
              <a:tr h="0">
                <a:tc>
                  <a:txBody>
                    <a:bodyPr/>
                    <a:lstStyle/>
                    <a:p>
                      <a:pPr lvl="0" indent="0" marL="0" algn="l">
                        <a:buNone/>
                      </a:pPr>
                      <a:r>
                        <a:rPr/>
                        <a:t>Satellite embedding</a:t>
                      </a:r>
                    </a:p>
                  </a:txBody>
                </a:tc>
                <a:tc>
                  <a:txBody>
                    <a:bodyPr/>
                    <a:lstStyle/>
                    <a:p>
                      <a:pPr lvl="0" indent="0" marL="0" algn="r">
                        <a:buNone/>
                      </a:pPr>
                      <a:r>
                        <a:rPr/>
                        <a:t>64</a:t>
                      </a:r>
                    </a:p>
                  </a:txBody>
                </a:tc>
                <a:tc>
                  <a:txBody>
                    <a:bodyPr/>
                    <a:lstStyle/>
                    <a:p>
                      <a:pPr lvl="0" indent="0" marL="0" algn="l">
                        <a:buNone/>
                      </a:pPr>
                      <a:r>
                        <a:rPr/>
                        <a:t>Ruralness, population density, built environment</a:t>
                      </a:r>
                    </a:p>
                  </a:txBody>
                </a:tc>
                <a:tc>
                  <a:txBody>
                    <a:bodyPr/>
                    <a:lstStyle/>
                    <a:p>
                      <a:pPr lvl="0" indent="0" marL="0" algn="l">
                        <a:buNone/>
                      </a:pPr>
                      <a:r>
                        <a:rPr/>
                        <a:t>11</a:t>
                      </a:r>
                    </a:p>
                  </a:txBody>
                </a:tc>
              </a:tr>
              <a:tr h="0">
                <a:tc>
                  <a:txBody>
                    <a:bodyPr/>
                    <a:lstStyle/>
                    <a:p>
                      <a:pPr lvl="0" indent="0" marL="0" algn="l">
                        <a:buNone/>
                      </a:pPr>
                      <a:r>
                        <a:rPr/>
                        <a:t>Infant and child morbidity/mortality</a:t>
                      </a:r>
                    </a:p>
                  </a:txBody>
                </a:tc>
                <a:tc>
                  <a:txBody>
                    <a:bodyPr/>
                    <a:lstStyle/>
                    <a:p>
                      <a:pPr lvl="0" indent="0" marL="0" algn="r">
                        <a:buNone/>
                      </a:pPr>
                      <a:r>
                        <a:rPr/>
                        <a:t>59</a:t>
                      </a:r>
                    </a:p>
                  </a:txBody>
                </a:tc>
                <a:tc>
                  <a:txBody>
                    <a:bodyPr/>
                    <a:lstStyle/>
                    <a:p>
                      <a:pPr lvl="0" indent="0" marL="0" algn="l">
                        <a:buNone/>
                      </a:pPr>
                      <a:r>
                        <a:rPr/>
                        <a:t>Dietary diversity</a:t>
                      </a:r>
                    </a:p>
                  </a:txBody>
                </a:tc>
                <a:tc>
                  <a:txBody>
                    <a:bodyPr/>
                    <a:lstStyle/>
                    <a:p>
                      <a:pPr lvl="0" indent="0" marL="0" algn="l">
                        <a:buNone/>
                      </a:pPr>
                      <a:r>
                        <a:rPr/>
                        <a:t>10</a:t>
                      </a:r>
                    </a:p>
                  </a:txBody>
                </a:tc>
              </a:tr>
              <a:tr h="0">
                <a:tc>
                  <a:txBody>
                    <a:bodyPr/>
                    <a:lstStyle/>
                    <a:p>
                      <a:pPr lvl="0" indent="0" marL="0" algn="l">
                        <a:buNone/>
                      </a:pPr>
                      <a:r>
                        <a:rPr/>
                        <a:t>Climate and weather</a:t>
                      </a:r>
                    </a:p>
                  </a:txBody>
                </a:tc>
                <a:tc>
                  <a:txBody>
                    <a:bodyPr/>
                    <a:lstStyle/>
                    <a:p>
                      <a:pPr lvl="0" indent="0" marL="0" algn="r">
                        <a:buNone/>
                      </a:pPr>
                      <a:r>
                        <a:rPr/>
                        <a:t>50</a:t>
                      </a:r>
                    </a:p>
                  </a:txBody>
                </a:tc>
                <a:tc>
                  <a:txBody>
                    <a:bodyPr/>
                    <a:lstStyle/>
                    <a:p>
                      <a:pPr lvl="0" indent="0" marL="0" algn="l">
                        <a:buNone/>
                      </a:pPr>
                      <a:r>
                        <a:rPr/>
                        <a:t>Nutrition status (MODELLED SURFACE)</a:t>
                      </a:r>
                    </a:p>
                  </a:txBody>
                </a:tc>
                <a:tc>
                  <a:txBody>
                    <a:bodyPr/>
                    <a:lstStyle/>
                    <a:p>
                      <a:pPr lvl="0" indent="0" marL="0" algn="l">
                        <a:buNone/>
                      </a:pPr>
                      <a:r>
                        <a:rPr/>
                        <a:t>10</a:t>
                      </a:r>
                    </a:p>
                  </a:txBody>
                </a:tc>
              </a:tr>
              <a:tr h="0">
                <a:tc>
                  <a:txBody>
                    <a:bodyPr/>
                    <a:lstStyle/>
                    <a:p>
                      <a:pPr lvl="0" indent="0" marL="0" algn="l">
                        <a:buNone/>
                      </a:pPr>
                      <a:r>
                        <a:rPr/>
                        <a:t>Soil characteristics</a:t>
                      </a:r>
                    </a:p>
                  </a:txBody>
                </a:tc>
                <a:tc>
                  <a:txBody>
                    <a:bodyPr/>
                    <a:lstStyle/>
                    <a:p>
                      <a:pPr lvl="0" indent="0" marL="0" algn="r">
                        <a:buNone/>
                      </a:pPr>
                      <a:r>
                        <a:rPr/>
                        <a:t>45</a:t>
                      </a:r>
                    </a:p>
                  </a:txBody>
                </a:tc>
                <a:tc>
                  <a:txBody>
                    <a:bodyPr/>
                    <a:lstStyle/>
                    <a:p>
                      <a:pPr lvl="0" indent="0" marL="0" algn="l">
                        <a:buNone/>
                      </a:pPr>
                      <a:r>
                        <a:rPr/>
                        <a:t>Adult and maternal mortality</a:t>
                      </a:r>
                    </a:p>
                  </a:txBody>
                </a:tc>
                <a:tc>
                  <a:txBody>
                    <a:bodyPr/>
                    <a:lstStyle/>
                    <a:p>
                      <a:pPr lvl="0" indent="0" marL="0" algn="l">
                        <a:buNone/>
                      </a:pPr>
                      <a:r>
                        <a:rPr/>
                        <a:t>9</a:t>
                      </a:r>
                    </a:p>
                  </a:txBody>
                </a:tc>
              </a:tr>
              <a:tr h="0">
                <a:tc>
                  <a:txBody>
                    <a:bodyPr/>
                    <a:lstStyle/>
                    <a:p>
                      <a:pPr lvl="0" indent="0" marL="0" algn="l">
                        <a:buNone/>
                      </a:pPr>
                      <a:r>
                        <a:rPr/>
                        <a:t>Agricultural production, land use</a:t>
                      </a:r>
                    </a:p>
                  </a:txBody>
                </a:tc>
                <a:tc>
                  <a:txBody>
                    <a:bodyPr/>
                    <a:lstStyle/>
                    <a:p>
                      <a:pPr lvl="0" indent="0" marL="0" algn="r">
                        <a:buNone/>
                      </a:pPr>
                      <a:r>
                        <a:rPr/>
                        <a:t>29</a:t>
                      </a:r>
                    </a:p>
                  </a:txBody>
                </a:tc>
                <a:tc>
                  <a:txBody>
                    <a:bodyPr/>
                    <a:lstStyle/>
                    <a:p>
                      <a:pPr lvl="0" indent="0" marL="0" algn="l">
                        <a:buNone/>
                      </a:pPr>
                      <a:r>
                        <a:rPr/>
                        <a:t>Water and sanitation</a:t>
                      </a:r>
                    </a:p>
                  </a:txBody>
                </a:tc>
                <a:tc>
                  <a:txBody>
                    <a:bodyPr/>
                    <a:lstStyle/>
                    <a:p>
                      <a:pPr lvl="0" indent="0" marL="0" algn="l">
                        <a:buNone/>
                      </a:pPr>
                      <a:r>
                        <a:rPr/>
                        <a:t>9</a:t>
                      </a:r>
                    </a:p>
                  </a:txBody>
                </a:tc>
              </a:tr>
              <a:tr h="0">
                <a:tc>
                  <a:txBody>
                    <a:bodyPr/>
                    <a:lstStyle/>
                    <a:p>
                      <a:pPr lvl="0" indent="0" marL="0" algn="l">
                        <a:buNone/>
                      </a:pPr>
                      <a:r>
                        <a:rPr/>
                        <a:t>Fertility, reproductive health</a:t>
                      </a:r>
                    </a:p>
                  </a:txBody>
                </a:tc>
                <a:tc>
                  <a:txBody>
                    <a:bodyPr/>
                    <a:lstStyle/>
                    <a:p>
                      <a:pPr lvl="0" indent="0" marL="0" algn="r">
                        <a:buNone/>
                      </a:pPr>
                      <a:r>
                        <a:rPr/>
                        <a:t>23</a:t>
                      </a:r>
                    </a:p>
                  </a:txBody>
                </a:tc>
                <a:tc>
                  <a:txBody>
                    <a:bodyPr/>
                    <a:lstStyle/>
                    <a:p>
                      <a:pPr lvl="0" indent="0" marL="0" algn="l">
                        <a:buNone/>
                      </a:pPr>
                      <a:r>
                        <a:rPr/>
                        <a:t>Helminth burden and control</a:t>
                      </a:r>
                    </a:p>
                  </a:txBody>
                </a:tc>
                <a:tc>
                  <a:txBody>
                    <a:bodyPr/>
                    <a:lstStyle/>
                    <a:p>
                      <a:pPr lvl="0" indent="0" marL="0" algn="l">
                        <a:buNone/>
                      </a:pPr>
                      <a:r>
                        <a:rPr/>
                        <a:t>8</a:t>
                      </a:r>
                    </a:p>
                  </a:txBody>
                </a:tc>
              </a:tr>
              <a:tr h="0">
                <a:tc>
                  <a:txBody>
                    <a:bodyPr/>
                    <a:lstStyle/>
                    <a:p>
                      <a:pPr lvl="0" indent="0" marL="0" algn="l">
                        <a:buNone/>
                      </a:pPr>
                      <a:r>
                        <a:rPr/>
                        <a:t>Food prices and supply</a:t>
                      </a:r>
                    </a:p>
                  </a:txBody>
                </a:tc>
                <a:tc>
                  <a:txBody>
                    <a:bodyPr/>
                    <a:lstStyle/>
                    <a:p>
                      <a:pPr lvl="0" indent="0" marL="0" algn="r">
                        <a:buNone/>
                      </a:pPr>
                      <a:r>
                        <a:rPr/>
                        <a:t>21</a:t>
                      </a:r>
                    </a:p>
                  </a:txBody>
                </a:tc>
                <a:tc>
                  <a:txBody>
                    <a:bodyPr/>
                    <a:lstStyle/>
                    <a:p>
                      <a:pPr lvl="0" indent="0" marL="0" algn="l">
                        <a:buNone/>
                      </a:pPr>
                      <a:r>
                        <a:rPr/>
                        <a:t>Livestock density</a:t>
                      </a:r>
                    </a:p>
                  </a:txBody>
                </a:tc>
                <a:tc>
                  <a:txBody>
                    <a:bodyPr/>
                    <a:lstStyle/>
                    <a:p>
                      <a:pPr lvl="0" indent="0" marL="0" algn="l">
                        <a:buNone/>
                      </a:pPr>
                      <a:r>
                        <a:rPr/>
                        <a:t>8</a:t>
                      </a:r>
                    </a:p>
                  </a:txBody>
                </a:tc>
              </a:tr>
              <a:tr h="0">
                <a:tc>
                  <a:txBody>
                    <a:bodyPr/>
                    <a:lstStyle/>
                    <a:p>
                      <a:pPr lvl="0" indent="0" marL="0" algn="l">
                        <a:buNone/>
                      </a:pPr>
                      <a:r>
                        <a:rPr/>
                        <a:t>Household assets and characteristics</a:t>
                      </a:r>
                    </a:p>
                  </a:txBody>
                </a:tc>
                <a:tc>
                  <a:txBody>
                    <a:bodyPr/>
                    <a:lstStyle/>
                    <a:p>
                      <a:pPr lvl="0" indent="0" marL="0" algn="r">
                        <a:buNone/>
                      </a:pPr>
                      <a:r>
                        <a:rPr/>
                        <a:t>21</a:t>
                      </a:r>
                    </a:p>
                  </a:txBody>
                </a:tc>
                <a:tc>
                  <a:txBody>
                    <a:bodyPr/>
                    <a:lstStyle/>
                    <a:p>
                      <a:pPr lvl="0" indent="0" marL="0" algn="l">
                        <a:buNone/>
                      </a:pPr>
                      <a:r>
                        <a:rPr/>
                        <a:t>Adult nutrition</a:t>
                      </a:r>
                    </a:p>
                  </a:txBody>
                </a:tc>
                <a:tc>
                  <a:txBody>
                    <a:bodyPr/>
                    <a:lstStyle/>
                    <a:p>
                      <a:pPr lvl="0" indent="0" marL="0" algn="l">
                        <a:buNone/>
                      </a:pPr>
                      <a:r>
                        <a:rPr/>
                        <a:t>7</a:t>
                      </a:r>
                    </a:p>
                  </a:txBody>
                </a:tc>
              </a:tr>
              <a:tr h="0">
                <a:tc>
                  <a:txBody>
                    <a:bodyPr/>
                    <a:lstStyle/>
                    <a:p>
                      <a:pPr lvl="0" indent="0" marL="0" algn="l">
                        <a:buNone/>
                      </a:pPr>
                      <a:r>
                        <a:rPr/>
                        <a:t>Ecosystem productivity/greenness</a:t>
                      </a:r>
                    </a:p>
                  </a:txBody>
                </a:tc>
                <a:tc>
                  <a:txBody>
                    <a:bodyPr/>
                    <a:lstStyle/>
                    <a:p>
                      <a:pPr lvl="0" indent="0" marL="0" algn="r">
                        <a:buNone/>
                      </a:pPr>
                      <a:r>
                        <a:rPr/>
                        <a:t>16</a:t>
                      </a:r>
                    </a:p>
                  </a:txBody>
                </a:tc>
                <a:tc>
                  <a:txBody>
                    <a:bodyPr/>
                    <a:lstStyle/>
                    <a:p>
                      <a:pPr lvl="0" indent="0" marL="0" algn="l">
                        <a:buNone/>
                      </a:pPr>
                      <a:r>
                        <a:rPr/>
                        <a:t>Healthcare access</a:t>
                      </a:r>
                    </a:p>
                  </a:txBody>
                </a:tc>
                <a:tc>
                  <a:txBody>
                    <a:bodyPr/>
                    <a:lstStyle/>
                    <a:p>
                      <a:pPr lvl="0" indent="0" marL="0" algn="l">
                        <a:buNone/>
                      </a:pPr>
                      <a:r>
                        <a:rPr/>
                        <a:t>7</a:t>
                      </a:r>
                    </a:p>
                  </a:txBody>
                </a:tc>
              </a:tr>
              <a:tr h="0">
                <a:tc>
                  <a:txBody>
                    <a:bodyPr/>
                    <a:lstStyle/>
                    <a:p>
                      <a:pPr lvl="0" indent="0" marL="0" algn="l">
                        <a:buNone/>
                      </a:pPr>
                      <a:r>
                        <a:rPr/>
                        <a:t>Built environment</a:t>
                      </a:r>
                    </a:p>
                  </a:txBody>
                </a:tc>
                <a:tc>
                  <a:txBody>
                    <a:bodyPr/>
                    <a:lstStyle/>
                    <a:p>
                      <a:pPr lvl="0" indent="0" marL="0" algn="r">
                        <a:buNone/>
                      </a:pPr>
                      <a:r>
                        <a:rPr/>
                        <a:t>13</a:t>
                      </a:r>
                    </a:p>
                  </a:txBody>
                </a:tc>
                <a:tc>
                  <a:txBody>
                    <a:bodyPr/>
                    <a:lstStyle/>
                    <a:p>
                      <a:pPr lvl="0" indent="0" marL="0" algn="l">
                        <a:buNone/>
                      </a:pPr>
                      <a:r>
                        <a:rPr/>
                        <a:t>Water and coast proximity</a:t>
                      </a:r>
                    </a:p>
                  </a:txBody>
                </a:tc>
                <a:tc>
                  <a:txBody>
                    <a:bodyPr/>
                    <a:lstStyle/>
                    <a:p>
                      <a:pPr lvl="0" indent="0" marL="0" algn="l">
                        <a:buNone/>
                      </a:pPr>
                      <a:r>
                        <a:rPr/>
                        <a:t>6</a:t>
                      </a:r>
                    </a:p>
                  </a:txBody>
                </a:tc>
              </a:tr>
              <a:tr h="0">
                <a:tc>
                  <a:txBody>
                    <a:bodyPr/>
                    <a:lstStyle/>
                    <a:p>
                      <a:pPr lvl="0" indent="0" marL="0" algn="l">
                        <a:buNone/>
                      </a:pPr>
                      <a:r>
                        <a:rPr/>
                        <a:t>Education, employment, SES</a:t>
                      </a:r>
                    </a:p>
                  </a:txBody>
                </a:tc>
                <a:tc>
                  <a:txBody>
                    <a:bodyPr/>
                    <a:lstStyle/>
                    <a:p>
                      <a:pPr lvl="0" indent="0" marL="0" algn="r">
                        <a:buNone/>
                      </a:pPr>
                      <a:r>
                        <a:rPr/>
                        <a:t>12</a:t>
                      </a:r>
                    </a:p>
                  </a:txBody>
                </a:tc>
                <a:tc>
                  <a:txBody>
                    <a:bodyPr/>
                    <a:lstStyle/>
                    <a:p>
                      <a:pPr lvl="0" indent="0" marL="0" algn="l">
                        <a:buNone/>
                      </a:pPr>
                      <a:r>
                        <a:rPr/>
                        <a:t>Food fortification and supplementation</a:t>
                      </a:r>
                    </a:p>
                  </a:txBody>
                </a:tc>
                <a:tc>
                  <a:txBody>
                    <a:bodyPr/>
                    <a:lstStyle/>
                    <a:p>
                      <a:pPr lvl="0" indent="0" marL="0" algn="l">
                        <a:buNone/>
                      </a:pPr>
                      <a:r>
                        <a:rPr/>
                        <a:t>3</a:t>
                      </a:r>
                    </a:p>
                  </a:txBody>
                </a:tc>
              </a:tr>
              <a:tr h="0">
                <a:tc>
                  <a:txBody>
                    <a:bodyPr/>
                    <a:lstStyle/>
                    <a:p>
                      <a:pPr lvl="0" indent="0" marL="0" algn="l">
                        <a:buNone/>
                      </a:pPr>
                      <a:r>
                        <a:rPr/>
                        <a:t>Malaria incidence and treatment</a:t>
                      </a:r>
                    </a:p>
                  </a:txBody>
                </a:tc>
                <a:tc>
                  <a:txBody>
                    <a:bodyPr/>
                    <a:lstStyle/>
                    <a:p>
                      <a:pPr lvl="0" indent="0" marL="0" algn="r">
                        <a:buNone/>
                      </a:pPr>
                      <a:r>
                        <a:rPr/>
                        <a:t>12</a:t>
                      </a:r>
                    </a:p>
                  </a:txBody>
                </a:tc>
                <a:tc>
                  <a:txBody>
                    <a:bodyPr/>
                    <a:lstStyle/>
                    <a:p>
                      <a:endParaRPr/>
                    </a:p>
                  </a:txBody>
                </a:tc>
                <a:tc>
                  <a:txBody>
                    <a:bodyPr/>
                    <a:lstStyle/>
                    <a:p>
                      <a:endParaRP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Prediction approach, then and now</a:t>
            </a:r>
          </a:p>
        </p:txBody>
      </p:sp>
      <p:sp>
        <p:nvSpPr>
          <p:cNvPr id="3" name="Content Placeholder 2"/>
          <p:cNvSpPr>
            <a:spLocks noGrp="1"/>
          </p:cNvSpPr>
          <p:nvPr>
            <p:ph idx="1" sz="half"/>
          </p:nvPr>
        </p:nvSpPr>
        <p:spPr/>
        <p:txBody>
          <a:bodyPr/>
          <a:lstStyle/>
          <a:p>
            <a:pPr lvl="0" indent="0" marL="0">
              <a:buNone/>
            </a:pPr>
            <a:r>
              <a:rPr b="1"/>
              <a:t>January: spatial ensemble learning</a:t>
            </a:r>
          </a:p>
          <a:p>
            <a:pPr lvl="0"/>
            <a:r>
              <a:rPr/>
              <a:t>SuperLearner library, weighted by cross-validated performance.</a:t>
            </a:r>
          </a:p>
          <a:p>
            <a:pPr lvl="0"/>
            <a:r>
              <a:rPr/>
              <a:t>Prescreening from thousands of predictors to 10-100 per model.</a:t>
            </a:r>
          </a:p>
          <a:p>
            <a:pPr lvl="0"/>
            <a:r>
              <a:rPr/>
              <a:t>Importance by change in MSE.</a:t>
            </a:r>
          </a:p>
        </p:txBody>
      </p:sp>
      <p:sp>
        <p:nvSpPr>
          <p:cNvPr id="4" name="Content Placeholder 3"/>
          <p:cNvSpPr>
            <a:spLocks noGrp="1"/>
          </p:cNvSpPr>
          <p:nvPr>
            <p:ph idx="2" sz="half"/>
          </p:nvPr>
        </p:nvSpPr>
        <p:spPr/>
        <p:txBody>
          <a:bodyPr/>
          <a:lstStyle/>
          <a:p>
            <a:pPr lvl="0" indent="0" marL="0">
              <a:buNone/>
            </a:pPr>
            <a:r>
              <a:rPr b="1"/>
              <a:t>Now: the corrected protocol</a:t>
            </a:r>
          </a:p>
          <a:p>
            <a:pPr lvl="0"/>
            <a:r>
              <a:rPr/>
              <a:t>Zero-tuning index: domain PCs weighted by their training-fold rank correlation with the outcome.</a:t>
            </a:r>
          </a:p>
          <a:p>
            <a:pPr lvl="0"/>
            <a:r>
              <a:rPr/>
              <a:t>SuperLearner kept as a comparison; never beats the index at 14-87 districts.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371600"/>
                <a:gridCol w="3314700"/>
                <a:gridCol w="2349500"/>
                <a:gridCol w="34798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A. 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B.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In-fill: covariates beat the honest baseline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Zero-tuning domain index</a:t>
                      </a:r>
                    </a:p>
                  </a:txBody>
                </a:tc>
                <a:tc>
                  <a:txBody>
                    <a:bodyPr/>
                    <a:lstStyle/>
                    <a:p>
                      <a:pPr lvl="0" indent="0" marL="0" algn="r">
                        <a:buNone/>
                      </a:pPr>
                      <a:r>
                        <a:rPr/>
                        <a:t>0.399</a:t>
                      </a:r>
                    </a:p>
                  </a:txBody>
                </a:tc>
                <a:tc>
                  <a:txBody>
                    <a:bodyPr/>
                    <a:lstStyle/>
                    <a:p>
                      <a:pPr lvl="0" indent="0" marL="0" algn="r">
                        <a:buNone/>
                      </a:pPr>
                      <a:r>
                        <a:rPr/>
                        <a:t>0.285</a:t>
                      </a:r>
                    </a:p>
                  </a:txBody>
                </a:tc>
              </a:tr>
              <a:tr h="0">
                <a:tc>
                  <a:txBody>
                    <a:bodyPr/>
                    <a:lstStyle/>
                    <a:p>
                      <a:pPr lvl="0" indent="0" marL="0" algn="l">
                        <a:buNone/>
                      </a:pPr>
                      <a:r>
                        <a:rPr/>
                        <a:t>Spatial smoother + covariates</a:t>
                      </a:r>
                    </a:p>
                  </a:txBody>
                </a:tc>
                <a:tc>
                  <a:txBody>
                    <a:bodyPr/>
                    <a:lstStyle/>
                    <a:p>
                      <a:pPr lvl="0" indent="0" marL="0" algn="r">
                        <a:buNone/>
                      </a:pPr>
                      <a:r>
                        <a:rPr/>
                        <a:t>0.399</a:t>
                      </a:r>
                    </a:p>
                  </a:txBody>
                </a:tc>
                <a:tc>
                  <a:txBody>
                    <a:bodyPr/>
                    <a:lstStyle/>
                    <a:p>
                      <a:pPr lvl="0" indent="0" marL="0" algn="r">
                        <a:buNone/>
                      </a:pPr>
                      <a:r>
                        <a:rPr/>
                        <a:t>0.253</a:t>
                      </a:r>
                    </a:p>
                  </a:txBody>
                </a:tc>
              </a:tr>
              <a:tr h="0">
                <a:tc>
                  <a:txBody>
                    <a:bodyPr/>
                    <a:lstStyle/>
                    <a:p>
                      <a:pPr lvl="0" indent="0" marL="0" algn="l">
                        <a:buNone/>
                      </a:pPr>
                      <a:r>
                        <a:rPr/>
                        <a:t>Spatial smoother only</a:t>
                      </a:r>
                    </a:p>
                  </a:txBody>
                </a:tc>
                <a:tc>
                  <a:txBody>
                    <a:bodyPr/>
                    <a:lstStyle/>
                    <a:p>
                      <a:pPr lvl="0" indent="0" marL="0" algn="r">
                        <a:buNone/>
                      </a:pPr>
                      <a:r>
                        <a:rPr/>
                        <a:t>0.390</a:t>
                      </a:r>
                    </a:p>
                  </a:txBody>
                </a:tc>
                <a:tc>
                  <a:txBody>
                    <a:bodyPr/>
                    <a:lstStyle/>
                    <a:p>
                      <a:pPr lvl="0" indent="0" marL="0" algn="r">
                        <a:buNone/>
                      </a:pPr>
                      <a:r>
                        <a:rPr/>
                        <a:t>0.257</a:t>
                      </a:r>
                    </a:p>
                  </a:txBody>
                </a:tc>
              </a:tr>
              <a:tr h="0">
                <a:tc>
                  <a:txBody>
                    <a:bodyPr/>
                    <a:lstStyle/>
                    <a:p>
                      <a:pPr lvl="0" indent="0" marL="0" algn="l">
                        <a:buNone/>
                      </a:pPr>
                      <a:r>
                        <a:rPr/>
                        <a:t>Elastic net, domain PCs</a:t>
                      </a:r>
                    </a:p>
                  </a:txBody>
                </a:tc>
                <a:tc>
                  <a:txBody>
                    <a:bodyPr/>
                    <a:lstStyle/>
                    <a:p>
                      <a:pPr lvl="0" indent="0" marL="0" algn="r">
                        <a:buNone/>
                      </a:pPr>
                      <a:r>
                        <a:rPr/>
                        <a:t>0.344</a:t>
                      </a:r>
                    </a:p>
                  </a:txBody>
                </a:tc>
                <a:tc>
                  <a:txBody>
                    <a:bodyPr/>
                    <a:lstStyle/>
                    <a:p>
                      <a:pPr lvl="0" indent="0" marL="0" algn="r">
                        <a:buNone/>
                      </a:pPr>
                      <a:r>
                        <a:rPr/>
                        <a:t>0.182</a:t>
                      </a:r>
                    </a:p>
                  </a:txBody>
                </a:tc>
              </a:tr>
              <a:tr h="0">
                <a:tc>
                  <a:txBody>
                    <a:bodyPr/>
                    <a:lstStyle/>
                    <a:p>
                      <a:pPr lvl="0" indent="0" marL="0" algn="l">
                        <a:buNone/>
                      </a:pPr>
                      <a:r>
                        <a:rPr/>
                        <a:t>Elastic net, all 451 columns</a:t>
                      </a:r>
                    </a:p>
                  </a:txBody>
                </a:tc>
                <a:tc>
                  <a:txBody>
                    <a:bodyPr/>
                    <a:lstStyle/>
                    <a:p>
                      <a:pPr lvl="0" indent="0" marL="0" algn="r">
                        <a:buNone/>
                      </a:pPr>
                      <a:r>
                        <a:rPr/>
                        <a:t>0.325</a:t>
                      </a:r>
                    </a:p>
                  </a:txBody>
                </a:tc>
                <a:tc>
                  <a:txBody>
                    <a:bodyPr/>
                    <a:lstStyle/>
                    <a:p>
                      <a:pPr lvl="0" indent="0" marL="0" algn="r">
                        <a:buNone/>
                      </a:pPr>
                      <a:r>
                        <a:rPr/>
                        <a:t>0.166</a:t>
                      </a:r>
                    </a:p>
                  </a:txBody>
                </a:tc>
              </a:tr>
              <a:tr h="0">
                <a:tc>
                  <a:txBody>
                    <a:bodyPr/>
                    <a:lstStyle/>
                    <a:p>
                      <a:pPr lvl="0" indent="0" marL="0" algn="l">
                        <a:buNone/>
                      </a:pPr>
                      <a:r>
                        <a:rPr/>
                        <a:t>Survey: jackknifed regional mean</a:t>
                      </a:r>
                    </a:p>
                  </a:txBody>
                </a:tc>
                <a:tc>
                  <a:txBody>
                    <a:bodyPr/>
                    <a:lstStyle/>
                    <a:p>
                      <a:pPr lvl="0" indent="0" marL="0" algn="r">
                        <a:buNone/>
                      </a:pPr>
                      <a:r>
                        <a:rPr/>
                        <a:t>0.314</a:t>
                      </a:r>
                    </a:p>
                  </a:txBody>
                </a:tc>
                <a:tc>
                  <a:txBody>
                    <a:bodyPr/>
                    <a:lstStyle/>
                    <a:p>
                      <a:pPr lvl="0" indent="0" marL="0" algn="r">
                        <a:buNone/>
                      </a:pPr>
                      <a:r>
                        <a:rPr/>
                        <a:t>0.220</a:t>
                      </a:r>
                    </a:p>
                  </a:txBody>
                </a:tc>
              </a:tr>
              <a:tr h="0">
                <a:tc>
                  <a:txBody>
                    <a:bodyPr/>
                    <a:lstStyle/>
                    <a:p>
                      <a:pPr lvl="0" indent="0" marL="0" algn="l">
                        <a:buNone/>
                      </a:pPr>
                      <a:r>
                        <a:rPr/>
                        <a:t>Null: training mean</a:t>
                      </a:r>
                    </a:p>
                  </a:txBody>
                </a:tc>
                <a:tc>
                  <a:txBody>
                    <a:bodyPr/>
                    <a:lstStyle/>
                    <a:p>
                      <a:pPr lvl="0" indent="0" marL="0" algn="r">
                        <a:buNone/>
                      </a:pPr>
                      <a:r>
                        <a:rPr/>
                        <a:t>-0.228</a:t>
                      </a:r>
                    </a:p>
                  </a:txBody>
                </a:tc>
                <a:tc>
                  <a:txBody>
                    <a:bodyPr/>
                    <a:lstStyle/>
                    <a:p>
                      <a:pPr lvl="0" indent="0" marL="0" algn="r">
                        <a:buNone/>
                      </a:pPr>
                      <a:r>
                        <a:rPr/>
                        <a:t>-0.218</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 Extrapolation to an unsurveyed region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0.386</a:t>
                      </a:r>
                    </a:p>
                  </a:txBody>
                </a:tc>
                <a:tc>
                  <a:txBody>
                    <a:bodyPr/>
                    <a:lstStyle/>
                    <a:p>
                      <a:pPr lvl="0" indent="0" marL="0" algn="r">
                        <a:buNone/>
                      </a:pPr>
                      <a:r>
                        <a:rPr/>
                        <a:t>0.238</a:t>
                      </a:r>
                    </a:p>
                  </a:txBody>
                </a:tc>
              </a:tr>
              <a:tr h="0">
                <a:tc>
                  <a:txBody>
                    <a:bodyPr/>
                    <a:lstStyle/>
                    <a:p>
                      <a:pPr lvl="0" indent="0" marL="0" algn="l">
                        <a:buNone/>
                      </a:pPr>
                      <a:r>
                        <a:rPr/>
                        <a:t>Zero-tuning domain index</a:t>
                      </a:r>
                    </a:p>
                  </a:txBody>
                </a:tc>
                <a:tc>
                  <a:txBody>
                    <a:bodyPr/>
                    <a:lstStyle/>
                    <a:p>
                      <a:pPr lvl="0" indent="0" marL="0" algn="r">
                        <a:buNone/>
                      </a:pPr>
                      <a:r>
                        <a:rPr/>
                        <a:t>0.378</a:t>
                      </a:r>
                    </a:p>
                  </a:txBody>
                </a:tc>
                <a:tc>
                  <a:txBody>
                    <a:bodyPr/>
                    <a:lstStyle/>
                    <a:p>
                      <a:pPr lvl="0" indent="0" marL="0" algn="r">
                        <a:buNone/>
                      </a:pPr>
                      <a:r>
                        <a:rPr/>
                        <a:t>0.264</a:t>
                      </a:r>
                    </a:p>
                  </a:txBody>
                </a:tc>
              </a:tr>
              <a:tr h="0">
                <a:tc>
                  <a:txBody>
                    <a:bodyPr/>
                    <a:lstStyle/>
                    <a:p>
                      <a:pPr lvl="0" indent="0" marL="0" algn="l">
                        <a:buNone/>
                      </a:pPr>
                      <a:r>
                        <a:rPr/>
                        <a:t>Spatial smoother only</a:t>
                      </a:r>
                    </a:p>
                  </a:txBody>
                </a:tc>
                <a:tc>
                  <a:txBody>
                    <a:bodyPr/>
                    <a:lstStyle/>
                    <a:p>
                      <a:pPr lvl="0" indent="0" marL="0" algn="r">
                        <a:buNone/>
                      </a:pPr>
                      <a:r>
                        <a:rPr/>
                        <a:t>0.377</a:t>
                      </a:r>
                    </a:p>
                  </a:txBody>
                </a:tc>
                <a:tc>
                  <a:txBody>
                    <a:bodyPr/>
                    <a:lstStyle/>
                    <a:p>
                      <a:pPr lvl="0" indent="0" marL="0" algn="r">
                        <a:buNone/>
                      </a:pPr>
                      <a:r>
                        <a:rPr/>
                        <a:t>0.229</a:t>
                      </a:r>
                    </a:p>
                  </a:txBody>
                </a:tc>
              </a:tr>
              <a:tr h="0">
                <a:tc>
                  <a:txBody>
                    <a:bodyPr/>
                    <a:lstStyle/>
                    <a:p>
                      <a:pPr lvl="0" indent="0" marL="0" algn="l">
                        <a:buNone/>
                      </a:pPr>
                      <a:r>
                        <a:rPr/>
                        <a:t>Elastic net, domain PCs</a:t>
                      </a:r>
                    </a:p>
                  </a:txBody>
                </a:tc>
                <a:tc>
                  <a:txBody>
                    <a:bodyPr/>
                    <a:lstStyle/>
                    <a:p>
                      <a:pPr lvl="0" indent="0" marL="0" algn="r">
                        <a:buNone/>
                      </a:pPr>
                      <a:r>
                        <a:rPr/>
                        <a:t>0.292</a:t>
                      </a:r>
                    </a:p>
                  </a:txBody>
                </a:tc>
                <a:tc>
                  <a:txBody>
                    <a:bodyPr/>
                    <a:lstStyle/>
                    <a:p>
                      <a:pPr lvl="0" indent="0" marL="0" algn="r">
                        <a:buNone/>
                      </a:pPr>
                      <a:r>
                        <a:rPr/>
                        <a:t>0.110</a:t>
                      </a:r>
                    </a:p>
                  </a:txBody>
                </a:tc>
              </a:tr>
              <a:tr h="0">
                <a:tc>
                  <a:txBody>
                    <a:bodyPr/>
                    <a:lstStyle/>
                    <a:p>
                      <a:pPr lvl="0" indent="0" marL="0" algn="l">
                        <a:buNone/>
                      </a:pPr>
                      <a:r>
                        <a:rPr/>
                        <a:t>Elastic net, all 451 columns</a:t>
                      </a:r>
                    </a:p>
                  </a:txBody>
                </a:tc>
                <a:tc>
                  <a:txBody>
                    <a:bodyPr/>
                    <a:lstStyle/>
                    <a:p>
                      <a:pPr lvl="0" indent="0" marL="0" algn="r">
                        <a:buNone/>
                      </a:pPr>
                      <a:r>
                        <a:rPr/>
                        <a:t>0.202</a:t>
                      </a:r>
                    </a:p>
                  </a:txBody>
                </a:tc>
                <a:tc>
                  <a:txBody>
                    <a:bodyPr/>
                    <a:lstStyle/>
                    <a:p>
                      <a:pPr lvl="0" indent="0" marL="0" algn="r">
                        <a:buNone/>
                      </a:pPr>
                      <a:r>
                        <a:rPr/>
                        <a:t>-0.011</a:t>
                      </a:r>
                    </a:p>
                  </a:txBody>
                </a:tc>
              </a:tr>
              <a:tr h="0">
                <a:tc>
                  <a:txBody>
                    <a:bodyPr/>
                    <a:lstStyle/>
                    <a:p>
                      <a:pPr lvl="0" indent="0" marL="0" algn="l">
                        <a:buNone/>
                      </a:pPr>
                      <a:r>
                        <a:rPr/>
                        <a:t>Null: training mean</a:t>
                      </a:r>
                    </a:p>
                  </a:txBody>
                </a:tc>
                <a:tc>
                  <a:txBody>
                    <a:bodyPr/>
                    <a:lstStyle/>
                    <a:p>
                      <a:pPr lvl="0" indent="0" marL="0" algn="r">
                        <a:buNone/>
                      </a:pPr>
                      <a:r>
                        <a:rPr/>
                        <a:t>-0.604</a:t>
                      </a:r>
                    </a:p>
                  </a:txBody>
                </a:tc>
                <a:tc>
                  <a:txBody>
                    <a:bodyPr/>
                    <a:lstStyle/>
                    <a:p>
                      <a:pPr lvl="0" indent="0" marL="0" algn="r">
                        <a:buNone/>
                      </a:pPr>
                      <a:r>
                        <a:rPr/>
                        <a:t>-0.535</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 Transport: rankings cross borders, levels do not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765300"/>
                <a:gridCol w="1676400"/>
                <a:gridCol w="1676400"/>
                <a:gridCol w="2044700"/>
                <a:gridCol w="2044700"/>
                <a:gridCol w="1308100"/>
              </a:tblGrid>
              <a:tr h="0">
                <a:tc>
                  <a:txBody>
                    <a:bodyPr/>
                    <a:lstStyle/>
                    <a:p>
                      <a:pPr lvl="0" indent="0" marL="0" algn="l">
                        <a:buNone/>
                      </a:pPr>
                      <a:r>
                        <a:rPr/>
                        <a:t>Tier</a:t>
                      </a:r>
                    </a:p>
                  </a:txBody>
                  <a:tcPr/>
                </a:tc>
                <a:tc>
                  <a:txBody>
                    <a:bodyPr/>
                    <a:lstStyle/>
                    <a:p>
                      <a:pPr lvl="0" indent="0" marL="0" algn="r">
                        <a:buNone/>
                      </a:pPr>
                      <a:r>
                        <a:rPr/>
                        <a:t>Full index, level</a:t>
                      </a:r>
                    </a:p>
                  </a:txBody>
                  <a:tcPr/>
                </a:tc>
                <a:tc>
                  <a:txBody>
                    <a:bodyPr/>
                    <a:lstStyle/>
                    <a:p>
                      <a:pPr lvl="0" indent="0" marL="0" algn="r">
                        <a:buNone/>
                      </a:pPr>
                      <a:r>
                        <a:rPr/>
                        <a:t>Full index, prev.</a:t>
                      </a:r>
                    </a:p>
                  </a:txBody>
                  <a:tcPr/>
                </a:tc>
                <a:tc>
                  <a:txBody>
                    <a:bodyPr/>
                    <a:lstStyle/>
                    <a:p>
                      <a:pPr lvl="0" indent="0" marL="0" algn="r">
                        <a:buNone/>
                      </a:pPr>
                      <a:r>
                        <a:rPr/>
                        <a:t>Climate + soil, level</a:t>
                      </a:r>
                    </a:p>
                  </a:txBody>
                  <a:tcPr/>
                </a:tc>
                <a:tc>
                  <a:txBody>
                    <a:bodyPr/>
                    <a:lstStyle/>
                    <a:p>
                      <a:pPr lvl="0" indent="0" marL="0" algn="r">
                        <a:buNone/>
                      </a:pPr>
                      <a:r>
                        <a:rPr/>
                        <a:t>Climate + soil, prev.</a:t>
                      </a:r>
                    </a:p>
                  </a:txBody>
                  <a:tcPr/>
                </a:tc>
                <a:tc>
                  <a:txBody>
                    <a:bodyPr/>
                    <a:lstStyle/>
                    <a:p>
                      <a:pPr lvl="0" indent="0" marL="0" algn="r">
                        <a:buNone/>
                      </a:pPr>
                      <a:r>
                        <a:rPr/>
                        <a:t>Null 95th pct</a:t>
                      </a:r>
                    </a:p>
                  </a:txBody>
                  <a:tcPr/>
                </a:tc>
              </a:tr>
              <a:tr h="0">
                <a:tc>
                  <a:txBody>
                    <a:bodyPr/>
                    <a:lstStyle/>
                    <a:p>
                      <a:pPr lvl="0" indent="0" marL="0" algn="l">
                        <a:buNone/>
                      </a:pPr>
                      <a:r>
                        <a:rPr/>
                        <a:t>District (Admin-2)</a:t>
                      </a:r>
                    </a:p>
                  </a:txBody>
                </a:tc>
                <a:tc>
                  <a:txBody>
                    <a:bodyPr/>
                    <a:lstStyle/>
                    <a:p>
                      <a:pPr lvl="0" indent="0" marL="0" algn="r">
                        <a:buNone/>
                      </a:pPr>
                      <a:r>
                        <a:rPr/>
                        <a:t>0.26</a:t>
                      </a:r>
                    </a:p>
                  </a:txBody>
                </a:tc>
                <a:tc>
                  <a:txBody>
                    <a:bodyPr/>
                    <a:lstStyle/>
                    <a:p>
                      <a:pPr lvl="0" indent="0" marL="0" algn="r">
                        <a:buNone/>
                      </a:pPr>
                      <a:r>
                        <a:rPr/>
                        <a:t>0.18</a:t>
                      </a:r>
                    </a:p>
                  </a:txBody>
                </a:tc>
                <a:tc>
                  <a:txBody>
                    <a:bodyPr/>
                    <a:lstStyle/>
                    <a:p>
                      <a:pPr lvl="0" indent="0" marL="0" algn="r">
                        <a:buNone/>
                      </a:pPr>
                      <a:r>
                        <a:rPr/>
                        <a:t>0.37</a:t>
                      </a:r>
                    </a:p>
                  </a:txBody>
                </a:tc>
                <a:tc>
                  <a:txBody>
                    <a:bodyPr/>
                    <a:lstStyle/>
                    <a:p>
                      <a:pPr lvl="0" indent="0" marL="0" algn="r">
                        <a:buNone/>
                      </a:pPr>
                      <a:r>
                        <a:rPr/>
                        <a:t>0.24</a:t>
                      </a:r>
                    </a:p>
                  </a:txBody>
                </a:tc>
                <a:tc>
                  <a:txBody>
                    <a:bodyPr/>
                    <a:lstStyle/>
                    <a:p>
                      <a:pPr lvl="0" indent="0" marL="0" algn="r">
                        <a:buNone/>
                      </a:pPr>
                      <a:r>
                        <a:rPr/>
                        <a:t>0.08</a:t>
                      </a:r>
                    </a:p>
                  </a:txBody>
                </a:tc>
              </a:tr>
              <a:tr h="0">
                <a:tc>
                  <a:txBody>
                    <a:bodyPr/>
                    <a:lstStyle/>
                    <a:p>
                      <a:pPr lvl="0" indent="0" marL="0" algn="l">
                        <a:buNone/>
                      </a:pPr>
                      <a:r>
                        <a:rPr/>
                        <a:t>Regional (Admin-1)</a:t>
                      </a:r>
                    </a:p>
                  </a:txBody>
                </a:tc>
                <a:tc>
                  <a:txBody>
                    <a:bodyPr/>
                    <a:lstStyle/>
                    <a:p>
                      <a:pPr lvl="0" indent="0" marL="0" algn="r">
                        <a:buNone/>
                      </a:pPr>
                      <a:r>
                        <a:rPr/>
                        <a:t>0.31</a:t>
                      </a:r>
                    </a:p>
                  </a:txBody>
                </a:tc>
                <a:tc>
                  <a:txBody>
                    <a:bodyPr/>
                    <a:lstStyle/>
                    <a:p>
                      <a:pPr lvl="0" indent="0" marL="0" algn="r">
                        <a:buNone/>
                      </a:pPr>
                      <a:r>
                        <a:rPr/>
                        <a:t>0.33</a:t>
                      </a:r>
                    </a:p>
                  </a:txBody>
                </a:tc>
                <a:tc>
                  <a:txBody>
                    <a:bodyPr/>
                    <a:lstStyle/>
                    <a:p>
                      <a:pPr lvl="0" indent="0" marL="0" algn="r">
                        <a:buNone/>
                      </a:pPr>
                      <a:r>
                        <a:rPr/>
                        <a:t>0.45</a:t>
                      </a:r>
                    </a:p>
                  </a:txBody>
                </a:tc>
                <a:tc>
                  <a:txBody>
                    <a:bodyPr/>
                    <a:lstStyle/>
                    <a:p>
                      <a:pPr lvl="0" indent="0" marL="0" algn="r">
                        <a:buNone/>
                      </a:pPr>
                      <a:r>
                        <a:rPr/>
                        <a:t>0.27</a:t>
                      </a:r>
                    </a:p>
                  </a:txBody>
                </a:tc>
                <a:tc>
                  <a:txBody>
                    <a:bodyPr/>
                    <a:lstStyle/>
                    <a:p>
                      <a:pPr lvl="0" indent="0" marL="0" algn="r">
                        <a:buNone/>
                      </a:pPr>
                      <a:r>
                        <a:rPr/>
                        <a:t>0.16</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index’s weights come from: nothing beats it in-country, thresholding helps across borders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962400"/>
                <a:gridCol w="1066800"/>
                <a:gridCol w="1066800"/>
                <a:gridCol w="990600"/>
                <a:gridCol w="990600"/>
                <a:gridCol w="1219200"/>
                <a:gridCol w="1219200"/>
              </a:tblGrid>
              <a:tr h="0">
                <a:tc>
                  <a:txBody>
                    <a:bodyPr/>
                    <a:lstStyle/>
                    <a:p>
                      <a:pPr lvl="0" indent="0" marL="0" algn="l">
                        <a:buNone/>
                      </a:pPr>
                      <a:r>
                        <a:rPr/>
                        <a:t>Weights</a:t>
                      </a:r>
                    </a:p>
                  </a:txBody>
                  <a:tcPr/>
                </a:tc>
                <a:tc>
                  <a:txBody>
                    <a:bodyPr/>
                    <a:lstStyle/>
                    <a:p>
                      <a:pPr lvl="0" indent="0" marL="0" algn="r">
                        <a:buNone/>
                      </a:pPr>
                      <a:r>
                        <a:rPr/>
                        <a:t>In-fill level</a:t>
                      </a:r>
                    </a:p>
                  </a:txBody>
                  <a:tcPr/>
                </a:tc>
                <a:tc>
                  <a:txBody>
                    <a:bodyPr/>
                    <a:lstStyle/>
                    <a:p>
                      <a:pPr lvl="0" indent="0" marL="0" algn="r">
                        <a:buNone/>
                      </a:pPr>
                      <a:r>
                        <a:rPr/>
                        <a:t>In-fill prev.</a:t>
                      </a:r>
                    </a:p>
                  </a:txBody>
                  <a:tcPr/>
                </a:tc>
                <a:tc>
                  <a:txBody>
                    <a:bodyPr/>
                    <a:lstStyle/>
                    <a:p>
                      <a:pPr lvl="0" indent="0" marL="0" algn="r">
                        <a:buNone/>
                      </a:pPr>
                      <a:r>
                        <a:rPr/>
                        <a:t>Region level</a:t>
                      </a:r>
                    </a:p>
                  </a:txBody>
                  <a:tcPr/>
                </a:tc>
                <a:tc>
                  <a:txBody>
                    <a:bodyPr/>
                    <a:lstStyle/>
                    <a:p>
                      <a:pPr lvl="0" indent="0" marL="0" algn="r">
                        <a:buNone/>
                      </a:pPr>
                      <a:r>
                        <a:rPr/>
                        <a:t>Region prev.</a:t>
                      </a:r>
                    </a:p>
                  </a:txBody>
                  <a:tcPr/>
                </a:tc>
                <a:tc>
                  <a:txBody>
                    <a:bodyPr/>
                    <a:lstStyle/>
                    <a:p>
                      <a:pPr lvl="0" indent="0" marL="0" algn="r">
                        <a:buNone/>
                      </a:pPr>
                      <a:r>
                        <a:rPr/>
                        <a:t>Transport level</a:t>
                      </a:r>
                    </a:p>
                  </a:txBody>
                  <a:tcPr/>
                </a:tc>
                <a:tc>
                  <a:txBody>
                    <a:bodyPr/>
                    <a:lstStyle/>
                    <a:p>
                      <a:pPr lvl="0" indent="0" marL="0" algn="r">
                        <a:buNone/>
                      </a:pPr>
                      <a:r>
                        <a:rPr/>
                        <a:t>Transport prev.</a:t>
                      </a:r>
                    </a:p>
                  </a:txBody>
                  <a:tcPr/>
                </a:tc>
              </a:tr>
              <a:tr h="0">
                <a:tc>
                  <a:txBody>
                    <a:bodyPr/>
                    <a:lstStyle/>
                    <a:p>
                      <a:pPr lvl="0" indent="0" marL="0" algn="l">
                        <a:buNone/>
                      </a:pPr>
                      <a:r>
                        <a:rPr/>
                        <a:t>Production index (pooled rank correlation)</a:t>
                      </a:r>
                    </a:p>
                  </a:txBody>
                </a:tc>
                <a:tc>
                  <a:txBody>
                    <a:bodyPr/>
                    <a:lstStyle/>
                    <a:p>
                      <a:pPr lvl="0" indent="0" marL="0" algn="r">
                        <a:buNone/>
                      </a:pPr>
                      <a:r>
                        <a:rPr/>
                        <a:t>0.40</a:t>
                      </a:r>
                    </a:p>
                  </a:txBody>
                </a:tc>
                <a:tc>
                  <a:txBody>
                    <a:bodyPr/>
                    <a:lstStyle/>
                    <a:p>
                      <a:pPr lvl="0" indent="0" marL="0" algn="r">
                        <a:buNone/>
                      </a:pPr>
                      <a:r>
                        <a:rPr/>
                        <a:t>0.28</a:t>
                      </a:r>
                    </a:p>
                  </a:txBody>
                </a:tc>
                <a:tc>
                  <a:txBody>
                    <a:bodyPr/>
                    <a:lstStyle/>
                    <a:p>
                      <a:pPr lvl="0" indent="0" marL="0" algn="r">
                        <a:buNone/>
                      </a:pPr>
                      <a:r>
                        <a:rPr/>
                        <a:t>0.38</a:t>
                      </a:r>
                    </a:p>
                  </a:txBody>
                </a:tc>
                <a:tc>
                  <a:txBody>
                    <a:bodyPr/>
                    <a:lstStyle/>
                    <a:p>
                      <a:pPr lvl="0" indent="0" marL="0" algn="r">
                        <a:buNone/>
                      </a:pPr>
                      <a:r>
                        <a:rPr/>
                        <a:t>0.27</a:t>
                      </a:r>
                    </a:p>
                  </a:txBody>
                </a:tc>
                <a:tc>
                  <a:txBody>
                    <a:bodyPr/>
                    <a:lstStyle/>
                    <a:p>
                      <a:pPr lvl="0" indent="0" marL="0" algn="r">
                        <a:buNone/>
                      </a:pPr>
                      <a:r>
                        <a:rPr/>
                        <a:t>0.28</a:t>
                      </a:r>
                    </a:p>
                  </a:txBody>
                </a:tc>
                <a:tc>
                  <a:txBody>
                    <a:bodyPr/>
                    <a:lstStyle/>
                    <a:p>
                      <a:pPr lvl="0" indent="0" marL="0" algn="r">
                        <a:buNone/>
                      </a:pPr>
                      <a:r>
                        <a:rPr/>
                        <a:t>0.21</a:t>
                      </a:r>
                    </a:p>
                  </a:txBody>
                </a:tc>
              </a:tr>
              <a:tr h="0">
                <a:tc>
                  <a:txBody>
                    <a:bodyPr/>
                    <a:lstStyle/>
                    <a:p>
                      <a:pPr lvl="0" indent="0" marL="0" algn="l">
                        <a:buNone/>
                      </a:pPr>
                      <a:r>
                        <a:rPr/>
                        <a:t>Soft-thresholded weights, |z| &lt; 1 to zero</a:t>
                      </a:r>
                    </a:p>
                  </a:txBody>
                </a:tc>
                <a:tc>
                  <a:txBody>
                    <a:bodyPr/>
                    <a:lstStyle/>
                    <a:p>
                      <a:pPr lvl="0" indent="0" marL="0" algn="r">
                        <a:buNone/>
                      </a:pPr>
                      <a:r>
                        <a:rPr/>
                        <a:t>0.40</a:t>
                      </a:r>
                    </a:p>
                  </a:txBody>
                </a:tc>
                <a:tc>
                  <a:txBody>
                    <a:bodyPr/>
                    <a:lstStyle/>
                    <a:p>
                      <a:pPr lvl="0" indent="0" marL="0" algn="r">
                        <a:buNone/>
                      </a:pPr>
                      <a:r>
                        <a:rPr/>
                        <a:t>0.27</a:t>
                      </a:r>
                    </a:p>
                  </a:txBody>
                </a:tc>
                <a:tc>
                  <a:txBody>
                    <a:bodyPr/>
                    <a:lstStyle/>
                    <a:p>
                      <a:pPr lvl="0" indent="0" marL="0" algn="r">
                        <a:buNone/>
                      </a:pPr>
                      <a:r>
                        <a:rPr/>
                        <a:t>0.37</a:t>
                      </a:r>
                    </a:p>
                  </a:txBody>
                </a:tc>
                <a:tc>
                  <a:txBody>
                    <a:bodyPr/>
                    <a:lstStyle/>
                    <a:p>
                      <a:pPr lvl="0" indent="0" marL="0" algn="r">
                        <a:buNone/>
                      </a:pPr>
                      <a:r>
                        <a:rPr/>
                        <a:t>0.25</a:t>
                      </a:r>
                    </a:p>
                  </a:txBody>
                </a:tc>
                <a:tc>
                  <a:txBody>
                    <a:bodyPr/>
                    <a:lstStyle/>
                    <a:p>
                      <a:pPr lvl="0" indent="0" marL="0" algn="r">
                        <a:buNone/>
                      </a:pPr>
                      <a:r>
                        <a:rPr/>
                        <a:t>0.30</a:t>
                      </a:r>
                    </a:p>
                  </a:txBody>
                </a:tc>
                <a:tc>
                  <a:txBody>
                    <a:bodyPr/>
                    <a:lstStyle/>
                    <a:p>
                      <a:pPr lvl="0" indent="0" marL="0" algn="r">
                        <a:buNone/>
                      </a:pPr>
                      <a:r>
                        <a:rPr/>
                        <a:t>0.20</a:t>
                      </a:r>
                    </a:p>
                  </a:txBody>
                </a:tc>
              </a:tr>
              <a:tr h="0">
                <a:tc>
                  <a:txBody>
                    <a:bodyPr/>
                    <a:lstStyle/>
                    <a:p>
                      <a:pPr lvl="0" indent="0" marL="0" algn="l">
                        <a:buNone/>
                      </a:pPr>
                      <a:r>
                        <a:rPr/>
                        <a:t>Soft-thresholded, |z| &lt; 2 to zero</a:t>
                      </a:r>
                    </a:p>
                  </a:txBody>
                </a:tc>
                <a:tc>
                  <a:txBody>
                    <a:bodyPr/>
                    <a:lstStyle/>
                    <a:p>
                      <a:pPr lvl="0" indent="0" marL="0" algn="r">
                        <a:buNone/>
                      </a:pPr>
                      <a:r>
                        <a:rPr/>
                        <a:t>0.38</a:t>
                      </a:r>
                    </a:p>
                  </a:txBody>
                </a:tc>
                <a:tc>
                  <a:txBody>
                    <a:bodyPr/>
                    <a:lstStyle/>
                    <a:p>
                      <a:pPr lvl="0" indent="0" marL="0" algn="r">
                        <a:buNone/>
                      </a:pPr>
                      <a:r>
                        <a:rPr/>
                        <a:t>0.24</a:t>
                      </a:r>
                    </a:p>
                  </a:txBody>
                </a:tc>
                <a:tc>
                  <a:txBody>
                    <a:bodyPr/>
                    <a:lstStyle/>
                    <a:p>
                      <a:pPr lvl="0" indent="0" marL="0" algn="r">
                        <a:buNone/>
                      </a:pPr>
                      <a:r>
                        <a:rPr/>
                        <a:t>0.35</a:t>
                      </a:r>
                    </a:p>
                  </a:txBody>
                </a:tc>
                <a:tc>
                  <a:txBody>
                    <a:bodyPr/>
                    <a:lstStyle/>
                    <a:p>
                      <a:pPr lvl="0" indent="0" marL="0" algn="r">
                        <a:buNone/>
                      </a:pPr>
                      <a:r>
                        <a:rPr/>
                        <a:t>0.19</a:t>
                      </a:r>
                    </a:p>
                  </a:txBody>
                </a:tc>
                <a:tc>
                  <a:txBody>
                    <a:bodyPr/>
                    <a:lstStyle/>
                    <a:p>
                      <a:pPr lvl="0" indent="0" marL="0" algn="r">
                        <a:buNone/>
                      </a:pPr>
                      <a:r>
                        <a:rPr/>
                        <a:t>0.29</a:t>
                      </a:r>
                    </a:p>
                  </a:txBody>
                </a:tc>
                <a:tc>
                  <a:txBody>
                    <a:bodyPr/>
                    <a:lstStyle/>
                    <a:p>
                      <a:pPr lvl="0" indent="0" marL="0" algn="r">
                        <a:buNone/>
                      </a:pPr>
                      <a:r>
                        <a:rPr/>
                        <a:t>0.14</a:t>
                      </a:r>
                    </a:p>
                  </a:txBody>
                </a:tc>
              </a:tr>
              <a:tr h="0">
                <a:tc>
                  <a:txBody>
                    <a:bodyPr/>
                    <a:lstStyle/>
                    <a:p>
                      <a:pPr lvl="0" indent="0" marL="0" algn="l">
                        <a:buNone/>
                      </a:pPr>
                      <a:r>
                        <a:rPr/>
                        <a:t>Replication-weighted (meta-analysis over blocks)</a:t>
                      </a:r>
                    </a:p>
                  </a:txBody>
                </a:tc>
                <a:tc>
                  <a:txBody>
                    <a:bodyPr/>
                    <a:lstStyle/>
                    <a:p>
                      <a:pPr lvl="0" indent="0" marL="0" algn="r">
                        <a:buNone/>
                      </a:pPr>
                      <a:r>
                        <a:rPr/>
                        <a:t>0.15</a:t>
                      </a:r>
                    </a:p>
                  </a:txBody>
                </a:tc>
                <a:tc>
                  <a:txBody>
                    <a:bodyPr/>
                    <a:lstStyle/>
                    <a:p>
                      <a:pPr lvl="0" indent="0" marL="0" algn="r">
                        <a:buNone/>
                      </a:pPr>
                      <a:r>
                        <a:rPr/>
                        <a:t>0.12</a:t>
                      </a:r>
                    </a:p>
                  </a:txBody>
                </a:tc>
                <a:tc>
                  <a:txBody>
                    <a:bodyPr/>
                    <a:lstStyle/>
                    <a:p>
                      <a:pPr lvl="0" indent="0" marL="0" algn="r">
                        <a:buNone/>
                      </a:pPr>
                      <a:r>
                        <a:rPr/>
                        <a:t>0.11</a:t>
                      </a:r>
                    </a:p>
                  </a:txBody>
                </a:tc>
                <a:tc>
                  <a:txBody>
                    <a:bodyPr/>
                    <a:lstStyle/>
                    <a:p>
                      <a:pPr lvl="0" indent="0" marL="0" algn="r">
                        <a:buNone/>
                      </a:pPr>
                      <a:r>
                        <a:rPr/>
                        <a:t>0.10</a:t>
                      </a:r>
                    </a:p>
                  </a:txBody>
                </a:tc>
                <a:tc>
                  <a:txBody>
                    <a:bodyPr/>
                    <a:lstStyle/>
                    <a:p>
                      <a:pPr lvl="0" indent="0" marL="0" algn="r">
                        <a:buNone/>
                      </a:pPr>
                      <a:r>
                        <a:rPr/>
                        <a:t>0.29</a:t>
                      </a:r>
                    </a:p>
                  </a:txBody>
                </a:tc>
                <a:tc>
                  <a:txBody>
                    <a:bodyPr/>
                    <a:lstStyle/>
                    <a:p>
                      <a:pPr lvl="0" indent="0" marL="0" algn="r">
                        <a:buNone/>
                      </a:pPr>
                      <a:r>
                        <a:rPr/>
                        <a:t>0.18</a:t>
                      </a:r>
                    </a:p>
                  </a:txBody>
                </a:tc>
              </a:tr>
              <a:tr h="0">
                <a:tc>
                  <a:txBody>
                    <a:bodyPr/>
                    <a:lstStyle/>
                    <a:p>
                      <a:pPr lvl="0" indent="0" marL="0" algn="l">
                        <a:buNone/>
                      </a:pPr>
                      <a:r>
                        <a:rPr/>
                        <a:t>Replication-weighted, sign must agree</a:t>
                      </a:r>
                    </a:p>
                  </a:txBody>
                </a:tc>
                <a:tc>
                  <a:txBody>
                    <a:bodyPr/>
                    <a:lstStyle/>
                    <a:p>
                      <a:pPr lvl="0" indent="0" marL="0" algn="r">
                        <a:buNone/>
                      </a:pPr>
                      <a:r>
                        <a:rPr/>
                        <a:t>0.12</a:t>
                      </a:r>
                    </a:p>
                  </a:txBody>
                </a:tc>
                <a:tc>
                  <a:txBody>
                    <a:bodyPr/>
                    <a:lstStyle/>
                    <a:p>
                      <a:pPr lvl="0" indent="0" marL="0" algn="r">
                        <a:buNone/>
                      </a:pPr>
                      <a:r>
                        <a:rPr/>
                        <a:t>0.08</a:t>
                      </a:r>
                    </a:p>
                  </a:txBody>
                </a:tc>
                <a:tc>
                  <a:txBody>
                    <a:bodyPr/>
                    <a:lstStyle/>
                    <a:p>
                      <a:pPr lvl="0" indent="0" marL="0" algn="r">
                        <a:buNone/>
                      </a:pPr>
                      <a:r>
                        <a:rPr/>
                        <a:t>0.07</a:t>
                      </a:r>
                    </a:p>
                  </a:txBody>
                </a:tc>
                <a:tc>
                  <a:txBody>
                    <a:bodyPr/>
                    <a:lstStyle/>
                    <a:p>
                      <a:pPr lvl="0" indent="0" marL="0" algn="r">
                        <a:buNone/>
                      </a:pPr>
                      <a:r>
                        <a:rPr/>
                        <a:t>0.02</a:t>
                      </a:r>
                    </a:p>
                  </a:txBody>
                </a:tc>
                <a:tc>
                  <a:txBody>
                    <a:bodyPr/>
                    <a:lstStyle/>
                    <a:p>
                      <a:pPr lvl="0" indent="0" marL="0" algn="r">
                        <a:buNone/>
                      </a:pPr>
                      <a:r>
                        <a:rPr/>
                        <a:t>0.29</a:t>
                      </a:r>
                    </a:p>
                  </a:txBody>
                </a:tc>
                <a:tc>
                  <a:txBody>
                    <a:bodyPr/>
                    <a:lstStyle/>
                    <a:p>
                      <a:pPr lvl="0" indent="0" marL="0" algn="r">
                        <a:buNone/>
                      </a:pPr>
                      <a:r>
                        <a:rPr/>
                        <a:t>0.15</a:t>
                      </a:r>
                    </a:p>
                  </a:txBody>
                </a:tc>
              </a:tr>
              <a:tr h="0">
                <a:tc>
                  <a:txBody>
                    <a:bodyPr/>
                    <a:lstStyle/>
                    <a:p>
                      <a:pPr lvl="0" indent="0" marL="0" algn="l">
                        <a:buNone/>
                      </a:pPr>
                      <a:r>
                        <a:rPr/>
                        <a:t>Decorrelated across domains, then weighted</a:t>
                      </a:r>
                    </a:p>
                  </a:txBody>
                </a:tc>
                <a:tc>
                  <a:txBody>
                    <a:bodyPr/>
                    <a:lstStyle/>
                    <a:p>
                      <a:pPr lvl="0" indent="0" marL="0" algn="r">
                        <a:buNone/>
                      </a:pPr>
                      <a:r>
                        <a:rPr/>
                        <a:t>0.40</a:t>
                      </a:r>
                    </a:p>
                  </a:txBody>
                </a:tc>
                <a:tc>
                  <a:txBody>
                    <a:bodyPr/>
                    <a:lstStyle/>
                    <a:p>
                      <a:pPr lvl="0" indent="0" marL="0" algn="r">
                        <a:buNone/>
                      </a:pPr>
                      <a:r>
                        <a:rPr/>
                        <a:t>0.28</a:t>
                      </a:r>
                    </a:p>
                  </a:txBody>
                </a:tc>
                <a:tc>
                  <a:txBody>
                    <a:bodyPr/>
                    <a:lstStyle/>
                    <a:p>
                      <a:pPr lvl="0" indent="0" marL="0" algn="r">
                        <a:buNone/>
                      </a:pPr>
                      <a:r>
                        <a:rPr/>
                        <a:t>0.38</a:t>
                      </a:r>
                    </a:p>
                  </a:txBody>
                </a:tc>
                <a:tc>
                  <a:txBody>
                    <a:bodyPr/>
                    <a:lstStyle/>
                    <a:p>
                      <a:pPr lvl="0" indent="0" marL="0" algn="r">
                        <a:buNone/>
                      </a:pPr>
                      <a:r>
                        <a:rPr/>
                        <a:t>0.26</a:t>
                      </a:r>
                    </a:p>
                  </a:txBody>
                </a:tc>
                <a:tc>
                  <a:txBody>
                    <a:bodyPr/>
                    <a:lstStyle/>
                    <a:p>
                      <a:pPr lvl="0" indent="0" marL="0" algn="r">
                        <a:buNone/>
                      </a:pPr>
                      <a:r>
                        <a:rPr/>
                        <a:t>0.30</a:t>
                      </a:r>
                    </a:p>
                  </a:txBody>
                </a:tc>
                <a:tc>
                  <a:txBody>
                    <a:bodyPr/>
                    <a:lstStyle/>
                    <a:p>
                      <a:pPr lvl="0" indent="0" marL="0" algn="r">
                        <a:buNone/>
                      </a:pPr>
                      <a:r>
                        <a:rPr/>
                        <a:t>0.20</a:t>
                      </a:r>
                    </a:p>
                  </a:txBody>
                </a:tc>
              </a:tr>
              <a:tr h="0">
                <a:tc>
                  <a:txBody>
                    <a:bodyPr/>
                    <a:lstStyle/>
                    <a:p>
                      <a:pPr lvl="0" indent="0" marL="0" algn="l">
                        <a:buNone/>
                      </a:pPr>
                      <a:r>
                        <a:rPr/>
                        <a:t>Ridge, penalty by inner CV</a:t>
                      </a:r>
                    </a:p>
                  </a:txBody>
                </a:tc>
                <a:tc>
                  <a:txBody>
                    <a:bodyPr/>
                    <a:lstStyle/>
                    <a:p>
                      <a:pPr lvl="0" indent="0" marL="0" algn="r">
                        <a:buNone/>
                      </a:pPr>
                      <a:r>
                        <a:rPr/>
                        <a:t>0.35</a:t>
                      </a:r>
                    </a:p>
                  </a:txBody>
                </a:tc>
                <a:tc>
                  <a:txBody>
                    <a:bodyPr/>
                    <a:lstStyle/>
                    <a:p>
                      <a:pPr lvl="0" indent="0" marL="0" algn="r">
                        <a:buNone/>
                      </a:pPr>
                      <a:r>
                        <a:rPr/>
                        <a:t>0.21</a:t>
                      </a:r>
                    </a:p>
                  </a:txBody>
                </a:tc>
                <a:tc>
                  <a:txBody>
                    <a:bodyPr/>
                    <a:lstStyle/>
                    <a:p>
                      <a:pPr lvl="0" indent="0" marL="0" algn="r">
                        <a:buNone/>
                      </a:pPr>
                      <a:r>
                        <a:rPr/>
                        <a:t>0.29</a:t>
                      </a:r>
                    </a:p>
                  </a:txBody>
                </a:tc>
                <a:tc>
                  <a:txBody>
                    <a:bodyPr/>
                    <a:lstStyle/>
                    <a:p>
                      <a:pPr lvl="0" indent="0" marL="0" algn="r">
                        <a:buNone/>
                      </a:pPr>
                      <a:r>
                        <a:rPr/>
                        <a:t>0.10</a:t>
                      </a:r>
                    </a:p>
                  </a:txBody>
                </a:tc>
                <a:tc>
                  <a:txBody>
                    <a:bodyPr/>
                    <a:lstStyle/>
                    <a:p>
                      <a:pPr lvl="0" indent="0" marL="0" algn="r">
                        <a:buNone/>
                      </a:pPr>
                      <a:r>
                        <a:rPr/>
                        <a:t>0.29</a:t>
                      </a:r>
                    </a:p>
                  </a:txBody>
                </a:tc>
                <a:tc>
                  <a:txBody>
                    <a:bodyPr/>
                    <a:lstStyle/>
                    <a:p>
                      <a:pPr lvl="0" indent="0" marL="0" algn="r">
                        <a:buNone/>
                      </a:pPr>
                      <a:r>
                        <a:rPr/>
                        <a:t>0.20</a:t>
                      </a:r>
                    </a:p>
                  </a:txBody>
                </a:tc>
              </a:tr>
              <a:tr h="0">
                <a:tc>
                  <a:txBody>
                    <a:bodyPr/>
                    <a:lstStyle/>
                    <a:p>
                      <a:pPr lvl="0" indent="0" marL="0" algn="l">
                        <a:buNone/>
                      </a:pPr>
                      <a:r>
                        <a:rPr/>
                        <a:t>Ridge, penalty by nested block CV on rank</a:t>
                      </a:r>
                    </a:p>
                  </a:txBody>
                </a:tc>
                <a:tc>
                  <a:txBody>
                    <a:bodyPr/>
                    <a:lstStyle/>
                    <a:p>
                      <a:pPr lvl="0" indent="0" marL="0" algn="r">
                        <a:buNone/>
                      </a:pPr>
                      <a:r>
                        <a:rPr/>
                        <a:t>0.36</a:t>
                      </a:r>
                    </a:p>
                  </a:txBody>
                </a:tc>
                <a:tc>
                  <a:txBody>
                    <a:bodyPr/>
                    <a:lstStyle/>
                    <a:p>
                      <a:pPr lvl="0" indent="0" marL="0" algn="r">
                        <a:buNone/>
                      </a:pPr>
                      <a:r>
                        <a:rPr/>
                        <a:t>0.24</a:t>
                      </a:r>
                    </a:p>
                  </a:txBody>
                </a:tc>
                <a:tc>
                  <a:txBody>
                    <a:bodyPr/>
                    <a:lstStyle/>
                    <a:p>
                      <a:pPr lvl="0" indent="0" marL="0" algn="r">
                        <a:buNone/>
                      </a:pPr>
                      <a:r>
                        <a:rPr/>
                        <a:t>0.34</a:t>
                      </a:r>
                    </a:p>
                  </a:txBody>
                </a:tc>
                <a:tc>
                  <a:txBody>
                    <a:bodyPr/>
                    <a:lstStyle/>
                    <a:p>
                      <a:pPr lvl="0" indent="0" marL="0" algn="r">
                        <a:buNone/>
                      </a:pPr>
                      <a:r>
                        <a:rPr/>
                        <a:t>0.20</a:t>
                      </a:r>
                    </a:p>
                  </a:txBody>
                </a:tc>
                <a:tc>
                  <a:txBody>
                    <a:bodyPr/>
                    <a:lstStyle/>
                    <a:p>
                      <a:pPr lvl="0" indent="0" marL="0" algn="r">
                        <a:buNone/>
                      </a:pPr>
                      <a:r>
                        <a:rPr/>
                        <a:t>0.29</a:t>
                      </a:r>
                    </a:p>
                  </a:txBody>
                </a:tc>
                <a:tc>
                  <a:txBody>
                    <a:bodyPr/>
                    <a:lstStyle/>
                    <a:p>
                      <a:pPr lvl="0" indent="0" marL="0" algn="r">
                        <a:buNone/>
                      </a:pPr>
                      <a:r>
                        <a:rPr/>
                        <a:t>0.21</a:t>
                      </a:r>
                    </a:p>
                  </a:txBody>
                </a:tc>
              </a:tr>
              <a:tr h="0">
                <a:tc>
                  <a:txBody>
                    <a:bodyPr/>
                    <a:lstStyle/>
                    <a:p>
                      <a:pPr lvl="0" indent="0" marL="0" algn="l">
                        <a:buNone/>
                      </a:pPr>
                      <a:r>
                        <a:rPr/>
                        <a:t>Elastic net, lambda.min (the deck’s comparator)</a:t>
                      </a:r>
                    </a:p>
                  </a:txBody>
                </a:tc>
                <a:tc>
                  <a:txBody>
                    <a:bodyPr/>
                    <a:lstStyle/>
                    <a:p>
                      <a:pPr lvl="0" indent="0" marL="0" algn="r">
                        <a:buNone/>
                      </a:pPr>
                      <a:r>
                        <a:rPr/>
                        <a:t>0.32</a:t>
                      </a:r>
                    </a:p>
                  </a:txBody>
                </a:tc>
                <a:tc>
                  <a:txBody>
                    <a:bodyPr/>
                    <a:lstStyle/>
                    <a:p>
                      <a:pPr lvl="0" indent="0" marL="0" algn="r">
                        <a:buNone/>
                      </a:pPr>
                      <a:r>
                        <a:rPr/>
                        <a:t>0.15</a:t>
                      </a:r>
                    </a:p>
                  </a:txBody>
                </a:tc>
                <a:tc>
                  <a:txBody>
                    <a:bodyPr/>
                    <a:lstStyle/>
                    <a:p>
                      <a:pPr lvl="0" indent="0" marL="0" algn="r">
                        <a:buNone/>
                      </a:pPr>
                      <a:r>
                        <a:rPr/>
                        <a:t>0.26</a:t>
                      </a:r>
                    </a:p>
                  </a:txBody>
                </a:tc>
                <a:tc>
                  <a:txBody>
                    <a:bodyPr/>
                    <a:lstStyle/>
                    <a:p>
                      <a:pPr lvl="0" indent="0" marL="0" algn="r">
                        <a:buNone/>
                      </a:pPr>
                      <a:r>
                        <a:rPr/>
                        <a:t>0.05</a:t>
                      </a:r>
                    </a:p>
                  </a:txBody>
                </a:tc>
                <a:tc>
                  <a:txBody>
                    <a:bodyPr/>
                    <a:lstStyle/>
                    <a:p>
                      <a:pPr lvl="0" indent="0" marL="0" algn="r">
                        <a:buNone/>
                      </a:pPr>
                      <a:r>
                        <a:rPr/>
                        <a:t>0.26</a:t>
                      </a:r>
                    </a:p>
                  </a:txBody>
                </a:tc>
                <a:tc>
                  <a:txBody>
                    <a:bodyPr/>
                    <a:lstStyle/>
                    <a:p>
                      <a:pPr lvl="0" indent="0" marL="0" algn="r">
                        <a:buNone/>
                      </a:pPr>
                      <a:r>
                        <a:rPr/>
                        <a:t>0.18</a:t>
                      </a:r>
                    </a:p>
                  </a:txBody>
                </a:tc>
              </a:tr>
              <a:tr h="0">
                <a:tc>
                  <a:txBody>
                    <a:bodyPr/>
                    <a:lstStyle/>
                    <a:p>
                      <a:pPr lvl="0" indent="0" marL="0" algn="l">
                        <a:buNone/>
                      </a:pPr>
                      <a:r>
                        <a:rPr/>
                        <a:t>Elastic net, lambda.1se</a:t>
                      </a:r>
                    </a:p>
                  </a:txBody>
                </a:tc>
                <a:tc>
                  <a:txBody>
                    <a:bodyPr/>
                    <a:lstStyle/>
                    <a:p>
                      <a:pPr lvl="0" indent="0" marL="0" algn="r">
                        <a:buNone/>
                      </a:pPr>
                      <a:r>
                        <a:rPr/>
                        <a:t>0.16</a:t>
                      </a:r>
                    </a:p>
                  </a:txBody>
                </a:tc>
                <a:tc>
                  <a:txBody>
                    <a:bodyPr/>
                    <a:lstStyle/>
                    <a:p>
                      <a:pPr lvl="0" indent="0" marL="0" algn="r">
                        <a:buNone/>
                      </a:pPr>
                      <a:r>
                        <a:rPr/>
                        <a:t>-0.03</a:t>
                      </a:r>
                    </a:p>
                  </a:txBody>
                </a:tc>
                <a:tc>
                  <a:txBody>
                    <a:bodyPr/>
                    <a:lstStyle/>
                    <a:p>
                      <a:pPr lvl="0" indent="0" marL="0" algn="r">
                        <a:buNone/>
                      </a:pPr>
                      <a:r>
                        <a:rPr/>
                        <a:t>0.00</a:t>
                      </a:r>
                    </a:p>
                  </a:txBody>
                </a:tc>
                <a:tc>
                  <a:txBody>
                    <a:bodyPr/>
                    <a:lstStyle/>
                    <a:p>
                      <a:pPr lvl="0" indent="0" marL="0" algn="r">
                        <a:buNone/>
                      </a:pPr>
                      <a:r>
                        <a:rPr/>
                        <a:t>-0.28</a:t>
                      </a:r>
                    </a:p>
                  </a:txBody>
                </a:tc>
                <a:tc>
                  <a:txBody>
                    <a:bodyPr/>
                    <a:lstStyle/>
                    <a:p>
                      <a:pPr lvl="0" indent="0" marL="0" algn="r">
                        <a:buNone/>
                      </a:pPr>
                      <a:r>
                        <a:rPr/>
                        <a:t>0.19</a:t>
                      </a:r>
                    </a:p>
                  </a:txBody>
                </a:tc>
                <a:tc>
                  <a:txBody>
                    <a:bodyPr/>
                    <a:lstStyle/>
                    <a:p>
                      <a:pPr lvl="0" indent="0" marL="0" algn="r">
                        <a:buNone/>
                      </a:pPr>
                      <a:r>
                        <a:rPr/>
                        <a:t>0.18</a:t>
                      </a:r>
                    </a:p>
                  </a:txBody>
                </a:tc>
              </a:tr>
              <a:tr h="0">
                <a:tc>
                  <a:txBody>
                    <a:bodyPr/>
                    <a:lstStyle/>
                    <a:p>
                      <a:pPr lvl="0" indent="0" marL="0" algn="l">
                        <a:buNone/>
                      </a:pPr>
                      <a:r>
                        <a:rPr/>
                        <a:t>Elastic net, nested block CV on rank</a:t>
                      </a:r>
                    </a:p>
                  </a:txBody>
                </a:tc>
                <a:tc>
                  <a:txBody>
                    <a:bodyPr/>
                    <a:lstStyle/>
                    <a:p>
                      <a:pPr lvl="0" indent="0" marL="0" algn="r">
                        <a:buNone/>
                      </a:pPr>
                      <a:r>
                        <a:rPr/>
                        <a:t>0.32</a:t>
                      </a:r>
                    </a:p>
                  </a:txBody>
                </a:tc>
                <a:tc>
                  <a:txBody>
                    <a:bodyPr/>
                    <a:lstStyle/>
                    <a:p>
                      <a:pPr lvl="0" indent="0" marL="0" algn="r">
                        <a:buNone/>
                      </a:pPr>
                      <a:r>
                        <a:rPr/>
                        <a:t>0.20</a:t>
                      </a:r>
                    </a:p>
                  </a:txBody>
                </a:tc>
                <a:tc>
                  <a:txBody>
                    <a:bodyPr/>
                    <a:lstStyle/>
                    <a:p>
                      <a:pPr lvl="0" indent="0" marL="0" algn="r">
                        <a:buNone/>
                      </a:pPr>
                      <a:r>
                        <a:rPr/>
                        <a:t>0.31</a:t>
                      </a:r>
                    </a:p>
                  </a:txBody>
                </a:tc>
                <a:tc>
                  <a:txBody>
                    <a:bodyPr/>
                    <a:lstStyle/>
                    <a:p>
                      <a:pPr lvl="0" indent="0" marL="0" algn="r">
                        <a:buNone/>
                      </a:pPr>
                      <a:r>
                        <a:rPr/>
                        <a:t>0.15</a:t>
                      </a:r>
                    </a:p>
                  </a:txBody>
                </a:tc>
                <a:tc>
                  <a:txBody>
                    <a:bodyPr/>
                    <a:lstStyle/>
                    <a:p>
                      <a:pPr lvl="0" indent="0" marL="0" algn="r">
                        <a:buNone/>
                      </a:pPr>
                      <a:r>
                        <a:rPr/>
                        <a:t>0.24</a:t>
                      </a:r>
                    </a:p>
                  </a:txBody>
                </a:tc>
                <a:tc>
                  <a:txBody>
                    <a:bodyPr/>
                    <a:lstStyle/>
                    <a:p>
                      <a:pPr lvl="0" indent="0" marL="0" algn="r">
                        <a:buNone/>
                      </a:pPr>
                      <a:r>
                        <a:rPr/>
                        <a:t>0.13</a:t>
                      </a:r>
                    </a:p>
                  </a:txBody>
                </a:tc>
              </a:tr>
              <a:tr h="0">
                <a:tc>
                  <a:txBody>
                    <a:bodyPr/>
                    <a:lstStyle/>
                    <a:p>
                      <a:pPr lvl="0" indent="0" marL="0" algn="l">
                        <a:buNone/>
                      </a:pPr>
                      <a:r>
                        <a:rPr/>
                        <a:t>Lasso, lambda.min</a:t>
                      </a:r>
                    </a:p>
                  </a:txBody>
                </a:tc>
                <a:tc>
                  <a:txBody>
                    <a:bodyPr/>
                    <a:lstStyle/>
                    <a:p>
                      <a:pPr lvl="0" indent="0" marL="0" algn="r">
                        <a:buNone/>
                      </a:pPr>
                      <a:r>
                        <a:rPr/>
                        <a:t>0.32</a:t>
                      </a:r>
                    </a:p>
                  </a:txBody>
                </a:tc>
                <a:tc>
                  <a:txBody>
                    <a:bodyPr/>
                    <a:lstStyle/>
                    <a:p>
                      <a:pPr lvl="0" indent="0" marL="0" algn="r">
                        <a:buNone/>
                      </a:pPr>
                      <a:r>
                        <a:rPr/>
                        <a:t>0.15</a:t>
                      </a:r>
                    </a:p>
                  </a:txBody>
                </a:tc>
                <a:tc>
                  <a:txBody>
                    <a:bodyPr/>
                    <a:lstStyle/>
                    <a:p>
                      <a:pPr lvl="0" indent="0" marL="0" algn="r">
                        <a:buNone/>
                      </a:pPr>
                      <a:r>
                        <a:rPr/>
                        <a:t>0.28</a:t>
                      </a:r>
                    </a:p>
                  </a:txBody>
                </a:tc>
                <a:tc>
                  <a:txBody>
                    <a:bodyPr/>
                    <a:lstStyle/>
                    <a:p>
                      <a:pPr lvl="0" indent="0" marL="0" algn="r">
                        <a:buNone/>
                      </a:pPr>
                      <a:r>
                        <a:rPr/>
                        <a:t>0.06</a:t>
                      </a:r>
                    </a:p>
                  </a:txBody>
                </a:tc>
                <a:tc>
                  <a:txBody>
                    <a:bodyPr/>
                    <a:lstStyle/>
                    <a:p>
                      <a:pPr lvl="0" indent="0" marL="0" algn="r">
                        <a:buNone/>
                      </a:pPr>
                      <a:r>
                        <a:rPr/>
                        <a:t>0.27</a:t>
                      </a:r>
                    </a:p>
                  </a:txBody>
                </a:tc>
                <a:tc>
                  <a:txBody>
                    <a:bodyPr/>
                    <a:lstStyle/>
                    <a:p>
                      <a:pPr lvl="0" indent="0" marL="0" algn="r">
                        <a:buNone/>
                      </a:pPr>
                      <a:r>
                        <a:rPr/>
                        <a:t>0.15</a:t>
                      </a:r>
                    </a:p>
                  </a:txBody>
                </a:tc>
              </a:tr>
              <a:tr h="0">
                <a:tc>
                  <a:txBody>
                    <a:bodyPr/>
                    <a:lstStyle/>
                    <a:p>
                      <a:pPr lvl="0" indent="0" marL="0" algn="l">
                        <a:buNone/>
                      </a:pPr>
                      <a:r>
                        <a:rPr/>
                        <a:t>Lasso, lambda.1se</a:t>
                      </a:r>
                    </a:p>
                  </a:txBody>
                </a:tc>
                <a:tc>
                  <a:txBody>
                    <a:bodyPr/>
                    <a:lstStyle/>
                    <a:p>
                      <a:pPr lvl="0" indent="0" marL="0" algn="r">
                        <a:buNone/>
                      </a:pPr>
                      <a:r>
                        <a:rPr/>
                        <a:t>0.19</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-0.29</a:t>
                      </a:r>
                    </a:p>
                  </a:txBody>
                </a:tc>
                <a:tc>
                  <a:txBody>
                    <a:bodyPr/>
                    <a:lstStyle/>
                    <a:p>
                      <a:pPr lvl="0" indent="0" marL="0" algn="r">
                        <a:buNone/>
                      </a:pPr>
                      <a:r>
                        <a:rPr/>
                        <a:t>0.25</a:t>
                      </a:r>
                    </a:p>
                  </a:txBody>
                </a:tc>
                <a:tc>
                  <a:txBody>
                    <a:bodyPr/>
                    <a:lstStyle/>
                    <a:p>
                      <a:pPr lvl="0" indent="0" marL="0" algn="r">
                        <a:buNone/>
                      </a:pPr>
                      <a:r>
                        <a:rPr/>
                        <a:t>0.09</a:t>
                      </a:r>
                    </a:p>
                  </a:txBody>
                </a:tc>
              </a:tr>
              <a:tr h="0">
                <a:tc>
                  <a:txBody>
                    <a:bodyPr/>
                    <a:lstStyle/>
                    <a:p>
                      <a:pPr lvl="0" indent="0" marL="0" algn="l">
                        <a:buNone/>
                      </a:pPr>
                      <a:r>
                        <a:rPr/>
                        <a:t>Lasso, nested block CV on rank</a:t>
                      </a:r>
                    </a:p>
                  </a:txBody>
                </a:tc>
                <a:tc>
                  <a:txBody>
                    <a:bodyPr/>
                    <a:lstStyle/>
                    <a:p>
                      <a:pPr lvl="0" indent="0" marL="0" algn="r">
                        <a:buNone/>
                      </a:pPr>
                      <a:r>
                        <a:rPr/>
                        <a:t>0.33</a:t>
                      </a:r>
                    </a:p>
                  </a:txBody>
                </a:tc>
                <a:tc>
                  <a:txBody>
                    <a:bodyPr/>
                    <a:lstStyle/>
                    <a:p>
                      <a:pPr lvl="0" indent="0" marL="0" algn="r">
                        <a:buNone/>
                      </a:pPr>
                      <a:r>
                        <a:rPr/>
                        <a:t>0.20</a:t>
                      </a:r>
                    </a:p>
                  </a:txBody>
                </a:tc>
                <a:tc>
                  <a:txBody>
                    <a:bodyPr/>
                    <a:lstStyle/>
                    <a:p>
                      <a:pPr lvl="0" indent="0" marL="0" algn="r">
                        <a:buNone/>
                      </a:pPr>
                      <a:r>
                        <a:rPr/>
                        <a:t>0.32</a:t>
                      </a:r>
                    </a:p>
                  </a:txBody>
                </a:tc>
                <a:tc>
                  <a:txBody>
                    <a:bodyPr/>
                    <a:lstStyle/>
                    <a:p>
                      <a:pPr lvl="0" indent="0" marL="0" algn="r">
                        <a:buNone/>
                      </a:pPr>
                      <a:r>
                        <a:rPr/>
                        <a:t>0.15</a:t>
                      </a:r>
                    </a:p>
                  </a:txBody>
                </a:tc>
                <a:tc>
                  <a:txBody>
                    <a:bodyPr/>
                    <a:lstStyle/>
                    <a:p>
                      <a:pPr lvl="0" indent="0" marL="0" algn="r">
                        <a:buNone/>
                      </a:pPr>
                      <a:r>
                        <a:rPr/>
                        <a:t>0.25</a:t>
                      </a:r>
                    </a:p>
                  </a:txBody>
                </a:tc>
                <a:tc>
                  <a:txBody>
                    <a:bodyPr/>
                    <a:lstStyle/>
                    <a:p>
                      <a:pPr lvl="0" indent="0" marL="0" algn="r">
                        <a:buNone/>
                      </a:pPr>
                      <a:r>
                        <a:rPr/>
                        <a:t>0.12</a:t>
                      </a:r>
                    </a:p>
                  </a:txBody>
                </a:tc>
              </a:tr>
              <a:tr h="0">
                <a:tc>
                  <a:txBody>
                    <a:bodyPr/>
                    <a:lstStyle/>
                    <a:p>
                      <a:pPr lvl="0" indent="0" marL="0" algn="l">
                        <a:buNone/>
                      </a:pPr>
                      <a:r>
                        <a:rPr/>
                        <a:t>Ridge, nested rank CV, one-SE rule</a:t>
                      </a:r>
                    </a:p>
                  </a:txBody>
                </a:tc>
                <a:tc>
                  <a:txBody>
                    <a:bodyPr/>
                    <a:lstStyle/>
                    <a:p>
                      <a:pPr lvl="0" indent="0" marL="0" algn="r">
                        <a:buNone/>
                      </a:pPr>
                      <a:r>
                        <a:rPr/>
                        <a:t>0.31</a:t>
                      </a:r>
                    </a:p>
                  </a:txBody>
                </a:tc>
                <a:tc>
                  <a:txBody>
                    <a:bodyPr/>
                    <a:lstStyle/>
                    <a:p>
                      <a:pPr lvl="0" indent="0" marL="0" algn="r">
                        <a:buNone/>
                      </a:pPr>
                      <a:r>
                        <a:rPr/>
                        <a:t>0.21</a:t>
                      </a:r>
                    </a:p>
                  </a:txBody>
                </a:tc>
                <a:tc>
                  <a:txBody>
                    <a:bodyPr/>
                    <a:lstStyle/>
                    <a:p>
                      <a:pPr lvl="0" indent="0" marL="0" algn="r">
                        <a:buNone/>
                      </a:pPr>
                      <a:r>
                        <a:rPr/>
                        <a:t>0.26</a:t>
                      </a:r>
                    </a:p>
                  </a:txBody>
                </a:tc>
                <a:tc>
                  <a:txBody>
                    <a:bodyPr/>
                    <a:lstStyle/>
                    <a:p>
                      <a:pPr lvl="0" indent="0" marL="0" algn="r">
                        <a:buNone/>
                      </a:pPr>
                      <a:r>
                        <a:rPr/>
                        <a:t>0.10</a:t>
                      </a:r>
                    </a:p>
                  </a:txBody>
                </a:tc>
                <a:tc>
                  <a:txBody>
                    <a:bodyPr/>
                    <a:lstStyle/>
                    <a:p>
                      <a:pPr lvl="0" indent="0" marL="0" algn="r">
                        <a:buNone/>
                      </a:pPr>
                      <a:r>
                        <a:rPr/>
                        <a:t>0.34</a:t>
                      </a:r>
                    </a:p>
                  </a:txBody>
                </a:tc>
                <a:tc>
                  <a:txBody>
                    <a:bodyPr/>
                    <a:lstStyle/>
                    <a:p>
                      <a:pPr lvl="0" indent="0" marL="0" algn="r">
                        <a:buNone/>
                      </a:pPr>
                      <a:r>
                        <a:rPr/>
                        <a:t>0.11</a:t>
                      </a:r>
                    </a:p>
                  </a:txBody>
                </a:tc>
              </a:tr>
              <a:tr h="0">
                <a:tc>
                  <a:txBody>
                    <a:bodyPr/>
                    <a:lstStyle/>
                    <a:p>
                      <a:pPr lvl="0" indent="0" marL="0" algn="l">
                        <a:buNone/>
                      </a:pPr>
                      <a:r>
                        <a:rPr/>
                        <a:t>Elastic net, nested rank CV, one-SE rule</a:t>
                      </a:r>
                    </a:p>
                  </a:txBody>
                </a:tc>
                <a:tc>
                  <a:txBody>
                    <a:bodyPr/>
                    <a:lstStyle/>
                    <a:p>
                      <a:pPr lvl="0" indent="0" marL="0" algn="r">
                        <a:buNone/>
                      </a:pPr>
                      <a:r>
                        <a:rPr/>
                        <a:t>0.32</a:t>
                      </a:r>
                    </a:p>
                  </a:txBody>
                </a:tc>
                <a:tc>
                  <a:txBody>
                    <a:bodyPr/>
                    <a:lstStyle/>
                    <a:p>
                      <a:pPr lvl="0" indent="0" marL="0" algn="r">
                        <a:buNone/>
                      </a:pPr>
                      <a:r>
                        <a:rPr/>
                        <a:t>0.21</a:t>
                      </a:r>
                    </a:p>
                  </a:txBody>
                </a:tc>
                <a:tc>
                  <a:txBody>
                    <a:bodyPr/>
                    <a:lstStyle/>
                    <a:p>
                      <a:pPr lvl="0" indent="0" marL="0" algn="r">
                        <a:buNone/>
                      </a:pPr>
                      <a:r>
                        <a:rPr/>
                        <a:t>0.30</a:t>
                      </a:r>
                    </a:p>
                  </a:txBody>
                </a:tc>
                <a:tc>
                  <a:txBody>
                    <a:bodyPr/>
                    <a:lstStyle/>
                    <a:p>
                      <a:pPr lvl="0" indent="0" marL="0" algn="r">
                        <a:buNone/>
                      </a:pPr>
                      <a:r>
                        <a:rPr/>
                        <a:t>0.15</a:t>
                      </a:r>
                    </a:p>
                  </a:txBody>
                </a:tc>
                <a:tc>
                  <a:txBody>
                    <a:bodyPr/>
                    <a:lstStyle/>
                    <a:p>
                      <a:pPr lvl="0" indent="0" marL="0" algn="r">
                        <a:buNone/>
                      </a:pPr>
                      <a:r>
                        <a:rPr/>
                        <a:t>0.28</a:t>
                      </a:r>
                    </a:p>
                  </a:txBody>
                </a:tc>
                <a:tc>
                  <a:txBody>
                    <a:bodyPr/>
                    <a:lstStyle/>
                    <a:p>
                      <a:pPr lvl="0" indent="0" marL="0" algn="r">
                        <a:buNone/>
                      </a:pPr>
                      <a:r>
                        <a:rPr/>
                        <a:t>0.15</a:t>
                      </a:r>
                    </a:p>
                  </a:txBody>
                </a:tc>
              </a:tr>
              <a:tr h="0">
                <a:tc>
                  <a:txBody>
                    <a:bodyPr/>
                    <a:lstStyle/>
                    <a:p>
                      <a:pPr lvl="0" indent="0" marL="0" algn="l">
                        <a:buNone/>
                      </a:pPr>
                      <a:r>
                        <a:rPr/>
                        <a:t>Lasso, nested rank CV, one-SE rule</a:t>
                      </a:r>
                    </a:p>
                  </a:txBody>
                </a:tc>
                <a:tc>
                  <a:txBody>
                    <a:bodyPr/>
                    <a:lstStyle/>
                    <a:p>
                      <a:pPr lvl="0" indent="0" marL="0" algn="r">
                        <a:buNone/>
                      </a:pPr>
                      <a:r>
                        <a:rPr/>
                        <a:t>0.32</a:t>
                      </a:r>
                    </a:p>
                  </a:txBody>
                </a:tc>
                <a:tc>
                  <a:txBody>
                    <a:bodyPr/>
                    <a:lstStyle/>
                    <a:p>
                      <a:pPr lvl="0" indent="0" marL="0" algn="r">
                        <a:buNone/>
                      </a:pPr>
                      <a:r>
                        <a:rPr/>
                        <a:t>0.20</a:t>
                      </a:r>
                    </a:p>
                  </a:txBody>
                </a:tc>
                <a:tc>
                  <a:txBody>
                    <a:bodyPr/>
                    <a:lstStyle/>
                    <a:p>
                      <a:pPr lvl="0" indent="0" marL="0" algn="r">
                        <a:buNone/>
                      </a:pPr>
                      <a:r>
                        <a:rPr/>
                        <a:t>0.30</a:t>
                      </a:r>
                    </a:p>
                  </a:txBody>
                </a:tc>
                <a:tc>
                  <a:txBody>
                    <a:bodyPr/>
                    <a:lstStyle/>
                    <a:p>
                      <a:pPr lvl="0" indent="0" marL="0" algn="r">
                        <a:buNone/>
                      </a:pPr>
                      <a:r>
                        <a:rPr/>
                        <a:t>0.17</a:t>
                      </a:r>
                    </a:p>
                  </a:txBody>
                </a:tc>
                <a:tc>
                  <a:txBody>
                    <a:bodyPr/>
                    <a:lstStyle/>
                    <a:p>
                      <a:pPr lvl="0" indent="0" marL="0" algn="r">
                        <a:buNone/>
                      </a:pPr>
                      <a:r>
                        <a:rPr/>
                        <a:t>0.28</a:t>
                      </a:r>
                    </a:p>
                  </a:txBody>
                </a:tc>
                <a:tc>
                  <a:txBody>
                    <a:bodyPr/>
                    <a:lstStyle/>
                    <a:p>
                      <a:pPr lvl="0" indent="0" marL="0" algn="r">
                        <a:buNone/>
                      </a:pPr>
                      <a:r>
                        <a:rPr/>
                        <a:t>0.13</a:t>
                      </a:r>
                    </a:p>
                  </a:txBody>
                </a:tc>
              </a:tr>
              <a:tr h="0">
                <a:tc>
                  <a:txBody>
                    <a:bodyPr/>
                    <a:lstStyle/>
                    <a:p>
                      <a:pPr lvl="0" indent="0" marL="0" algn="l">
                        <a:buNone/>
                      </a:pPr>
                      <a:r>
                        <a:rPr/>
                        <a:t>Sparse: top 5 predictors, equal weights</a:t>
                      </a:r>
                    </a:p>
                  </a:txBody>
                </a:tc>
                <a:tc>
                  <a:txBody>
                    <a:bodyPr/>
                    <a:lstStyle/>
                    <a:p>
                      <a:pPr lvl="0" indent="0" marL="0" algn="r">
                        <a:buNone/>
                      </a:pPr>
                      <a:r>
                        <a:rPr/>
                        <a:t>0.30</a:t>
                      </a:r>
                    </a:p>
                  </a:txBody>
                </a:tc>
                <a:tc>
                  <a:txBody>
                    <a:bodyPr/>
                    <a:lstStyle/>
                    <a:p>
                      <a:pPr lvl="0" indent="0" marL="0" algn="r">
                        <a:buNone/>
                      </a:pPr>
                      <a:r>
                        <a:rPr/>
                        <a:t>0.19</a:t>
                      </a:r>
                    </a:p>
                  </a:txBody>
                </a:tc>
                <a:tc>
                  <a:txBody>
                    <a:bodyPr/>
                    <a:lstStyle/>
                    <a:p>
                      <a:pPr lvl="0" indent="0" marL="0" algn="r">
                        <a:buNone/>
                      </a:pPr>
                      <a:r>
                        <a:rPr/>
                        <a:t>0.27</a:t>
                      </a:r>
                    </a:p>
                  </a:txBody>
                </a:tc>
                <a:tc>
                  <a:txBody>
                    <a:bodyPr/>
                    <a:lstStyle/>
                    <a:p>
                      <a:pPr lvl="0" indent="0" marL="0" algn="r">
                        <a:buNone/>
                      </a:pPr>
                      <a:r>
                        <a:rPr/>
                        <a:t>0.18</a:t>
                      </a:r>
                    </a:p>
                  </a:txBody>
                </a:tc>
                <a:tc>
                  <a:txBody>
                    <a:bodyPr/>
                    <a:lstStyle/>
                    <a:p>
                      <a:pPr lvl="0" indent="0" marL="0" algn="r">
                        <a:buNone/>
                      </a:pPr>
                      <a:r>
                        <a:rPr/>
                        <a:t>0.18</a:t>
                      </a:r>
                    </a:p>
                  </a:txBody>
                </a:tc>
                <a:tc>
                  <a:txBody>
                    <a:bodyPr/>
                    <a:lstStyle/>
                    <a:p>
                      <a:pPr lvl="0" indent="0" marL="0" algn="r">
                        <a:buNone/>
                      </a:pPr>
                      <a:r>
                        <a:rPr/>
                        <a:t>0.13</a:t>
                      </a:r>
                    </a:p>
                  </a:txBody>
                </a:tc>
              </a:tr>
              <a:tr h="0">
                <a:tc>
                  <a:txBody>
                    <a:bodyPr/>
                    <a:lstStyle/>
                    <a:p>
                      <a:pPr lvl="0" indent="0" marL="0" algn="l">
                        <a:buNone/>
                      </a:pPr>
                      <a:r>
                        <a:rPr/>
                        <a:t>Sparse: top 10, equal weights</a:t>
                      </a:r>
                    </a:p>
                  </a:txBody>
                </a:tc>
                <a:tc>
                  <a:txBody>
                    <a:bodyPr/>
                    <a:lstStyle/>
                    <a:p>
                      <a:pPr lvl="0" indent="0" marL="0" algn="r">
                        <a:buNone/>
                      </a:pPr>
                      <a:r>
                        <a:rPr/>
                        <a:t>0.33</a:t>
                      </a:r>
                    </a:p>
                  </a:txBody>
                </a:tc>
                <a:tc>
                  <a:txBody>
                    <a:bodyPr/>
                    <a:lstStyle/>
                    <a:p>
                      <a:pPr lvl="0" indent="0" marL="0" algn="r">
                        <a:buNone/>
                      </a:pPr>
                      <a:r>
                        <a:rPr/>
                        <a:t>0.23</a:t>
                      </a:r>
                    </a:p>
                  </a:txBody>
                </a:tc>
                <a:tc>
                  <a:txBody>
                    <a:bodyPr/>
                    <a:lstStyle/>
                    <a:p>
                      <a:pPr lvl="0" indent="0" marL="0" algn="r">
                        <a:buNone/>
                      </a:pPr>
                      <a:r>
                        <a:rPr/>
                        <a:t>0.29</a:t>
                      </a:r>
                    </a:p>
                  </a:txBody>
                </a:tc>
                <a:tc>
                  <a:txBody>
                    <a:bodyPr/>
                    <a:lstStyle/>
                    <a:p>
                      <a:pPr lvl="0" indent="0" marL="0" algn="r">
                        <a:buNone/>
                      </a:pPr>
                      <a:r>
                        <a:rPr/>
                        <a:t>0.17</a:t>
                      </a:r>
                    </a:p>
                  </a:txBody>
                </a:tc>
                <a:tc>
                  <a:txBody>
                    <a:bodyPr/>
                    <a:lstStyle/>
                    <a:p>
                      <a:pPr lvl="0" indent="0" marL="0" algn="r">
                        <a:buNone/>
                      </a:pPr>
                      <a:r>
                        <a:rPr/>
                        <a:t>0.22</a:t>
                      </a:r>
                    </a:p>
                  </a:txBody>
                </a:tc>
                <a:tc>
                  <a:txBody>
                    <a:bodyPr/>
                    <a:lstStyle/>
                    <a:p>
                      <a:pPr lvl="0" indent="0" marL="0" algn="r">
                        <a:buNone/>
                      </a:pPr>
                      <a:r>
                        <a:rPr/>
                        <a:t>0.16</a:t>
                      </a:r>
                    </a:p>
                  </a:txBody>
                </a:tc>
              </a:tr>
              <a:tr h="0">
                <a:tc>
                  <a:txBody>
                    <a:bodyPr/>
                    <a:lstStyle/>
                    <a:p>
                      <a:pPr lvl="0" indent="0" marL="0" algn="l">
                        <a:buNone/>
                      </a:pPr>
                      <a:r>
                        <a:rPr/>
                        <a:t>Sparse: top 20, equal weights</a:t>
                      </a:r>
                    </a:p>
                  </a:txBody>
                </a:tc>
                <a:tc>
                  <a:txBody>
                    <a:bodyPr/>
                    <a:lstStyle/>
                    <a:p>
                      <a:pPr lvl="0" indent="0" marL="0" algn="r">
                        <a:buNone/>
                      </a:pPr>
                      <a:r>
                        <a:rPr/>
                        <a:t>0.36</a:t>
                      </a:r>
                    </a:p>
                  </a:txBody>
                </a:tc>
                <a:tc>
                  <a:txBody>
                    <a:bodyPr/>
                    <a:lstStyle/>
                    <a:p>
                      <a:pPr lvl="0" indent="0" marL="0" algn="r">
                        <a:buNone/>
                      </a:pPr>
                      <a:r>
                        <a:rPr/>
                        <a:t>0.26</a:t>
                      </a:r>
                    </a:p>
                  </a:txBody>
                </a:tc>
                <a:tc>
                  <a:txBody>
                    <a:bodyPr/>
                    <a:lstStyle/>
                    <a:p>
                      <a:pPr lvl="0" indent="0" marL="0" algn="r">
                        <a:buNone/>
                      </a:pPr>
                      <a:r>
                        <a:rPr/>
                        <a:t>0.31</a:t>
                      </a:r>
                    </a:p>
                  </a:txBody>
                </a:tc>
                <a:tc>
                  <a:txBody>
                    <a:bodyPr/>
                    <a:lstStyle/>
                    <a:p>
                      <a:pPr lvl="0" indent="0" marL="0" algn="r">
                        <a:buNone/>
                      </a:pPr>
                      <a:r>
                        <a:rPr/>
                        <a:t>0.23</a:t>
                      </a:r>
                    </a:p>
                  </a:txBody>
                </a:tc>
                <a:tc>
                  <a:txBody>
                    <a:bodyPr/>
                    <a:lstStyle/>
                    <a:p>
                      <a:pPr lvl="0" indent="0" marL="0" algn="r">
                        <a:buNone/>
                      </a:pPr>
                      <a:r>
                        <a:rPr/>
                        <a:t>0.30</a:t>
                      </a:r>
                    </a:p>
                  </a:txBody>
                </a:tc>
                <a:tc>
                  <a:txBody>
                    <a:bodyPr/>
                    <a:lstStyle/>
                    <a:p>
                      <a:pPr lvl="0" indent="0" marL="0" algn="r">
                        <a:buNone/>
                      </a:pPr>
                      <a:r>
                        <a:rPr/>
                        <a:t>0.20</a:t>
                      </a:r>
                    </a:p>
                  </a:txBody>
                </a:tc>
              </a:tr>
              <a:tr h="0">
                <a:tc>
                  <a:txBody>
                    <a:bodyPr/>
                    <a:lstStyle/>
                    <a:p>
                      <a:pPr lvl="0" indent="0" marL="0" algn="l">
                        <a:buNone/>
                      </a:pPr>
                      <a:r>
                        <a:rPr/>
                        <a:t>Sparse: top 10, index weights</a:t>
                      </a:r>
                    </a:p>
                  </a:txBody>
                </a:tc>
                <a:tc>
                  <a:txBody>
                    <a:bodyPr/>
                    <a:lstStyle/>
                    <a:p>
                      <a:pPr lvl="0" indent="0" marL="0" algn="r">
                        <a:buNone/>
                      </a:pPr>
                      <a:r>
                        <a:rPr/>
                        <a:t>0.33</a:t>
                      </a:r>
                    </a:p>
                  </a:txBody>
                </a:tc>
                <a:tc>
                  <a:txBody>
                    <a:bodyPr/>
                    <a:lstStyle/>
                    <a:p>
                      <a:pPr lvl="0" indent="0" marL="0" algn="r">
                        <a:buNone/>
                      </a:pPr>
                      <a:r>
                        <a:rPr/>
                        <a:t>0.23</a:t>
                      </a:r>
                    </a:p>
                  </a:txBody>
                </a:tc>
                <a:tc>
                  <a:txBody>
                    <a:bodyPr/>
                    <a:lstStyle/>
                    <a:p>
                      <a:pPr lvl="0" indent="0" marL="0" algn="r">
                        <a:buNone/>
                      </a:pPr>
                      <a:r>
                        <a:rPr/>
                        <a:t>0.29</a:t>
                      </a:r>
                    </a:p>
                  </a:txBody>
                </a:tc>
                <a:tc>
                  <a:txBody>
                    <a:bodyPr/>
                    <a:lstStyle/>
                    <a:p>
                      <a:pPr lvl="0" indent="0" marL="0" algn="r">
                        <a:buNone/>
                      </a:pPr>
                      <a:r>
                        <a:rPr/>
                        <a:t>0.17</a:t>
                      </a:r>
                    </a:p>
                  </a:txBody>
                </a:tc>
                <a:tc>
                  <a:txBody>
                    <a:bodyPr/>
                    <a:lstStyle/>
                    <a:p>
                      <a:pPr lvl="0" indent="0" marL="0" algn="r">
                        <a:buNone/>
                      </a:pPr>
                      <a:r>
                        <a:rPr/>
                        <a:t>0.22</a:t>
                      </a:r>
                    </a:p>
                  </a:txBody>
                </a:tc>
                <a:tc>
                  <a:txBody>
                    <a:bodyPr/>
                    <a:lstStyle/>
                    <a:p>
                      <a:pPr lvl="0" indent="0" marL="0" algn="r">
                        <a:buNone/>
                      </a:pPr>
                      <a:r>
                        <a:rPr/>
                        <a:t>0.16</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index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index weights,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3898900"/>
                <a:gridCol w="1955800"/>
                <a:gridCol w="647700"/>
                <a:gridCol w="10795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8.0</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6.2</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7.2</a:t>
                      </a:r>
                    </a:p>
                  </a:txBody>
                </a:tc>
              </a:tr>
              <a:tr h="0">
                <a:tc>
                  <a:txBody>
                    <a:bodyPr/>
                    <a:lstStyle/>
                    <a:p>
                      <a:pPr lvl="0" indent="0" marL="0" algn="l">
                        <a:buNone/>
                      </a:pPr>
                      <a:r>
                        <a:rPr/>
                        <a:t>lcover_grass_frac_t0</a:t>
                      </a:r>
                    </a:p>
                  </a:txBody>
                </a:tc>
                <a:tc>
                  <a:txBody>
                    <a:bodyPr/>
                    <a:lstStyle/>
                    <a:p>
                      <a:pPr lvl="0" indent="0" marL="0" algn="l">
                        <a:buNone/>
                      </a:pPr>
                      <a:r>
                        <a:rPr/>
                        <a:t>Built environment</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8.0</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9.8</a:t>
                      </a:r>
                    </a:p>
                  </a:txBody>
                </a:tc>
              </a:tr>
              <a:tr h="0">
                <a:tc>
                  <a:txBody>
                    <a:bodyPr/>
                    <a:lstStyle/>
                    <a:p>
                      <a:pPr lvl="0" indent="0" marL="0" algn="l">
                        <a:buNone/>
                      </a:pPr>
                      <a:r>
                        <a:rPr/>
                        <a:t>ihme_underweightprevalence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2.3</a:t>
                      </a:r>
                    </a:p>
                  </a:txBody>
                </a:tc>
              </a:tr>
              <a:tr h="0">
                <a:tc>
                  <a:txBody>
                    <a:bodyPr/>
                    <a:lstStyle/>
                    <a:p>
                      <a:pPr lvl="0" indent="0" marL="0" algn="l">
                        <a:buNone/>
                      </a:pPr>
                      <a:r>
                        <a:rPr/>
                        <a:t>ihme_stuntingprevalence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4.0</a:t>
                      </a:r>
                    </a:p>
                  </a:txBody>
                </a:tc>
              </a:tr>
              <a:tr h="0">
                <a:tc>
                  <a:txBody>
                    <a:bodyPr/>
                    <a:lstStyle/>
                    <a:p>
                      <a:pPr lvl="0" indent="0" marL="0" algn="l">
                        <a:buNone/>
                      </a:pPr>
                      <a:r>
                        <a:rPr/>
                        <a:t>dhs_w_working</a:t>
                      </a:r>
                    </a:p>
                  </a:txBody>
                </a:tc>
                <a:tc>
                  <a:txBody>
                    <a:bodyPr/>
                    <a:lstStyle/>
                    <a:p>
                      <a:pPr lvl="0" indent="0" marL="0" algn="l">
                        <a:buNone/>
                      </a:pPr>
                      <a:r>
                        <a:rPr/>
                        <a:t>Education, employment, SES</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6.0</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8.7</a:t>
                      </a:r>
                    </a:p>
                  </a:txBody>
                </a:tc>
              </a:tr>
              <a:tr h="0">
                <a:tc>
                  <a:txBody>
                    <a:bodyPr/>
                    <a:lstStyle/>
                    <a:p>
                      <a:pPr lvl="0" indent="0" marL="0" algn="l">
                        <a:buNone/>
                      </a:pPr>
                      <a:r>
                        <a:rPr/>
                        <a:t>lcover_crops_frac_t0</a:t>
                      </a:r>
                    </a:p>
                  </a:txBody>
                </a:tc>
                <a:tc>
                  <a:txBody>
                    <a:bodyPr/>
                    <a:lstStyle/>
                    <a:p>
                      <a:pPr lvl="0" indent="0" marL="0" algn="l">
                        <a:buNone/>
                      </a:pPr>
                      <a:r>
                        <a:rPr/>
                        <a:t>Built environment</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10.7</a:t>
                      </a:r>
                    </a:p>
                  </a:txBody>
                </a:tc>
              </a:tr>
              <a:tr h="0">
                <a:tc>
                  <a:txBody>
                    <a:bodyPr/>
                    <a:lstStyle/>
                    <a:p>
                      <a:pPr lvl="0" indent="0" marL="0" algn="l">
                        <a:buNone/>
                      </a:pPr>
                      <a:r>
                        <a:rPr/>
                        <a:t>ihme_allanemia</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12.0</a:t>
                      </a:r>
                    </a:p>
                  </a:txBody>
                </a:tc>
              </a:tr>
              <a:tr h="0">
                <a:tc>
                  <a:txBody>
                    <a:bodyPr/>
                    <a:lstStyle/>
                    <a:p>
                      <a:pPr lvl="0" indent="0" marL="0" algn="l">
                        <a:buNone/>
                      </a:pPr>
                      <a:r>
                        <a:rPr/>
                        <a:t>ihme_wastingprevalence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13.0</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twenty-predictor composite transports as well as the full index</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1231900"/>
                <a:gridCol w="1231900"/>
                <a:gridCol w="1143000"/>
                <a:gridCol w="1143000"/>
                <a:gridCol w="1409700"/>
                <a:gridCol w="1409700"/>
              </a:tblGrid>
              <a:tr h="0">
                <a:tc>
                  <a:txBody>
                    <a:bodyPr/>
                    <a:lstStyle/>
                    <a:p>
                      <a:pPr lvl="0" indent="0" marL="0" algn="l">
                        <a:buNone/>
                      </a:pPr>
                      <a:r>
                        <a:rPr/>
                        <a:t>Model</a:t>
                      </a:r>
                    </a:p>
                  </a:txBody>
                  <a:tcPr/>
                </a:tc>
                <a:tc>
                  <a:txBody>
                    <a:bodyPr/>
                    <a:lstStyle/>
                    <a:p>
                      <a:pPr lvl="0" indent="0" marL="0" algn="r">
                        <a:buNone/>
                      </a:pPr>
                      <a:r>
                        <a:rPr/>
                        <a:t>In-fill level</a:t>
                      </a:r>
                    </a:p>
                  </a:txBody>
                  <a:tcPr/>
                </a:tc>
                <a:tc>
                  <a:txBody>
                    <a:bodyPr/>
                    <a:lstStyle/>
                    <a:p>
                      <a:pPr lvl="0" indent="0" marL="0" algn="r">
                        <a:buNone/>
                      </a:pPr>
                      <a:r>
                        <a:rPr/>
                        <a:t>In-fill prev.</a:t>
                      </a:r>
                    </a:p>
                  </a:txBody>
                  <a:tcPr/>
                </a:tc>
                <a:tc>
                  <a:txBody>
                    <a:bodyPr/>
                    <a:lstStyle/>
                    <a:p>
                      <a:pPr lvl="0" indent="0" marL="0" algn="r">
                        <a:buNone/>
                      </a:pPr>
                      <a:r>
                        <a:rPr/>
                        <a:t>Region level</a:t>
                      </a:r>
                    </a:p>
                  </a:txBody>
                  <a:tcPr/>
                </a:tc>
                <a:tc>
                  <a:txBody>
                    <a:bodyPr/>
                    <a:lstStyle/>
                    <a:p>
                      <a:pPr lvl="0" indent="0" marL="0" algn="r">
                        <a:buNone/>
                      </a:pPr>
                      <a:r>
                        <a:rPr/>
                        <a:t>Region prev.</a:t>
                      </a:r>
                    </a:p>
                  </a:txBody>
                  <a:tcPr/>
                </a:tc>
                <a:tc>
                  <a:txBody>
                    <a:bodyPr/>
                    <a:lstStyle/>
                    <a:p>
                      <a:pPr lvl="0" indent="0" marL="0" algn="r">
                        <a:buNone/>
                      </a:pPr>
                      <a:r>
                        <a:rPr/>
                        <a:t>Transport level</a:t>
                      </a:r>
                    </a:p>
                  </a:txBody>
                  <a:tcPr/>
                </a:tc>
                <a:tc>
                  <a:txBody>
                    <a:bodyPr/>
                    <a:lstStyle/>
                    <a:p>
                      <a:pPr lvl="0" indent="0" marL="0" algn="r">
                        <a:buNone/>
                      </a:pPr>
                      <a:r>
                        <a:rPr/>
                        <a:t>Transport prev.</a:t>
                      </a:r>
                    </a:p>
                  </a:txBody>
                  <a:tcPr/>
                </a:tc>
              </a:tr>
              <a:tr h="0">
                <a:tc>
                  <a:txBody>
                    <a:bodyPr/>
                    <a:lstStyle/>
                    <a:p>
                      <a:pPr lvl="0" indent="0" marL="0" algn="l">
                        <a:buNone/>
                      </a:pPr>
                      <a:r>
                        <a:rPr/>
                        <a:t>Full index (all 454 columns)</a:t>
                      </a:r>
                    </a:p>
                  </a:txBody>
                </a:tc>
                <a:tc>
                  <a:txBody>
                    <a:bodyPr/>
                    <a:lstStyle/>
                    <a:p>
                      <a:pPr lvl="0" indent="0" marL="0" algn="r">
                        <a:buNone/>
                      </a:pPr>
                      <a:r>
                        <a:rPr/>
                        <a:t>0.40</a:t>
                      </a:r>
                    </a:p>
                  </a:txBody>
                </a:tc>
                <a:tc>
                  <a:txBody>
                    <a:bodyPr/>
                    <a:lstStyle/>
                    <a:p>
                      <a:pPr lvl="0" indent="0" marL="0" algn="r">
                        <a:buNone/>
                      </a:pPr>
                      <a:r>
                        <a:rPr/>
                        <a:t>0.28</a:t>
                      </a:r>
                    </a:p>
                  </a:txBody>
                </a:tc>
                <a:tc>
                  <a:txBody>
                    <a:bodyPr/>
                    <a:lstStyle/>
                    <a:p>
                      <a:pPr lvl="0" indent="0" marL="0" algn="r">
                        <a:buNone/>
                      </a:pPr>
                      <a:r>
                        <a:rPr/>
                        <a:t>0.38</a:t>
                      </a:r>
                    </a:p>
                  </a:txBody>
                </a:tc>
                <a:tc>
                  <a:txBody>
                    <a:bodyPr/>
                    <a:lstStyle/>
                    <a:p>
                      <a:pPr lvl="0" indent="0" marL="0" algn="r">
                        <a:buNone/>
                      </a:pPr>
                      <a:r>
                        <a:rPr/>
                        <a:t>0.27</a:t>
                      </a:r>
                    </a:p>
                  </a:txBody>
                </a:tc>
                <a:tc>
                  <a:txBody>
                    <a:bodyPr/>
                    <a:lstStyle/>
                    <a:p>
                      <a:pPr lvl="0" indent="0" marL="0" algn="r">
                        <a:buNone/>
                      </a:pPr>
                      <a:r>
                        <a:rPr/>
                        <a:t>0.28</a:t>
                      </a:r>
                    </a:p>
                  </a:txBody>
                </a:tc>
                <a:tc>
                  <a:txBody>
                    <a:bodyPr/>
                    <a:lstStyle/>
                    <a:p>
                      <a:pPr lvl="0" indent="0" marL="0" algn="r">
                        <a:buNone/>
                      </a:pPr>
                      <a:r>
                        <a:rPr/>
                        <a:t>0.21</a:t>
                      </a:r>
                    </a:p>
                  </a:txBody>
                </a:tc>
              </a:tr>
              <a:tr h="0">
                <a:tc>
                  <a:txBody>
                    <a:bodyPr/>
                    <a:lstStyle/>
                    <a:p>
                      <a:pPr lvl="0" indent="0" marL="0" algn="l">
                        <a:buNone/>
                      </a:pPr>
                      <a:r>
                        <a:rPr/>
                        <a:t>Top 20 predictors, equal weights</a:t>
                      </a:r>
                    </a:p>
                  </a:txBody>
                </a:tc>
                <a:tc>
                  <a:txBody>
                    <a:bodyPr/>
                    <a:lstStyle/>
                    <a:p>
                      <a:pPr lvl="0" indent="0" marL="0" algn="r">
                        <a:buNone/>
                      </a:pPr>
                      <a:r>
                        <a:rPr/>
                        <a:t>0.36</a:t>
                      </a:r>
                    </a:p>
                  </a:txBody>
                </a:tc>
                <a:tc>
                  <a:txBody>
                    <a:bodyPr/>
                    <a:lstStyle/>
                    <a:p>
                      <a:pPr lvl="0" indent="0" marL="0" algn="r">
                        <a:buNone/>
                      </a:pPr>
                      <a:r>
                        <a:rPr/>
                        <a:t>0.26</a:t>
                      </a:r>
                    </a:p>
                  </a:txBody>
                </a:tc>
                <a:tc>
                  <a:txBody>
                    <a:bodyPr/>
                    <a:lstStyle/>
                    <a:p>
                      <a:pPr lvl="0" indent="0" marL="0" algn="r">
                        <a:buNone/>
                      </a:pPr>
                      <a:r>
                        <a:rPr/>
                        <a:t>0.31</a:t>
                      </a:r>
                    </a:p>
                  </a:txBody>
                </a:tc>
                <a:tc>
                  <a:txBody>
                    <a:bodyPr/>
                    <a:lstStyle/>
                    <a:p>
                      <a:pPr lvl="0" indent="0" marL="0" algn="r">
                        <a:buNone/>
                      </a:pPr>
                      <a:r>
                        <a:rPr/>
                        <a:t>0.23</a:t>
                      </a:r>
                    </a:p>
                  </a:txBody>
                </a:tc>
                <a:tc>
                  <a:txBody>
                    <a:bodyPr/>
                    <a:lstStyle/>
                    <a:p>
                      <a:pPr lvl="0" indent="0" marL="0" algn="r">
                        <a:buNone/>
                      </a:pPr>
                      <a:r>
                        <a:rPr/>
                        <a:t>0.30</a:t>
                      </a:r>
                    </a:p>
                  </a:txBody>
                </a:tc>
                <a:tc>
                  <a:txBody>
                    <a:bodyPr/>
                    <a:lstStyle/>
                    <a:p>
                      <a:pPr lvl="0" indent="0" marL="0" algn="r">
                        <a:buNone/>
                      </a:pPr>
                      <a:r>
                        <a:rPr/>
                        <a:t>0.20</a:t>
                      </a:r>
                    </a:p>
                  </a:txBody>
                </a:tc>
              </a:tr>
              <a:tr h="0">
                <a:tc>
                  <a:txBody>
                    <a:bodyPr/>
                    <a:lstStyle/>
                    <a:p>
                      <a:pPr lvl="0" indent="0" marL="0" algn="l">
                        <a:buNone/>
                      </a:pPr>
                      <a:r>
                        <a:rPr/>
                        <a:t>Top 10, equal weights</a:t>
                      </a:r>
                    </a:p>
                  </a:txBody>
                </a:tc>
                <a:tc>
                  <a:txBody>
                    <a:bodyPr/>
                    <a:lstStyle/>
                    <a:p>
                      <a:pPr lvl="0" indent="0" marL="0" algn="r">
                        <a:buNone/>
                      </a:pPr>
                      <a:r>
                        <a:rPr/>
                        <a:t>0.33</a:t>
                      </a:r>
                    </a:p>
                  </a:txBody>
                </a:tc>
                <a:tc>
                  <a:txBody>
                    <a:bodyPr/>
                    <a:lstStyle/>
                    <a:p>
                      <a:pPr lvl="0" indent="0" marL="0" algn="r">
                        <a:buNone/>
                      </a:pPr>
                      <a:r>
                        <a:rPr/>
                        <a:t>0.23</a:t>
                      </a:r>
                    </a:p>
                  </a:txBody>
                </a:tc>
                <a:tc>
                  <a:txBody>
                    <a:bodyPr/>
                    <a:lstStyle/>
                    <a:p>
                      <a:pPr lvl="0" indent="0" marL="0" algn="r">
                        <a:buNone/>
                      </a:pPr>
                      <a:r>
                        <a:rPr/>
                        <a:t>0.29</a:t>
                      </a:r>
                    </a:p>
                  </a:txBody>
                </a:tc>
                <a:tc>
                  <a:txBody>
                    <a:bodyPr/>
                    <a:lstStyle/>
                    <a:p>
                      <a:pPr lvl="0" indent="0" marL="0" algn="r">
                        <a:buNone/>
                      </a:pPr>
                      <a:r>
                        <a:rPr/>
                        <a:t>0.17</a:t>
                      </a:r>
                    </a:p>
                  </a:txBody>
                </a:tc>
                <a:tc>
                  <a:txBody>
                    <a:bodyPr/>
                    <a:lstStyle/>
                    <a:p>
                      <a:pPr lvl="0" indent="0" marL="0" algn="r">
                        <a:buNone/>
                      </a:pPr>
                      <a:r>
                        <a:rPr/>
                        <a:t>0.22</a:t>
                      </a:r>
                    </a:p>
                  </a:txBody>
                </a:tc>
                <a:tc>
                  <a:txBody>
                    <a:bodyPr/>
                    <a:lstStyle/>
                    <a:p>
                      <a:pPr lvl="0" indent="0" marL="0" algn="r">
                        <a:buNone/>
                      </a:pPr>
                      <a:r>
                        <a:rPr/>
                        <a:t>0.16</a:t>
                      </a:r>
                    </a:p>
                  </a:txBody>
                </a:tc>
              </a:tr>
              <a:tr h="0">
                <a:tc>
                  <a:txBody>
                    <a:bodyPr/>
                    <a:lstStyle/>
                    <a:p>
                      <a:pPr lvl="0" indent="0" marL="0" algn="l">
                        <a:buNone/>
                      </a:pPr>
                      <a:r>
                        <a:rPr/>
                        <a:t>Top 5, equal weights</a:t>
                      </a:r>
                    </a:p>
                  </a:txBody>
                </a:tc>
                <a:tc>
                  <a:txBody>
                    <a:bodyPr/>
                    <a:lstStyle/>
                    <a:p>
                      <a:pPr lvl="0" indent="0" marL="0" algn="r">
                        <a:buNone/>
                      </a:pPr>
                      <a:r>
                        <a:rPr/>
                        <a:t>0.30</a:t>
                      </a:r>
                    </a:p>
                  </a:txBody>
                </a:tc>
                <a:tc>
                  <a:txBody>
                    <a:bodyPr/>
                    <a:lstStyle/>
                    <a:p>
                      <a:pPr lvl="0" indent="0" marL="0" algn="r">
                        <a:buNone/>
                      </a:pPr>
                      <a:r>
                        <a:rPr/>
                        <a:t>0.19</a:t>
                      </a:r>
                    </a:p>
                  </a:txBody>
                </a:tc>
                <a:tc>
                  <a:txBody>
                    <a:bodyPr/>
                    <a:lstStyle/>
                    <a:p>
                      <a:pPr lvl="0" indent="0" marL="0" algn="r">
                        <a:buNone/>
                      </a:pPr>
                      <a:r>
                        <a:rPr/>
                        <a:t>0.27</a:t>
                      </a:r>
                    </a:p>
                  </a:txBody>
                </a:tc>
                <a:tc>
                  <a:txBody>
                    <a:bodyPr/>
                    <a:lstStyle/>
                    <a:p>
                      <a:pPr lvl="0" indent="0" marL="0" algn="r">
                        <a:buNone/>
                      </a:pPr>
                      <a:r>
                        <a:rPr/>
                        <a:t>0.18</a:t>
                      </a:r>
                    </a:p>
                  </a:txBody>
                </a:tc>
                <a:tc>
                  <a:txBody>
                    <a:bodyPr/>
                    <a:lstStyle/>
                    <a:p>
                      <a:pPr lvl="0" indent="0" marL="0" algn="r">
                        <a:buNone/>
                      </a:pPr>
                      <a:r>
                        <a:rPr/>
                        <a:t>0.18</a:t>
                      </a:r>
                    </a:p>
                  </a:txBody>
                </a:tc>
                <a:tc>
                  <a:txBody>
                    <a:bodyPr/>
                    <a:lstStyle/>
                    <a:p>
                      <a:pPr lvl="0" indent="0" marL="0" algn="r">
                        <a:buNone/>
                      </a:pPr>
                      <a:r>
                        <a:rPr/>
                        <a:t>0.13</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child iron composite: twenty predictors, equal weights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416300"/>
                <a:gridCol w="2133600"/>
                <a:gridCol w="1993900"/>
                <a:gridCol w="29718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dhs_w_owns_house (-)</a:t>
                      </a:r>
                    </a:p>
                  </a:txBody>
                </a:tc>
                <a:tc>
                  <a:txBody>
                    <a:bodyPr/>
                    <a:lstStyle/>
                    <a:p>
                      <a:pPr lvl="0" indent="0" marL="0" algn="l">
                        <a:buNone/>
                      </a:pPr>
                      <a:r>
                        <a:rPr/>
                        <a:t>DHS</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npp_gpp_t0 (-)</a:t>
                      </a:r>
                    </a:p>
                  </a:txBody>
                </a:tc>
                <a:tc>
                  <a:txBody>
                    <a:bodyPr/>
                    <a:lstStyle/>
                    <a:p>
                      <a:pPr lvl="0" indent="0" marL="0" algn="l">
                        <a:buNone/>
                      </a:pPr>
                      <a:r>
                        <a:rPr/>
                        <a:t>GEE</a:t>
                      </a:r>
                    </a:p>
                  </a:txBody>
                </a:tc>
              </a:tr>
              <a:tr h="0">
                <a:tc>
                  <a:txBody>
                    <a:bodyPr/>
                    <a:lstStyle/>
                    <a:p>
                      <a:pPr lvl="0" indent="0" marL="0" algn="l">
                        <a:buNone/>
                      </a:pPr>
                      <a:r>
                        <a:rPr/>
                        <a:t>dhs_w_working (-)</a:t>
                      </a:r>
                    </a:p>
                  </a:txBody>
                </a:tc>
                <a:tc>
                  <a:txBody>
                    <a:bodyPr/>
                    <a:lstStyle/>
                    <a:p>
                      <a:pPr lvl="0" indent="0" marL="0" algn="l">
                        <a:buNone/>
                      </a:pPr>
                      <a:r>
                        <a:rPr/>
                        <a:t>DHS</a:t>
                      </a:r>
                    </a:p>
                  </a:txBody>
                </a:tc>
                <a:tc>
                  <a:txBody>
                    <a:bodyPr/>
                    <a:lstStyle/>
                    <a:p>
                      <a:pPr lvl="0" indent="0" marL="0" algn="l">
                        <a:buNone/>
                      </a:pPr>
                      <a:r>
                        <a:rPr/>
                        <a:t>spam_share_roots (-)</a:t>
                      </a:r>
                    </a:p>
                  </a:txBody>
                </a:tc>
                <a:tc>
                  <a:txBody>
                    <a:bodyPr/>
                    <a:lstStyle/>
                    <a:p>
                      <a:pPr lvl="0" indent="0" marL="0" algn="l">
                        <a:buNone/>
                      </a:pPr>
                      <a:r>
                        <a:rPr/>
                        <a:t>MapSPAM</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map_blooddisorders201201africahbcallelefrequency (+)</a:t>
                      </a:r>
                    </a:p>
                  </a:txBody>
                </a:tc>
                <a:tc>
                  <a:txBody>
                    <a:bodyPr/>
                    <a:lstStyle/>
                    <a:p>
                      <a:pPr lvl="0" indent="0" marL="0" algn="l">
                        <a:buNone/>
                      </a:pPr>
                      <a:r>
                        <a:rPr/>
                        <a:t>Malaria Atlas</a:t>
                      </a:r>
                    </a:p>
                  </a:txBody>
                </a:tc>
                <a:tc>
                  <a:txBody>
                    <a:bodyPr/>
                    <a:lstStyle/>
                    <a:p>
                      <a:pPr lvl="0" indent="0" marL="0" algn="l">
                        <a:buNone/>
                      </a:pPr>
                      <a:r>
                        <a:rPr/>
                        <a:t>map_sy_pf_incidence_rate (-)</a:t>
                      </a:r>
                    </a:p>
                  </a:txBody>
                </a:tc>
                <a:tc>
                  <a:txBody>
                    <a:bodyPr/>
                    <a:lstStyle/>
                    <a:p>
                      <a:pPr lvl="0" indent="0" marL="0" algn="l">
                        <a:buNone/>
                      </a:pPr>
                      <a:r>
                        <a:rPr/>
                        <a:t>Malaria Atlas Project</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wdist_coast_km_mean (+)</a:t>
                      </a:r>
                    </a:p>
                  </a:txBody>
                </a:tc>
                <a:tc>
                  <a:txBody>
                    <a:bodyPr/>
                    <a:lstStyle/>
                    <a:p>
                      <a:pPr lvl="0" indent="0" marL="0" algn="l">
                        <a:buNone/>
                      </a:pPr>
                      <a:r>
                        <a:rPr/>
                        <a:t>JRC Global Surface Water 1.4; USDOS LSIB 2017</a:t>
                      </a:r>
                    </a:p>
                  </a:txBody>
                </a:tc>
              </a:tr>
              <a:tr h="0">
                <a:tc>
                  <a:txBody>
                    <a:bodyPr/>
                    <a:lstStyle/>
                    <a:p>
                      <a:pPr lvl="0" indent="0" marL="0" algn="l">
                        <a:buNone/>
                      </a:pPr>
                      <a:r>
                        <a:rPr/>
                        <a:t>dhs_hh_cows (+)</a:t>
                      </a:r>
                    </a:p>
                  </a:txBody>
                </a:tc>
                <a:tc>
                  <a:txBody>
                    <a:bodyPr/>
                    <a:lstStyle/>
                    <a:p>
                      <a:pPr lvl="0" indent="0" marL="0" algn="l">
                        <a:buNone/>
                      </a:pPr>
                      <a:r>
                        <a:rPr/>
                        <a:t>DHS</a:t>
                      </a:r>
                    </a:p>
                  </a:txBody>
                </a:tc>
                <a:tc>
                  <a:txBody>
                    <a:bodyPr/>
                    <a:lstStyle/>
                    <a:p>
                      <a:pPr lvl="0" indent="0" marL="0" algn="l">
                        <a:buNone/>
                      </a:pPr>
                      <a:r>
                        <a:rPr/>
                        <a:t>lcover_crops_frac_t0 (+)</a:t>
                      </a:r>
                    </a:p>
                  </a:txBody>
                </a:tc>
                <a:tc>
                  <a:txBody>
                    <a:bodyPr/>
                    <a:lstStyle/>
                    <a:p>
                      <a:pPr lvl="0" indent="0" marL="0" algn="l">
                        <a:buNone/>
                      </a:pPr>
                      <a:r>
                        <a:rPr/>
                        <a:t>GEE</a:t>
                      </a:r>
                    </a:p>
                  </a:txBody>
                </a:tc>
              </a:tr>
              <a:tr h="0">
                <a:tc>
                  <a:txBody>
                    <a:bodyPr/>
                    <a:lstStyle/>
                    <a:p>
                      <a:pPr lvl="0" indent="0" marL="0" algn="l">
                        <a:buNone/>
                      </a:pPr>
                      <a:r>
                        <a:rPr/>
                        <a:t>dhs_hh_cows_any (+)</a:t>
                      </a:r>
                    </a:p>
                  </a:txBody>
                </a:tc>
                <a:tc>
                  <a:txBody>
                    <a:bodyPr/>
                    <a:lstStyle/>
                    <a:p>
                      <a:pPr lvl="0" indent="0" marL="0" algn="l">
                        <a:buNone/>
                      </a:pPr>
                      <a:r>
                        <a:rPr/>
                        <a:t>DHS</a:t>
                      </a:r>
                    </a:p>
                  </a:txBody>
                </a:tc>
                <a:tc>
                  <a:txBody>
                    <a:bodyPr/>
                    <a:lstStyle/>
                    <a:p>
                      <a:pPr lvl="0" indent="0" marL="0" algn="l">
                        <a:buNone/>
                      </a:pPr>
                      <a:r>
                        <a:rPr/>
                        <a:t>wdist_coast_km_min (+)</a:t>
                      </a:r>
                    </a:p>
                  </a:txBody>
                </a:tc>
                <a:tc>
                  <a:txBody>
                    <a:bodyPr/>
                    <a:lstStyle/>
                    <a:p>
                      <a:pPr lvl="0" indent="0" marL="0" algn="l">
                        <a:buNone/>
                      </a:pPr>
                      <a:r>
                        <a:rPr/>
                        <a:t>JRC Global Surface Water 1.4; USDOS LSIB 2017</a:t>
                      </a:r>
                    </a:p>
                  </a:txBody>
                </a:tc>
              </a:tr>
              <a:tr h="0">
                <a:tc>
                  <a:txBody>
                    <a:bodyPr/>
                    <a:lstStyle/>
                    <a:p>
                      <a:pPr lvl="0" indent="0" marL="0" algn="l">
                        <a:buNone/>
                      </a:pPr>
                      <a:r>
                        <a:rPr/>
                        <a:t>npp_npp_t0 (-)</a:t>
                      </a:r>
                    </a:p>
                  </a:txBody>
                </a:tc>
                <a:tc>
                  <a:txBody>
                    <a:bodyPr/>
                    <a:lstStyle/>
                    <a:p>
                      <a:pPr lvl="0" indent="0" marL="0" algn="l">
                        <a:buNone/>
                      </a:pPr>
                      <a:r>
                        <a:rPr/>
                        <a:t>GEE</a:t>
                      </a:r>
                    </a:p>
                  </a:txBody>
                </a:tc>
                <a:tc>
                  <a:txBody>
                    <a:bodyPr/>
                    <a:lstStyle/>
                    <a:p>
                      <a:pPr lvl="0" indent="0" marL="0" algn="l">
                        <a:buNone/>
                      </a:pPr>
                      <a:r>
                        <a:rPr/>
                        <a:t>dhs_hh_improved_water (+)</a:t>
                      </a:r>
                    </a:p>
                  </a:txBody>
                </a:tc>
                <a:tc>
                  <a:txBody>
                    <a:bodyPr/>
                    <a:lstStyle/>
                    <a:p>
                      <a:pPr lvl="0" indent="0" marL="0" algn="l">
                        <a:buNone/>
                      </a:pPr>
                      <a:r>
                        <a:rPr/>
                        <a:t>DHS</a:t>
                      </a:r>
                    </a:p>
                  </a:txBody>
                </a:tc>
              </a:tr>
              <a:tr h="0">
                <a:tc>
                  <a:txBody>
                    <a:bodyPr/>
                    <a:lstStyle/>
                    <a:p>
                      <a:pPr lvl="0" indent="0" marL="0" algn="l">
                        <a:buNone/>
                      </a:pPr>
                      <a:r>
                        <a:rPr/>
                        <a:t>spam_share_cereals (+)</a:t>
                      </a:r>
                    </a:p>
                  </a:txBody>
                </a:tc>
                <a:tc>
                  <a:txBody>
                    <a:bodyPr/>
                    <a:lstStyle/>
                    <a:p>
                      <a:pPr lvl="0" indent="0" marL="0" algn="l">
                        <a:buNone/>
                      </a:pPr>
                      <a:r>
                        <a:rPr/>
                        <a:t>MapSPAM</a:t>
                      </a:r>
                    </a:p>
                  </a:txBody>
                </a:tc>
                <a:tc>
                  <a:txBody>
                    <a:bodyPr/>
                    <a:lstStyle/>
                    <a:p>
                      <a:pPr lvl="0" indent="0" marL="0" algn="l">
                        <a:buNone/>
                      </a:pPr>
                      <a:r>
                        <a:rPr/>
                        <a:t>dhs_FP_CUSA_W_MOD (-)</a:t>
                      </a:r>
                    </a:p>
                  </a:txBody>
                </a:tc>
                <a:tc>
                  <a:txBody>
                    <a:bodyPr/>
                    <a:lstStyle/>
                    <a:p>
                      <a:pPr lvl="0" indent="0" marL="0" algn="l">
                        <a:buNone/>
                      </a:pPr>
                      <a:r>
                        <a:rPr/>
                        <a:t>DHS</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versus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what the ranking is worth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81400"/>
                <a:gridCol w="3149600"/>
                <a:gridCol w="1625600"/>
                <a:gridCol w="2171700"/>
              </a:tblGrid>
              <a:tr h="0">
                <a:tc>
                  <a:txBody>
                    <a:bodyPr/>
                    <a:lstStyle/>
                    <a:p>
                      <a:pPr lvl="0" indent="0" marL="0" algn="l">
                        <a:buNone/>
                      </a:pPr>
                      <a:r>
                        <a:rPr/>
                        <a:t>Model</a:t>
                      </a:r>
                    </a:p>
                  </a:txBody>
                  <a:tcPr/>
                </a:tc>
                <a:tc>
                  <a:txBody>
                    <a:bodyPr/>
                    <a:lstStyle/>
                    <a:p>
                      <a:pPr lvl="0" indent="0" marL="0" algn="r">
                        <a:buNone/>
                      </a:pPr>
                      <a:r>
                        <a:rPr/>
                        <a:t>Burden in worst-ranked fifth</a:t>
                      </a:r>
                    </a:p>
                  </a:txBody>
                  <a:tcPr/>
                </a:tc>
                <a:tc>
                  <a:txBody>
                    <a:bodyPr/>
                    <a:lstStyle/>
                    <a:p>
                      <a:pPr lvl="0" indent="0" marL="0" algn="r">
                        <a:buNone/>
                      </a:pPr>
                      <a:r>
                        <a:rPr/>
                        <a:t>Lift vs random</a:t>
                      </a:r>
                    </a:p>
                  </a:txBody>
                  <a:tcPr/>
                </a:tc>
                <a:tc>
                  <a:txBody>
                    <a:bodyPr/>
                    <a:lstStyle/>
                    <a:p>
                      <a:pPr lvl="0" indent="0" marL="0" algn="r">
                        <a:buNone/>
                      </a:pPr>
                      <a:r>
                        <a:rPr/>
                        <a:t>Cells with lift &gt; 1</a:t>
                      </a:r>
                    </a:p>
                  </a:txBody>
                  <a:tcPr/>
                </a:tc>
              </a:tr>
              <a:tr h="0">
                <a:tc>
                  <a:txBody>
                    <a:bodyPr/>
                    <a:lstStyle/>
                    <a:p>
                      <a:pPr lvl="0" indent="0" marL="0" algn="l">
                        <a:buNone/>
                      </a:pPr>
                      <a:r>
                        <a:rPr/>
                        <a:t>Oracle: true worst fifth</a:t>
                      </a:r>
                    </a:p>
                  </a:txBody>
                </a:tc>
                <a:tc>
                  <a:txBody>
                    <a:bodyPr/>
                    <a:lstStyle/>
                    <a:p>
                      <a:pPr lvl="0" indent="0" marL="0" algn="r">
                        <a:buNone/>
                      </a:pPr>
                      <a:r>
                        <a:rPr/>
                        <a:t>0.47</a:t>
                      </a:r>
                    </a:p>
                  </a:txBody>
                </a:tc>
                <a:tc>
                  <a:txBody>
                    <a:bodyPr/>
                    <a:lstStyle/>
                    <a:p>
                      <a:pPr lvl="0" indent="0" marL="0" algn="r">
                        <a:buNone/>
                      </a:pPr>
                      <a:r>
                        <a:rPr/>
                        <a:t>2.37</a:t>
                      </a:r>
                    </a:p>
                  </a:txBody>
                </a:tc>
                <a:tc>
                  <a:txBody>
                    <a:bodyPr/>
                    <a:lstStyle/>
                    <a:p>
                      <a:pPr lvl="0" indent="0" marL="0" algn="r">
                        <a:buNone/>
                      </a:pPr>
                      <a:r>
                        <a:rPr/>
                        <a:t>21</a:t>
                      </a:r>
                    </a:p>
                  </a:txBody>
                </a:tc>
              </a:tr>
              <a:tr h="0">
                <a:tc>
                  <a:txBody>
                    <a:bodyPr/>
                    <a:lstStyle/>
                    <a:p>
                      <a:pPr lvl="0" indent="0" marL="0" algn="l">
                        <a:buNone/>
                      </a:pPr>
                      <a:r>
                        <a:rPr/>
                        <a:t>Zero-tuning domain index</a:t>
                      </a:r>
                    </a:p>
                  </a:txBody>
                </a:tc>
                <a:tc>
                  <a:txBody>
                    <a:bodyPr/>
                    <a:lstStyle/>
                    <a:p>
                      <a:pPr lvl="0" indent="0" marL="0" algn="r">
                        <a:buNone/>
                      </a:pPr>
                      <a:r>
                        <a:rPr/>
                        <a:t>0.22</a:t>
                      </a:r>
                    </a:p>
                  </a:txBody>
                </a:tc>
                <a:tc>
                  <a:txBody>
                    <a:bodyPr/>
                    <a:lstStyle/>
                    <a:p>
                      <a:pPr lvl="0" indent="0" marL="0" algn="r">
                        <a:buNone/>
                      </a:pPr>
                      <a:r>
                        <a:rPr/>
                        <a:t>1.13</a:t>
                      </a:r>
                    </a:p>
                  </a:txBody>
                </a:tc>
                <a:tc>
                  <a:txBody>
                    <a:bodyPr/>
                    <a:lstStyle/>
                    <a:p>
                      <a:pPr lvl="0" indent="0" marL="0" algn="r">
                        <a:buNone/>
                      </a:pPr>
                      <a:r>
                        <a:rPr/>
                        <a:t>12</a:t>
                      </a:r>
                    </a:p>
                  </a:txBody>
                </a:tc>
              </a:tr>
              <a:tr h="0">
                <a:tc>
                  <a:txBody>
                    <a:bodyPr/>
                    <a:lstStyle/>
                    <a:p>
                      <a:pPr lvl="0" indent="0" marL="0" algn="l">
                        <a:buNone/>
                      </a:pPr>
                      <a:r>
                        <a:rPr/>
                        <a:t>Survey: jackknifed regional mean</a:t>
                      </a:r>
                    </a:p>
                  </a:txBody>
                </a:tc>
                <a:tc>
                  <a:txBody>
                    <a:bodyPr/>
                    <a:lstStyle/>
                    <a:p>
                      <a:pPr lvl="0" indent="0" marL="0" algn="r">
                        <a:buNone/>
                      </a:pPr>
                      <a:r>
                        <a:rPr/>
                        <a:t>0.20</a:t>
                      </a:r>
                    </a:p>
                  </a:txBody>
                </a:tc>
                <a:tc>
                  <a:txBody>
                    <a:bodyPr/>
                    <a:lstStyle/>
                    <a:p>
                      <a:pPr lvl="0" indent="0" marL="0" algn="r">
                        <a:buNone/>
                      </a:pPr>
                      <a:r>
                        <a:rPr/>
                        <a:t>1.02</a:t>
                      </a:r>
                    </a:p>
                  </a:txBody>
                </a:tc>
                <a:tc>
                  <a:txBody>
                    <a:bodyPr/>
                    <a:lstStyle/>
                    <a:p>
                      <a:pPr lvl="0" indent="0" marL="0" algn="r">
                        <a:buNone/>
                      </a:pPr>
                      <a:r>
                        <a:rPr/>
                        <a:t>8</a:t>
                      </a:r>
                    </a:p>
                  </a:txBody>
                </a:tc>
              </a:tr>
              <a:tr h="0">
                <a:tc>
                  <a:txBody>
                    <a:bodyPr/>
                    <a:lstStyle/>
                    <a:p>
                      <a:pPr lvl="0" indent="0" marL="0" algn="l">
                        <a:buNone/>
                      </a:pPr>
                      <a:r>
                        <a:rPr/>
                        <a:t>Spatial smoother + covariates</a:t>
                      </a:r>
                    </a:p>
                  </a:txBody>
                </a:tc>
                <a:tc>
                  <a:txBody>
                    <a:bodyPr/>
                    <a:lstStyle/>
                    <a:p>
                      <a:pPr lvl="0" indent="0" marL="0" algn="r">
                        <a:buNone/>
                      </a:pPr>
                      <a:r>
                        <a:rPr/>
                        <a:t>0.20</a:t>
                      </a:r>
                    </a:p>
                  </a:txBody>
                </a:tc>
                <a:tc>
                  <a:txBody>
                    <a:bodyPr/>
                    <a:lstStyle/>
                    <a:p>
                      <a:pPr lvl="0" indent="0" marL="0" algn="r">
                        <a:buNone/>
                      </a:pPr>
                      <a:r>
                        <a:rPr/>
                        <a:t>0.99</a:t>
                      </a:r>
                    </a:p>
                  </a:txBody>
                </a:tc>
                <a:tc>
                  <a:txBody>
                    <a:bodyPr/>
                    <a:lstStyle/>
                    <a:p>
                      <a:pPr lvl="0" indent="0" marL="0" algn="r">
                        <a:buNone/>
                      </a:pPr>
                      <a:r>
                        <a:rPr/>
                        <a:t>7</a:t>
                      </a:r>
                    </a:p>
                  </a:txBody>
                </a:tc>
              </a:tr>
              <a:tr h="0">
                <a:tc>
                  <a:txBody>
                    <a:bodyPr/>
                    <a:lstStyle/>
                    <a:p>
                      <a:pPr lvl="0" indent="0" marL="0" algn="l">
                        <a:buNone/>
                      </a:pPr>
                      <a:r>
                        <a:rPr/>
                        <a:t>Spatial smoother only</a:t>
                      </a:r>
                    </a:p>
                  </a:txBody>
                </a:tc>
                <a:tc>
                  <a:txBody>
                    <a:bodyPr/>
                    <a:lstStyle/>
                    <a:p>
                      <a:pPr lvl="0" indent="0" marL="0" algn="r">
                        <a:buNone/>
                      </a:pPr>
                      <a:r>
                        <a:rPr/>
                        <a:t>0.20</a:t>
                      </a:r>
                    </a:p>
                  </a:txBody>
                </a:tc>
                <a:tc>
                  <a:txBody>
                    <a:bodyPr/>
                    <a:lstStyle/>
                    <a:p>
                      <a:pPr lvl="0" indent="0" marL="0" algn="r">
                        <a:buNone/>
                      </a:pPr>
                      <a:r>
                        <a:rPr/>
                        <a:t>0.99</a:t>
                      </a:r>
                    </a:p>
                  </a:txBody>
                </a:tc>
                <a:tc>
                  <a:txBody>
                    <a:bodyPr/>
                    <a:lstStyle/>
                    <a:p>
                      <a:pPr lvl="0" indent="0" marL="0" algn="r">
                        <a:buNone/>
                      </a:pPr>
                      <a:r>
                        <a:rPr/>
                        <a:t>7</a:t>
                      </a:r>
                    </a:p>
                  </a:txBody>
                </a:tc>
              </a:tr>
              <a:tr h="0">
                <a:tc>
                  <a:txBody>
                    <a:bodyPr/>
                    <a:lstStyle/>
                    <a:p>
                      <a:pPr lvl="0" indent="0" marL="0" algn="l">
                        <a:buNone/>
                      </a:pPr>
                      <a:r>
                        <a:rPr/>
                        <a:t>Null: training mean</a:t>
                      </a:r>
                    </a:p>
                  </a:txBody>
                </a:tc>
                <a:tc>
                  <a:txBody>
                    <a:bodyPr/>
                    <a:lstStyle/>
                    <a:p>
                      <a:pPr lvl="0" indent="0" marL="0" algn="r">
                        <a:buNone/>
                      </a:pPr>
                      <a:r>
                        <a:rPr/>
                        <a:t>0.14</a:t>
                      </a:r>
                    </a:p>
                  </a:txBody>
                </a:tc>
                <a:tc>
                  <a:txBody>
                    <a:bodyPr/>
                    <a:lstStyle/>
                    <a:p>
                      <a:pPr lvl="0" indent="0" marL="0" algn="r">
                        <a:buNone/>
                      </a:pPr>
                      <a:r>
                        <a:rPr/>
                        <a:t>0.68</a:t>
                      </a:r>
                    </a:p>
                  </a:txBody>
                </a:tc>
                <a:tc>
                  <a:txBody>
                    <a:bodyPr/>
                    <a:lstStyle/>
                    <a:p>
                      <a:pPr lvl="0" indent="0" marL="0" algn="r">
                        <a:buNone/>
                      </a:pPr>
                      <a:r>
                        <a:rPr/>
                        <a:t>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two remotely sensed domains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Domain</a:t>
                      </a:r>
                    </a:p>
                  </a:txBody>
                  <a:tcPr/>
                </a:tc>
                <a:tc>
                  <a:txBody>
                    <a:bodyPr/>
                    <a:lstStyle/>
                    <a:p>
                      <a:pPr lvl="0" indent="0" marL="0" algn="r">
                        <a:buNone/>
                      </a:pPr>
                      <a:r>
                        <a:rPr/>
                        <a:t>Loss when dropped</a:t>
                      </a:r>
                    </a:p>
                  </a:txBody>
                  <a:tcPr/>
                </a:tc>
                <a:tc>
                  <a:txBody>
                    <a:bodyPr/>
                    <a:lstStyle/>
                    <a:p>
                      <a:pPr lvl="0" indent="0" marL="0" algn="r">
                        <a:buNone/>
                      </a:pPr>
                      <a:r>
                        <a:rPr/>
                        <a:t>Domain alone</a:t>
                      </a:r>
                    </a:p>
                  </a:txBody>
                  <a:tcPr/>
                </a:tc>
              </a:tr>
              <a:tr h="0">
                <a:tc>
                  <a:txBody>
                    <a:bodyPr/>
                    <a:lstStyle/>
                    <a:p>
                      <a:pPr lvl="0" indent="0" marL="0" algn="l">
                        <a:buNone/>
                      </a:pPr>
                      <a:r>
                        <a:rPr/>
                        <a:t>Climate and weather</a:t>
                      </a:r>
                    </a:p>
                  </a:txBody>
                </a:tc>
                <a:tc>
                  <a:txBody>
                    <a:bodyPr/>
                    <a:lstStyle/>
                    <a:p>
                      <a:pPr lvl="0" indent="0" marL="0" algn="r">
                        <a:buNone/>
                      </a:pPr>
                      <a:r>
                        <a:rPr/>
                        <a:t>0.019</a:t>
                      </a:r>
                    </a:p>
                  </a:txBody>
                </a:tc>
                <a:tc>
                  <a:txBody>
                    <a:bodyPr/>
                    <a:lstStyle/>
                    <a:p>
                      <a:pPr lvl="0" indent="0" marL="0" algn="r">
                        <a:buNone/>
                      </a:pPr>
                      <a:r>
                        <a:rPr/>
                        <a:t>0.353</a:t>
                      </a:r>
                    </a:p>
                  </a:txBody>
                </a:tc>
              </a:tr>
              <a:tr h="0">
                <a:tc>
                  <a:txBody>
                    <a:bodyPr/>
                    <a:lstStyle/>
                    <a:p>
                      <a:pPr lvl="0" indent="0" marL="0" algn="l">
                        <a:buNone/>
                      </a:pPr>
                      <a:r>
                        <a:rPr/>
                        <a:t>Soil characteristics</a:t>
                      </a:r>
                    </a:p>
                  </a:txBody>
                </a:tc>
                <a:tc>
                  <a:txBody>
                    <a:bodyPr/>
                    <a:lstStyle/>
                    <a:p>
                      <a:pPr lvl="0" indent="0" marL="0" algn="r">
                        <a:buNone/>
                      </a:pPr>
                      <a:r>
                        <a:rPr/>
                        <a:t>0.015</a:t>
                      </a:r>
                    </a:p>
                  </a:txBody>
                </a:tc>
                <a:tc>
                  <a:txBody>
                    <a:bodyPr/>
                    <a:lstStyle/>
                    <a:p>
                      <a:pPr lvl="0" indent="0" marL="0" algn="r">
                        <a:buNone/>
                      </a:pPr>
                      <a:r>
                        <a:rPr/>
                        <a:t>0.327</a:t>
                      </a:r>
                    </a:p>
                  </a:txBody>
                </a:tc>
              </a:tr>
              <a:tr h="0">
                <a:tc>
                  <a:txBody>
                    <a:bodyPr/>
                    <a:lstStyle/>
                    <a:p>
                      <a:pPr lvl="0" indent="0" marL="0" algn="l">
                        <a:buNone/>
                      </a:pPr>
                      <a:r>
                        <a:rPr/>
                        <a:t>Nutrition status (MODELLED SURFACE)</a:t>
                      </a:r>
                    </a:p>
                  </a:txBody>
                </a:tc>
                <a:tc>
                  <a:txBody>
                    <a:bodyPr/>
                    <a:lstStyle/>
                    <a:p>
                      <a:pPr lvl="0" indent="0" marL="0" algn="r">
                        <a:buNone/>
                      </a:pPr>
                      <a:r>
                        <a:rPr/>
                        <a:t>0.011</a:t>
                      </a:r>
                    </a:p>
                  </a:txBody>
                </a:tc>
                <a:tc>
                  <a:txBody>
                    <a:bodyPr/>
                    <a:lstStyle/>
                    <a:p>
                      <a:pPr lvl="0" indent="0" marL="0" algn="r">
                        <a:buNone/>
                      </a:pPr>
                      <a:r>
                        <a:rPr/>
                        <a:t>0.220</a:t>
                      </a:r>
                    </a:p>
                  </a:txBody>
                </a:tc>
              </a:tr>
              <a:tr h="0">
                <a:tc>
                  <a:txBody>
                    <a:bodyPr/>
                    <a:lstStyle/>
                    <a:p>
                      <a:pPr lvl="0" indent="0" marL="0" algn="l">
                        <a:buNone/>
                      </a:pPr>
                      <a:r>
                        <a:rPr/>
                        <a:t>Agricultural production, land use</a:t>
                      </a:r>
                    </a:p>
                  </a:txBody>
                </a:tc>
                <a:tc>
                  <a:txBody>
                    <a:bodyPr/>
                    <a:lstStyle/>
                    <a:p>
                      <a:pPr lvl="0" indent="0" marL="0" algn="r">
                        <a:buNone/>
                      </a:pPr>
                      <a:r>
                        <a:rPr/>
                        <a:t>0.010</a:t>
                      </a:r>
                    </a:p>
                  </a:txBody>
                </a:tc>
                <a:tc>
                  <a:txBody>
                    <a:bodyPr/>
                    <a:lstStyle/>
                    <a:p>
                      <a:pPr lvl="0" indent="0" marL="0" algn="r">
                        <a:buNone/>
                      </a:pPr>
                      <a:r>
                        <a:rPr/>
                        <a:t>0.262</a:t>
                      </a:r>
                    </a:p>
                  </a:txBody>
                </a:tc>
              </a:tr>
              <a:tr h="0">
                <a:tc>
                  <a:txBody>
                    <a:bodyPr/>
                    <a:lstStyle/>
                    <a:p>
                      <a:pPr lvl="0" indent="0" marL="0" algn="l">
                        <a:buNone/>
                      </a:pPr>
                      <a:r>
                        <a:rPr/>
                        <a:t>Livestock density</a:t>
                      </a:r>
                    </a:p>
                  </a:txBody>
                </a:tc>
                <a:tc>
                  <a:txBody>
                    <a:bodyPr/>
                    <a:lstStyle/>
                    <a:p>
                      <a:pPr lvl="0" indent="0" marL="0" algn="r">
                        <a:buNone/>
                      </a:pPr>
                      <a:r>
                        <a:rPr/>
                        <a:t>0.009</a:t>
                      </a:r>
                    </a:p>
                  </a:txBody>
                </a:tc>
                <a:tc>
                  <a:txBody>
                    <a:bodyPr/>
                    <a:lstStyle/>
                    <a:p>
                      <a:pPr lvl="0" indent="0" marL="0" algn="r">
                        <a:buNone/>
                      </a:pPr>
                      <a:r>
                        <a:rPr/>
                        <a:t>0.236</a:t>
                      </a:r>
                    </a:p>
                  </a:txBody>
                </a:tc>
              </a:tr>
              <a:tr h="0">
                <a:tc>
                  <a:txBody>
                    <a:bodyPr/>
                    <a:lstStyle/>
                    <a:p>
                      <a:pPr lvl="0" indent="0" marL="0" algn="l">
                        <a:buNone/>
                      </a:pPr>
                      <a:r>
                        <a:rPr/>
                        <a:t>Malaria incidence and treatment</a:t>
                      </a:r>
                    </a:p>
                  </a:txBody>
                </a:tc>
                <a:tc>
                  <a:txBody>
                    <a:bodyPr/>
                    <a:lstStyle/>
                    <a:p>
                      <a:pPr lvl="0" indent="0" marL="0" algn="r">
                        <a:buNone/>
                      </a:pPr>
                      <a:r>
                        <a:rPr/>
                        <a:t>0.005</a:t>
                      </a:r>
                    </a:p>
                  </a:txBody>
                </a:tc>
                <a:tc>
                  <a:txBody>
                    <a:bodyPr/>
                    <a:lstStyle/>
                    <a:p>
                      <a:pPr lvl="0" indent="0" marL="0" algn="r">
                        <a:buNone/>
                      </a:pPr>
                      <a:r>
                        <a:rPr/>
                        <a:t>0.043</a:t>
                      </a:r>
                    </a:p>
                  </a:txBody>
                </a:tc>
              </a:tr>
              <a:tr h="0">
                <a:tc>
                  <a:txBody>
                    <a:bodyPr/>
                    <a:lstStyle/>
                    <a:p>
                      <a:pPr lvl="0" indent="0" marL="0" algn="l">
                        <a:buNone/>
                      </a:pPr>
                      <a:r>
                        <a:rPr/>
                        <a:t>Helminth burden and control</a:t>
                      </a:r>
                    </a:p>
                  </a:txBody>
                </a:tc>
                <a:tc>
                  <a:txBody>
                    <a:bodyPr/>
                    <a:lstStyle/>
                    <a:p>
                      <a:pPr lvl="0" indent="0" marL="0" algn="r">
                        <a:buNone/>
                      </a:pPr>
                      <a:r>
                        <a:rPr/>
                        <a:t>0.002</a:t>
                      </a:r>
                    </a:p>
                  </a:txBody>
                </a:tc>
                <a:tc>
                  <a:txBody>
                    <a:bodyPr/>
                    <a:lstStyle/>
                    <a:p>
                      <a:pPr lvl="0" indent="0" marL="0" algn="r">
                        <a:buNone/>
                      </a:pPr>
                      <a:r>
                        <a:rPr/>
                        <a:t>-0.030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data sources carry transport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6946900"/>
                <a:gridCol w="736600"/>
                <a:gridCol w="1651000"/>
                <a:gridCol w="1193800"/>
              </a:tblGrid>
              <a:tr h="0">
                <a:tc>
                  <a:txBody>
                    <a:bodyPr/>
                    <a:lstStyle/>
                    <a:p>
                      <a:pPr lvl="0" indent="0" marL="0" algn="l">
                        <a:buNone/>
                      </a:pPr>
                      <a:r>
                        <a:rPr/>
                        <a:t>Source</a:t>
                      </a:r>
                    </a:p>
                  </a:txBody>
                  <a:tcPr/>
                </a:tc>
                <a:tc>
                  <a:txBody>
                    <a:bodyPr/>
                    <a:lstStyle/>
                    <a:p>
                      <a:pPr lvl="0" indent="0" marL="0" algn="r">
                        <a:buNone/>
                      </a:pPr>
                      <a:r>
                        <a:rPr/>
                        <a:t>Columns</a:t>
                      </a:r>
                    </a:p>
                  </a:txBody>
                  <a:tcPr/>
                </a:tc>
                <a:tc>
                  <a:txBody>
                    <a:bodyPr/>
                    <a:lstStyle/>
                    <a:p>
                      <a:pPr lvl="0" indent="0" marL="0" algn="r">
                        <a:buNone/>
                      </a:pPr>
                      <a:r>
                        <a:rPr/>
                        <a:t>Loss when dropped</a:t>
                      </a:r>
                    </a:p>
                  </a:txBody>
                  <a:tcPr/>
                </a:tc>
                <a:tc>
                  <a:txBody>
                    <a:bodyPr/>
                    <a:lstStyle/>
                    <a:p>
                      <a:pPr lvl="0" indent="0" marL="0" algn="r">
                        <a:buNone/>
                      </a:pPr>
                      <a:r>
                        <a:rPr/>
                        <a:t>Source alone</a:t>
                      </a:r>
                    </a:p>
                  </a:txBody>
                  <a:tcPr/>
                </a:tc>
              </a:tr>
              <a:tr h="0">
                <a:tc>
                  <a:txBody>
                    <a:bodyPr/>
                    <a:lstStyle/>
                    <a:p>
                      <a:pPr lvl="0" indent="0" marL="0" algn="l">
                        <a:buNone/>
                      </a:pPr>
                      <a:r>
                        <a:rPr/>
                        <a:t>SoilGrids/iSDA</a:t>
                      </a:r>
                    </a:p>
                  </a:txBody>
                </a:tc>
                <a:tc>
                  <a:txBody>
                    <a:bodyPr/>
                    <a:lstStyle/>
                    <a:p>
                      <a:pPr lvl="0" indent="0" marL="0" algn="r">
                        <a:buNone/>
                      </a:pPr>
                      <a:r>
                        <a:rPr/>
                        <a:t>45</a:t>
                      </a:r>
                    </a:p>
                  </a:txBody>
                </a:tc>
                <a:tc>
                  <a:txBody>
                    <a:bodyPr/>
                    <a:lstStyle/>
                    <a:p>
                      <a:pPr lvl="0" indent="0" marL="0" algn="r">
                        <a:buNone/>
                      </a:pPr>
                      <a:r>
                        <a:rPr/>
                        <a:t>0.015</a:t>
                      </a:r>
                    </a:p>
                  </a:txBody>
                </a:tc>
                <a:tc>
                  <a:txBody>
                    <a:bodyPr/>
                    <a:lstStyle/>
                    <a:p>
                      <a:pPr lvl="0" indent="0" marL="0" algn="r">
                        <a:buNone/>
                      </a:pPr>
                      <a:r>
                        <a:rPr/>
                        <a:t>0.327</a:t>
                      </a:r>
                    </a:p>
                  </a:txBody>
                </a:tc>
              </a:tr>
              <a:tr h="0">
                <a:tc>
                  <a:txBody>
                    <a:bodyPr/>
                    <a:lstStyle/>
                    <a:p>
                      <a:pPr lvl="0" indent="0" marL="0" algn="l">
                        <a:buNone/>
                      </a:pPr>
                      <a:r>
                        <a:rPr/>
                        <a:t>IHME</a:t>
                      </a:r>
                    </a:p>
                  </a:txBody>
                </a:tc>
                <a:tc>
                  <a:txBody>
                    <a:bodyPr/>
                    <a:lstStyle/>
                    <a:p>
                      <a:pPr lvl="0" indent="0" marL="0" algn="r">
                        <a:buNone/>
                      </a:pPr>
                      <a:r>
                        <a:rPr/>
                        <a:t>17</a:t>
                      </a:r>
                    </a:p>
                  </a:txBody>
                </a:tc>
                <a:tc>
                  <a:txBody>
                    <a:bodyPr/>
                    <a:lstStyle/>
                    <a:p>
                      <a:pPr lvl="0" indent="0" marL="0" algn="r">
                        <a:buNone/>
                      </a:pPr>
                      <a:r>
                        <a:rPr/>
                        <a:t>0.015</a:t>
                      </a:r>
                    </a:p>
                  </a:txBody>
                </a:tc>
                <a:tc>
                  <a:txBody>
                    <a:bodyPr/>
                    <a:lstStyle/>
                    <a:p>
                      <a:pPr lvl="0" indent="0" marL="0" algn="r">
                        <a:buNone/>
                      </a:pPr>
                      <a:r>
                        <a:rPr/>
                        <a:t>0.209</a:t>
                      </a:r>
                    </a:p>
                  </a:txBody>
                </a:tc>
              </a:tr>
              <a:tr h="0">
                <a:tc>
                  <a:txBody>
                    <a:bodyPr/>
                    <a:lstStyle/>
                    <a:p>
                      <a:pPr lvl="0" indent="0" marL="0" algn="l">
                        <a:buNone/>
                      </a:pPr>
                      <a:r>
                        <a:rPr/>
                        <a:t>MapSPAM</a:t>
                      </a:r>
                    </a:p>
                  </a:txBody>
                </a:tc>
                <a:tc>
                  <a:txBody>
                    <a:bodyPr/>
                    <a:lstStyle/>
                    <a:p>
                      <a:pPr lvl="0" indent="0" marL="0" algn="r">
                        <a:buNone/>
                      </a:pPr>
                      <a:r>
                        <a:rPr/>
                        <a:t>12</a:t>
                      </a:r>
                    </a:p>
                  </a:txBody>
                </a:tc>
                <a:tc>
                  <a:txBody>
                    <a:bodyPr/>
                    <a:lstStyle/>
                    <a:p>
                      <a:pPr lvl="0" indent="0" marL="0" algn="r">
                        <a:buNone/>
                      </a:pPr>
                      <a:r>
                        <a:rPr/>
                        <a:t>0.010</a:t>
                      </a:r>
                    </a:p>
                  </a:txBody>
                </a:tc>
                <a:tc>
                  <a:txBody>
                    <a:bodyPr/>
                    <a:lstStyle/>
                    <a:p>
                      <a:pPr lvl="0" indent="0" marL="0" algn="r">
                        <a:buNone/>
                      </a:pPr>
                      <a:r>
                        <a:rPr/>
                        <a:t>0.179</a:t>
                      </a:r>
                    </a:p>
                  </a:txBody>
                </a:tc>
              </a:tr>
              <a:tr h="0">
                <a:tc>
                  <a:txBody>
                    <a:bodyPr/>
                    <a:lstStyle/>
                    <a:p>
                      <a:pPr lvl="0" indent="0" marL="0" algn="l">
                        <a:buNone/>
                      </a:pPr>
                      <a:r>
                        <a:rPr/>
                        <a:t>Gridded Livestock of the World 4 (2020, 5 arc-min, dasymetric; FAO catalog)</a:t>
                      </a:r>
                    </a:p>
                  </a:txBody>
                </a:tc>
                <a:tc>
                  <a:txBody>
                    <a:bodyPr/>
                    <a:lstStyle/>
                    <a:p>
                      <a:pPr lvl="0" indent="0" marL="0" algn="r">
                        <a:buNone/>
                      </a:pPr>
                      <a:r>
                        <a:rPr/>
                        <a:t>8</a:t>
                      </a:r>
                    </a:p>
                  </a:txBody>
                </a:tc>
                <a:tc>
                  <a:txBody>
                    <a:bodyPr/>
                    <a:lstStyle/>
                    <a:p>
                      <a:pPr lvl="0" indent="0" marL="0" algn="r">
                        <a:buNone/>
                      </a:pPr>
                      <a:r>
                        <a:rPr/>
                        <a:t>0.009</a:t>
                      </a:r>
                    </a:p>
                  </a:txBody>
                </a:tc>
                <a:tc>
                  <a:txBody>
                    <a:bodyPr/>
                    <a:lstStyle/>
                    <a:p>
                      <a:pPr lvl="0" indent="0" marL="0" algn="r">
                        <a:buNone/>
                      </a:pPr>
                      <a:r>
                        <a:rPr/>
                        <a:t>0.236</a:t>
                      </a:r>
                    </a:p>
                  </a:txBody>
                </a:tc>
              </a:tr>
              <a:tr h="0">
                <a:tc>
                  <a:txBody>
                    <a:bodyPr/>
                    <a:lstStyle/>
                    <a:p>
                      <a:pPr lvl="0" indent="0" marL="0" algn="l">
                        <a:buNone/>
                      </a:pPr>
                      <a:r>
                        <a:rPr/>
                        <a:t>Malaria Atlas</a:t>
                      </a:r>
                    </a:p>
                  </a:txBody>
                </a:tc>
                <a:tc>
                  <a:txBody>
                    <a:bodyPr/>
                    <a:lstStyle/>
                    <a:p>
                      <a:pPr lvl="0" indent="0" marL="0" algn="r">
                        <a:buNone/>
                      </a:pPr>
                      <a:r>
                        <a:rPr/>
                        <a:t>11</a:t>
                      </a:r>
                    </a:p>
                  </a:txBody>
                </a:tc>
                <a:tc>
                  <a:txBody>
                    <a:bodyPr/>
                    <a:lstStyle/>
                    <a:p>
                      <a:pPr lvl="0" indent="0" marL="0" algn="r">
                        <a:buNone/>
                      </a:pPr>
                      <a:r>
                        <a:rPr/>
                        <a:t>0.005</a:t>
                      </a:r>
                    </a:p>
                  </a:txBody>
                </a:tc>
                <a:tc>
                  <a:txBody>
                    <a:bodyPr/>
                    <a:lstStyle/>
                    <a:p>
                      <a:pPr lvl="0" indent="0" marL="0" algn="r">
                        <a:buNone/>
                      </a:pPr>
                      <a:r>
                        <a:rPr/>
                        <a:t>0.043</a:t>
                      </a:r>
                    </a:p>
                  </a:txBody>
                </a:tc>
              </a:tr>
              <a:tr h="0">
                <a:tc>
                  <a:txBody>
                    <a:bodyPr/>
                    <a:lstStyle/>
                    <a:p>
                      <a:pPr lvl="0" indent="0" marL="0" algn="l">
                        <a:buNone/>
                      </a:pPr>
                      <a:r>
                        <a:rPr/>
                        <a:t>WHO ESPEN implementation-unit database 2014-2025 (portal export, no key)</a:t>
                      </a:r>
                    </a:p>
                  </a:txBody>
                </a:tc>
                <a:tc>
                  <a:txBody>
                    <a:bodyPr/>
                    <a:lstStyle/>
                    <a:p>
                      <a:pPr lvl="0" indent="0" marL="0" algn="r">
                        <a:buNone/>
                      </a:pPr>
                      <a:r>
                        <a:rPr/>
                        <a:t>4</a:t>
                      </a:r>
                    </a:p>
                  </a:txBody>
                </a:tc>
                <a:tc>
                  <a:txBody>
                    <a:bodyPr/>
                    <a:lstStyle/>
                    <a:p>
                      <a:pPr lvl="0" indent="0" marL="0" algn="r">
                        <a:buNone/>
                      </a:pPr>
                      <a:r>
                        <a:rPr/>
                        <a:t>0.002</a:t>
                      </a:r>
                    </a:p>
                  </a:txBody>
                </a:tc>
                <a:tc>
                  <a:txBody>
                    <a:bodyPr/>
                    <a:lstStyle/>
                    <a:p>
                      <a:pPr lvl="0" indent="0" marL="0" algn="r">
                        <a:buNone/>
                      </a:pPr>
                      <a:r>
                        <a:rPr/>
                        <a:t>-0.030</a:t>
                      </a:r>
                    </a:p>
                  </a:txBody>
                </a:tc>
              </a:tr>
              <a:tr h="0">
                <a:tc>
                  <a:txBody>
                    <a:bodyPr/>
                    <a:lstStyle/>
                    <a:p>
                      <a:pPr lvl="0" indent="0" marL="0" algn="l">
                        <a:buNone/>
                      </a:pPr>
                      <a:r>
                        <a:rPr/>
                        <a:t>DHS</a:t>
                      </a:r>
                    </a:p>
                  </a:txBody>
                </a:tc>
                <a:tc>
                  <a:txBody>
                    <a:bodyPr/>
                    <a:lstStyle/>
                    <a:p>
                      <a:pPr lvl="0" indent="0" marL="0" algn="r">
                        <a:buNone/>
                      </a:pPr>
                      <a:r>
                        <a:rPr/>
                        <a:t>131</a:t>
                      </a:r>
                    </a:p>
                  </a:txBody>
                </a:tc>
                <a:tc>
                  <a:txBody>
                    <a:bodyPr/>
                    <a:lstStyle/>
                    <a:p>
                      <a:pPr lvl="0" indent="0" marL="0" algn="r">
                        <a:buNone/>
                      </a:pPr>
                      <a:r>
                        <a:rPr/>
                        <a:t>-0.067</a:t>
                      </a:r>
                    </a:p>
                  </a:txBody>
                </a:tc>
                <a:tc>
                  <a:txBody>
                    <a:bodyPr/>
                    <a:lstStyle/>
                    <a:p>
                      <a:pPr lvl="0" indent="0" marL="0" algn="r">
                        <a:buNone/>
                      </a:pPr>
                      <a:r>
                        <a:rPr/>
                        <a:t>0.155</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added training country still buys accuracy</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an urban-rural map</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03300"/>
                <a:gridCol w="2349500"/>
                <a:gridCol w="3022600"/>
                <a:gridCol w="1905000"/>
                <a:gridCol w="2235200"/>
              </a:tblGrid>
              <a:tr h="0">
                <a:tc>
                  <a:txBody>
                    <a:bodyPr/>
                    <a:lstStyle/>
                    <a:p>
                      <a:pPr lvl="0" indent="0" marL="0" algn="l">
                        <a:buNone/>
                      </a:pPr>
                      <a:r>
                        <a:rPr/>
                        <a:t>Tier</a:t>
                      </a:r>
                    </a:p>
                  </a:txBody>
                  <a:tcPr/>
                </a:tc>
                <a:tc>
                  <a:txBody>
                    <a:bodyPr/>
                    <a:lstStyle/>
                    <a:p>
                      <a:pPr lvl="0" indent="0" marL="0" algn="r">
                        <a:buNone/>
                      </a:pPr>
                      <a:r>
                        <a:rPr/>
                        <a:t>Climate + soil index</a:t>
                      </a:r>
                    </a:p>
                  </a:txBody>
                  <a:tcPr/>
                </a:tc>
                <a:tc>
                  <a:txBody>
                    <a:bodyPr/>
                    <a:lstStyle/>
                    <a:p>
                      <a:pPr lvl="0" indent="0" marL="0" algn="r">
                        <a:buNone/>
                      </a:pPr>
                      <a:r>
                        <a:rPr/>
                        <a:t>Partialling out urbanicity</a:t>
                      </a:r>
                    </a:p>
                  </a:txBody>
                  <a:tcPr/>
                </a:tc>
                <a:tc>
                  <a:txBody>
                    <a:bodyPr/>
                    <a:lstStyle/>
                    <a:p>
                      <a:pPr lvl="0" indent="0" marL="0" algn="r">
                        <a:buNone/>
                      </a:pPr>
                      <a:r>
                        <a:rPr/>
                        <a:t>Urbanicity alone</a:t>
                      </a:r>
                    </a:p>
                  </a:txBody>
                  <a:tcPr/>
                </a:tc>
                <a:tc>
                  <a:txBody>
                    <a:bodyPr/>
                    <a:lstStyle/>
                    <a:p>
                      <a:pPr lvl="0" indent="0" marL="0" algn="r">
                        <a:buNone/>
                      </a:pPr>
                      <a:r>
                        <a:rPr/>
                        <a:t>Index vs urbanicity</a:t>
                      </a:r>
                    </a:p>
                  </a:txBody>
                  <a:tcPr/>
                </a:tc>
              </a:tr>
              <a:tr h="0">
                <a:tc>
                  <a:txBody>
                    <a:bodyPr/>
                    <a:lstStyle/>
                    <a:p>
                      <a:pPr lvl="0" indent="0" marL="0" algn="l">
                        <a:buNone/>
                      </a:pPr>
                      <a:r>
                        <a:rPr/>
                        <a:t>District</a:t>
                      </a:r>
                    </a:p>
                  </a:txBody>
                </a:tc>
                <a:tc>
                  <a:txBody>
                    <a:bodyPr/>
                    <a:lstStyle/>
                    <a:p>
                      <a:pPr lvl="0" indent="0" marL="0" algn="r">
                        <a:buNone/>
                      </a:pPr>
                      <a:r>
                        <a:rPr/>
                        <a:t>0.37</a:t>
                      </a:r>
                    </a:p>
                  </a:txBody>
                </a:tc>
                <a:tc>
                  <a:txBody>
                    <a:bodyPr/>
                    <a:lstStyle/>
                    <a:p>
                      <a:pPr lvl="0" indent="0" marL="0" algn="r">
                        <a:buNone/>
                      </a:pPr>
                      <a:r>
                        <a:rPr/>
                        <a:t>0.36</a:t>
                      </a:r>
                    </a:p>
                  </a:txBody>
                </a:tc>
                <a:tc>
                  <a:txBody>
                    <a:bodyPr/>
                    <a:lstStyle/>
                    <a:p>
                      <a:pPr lvl="0" indent="0" marL="0" algn="r">
                        <a:buNone/>
                      </a:pPr>
                      <a:r>
                        <a:rPr/>
                        <a:t>-0.05</a:t>
                      </a:r>
                    </a:p>
                  </a:txBody>
                </a:tc>
                <a:tc>
                  <a:txBody>
                    <a:bodyPr/>
                    <a:lstStyle/>
                    <a:p>
                      <a:pPr lvl="0" indent="0" marL="0" algn="r">
                        <a:buNone/>
                      </a:pPr>
                      <a:r>
                        <a:rPr/>
                        <a:t>0.14</a:t>
                      </a:r>
                    </a:p>
                  </a:txBody>
                </a:tc>
              </a:tr>
              <a:tr h="0">
                <a:tc>
                  <a:txBody>
                    <a:bodyPr/>
                    <a:lstStyle/>
                    <a:p>
                      <a:pPr lvl="0" indent="0" marL="0" algn="l">
                        <a:buNone/>
                      </a:pPr>
                      <a:r>
                        <a:rPr/>
                        <a:t>Regional</a:t>
                      </a:r>
                    </a:p>
                  </a:txBody>
                </a:tc>
                <a:tc>
                  <a:txBody>
                    <a:bodyPr/>
                    <a:lstStyle/>
                    <a:p>
                      <a:pPr lvl="0" indent="0" marL="0" algn="r">
                        <a:buNone/>
                      </a:pPr>
                      <a:r>
                        <a:rPr/>
                        <a:t>0.45</a:t>
                      </a:r>
                    </a:p>
                  </a:txBody>
                </a:tc>
                <a:tc>
                  <a:txBody>
                    <a:bodyPr/>
                    <a:lstStyle/>
                    <a:p>
                      <a:pPr lvl="0" indent="0" marL="0" algn="r">
                        <a:buNone/>
                      </a:pPr>
                      <a:r>
                        <a:rPr/>
                        <a:t>0.42</a:t>
                      </a:r>
                    </a:p>
                  </a:txBody>
                </a:tc>
                <a:tc>
                  <a:txBody>
                    <a:bodyPr/>
                    <a:lstStyle/>
                    <a:p>
                      <a:pPr lvl="0" indent="0" marL="0" algn="r">
                        <a:buNone/>
                      </a:pPr>
                      <a:r>
                        <a:rPr/>
                        <a:t>-0.08</a:t>
                      </a:r>
                    </a:p>
                  </a:txBody>
                </a:tc>
                <a:tc>
                  <a:txBody>
                    <a:bodyPr/>
                    <a:lstStyle/>
                    <a:p>
                      <a:pPr lvl="0" indent="0" marL="0" algn="r">
                        <a:buNone/>
                      </a:pPr>
                      <a:r>
                        <a:rPr/>
                        <a:t>0.16</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Indicators that replicate in every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527300"/>
                <a:gridCol w="3644900"/>
                <a:gridCol w="1257300"/>
                <a:gridCol w="2247900"/>
                <a:gridCol w="838200"/>
              </a:tblGrid>
              <a:tr h="0">
                <a:tc>
                  <a:txBody>
                    <a:bodyPr/>
                    <a:lstStyle/>
                    <a:p>
                      <a:pPr lvl="0" indent="0" marL="0" algn="l">
                        <a:buNone/>
                      </a:pPr>
                      <a:r>
                        <a:rPr/>
                        <a:t>Outcome</a:t>
                      </a:r>
                    </a:p>
                  </a:txBody>
                  <a:tcPr/>
                </a:tc>
                <a:tc>
                  <a:txBody>
                    <a:bodyPr/>
                    <a:lstStyle/>
                    <a:p>
                      <a:pPr lvl="0" indent="0" marL="0" algn="l">
                        <a:buNone/>
                      </a:pPr>
                      <a:r>
                        <a:rPr/>
                        <a:t>Indicator</a:t>
                      </a:r>
                    </a:p>
                  </a:txBody>
                  <a:tcPr/>
                </a:tc>
                <a:tc>
                  <a:txBody>
                    <a:bodyPr/>
                    <a:lstStyle/>
                    <a:p>
                      <a:pPr lvl="0" indent="0" marL="0" algn="r">
                        <a:buNone/>
                      </a:pPr>
                      <a:r>
                        <a:rPr/>
                        <a:t>Pooled z</a:t>
                      </a:r>
                    </a:p>
                  </a:txBody>
                  <a:tcPr/>
                </a:tc>
                <a:tc>
                  <a:txBody>
                    <a:bodyPr/>
                    <a:lstStyle/>
                    <a:p>
                      <a:pPr lvl="0" indent="0" marL="0" algn="l">
                        <a:buNone/>
                      </a:pPr>
                      <a:r>
                        <a:rPr/>
                        <a:t>Direction</a:t>
                      </a:r>
                    </a:p>
                  </a:txBody>
                  <a:tcPr/>
                </a:tc>
                <a:tc>
                  <a:txBody>
                    <a:bodyPr/>
                    <a:lstStyle/>
                    <a:p>
                      <a:pPr lvl="0" indent="0" marL="0" algn="l">
                        <a:buNone/>
                      </a:pPr>
                      <a:r>
                        <a:rPr/>
                        <a:t>Agree</a:t>
                      </a:r>
                    </a:p>
                  </a:txBody>
                  <a:tcPr/>
                </a:tc>
              </a:tr>
              <a:tr h="0">
                <a:tc>
                  <a:txBody>
                    <a:bodyPr/>
                    <a:lstStyle/>
                    <a:p>
                      <a:pPr lvl="0" indent="0" marL="0" algn="l">
                        <a:buNone/>
                      </a:pPr>
                      <a:r>
                        <a:rPr/>
                        <a:t>Child iron</a:t>
                      </a:r>
                    </a:p>
                  </a:txBody>
                </a:tc>
                <a:tc>
                  <a:txBody>
                    <a:bodyPr/>
                    <a:lstStyle/>
                    <a:p>
                      <a:pPr lvl="0" indent="0" marL="0" algn="l">
                        <a:buNone/>
                      </a:pPr>
                      <a:r>
                        <a:rPr/>
                        <a:t>dhs_hh_cattle</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3/3</a:t>
                      </a:r>
                    </a:p>
                  </a:txBody>
                </a:tc>
              </a:tr>
              <a:tr h="0">
                <a:tc>
                  <a:txBody>
                    <a:bodyPr/>
                    <a:lstStyle/>
                    <a:p>
                      <a:pPr lvl="0" indent="0" marL="0" algn="l">
                        <a:buNone/>
                      </a:pPr>
                      <a:r>
                        <a:rPr/>
                        <a:t>Child iron</a:t>
                      </a:r>
                    </a:p>
                  </a:txBody>
                </a:tc>
                <a:tc>
                  <a:txBody>
                    <a:bodyPr/>
                    <a:lstStyle/>
                    <a:p>
                      <a:pPr lvl="0" indent="0" marL="0" algn="l">
                        <a:buNone/>
                      </a:pPr>
                      <a:r>
                        <a:rPr/>
                        <a:t>spam_share_cereals</a:t>
                      </a:r>
                    </a:p>
                  </a:txBody>
                </a:tc>
                <a:tc>
                  <a:txBody>
                    <a:bodyPr/>
                    <a:lstStyle/>
                    <a:p>
                      <a:pPr lvl="0" indent="0" marL="0" algn="r">
                        <a:buNone/>
                      </a:pPr>
                      <a:r>
                        <a:rPr/>
                        <a:t>4.3</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dhs_c_fg_legumes</a:t>
                      </a:r>
                    </a:p>
                  </a:txBody>
                </a:tc>
                <a:tc>
                  <a:txBody>
                    <a:bodyPr/>
                    <a:lstStyle/>
                    <a:p>
                      <a:pPr lvl="0" indent="0" marL="0" algn="r">
                        <a:buNone/>
                      </a:pPr>
                      <a:r>
                        <a:rPr/>
                        <a:t>4.9</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lst_night_annual_mean_t0</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lst_night_m04_t0</a:t>
                      </a:r>
                    </a:p>
                  </a:txBody>
                </a:tc>
                <a:tc>
                  <a:txBody>
                    <a:bodyPr/>
                    <a:lstStyle/>
                    <a:p>
                      <a:pPr lvl="0" indent="0" marL="0" algn="r">
                        <a:buNone/>
                      </a:pPr>
                      <a:r>
                        <a:rPr/>
                        <a:t>5.0</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soil_aluminium_stdev_0_20</a:t>
                      </a:r>
                    </a:p>
                  </a:txBody>
                </a:tc>
                <a:tc>
                  <a:txBody>
                    <a:bodyPr/>
                    <a:lstStyle/>
                    <a:p>
                      <a:pPr lvl="0" indent="0" marL="0" algn="r">
                        <a:buNone/>
                      </a:pPr>
                      <a:r>
                        <a:rPr/>
                        <a:t>3.7</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aef_A03</a:t>
                      </a:r>
                    </a:p>
                  </a:txBody>
                </a:tc>
                <a:tc>
                  <a:txBody>
                    <a:bodyPr/>
                    <a:lstStyle/>
                    <a:p>
                      <a:pPr lvl="0" indent="0" marL="0" algn="r">
                        <a:buNone/>
                      </a:pPr>
                      <a:r>
                        <a:rPr/>
                        <a:t>3.6</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soil_aluminium_stdev_0_20</a:t>
                      </a:r>
                    </a:p>
                  </a:txBody>
                </a:tc>
                <a:tc>
                  <a:txBody>
                    <a:bodyPr/>
                    <a:lstStyle/>
                    <a:p>
                      <a:pPr lvl="0" indent="0" marL="0" algn="r">
                        <a:buNone/>
                      </a:pPr>
                      <a:r>
                        <a:rPr/>
                        <a:t>3.5</a:t>
                      </a:r>
                    </a:p>
                  </a:txBody>
                </a:tc>
                <a:tc>
                  <a:txBody>
                    <a:bodyPr/>
                    <a:lstStyle/>
                    <a:p>
                      <a:pPr lvl="0" indent="0" marL="0" algn="l">
                        <a:buNone/>
                      </a:pPr>
                      <a:r>
                        <a:rPr/>
                        <a:t>more deficiency</a:t>
                      </a:r>
                    </a:p>
                  </a:txBody>
                </a:tc>
                <a:tc>
                  <a:txBody>
                    <a:bodyPr/>
                    <a:lstStyle/>
                    <a:p>
                      <a:pPr lvl="0" indent="0" marL="0" algn="l">
                        <a:buNone/>
                      </a:pPr>
                      <a:r>
                        <a:rPr/>
                        <a:t>4/4</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is attainable: the ceiling, corrected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22400"/>
                <a:gridCol w="2959100"/>
                <a:gridCol w="2247900"/>
                <a:gridCol w="1778000"/>
                <a:gridCol w="2120900"/>
              </a:tblGrid>
              <a:tr h="0">
                <a:tc>
                  <a:txBody>
                    <a:bodyPr/>
                    <a:lstStyle/>
                    <a:p>
                      <a:pPr lvl="0" indent="0" marL="0" algn="l">
                        <a:buNone/>
                      </a:pPr>
                      <a:r>
                        <a:rPr/>
                        <a:t>Country</a:t>
                      </a:r>
                    </a:p>
                  </a:txBody>
                  <a:tcPr/>
                </a:tc>
                <a:tc>
                  <a:txBody>
                    <a:bodyPr/>
                    <a:lstStyle/>
                    <a:p>
                      <a:pPr lvl="0" indent="0" marL="0" algn="l">
                        <a:buNone/>
                      </a:pPr>
                      <a:r>
                        <a:rPr/>
                        <a:t>Single-cluster districts</a:t>
                      </a:r>
                    </a:p>
                  </a:txBody>
                  <a:tcPr/>
                </a:tc>
                <a:tc>
                  <a:txBody>
                    <a:bodyPr/>
                    <a:lstStyle/>
                    <a:p>
                      <a:pPr lvl="0" indent="0" marL="0" algn="r">
                        <a:buNone/>
                      </a:pPr>
                      <a:r>
                        <a:rPr/>
                        <a:t>Split-half ceiling</a:t>
                      </a:r>
                    </a:p>
                  </a:txBody>
                  <a:tcPr/>
                </a:tc>
                <a:tc>
                  <a:txBody>
                    <a:bodyPr/>
                    <a:lstStyle/>
                    <a:p>
                      <a:pPr lvl="0" indent="0" marL="0" algn="r">
                        <a:buNone/>
                      </a:pPr>
                      <a:r>
                        <a:rPr/>
                        <a:t>Honest ceiling</a:t>
                      </a:r>
                    </a:p>
                  </a:txBody>
                  <a:tcPr/>
                </a:tc>
                <a:tc>
                  <a:txBody>
                    <a:bodyPr/>
                    <a:lstStyle/>
                    <a:p>
                      <a:pPr lvl="0" indent="0" marL="0" algn="r">
                        <a:buNone/>
                      </a:pPr>
                      <a:r>
                        <a:rPr/>
                        <a:t>Achieved, in-fill</a:t>
                      </a:r>
                    </a:p>
                  </a:txBody>
                  <a:tcPr/>
                </a:tc>
              </a:tr>
              <a:tr h="0">
                <a:tc>
                  <a:txBody>
                    <a:bodyPr/>
                    <a:lstStyle/>
                    <a:p>
                      <a:pPr lvl="0" indent="0" marL="0" algn="l">
                        <a:buNone/>
                      </a:pPr>
                      <a:r>
                        <a:rPr/>
                        <a:t>Gambia</a:t>
                      </a:r>
                    </a:p>
                  </a:txBody>
                </a:tc>
                <a:tc>
                  <a:txBody>
                    <a:bodyPr/>
                    <a:lstStyle/>
                    <a:p>
                      <a:pPr lvl="0" indent="0" marL="0" algn="l">
                        <a:buNone/>
                      </a:pPr>
                      <a:r>
                        <a:rPr/>
                        <a:t>57%</a:t>
                      </a:r>
                    </a:p>
                  </a:txBody>
                </a:tc>
                <a:tc>
                  <a:txBody>
                    <a:bodyPr/>
                    <a:lstStyle/>
                    <a:p>
                      <a:pPr lvl="0" indent="0" marL="0" algn="r">
                        <a:buNone/>
                      </a:pPr>
                      <a:r>
                        <a:rPr/>
                        <a:t>0.76</a:t>
                      </a:r>
                    </a:p>
                  </a:txBody>
                </a:tc>
                <a:tc>
                  <a:txBody>
                    <a:bodyPr/>
                    <a:lstStyle/>
                    <a:p>
                      <a:pPr lvl="0" indent="0" marL="0" algn="r">
                        <a:buNone/>
                      </a:pPr>
                      <a:r>
                        <a:rPr/>
                        <a:t>0.70</a:t>
                      </a:r>
                    </a:p>
                  </a:txBody>
                </a:tc>
                <a:tc>
                  <a:txBody>
                    <a:bodyPr/>
                    <a:lstStyle/>
                    <a:p>
                      <a:pPr lvl="0" indent="0" marL="0" algn="r">
                        <a:buNone/>
                      </a:pPr>
                      <a:r>
                        <a:rPr/>
                        <a:t>0.59</a:t>
                      </a:r>
                    </a:p>
                  </a:txBody>
                </a:tc>
              </a:tr>
              <a:tr h="0">
                <a:tc>
                  <a:txBody>
                    <a:bodyPr/>
                    <a:lstStyle/>
                    <a:p>
                      <a:pPr lvl="0" indent="0" marL="0" algn="l">
                        <a:buNone/>
                      </a:pPr>
                      <a:r>
                        <a:rPr/>
                        <a:t>Ghana</a:t>
                      </a:r>
                    </a:p>
                  </a:txBody>
                </a:tc>
                <a:tc>
                  <a:txBody>
                    <a:bodyPr/>
                    <a:lstStyle/>
                    <a:p>
                      <a:pPr lvl="0" indent="0" marL="0" algn="l">
                        <a:buNone/>
                      </a:pPr>
                      <a:r>
                        <a:rPr/>
                        <a:t>83%</a:t>
                      </a:r>
                    </a:p>
                  </a:txBody>
                </a:tc>
                <a:tc>
                  <a:txBody>
                    <a:bodyPr/>
                    <a:lstStyle/>
                    <a:p>
                      <a:pPr lvl="0" indent="0" marL="0" algn="r">
                        <a:buNone/>
                      </a:pPr>
                      <a:r>
                        <a:rPr/>
                        <a:t>0.62</a:t>
                      </a:r>
                    </a:p>
                  </a:txBody>
                </a:tc>
                <a:tc>
                  <a:txBody>
                    <a:bodyPr/>
                    <a:lstStyle/>
                    <a:p>
                      <a:pPr lvl="0" indent="0" marL="0" algn="r">
                        <a:buNone/>
                      </a:pPr>
                      <a:r>
                        <a:rPr/>
                        <a:t>0.58</a:t>
                      </a:r>
                    </a:p>
                  </a:txBody>
                </a:tc>
                <a:tc>
                  <a:txBody>
                    <a:bodyPr/>
                    <a:lstStyle/>
                    <a:p>
                      <a:pPr lvl="0" indent="0" marL="0" algn="r">
                        <a:buNone/>
                      </a:pPr>
                      <a:r>
                        <a:rPr/>
                        <a:t>0.31</a:t>
                      </a:r>
                    </a:p>
                  </a:txBody>
                </a:tc>
              </a:tr>
              <a:tr h="0">
                <a:tc>
                  <a:txBody>
                    <a:bodyPr/>
                    <a:lstStyle/>
                    <a:p>
                      <a:pPr lvl="0" indent="0" marL="0" algn="l">
                        <a:buNone/>
                      </a:pPr>
                      <a:r>
                        <a:rPr/>
                        <a:t>Malawi</a:t>
                      </a:r>
                    </a:p>
                  </a:txBody>
                </a:tc>
                <a:tc>
                  <a:txBody>
                    <a:bodyPr/>
                    <a:lstStyle/>
                    <a:p>
                      <a:pPr lvl="0" indent="0" marL="0" algn="l">
                        <a:buNone/>
                      </a:pPr>
                      <a:r>
                        <a:rPr/>
                        <a:t>85%</a:t>
                      </a:r>
                    </a:p>
                  </a:txBody>
                </a:tc>
                <a:tc>
                  <a:txBody>
                    <a:bodyPr/>
                    <a:lstStyle/>
                    <a:p>
                      <a:pPr lvl="0" indent="0" marL="0" algn="r">
                        <a:buNone/>
                      </a:pPr>
                      <a:r>
                        <a:rPr/>
                        <a:t>0.51</a:t>
                      </a:r>
                    </a:p>
                  </a:txBody>
                </a:tc>
                <a:tc>
                  <a:txBody>
                    <a:bodyPr/>
                    <a:lstStyle/>
                    <a:p>
                      <a:pPr lvl="0" indent="0" marL="0" algn="r">
                        <a:buNone/>
                      </a:pPr>
                      <a:r>
                        <a:rPr/>
                        <a:t>0.37</a:t>
                      </a:r>
                    </a:p>
                  </a:txBody>
                </a:tc>
                <a:tc>
                  <a:txBody>
                    <a:bodyPr/>
                    <a:lstStyle/>
                    <a:p>
                      <a:pPr lvl="0" indent="0" marL="0" algn="r">
                        <a:buNone/>
                      </a:pPr>
                      <a:r>
                        <a:rPr/>
                        <a:t>0.12</a:t>
                      </a:r>
                    </a:p>
                  </a:txBody>
                </a:tc>
              </a:tr>
              <a:tr h="0">
                <a:tc>
                  <a:txBody>
                    <a:bodyPr/>
                    <a:lstStyle/>
                    <a:p>
                      <a:pPr lvl="0" indent="0" marL="0" algn="l">
                        <a:buNone/>
                      </a:pPr>
                      <a:r>
                        <a:rPr/>
                        <a:t>SierraLeone</a:t>
                      </a:r>
                    </a:p>
                  </a:txBody>
                </a:tc>
                <a:tc>
                  <a:txBody>
                    <a:bodyPr/>
                    <a:lstStyle/>
                    <a:p>
                      <a:pPr lvl="0" indent="0" marL="0" algn="l">
                        <a:buNone/>
                      </a:pPr>
                      <a:r>
                        <a:rPr/>
                        <a:t>0%</a:t>
                      </a:r>
                    </a:p>
                  </a:txBody>
                </a:tc>
                <a:tc>
                  <a:txBody>
                    <a:bodyPr/>
                    <a:lstStyle/>
                    <a:p>
                      <a:pPr lvl="0" indent="0" marL="0" algn="r">
                        <a:buNone/>
                      </a:pPr>
                      <a:r>
                        <a:rPr/>
                        <a:t>0.37</a:t>
                      </a:r>
                    </a:p>
                  </a:txBody>
                </a:tc>
                <a:tc>
                  <a:txBody>
                    <a:bodyPr/>
                    <a:lstStyle/>
                    <a:p>
                      <a:pPr lvl="0" indent="0" marL="0" algn="r">
                        <a:buNone/>
                      </a:pPr>
                      <a:r>
                        <a:rPr/>
                        <a:t>0.21</a:t>
                      </a:r>
                    </a:p>
                  </a:txBody>
                </a:tc>
                <a:tc>
                  <a:txBody>
                    <a:bodyPr/>
                    <a:lstStyle/>
                    <a:p>
                      <a:pPr lvl="0" indent="0" marL="0" algn="r">
                        <a:buNone/>
                      </a:pPr>
                      <a:r>
                        <a:rPr/>
                        <a:t>NaN</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 matched sample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82800"/>
                <a:gridCol w="2578100"/>
                <a:gridCol w="2679700"/>
                <a:gridCol w="1587500"/>
                <a:gridCol w="1587500"/>
              </a:tblGrid>
              <a:tr h="0">
                <a:tc>
                  <a:txBody>
                    <a:bodyPr/>
                    <a:lstStyle/>
                    <a:p>
                      <a:pPr lvl="0" indent="0" marL="0" algn="l">
                        <a:buNone/>
                      </a:pPr>
                      <a:r>
                        <a:rPr/>
                        <a:t>Share of full sample</a:t>
                      </a:r>
                    </a:p>
                  </a:txBody>
                  <a:tcPr/>
                </a:tc>
                <a:tc>
                  <a:txBody>
                    <a:bodyPr/>
                    <a:lstStyle/>
                    <a:p>
                      <a:pPr lvl="0" indent="0" marL="0" algn="r">
                        <a:buNone/>
                      </a:pPr>
                      <a:r>
                        <a:rPr/>
                        <a:t>National anchor + ranking</a:t>
                      </a:r>
                    </a:p>
                  </a:txBody>
                  <a:tcPr/>
                </a:tc>
                <a:tc>
                  <a:txBody>
                    <a:bodyPr/>
                    <a:lstStyle/>
                    <a:p>
                      <a:pPr lvl="0" indent="0" marL="0" algn="r">
                        <a:buNone/>
                      </a:pPr>
                      <a:r>
                        <a:rPr/>
                        <a:t>Regional anchors + ranking</a:t>
                      </a:r>
                    </a:p>
                  </a:txBody>
                  <a:tcPr/>
                </a:tc>
                <a:tc>
                  <a:txBody>
                    <a:bodyPr/>
                    <a:lstStyle/>
                    <a:p>
                      <a:pPr lvl="0" indent="0" marL="0" algn="r">
                        <a:buNone/>
                      </a:pPr>
                      <a:r>
                        <a:rPr/>
                        <a:t>District survey</a:t>
                      </a:r>
                    </a:p>
                  </a:txBody>
                  <a:tcPr/>
                </a:tc>
                <a:tc>
                  <a:txBody>
                    <a:bodyPr/>
                    <a:lstStyle/>
                    <a:p>
                      <a:pPr lvl="0" indent="0" marL="0" algn="r">
                        <a:buNone/>
                      </a:pPr>
                      <a:r>
                        <a:rPr/>
                        <a:t>Regional survey</a:t>
                      </a:r>
                    </a:p>
                  </a:txBody>
                  <a:tcPr/>
                </a:tc>
              </a:tr>
              <a:tr h="0">
                <a:tc>
                  <a:txBody>
                    <a:bodyPr/>
                    <a:lstStyle/>
                    <a:p>
                      <a:pPr lvl="0" indent="0" marL="0" algn="l">
                        <a:buNone/>
                      </a:pPr>
                      <a:r>
                        <a:rPr/>
                        <a:t>5%</a:t>
                      </a:r>
                    </a:p>
                  </a:txBody>
                </a:tc>
                <a:tc>
                  <a:txBody>
                    <a:bodyPr/>
                    <a:lstStyle/>
                    <a:p>
                      <a:pPr lvl="0" indent="0" marL="0" algn="r">
                        <a:buNone/>
                      </a:pPr>
                      <a:r>
                        <a:rPr/>
                        <a:t>10.3</a:t>
                      </a:r>
                    </a:p>
                  </a:txBody>
                </a:tc>
                <a:tc>
                  <a:txBody>
                    <a:bodyPr/>
                    <a:lstStyle/>
                    <a:p>
                      <a:pPr lvl="0" indent="0" marL="0" algn="r">
                        <a:buNone/>
                      </a:pPr>
                      <a:r>
                        <a:rPr/>
                        <a:t>12.8</a:t>
                      </a:r>
                    </a:p>
                  </a:txBody>
                </a:tc>
                <a:tc>
                  <a:txBody>
                    <a:bodyPr/>
                    <a:lstStyle/>
                    <a:p>
                      <a:pPr lvl="0" indent="0" marL="0" algn="r">
                        <a:buNone/>
                      </a:pPr>
                      <a:r>
                        <a:rPr/>
                        <a:t>19.7</a:t>
                      </a:r>
                    </a:p>
                  </a:txBody>
                </a:tc>
                <a:tc>
                  <a:txBody>
                    <a:bodyPr/>
                    <a:lstStyle/>
                    <a:p>
                      <a:pPr lvl="0" indent="0" marL="0" algn="r">
                        <a:buNone/>
                      </a:pPr>
                      <a:r>
                        <a:rPr/>
                        <a:t>12.8</a:t>
                      </a:r>
                    </a:p>
                  </a:txBody>
                </a:tc>
              </a:tr>
              <a:tr h="0">
                <a:tc>
                  <a:txBody>
                    <a:bodyPr/>
                    <a:lstStyle/>
                    <a:p>
                      <a:pPr lvl="0" indent="0" marL="0" algn="l">
                        <a:buNone/>
                      </a:pPr>
                      <a:r>
                        <a:rPr/>
                        <a:t>15%</a:t>
                      </a:r>
                    </a:p>
                  </a:txBody>
                </a:tc>
                <a:tc>
                  <a:txBody>
                    <a:bodyPr/>
                    <a:lstStyle/>
                    <a:p>
                      <a:pPr lvl="0" indent="0" marL="0" algn="r">
                        <a:buNone/>
                      </a:pPr>
                      <a:r>
                        <a:rPr/>
                        <a:t>9.1</a:t>
                      </a:r>
                    </a:p>
                  </a:txBody>
                </a:tc>
                <a:tc>
                  <a:txBody>
                    <a:bodyPr/>
                    <a:lstStyle/>
                    <a:p>
                      <a:pPr lvl="0" indent="0" marL="0" algn="r">
                        <a:buNone/>
                      </a:pPr>
                      <a:r>
                        <a:rPr/>
                        <a:t>9.5</a:t>
                      </a:r>
                    </a:p>
                  </a:txBody>
                </a:tc>
                <a:tc>
                  <a:txBody>
                    <a:bodyPr/>
                    <a:lstStyle/>
                    <a:p>
                      <a:pPr lvl="0" indent="0" marL="0" algn="r">
                        <a:buNone/>
                      </a:pPr>
                      <a:r>
                        <a:rPr/>
                        <a:t>13.1</a:t>
                      </a:r>
                    </a:p>
                  </a:txBody>
                </a:tc>
                <a:tc>
                  <a:txBody>
                    <a:bodyPr/>
                    <a:lstStyle/>
                    <a:p>
                      <a:pPr lvl="0" indent="0" marL="0" algn="r">
                        <a:buNone/>
                      </a:pPr>
                      <a:r>
                        <a:rPr/>
                        <a:t>9.1</a:t>
                      </a:r>
                    </a:p>
                  </a:txBody>
                </a:tc>
              </a:tr>
              <a:tr h="0">
                <a:tc>
                  <a:txBody>
                    <a:bodyPr/>
                    <a:lstStyle/>
                    <a:p>
                      <a:pPr lvl="0" indent="0" marL="0" algn="l">
                        <a:buNone/>
                      </a:pPr>
                      <a:r>
                        <a:rPr/>
                        <a:t>25%</a:t>
                      </a:r>
                    </a:p>
                  </a:txBody>
                </a:tc>
                <a:tc>
                  <a:txBody>
                    <a:bodyPr/>
                    <a:lstStyle/>
                    <a:p>
                      <a:pPr lvl="0" indent="0" marL="0" algn="r">
                        <a:buNone/>
                      </a:pPr>
                      <a:r>
                        <a:rPr/>
                        <a:t>8.9</a:t>
                      </a:r>
                    </a:p>
                  </a:txBody>
                </a:tc>
                <a:tc>
                  <a:txBody>
                    <a:bodyPr/>
                    <a:lstStyle/>
                    <a:p>
                      <a:pPr lvl="0" indent="0" marL="0" algn="r">
                        <a:buNone/>
                      </a:pPr>
                      <a:r>
                        <a:rPr/>
                        <a:t>8.5</a:t>
                      </a:r>
                    </a:p>
                  </a:txBody>
                </a:tc>
                <a:tc>
                  <a:txBody>
                    <a:bodyPr/>
                    <a:lstStyle/>
                    <a:p>
                      <a:pPr lvl="0" indent="0" marL="0" algn="r">
                        <a:buNone/>
                      </a:pPr>
                      <a:r>
                        <a:rPr/>
                        <a:t>9.5</a:t>
                      </a:r>
                    </a:p>
                  </a:txBody>
                </a:tc>
                <a:tc>
                  <a:txBody>
                    <a:bodyPr/>
                    <a:lstStyle/>
                    <a:p>
                      <a:pPr lvl="0" indent="0" marL="0" algn="r">
                        <a:buNone/>
                      </a:pPr>
                      <a:r>
                        <a:rPr/>
                        <a:t>8.3</a:t>
                      </a:r>
                    </a:p>
                  </a:txBody>
                </a:tc>
              </a:tr>
              <a:tr h="0">
                <a:tc>
                  <a:txBody>
                    <a:bodyPr/>
                    <a:lstStyle/>
                    <a:p>
                      <a:pPr lvl="0" indent="0" marL="0" algn="l">
                        <a:buNone/>
                      </a:pPr>
                      <a:r>
                        <a:rPr/>
                        <a:t>40%</a:t>
                      </a:r>
                    </a:p>
                  </a:txBody>
                </a:tc>
                <a:tc>
                  <a:txBody>
                    <a:bodyPr/>
                    <a:lstStyle/>
                    <a:p>
                      <a:pPr lvl="0" indent="0" marL="0" algn="r">
                        <a:buNone/>
                      </a:pPr>
                      <a:r>
                        <a:rPr/>
                        <a:t>9.0</a:t>
                      </a:r>
                    </a:p>
                  </a:txBody>
                </a:tc>
                <a:tc>
                  <a:txBody>
                    <a:bodyPr/>
                    <a:lstStyle/>
                    <a:p>
                      <a:pPr lvl="0" indent="0" marL="0" algn="r">
                        <a:buNone/>
                      </a:pPr>
                      <a:r>
                        <a:rPr/>
                        <a:t>8.0</a:t>
                      </a:r>
                    </a:p>
                  </a:txBody>
                </a:tc>
                <a:tc>
                  <a:txBody>
                    <a:bodyPr/>
                    <a:lstStyle/>
                    <a:p>
                      <a:pPr lvl="0" indent="0" marL="0" algn="r">
                        <a:buNone/>
                      </a:pPr>
                      <a:r>
                        <a:rPr/>
                        <a:t>6.9</a:t>
                      </a:r>
                    </a:p>
                  </a:txBody>
                </a:tc>
                <a:tc>
                  <a:txBody>
                    <a:bodyPr/>
                    <a:lstStyle/>
                    <a:p>
                      <a:pPr lvl="0" indent="0" marL="0" algn="r">
                        <a:buNone/>
                      </a:pPr>
                      <a:r>
                        <a:rPr/>
                        <a:t>7.8</a:t>
                      </a:r>
                    </a:p>
                  </a:txBody>
                </a:tc>
              </a:tr>
              <a:tr h="0">
                <a:tc>
                  <a:txBody>
                    <a:bodyPr/>
                    <a:lstStyle/>
                    <a:p>
                      <a:pPr lvl="0" indent="0" marL="0" algn="l">
                        <a:buNone/>
                      </a:pPr>
                      <a:r>
                        <a:rPr/>
                        <a:t>60%</a:t>
                      </a:r>
                    </a:p>
                  </a:txBody>
                </a:tc>
                <a:tc>
                  <a:txBody>
                    <a:bodyPr/>
                    <a:lstStyle/>
                    <a:p>
                      <a:pPr lvl="0" indent="0" marL="0" algn="r">
                        <a:buNone/>
                      </a:pPr>
                      <a:r>
                        <a:rPr/>
                        <a:t>8.6</a:t>
                      </a:r>
                    </a:p>
                  </a:txBody>
                </a:tc>
                <a:tc>
                  <a:txBody>
                    <a:bodyPr/>
                    <a:lstStyle/>
                    <a:p>
                      <a:pPr lvl="0" indent="0" marL="0" algn="r">
                        <a:buNone/>
                      </a:pPr>
                      <a:r>
                        <a:rPr/>
                        <a:t>7.5</a:t>
                      </a:r>
                    </a:p>
                  </a:txBody>
                </a:tc>
                <a:tc>
                  <a:txBody>
                    <a:bodyPr/>
                    <a:lstStyle/>
                    <a:p>
                      <a:pPr lvl="0" indent="0" marL="0" algn="r">
                        <a:buNone/>
                      </a:pPr>
                      <a:r>
                        <a:rPr/>
                        <a:t>5.0</a:t>
                      </a:r>
                    </a:p>
                  </a:txBody>
                </a:tc>
                <a:tc>
                  <a:txBody>
                    <a:bodyPr/>
                    <a:lstStyle/>
                    <a:p>
                      <a:pPr lvl="0" indent="0" marL="0" algn="r">
                        <a:buNone/>
                      </a:pPr>
                      <a:r>
                        <a:rPr/>
                        <a:t>7.1</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data tried this month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648200"/>
                <a:gridCol w="698500"/>
                <a:gridCol w="876300"/>
                <a:gridCol w="4292600"/>
              </a:tblGrid>
              <a:tr h="0">
                <a:tc>
                  <a:txBody>
                    <a:bodyPr/>
                    <a:lstStyle/>
                    <a:p>
                      <a:pPr lvl="0" indent="0" marL="0" algn="l">
                        <a:buNone/>
                      </a:pPr>
                      <a:r>
                        <a:rPr/>
                        <a:t>Block</a:t>
                      </a:r>
                    </a:p>
                  </a:txBody>
                  <a:tcPr/>
                </a:tc>
                <a:tc>
                  <a:txBody>
                    <a:bodyPr/>
                    <a:lstStyle/>
                    <a:p>
                      <a:pPr lvl="0" indent="0" marL="0" algn="l">
                        <a:buNone/>
                      </a:pPr>
                      <a:r>
                        <a:rPr/>
                        <a:t>In-fill</a:t>
                      </a:r>
                    </a:p>
                  </a:txBody>
                  <a:tcPr/>
                </a:tc>
                <a:tc>
                  <a:txBody>
                    <a:bodyPr/>
                    <a:lstStyle/>
                    <a:p>
                      <a:pPr lvl="0" indent="0" marL="0" algn="l">
                        <a:buNone/>
                      </a:pPr>
                      <a:r>
                        <a:rPr/>
                        <a:t>Transport</a:t>
                      </a:r>
                    </a:p>
                  </a:txBody>
                  <a:tcPr/>
                </a:tc>
                <a:tc>
                  <a:txBody>
                    <a:bodyPr/>
                    <a:lstStyle/>
                    <a:p>
                      <a:pPr lvl="0" indent="0" marL="0" algn="l">
                        <a:buNone/>
                      </a:pPr>
                      <a:r>
                        <a:rPr/>
                        <a:t>Verdict</a:t>
                      </a:r>
                    </a:p>
                  </a:txBody>
                  <a:tcPr/>
                </a:tc>
              </a:tr>
              <a:tr h="0">
                <a:tc>
                  <a:txBody>
                    <a:bodyPr/>
                    <a:lstStyle/>
                    <a:p>
                      <a:pPr lvl="0" indent="0" marL="0" algn="l">
                        <a:buNone/>
                      </a:pPr>
                      <a:r>
                        <a:rPr/>
                        <a:t>Food prices matched to fieldwork month (WFP)</a:t>
                      </a:r>
                    </a:p>
                  </a:txBody>
                </a:tc>
                <a:tc>
                  <a:txBody>
                    <a:bodyPr/>
                    <a:lstStyle/>
                    <a:p>
                      <a:pPr lvl="0" indent="0" marL="0" algn="l">
                        <a:buNone/>
                      </a:pPr>
                      <a:r>
                        <a:rPr/>
                        <a:t>+0.005</a:t>
                      </a:r>
                    </a:p>
                  </a:txBody>
                </a:tc>
                <a:tc>
                  <a:txBody>
                    <a:bodyPr/>
                    <a:lstStyle/>
                    <a:p>
                      <a:pPr lvl="0" indent="0" marL="0" algn="l">
                        <a:buNone/>
                      </a:pPr>
                      <a:r>
                        <a:rPr/>
                        <a:t>+0.002</a:t>
                      </a:r>
                    </a:p>
                  </a:txBody>
                </a:tc>
                <a:tc>
                  <a:txBody>
                    <a:bodyPr/>
                    <a:lstStyle/>
                    <a:p>
                      <a:pPr lvl="0" indent="0" marL="0" algn="l">
                        <a:buNone/>
                      </a:pPr>
                      <a:r>
                        <a:rPr/>
                        <a:t>No gain; signs follow the urban gradient</a:t>
                      </a:r>
                    </a:p>
                  </a:txBody>
                </a:tc>
              </a:tr>
              <a:tr h="0">
                <a:tc>
                  <a:txBody>
                    <a:bodyPr/>
                    <a:lstStyle/>
                    <a:p>
                      <a:pPr lvl="0" indent="0" marL="0" algn="l">
                        <a:buNone/>
                      </a:pPr>
                      <a:r>
                        <a:rPr/>
                        <a:t>Temperature and rainfall matched to fieldwork window</a:t>
                      </a:r>
                    </a:p>
                  </a:txBody>
                </a:tc>
                <a:tc>
                  <a:txBody>
                    <a:bodyPr/>
                    <a:lstStyle/>
                    <a:p>
                      <a:pPr lvl="0" indent="0" marL="0" algn="l">
                        <a:buNone/>
                      </a:pPr>
                      <a:r>
                        <a:rPr/>
                        <a:t>+0.001</a:t>
                      </a:r>
                    </a:p>
                  </a:txBody>
                </a:tc>
                <a:tc>
                  <a:txBody>
                    <a:bodyPr/>
                    <a:lstStyle/>
                    <a:p>
                      <a:pPr lvl="0" indent="0" marL="0" algn="l">
                        <a:buNone/>
                      </a:pPr>
                      <a:r>
                        <a:rPr/>
                        <a:t>+0.002</a:t>
                      </a:r>
                    </a:p>
                  </a:txBody>
                </a:tc>
                <a:tc>
                  <a:txBody>
                    <a:bodyPr/>
                    <a:lstStyle/>
                    <a:p>
                      <a:pPr lvl="0" indent="0" marL="0" algn="l">
                        <a:buNone/>
                      </a:pPr>
                      <a:r>
                        <a:rPr/>
                        <a:t>Strong associations, no fold improves</a:t>
                      </a:r>
                    </a:p>
                  </a:txBody>
                </a:tc>
              </a:tr>
              <a:tr h="0">
                <a:tc>
                  <a:txBody>
                    <a:bodyPr/>
                    <a:lstStyle/>
                    <a:p>
                      <a:pPr lvl="0" indent="0" marL="0" algn="l">
                        <a:buNone/>
                      </a:pPr>
                      <a:r>
                        <a:rPr/>
                        <a:t>AlphaEarth embedding as its own domain</a:t>
                      </a:r>
                    </a:p>
                  </a:txBody>
                </a:tc>
                <a:tc>
                  <a:txBody>
                    <a:bodyPr/>
                    <a:lstStyle/>
                    <a:p>
                      <a:pPr lvl="0" indent="0" marL="0" algn="l">
                        <a:buNone/>
                      </a:pPr>
                      <a:r>
                        <a:rPr/>
                        <a:t>0.000</a:t>
                      </a:r>
                    </a:p>
                  </a:txBody>
                </a:tc>
                <a:tc>
                  <a:txBody>
                    <a:bodyPr/>
                    <a:lstStyle/>
                    <a:p>
                      <a:pPr lvl="0" indent="0" marL="0" algn="l">
                        <a:buNone/>
                      </a:pPr>
                      <a:r>
                        <a:rPr/>
                        <a:t>+0.009</a:t>
                      </a:r>
                    </a:p>
                  </a:txBody>
                </a:tc>
                <a:tc>
                  <a:txBody>
                    <a:bodyPr/>
                    <a:lstStyle/>
                    <a:p>
                      <a:pPr lvl="0" indent="0" marL="0" algn="l">
                        <a:buNone/>
                      </a:pPr>
                      <a:r>
                        <a:rPr/>
                        <a:t>Replicated signal, nothing beyond climate + soil</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Fitting at the survey cluster, not the district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74900"/>
                <a:gridCol w="1803400"/>
                <a:gridCol w="4521200"/>
                <a:gridCol w="1803400"/>
              </a:tblGrid>
              <a:tr h="0">
                <a:tc>
                  <a:txBody>
                    <a:bodyPr/>
                    <a:lstStyle/>
                    <a:p>
                      <a:pPr lvl="0" indent="0" marL="0" algn="l">
                        <a:buNone/>
                      </a:pPr>
                      <a:r>
                        <a:rPr/>
                        <a:t>Estimand</a:t>
                      </a:r>
                    </a:p>
                  </a:txBody>
                  <a:tcPr/>
                </a:tc>
                <a:tc>
                  <a:txBody>
                    <a:bodyPr/>
                    <a:lstStyle/>
                    <a:p>
                      <a:pPr lvl="0" indent="0" marL="0" algn="l">
                        <a:buNone/>
                      </a:pPr>
                      <a:r>
                        <a:rPr/>
                        <a:t>Target</a:t>
                      </a:r>
                    </a:p>
                  </a:txBody>
                  <a:tcPr/>
                </a:tc>
                <a:tc>
                  <a:txBody>
                    <a:bodyPr/>
                    <a:lstStyle/>
                    <a:p>
                      <a:pPr lvl="0" indent="0" marL="0" algn="r">
                        <a:buNone/>
                      </a:pPr>
                      <a:r>
                        <a:rPr/>
                        <a:t>Cluster-fitted, aggregated to districts</a:t>
                      </a:r>
                    </a:p>
                  </a:txBody>
                  <a:tcPr/>
                </a:tc>
                <a:tc>
                  <a:txBody>
                    <a:bodyPr/>
                    <a:lstStyle/>
                    <a:p>
                      <a:pPr lvl="0" indent="0" marL="0" algn="r">
                        <a:buNone/>
                      </a:pPr>
                      <a:r>
                        <a:rPr/>
                        <a:t>District-fitted</a:t>
                      </a:r>
                    </a:p>
                  </a:txBody>
                  <a:tcPr/>
                </a:tc>
              </a:tr>
              <a:tr h="0">
                <a:tc>
                  <a:txBody>
                    <a:bodyPr/>
                    <a:lstStyle/>
                    <a:p>
                      <a:pPr lvl="0" indent="0" marL="0" algn="l">
                        <a:buNone/>
                      </a:pPr>
                      <a:r>
                        <a:rPr/>
                        <a:t>In-fill</a:t>
                      </a:r>
                    </a:p>
                  </a:txBody>
                </a:tc>
                <a:tc>
                  <a:txBody>
                    <a:bodyPr/>
                    <a:lstStyle/>
                    <a:p>
                      <a:pPr lvl="0" indent="0" marL="0" algn="l">
                        <a:buNone/>
                      </a:pPr>
                      <a:r>
                        <a:rPr/>
                        <a:t>Biomarker level</a:t>
                      </a:r>
                    </a:p>
                  </a:txBody>
                </a:tc>
                <a:tc>
                  <a:txBody>
                    <a:bodyPr/>
                    <a:lstStyle/>
                    <a:p>
                      <a:pPr lvl="0" indent="0" marL="0" algn="r">
                        <a:buNone/>
                      </a:pPr>
                      <a:r>
                        <a:rPr/>
                        <a:t>0.38</a:t>
                      </a:r>
                    </a:p>
                  </a:txBody>
                </a:tc>
                <a:tc>
                  <a:txBody>
                    <a:bodyPr/>
                    <a:lstStyle/>
                    <a:p>
                      <a:pPr lvl="0" indent="0" marL="0" algn="r">
                        <a:buNone/>
                      </a:pPr>
                      <a:r>
                        <a:rPr/>
                        <a:t>0.40</a:t>
                      </a:r>
                    </a:p>
                  </a:txBody>
                </a:tc>
              </a:tr>
              <a:tr h="0">
                <a:tc>
                  <a:txBody>
                    <a:bodyPr/>
                    <a:lstStyle/>
                    <a:p>
                      <a:pPr lvl="0" indent="0" marL="0" algn="l">
                        <a:buNone/>
                      </a:pPr>
                      <a:r>
                        <a:rPr/>
                        <a:t>In-fill</a:t>
                      </a:r>
                    </a:p>
                  </a:txBody>
                </a:tc>
                <a:tc>
                  <a:txBody>
                    <a:bodyPr/>
                    <a:lstStyle/>
                    <a:p>
                      <a:pPr lvl="0" indent="0" marL="0" algn="l">
                        <a:buNone/>
                      </a:pPr>
                      <a:r>
                        <a:rPr/>
                        <a:t>Prevalence</a:t>
                      </a:r>
                    </a:p>
                  </a:txBody>
                </a:tc>
                <a:tc>
                  <a:txBody>
                    <a:bodyPr/>
                    <a:lstStyle/>
                    <a:p>
                      <a:pPr lvl="0" indent="0" marL="0" algn="r">
                        <a:buNone/>
                      </a:pPr>
                      <a:r>
                        <a:rPr/>
                        <a:t>0.21</a:t>
                      </a:r>
                    </a:p>
                  </a:txBody>
                </a:tc>
                <a:tc>
                  <a:txBody>
                    <a:bodyPr/>
                    <a:lstStyle/>
                    <a:p>
                      <a:pPr lvl="0" indent="0" marL="0" algn="r">
                        <a:buNone/>
                      </a:pPr>
                      <a:r>
                        <a:rPr/>
                        <a:t>0.29</a:t>
                      </a:r>
                    </a:p>
                  </a:txBody>
                </a:tc>
              </a:tr>
              <a:tr h="0">
                <a:tc>
                  <a:txBody>
                    <a:bodyPr/>
                    <a:lstStyle/>
                    <a:p>
                      <a:pPr lvl="0" indent="0" marL="0" algn="l">
                        <a:buNone/>
                      </a:pPr>
                      <a:r>
                        <a:rPr/>
                        <a:t>Region extrapolation</a:t>
                      </a:r>
                    </a:p>
                  </a:txBody>
                </a:tc>
                <a:tc>
                  <a:txBody>
                    <a:bodyPr/>
                    <a:lstStyle/>
                    <a:p>
                      <a:pPr lvl="0" indent="0" marL="0" algn="l">
                        <a:buNone/>
                      </a:pPr>
                      <a:r>
                        <a:rPr/>
                        <a:t>Biomarker level</a:t>
                      </a:r>
                    </a:p>
                  </a:txBody>
                </a:tc>
                <a:tc>
                  <a:txBody>
                    <a:bodyPr/>
                    <a:lstStyle/>
                    <a:p>
                      <a:pPr lvl="0" indent="0" marL="0" algn="r">
                        <a:buNone/>
                      </a:pPr>
                      <a:r>
                        <a:rPr/>
                        <a:t>0.36</a:t>
                      </a:r>
                    </a:p>
                  </a:txBody>
                </a:tc>
                <a:tc>
                  <a:txBody>
                    <a:bodyPr/>
                    <a:lstStyle/>
                    <a:p>
                      <a:pPr lvl="0" indent="0" marL="0" algn="r">
                        <a:buNone/>
                      </a:pPr>
                      <a:r>
                        <a:rPr/>
                        <a:t>0.38</a:t>
                      </a:r>
                    </a:p>
                  </a:txBody>
                </a:tc>
              </a:tr>
              <a:tr h="0">
                <a:tc>
                  <a:txBody>
                    <a:bodyPr/>
                    <a:lstStyle/>
                    <a:p>
                      <a:pPr lvl="0" indent="0" marL="0" algn="l">
                        <a:buNone/>
                      </a:pPr>
                      <a:r>
                        <a:rPr/>
                        <a:t>Region extrapolation</a:t>
                      </a:r>
                    </a:p>
                  </a:txBody>
                </a:tc>
                <a:tc>
                  <a:txBody>
                    <a:bodyPr/>
                    <a:lstStyle/>
                    <a:p>
                      <a:pPr lvl="0" indent="0" marL="0" algn="l">
                        <a:buNone/>
                      </a:pPr>
                      <a:r>
                        <a:rPr/>
                        <a:t>Prevalence</a:t>
                      </a:r>
                    </a:p>
                  </a:txBody>
                </a:tc>
                <a:tc>
                  <a:txBody>
                    <a:bodyPr/>
                    <a:lstStyle/>
                    <a:p>
                      <a:pPr lvl="0" indent="0" marL="0" algn="r">
                        <a:buNone/>
                      </a:pPr>
                      <a:r>
                        <a:rPr/>
                        <a:t>0.21</a:t>
                      </a:r>
                    </a:p>
                  </a:txBody>
                </a:tc>
                <a:tc>
                  <a:txBody>
                    <a:bodyPr/>
                    <a:lstStyle/>
                    <a:p>
                      <a:pPr lvl="0" indent="0" marL="0" algn="r">
                        <a:buNone/>
                      </a:pPr>
                      <a:r>
                        <a:rPr/>
                        <a:t>0.27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 (BRINDA / VMNIS)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536700"/>
                <a:gridCol w="1397000"/>
                <a:gridCol w="2247900"/>
                <a:gridCol w="2387600"/>
                <a:gridCol w="29464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 error (pp)</a:t>
                      </a:r>
                    </a:p>
                  </a:txBody>
                  <a:tcPr/>
                </a:tc>
              </a:tr>
              <a:tr h="0">
                <a:tc>
                  <a:txBody>
                    <a:bodyPr/>
                    <a:lstStyle/>
                    <a:p>
                      <a:pPr lvl="0" indent="0" marL="0" algn="l">
                        <a:buNone/>
                      </a:pPr>
                      <a:r>
                        <a:rPr/>
                        <a:t>child_iron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child_vitA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women_iron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women_vitA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classes: how often the model gets the WHO band right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64000"/>
                <a:gridCol w="1473200"/>
                <a:gridCol w="1943100"/>
                <a:gridCol w="1295400"/>
                <a:gridCol w="1752600"/>
              </a:tblGrid>
              <a:tr h="0">
                <a:tc>
                  <a:txBody>
                    <a:bodyPr/>
                    <a:lstStyle/>
                    <a:p>
                      <a:pPr lvl="0" indent="0" marL="0" algn="l">
                        <a:buNone/>
                      </a:pPr>
                      <a:r>
                        <a:rPr/>
                        <a:t>Model</a:t>
                      </a:r>
                    </a:p>
                  </a:txBody>
                  <a:tcPr/>
                </a:tc>
                <a:tc>
                  <a:txBody>
                    <a:bodyPr/>
                    <a:lstStyle/>
                    <a:p>
                      <a:pPr lvl="0" indent="0" marL="0" algn="l">
                        <a:buNone/>
                      </a:pPr>
                      <a:r>
                        <a:rPr/>
                        <a:t>Exact, district</a:t>
                      </a:r>
                    </a:p>
                  </a:txBody>
                  <a:tcPr/>
                </a:tc>
                <a:tc>
                  <a:txBody>
                    <a:bodyPr/>
                    <a:lstStyle/>
                    <a:p>
                      <a:pPr lvl="0" indent="0" marL="0" algn="l">
                        <a:buNone/>
                      </a:pPr>
                      <a:r>
                        <a:rPr/>
                        <a:t>Within one, district</a:t>
                      </a:r>
                    </a:p>
                  </a:txBody>
                  <a:tcPr/>
                </a:tc>
                <a:tc>
                  <a:txBody>
                    <a:bodyPr/>
                    <a:lstStyle/>
                    <a:p>
                      <a:pPr lvl="0" indent="0" marL="0" algn="l">
                        <a:buNone/>
                      </a:pPr>
                      <a:r>
                        <a:rPr/>
                        <a:t>Exact, region</a:t>
                      </a:r>
                    </a:p>
                  </a:txBody>
                  <a:tcPr/>
                </a:tc>
                <a:tc>
                  <a:txBody>
                    <a:bodyPr/>
                    <a:lstStyle/>
                    <a:p>
                      <a:pPr lvl="0" indent="0" marL="0" algn="l">
                        <a:buNone/>
                      </a:pPr>
                      <a:r>
                        <a:rPr/>
                        <a:t>Within one, region</a:t>
                      </a:r>
                    </a:p>
                  </a:txBody>
                  <a:tcPr/>
                </a:tc>
              </a:tr>
              <a:tr h="0">
                <a:tc>
                  <a:txBody>
                    <a:bodyPr/>
                    <a:lstStyle/>
                    <a:p>
                      <a:pPr lvl="0" indent="0" marL="0" algn="l">
                        <a:buNone/>
                      </a:pPr>
                      <a:r>
                        <a:rPr/>
                        <a:t>Transport, climate + soil + national anchor</a:t>
                      </a:r>
                    </a:p>
                  </a:txBody>
                </a:tc>
                <a:tc>
                  <a:txBody>
                    <a:bodyPr/>
                    <a:lstStyle/>
                    <a:p>
                      <a:pPr lvl="0" indent="0" marL="0" algn="l">
                        <a:buNone/>
                      </a:pPr>
                      <a:r>
                        <a:rPr/>
                        <a:t>60%</a:t>
                      </a:r>
                    </a:p>
                  </a:txBody>
                </a:tc>
                <a:tc>
                  <a:txBody>
                    <a:bodyPr/>
                    <a:lstStyle/>
                    <a:p>
                      <a:pPr lvl="0" indent="0" marL="0" algn="l">
                        <a:buNone/>
                      </a:pPr>
                      <a:r>
                        <a:rPr/>
                        <a:t>95%</a:t>
                      </a:r>
                    </a:p>
                  </a:txBody>
                </a:tc>
                <a:tc>
                  <a:txBody>
                    <a:bodyPr/>
                    <a:lstStyle/>
                    <a:p>
                      <a:pPr lvl="0" indent="0" marL="0" algn="l">
                        <a:buNone/>
                      </a:pPr>
                      <a:r>
                        <a:rPr/>
                        <a:t>75%</a:t>
                      </a:r>
                    </a:p>
                  </a:txBody>
                </a:tc>
                <a:tc>
                  <a:txBody>
                    <a:bodyPr/>
                    <a:lstStyle/>
                    <a:p>
                      <a:pPr lvl="0" indent="0" marL="0" algn="l">
                        <a:buNone/>
                      </a:pPr>
                      <a:r>
                        <a:rPr/>
                        <a:t>100%</a:t>
                      </a:r>
                    </a:p>
                  </a:txBody>
                </a:tc>
              </a:tr>
              <a:tr h="0">
                <a:tc>
                  <a:txBody>
                    <a:bodyPr/>
                    <a:lstStyle/>
                    <a:p>
                      <a:pPr lvl="0" indent="0" marL="0" algn="l">
                        <a:buNone/>
                      </a:pPr>
                      <a:r>
                        <a:rPr/>
                        <a:t>Transport, full index + national anchor</a:t>
                      </a:r>
                    </a:p>
                  </a:txBody>
                </a:tc>
                <a:tc>
                  <a:txBody>
                    <a:bodyPr/>
                    <a:lstStyle/>
                    <a:p>
                      <a:pPr lvl="0" indent="0" marL="0" algn="l">
                        <a:buNone/>
                      </a:pPr>
                      <a:r>
                        <a:rPr/>
                        <a:t>60%</a:t>
                      </a:r>
                    </a:p>
                  </a:txBody>
                </a:tc>
                <a:tc>
                  <a:txBody>
                    <a:bodyPr/>
                    <a:lstStyle/>
                    <a:p>
                      <a:pPr lvl="0" indent="0" marL="0" algn="l">
                        <a:buNone/>
                      </a:pPr>
                      <a:r>
                        <a:rPr/>
                        <a:t>94%</a:t>
                      </a:r>
                    </a:p>
                  </a:txBody>
                </a:tc>
                <a:tc>
                  <a:txBody>
                    <a:bodyPr/>
                    <a:lstStyle/>
                    <a:p>
                      <a:pPr lvl="0" indent="0" marL="0" algn="l">
                        <a:buNone/>
                      </a:pPr>
                      <a:r>
                        <a:rPr/>
                        <a:t>80%</a:t>
                      </a:r>
                    </a:p>
                  </a:txBody>
                </a:tc>
                <a:tc>
                  <a:txBody>
                    <a:bodyPr/>
                    <a:lstStyle/>
                    <a:p>
                      <a:pPr lvl="0" indent="0" marL="0" algn="l">
                        <a:buNone/>
                      </a:pPr>
                      <a:r>
                        <a:rPr/>
                        <a:t>100%</a:t>
                      </a:r>
                    </a:p>
                  </a:txBody>
                </a:tc>
              </a:tr>
              <a:tr h="0">
                <a:tc>
                  <a:txBody>
                    <a:bodyPr/>
                    <a:lstStyle/>
                    <a:p>
                      <a:pPr lvl="0" indent="0" marL="0" algn="l">
                        <a:buNone/>
                      </a:pPr>
                      <a:r>
                        <a:rPr/>
                        <a:t>Spatial smoother, in-fill</a:t>
                      </a:r>
                    </a:p>
                  </a:txBody>
                </a:tc>
                <a:tc>
                  <a:txBody>
                    <a:bodyPr/>
                    <a:lstStyle/>
                    <a:p>
                      <a:pPr lvl="0" indent="0" marL="0" algn="l">
                        <a:buNone/>
                      </a:pPr>
                      <a:r>
                        <a:rPr/>
                        <a:t>68%</a:t>
                      </a:r>
                    </a:p>
                  </a:txBody>
                </a:tc>
                <a:tc>
                  <a:txBody>
                    <a:bodyPr/>
                    <a:lstStyle/>
                    <a:p>
                      <a:pPr lvl="0" indent="0" marL="0" algn="l">
                        <a:buNone/>
                      </a:pPr>
                      <a:r>
                        <a:rPr/>
                        <a:t>94%</a:t>
                      </a:r>
                    </a:p>
                  </a:txBody>
                </a:tc>
                <a:tc>
                  <a:txBody>
                    <a:bodyPr/>
                    <a:lstStyle/>
                    <a:p>
                      <a:pPr lvl="0" indent="0" marL="0" algn="l">
                        <a:buNone/>
                      </a:pPr>
                      <a:r>
                        <a:rPr/>
                        <a:t>75%</a:t>
                      </a:r>
                    </a:p>
                  </a:txBody>
                </a:tc>
                <a:tc>
                  <a:txBody>
                    <a:bodyPr/>
                    <a:lstStyle/>
                    <a:p>
                      <a:pPr lvl="0" indent="0" marL="0" algn="l">
                        <a:buNone/>
                      </a:pPr>
                      <a:r>
                        <a:rPr/>
                        <a:t>100%</a:t>
                      </a:r>
                    </a:p>
                  </a:txBody>
                </a:tc>
              </a:tr>
              <a:tr h="0">
                <a:tc>
                  <a:txBody>
                    <a:bodyPr/>
                    <a:lstStyle/>
                    <a:p>
                      <a:pPr lvl="0" indent="0" marL="0" algn="l">
                        <a:buNone/>
                      </a:pPr>
                      <a:r>
                        <a:rPr/>
                        <a:t>Smoother + covariates, in-fill</a:t>
                      </a:r>
                    </a:p>
                  </a:txBody>
                </a:tc>
                <a:tc>
                  <a:txBody>
                    <a:bodyPr/>
                    <a:lstStyle/>
                    <a:p>
                      <a:pPr lvl="0" indent="0" marL="0" algn="l">
                        <a:buNone/>
                      </a:pPr>
                      <a:r>
                        <a:rPr/>
                        <a:t>68%</a:t>
                      </a:r>
                    </a:p>
                  </a:txBody>
                </a:tc>
                <a:tc>
                  <a:txBody>
                    <a:bodyPr/>
                    <a:lstStyle/>
                    <a:p>
                      <a:pPr lvl="0" indent="0" marL="0" algn="l">
                        <a:buNone/>
                      </a:pPr>
                      <a:r>
                        <a:rPr/>
                        <a:t>94%</a:t>
                      </a:r>
                    </a:p>
                  </a:txBody>
                </a:tc>
                <a:tc>
                  <a:txBody>
                    <a:bodyPr/>
                    <a:lstStyle/>
                    <a:p>
                      <a:pPr lvl="0" indent="0" marL="0" algn="l">
                        <a:buNone/>
                      </a:pPr>
                      <a:r>
                        <a:rPr/>
                        <a:t>77%</a:t>
                      </a:r>
                    </a:p>
                  </a:txBody>
                </a:tc>
                <a:tc>
                  <a:txBody>
                    <a:bodyPr/>
                    <a:lstStyle/>
                    <a:p>
                      <a:pPr lvl="0" indent="0" marL="0" algn="l">
                        <a:buNone/>
                      </a:pPr>
                      <a:r>
                        <a:rPr/>
                        <a:t>100%</a:t>
                      </a:r>
                    </a:p>
                  </a:txBody>
                </a:tc>
              </a:tr>
              <a:tr h="0">
                <a:tc>
                  <a:txBody>
                    <a:bodyPr/>
                    <a:lstStyle/>
                    <a:p>
                      <a:pPr lvl="0" indent="0" marL="0" algn="l">
                        <a:buNone/>
                      </a:pPr>
                      <a:r>
                        <a:rPr/>
                        <a:t>Jackknifed regional mean, in-fill</a:t>
                      </a:r>
                    </a:p>
                  </a:txBody>
                </a:tc>
                <a:tc>
                  <a:txBody>
                    <a:bodyPr/>
                    <a:lstStyle/>
                    <a:p>
                      <a:pPr lvl="0" indent="0" marL="0" algn="l">
                        <a:buNone/>
                      </a:pPr>
                      <a:r>
                        <a:rPr/>
                        <a:t>66%</a:t>
                      </a:r>
                    </a:p>
                  </a:txBody>
                </a:tc>
                <a:tc>
                  <a:txBody>
                    <a:bodyPr/>
                    <a:lstStyle/>
                    <a:p>
                      <a:pPr lvl="0" indent="0" marL="0" algn="l">
                        <a:buNone/>
                      </a:pPr>
                      <a:r>
                        <a:rPr/>
                        <a:t>94%</a:t>
                      </a:r>
                    </a:p>
                  </a:txBody>
                </a:tc>
                <a:tc>
                  <a:txBody>
                    <a:bodyPr/>
                    <a:lstStyle/>
                    <a:p>
                      <a:pPr lvl="0" indent="0" marL="0" algn="l">
                        <a:buNone/>
                      </a:pPr>
                      <a:r>
                        <a:rPr/>
                        <a:t>74%</a:t>
                      </a:r>
                    </a:p>
                  </a:txBody>
                </a:tc>
                <a:tc>
                  <a:txBody>
                    <a:bodyPr/>
                    <a:lstStyle/>
                    <a:p>
                      <a:pPr lvl="0" indent="0" marL="0" algn="l">
                        <a:buNone/>
                      </a:pPr>
                      <a:r>
                        <a:rPr/>
                        <a:t>100%</a:t>
                      </a:r>
                    </a:p>
                  </a:txBody>
                </a:tc>
              </a:tr>
              <a:tr h="0">
                <a:tc>
                  <a:txBody>
                    <a:bodyPr/>
                    <a:lstStyle/>
                    <a:p>
                      <a:pPr lvl="0" indent="0" marL="0" algn="l">
                        <a:buNone/>
                      </a:pPr>
                      <a:r>
                        <a:rPr/>
                        <a:t>Zero-tuning index, in-fill</a:t>
                      </a:r>
                    </a:p>
                  </a:txBody>
                </a:tc>
                <a:tc>
                  <a:txBody>
                    <a:bodyPr/>
                    <a:lstStyle/>
                    <a:p>
                      <a:pPr lvl="0" indent="0" marL="0" algn="l">
                        <a:buNone/>
                      </a:pPr>
                      <a:r>
                        <a:rPr/>
                        <a:t>64%</a:t>
                      </a:r>
                    </a:p>
                  </a:txBody>
                </a:tc>
                <a:tc>
                  <a:txBody>
                    <a:bodyPr/>
                    <a:lstStyle/>
                    <a:p>
                      <a:pPr lvl="0" indent="0" marL="0" algn="l">
                        <a:buNone/>
                      </a:pPr>
                      <a:r>
                        <a:rPr/>
                        <a:t>92%</a:t>
                      </a:r>
                    </a:p>
                  </a:txBody>
                </a:tc>
                <a:tc>
                  <a:txBody>
                    <a:bodyPr/>
                    <a:lstStyle/>
                    <a:p>
                      <a:pPr lvl="0" indent="0" marL="0" algn="l">
                        <a:buNone/>
                      </a:pPr>
                      <a:r>
                        <a:rPr/>
                        <a:t>74%</a:t>
                      </a:r>
                    </a:p>
                  </a:txBody>
                </a:tc>
                <a:tc>
                  <a:txBody>
                    <a:bodyPr/>
                    <a:lstStyle/>
                    <a:p>
                      <a:pPr lvl="0" indent="0" marL="0" algn="l">
                        <a:buNone/>
                      </a:pPr>
                      <a:r>
                        <a:rPr/>
                        <a:t>96%</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added back and scored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Outcome</a:t>
                      </a:r>
                    </a:p>
                  </a:txBody>
                  <a:tcPr/>
                </a:tc>
                <a:tc>
                  <a:txBody>
                    <a:bodyPr/>
                    <a:lstStyle/>
                    <a:p>
                      <a:pPr lvl="0" indent="0" marL="0" algn="r">
                        <a:buNone/>
                      </a:pPr>
                      <a:r>
                        <a:rPr/>
                        <a:t>Base vocabulary</a:t>
                      </a:r>
                    </a:p>
                  </a:txBody>
                  <a:tcPr/>
                </a:tc>
                <a:tc>
                  <a:txBody>
                    <a:bodyPr/>
                    <a:lstStyle/>
                    <a:p>
                      <a:pPr lvl="0" indent="0" marL="0" algn="r">
                        <a:buNone/>
                      </a:pPr>
                      <a:r>
                        <a:rPr/>
                        <a:t>Base + LSMS</a:t>
                      </a:r>
                    </a:p>
                  </a:txBody>
                  <a:tcPr/>
                </a:tc>
                <a:tc>
                  <a:txBody>
                    <a:bodyPr/>
                    <a:lstStyle/>
                    <a:p>
                      <a:pPr lvl="0" indent="0" marL="0" algn="r">
                        <a:buNone/>
                      </a:pPr>
                      <a:r>
                        <a:rPr/>
                        <a:t>LSMS alone</a:t>
                      </a:r>
                    </a:p>
                  </a:txBody>
                  <a:tcPr/>
                </a:tc>
              </a:tr>
              <a:tr h="0">
                <a:tc>
                  <a:txBody>
                    <a:bodyPr/>
                    <a:lstStyle/>
                    <a:p>
                      <a:pPr lvl="0" indent="0" marL="0" algn="l">
                        <a:buNone/>
                      </a:pPr>
                      <a:r>
                        <a:rPr/>
                        <a:t>Child iron</a:t>
                      </a:r>
                    </a:p>
                  </a:txBody>
                </a:tc>
                <a:tc>
                  <a:txBody>
                    <a:bodyPr/>
                    <a:lstStyle/>
                    <a:p>
                      <a:pPr lvl="0" indent="0" marL="0" algn="r">
                        <a:buNone/>
                      </a:pPr>
                      <a:r>
                        <a:rPr/>
                        <a:t>0.59</a:t>
                      </a:r>
                    </a:p>
                  </a:txBody>
                </a:tc>
                <a:tc>
                  <a:txBody>
                    <a:bodyPr/>
                    <a:lstStyle/>
                    <a:p>
                      <a:pPr lvl="0" indent="0" marL="0" algn="r">
                        <a:buNone/>
                      </a:pPr>
                      <a:r>
                        <a:rPr/>
                        <a:t>0.57</a:t>
                      </a:r>
                    </a:p>
                  </a:txBody>
                </a:tc>
                <a:tc>
                  <a:txBody>
                    <a:bodyPr/>
                    <a:lstStyle/>
                    <a:p>
                      <a:pPr lvl="0" indent="0" marL="0" algn="r">
                        <a:buNone/>
                      </a:pPr>
                      <a:r>
                        <a:rPr/>
                        <a:t>0.37</a:t>
                      </a:r>
                    </a:p>
                  </a:txBody>
                </a:tc>
              </a:tr>
              <a:tr h="0">
                <a:tc>
                  <a:txBody>
                    <a:bodyPr/>
                    <a:lstStyle/>
                    <a:p>
                      <a:pPr lvl="0" indent="0" marL="0" algn="l">
                        <a:buNone/>
                      </a:pPr>
                      <a:r>
                        <a:rPr/>
                        <a:t>Child vitamin A</a:t>
                      </a:r>
                    </a:p>
                  </a:txBody>
                </a:tc>
                <a:tc>
                  <a:txBody>
                    <a:bodyPr/>
                    <a:lstStyle/>
                    <a:p>
                      <a:pPr lvl="0" indent="0" marL="0" algn="r">
                        <a:buNone/>
                      </a:pPr>
                      <a:r>
                        <a:rPr/>
                        <a:t>0.30</a:t>
                      </a:r>
                    </a:p>
                  </a:txBody>
                </a:tc>
                <a:tc>
                  <a:txBody>
                    <a:bodyPr/>
                    <a:lstStyle/>
                    <a:p>
                      <a:pPr lvl="0" indent="0" marL="0" algn="r">
                        <a:buNone/>
                      </a:pPr>
                      <a:r>
                        <a:rPr/>
                        <a:t>0.28</a:t>
                      </a:r>
                    </a:p>
                  </a:txBody>
                </a:tc>
                <a:tc>
                  <a:txBody>
                    <a:bodyPr/>
                    <a:lstStyle/>
                    <a:p>
                      <a:pPr lvl="0" indent="0" marL="0" algn="r">
                        <a:buNone/>
                      </a:pPr>
                      <a:r>
                        <a:rPr/>
                        <a:t>0.27</a:t>
                      </a:r>
                    </a:p>
                  </a:txBody>
                </a:tc>
              </a:tr>
              <a:tr h="0">
                <a:tc>
                  <a:txBody>
                    <a:bodyPr/>
                    <a:lstStyle/>
                    <a:p>
                      <a:pPr lvl="0" indent="0" marL="0" algn="l">
                        <a:buNone/>
                      </a:pPr>
                      <a:r>
                        <a:rPr/>
                        <a:t>Women’s B12</a:t>
                      </a:r>
                    </a:p>
                  </a:txBody>
                </a:tc>
                <a:tc>
                  <a:txBody>
                    <a:bodyPr/>
                    <a:lstStyle/>
                    <a:p>
                      <a:pPr lvl="0" indent="0" marL="0" algn="r">
                        <a:buNone/>
                      </a:pPr>
                      <a:r>
                        <a:rPr/>
                        <a:t>0.58</a:t>
                      </a:r>
                    </a:p>
                  </a:txBody>
                </a:tc>
                <a:tc>
                  <a:txBody>
                    <a:bodyPr/>
                    <a:lstStyle/>
                    <a:p>
                      <a:pPr lvl="0" indent="0" marL="0" algn="r">
                        <a:buNone/>
                      </a:pPr>
                      <a:r>
                        <a:rPr/>
                        <a:t>0.60</a:t>
                      </a:r>
                    </a:p>
                  </a:txBody>
                </a:tc>
                <a:tc>
                  <a:txBody>
                    <a:bodyPr/>
                    <a:lstStyle/>
                    <a:p>
                      <a:pPr lvl="0" indent="0" marL="0" algn="r">
                        <a:buNone/>
                      </a:pPr>
                      <a:r>
                        <a:rPr/>
                        <a:t>0.58</a:t>
                      </a:r>
                    </a:p>
                  </a:txBody>
                </a:tc>
              </a:tr>
              <a:tr h="0">
                <a:tc>
                  <a:txBody>
                    <a:bodyPr/>
                    <a:lstStyle/>
                    <a:p>
                      <a:pPr lvl="0" indent="0" marL="0" algn="l">
                        <a:buNone/>
                      </a:pPr>
                      <a:r>
                        <a:rPr/>
                        <a:t>Women’s folate</a:t>
                      </a:r>
                    </a:p>
                  </a:txBody>
                </a:tc>
                <a:tc>
                  <a:txBody>
                    <a:bodyPr/>
                    <a:lstStyle/>
                    <a:p>
                      <a:pPr lvl="0" indent="0" marL="0" algn="r">
                        <a:buNone/>
                      </a:pPr>
                      <a:r>
                        <a:rPr/>
                        <a:t>0.40</a:t>
                      </a:r>
                    </a:p>
                  </a:txBody>
                </a:tc>
                <a:tc>
                  <a:txBody>
                    <a:bodyPr/>
                    <a:lstStyle/>
                    <a:p>
                      <a:pPr lvl="0" indent="0" marL="0" algn="r">
                        <a:buNone/>
                      </a:pPr>
                      <a:r>
                        <a:rPr/>
                        <a:t>0.38</a:t>
                      </a:r>
                    </a:p>
                  </a:txBody>
                </a:tc>
                <a:tc>
                  <a:txBody>
                    <a:bodyPr/>
                    <a:lstStyle/>
                    <a:p>
                      <a:pPr lvl="0" indent="0" marL="0" algn="r">
                        <a:buNone/>
                      </a:pPr>
                      <a:r>
                        <a:rPr/>
                        <a:t>0.19</a:t>
                      </a:r>
                    </a:p>
                  </a:txBody>
                </a:tc>
              </a:tr>
              <a:tr h="0">
                <a:tc>
                  <a:txBody>
                    <a:bodyPr/>
                    <a:lstStyle/>
                    <a:p>
                      <a:pPr lvl="0" indent="0" marL="0" algn="l">
                        <a:buNone/>
                      </a:pPr>
                      <a:r>
                        <a:rPr/>
                        <a:t>Women’s iron</a:t>
                      </a:r>
                    </a:p>
                  </a:txBody>
                </a:tc>
                <a:tc>
                  <a:txBody>
                    <a:bodyPr/>
                    <a:lstStyle/>
                    <a:p>
                      <a:pPr lvl="0" indent="0" marL="0" algn="r">
                        <a:buNone/>
                      </a:pPr>
                      <a:r>
                        <a:rPr/>
                        <a:t>0.39</a:t>
                      </a:r>
                    </a:p>
                  </a:txBody>
                </a:tc>
                <a:tc>
                  <a:txBody>
                    <a:bodyPr/>
                    <a:lstStyle/>
                    <a:p>
                      <a:pPr lvl="0" indent="0" marL="0" algn="r">
                        <a:buNone/>
                      </a:pPr>
                      <a:r>
                        <a:rPr/>
                        <a:t>0.38</a:t>
                      </a:r>
                    </a:p>
                  </a:txBody>
                </a:tc>
                <a:tc>
                  <a:txBody>
                    <a:bodyPr/>
                    <a:lstStyle/>
                    <a:p>
                      <a:pPr lvl="0" indent="0" marL="0" algn="r">
                        <a:buNone/>
                      </a:pPr>
                      <a:r>
                        <a:rPr/>
                        <a:t>0.20</a:t>
                      </a:r>
                    </a:p>
                  </a:txBody>
                </a:tc>
              </a:tr>
              <a:tr h="0">
                <a:tc>
                  <a:txBody>
                    <a:bodyPr/>
                    <a:lstStyle/>
                    <a:p>
                      <a:pPr lvl="0" indent="0" marL="0" algn="l">
                        <a:buNone/>
                      </a:pPr>
                      <a:r>
                        <a:rPr/>
                        <a:t>Women’s vitamin A</a:t>
                      </a:r>
                    </a:p>
                  </a:txBody>
                </a:tc>
                <a:tc>
                  <a:txBody>
                    <a:bodyPr/>
                    <a:lstStyle/>
                    <a:p>
                      <a:pPr lvl="0" indent="0" marL="0" algn="r">
                        <a:buNone/>
                      </a:pPr>
                      <a:r>
                        <a:rPr/>
                        <a:t>0.50</a:t>
                      </a:r>
                    </a:p>
                  </a:txBody>
                </a:tc>
                <a:tc>
                  <a:txBody>
                    <a:bodyPr/>
                    <a:lstStyle/>
                    <a:p>
                      <a:pPr lvl="0" indent="0" marL="0" algn="r">
                        <a:buNone/>
                      </a:pPr>
                      <a:r>
                        <a:rPr/>
                        <a:t>0.50</a:t>
                      </a:r>
                    </a:p>
                  </a:txBody>
                </a:tc>
                <a:tc>
                  <a:txBody>
                    <a:bodyPr/>
                    <a:lstStyle/>
                    <a:p>
                      <a:pPr lvl="0" indent="0" marL="0" algn="r">
                        <a:buNone/>
                      </a:pPr>
                      <a:r>
                        <a:rPr/>
                        <a:t>0.39</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 survey variables versus proxies</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 within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Null</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0.46</a:t>
                      </a:r>
                    </a:p>
                  </a:txBody>
                </a:tc>
                <a:tc>
                  <a:txBody>
                    <a:bodyPr/>
                    <a:lstStyle/>
                    <a:p>
                      <a:pPr lvl="0" indent="0" marL="0" algn="l">
                        <a:buNone/>
                      </a:pPr>
                      <a:r>
                        <a:rPr/>
                        <a:t>0.45</a:t>
                      </a:r>
                    </a:p>
                  </a:txBody>
                </a:tc>
                <a:tc>
                  <a:txBody>
                    <a:bodyPr/>
                    <a:lstStyle/>
                    <a:p>
                      <a:pPr lvl="0" indent="0" marL="0" algn="l">
                        <a:buNone/>
                      </a:pPr>
                      <a:r>
                        <a:rPr/>
                        <a:t>0.53</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0.30</a:t>
                      </a:r>
                    </a:p>
                  </a:txBody>
                </a:tc>
                <a:tc>
                  <a:txBody>
                    <a:bodyPr/>
                    <a:lstStyle/>
                    <a:p>
                      <a:pPr lvl="0" indent="0" marL="0" algn="l">
                        <a:buNone/>
                      </a:pPr>
                      <a:r>
                        <a:rPr/>
                        <a:t>0.45</a:t>
                      </a:r>
                    </a:p>
                  </a:txBody>
                </a:tc>
                <a:tc>
                  <a:txBody>
                    <a:bodyPr/>
                    <a:lstStyle/>
                    <a:p>
                      <a:pPr lvl="0" indent="0" marL="0" algn="l">
                        <a:buNone/>
                      </a:pPr>
                      <a:r>
                        <a:rPr/>
                        <a:t>0.31</a:t>
                      </a:r>
                    </a:p>
                  </a:txBody>
                </a:tc>
                <a:tc>
                  <a:txBody>
                    <a:bodyPr/>
                    <a:lstStyle/>
                    <a:p>
                      <a:pPr lvl="0" indent="0" marL="0" algn="l">
                        <a:buNone/>
                      </a:pPr>
                      <a:r>
                        <a:rPr/>
                        <a:t>0.39</a:t>
                      </a:r>
                    </a:p>
                  </a:txBody>
                </a:tc>
                <a:tc>
                  <a:txBody>
                    <a:bodyPr/>
                    <a:lstStyle/>
                    <a:p>
                      <a:pPr lvl="0" indent="0" marL="0" algn="l">
                        <a:buNone/>
                      </a:pPr>
                      <a:r>
                        <a:rPr/>
                        <a:t>-0.35</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318000"/>
                <a:gridCol w="3606800"/>
                <a:gridCol w="2603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vs survey-only models (Brier skill, AUC, PR gain)</a:t>
                      </a:r>
                    </a:p>
                  </a:txBody>
                </a:tc>
                <a:tc>
                  <a:txBody>
                    <a:bodyPr/>
                    <a:lstStyle/>
                    <a:p>
                      <a:pPr lvl="0" indent="0" marL="0" algn="l">
                        <a:buNone/>
                      </a:pPr>
                      <a:r>
                        <a:rPr/>
                        <a:t>Sensitivity layer; re-run today under district-blocked folds</a:t>
                      </a:r>
                    </a:p>
                  </a:txBody>
                </a:tc>
                <a:tc>
                  <a:txBody>
                    <a:bodyPr/>
                    <a:lstStyle/>
                    <a:p>
                      <a:pPr lvl="0" indent="0" marL="0" algn="l">
                        <a:buNone/>
                      </a:pPr>
                      <a:r>
                        <a:rPr/>
                        <a:t>Slide: 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Slide: 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today within country (Gambia, Sierra Leone)</a:t>
                      </a:r>
                    </a:p>
                  </a:txBody>
                </a:tc>
                <a:tc>
                  <a:txBody>
                    <a:bodyPr/>
                    <a:lstStyle/>
                    <a:p>
                      <a:pPr lvl="0" indent="0" marL="0" algn="l">
                        <a:buNone/>
                      </a:pPr>
                      <a:r>
                        <a:rPr/>
                        <a:t>Slide: iodine, within country</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today under the protocol, WHO bands</a:t>
                      </a:r>
                    </a:p>
                  </a:txBody>
                </a:tc>
                <a:tc>
                  <a:txBody>
                    <a:bodyPr/>
                    <a:lstStyle/>
                    <a:p>
                      <a:pPr lvl="0" indent="0" marL="0" algn="l">
                        <a:buNone/>
                      </a:pPr>
                      <a:r>
                        <a:rPr/>
                        <a:t>Slide: risk classes</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781300"/>
                <a:gridCol w="5257800"/>
                <a:gridCol w="247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today: LSMS is Ghana-only and region-level, FluNet national; neither adds skill</a:t>
                      </a:r>
                    </a:p>
                  </a:txBody>
                </a:tc>
                <a:tc>
                  <a:txBody>
                    <a:bodyPr/>
                    <a:lstStyle/>
                    <a:p>
                      <a:pPr lvl="0" indent="0" marL="0" algn="l">
                        <a:buNone/>
                      </a:pPr>
                      <a:r>
                        <a:rPr/>
                        <a:t>Slide: LSMS and FluNet</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ablation; source ablation added back</a:t>
                      </a:r>
                    </a:p>
                  </a:txBody>
                </a:tc>
                <a:tc>
                  <a:txBody>
                    <a:bodyPr/>
                    <a:lstStyle/>
                    <a:p>
                      <a:pPr lvl="0" indent="0" marL="0" algn="l">
                        <a:buNone/>
                      </a:pPr>
                      <a:r>
                        <a:rPr/>
                        <a:t>Slide: which data sources carry transport</a:t>
                      </a:r>
                    </a:p>
                  </a:txBody>
                </a:tc>
              </a:tr>
              <a:tr h="0">
                <a:tc>
                  <a:txBody>
                    <a:bodyPr/>
                    <a:lstStyle/>
                    <a:p>
                      <a:pPr lvl="0" indent="0" marL="0" algn="l">
                        <a:buNone/>
                      </a:pPr>
                      <a:r>
                        <a:rPr/>
                        <a:t>Admin-1 women’s iron maps, predicted vs survey</a:t>
                      </a:r>
                    </a:p>
                  </a:txBody>
                </a:tc>
                <a:tc>
                  <a:txBody>
                    <a:bodyPr/>
                    <a:lstStyle/>
                    <a:p>
                      <a:pPr lvl="0" indent="0" marL="0" algn="l">
                        <a:buNone/>
                      </a:pPr>
                      <a:r>
                        <a:rPr/>
                        <a:t>Replaced by district maps with held-out predictions</a:t>
                      </a:r>
                    </a:p>
                  </a:txBody>
                </a:tc>
                <a:tc>
                  <a:txBody>
                    <a:bodyPr/>
                    <a:lstStyle/>
                    <a:p>
                      <a:pPr lvl="0" indent="0" marL="0" algn="l">
                        <a:buNone/>
                      </a:pPr>
                      <a:r>
                        <a:rPr/>
                        <a:t>Slide: Ghana maps</a:t>
                      </a:r>
                    </a:p>
                  </a:txBody>
                </a:tc>
              </a:tr>
              <a:tr h="0">
                <a:tc>
                  <a:txBody>
                    <a:bodyPr/>
                    <a:lstStyle/>
                    <a:p>
                      <a:pPr lvl="0" indent="0" marL="0" algn="l">
                        <a:buNone/>
                      </a:pPr>
                      <a:r>
                        <a:rPr/>
                        <a:t>Prescreened SuperLearner as the model</a:t>
                      </a:r>
                    </a:p>
                  </a:txBody>
                </a:tc>
                <a:tc>
                  <a:txBody>
                    <a:bodyPr/>
                    <a:lstStyle/>
                    <a:p>
                      <a:pPr lvl="0" indent="0" marL="0" algn="l">
                        <a:buNone/>
                      </a:pPr>
                      <a:r>
                        <a:rPr/>
                        <a:t>Kept as comparison; never beats the zero-tuning index</a:t>
                      </a:r>
                    </a:p>
                  </a:txBody>
                </a:tc>
                <a:tc>
                  <a:txBody>
                    <a:bodyPr/>
                    <a:lstStyle/>
                    <a:p>
                      <a:pPr lvl="0" indent="0" marL="0" algn="l">
                        <a:buNone/>
                      </a:pPr>
                      <a:r>
                        <a:rPr/>
                        <a:t>Slide: prediction approach</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Within a surveyed country, geography does most of the work: covariates beat the survey’s own averages made honest, a smoother delivers almost as much.</a:t>
            </a:r>
          </a:p>
          <a:p>
            <a:pPr lvl="0"/>
            <a:r>
              <a:rPr/>
              <a:t>Across borders, rankings transport and levels do not: about 0.3 at both tiers, 0.37 and 0.46 from climate and soil alone.</a:t>
            </a:r>
          </a:p>
          <a:p>
            <a:pPr lvl="0"/>
            <a:r>
              <a:rPr/>
              <a:t>One national estimate puts levels on the ranking, matching a district survey eight times the sample on level error.</a:t>
            </a:r>
          </a:p>
          <a:p>
            <a:pPr lvl="0"/>
            <a:r>
              <a:rPr/>
              <a:t>The deliverable is a ranked district priority list plus a level calibration that needs one national number.</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 and open questions</a:t>
            </a:r>
          </a:p>
        </p:txBody>
      </p:sp>
      <p:sp>
        <p:nvSpPr>
          <p:cNvPr id="3" name="Content Placeholder 2"/>
          <p:cNvSpPr>
            <a:spLocks noGrp="1"/>
          </p:cNvSpPr>
          <p:nvPr>
            <p:ph idx="1" sz="half"/>
          </p:nvPr>
        </p:nvSpPr>
        <p:spPr/>
        <p:txBody>
          <a:bodyPr/>
          <a:lstStyle/>
          <a:p>
            <a:pPr lvl="0" indent="0" marL="0">
              <a:buNone/>
            </a:pPr>
            <a:r>
              <a:rPr b="1"/>
              <a:t>Next</a:t>
            </a:r>
          </a:p>
          <a:p>
            <a:pPr lvl="0"/>
            <a:r>
              <a:rPr/>
              <a:t>Score the seven pre-registered predictions on the next countries.</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b="1"/>
              <a:t>Open</a:t>
            </a:r>
          </a:p>
          <a:p>
            <a:pPr lvl="0"/>
            <a:r>
              <a:rPr/>
              <a:t>What rank correlation is good enough to act on?</a:t>
            </a:r>
          </a:p>
          <a:p>
            <a:pPr lvl="0"/>
            <a:r>
              <a:rPr/>
              <a:t>Which national number is the cheapest honest anchor?</a:t>
            </a:r>
          </a:p>
          <a:p>
            <a:pPr lvl="0"/>
            <a:r>
              <a:rPr/>
              <a:t>Without new biomarker surveys, what benchmarks the models?</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Modeling for Vitamin and Mineral Deficiencies</dc:title>
  <dc:creator>Andrew N. Mertens, University of California, Berkeley</dc:creator>
  <cp:keywords/>
  <dcterms:created xsi:type="dcterms:W3CDTF">2026-09-09T23:05:15Z</dcterms:created>
  <dcterms:modified xsi:type="dcterms:W3CDTF">2026-09-09T23:05:15Z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Ghana presentation, updated to the corrected protocol, September 2026</vt:lpwstr>
  </property>
  <property fmtid="{D5CDD505-2E9C-101B-9397-08002B2CF9AE}" pid="12" name="toc-title">
    <vt:lpwstr>Table of contents</vt:lpwstr>
  </property>
</Properties>
</file>