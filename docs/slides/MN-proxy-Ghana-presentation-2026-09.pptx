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5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46" Type="http://schemas.openxmlformats.org/officeDocument/2006/relationships/slide" Target="slides/slide42.xml" /><Relationship Id="rId47" Type="http://schemas.openxmlformats.org/officeDocument/2006/relationships/slide" Target="slides/slide43.xml" /><Relationship Id="rId48" Type="http://schemas.openxmlformats.org/officeDocument/2006/relationships/slide" Target="slides/slide44.xml" /><Relationship Id="rId49" Type="http://schemas.openxmlformats.org/officeDocument/2006/relationships/slide" Target="slides/slide45.xml" /><Relationship Id="rId50" Type="http://schemas.openxmlformats.org/officeDocument/2006/relationships/slide" Target="slides/slide46.xml" /><Relationship Id="rId51" Type="http://schemas.openxmlformats.org/officeDocument/2006/relationships/slide" Target="slides/slide47.xml" /><Relationship Id="rId52" Type="http://schemas.openxmlformats.org/officeDocument/2006/relationships/slide" Target="slides/slide48.xml" /><Relationship Id="rId53" Type="http://schemas.openxmlformats.org/officeDocument/2006/relationships/slide" Target="slides/slide49.xml" /><Relationship Id="rId54" Type="http://schemas.openxmlformats.org/officeDocument/2006/relationships/slide" Target="slides/slide50.xml" /><Relationship Id="rId55" Type="http://schemas.openxmlformats.org/officeDocument/2006/relationships/notesMaster" Target="notesMasters/notesMaster1.xml" /><Relationship Id="rId58" Type="http://schemas.openxmlformats.org/officeDocument/2006/relationships/theme" Target="theme/theme1.xml" /><Relationship Id="rId57" Type="http://schemas.openxmlformats.org/officeDocument/2006/relationships/viewProps" Target="viewProps.xml" /><Relationship Id="rId56" Type="http://schemas.openxmlformats.org/officeDocument/2006/relationships/presProps" Target="presProps.xml" /><Relationship Id="rId4" Type="http://schemas.openxmlformats.org/officeDocument/2006/relationships/slideMaster" Target="slideMasters/slideMaster1.xml" /><Relationship Id="rId5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 listed LSMS (275) and FluNet (3) predictors; both are on disk but did not survive the all-country harmonisation and are scored as add-ons in the sensitivity section. Since 15 September the base set carries household budget survey microdata for all four countries (IHS 2015/16, GLSS7, IHS4, SLIHS 2018) and MICS microdata aggregates for all four; FluNet’s three national counts are in the set but constant within a country, so the fit-time policy drops them. Bars are coloured by access tier: the headline models use the open and public-microdata tiers; the DHS tier is the with-DHS sensitivity arm.</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0.29 for the rank-loss ensemble, 0.27 for random forest, 0.24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0.40; covariates add +0.01 over the smoother alone on the level. The penalised fits score 0.33 (domain components) and 0.31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(0.38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0.23 at district level (19 of 22 positive) and 0.32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14 of 22). Since 9 September the DHS-derived predictors are cluster-level spatial estimates at every district (DS-01), which changed nothing in-country and cost the full index 0.01 across borders. Likely question: what a correlation of 0.31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-0.053 across borders (better in 8 of 22) and costs -0.03 in-fill. The soft threshold gained 0.02 across borders on the direct DHS estimates and -0.004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570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40%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0.31 without. A fixed climate-and-soil index transports at 0.38 at district level and 0.45 regionally against 0.31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data-source importance was one country’s in-sample change in mean squared error; this scores transport to a held-out country. Soil, the Earth Engine layers, crops, livestock and the modelled IHME surfaces carry it. Household-survey aggregates fit the training countries and do not carry: the DHS block cost 0.07 abroad on the previous set and costs 0.02 now, which is why the headline set leaves it out; the DHS Program’s own cluster-level estimator of those aggregates (DS-01) did not change that, and the public MICS aggregates that remain in the set show the same pattern on a smaller scale. Whether the headline should drop to the open tier alone (0.32 against 0.31; 0.25 against 0.23 on prevalence) is an open decision; the difference sits inside the 0.03 tie rule.</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2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2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 Id="rId3" Type="http://schemas.openxmlformats.org/officeDocument/2006/relationships/image" Target="../media/image2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5.xml" /><Relationship Id="rId3" Type="http://schemas.openxmlformats.org/officeDocument/2006/relationships/image" Target="../media/image3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0.xml" /><Relationship Id="rId3"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3" Type="http://schemas.openxmlformats.org/officeDocument/2006/relationships/image" Target="../media/image3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2.xml" /><Relationship Id="rId3" Type="http://schemas.openxmlformats.org/officeDocument/2006/relationships/image" Target="../media/image3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3" Type="http://schemas.openxmlformats.org/officeDocument/2006/relationships/image" Target="../media/image4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 Id="rId3" Type="http://schemas.openxmlformats.org/officeDocument/2006/relationships/image" Target="../media/image4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 Id="rId3" Type="http://schemas.openxmlformats.org/officeDocument/2006/relationships/image" Target="../media/image4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 Id="rId3" Type="http://schemas.openxmlformats.org/officeDocument/2006/relationships/image" Target="../media/image4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 Id="rId3" Type="http://schemas.openxmlformats.org/officeDocument/2006/relationships/image" Target="../media/image4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4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46.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0.xml" /><Relationship Id="rId3" Type="http://schemas.openxmlformats.org/officeDocument/2006/relationships/image" Target="../media/image4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4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4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Proxy modelling of vitamin and mineral deficiencies</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Four surveys, one evaluation protocol, September 2026</a:t>
            </a:r>
            <a:br/>
            <a:br/>
            <a:r>
              <a:rPr/>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Background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sp>
        <p:nvSpPr>
          <p:cNvPr id="3" name="Content Placeholder 2"/>
          <p:cNvSpPr>
            <a:spLocks noGrp="1"/>
          </p:cNvSpPr>
          <p:nvPr>
            <p:ph idx="1" sz="half"/>
          </p:nvPr>
        </p:nvSpPr>
        <p:spPr/>
        <p:txBody>
          <a:bodyPr/>
          <a:lstStyle/>
          <a:p>
            <a:pPr lvl="0"/>
            <a:r>
              <a:rPr/>
              <a:t>Biomarker surveys are rare and costly; programmes need district estimates between them.</a:t>
            </a:r>
          </a:p>
          <a:p>
            <a:pPr lvl="0"/>
            <a:r>
              <a:rPr/>
              <a:t>Four biomarker surveys linked to 570 district-level proxies predict iron, vitamin A, folate, B12 and zinc deficiency.</a:t>
            </a:r>
          </a:p>
        </p:txBody>
      </p:sp>
      <p:pic>
        <p:nvPicPr>
          <p:cNvPr descr="img/old_s02_intro_photo_1.png" id="0" name="Picture 1"/>
          <p:cNvPicPr>
            <a:picLocks noGrp="1" noChangeAspect="1"/>
          </p:cNvPicPr>
          <p:nvPr/>
        </p:nvPicPr>
        <p:blipFill>
          <a:blip r:embed="rId3"/>
          <a:stretch>
            <a:fillRect/>
          </a:stretch>
        </p:blipFill>
        <p:spPr bwMode="auto">
          <a:xfrm>
            <a:off x="6172200" y="2044700"/>
            <a:ext cx="5181600" cy="38862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a:t>
            </a:r>
          </a:p>
        </p:txBody>
      </p:sp>
      <p:sp>
        <p:nvSpPr>
          <p:cNvPr id="3" name="Content Placeholder 2"/>
          <p:cNvSpPr>
            <a:spLocks noGrp="1"/>
          </p:cNvSpPr>
          <p:nvPr>
            <p:ph idx="1" sz="half"/>
          </p:nvPr>
        </p:nvSpPr>
        <p:spPr/>
        <p:txBody>
          <a:bodyPr/>
          <a:lstStyle/>
          <a:p>
            <a:pPr lvl="0"/>
            <a:r>
              <a:rPr/>
              <a:t>Estimate district deficiency from proxies, validated against biomarker surveys.</a:t>
            </a:r>
          </a:p>
          <a:p>
            <a:pPr lvl="0"/>
            <a:r>
              <a:rPr/>
              <a:t>Identify the districts at greatest risk; say whether a ranking or a level survives.</a:t>
            </a:r>
          </a:p>
          <a:p>
            <a:pPr lvl="0"/>
            <a:r>
              <a:rPr/>
              <a:t>Say what a country with no survey can expect, and what it must still measure.</a:t>
            </a:r>
          </a:p>
        </p:txBody>
      </p:sp>
      <p:pic>
        <p:nvPicPr>
          <p:cNvPr descr="img/old_s03_goals_2.png" id="0" name="Picture 1"/>
          <p:cNvPicPr>
            <a:picLocks noGrp="1" noChangeAspect="1"/>
          </p:cNvPicPr>
          <p:nvPr/>
        </p:nvPicPr>
        <p:blipFill>
          <a:blip r:embed="rId2"/>
          <a:stretch>
            <a:fillRect/>
          </a:stretch>
        </p:blipFill>
        <p:spPr bwMode="auto">
          <a:xfrm>
            <a:off x="7200900" y="1816100"/>
            <a:ext cx="3111500" cy="4343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000500"/>
                <a:gridCol w="1828800"/>
                <a:gridCol w="863600"/>
                <a:gridCol w="787400"/>
                <a:gridCol w="3048000"/>
              </a:tblGrid>
              <a:tr h="0">
                <a:tc>
                  <a:txBody>
                    <a:bodyPr/>
                    <a:lstStyle/>
                    <a:p>
                      <a:pPr lvl="0" indent="0" marL="0" algn="l">
                        <a:buNone/>
                      </a:pPr>
                      <a:r>
                        <a:rPr/>
                        <a:t>Survey</a:t>
                      </a:r>
                    </a:p>
                  </a:txBody>
                  <a:tcPr/>
                </a:tc>
                <a:tc>
                  <a:txBody>
                    <a:bodyPr/>
                    <a:lstStyle/>
                    <a:p>
                      <a:pPr lvl="0" indent="0" marL="0" algn="l">
                        <a:buNone/>
                      </a:pPr>
                      <a:r>
                        <a:rPr/>
                        <a:t>Fieldwork</a:t>
                      </a:r>
                    </a:p>
                  </a:txBody>
                  <a:tcPr/>
                </a:tc>
                <a:tc>
                  <a:txBody>
                    <a:bodyPr/>
                    <a:lstStyle/>
                    <a:p>
                      <a:pPr lvl="0" indent="0" marL="0" algn="r">
                        <a:buNone/>
                      </a:pPr>
                      <a:r>
                        <a:rPr/>
                        <a:t>Districts</a:t>
                      </a:r>
                    </a:p>
                  </a:txBody>
                  <a:tcPr/>
                </a:tc>
                <a:tc>
                  <a:txBody>
                    <a:bodyPr/>
                    <a:lstStyle/>
                    <a:p>
                      <a:pPr lvl="0" indent="0" marL="0" algn="r">
                        <a:buNone/>
                      </a:pPr>
                      <a:r>
                        <a:rPr/>
                        <a:t>Clusters</a:t>
                      </a:r>
                    </a:p>
                  </a:txBody>
                  <a:tcPr/>
                </a:tc>
                <a:tc>
                  <a:txBody>
                    <a:bodyPr/>
                    <a:lstStyle/>
                    <a:p>
                      <a:pPr lvl="0" indent="0" marL="0" algn="l">
                        <a:buNone/>
                      </a:pPr>
                      <a:r>
                        <a:rPr/>
                        <a:t>Outcomes</a:t>
                      </a:r>
                    </a:p>
                  </a:txBody>
                  <a:tcPr/>
                </a:tc>
              </a:tr>
              <a:tr h="0">
                <a:tc>
                  <a:txBody>
                    <a:bodyPr/>
                    <a:lstStyle/>
                    <a:p>
                      <a:pPr lvl="0" indent="0" marL="0" algn="l">
                        <a:buNone/>
                      </a:pPr>
                      <a:r>
                        <a:rPr/>
                        <a:t>Gambia Micronutrient Survey 2018 (GMNS)</a:t>
                      </a:r>
                    </a:p>
                  </a:txBody>
                </a:tc>
                <a:tc>
                  <a:txBody>
                    <a:bodyPr/>
                    <a:lstStyle/>
                    <a:p>
                      <a:pPr lvl="0" indent="0" marL="0" algn="l">
                        <a:buNone/>
                      </a:pPr>
                      <a:r>
                        <a:rPr/>
                        <a:t>Jan 2018 to Apr 2018</a:t>
                      </a:r>
                    </a:p>
                  </a:txBody>
                </a:tc>
                <a:tc>
                  <a:txBody>
                    <a:bodyPr/>
                    <a:lstStyle/>
                    <a:p>
                      <a:pPr lvl="0" indent="0" marL="0" algn="r">
                        <a:buNone/>
                      </a:pPr>
                      <a:r>
                        <a:rPr/>
                        <a:t>30</a:t>
                      </a:r>
                    </a:p>
                  </a:txBody>
                </a:tc>
                <a:tc>
                  <a:txBody>
                    <a:bodyPr/>
                    <a:lstStyle/>
                    <a:p>
                      <a:pPr lvl="0" indent="0" marL="0" algn="r">
                        <a:buNone/>
                      </a:pPr>
                      <a:r>
                        <a:rPr/>
                        <a:t>70</a:t>
                      </a:r>
                    </a:p>
                  </a:txBody>
                </a:tc>
                <a:tc>
                  <a:txBody>
                    <a:bodyPr/>
                    <a:lstStyle/>
                    <a:p>
                      <a:pPr lvl="0" indent="0" marL="0" algn="l">
                        <a:buNone/>
                      </a:pPr>
                      <a:r>
                        <a:rPr/>
                        <a:t>vitamin A, iron</a:t>
                      </a:r>
                    </a:p>
                  </a:txBody>
                </a:tc>
              </a:tr>
              <a:tr h="0">
                <a:tc>
                  <a:txBody>
                    <a:bodyPr/>
                    <a:lstStyle/>
                    <a:p>
                      <a:pPr lvl="0" indent="0" marL="0" algn="l">
                        <a:buNone/>
                      </a:pPr>
                      <a:r>
                        <a:rPr/>
                        <a:t>Ghana Micronutrient Survey 2017 (GMS)</a:t>
                      </a:r>
                    </a:p>
                  </a:txBody>
                </a:tc>
                <a:tc>
                  <a:txBody>
                    <a:bodyPr/>
                    <a:lstStyle/>
                    <a:p>
                      <a:pPr lvl="0" indent="0" marL="0" algn="l">
                        <a:buNone/>
                      </a:pPr>
                      <a:r>
                        <a:rPr/>
                        <a:t>Apr 2017 to Jun 2017</a:t>
                      </a:r>
                    </a:p>
                  </a:txBody>
                </a:tc>
                <a:tc>
                  <a:txBody>
                    <a:bodyPr/>
                    <a:lstStyle/>
                    <a:p>
                      <a:pPr lvl="0" indent="0" marL="0" algn="r">
                        <a:buNone/>
                      </a:pPr>
                      <a:r>
                        <a:rPr/>
                        <a:t>75</a:t>
                      </a:r>
                    </a:p>
                  </a:txBody>
                </a:tc>
                <a:tc>
                  <a:txBody>
                    <a:bodyPr/>
                    <a:lstStyle/>
                    <a:p>
                      <a:pPr lvl="0" indent="0" marL="0" algn="r">
                        <a:buNone/>
                      </a:pPr>
                      <a:r>
                        <a:rPr/>
                        <a:t>90</a:t>
                      </a:r>
                    </a:p>
                  </a:txBody>
                </a:tc>
                <a:tc>
                  <a:txBody>
                    <a:bodyPr/>
                    <a:lstStyle/>
                    <a:p>
                      <a:pPr lvl="0" indent="0" marL="0" algn="l">
                        <a:buNone/>
                      </a:pPr>
                      <a:r>
                        <a:rPr/>
                        <a:t>vitamin A, iron, folate, b12</a:t>
                      </a:r>
                    </a:p>
                  </a:txBody>
                </a:tc>
              </a:tr>
              <a:tr h="0">
                <a:tc>
                  <a:txBody>
                    <a:bodyPr/>
                    <a:lstStyle/>
                    <a:p>
                      <a:pPr lvl="0" indent="0" marL="0" algn="l">
                        <a:buNone/>
                      </a:pPr>
                      <a:r>
                        <a:rPr/>
                        <a:t>Malawi Micronutrient Survey 2015-16 (MNS)</a:t>
                      </a:r>
                    </a:p>
                  </a:txBody>
                </a:tc>
                <a:tc>
                  <a:txBody>
                    <a:bodyPr/>
                    <a:lstStyle/>
                    <a:p>
                      <a:pPr lvl="0" indent="0" marL="0" algn="l">
                        <a:buNone/>
                      </a:pPr>
                      <a:r>
                        <a:rPr/>
                        <a:t>Dec 2015 to Feb 2016</a:t>
                      </a:r>
                    </a:p>
                  </a:txBody>
                </a:tc>
                <a:tc>
                  <a:txBody>
                    <a:bodyPr/>
                    <a:lstStyle/>
                    <a:p>
                      <a:pPr lvl="0" indent="0" marL="0" algn="r">
                        <a:buNone/>
                      </a:pPr>
                      <a:r>
                        <a:rPr/>
                        <a:t>87</a:t>
                      </a:r>
                    </a:p>
                  </a:txBody>
                </a:tc>
                <a:tc>
                  <a:txBody>
                    <a:bodyPr/>
                    <a:lstStyle/>
                    <a:p>
                      <a:pPr lvl="0" indent="0" marL="0" algn="r">
                        <a:buNone/>
                      </a:pPr>
                      <a:r>
                        <a:rPr/>
                        <a:t>103</a:t>
                      </a:r>
                    </a:p>
                  </a:txBody>
                </a:tc>
                <a:tc>
                  <a:txBody>
                    <a:bodyPr/>
                    <a:lstStyle/>
                    <a:p>
                      <a:pPr lvl="0" indent="0" marL="0" algn="l">
                        <a:buNone/>
                      </a:pPr>
                      <a:r>
                        <a:rPr/>
                        <a:t>vitamin A, iron, folate, b12, zinc</a:t>
                      </a:r>
                    </a:p>
                  </a:txBody>
                </a:tc>
              </a:tr>
              <a:tr h="0">
                <a:tc>
                  <a:txBody>
                    <a:bodyPr/>
                    <a:lstStyle/>
                    <a:p>
                      <a:pPr lvl="0" indent="0" marL="0" algn="l">
                        <a:buNone/>
                      </a:pPr>
                      <a:r>
                        <a:rPr/>
                        <a:t>Sierra Leone Micronutrient Survey 2013 (SLMS)</a:t>
                      </a:r>
                    </a:p>
                  </a:txBody>
                </a:tc>
                <a:tc>
                  <a:txBody>
                    <a:bodyPr/>
                    <a:lstStyle/>
                    <a:p>
                      <a:pPr lvl="0" indent="0" marL="0" algn="l">
                        <a:buNone/>
                      </a:pPr>
                      <a:r>
                        <a:rPr/>
                        <a:t>Oct 2013 to Dec 2013</a:t>
                      </a:r>
                    </a:p>
                  </a:txBody>
                </a:tc>
                <a:tc>
                  <a:txBody>
                    <a:bodyPr/>
                    <a:lstStyle/>
                    <a:p>
                      <a:pPr lvl="0" indent="0" marL="0" algn="r">
                        <a:buNone/>
                      </a:pPr>
                      <a:r>
                        <a:rPr/>
                        <a:t>14</a:t>
                      </a:r>
                    </a:p>
                  </a:txBody>
                </a:tc>
                <a:tc>
                  <a:txBody>
                    <a:bodyPr/>
                    <a:lstStyle/>
                    <a:p>
                      <a:pPr lvl="0" indent="0" marL="0" algn="r">
                        <a:buNone/>
                      </a:pPr>
                      <a:r>
                        <a:rPr/>
                        <a:t>60</a:t>
                      </a:r>
                    </a:p>
                  </a:txBody>
                </a:tc>
                <a:tc>
                  <a:txBody>
                    <a:bodyPr/>
                    <a:lstStyle/>
                    <a:p>
                      <a:pPr lvl="0" indent="0" marL="0" algn="l">
                        <a:buNone/>
                      </a:pPr>
                      <a:r>
                        <a:rPr/>
                        <a:t>vitamin A, iron, folate, b12</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016000"/>
                <a:gridCol w="2870200"/>
                <a:gridCol w="1790700"/>
                <a:gridCol w="3505200"/>
                <a:gridCol w="1333500"/>
              </a:tblGrid>
              <a:tr h="0">
                <a:tc>
                  <a:txBody>
                    <a:bodyPr/>
                    <a:lstStyle/>
                    <a:p>
                      <a:pPr lvl="0" indent="0" marL="0" algn="l">
                        <a:buNone/>
                      </a:pPr>
                      <a:r>
                        <a:rPr/>
                        <a:t>Nutrient status</a:t>
                      </a:r>
                    </a:p>
                  </a:txBody>
                  <a:tcPr/>
                </a:tc>
                <a:tc>
                  <a:txBody>
                    <a:bodyPr/>
                    <a:lstStyle/>
                    <a:p>
                      <a:pPr lvl="0" indent="0" marL="0" algn="l">
                        <a:buNone/>
                      </a:pPr>
                      <a:r>
                        <a:rPr/>
                        <a:t>Population</a:t>
                      </a:r>
                    </a:p>
                  </a:txBody>
                  <a:tcPr/>
                </a:tc>
                <a:tc>
                  <a:txBody>
                    <a:bodyPr/>
                    <a:lstStyle/>
                    <a:p>
                      <a:pPr lvl="0" indent="0" marL="0" algn="l">
                        <a:buNone/>
                      </a:pPr>
                      <a:r>
                        <a:rPr/>
                        <a:t>Countries</a:t>
                      </a:r>
                    </a:p>
                  </a:txBody>
                  <a:tcPr/>
                </a:tc>
                <a:tc>
                  <a:txBody>
                    <a:bodyPr/>
                    <a:lstStyle/>
                    <a:p>
                      <a:pPr lvl="0" indent="0" marL="0" algn="l">
                        <a:buNone/>
                      </a:pPr>
                      <a:r>
                        <a:rPr/>
                        <a:t>Biomarker</a:t>
                      </a:r>
                    </a:p>
                  </a:txBody>
                  <a:tcPr/>
                </a:tc>
                <a:tc>
                  <a:txBody>
                    <a:bodyPr/>
                    <a:lstStyle/>
                    <a:p>
                      <a:pPr lvl="0" indent="0" marL="0" algn="l">
                        <a:buNone/>
                      </a:pPr>
                      <a:r>
                        <a:rPr/>
                        <a:t>Uniform cut-off</a:t>
                      </a:r>
                    </a:p>
                  </a:txBody>
                  <a:tcPr/>
                </a:tc>
              </a:tr>
              <a:tr h="0">
                <a:tc>
                  <a:txBody>
                    <a:bodyPr/>
                    <a:lstStyle/>
                    <a:p>
                      <a:pPr lvl="0" indent="0" marL="0" algn="l">
                        <a:buNone/>
                      </a:pPr>
                      <a:r>
                        <a:rPr/>
                        <a:t>Iron</a:t>
                      </a:r>
                    </a:p>
                  </a:txBody>
                </a:tc>
                <a:tc>
                  <a:txBody>
                    <a:bodyPr/>
                    <a:lstStyle/>
                    <a:p>
                      <a:pPr lvl="0" indent="0" marL="0" algn="l">
                        <a:buNone/>
                      </a:pPr>
                      <a:r>
                        <a:rPr/>
                        <a:t>Children 6-59 mo; non-pregnant women 15-49 y</a:t>
                      </a:r>
                    </a:p>
                  </a:txBody>
                </a:tc>
                <a:tc>
                  <a:txBody>
                    <a:bodyPr/>
                    <a:lstStyle/>
                    <a:p>
                      <a:pPr lvl="0" indent="0" marL="0" algn="l">
                        <a:buNone/>
                      </a:pPr>
                      <a:r>
                        <a:rPr/>
                        <a:t>All four</a:t>
                      </a:r>
                    </a:p>
                  </a:txBody>
                </a:tc>
                <a:tc>
                  <a:txBody>
                    <a:bodyPr/>
                    <a:lstStyle/>
                    <a:p>
                      <a:pPr lvl="0" indent="0" marL="0" algn="l">
                        <a:buNone/>
                      </a:pPr>
                      <a:r>
                        <a:rPr/>
                        <a:t>Ferritin, inflammation-adjusted (survey flag; not IDA)</a:t>
                      </a:r>
                    </a:p>
                  </a:txBody>
                </a:tc>
                <a:tc>
                  <a:txBody>
                    <a:bodyPr/>
                    <a:lstStyle/>
                    <a:p>
                      <a:pPr lvl="0" indent="0" marL="0" algn="l">
                        <a:buNone/>
                      </a:pPr>
                      <a:r>
                        <a:rPr/>
                        <a:t>&lt; 12 / &lt; 15 ug/L</a:t>
                      </a:r>
                    </a:p>
                  </a:txBody>
                </a:tc>
              </a:tr>
              <a:tr h="0">
                <a:tc>
                  <a:txBody>
                    <a:bodyPr/>
                    <a:lstStyle/>
                    <a:p>
                      <a:pPr lvl="0" indent="0" marL="0" algn="l">
                        <a:buNone/>
                      </a:pPr>
                      <a:r>
                        <a:rPr/>
                        <a:t>Vitamin A</a:t>
                      </a:r>
                    </a:p>
                  </a:txBody>
                </a:tc>
                <a:tc>
                  <a:txBody>
                    <a:bodyPr/>
                    <a:lstStyle/>
                    <a:p>
                      <a:pPr lvl="0" indent="0" marL="0" algn="l">
                        <a:buNone/>
                      </a:pPr>
                      <a:r>
                        <a:rPr/>
                        <a:t>Children 6-59 mo; non-pregnant women 15-49 y</a:t>
                      </a:r>
                    </a:p>
                  </a:txBody>
                </a:tc>
                <a:tc>
                  <a:txBody>
                    <a:bodyPr/>
                    <a:lstStyle/>
                    <a:p>
                      <a:pPr lvl="0" indent="0" marL="0" algn="l">
                        <a:buNone/>
                      </a:pPr>
                      <a:r>
                        <a:rPr/>
                        <a:t>All four</a:t>
                      </a:r>
                    </a:p>
                  </a:txBody>
                </a:tc>
                <a:tc>
                  <a:txBody>
                    <a:bodyPr/>
                    <a:lstStyle/>
                    <a:p>
                      <a:pPr lvl="0" indent="0" marL="0" algn="l">
                        <a:buNone/>
                      </a:pPr>
                      <a:r>
                        <a:rPr/>
                        <a:t>Retinol-binding protein, one BRINDA adjustment for all</a:t>
                      </a:r>
                    </a:p>
                  </a:txBody>
                </a:tc>
                <a:tc>
                  <a:txBody>
                    <a:bodyPr/>
                    <a:lstStyle/>
                    <a:p>
                      <a:pPr lvl="0" indent="0" marL="0" algn="l">
                        <a:buNone/>
                      </a:pPr>
                      <a:r>
                        <a:rPr/>
                        <a:t>&lt; 0.70 umol/L RBP</a:t>
                      </a:r>
                    </a:p>
                  </a:txBody>
                </a:tc>
              </a:tr>
              <a:tr h="0">
                <a:tc>
                  <a:txBody>
                    <a:bodyPr/>
                    <a:lstStyle/>
                    <a:p>
                      <a:pPr lvl="0" indent="0" marL="0" algn="l">
                        <a:buNone/>
                      </a:pPr>
                      <a:r>
                        <a:rPr/>
                        <a:t>Folate</a:t>
                      </a:r>
                    </a:p>
                  </a:txBody>
                </a:tc>
                <a:tc>
                  <a:txBody>
                    <a:bodyPr/>
                    <a:lstStyle/>
                    <a:p>
                      <a:pPr lvl="0" indent="0" marL="0" algn="l">
                        <a:buNone/>
                      </a:pPr>
                      <a:r>
                        <a:rPr/>
                        <a:t>Non-pregnant women 15-49 y</a:t>
                      </a:r>
                    </a:p>
                  </a:txBody>
                </a:tc>
                <a:tc>
                  <a:txBody>
                    <a:bodyPr/>
                    <a:lstStyle/>
                    <a:p>
                      <a:pPr lvl="0" indent="0" marL="0" algn="l">
                        <a:buNone/>
                      </a:pPr>
                      <a:r>
                        <a:rPr/>
                        <a:t>Ghana, Sierra Leone, Malawi</a:t>
                      </a:r>
                    </a:p>
                  </a:txBody>
                </a:tc>
                <a:tc>
                  <a:txBody>
                    <a:bodyPr/>
                    <a:lstStyle/>
                    <a:p>
                      <a:pPr lvl="0" indent="0" marL="0" algn="l">
                        <a:buNone/>
                      </a:pPr>
                      <a:r>
                        <a:rPr/>
                        <a:t>Serum folate (immunoassay GH, SL; microbiologic MW)</a:t>
                      </a:r>
                    </a:p>
                  </a:txBody>
                </a:tc>
                <a:tc>
                  <a:txBody>
                    <a:bodyPr/>
                    <a:lstStyle/>
                    <a:p>
                      <a:pPr lvl="0" indent="0" marL="0" algn="l">
                        <a:buNone/>
                      </a:pPr>
                      <a:r>
                        <a:rPr/>
                        <a:t>&lt; 10 nmol/L</a:t>
                      </a:r>
                    </a:p>
                  </a:txBody>
                </a:tc>
              </a:tr>
              <a:tr h="0">
                <a:tc>
                  <a:txBody>
                    <a:bodyPr/>
                    <a:lstStyle/>
                    <a:p>
                      <a:pPr lvl="0" indent="0" marL="0" algn="l">
                        <a:buNone/>
                      </a:pPr>
                      <a:r>
                        <a:rPr/>
                        <a:t>B12</a:t>
                      </a:r>
                    </a:p>
                  </a:txBody>
                </a:tc>
                <a:tc>
                  <a:txBody>
                    <a:bodyPr/>
                    <a:lstStyle/>
                    <a:p>
                      <a:pPr lvl="0" indent="0" marL="0" algn="l">
                        <a:buNone/>
                      </a:pPr>
                      <a:r>
                        <a:rPr/>
                        <a:t>Non-pregnant women 15-49 y</a:t>
                      </a:r>
                    </a:p>
                  </a:txBody>
                </a:tc>
                <a:tc>
                  <a:txBody>
                    <a:bodyPr/>
                    <a:lstStyle/>
                    <a:p>
                      <a:pPr lvl="0" indent="0" marL="0" algn="l">
                        <a:buNone/>
                      </a:pPr>
                      <a:r>
                        <a:rPr/>
                        <a:t>Ghana, Sierra Leone, Malawi</a:t>
                      </a:r>
                    </a:p>
                  </a:txBody>
                </a:tc>
                <a:tc>
                  <a:txBody>
                    <a:bodyPr/>
                    <a:lstStyle/>
                    <a:p>
                      <a:pPr lvl="0" indent="0" marL="0" algn="l">
                        <a:buNone/>
                      </a:pPr>
                      <a:r>
                        <a:rPr/>
                        <a:t>Serum B12</a:t>
                      </a:r>
                    </a:p>
                  </a:txBody>
                </a:tc>
                <a:tc>
                  <a:txBody>
                    <a:bodyPr/>
                    <a:lstStyle/>
                    <a:p>
                      <a:pPr lvl="0" indent="0" marL="0" algn="l">
                        <a:buNone/>
                      </a:pPr>
                      <a:r>
                        <a:rPr/>
                        <a:t>&lt; 148-150 pmol/L</a:t>
                      </a:r>
                    </a:p>
                  </a:txBody>
                </a:tc>
              </a:tr>
              <a:tr h="0">
                <a:tc>
                  <a:txBody>
                    <a:bodyPr/>
                    <a:lstStyle/>
                    <a:p>
                      <a:pPr lvl="0" indent="0" marL="0" algn="l">
                        <a:buNone/>
                      </a:pPr>
                      <a:r>
                        <a:rPr/>
                        <a:t>Zinc</a:t>
                      </a:r>
                    </a:p>
                  </a:txBody>
                </a:tc>
                <a:tc>
                  <a:txBody>
                    <a:bodyPr/>
                    <a:lstStyle/>
                    <a:p>
                      <a:pPr lvl="0" indent="0" marL="0" algn="l">
                        <a:buNone/>
                      </a:pPr>
                      <a:r>
                        <a:rPr/>
                        <a:t>Children 6-59 mo; non-pregnant women</a:t>
                      </a:r>
                    </a:p>
                  </a:txBody>
                </a:tc>
                <a:tc>
                  <a:txBody>
                    <a:bodyPr/>
                    <a:lstStyle/>
                    <a:p>
                      <a:pPr lvl="0" indent="0" marL="0" algn="l">
                        <a:buNone/>
                      </a:pPr>
                      <a:r>
                        <a:rPr/>
                        <a:t>Malawi only</a:t>
                      </a:r>
                    </a:p>
                  </a:txBody>
                </a:tc>
                <a:tc>
                  <a:txBody>
                    <a:bodyPr/>
                    <a:lstStyle/>
                    <a:p>
                      <a:pPr lvl="0" indent="0" marL="0" algn="l">
                        <a:buNone/>
                      </a:pPr>
                      <a:r>
                        <a:rPr/>
                        <a:t>Serum zinc, IZiNCG flag, unadjusted</a:t>
                      </a:r>
                    </a:p>
                  </a:txBody>
                </a:tc>
                <a:tc>
                  <a:txBody>
                    <a:bodyPr/>
                    <a:lstStyle/>
                    <a:p>
                      <a:pPr lvl="0" indent="0" marL="0" algn="l">
                        <a:buNone/>
                      </a:pPr>
                      <a:r>
                        <a:rPr/>
                        <a:t>IZiNCG, by draw time</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00400" y="1816100"/>
            <a:ext cx="57912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Content Placeholder 2"/>
          <p:cNvSpPr>
            <a:spLocks noGrp="1"/>
          </p:cNvSpPr>
          <p:nvPr>
            <p:ph idx="1"/>
          </p:nvPr>
        </p:nvSpPr>
        <p:spPr/>
        <p:txBody>
          <a:bodyPr/>
          <a:lstStyle/>
          <a:p>
            <a:pPr lvl="0"/>
            <a:r>
              <a:rPr/>
              <a:t>Clean and merge the national micronutrient surveys, with one uniform outcome definition per nutrient across countries.</a:t>
            </a:r>
          </a:p>
          <a:p>
            <a:pPr lvl="0"/>
            <a:r>
              <a:rPr/>
              <a:t>Link gridded layers to districts as zonal means, and to survey clusters as buffer means.</a:t>
            </a:r>
          </a:p>
          <a:p>
            <a:pPr lvl="0"/>
            <a:r>
              <a:rPr/>
              <a:t>Aggregate the household surveys to districts: DHS with a cluster-level spatial model, MICS and the household budget surveys from their public microdata at the finest level each survey identifies.</a:t>
            </a:r>
          </a:p>
          <a:p>
            <a:pPr lvl="0"/>
            <a:r>
              <a:rPr/>
              <a:t>Every layer is taken at the survey year or the nearest available one; climate enters as a 30-year normal plus the survey-year anomaly.</a:t>
            </a:r>
          </a:p>
          <a:p>
            <a:pPr lvl="0"/>
            <a:r>
              <a:rPr/>
              <a:t>The headline models use only open layers and public survey microdata. The DHS aggregates are a sensitivity arm, so the set is one a country without a recent DHS can rebuild.</a:t>
            </a:r>
          </a:p>
          <a:p>
            <a:pPr lvl="0"/>
            <a:r>
              <a:rPr/>
              <a:t>Rank-normalise every predictor within country before pooling, so that cross-country level offsets cannot act as signal.</a:t>
            </a:r>
          </a:p>
          <a:p>
            <a:pPr lvl="0"/>
            <a:r>
              <a:rPr/>
              <a:t>Reduce each of 28 domains to its leading principal components; nothing is selected on the outcome.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by source</a:t>
            </a:r>
          </a:p>
        </p:txBody>
      </p:sp>
      <p:sp>
        <p:nvSpPr>
          <p:cNvPr id="3" name="Content Placeholder 2"/>
          <p:cNvSpPr>
            <a:spLocks noGrp="1"/>
          </p:cNvSpPr>
          <p:nvPr>
            <p:ph idx="1" sz="half"/>
          </p:nvPr>
        </p:nvSpPr>
        <p:spPr/>
        <p:txBody>
          <a:bodyPr/>
          <a:lstStyle/>
          <a:p>
            <a:pPr lvl="0" indent="0" marL="0">
              <a:buNone/>
            </a:pPr>
            <a:r>
              <a:rPr/>
              <a:t>570 predictors in 28 domains; 375 enter the headline models. The DHS aggregates (150) are a sensitivity arm. The Earth Engine layers, the DHS block and the satellite embedding are the largest sources.</a:t>
            </a:r>
          </a:p>
        </p:txBody>
      </p:sp>
      <p:pic>
        <p:nvPicPr>
          <p:cNvPr descr="MN-proxy-Ghana-presentation-2026-09_files/figure-pptx/sources-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Content Placeholder 2"/>
          <p:cNvSpPr>
            <a:spLocks noGrp="1"/>
          </p:cNvSpPr>
          <p:nvPr>
            <p:ph idx="1" sz="half"/>
          </p:nvPr>
        </p:nvSpPr>
        <p:spPr/>
        <p:txBody>
          <a:bodyPr/>
          <a:lstStyle/>
          <a:p>
            <a:pPr lvl="0" indent="0" marL="0">
              <a:buNone/>
            </a:pPr>
            <a:r>
              <a:rPr/>
              <a:t>Columns per domain. The satellite embedding, child morbidity, climate and soil are the four largest domains; each enters the models as its leading principal components to 80% of variance.</a:t>
            </a:r>
          </a:p>
        </p:txBody>
      </p:sp>
      <p:pic>
        <p:nvPicPr>
          <p:cNvPr descr="MN-proxy-Ghana-presentation-2026-09_files/figure-pptx/domains-1.png" id="0" name="Picture 1"/>
          <p:cNvPicPr>
            <a:picLocks noGrp="1" noChangeAspect="1"/>
          </p:cNvPicPr>
          <p:nvPr/>
        </p:nvPicPr>
        <p:blipFill>
          <a:blip r:embed="rId2"/>
          <a:stretch>
            <a:fillRect/>
          </a:stretch>
        </p:blipFill>
        <p:spPr bwMode="auto">
          <a:xfrm>
            <a:off x="6337300" y="1816100"/>
            <a:ext cx="48387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Protocol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Content Placeholder 2"/>
          <p:cNvSpPr>
            <a:spLocks noGrp="1"/>
          </p:cNvSpPr>
          <p:nvPr>
            <p:ph idx="1" sz="half"/>
          </p:nvPr>
        </p:nvSpPr>
        <p:spPr/>
        <p:txBody>
          <a:bodyPr/>
          <a:lstStyle/>
          <a:p>
            <a:pPr lvl="0" indent="0" marL="0">
              <a:buNone/>
            </a:pPr>
            <a:r>
              <a:rPr/>
              <a:t>January: spatial ensemble learning</a:t>
            </a:r>
          </a:p>
          <a:p>
            <a:pPr lvl="0"/>
            <a:r>
              <a:rPr/>
              <a:t>SuperLearner library, weighted by cross-validated performance.</a:t>
            </a:r>
          </a:p>
          <a:p>
            <a:pPr lvl="0"/>
            <a:r>
              <a:rPr/>
              <a:t>Prescreening from thousands of predictors to 10 to 100 per model.</a:t>
            </a:r>
          </a:p>
          <a:p>
            <a:pPr lvl="0"/>
            <a:r>
              <a:rPr/>
              <a:t>Importance by change in mean squared error.</a:t>
            </a:r>
          </a:p>
        </p:txBody>
      </p:sp>
      <p:sp>
        <p:nvSpPr>
          <p:cNvPr id="4" name="Content Placeholder 3"/>
          <p:cNvSpPr>
            <a:spLocks noGrp="1"/>
          </p:cNvSpPr>
          <p:nvPr>
            <p:ph idx="2" sz="half"/>
          </p:nvPr>
        </p:nvSpPr>
        <p:spPr/>
        <p:txBody>
          <a:bodyPr/>
          <a:lstStyle/>
          <a:p>
            <a:pPr lvl="0" indent="0" marL="0">
              <a:buNone/>
            </a:pPr>
            <a:r>
              <a:rPr/>
              <a:t>Current: the corrected protocol</a:t>
            </a:r>
          </a:p>
          <a:p>
            <a:pPr lvl="0"/>
            <a:r>
              <a:rPr/>
              <a:t>Zero-tuning index: domain principal components weighted by their training-fold rank correlation with the outcome.</a:t>
            </a:r>
          </a:p>
          <a:p>
            <a:pPr lvl="0"/>
            <a:r>
              <a:rPr/>
              <a:t>SuperLearner retained as a comparison.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51000"/>
                <a:gridCol w="3213100"/>
                <a:gridCol w="2273300"/>
                <a:gridCol w="3378200"/>
              </a:tblGrid>
              <a:tr h="0">
                <a:tc>
                  <a:txBody>
                    <a:bodyPr/>
                    <a:lstStyle/>
                    <a:p>
                      <a:pPr lvl="0" indent="0" marL="0" algn="l">
                        <a:buNone/>
                      </a:pPr>
                      <a:r>
                        <a:rPr/>
                        <a:t>Estimand</a:t>
                      </a:r>
                    </a:p>
                  </a:txBody>
                  <a:tcPr/>
                </a:tc>
                <a:tc>
                  <a:txBody>
                    <a:bodyPr/>
                    <a:lstStyle/>
                    <a:p>
                      <a:pPr lvl="0" indent="0" marL="0" algn="l">
                        <a:buNone/>
                      </a:pPr>
                      <a:r>
                        <a:rPr/>
                        <a:t>Question</a:t>
                      </a:r>
                    </a:p>
                  </a:txBody>
                  <a:tcPr/>
                </a:tc>
                <a:tc>
                  <a:txBody>
                    <a:bodyPr/>
                    <a:lstStyle/>
                    <a:p>
                      <a:pPr lvl="0" indent="0" marL="0" algn="l">
                        <a:buNone/>
                      </a:pPr>
                      <a:r>
                        <a:rPr/>
                        <a:t>Folds</a:t>
                      </a:r>
                    </a:p>
                  </a:txBody>
                  <a:tcPr/>
                </a:tc>
                <a:tc>
                  <a:txBody>
                    <a:bodyPr/>
                    <a:lstStyle/>
                    <a:p>
                      <a:pPr lvl="0" indent="0" marL="0" algn="l">
                        <a:buNone/>
                      </a:pPr>
                      <a:r>
                        <a:rPr/>
                        <a:t>Matched baseline</a:t>
                      </a:r>
                    </a:p>
                  </a:txBody>
                  <a:tcPr/>
                </a:tc>
              </a:tr>
              <a:tr h="0">
                <a:tc>
                  <a:txBody>
                    <a:bodyPr/>
                    <a:lstStyle/>
                    <a:p>
                      <a:pPr lvl="0" indent="0" marL="0" algn="l">
                        <a:buNone/>
                      </a:pPr>
                      <a:r>
                        <a:rPr/>
                        <a:t>In-fill</a:t>
                      </a:r>
                    </a:p>
                  </a:txBody>
                </a:tc>
                <a:tc>
                  <a:txBody>
                    <a:bodyPr/>
                    <a:lstStyle/>
                    <a:p>
                      <a:pPr lvl="0" indent="0" marL="0" algn="l">
                        <a:buNone/>
                      </a:pPr>
                      <a:r>
                        <a:rPr/>
                        <a:t>Unsurveyed district in a surveyed region</a:t>
                      </a:r>
                    </a:p>
                  </a:txBody>
                </a:tc>
                <a:tc>
                  <a:txBody>
                    <a:bodyPr/>
                    <a:lstStyle/>
                    <a:p>
                      <a:pPr lvl="0" indent="0" marL="0" algn="l">
                        <a:buNone/>
                      </a:pPr>
                      <a:r>
                        <a:rPr/>
                        <a:t>5-fold by district, 10 draws</a:t>
                      </a:r>
                    </a:p>
                  </a:txBody>
                </a:tc>
                <a:tc>
                  <a:txBody>
                    <a:bodyPr/>
                    <a:lstStyle/>
                    <a:p>
                      <a:pPr lvl="0" indent="0" marL="0" algn="l">
                        <a:buNone/>
                      </a:pPr>
                      <a:r>
                        <a:rPr/>
                        <a:t>Jackknifed regional mean; spatial smoother</a:t>
                      </a:r>
                    </a:p>
                  </a:txBody>
                </a:tc>
              </a:tr>
              <a:tr h="0">
                <a:tc>
                  <a:txBody>
                    <a:bodyPr/>
                    <a:lstStyle/>
                    <a:p>
                      <a:pPr lvl="0" indent="0" marL="0" algn="l">
                        <a:buNone/>
                      </a:pPr>
                      <a:r>
                        <a:rPr/>
                        <a:t>Region extrapolation</a:t>
                      </a:r>
                    </a:p>
                  </a:txBody>
                </a:tc>
                <a:tc>
                  <a:txBody>
                    <a:bodyPr/>
                    <a:lstStyle/>
                    <a:p>
                      <a:pPr lvl="0" indent="0" marL="0" algn="l">
                        <a:buNone/>
                      </a:pPr>
                      <a:r>
                        <a:rPr/>
                        <a:t>Whole unsurveyed region</a:t>
                      </a:r>
                    </a:p>
                  </a:txBody>
                </a:tc>
                <a:tc>
                  <a:txBody>
                    <a:bodyPr/>
                    <a:lstStyle/>
                    <a:p>
                      <a:pPr lvl="0" indent="0" marL="0" algn="l">
                        <a:buNone/>
                      </a:pPr>
                      <a:r>
                        <a:rPr/>
                        <a:t>Leave-one-region-out</a:t>
                      </a:r>
                    </a:p>
                  </a:txBody>
                </a:tc>
                <a:tc>
                  <a:txBody>
                    <a:bodyPr/>
                    <a:lstStyle/>
                    <a:p>
                      <a:pPr lvl="0" indent="0" marL="0" algn="l">
                        <a:buNone/>
                      </a:pPr>
                      <a:r>
                        <a:rPr/>
                        <a:t>Spatial smoother</a:t>
                      </a:r>
                    </a:p>
                  </a:txBody>
                </a:tc>
              </a:tr>
              <a:tr h="0">
                <a:tc>
                  <a:txBody>
                    <a:bodyPr/>
                    <a:lstStyle/>
                    <a:p>
                      <a:pPr lvl="0" indent="0" marL="0" algn="l">
                        <a:buNone/>
                      </a:pPr>
                      <a:r>
                        <a:rPr/>
                        <a:t>Country transport</a:t>
                      </a:r>
                    </a:p>
                  </a:txBody>
                </a:tc>
                <a:tc>
                  <a:txBody>
                    <a:bodyPr/>
                    <a:lstStyle/>
                    <a:p>
                      <a:pPr lvl="0" indent="0" marL="0" algn="l">
                        <a:buNone/>
                      </a:pPr>
                      <a:r>
                        <a:rPr/>
                        <a:t>Country with no biomarker survey</a:t>
                      </a:r>
                    </a:p>
                  </a:txBody>
                </a:tc>
                <a:tc>
                  <a:txBody>
                    <a:bodyPr/>
                    <a:lstStyle/>
                    <a:p>
                      <a:pPr lvl="0" indent="0" marL="0" algn="l">
                        <a:buNone/>
                      </a:pPr>
                      <a:r>
                        <a:rPr/>
                        <a:t>Leave-one-country-out</a:t>
                      </a:r>
                    </a:p>
                  </a:txBody>
                </a:tc>
                <a:tc>
                  <a:txBody>
                    <a:bodyPr/>
                    <a:lstStyle/>
                    <a:p>
                      <a:pPr lvl="0" indent="0" marL="0" algn="l">
                        <a:buNone/>
                      </a:pPr>
                      <a:r>
                        <a:rPr/>
                        <a:t>Country-block permutation null</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Ghana-presentation-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a:t>Leave-one-region-out, mean over cells with a 95% interval. The index scores 0.38 on the level and 0.26 on prevalence; the penalised fits fall to 0.08 and -0.04 on prevalence.</a:t>
            </a:r>
          </a:p>
        </p:txBody>
      </p:sp>
      <p:pic>
        <p:nvPicPr>
          <p:cNvPr descr="MN-proxy-Ghana-presentation-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a:t>Leave-one-country-out, 22 cells. The full index scores 0.31 at district level (positive in 18 of 22) and 0.28 at regional level; the climate-and-soil index scores 0.38 and 0.45. Dashed lines are the 95th percentile of the permutation null.</a:t>
            </a:r>
          </a:p>
        </p:txBody>
      </p:sp>
      <p:pic>
        <p:nvPicPr>
          <p:cNvPr descr="MN-proxy-Ghana-presentation-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Ghana-presentation-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a:t>Alternative weightings of the same components on the biomarker level. In-country every joint fit loses to the marginal-correlation weights (ridge -0.04, elastic net -0.07, lasso -0.07). Across borders the decorrelated index gains +0.002 (better in 12 of 22).</a:t>
            </a:r>
          </a:p>
        </p:txBody>
      </p:sp>
      <p:pic>
        <p:nvPicPr>
          <p:cNvPr descr="MN-proxy-Ghana-presentation-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768600" y="1816100"/>
            <a:ext cx="6642100" cy="4343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a:t>Predictor</a:t>
                      </a:r>
                    </a:p>
                  </a:txBody>
                  <a:tcPr/>
                </a:tc>
                <a:tc>
                  <a:txBody>
                    <a:bodyPr/>
                    <a:lstStyle/>
                    <a:p>
                      <a:pPr lvl="0" indent="0" marL="0" algn="l">
                        <a:buNone/>
                      </a:pPr>
                      <a:r>
                        <a:rPr/>
                        <a:t>Domain</a:t>
                      </a:r>
                    </a:p>
                  </a:txBody>
                  <a:tcPr/>
                </a:tc>
                <a:tc>
                  <a:txBody>
                    <a:bodyPr/>
                    <a:lstStyle/>
                    <a:p>
                      <a:pPr lvl="0" indent="0" marL="0" algn="r">
                        <a:buNone/>
                      </a:pPr>
                      <a:r>
                        <a:rPr/>
                        <a:t>Outcomes (top 20)</a:t>
                      </a:r>
                    </a:p>
                  </a:txBody>
                  <a:tcPr/>
                </a:tc>
                <a:tc>
                  <a:txBody>
                    <a:bodyPr/>
                    <a:lstStyle/>
                    <a:p>
                      <a:pPr lvl="0" indent="0" marL="0" algn="l">
                        <a:buNone/>
                      </a:pPr>
                      <a:r>
                        <a:rPr/>
                        <a:t>Signs</a:t>
                      </a:r>
                    </a:p>
                  </a:txBody>
                  <a:tcPr/>
                </a:tc>
                <a:tc>
                  <a:txBody>
                    <a:bodyPr/>
                    <a:lstStyle/>
                    <a:p>
                      <a:pPr lvl="0" indent="0" marL="0" algn="r">
                        <a:buNone/>
                      </a:pPr>
                      <a:r>
                        <a:rPr/>
                        <a:t>Mean rank</a:t>
                      </a:r>
                    </a:p>
                  </a:txBody>
                  <a:tcPr/>
                </a:tc>
              </a:tr>
              <a:tr h="0">
                <a:tc>
                  <a:txBody>
                    <a:bodyPr/>
                    <a:lstStyle/>
                    <a:p>
                      <a:pPr lvl="0" indent="0" marL="0" algn="l">
                        <a:buNone/>
                      </a:pPr>
                      <a:r>
                        <a:rPr/>
                        <a:t>fprice_staple_rel</a:t>
                      </a:r>
                    </a:p>
                  </a:txBody>
                </a:tc>
                <a:tc>
                  <a:txBody>
                    <a:bodyPr/>
                    <a:lstStyle/>
                    <a:p>
                      <a:pPr lvl="0" indent="0" marL="0" algn="l">
                        <a:buNone/>
                      </a:pPr>
                      <a:r>
                        <a:rPr/>
                        <a:t>Food prices and supply</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10.0</a:t>
                      </a:r>
                    </a:p>
                  </a:txBody>
                </a:tc>
              </a:tr>
              <a:tr h="0">
                <a:tc>
                  <a:txBody>
                    <a:bodyPr/>
                    <a:lstStyle/>
                    <a:p>
                      <a:pPr lvl="0" indent="0" marL="0" algn="l">
                        <a:buNone/>
                      </a:pPr>
                      <a:r>
                        <a:rPr/>
                        <a:t>npp_npp_t0</a:t>
                      </a:r>
                    </a:p>
                  </a:txBody>
                </a:tc>
                <a:tc>
                  <a:txBody>
                    <a:bodyPr/>
                    <a:lstStyle/>
                    <a:p>
                      <a:pPr lvl="0" indent="0" marL="0" algn="l">
                        <a:buNone/>
                      </a:pPr>
                      <a:r>
                        <a:rPr/>
                        <a:t>Ecosystem productivity/greenness</a:t>
                      </a:r>
                    </a:p>
                  </a:txBody>
                </a:tc>
                <a:tc>
                  <a:txBody>
                    <a:bodyPr/>
                    <a:lstStyle/>
                    <a:p>
                      <a:pPr lvl="0" indent="0" marL="0" algn="r">
                        <a:buNone/>
                      </a:pPr>
                      <a:r>
                        <a:rPr/>
                        <a:t>5</a:t>
                      </a:r>
                    </a:p>
                  </a:txBody>
                </a:tc>
                <a:tc>
                  <a:txBody>
                    <a:bodyPr/>
                    <a:lstStyle/>
                    <a:p>
                      <a:pPr lvl="0" indent="0" marL="0" algn="l">
                        <a:buNone/>
                      </a:pPr>
                      <a:r>
                        <a:rPr/>
                        <a:t>—–</a:t>
                      </a:r>
                    </a:p>
                  </a:txBody>
                </a:tc>
                <a:tc>
                  <a:txBody>
                    <a:bodyPr/>
                    <a:lstStyle/>
                    <a:p>
                      <a:pPr lvl="0" indent="0" marL="0" algn="r">
                        <a:buNone/>
                      </a:pPr>
                      <a:r>
                        <a:rPr/>
                        <a:t>15.8</a:t>
                      </a:r>
                    </a:p>
                  </a:txBody>
                </a:tc>
              </a:tr>
              <a:tr h="0">
                <a:tc>
                  <a:txBody>
                    <a:bodyPr/>
                    <a:lstStyle/>
                    <a:p>
                      <a:pPr lvl="0" indent="0" marL="0" algn="l">
                        <a:buNone/>
                      </a:pPr>
                      <a:r>
                        <a:rPr/>
                        <a:t>ihme_overweightprevalence</a:t>
                      </a:r>
                    </a:p>
                  </a:txBody>
                </a:tc>
                <a:tc>
                  <a:txBody>
                    <a:bodyPr/>
                    <a:lstStyle/>
                    <a:p>
                      <a:pPr lvl="0" indent="0" marL="0" algn="l">
                        <a:buNone/>
                      </a:pPr>
                      <a:r>
                        <a:rPr/>
                        <a:t>Child anthropometry</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6.0</a:t>
                      </a:r>
                    </a:p>
                  </a:txBody>
                </a:tc>
              </a:tr>
              <a:tr h="0">
                <a:tc>
                  <a:txBody>
                    <a:bodyPr/>
                    <a:lstStyle/>
                    <a:p>
                      <a:pPr lvl="0" indent="0" marL="0" algn="l">
                        <a:buNone/>
                      </a:pPr>
                      <a:r>
                        <a:rPr/>
                        <a:t>map_sy_pf_mortality_rate</a:t>
                      </a:r>
                    </a:p>
                  </a:txBody>
                </a:tc>
                <a:tc>
                  <a:txBody>
                    <a:bodyPr/>
                    <a:lstStyle/>
                    <a:p>
                      <a:pPr lvl="0" indent="0" marL="0" algn="l">
                        <a:buNone/>
                      </a:pPr>
                      <a:r>
                        <a:rPr/>
                        <a:t>Infection and inflammation burden</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7.8</a:t>
                      </a:r>
                    </a:p>
                  </a:txBody>
                </a:tc>
              </a:tr>
              <a:tr h="0">
                <a:tc>
                  <a:txBody>
                    <a:bodyPr/>
                    <a:lstStyle/>
                    <a:p>
                      <a:pPr lvl="0" indent="0" marL="0" algn="l">
                        <a:buNone/>
                      </a:pPr>
                      <a:r>
                        <a:rPr/>
                        <a:t>npp_gpp_t0</a:t>
                      </a:r>
                    </a:p>
                  </a:txBody>
                </a:tc>
                <a:tc>
                  <a:txBody>
                    <a:bodyPr/>
                    <a:lstStyle/>
                    <a:p>
                      <a:pPr lvl="0" indent="0" marL="0" algn="l">
                        <a:buNone/>
                      </a:pPr>
                      <a:r>
                        <a:rPr/>
                        <a:t>Ecosystem productivity/greenness</a:t>
                      </a:r>
                    </a:p>
                  </a:txBody>
                </a:tc>
                <a:tc>
                  <a:txBody>
                    <a:bodyPr/>
                    <a:lstStyle/>
                    <a:p>
                      <a:pPr lvl="0" indent="0" marL="0" algn="r">
                        <a:buNone/>
                      </a:pPr>
                      <a:r>
                        <a:rPr/>
                        <a:t>4</a:t>
                      </a:r>
                    </a:p>
                  </a:txBody>
                </a:tc>
                <a:tc>
                  <a:txBody>
                    <a:bodyPr/>
                    <a:lstStyle/>
                    <a:p>
                      <a:pPr lvl="0" indent="0" marL="0" algn="l">
                        <a:buNone/>
                      </a:pPr>
                      <a:r>
                        <a:rPr/>
                        <a:t>—-</a:t>
                      </a:r>
                    </a:p>
                  </a:txBody>
                </a:tc>
                <a:tc>
                  <a:txBody>
                    <a:bodyPr/>
                    <a:lstStyle/>
                    <a:p>
                      <a:pPr lvl="0" indent="0" marL="0" algn="r">
                        <a:buNone/>
                      </a:pPr>
                      <a:r>
                        <a:rPr/>
                        <a:t>14.0</a:t>
                      </a:r>
                    </a:p>
                  </a:txBody>
                </a:tc>
              </a:tr>
              <a:tr h="0">
                <a:tc>
                  <a:txBody>
                    <a:bodyPr/>
                    <a:lstStyle/>
                    <a:p>
                      <a:pPr lvl="0" indent="0" marL="0" algn="l">
                        <a:buNone/>
                      </a:pPr>
                      <a:r>
                        <a:rPr/>
                        <a:t>mics_w_iptp_sp</a:t>
                      </a:r>
                    </a:p>
                  </a:txBody>
                </a:tc>
                <a:tc>
                  <a:txBody>
                    <a:bodyPr/>
                    <a:lstStyle/>
                    <a:p>
                      <a:pPr lvl="0" indent="0" marL="0" algn="l">
                        <a:buNone/>
                      </a:pPr>
                      <a:r>
                        <a:rPr/>
                        <a:t>Infection and inflammation burden</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3.0</a:t>
                      </a:r>
                    </a:p>
                  </a:txBody>
                </a:tc>
              </a:tr>
              <a:tr h="0">
                <a:tc>
                  <a:txBody>
                    <a:bodyPr/>
                    <a:lstStyle/>
                    <a:p>
                      <a:pPr lvl="0" indent="0" marL="0" algn="l">
                        <a:buNone/>
                      </a:pPr>
                      <a:r>
                        <a:rPr/>
                        <a:t>glw_ruminant_share</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6.3</a:t>
                      </a:r>
                    </a:p>
                  </a:txBody>
                </a:tc>
              </a:tr>
              <a:tr h="0">
                <a:tc>
                  <a:txBody>
                    <a:bodyPr/>
                    <a:lstStyle/>
                    <a:p>
                      <a:pPr lvl="0" indent="0" marL="0" algn="l">
                        <a:buNone/>
                      </a:pPr>
                      <a:r>
                        <a:rPr/>
                        <a:t>ihme_underweightprevalence</a:t>
                      </a:r>
                    </a:p>
                  </a:txBody>
                </a:tc>
                <a:tc>
                  <a:txBody>
                    <a:bodyPr/>
                    <a:lstStyle/>
                    <a:p>
                      <a:pPr lvl="0" indent="0" marL="0" algn="l">
                        <a:buNone/>
                      </a:pPr>
                      <a:r>
                        <a:rPr/>
                        <a:t>Child anthropometry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lcover_grass_frac_t0</a:t>
                      </a:r>
                    </a:p>
                  </a:txBody>
                </a:tc>
                <a:tc>
                  <a:txBody>
                    <a:bodyPr/>
                    <a:lstStyle/>
                    <a:p>
                      <a:pPr lvl="0" indent="0" marL="0" algn="l">
                        <a:buNone/>
                      </a:pPr>
                      <a:r>
                        <a:rPr/>
                        <a:t>Built environment</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7.0</a:t>
                      </a:r>
                    </a:p>
                  </a:txBody>
                </a:tc>
              </a:tr>
              <a:tr h="0">
                <a:tc>
                  <a:txBody>
                    <a:bodyPr/>
                    <a:lstStyle/>
                    <a:p>
                      <a:pPr lvl="0" indent="0" marL="0" algn="l">
                        <a:buNone/>
                      </a:pPr>
                      <a:r>
                        <a:rPr/>
                        <a:t>lcover_crops_frac_t0</a:t>
                      </a:r>
                    </a:p>
                  </a:txBody>
                </a:tc>
                <a:tc>
                  <a:txBody>
                    <a:bodyPr/>
                    <a:lstStyle/>
                    <a:p>
                      <a:pPr lvl="0" indent="0" marL="0" algn="l">
                        <a:buNone/>
                      </a:pPr>
                      <a:r>
                        <a:rPr/>
                        <a:t>Built environment</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7.7</a:t>
                      </a:r>
                    </a:p>
                  </a:txBody>
                </a:tc>
              </a:tr>
              <a:tr h="0">
                <a:tc>
                  <a:txBody>
                    <a:bodyPr/>
                    <a:lstStyle/>
                    <a:p>
                      <a:pPr lvl="0" indent="0" marL="0" algn="l">
                        <a:buNone/>
                      </a:pPr>
                      <a:r>
                        <a:rPr/>
                        <a:t>glw_tlu_per_capita</a:t>
                      </a:r>
                    </a:p>
                  </a:txBody>
                </a:tc>
                <a:tc>
                  <a:txBody>
                    <a:bodyPr/>
                    <a:lstStyle/>
                    <a:p>
                      <a:pPr lvl="0" indent="0" marL="0" algn="l">
                        <a:buNone/>
                      </a:pPr>
                      <a:r>
                        <a:rPr/>
                        <a:t>Livestock density</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8.3</a:t>
                      </a:r>
                    </a:p>
                  </a:txBody>
                </a:tc>
              </a:tr>
              <a:tr h="0">
                <a:tc>
                  <a:txBody>
                    <a:bodyPr/>
                    <a:lstStyle/>
                    <a:p>
                      <a:pPr lvl="0" indent="0" marL="0" algn="l">
                        <a:buNone/>
                      </a:pPr>
                      <a:r>
                        <a:rPr/>
                        <a:t>ihme_allanemia</a:t>
                      </a:r>
                    </a:p>
                  </a:txBody>
                </a:tc>
                <a:tc>
                  <a:txBody>
                    <a:bodyPr/>
                    <a:lstStyle/>
                    <a:p>
                      <a:pPr lvl="0" indent="0" marL="0" algn="l">
                        <a:buNone/>
                      </a:pPr>
                      <a:r>
                        <a:rPr/>
                        <a:t>Anaemia and haemoglobin</a:t>
                      </a:r>
                    </a:p>
                  </a:txBody>
                </a:tc>
                <a:tc>
                  <a:txBody>
                    <a:bodyPr/>
                    <a:lstStyle/>
                    <a:p>
                      <a:pPr lvl="0" indent="0" marL="0" algn="r">
                        <a:buNone/>
                      </a:pPr>
                      <a:r>
                        <a:rPr/>
                        <a:t>3</a:t>
                      </a:r>
                    </a:p>
                  </a:txBody>
                </a:tc>
                <a:tc>
                  <a:txBody>
                    <a:bodyPr/>
                    <a:lstStyle/>
                    <a:p>
                      <a:pPr lvl="0" indent="0" marL="0" algn="l">
                        <a:buNone/>
                      </a:pPr>
                      <a:r>
                        <a:rPr/>
                        <a:t>+++</a:t>
                      </a:r>
                    </a:p>
                  </a:txBody>
                </a:tc>
                <a:tc>
                  <a:txBody>
                    <a:bodyPr/>
                    <a:lstStyle/>
                    <a:p>
                      <a:pPr lvl="0" indent="0" marL="0" algn="r">
                        <a:buNone/>
                      </a:pPr>
                      <a:r>
                        <a:rPr/>
                        <a:t>8.3</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a:t>Equal-weight composites of the top 5, 10 and 20 predictors, membership chosen inside each training fold by back-projected index weight. Twenty predictors cost -0.03 in-fill and gain -0.053 across borders; five predictors cost -0.06 in-fill.</a:t>
            </a:r>
          </a:p>
        </p:txBody>
      </p:sp>
      <p:pic>
        <p:nvPicPr>
          <p:cNvPr descr="MN-proxy-Ghana-presentation-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a:t>Predictor</a:t>
                      </a:r>
                    </a:p>
                  </a:txBody>
                  <a:tcPr/>
                </a:tc>
                <a:tc>
                  <a:txBody>
                    <a:bodyPr/>
                    <a:lstStyle/>
                    <a:p>
                      <a:pPr lvl="0" indent="0" marL="0" algn="l">
                        <a:buNone/>
                      </a:pPr>
                      <a:r>
                        <a:rPr/>
                        <a:t>Source</a:t>
                      </a:r>
                    </a:p>
                  </a:txBody>
                  <a:tcPr/>
                </a:tc>
                <a:tc>
                  <a:txBody>
                    <a:bodyPr/>
                    <a:lstStyle/>
                    <a:p>
                      <a:pPr lvl="0" indent="0" marL="0" algn="l">
                        <a:buNone/>
                      </a:pPr>
                      <a:r>
                        <a:rPr/>
                        <a:t>Predictor</a:t>
                      </a:r>
                    </a:p>
                  </a:txBody>
                  <a:tcPr/>
                </a:tc>
                <a:tc>
                  <a:txBody>
                    <a:bodyPr/>
                    <a:lstStyle/>
                    <a:p>
                      <a:pPr lvl="0" indent="0" marL="0" algn="l">
                        <a:buNone/>
                      </a:pPr>
                      <a:r>
                        <a:rPr/>
                        <a:t>Source</a:t>
                      </a:r>
                    </a:p>
                  </a:txBody>
                  <a:tcPr/>
                </a:tc>
              </a:tr>
              <a:tr h="0">
                <a:tc>
                  <a:txBody>
                    <a:bodyPr/>
                    <a:lstStyle/>
                    <a:p>
                      <a:pPr lvl="0" indent="0" marL="0" algn="l">
                        <a:buNone/>
                      </a:pPr>
                      <a:r>
                        <a:rPr/>
                        <a:t>ihme_overweightprevalence (-)</a:t>
                      </a:r>
                    </a:p>
                  </a:txBody>
                </a:tc>
                <a:tc>
                  <a:txBody>
                    <a:bodyPr/>
                    <a:lstStyle/>
                    <a:p>
                      <a:pPr lvl="0" indent="0" marL="0" algn="l">
                        <a:buNone/>
                      </a:pPr>
                      <a:r>
                        <a:rPr/>
                        <a:t>IHME</a:t>
                      </a:r>
                    </a:p>
                  </a:txBody>
                </a:tc>
                <a:tc>
                  <a:txBody>
                    <a:bodyPr/>
                    <a:lstStyle/>
                    <a:p>
                      <a:pPr lvl="0" indent="0" marL="0" algn="l">
                        <a:buNone/>
                      </a:pPr>
                      <a:r>
                        <a:rPr/>
                        <a:t>map_sy_pf_parasite_rate (-)</a:t>
                      </a:r>
                    </a:p>
                  </a:txBody>
                </a:tc>
                <a:tc>
                  <a:txBody>
                    <a:bodyPr/>
                    <a:lstStyle/>
                    <a:p>
                      <a:pPr lvl="0" indent="0" marL="0" algn="l">
                        <a:buNone/>
                      </a:pPr>
                      <a:r>
                        <a:rPr/>
                        <a:t>Malaria Atlas Project</a:t>
                      </a:r>
                    </a:p>
                  </a:txBody>
                </a:tc>
              </a:tr>
              <a:tr h="0">
                <a:tc>
                  <a:txBody>
                    <a:bodyPr/>
                    <a:lstStyle/>
                    <a:p>
                      <a:pPr lvl="0" indent="0" marL="0" algn="l">
                        <a:buNone/>
                      </a:pPr>
                      <a:r>
                        <a:rPr/>
                        <a:t>spam_share_cereals (+)</a:t>
                      </a:r>
                    </a:p>
                  </a:txBody>
                </a:tc>
                <a:tc>
                  <a:txBody>
                    <a:bodyPr/>
                    <a:lstStyle/>
                    <a:p>
                      <a:pPr lvl="0" indent="0" marL="0" algn="l">
                        <a:buNone/>
                      </a:pPr>
                      <a:r>
                        <a:rPr/>
                        <a:t>MapSPAM</a:t>
                      </a:r>
                    </a:p>
                  </a:txBody>
                </a:tc>
                <a:tc>
                  <a:txBody>
                    <a:bodyPr/>
                    <a:lstStyle/>
                    <a:p>
                      <a:pPr lvl="0" indent="0" marL="0" algn="l">
                        <a:buNone/>
                      </a:pPr>
                      <a:r>
                        <a:rPr/>
                        <a:t>soil_phosphorus_stdev_0_20 (+)</a:t>
                      </a:r>
                    </a:p>
                  </a:txBody>
                </a:tc>
                <a:tc>
                  <a:txBody>
                    <a:bodyPr/>
                    <a:lstStyle/>
                    <a:p>
                      <a:pPr lvl="0" indent="0" marL="0" algn="l">
                        <a:buNone/>
                      </a:pPr>
                      <a:r>
                        <a:rPr/>
                        <a:t>SoilGrids / iSDA</a:t>
                      </a:r>
                    </a:p>
                  </a:txBody>
                </a:tc>
              </a:tr>
              <a:tr h="0">
                <a:tc>
                  <a:txBody>
                    <a:bodyPr/>
                    <a:lstStyle/>
                    <a:p>
                      <a:pPr lvl="0" indent="0" marL="0" algn="l">
                        <a:buNone/>
                      </a:pPr>
                      <a:r>
                        <a:rPr/>
                        <a:t>glw_ruminant_share (+)</a:t>
                      </a:r>
                    </a:p>
                  </a:txBody>
                </a:tc>
                <a:tc>
                  <a:txBody>
                    <a:bodyPr/>
                    <a:lstStyle/>
                    <a:p>
                      <a:pPr lvl="0" indent="0" marL="0" algn="l">
                        <a:buNone/>
                      </a:pPr>
                      <a:r>
                        <a:rPr/>
                        <a:t>Gridded Livestock of the World 4</a:t>
                      </a:r>
                    </a:p>
                  </a:txBody>
                </a:tc>
                <a:tc>
                  <a:txBody>
                    <a:bodyPr/>
                    <a:lstStyle/>
                    <a:p>
                      <a:pPr lvl="0" indent="0" marL="0" algn="l">
                        <a:buNone/>
                      </a:pPr>
                      <a:r>
                        <a:rPr/>
                        <a:t>wdist_coast_km_mean (+)</a:t>
                      </a:r>
                    </a:p>
                  </a:txBody>
                </a:tc>
                <a:tc>
                  <a:txBody>
                    <a:bodyPr/>
                    <a:lstStyle/>
                    <a:p>
                      <a:pPr lvl="0" indent="0" marL="0" algn="l">
                        <a:buNone/>
                      </a:pPr>
                      <a:r>
                        <a:rPr/>
                        <a:t>JRC Global Surface Water 1.4; USDOS LSIB 2017</a:t>
                      </a:r>
                    </a:p>
                  </a:txBody>
                </a:tc>
              </a:tr>
              <a:tr h="0">
                <a:tc>
                  <a:txBody>
                    <a:bodyPr/>
                    <a:lstStyle/>
                    <a:p>
                      <a:pPr lvl="0" indent="0" marL="0" algn="l">
                        <a:buNone/>
                      </a:pPr>
                      <a:r>
                        <a:rPr/>
                        <a:t>spam_share_roots (-)</a:t>
                      </a:r>
                    </a:p>
                  </a:txBody>
                </a:tc>
                <a:tc>
                  <a:txBody>
                    <a:bodyPr/>
                    <a:lstStyle/>
                    <a:p>
                      <a:pPr lvl="0" indent="0" marL="0" algn="l">
                        <a:buNone/>
                      </a:pPr>
                      <a:r>
                        <a:rPr/>
                        <a:t>MapSPAM</a:t>
                      </a:r>
                    </a:p>
                  </a:txBody>
                </a:tc>
                <a:tc>
                  <a:txBody>
                    <a:bodyPr/>
                    <a:lstStyle/>
                    <a:p>
                      <a:pPr lvl="0" indent="0" marL="0" algn="l">
                        <a:buNone/>
                      </a:pPr>
                      <a:r>
                        <a:rPr/>
                        <a:t>mics_c_fg_legumes (+)</a:t>
                      </a:r>
                    </a:p>
                  </a:txBody>
                </a:tc>
                <a:tc>
                  <a:txBody>
                    <a:bodyPr/>
                    <a:lstStyle/>
                    <a:p>
                      <a:pPr lvl="0" indent="0" marL="0" algn="l">
                        <a:buNone/>
                      </a:pPr>
                      <a:r>
                        <a:rPr/>
                        <a:t>MICS microdata</a:t>
                      </a:r>
                    </a:p>
                  </a:txBody>
                </a:tc>
              </a:tr>
              <a:tr h="0">
                <a:tc>
                  <a:txBody>
                    <a:bodyPr/>
                    <a:lstStyle/>
                    <a:p>
                      <a:pPr lvl="0" indent="0" marL="0" algn="l">
                        <a:buNone/>
                      </a:pPr>
                      <a:r>
                        <a:rPr/>
                        <a:t>fprice_staple_rel (-)</a:t>
                      </a:r>
                    </a:p>
                  </a:txBody>
                </a:tc>
                <a:tc>
                  <a:txBody>
                    <a:bodyPr/>
                    <a:lstStyle/>
                    <a:p>
                      <a:pPr lvl="0" indent="0" marL="0" algn="l">
                        <a:buNone/>
                      </a:pPr>
                      <a:r>
                        <a:rPr/>
                        <a:t>WFP / HDX market prices</a:t>
                      </a:r>
                    </a:p>
                  </a:txBody>
                </a:tc>
                <a:tc>
                  <a:txBody>
                    <a:bodyPr/>
                    <a:lstStyle/>
                    <a:p>
                      <a:pPr lvl="0" indent="0" marL="0" algn="l">
                        <a:buNone/>
                      </a:pPr>
                      <a:r>
                        <a:rPr/>
                        <a:t>wdist_coast_km_min (+)</a:t>
                      </a:r>
                    </a:p>
                  </a:txBody>
                </a:tc>
                <a:tc>
                  <a:txBody>
                    <a:bodyPr/>
                    <a:lstStyle/>
                    <a:p>
                      <a:pPr lvl="0" indent="0" marL="0" algn="l">
                        <a:buNone/>
                      </a:pPr>
                      <a:r>
                        <a:rPr/>
                        <a:t>JRC Global Surface Water 1.4; USDOS LSIB 2017</a:t>
                      </a:r>
                    </a:p>
                  </a:txBody>
                </a:tc>
              </a:tr>
              <a:tr h="0">
                <a:tc>
                  <a:txBody>
                    <a:bodyPr/>
                    <a:lstStyle/>
                    <a:p>
                      <a:pPr lvl="0" indent="0" marL="0" algn="l">
                        <a:buNone/>
                      </a:pPr>
                      <a:r>
                        <a:rPr/>
                        <a:t>map_sy_pf_mortality_rate (-)</a:t>
                      </a:r>
                    </a:p>
                  </a:txBody>
                </a:tc>
                <a:tc>
                  <a:txBody>
                    <a:bodyPr/>
                    <a:lstStyle/>
                    <a:p>
                      <a:pPr lvl="0" indent="0" marL="0" algn="l">
                        <a:buNone/>
                      </a:pPr>
                      <a:r>
                        <a:rPr/>
                        <a:t>Malaria Atlas Project</a:t>
                      </a:r>
                    </a:p>
                  </a:txBody>
                </a:tc>
                <a:tc>
                  <a:txBody>
                    <a:bodyPr/>
                    <a:lstStyle/>
                    <a:p>
                      <a:pPr lvl="0" indent="0" marL="0" algn="l">
                        <a:buNone/>
                      </a:pPr>
                      <a:r>
                        <a:rPr/>
                        <a:t>rwi_sd (-)</a:t>
                      </a:r>
                    </a:p>
                  </a:txBody>
                </a:tc>
                <a:tc>
                  <a:txBody>
                    <a:bodyPr/>
                    <a:lstStyle/>
                    <a:p>
                      <a:pPr lvl="0" indent="0" marL="0" algn="l">
                        <a:buNone/>
                      </a:pPr>
                      <a:r>
                        <a:rPr/>
                        <a:t>Meta/Data for Good RWI; WorldPop; CIESIN GPW v4.11</a:t>
                      </a:r>
                    </a:p>
                  </a:txBody>
                </a:tc>
              </a:tr>
              <a:tr h="0">
                <a:tc>
                  <a:txBody>
                    <a:bodyPr/>
                    <a:lstStyle/>
                    <a:p>
                      <a:pPr lvl="0" indent="0" marL="0" algn="l">
                        <a:buNone/>
                      </a:pPr>
                      <a:r>
                        <a:rPr/>
                        <a:t>glw_cattle_km2 (+)</a:t>
                      </a:r>
                    </a:p>
                  </a:txBody>
                </a:tc>
                <a:tc>
                  <a:txBody>
                    <a:bodyPr/>
                    <a:lstStyle/>
                    <a:p>
                      <a:pPr lvl="0" indent="0" marL="0" algn="l">
                        <a:buNone/>
                      </a:pPr>
                      <a:r>
                        <a:rPr/>
                        <a:t>Gridded Livestock of the World 4</a:t>
                      </a:r>
                    </a:p>
                  </a:txBody>
                </a:tc>
                <a:tc>
                  <a:txBody>
                    <a:bodyPr/>
                    <a:lstStyle/>
                    <a:p>
                      <a:pPr lvl="0" indent="0" marL="0" algn="l">
                        <a:buNone/>
                      </a:pPr>
                      <a:r>
                        <a:rPr/>
                        <a:t>ihme_simpother (-)</a:t>
                      </a:r>
                    </a:p>
                  </a:txBody>
                </a:tc>
                <a:tc>
                  <a:txBody>
                    <a:bodyPr/>
                    <a:lstStyle/>
                    <a:p>
                      <a:pPr lvl="0" indent="0" marL="0" algn="l">
                        <a:buNone/>
                      </a:pPr>
                      <a:r>
                        <a:rPr/>
                        <a:t>IHME</a:t>
                      </a:r>
                    </a:p>
                  </a:txBody>
                </a:tc>
              </a:tr>
              <a:tr h="0">
                <a:tc>
                  <a:txBody>
                    <a:bodyPr/>
                    <a:lstStyle/>
                    <a:p>
                      <a:pPr lvl="0" indent="0" marL="0" algn="l">
                        <a:buNone/>
                      </a:pPr>
                      <a:r>
                        <a:rPr/>
                        <a:t>lcover_crops_frac_t0 (+)</a:t>
                      </a:r>
                    </a:p>
                  </a:txBody>
                </a:tc>
                <a:tc>
                  <a:txBody>
                    <a:bodyPr/>
                    <a:lstStyle/>
                    <a:p>
                      <a:pPr lvl="0" indent="0" marL="0" algn="l">
                        <a:buNone/>
                      </a:pPr>
                      <a:r>
                        <a:rPr/>
                        <a:t>GEE</a:t>
                      </a:r>
                    </a:p>
                  </a:txBody>
                </a:tc>
                <a:tc>
                  <a:txBody>
                    <a:bodyPr/>
                    <a:lstStyle/>
                    <a:p>
                      <a:pPr lvl="0" indent="0" marL="0" algn="l">
                        <a:buNone/>
                      </a:pPr>
                      <a:r>
                        <a:rPr/>
                        <a:t>npp_npp_t0 (-)</a:t>
                      </a:r>
                    </a:p>
                  </a:txBody>
                </a:tc>
                <a:tc>
                  <a:txBody>
                    <a:bodyPr/>
                    <a:lstStyle/>
                    <a:p>
                      <a:pPr lvl="0" indent="0" marL="0" algn="l">
                        <a:buNone/>
                      </a:pPr>
                      <a:r>
                        <a:rPr/>
                        <a:t>GEE</a:t>
                      </a:r>
                    </a:p>
                  </a:txBody>
                </a:tc>
              </a:tr>
              <a:tr h="0">
                <a:tc>
                  <a:txBody>
                    <a:bodyPr/>
                    <a:lstStyle/>
                    <a:p>
                      <a:pPr lvl="0" indent="0" marL="0" algn="l">
                        <a:buNone/>
                      </a:pPr>
                      <a:r>
                        <a:rPr/>
                        <a:t>mics_c_fg_vita_fv (+)</a:t>
                      </a:r>
                    </a:p>
                  </a:txBody>
                </a:tc>
                <a:tc>
                  <a:txBody>
                    <a:bodyPr/>
                    <a:lstStyle/>
                    <a:p>
                      <a:pPr lvl="0" indent="0" marL="0" algn="l">
                        <a:buNone/>
                      </a:pPr>
                      <a:r>
                        <a:rPr/>
                        <a:t>MICS microdata</a:t>
                      </a:r>
                    </a:p>
                  </a:txBody>
                </a:tc>
                <a:tc>
                  <a:txBody>
                    <a:bodyPr/>
                    <a:lstStyle/>
                    <a:p>
                      <a:pPr lvl="0" indent="0" marL="0" algn="l">
                        <a:buNone/>
                      </a:pPr>
                      <a:r>
                        <a:rPr/>
                        <a:t>wpop_dependency_ratio (+)</a:t>
                      </a:r>
                    </a:p>
                  </a:txBody>
                </a:tc>
                <a:tc>
                  <a:txBody>
                    <a:bodyPr/>
                    <a:lstStyle/>
                    <a:p>
                      <a:pPr lvl="0" indent="0" marL="0" algn="l">
                        <a:buNone/>
                      </a:pPr>
                      <a:r>
                        <a:rPr/>
                        <a:t>WorldPop age-sex / JRC GHS-SMOD</a:t>
                      </a:r>
                    </a:p>
                  </a:txBody>
                </a:tc>
              </a:tr>
              <a:tr h="0">
                <a:tc>
                  <a:txBody>
                    <a:bodyPr/>
                    <a:lstStyle/>
                    <a:p>
                      <a:pPr lvl="0" indent="0" marL="0" algn="l">
                        <a:buNone/>
                      </a:pPr>
                      <a:r>
                        <a:rPr/>
                        <a:t>map_sy_pf_reproductive_number (-)</a:t>
                      </a:r>
                    </a:p>
                  </a:txBody>
                </a:tc>
                <a:tc>
                  <a:txBody>
                    <a:bodyPr/>
                    <a:lstStyle/>
                    <a:p>
                      <a:pPr lvl="0" indent="0" marL="0" algn="l">
                        <a:buNone/>
                      </a:pPr>
                      <a:r>
                        <a:rPr/>
                        <a:t>Malaria Atlas Project</a:t>
                      </a:r>
                    </a:p>
                  </a:txBody>
                </a:tc>
                <a:tc>
                  <a:txBody>
                    <a:bodyPr/>
                    <a:lstStyle/>
                    <a:p>
                      <a:pPr lvl="0" indent="0" marL="0" algn="l">
                        <a:buNone/>
                      </a:pPr>
                      <a:r>
                        <a:rPr/>
                        <a:t>npp_gpp_t0 (-)</a:t>
                      </a:r>
                    </a:p>
                  </a:txBody>
                </a:tc>
                <a:tc>
                  <a:txBody>
                    <a:bodyPr/>
                    <a:lstStyle/>
                    <a:p>
                      <a:pPr lvl="0" indent="0" marL="0" algn="l">
                        <a:buNone/>
                      </a:pPr>
                      <a:r>
                        <a:rPr/>
                        <a:t>GEE</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Ghana-presentation-2026-09_files/figure-pptx/ghana-maps-1.png" id="0" name="Picture 1"/>
          <p:cNvPicPr>
            <a:picLocks noGrp="1" noChangeAspect="1"/>
          </p:cNvPicPr>
          <p:nvPr/>
        </p:nvPicPr>
        <p:blipFill>
          <a:blip r:embed="rId3"/>
          <a:stretch>
            <a:fillRect/>
          </a:stretch>
        </p:blipFill>
        <p:spPr bwMode="auto">
          <a:xfrm>
            <a:off x="1828800" y="1816100"/>
            <a:ext cx="8534400" cy="4343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Ghana-presentation-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a:t>Loss in transported Spearman (biomarker level, 22 cells) when each domain is dropped and the components rebuilt, mean over cells with a 95% interval. The load-bearing domains are Climate and weather, Soil characteristics, Anaemia and haemoglobin; removing 5 of the 20 domains costs nothing or helps.</a:t>
            </a:r>
          </a:p>
        </p:txBody>
      </p:sp>
      <p:pic>
        <p:nvPicPr>
          <p:cNvPr descr="MN-proxy-Ghana-presentation-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 ablation under transport</a:t>
            </a:r>
          </a:p>
        </p:txBody>
      </p:sp>
      <p:sp>
        <p:nvSpPr>
          <p:cNvPr id="3" name="Content Placeholder 2"/>
          <p:cNvSpPr>
            <a:spLocks noGrp="1"/>
          </p:cNvSpPr>
          <p:nvPr>
            <p:ph idx="1" sz="half"/>
          </p:nvPr>
        </p:nvSpPr>
        <p:spPr/>
        <p:txBody>
          <a:bodyPr/>
          <a:lstStyle/>
          <a:p>
            <a:pPr lvl="0" indent="0" marL="0">
              <a:buNone/>
            </a:pPr>
            <a:r>
              <a:rPr/>
              <a:t>The same ablation by data source, within the headline set. The one source whose removal helps a new country is the MICS microdata block (27 columns, -0.02); the DHS block is not in the set, and adding it back moves the transported Spearman from 0.31 to 0.28. An index from the open layers alone scores 0.32.</a:t>
            </a:r>
          </a:p>
        </p:txBody>
      </p:sp>
      <p:pic>
        <p:nvPicPr>
          <p:cNvPr descr="MN-proxy-Ghana-presentation-2026-09_files/figure-pptx/sources-ablation-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Ghana-presentation-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a:t>Transported Spearman of the climate-and-soil index at district level (0.38), the same after partialling out an urbanicity composite (0.36), and urbanicity alone (-0.07).</a:t>
            </a:r>
          </a:p>
        </p:txBody>
      </p:sp>
      <p:pic>
        <p:nvPicPr>
          <p:cNvPr descr="MN-proxy-Ghana-presentation-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a:t>Indicators whose district-level association with the outcome has the same sign in every country with the outcome, ranked by pooled meta-analytic z. Positive z means more deficiency.</a:t>
            </a:r>
          </a:p>
        </p:txBody>
      </p:sp>
      <p:pic>
        <p:nvPicPr>
          <p:cNvPr descr="MN-proxy-Ghana-presentation-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Ghana-presentation-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Ghana-presentation-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Sensitivity analyses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a:t>Median change in Spearman when a block is added to the base vocabulary, in-fill and district transport on the biomarker level, scored under one harness with the same folds.</a:t>
            </a:r>
          </a:p>
        </p:txBody>
      </p:sp>
      <p:pic>
        <p:nvPicPr>
          <p:cNvPr descr="MN-proxy-Ghana-presentation-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a:t>The same index fitted at the survey cluster and aggregated to districts, against the district fit, on the same cells. In-fill on the level: 0.38 cluster-fitted against 0.40 district-fitted.</a:t>
            </a:r>
          </a:p>
        </p:txBody>
      </p:sp>
      <p:pic>
        <p:nvPicPr>
          <p:cNvPr descr="MN-proxy-Ghana-presentation-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a:t>Share of districts placed in the correct WHO vitamin A band (under 2%, 2 to 10, 10 to 20, 20 or more), and within one band, mean over the vitamin A cells. The index in-fill: 63% exact and 91% within one band.</a:t>
            </a:r>
          </a:p>
        </p:txBody>
      </p:sp>
      <p:pic>
        <p:nvPicPr>
          <p:cNvPr descr="MN-proxy-Ghana-presentation-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a:t>Ghana in-fill on the biomarker level with the base vocabulary, the base plus the LSMS block, and the LSMS block alone, median over ten draws.</a:t>
            </a:r>
          </a:p>
        </p:txBody>
      </p:sp>
      <p:pic>
        <p:nvPicPr>
          <p:cNvPr descr="MN-proxy-Ghana-presentation-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a:t>Person-level SuperLearner under district-blocked folds, Brier skill over the national prevalence, by country and outcome. Mean AUC over 18 cells: 0.52 for survey variables, 0.51 for district proxies, 0.53 for both.</a:t>
            </a:r>
          </a:p>
        </p:txBody>
      </p:sp>
      <p:pic>
        <p:nvPicPr>
          <p:cNvPr descr="MN-proxy-Ghana-presentation-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a:t>Outcome</a:t>
                      </a:r>
                    </a:p>
                  </a:txBody>
                  <a:tcPr/>
                </a:tc>
                <a:tc>
                  <a:txBody>
                    <a:bodyPr/>
                    <a:lstStyle/>
                    <a:p>
                      <a:pPr lvl="0" indent="0" marL="0" algn="r">
                        <a:buNone/>
                      </a:pPr>
                      <a:r>
                        <a:rPr/>
                        <a:t>Countries</a:t>
                      </a:r>
                    </a:p>
                  </a:txBody>
                  <a:tcPr/>
                </a:tc>
                <a:tc>
                  <a:txBody>
                    <a:bodyPr/>
                    <a:lstStyle/>
                    <a:p>
                      <a:pPr lvl="0" indent="0" marL="0" algn="r">
                        <a:buNone/>
                      </a:pPr>
                      <a:r>
                        <a:rPr/>
                        <a:t>Observed (mean)</a:t>
                      </a:r>
                    </a:p>
                  </a:txBody>
                  <a:tcPr/>
                </a:tc>
                <a:tc>
                  <a:txBody>
                    <a:bodyPr/>
                    <a:lstStyle/>
                    <a:p>
                      <a:pPr lvl="0" indent="0" marL="0" algn="r">
                        <a:buNone/>
                      </a:pPr>
                      <a:r>
                        <a:rPr/>
                        <a:t>Predicted (mean)</a:t>
                      </a:r>
                    </a:p>
                  </a:txBody>
                  <a:tcPr/>
                </a:tc>
                <a:tc>
                  <a:txBody>
                    <a:bodyPr/>
                    <a:lstStyle/>
                    <a:p>
                      <a:pPr lvl="0" indent="0" marL="0" algn="r">
                        <a:buNone/>
                      </a:pPr>
                      <a:r>
                        <a:rPr/>
                        <a:t>Mean absolute error (pp)</a:t>
                      </a:r>
                    </a:p>
                  </a:txBody>
                  <a:tcPr/>
                </a:tc>
              </a:tr>
              <a:tr h="0">
                <a:tc>
                  <a:txBody>
                    <a:bodyPr/>
                    <a:lstStyle/>
                    <a:p>
                      <a:pPr lvl="0" indent="0" marL="0" algn="l">
                        <a:buNone/>
                      </a:pPr>
                      <a:r>
                        <a:rPr/>
                        <a:t>Child iron</a:t>
                      </a:r>
                    </a:p>
                  </a:txBody>
                </a:tc>
                <a:tc>
                  <a:txBody>
                    <a:bodyPr/>
                    <a:lstStyle/>
                    <a:p>
                      <a:pPr lvl="0" indent="0" marL="0" algn="r">
                        <a:buNone/>
                      </a:pPr>
                      <a:r>
                        <a:rPr/>
                        <a:t>4</a:t>
                      </a:r>
                    </a:p>
                  </a:txBody>
                </a:tc>
                <a:tc>
                  <a:txBody>
                    <a:bodyPr/>
                    <a:lstStyle/>
                    <a:p>
                      <a:pPr lvl="0" indent="0" marL="0" algn="r">
                        <a:buNone/>
                      </a:pPr>
                      <a:r>
                        <a:rPr/>
                        <a:t>0.19</a:t>
                      </a:r>
                    </a:p>
                  </a:txBody>
                </a:tc>
                <a:tc>
                  <a:txBody>
                    <a:bodyPr/>
                    <a:lstStyle/>
                    <a:p>
                      <a:pPr lvl="0" indent="0" marL="0" algn="r">
                        <a:buNone/>
                      </a:pPr>
                      <a:r>
                        <a:rPr/>
                        <a:t>0.21</a:t>
                      </a:r>
                    </a:p>
                  </a:txBody>
                </a:tc>
                <a:tc>
                  <a:txBody>
                    <a:bodyPr/>
                    <a:lstStyle/>
                    <a:p>
                      <a:pPr lvl="0" indent="0" marL="0" algn="r">
                        <a:buNone/>
                      </a:pPr>
                      <a:r>
                        <a:rPr/>
                        <a:t>2.09</a:t>
                      </a:r>
                    </a:p>
                  </a:txBody>
                </a:tc>
              </a:tr>
              <a:tr h="0">
                <a:tc>
                  <a:txBody>
                    <a:bodyPr/>
                    <a:lstStyle/>
                    <a:p>
                      <a:pPr lvl="0" indent="0" marL="0" algn="l">
                        <a:buNone/>
                      </a:pPr>
                      <a:r>
                        <a:rPr/>
                        <a:t>Child vitamin A</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0.94</a:t>
                      </a:r>
                    </a:p>
                  </a:txBody>
                </a:tc>
              </a:tr>
              <a:tr h="0">
                <a:tc>
                  <a:txBody>
                    <a:bodyPr/>
                    <a:lstStyle/>
                    <a:p>
                      <a:pPr lvl="0" indent="0" marL="0" algn="l">
                        <a:buNone/>
                      </a:pPr>
                      <a:r>
                        <a:rPr/>
                        <a:t>Women’s iron</a:t>
                      </a:r>
                    </a:p>
                  </a:txBody>
                </a:tc>
                <a:tc>
                  <a:txBody>
                    <a:bodyPr/>
                    <a:lstStyle/>
                    <a:p>
                      <a:pPr lvl="0" indent="0" marL="0" algn="r">
                        <a:buNone/>
                      </a:pPr>
                      <a:r>
                        <a:rPr/>
                        <a:t>4</a:t>
                      </a:r>
                    </a:p>
                  </a:txBody>
                </a:tc>
                <a:tc>
                  <a:txBody>
                    <a:bodyPr/>
                    <a:lstStyle/>
                    <a:p>
                      <a:pPr lvl="0" indent="0" marL="0" algn="r">
                        <a:buNone/>
                      </a:pPr>
                      <a:r>
                        <a:rPr/>
                        <a:t>0.14</a:t>
                      </a:r>
                    </a:p>
                  </a:txBody>
                </a:tc>
                <a:tc>
                  <a:txBody>
                    <a:bodyPr/>
                    <a:lstStyle/>
                    <a:p>
                      <a:pPr lvl="0" indent="0" marL="0" algn="r">
                        <a:buNone/>
                      </a:pPr>
                      <a:r>
                        <a:rPr/>
                        <a:t>0.14</a:t>
                      </a:r>
                    </a:p>
                  </a:txBody>
                </a:tc>
                <a:tc>
                  <a:txBody>
                    <a:bodyPr/>
                    <a:lstStyle/>
                    <a:p>
                      <a:pPr lvl="0" indent="0" marL="0" algn="r">
                        <a:buNone/>
                      </a:pPr>
                      <a:r>
                        <a:rPr/>
                        <a:t>0.63</a:t>
                      </a:r>
                    </a:p>
                  </a:txBody>
                </a:tc>
              </a:tr>
              <a:tr h="0">
                <a:tc>
                  <a:txBody>
                    <a:bodyPr/>
                    <a:lstStyle/>
                    <a:p>
                      <a:pPr lvl="0" indent="0" marL="0" algn="l">
                        <a:buNone/>
                      </a:pPr>
                      <a:r>
                        <a:rPr/>
                        <a:t>Women’s vitamin A</a:t>
                      </a:r>
                    </a:p>
                  </a:txBody>
                </a:tc>
                <a:tc>
                  <a:txBody>
                    <a:bodyPr/>
                    <a:lstStyle/>
                    <a:p>
                      <a:pPr lvl="0" indent="0" marL="0" algn="r">
                        <a:buNone/>
                      </a:pPr>
                      <a:r>
                        <a:rPr/>
                        <a:t>4</a:t>
                      </a:r>
                    </a:p>
                  </a:txBody>
                </a:tc>
                <a:tc>
                  <a:txBody>
                    <a:bodyPr/>
                    <a:lstStyle/>
                    <a:p>
                      <a:pPr lvl="0" indent="0" marL="0" algn="r">
                        <a:buNone/>
                      </a:pPr>
                      <a:r>
                        <a:rPr/>
                        <a:t>0.02</a:t>
                      </a:r>
                    </a:p>
                  </a:txBody>
                </a:tc>
                <a:tc>
                  <a:txBody>
                    <a:bodyPr/>
                    <a:lstStyle/>
                    <a:p>
                      <a:pPr lvl="0" indent="0" marL="0" algn="r">
                        <a:buNone/>
                      </a:pPr>
                      <a:r>
                        <a:rPr/>
                        <a:t>0.02</a:t>
                      </a:r>
                    </a:p>
                  </a:txBody>
                </a:tc>
                <a:tc>
                  <a:txBody>
                    <a:bodyPr/>
                    <a:lstStyle/>
                    <a:p>
                      <a:pPr lvl="0" indent="0" marL="0" algn="r">
                        <a:buNone/>
                      </a:pPr>
                      <a:r>
                        <a:rPr/>
                        <a:t>0.23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a:t>Model</a:t>
                      </a:r>
                    </a:p>
                  </a:txBody>
                  <a:tcPr/>
                </a:tc>
                <a:tc>
                  <a:txBody>
                    <a:bodyPr/>
                    <a:lstStyle/>
                    <a:p>
                      <a:pPr lvl="0" indent="0" marL="0" algn="l">
                        <a:buNone/>
                      </a:pPr>
                      <a:r>
                        <a:rPr/>
                        <a:t>Gambia UIC &lt; 100, in-fill</a:t>
                      </a:r>
                    </a:p>
                  </a:txBody>
                  <a:tcPr/>
                </a:tc>
                <a:tc>
                  <a:txBody>
                    <a:bodyPr/>
                    <a:lstStyle/>
                    <a:p>
                      <a:pPr lvl="0" indent="0" marL="0" algn="l">
                        <a:buNone/>
                      </a:pPr>
                      <a:r>
                        <a:rPr/>
                        <a:t>Gambia UIC &lt; 100, region</a:t>
                      </a:r>
                    </a:p>
                  </a:txBody>
                  <a:tcPr/>
                </a:tc>
                <a:tc>
                  <a:txBody>
                    <a:bodyPr/>
                    <a:lstStyle/>
                    <a:p>
                      <a:pPr lvl="0" indent="0" marL="0" algn="l">
                        <a:buNone/>
                      </a:pPr>
                      <a:r>
                        <a:rPr/>
                        <a:t>Gambia median UIC, in-fill</a:t>
                      </a:r>
                    </a:p>
                  </a:txBody>
                  <a:tcPr/>
                </a:tc>
                <a:tc>
                  <a:txBody>
                    <a:bodyPr/>
                    <a:lstStyle/>
                    <a:p>
                      <a:pPr lvl="0" indent="0" marL="0" algn="l">
                        <a:buNone/>
                      </a:pPr>
                      <a:r>
                        <a:rPr/>
                        <a:t>Gambia median UIC, region</a:t>
                      </a:r>
                    </a:p>
                  </a:txBody>
                  <a:tcPr/>
                </a:tc>
                <a:tc>
                  <a:txBody>
                    <a:bodyPr/>
                    <a:lstStyle/>
                    <a:p>
                      <a:pPr lvl="0" indent="0" marL="0" algn="l">
                        <a:buNone/>
                      </a:pPr>
                      <a:r>
                        <a:rPr/>
                        <a:t>Sierra Leone UIC &lt; 100, region</a:t>
                      </a:r>
                    </a:p>
                  </a:txBody>
                  <a:tcPr/>
                </a:tc>
              </a:tr>
              <a:tr h="0">
                <a:tc>
                  <a:txBody>
                    <a:bodyPr/>
                    <a:lstStyle/>
                    <a:p>
                      <a:pPr lvl="0" indent="0" marL="0" algn="l">
                        <a:buNone/>
                      </a:pPr>
                      <a:r>
                        <a:rPr/>
                        <a:t>Training mean</a:t>
                      </a:r>
                    </a:p>
                  </a:txBody>
                </a:tc>
                <a:tc>
                  <a:txBody>
                    <a:bodyPr/>
                    <a:lstStyle/>
                    <a:p>
                      <a:pPr lvl="0" indent="0" marL="0" algn="l">
                        <a:buNone/>
                      </a:pPr>
                      <a:r>
                        <a:rPr/>
                        <a:t>-0.31</a:t>
                      </a:r>
                    </a:p>
                  </a:txBody>
                </a:tc>
                <a:tc>
                  <a:txBody>
                    <a:bodyPr/>
                    <a:lstStyle/>
                    <a:p>
                      <a:pPr lvl="0" indent="0" marL="0" algn="l">
                        <a:buNone/>
                      </a:pPr>
                      <a:r>
                        <a:rPr/>
                        <a:t>-0.55</a:t>
                      </a:r>
                    </a:p>
                  </a:txBody>
                </a:tc>
                <a:tc>
                  <a:txBody>
                    <a:bodyPr/>
                    <a:lstStyle/>
                    <a:p>
                      <a:pPr lvl="0" indent="0" marL="0" algn="l">
                        <a:buNone/>
                      </a:pPr>
                      <a:r>
                        <a:rPr/>
                        <a:t>-0.29</a:t>
                      </a:r>
                    </a:p>
                  </a:txBody>
                </a:tc>
                <a:tc>
                  <a:txBody>
                    <a:bodyPr/>
                    <a:lstStyle/>
                    <a:p>
                      <a:pPr lvl="0" indent="0" marL="0" algn="l">
                        <a:buNone/>
                      </a:pPr>
                      <a:r>
                        <a:rPr/>
                        <a:t>-0.60</a:t>
                      </a:r>
                    </a:p>
                  </a:txBody>
                </a:tc>
                <a:tc>
                  <a:txBody>
                    <a:bodyPr/>
                    <a:lstStyle/>
                    <a:p>
                      <a:pPr lvl="0" indent="0" marL="0" algn="l">
                        <a:buNone/>
                      </a:pPr>
                      <a:r>
                        <a:rPr/>
                        <a:t>-0.34</a:t>
                      </a:r>
                    </a:p>
                  </a:txBody>
                </a:tc>
              </a:tr>
              <a:tr h="0">
                <a:tc>
                  <a:txBody>
                    <a:bodyPr/>
                    <a:lstStyle/>
                    <a:p>
                      <a:pPr lvl="0" indent="0" marL="0" algn="l">
                        <a:buNone/>
                      </a:pPr>
                      <a:r>
                        <a:rPr/>
                        <a:t>Jackknifed regional mean</a:t>
                      </a:r>
                    </a:p>
                  </a:txBody>
                </a:tc>
                <a:tc>
                  <a:txBody>
                    <a:bodyPr/>
                    <a:lstStyle/>
                    <a:p>
                      <a:pPr lvl="0" indent="0" marL="0" algn="l">
                        <a:buNone/>
                      </a:pPr>
                      <a:r>
                        <a:rPr/>
                        <a:t>0.33</a:t>
                      </a:r>
                    </a:p>
                  </a:txBody>
                </a:tc>
                <a:tc>
                  <a:txBody>
                    <a:bodyPr/>
                    <a:lstStyle/>
                    <a:p>
                      <a:pPr lvl="0" indent="0" marL="0" algn="l">
                        <a:buNone/>
                      </a:pPr>
                      <a:r>
                        <a:rPr/>
                        <a:t>-</a:t>
                      </a:r>
                    </a:p>
                  </a:txBody>
                </a:tc>
                <a:tc>
                  <a:txBody>
                    <a:bodyPr/>
                    <a:lstStyle/>
                    <a:p>
                      <a:pPr lvl="0" indent="0" marL="0" algn="l">
                        <a:buNone/>
                      </a:pPr>
                      <a:r>
                        <a:rPr/>
                        <a:t>0.35</a:t>
                      </a:r>
                    </a:p>
                  </a:txBody>
                </a:tc>
                <a:tc>
                  <a:txBody>
                    <a:bodyPr/>
                    <a:lstStyle/>
                    <a:p>
                      <a:pPr lvl="0" indent="0" marL="0" algn="l">
                        <a:buNone/>
                      </a:pPr>
                      <a:r>
                        <a:rPr/>
                        <a:t>-</a:t>
                      </a:r>
                    </a:p>
                  </a:txBody>
                </a:tc>
                <a:tc>
                  <a:txBody>
                    <a:bodyPr/>
                    <a:lstStyle/>
                    <a:p>
                      <a:pPr lvl="0" indent="0" marL="0" algn="l">
                        <a:buNone/>
                      </a:pPr>
                      <a:r>
                        <a:rPr/>
                        <a:t>-</a:t>
                      </a:r>
                    </a:p>
                  </a:txBody>
                </a:tc>
              </a:tr>
              <a:tr h="0">
                <a:tc>
                  <a:txBody>
                    <a:bodyPr/>
                    <a:lstStyle/>
                    <a:p>
                      <a:pPr lvl="0" indent="0" marL="0" algn="l">
                        <a:buNone/>
                      </a:pPr>
                      <a:r>
                        <a:rPr/>
                        <a:t>Spatial smoother</a:t>
                      </a:r>
                    </a:p>
                  </a:txBody>
                </a:tc>
                <a:tc>
                  <a:txBody>
                    <a:bodyPr/>
                    <a:lstStyle/>
                    <a:p>
                      <a:pPr lvl="0" indent="0" marL="0" algn="l">
                        <a:buNone/>
                      </a:pPr>
                      <a:r>
                        <a:rPr/>
                        <a:t>0.31</a:t>
                      </a:r>
                    </a:p>
                  </a:txBody>
                </a:tc>
                <a:tc>
                  <a:txBody>
                    <a:bodyPr/>
                    <a:lstStyle/>
                    <a:p>
                      <a:pPr lvl="0" indent="0" marL="0" algn="l">
                        <a:buNone/>
                      </a:pPr>
                      <a:r>
                        <a:rPr/>
                        <a:t>0.50</a:t>
                      </a:r>
                    </a:p>
                  </a:txBody>
                </a:tc>
                <a:tc>
                  <a:txBody>
                    <a:bodyPr/>
                    <a:lstStyle/>
                    <a:p>
                      <a:pPr lvl="0" indent="0" marL="0" algn="l">
                        <a:buNone/>
                      </a:pPr>
                      <a:r>
                        <a:rPr/>
                        <a:t>0.27</a:t>
                      </a:r>
                    </a:p>
                  </a:txBody>
                </a:tc>
                <a:tc>
                  <a:txBody>
                    <a:bodyPr/>
                    <a:lstStyle/>
                    <a:p>
                      <a:pPr lvl="0" indent="0" marL="0" algn="l">
                        <a:buNone/>
                      </a:pPr>
                      <a:r>
                        <a:rPr/>
                        <a:t>0.27</a:t>
                      </a:r>
                    </a:p>
                  </a:txBody>
                </a:tc>
                <a:tc>
                  <a:txBody>
                    <a:bodyPr/>
                    <a:lstStyle/>
                    <a:p>
                      <a:pPr lvl="0" indent="0" marL="0" algn="l">
                        <a:buNone/>
                      </a:pPr>
                      <a:r>
                        <a:rPr/>
                        <a:t>-0.35</a:t>
                      </a:r>
                    </a:p>
                  </a:txBody>
                </a:tc>
              </a:tr>
              <a:tr h="0">
                <a:tc>
                  <a:txBody>
                    <a:bodyPr/>
                    <a:lstStyle/>
                    <a:p>
                      <a:pPr lvl="0" indent="0" marL="0" algn="l">
                        <a:buNone/>
                      </a:pPr>
                      <a:r>
                        <a:rPr/>
                        <a:t>Zero-tuning index</a:t>
                      </a:r>
                    </a:p>
                  </a:txBody>
                </a:tc>
                <a:tc>
                  <a:txBody>
                    <a:bodyPr/>
                    <a:lstStyle/>
                    <a:p>
                      <a:pPr lvl="0" indent="0" marL="0" algn="l">
                        <a:buNone/>
                      </a:pPr>
                      <a:r>
                        <a:rPr/>
                        <a:t>0.45</a:t>
                      </a:r>
                    </a:p>
                  </a:txBody>
                </a:tc>
                <a:tc>
                  <a:txBody>
                    <a:bodyPr/>
                    <a:lstStyle/>
                    <a:p>
                      <a:pPr lvl="0" indent="0" marL="0" algn="l">
                        <a:buNone/>
                      </a:pPr>
                      <a:r>
                        <a:rPr/>
                        <a:t>0.47</a:t>
                      </a:r>
                    </a:p>
                  </a:txBody>
                </a:tc>
                <a:tc>
                  <a:txBody>
                    <a:bodyPr/>
                    <a:lstStyle/>
                    <a:p>
                      <a:pPr lvl="0" indent="0" marL="0" algn="l">
                        <a:buNone/>
                      </a:pPr>
                      <a:r>
                        <a:rPr/>
                        <a:t>0.54</a:t>
                      </a:r>
                    </a:p>
                  </a:txBody>
                </a:tc>
                <a:tc>
                  <a:txBody>
                    <a:bodyPr/>
                    <a:lstStyle/>
                    <a:p>
                      <a:pPr lvl="0" indent="0" marL="0" algn="l">
                        <a:buNone/>
                      </a:pPr>
                      <a:r>
                        <a:rPr/>
                        <a:t>0.54</a:t>
                      </a:r>
                    </a:p>
                  </a:txBody>
                </a:tc>
                <a:tc>
                  <a:txBody>
                    <a:bodyPr/>
                    <a:lstStyle/>
                    <a:p>
                      <a:pPr lvl="0" indent="0" marL="0" algn="l">
                        <a:buNone/>
                      </a:pPr>
                      <a:r>
                        <a:rPr/>
                        <a:t>0.10</a:t>
                      </a:r>
                    </a:p>
                  </a:txBody>
                </a:tc>
              </a:tr>
              <a:tr h="0">
                <a:tc>
                  <a:txBody>
                    <a:bodyPr/>
                    <a:lstStyle/>
                    <a:p>
                      <a:pPr lvl="0" indent="0" marL="0" algn="l">
                        <a:buNone/>
                      </a:pPr>
                      <a:r>
                        <a:rPr/>
                        <a:t>Smoother + covariates</a:t>
                      </a:r>
                    </a:p>
                  </a:txBody>
                </a:tc>
                <a:tc>
                  <a:txBody>
                    <a:bodyPr/>
                    <a:lstStyle/>
                    <a:p>
                      <a:pPr lvl="0" indent="0" marL="0" algn="l">
                        <a:buNone/>
                      </a:pPr>
                      <a:r>
                        <a:rPr/>
                        <a:t>0.30</a:t>
                      </a:r>
                    </a:p>
                  </a:txBody>
                </a:tc>
                <a:tc>
                  <a:txBody>
                    <a:bodyPr/>
                    <a:lstStyle/>
                    <a:p>
                      <a:pPr lvl="0" indent="0" marL="0" algn="l">
                        <a:buNone/>
                      </a:pPr>
                      <a:r>
                        <a:rPr/>
                        <a:t>0.47</a:t>
                      </a:r>
                    </a:p>
                  </a:txBody>
                </a:tc>
                <a:tc>
                  <a:txBody>
                    <a:bodyPr/>
                    <a:lstStyle/>
                    <a:p>
                      <a:pPr lvl="0" indent="0" marL="0" algn="l">
                        <a:buNone/>
                      </a:pPr>
                      <a:r>
                        <a:rPr/>
                        <a:t>0.27</a:t>
                      </a:r>
                    </a:p>
                  </a:txBody>
                </a:tc>
                <a:tc>
                  <a:txBody>
                    <a:bodyPr/>
                    <a:lstStyle/>
                    <a:p>
                      <a:pPr lvl="0" indent="0" marL="0" algn="l">
                        <a:buNone/>
                      </a:pPr>
                      <a:r>
                        <a:rPr/>
                        <a:t>0.25</a:t>
                      </a:r>
                    </a:p>
                  </a:txBody>
                </a:tc>
                <a:tc>
                  <a:txBody>
                    <a:bodyPr/>
                    <a:lstStyle/>
                    <a:p>
                      <a:pPr lvl="0" indent="0" marL="0" algn="l">
                        <a:buNone/>
                      </a:pPr>
                      <a:r>
                        <a:rPr/>
                        <a:t>0.19</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Conclusions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sp>
        <p:nvSpPr>
          <p:cNvPr id="3" name="Content Placeholder 2"/>
          <p:cNvSpPr>
            <a:spLocks noGrp="1"/>
          </p:cNvSpPr>
          <p:nvPr>
            <p:ph idx="1"/>
          </p:nvPr>
        </p:nvSpPr>
        <p:spPr/>
        <p:txBody>
          <a:bodyPr/>
          <a:lstStyle/>
          <a:p>
            <a:pPr lvl="0"/>
            <a:r>
              <a:rPr/>
              <a:t>In-fill: the index scores 0.40 against 0.31 for the survey’s own regional averages and 0.39 for a covariate-free smoother.</a:t>
            </a:r>
          </a:p>
          <a:p>
            <a:pPr lvl="0"/>
            <a:r>
              <a:rPr/>
              <a:t>Transport: rankings carry (0.31 at district level, 0.38 from climate and soil alone, null 0.08); levels do not.</a:t>
            </a:r>
          </a:p>
          <a:p>
            <a:pPr lvl="0"/>
            <a:r>
              <a:rPr/>
              <a:t>Survey-derived inputs help inside a country and hold a new country back; the cross-border model should lean on the environment.</a:t>
            </a:r>
          </a:p>
          <a:p>
            <a:pPr lvl="0"/>
            <a:r>
              <a:rPr/>
              <a:t>A national anchor puts levels on the ranking: district error 9.3 points at 5% of a full sample, matched by a district survey at 25%.</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Content Placeholder 2"/>
          <p:cNvSpPr>
            <a:spLocks noGrp="1"/>
          </p:cNvSpPr>
          <p:nvPr>
            <p:ph idx="1"/>
          </p:nvPr>
        </p:nvSpPr>
        <p:spPr/>
        <p:txBody>
          <a:bodyPr/>
          <a:lstStyle/>
          <a:p>
            <a:pPr lvl="0"/>
            <a:r>
              <a:rPr/>
              <a:t>Rank districts in a surveyed country? Yes: 0.40, null 0.08.</a:t>
            </a:r>
          </a:p>
          <a:p>
            <a:pPr lvl="0"/>
            <a:r>
              <a:rPr/>
              <a:t>Rank districts in a new country? Yes, less well: 0.31 against 0.08.</a:t>
            </a:r>
          </a:p>
          <a:p>
            <a:pPr lvl="0"/>
            <a:r>
              <a:rPr/>
              <a:t>Which predictors carry the signal? Satellite, climate and soil.</a:t>
            </a:r>
          </a:p>
          <a:p>
            <a:pPr lvl="0"/>
            <a:r>
              <a:rPr/>
              <a:t>Prevalence in a new country from the model alone? Not yet.</a:t>
            </a:r>
          </a:p>
          <a:p>
            <a:pPr lvl="0"/>
            <a:r>
              <a:rPr/>
              <a:t>Prevalence with one national anchor? Yes: 9.3 points at a 5% sample.</a:t>
            </a:r>
          </a:p>
          <a:p>
            <a:pPr lvl="0"/>
            <a:r>
              <a:rPr/>
              <a:t>Replace biomarker surveys? No: the ceiling is the survey’s.</a:t>
            </a:r>
          </a:p>
          <a:p>
            <a:pPr lvl="0"/>
            <a:r>
              <a:rPr/>
              <a:t>Guide where the next survey samples? In design, not piloted.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Content Placeholder 2"/>
          <p:cNvSpPr>
            <a:spLocks noGrp="1"/>
          </p:cNvSpPr>
          <p:nvPr>
            <p:ph idx="1" sz="half"/>
          </p:nvPr>
        </p:nvSpPr>
        <p:spPr/>
        <p:txBody>
          <a:bodyPr/>
          <a:lstStyle/>
          <a:p>
            <a:pPr lvl="0" indent="0" marL="0">
              <a:buNone/>
            </a:pPr>
            <a:r>
              <a:rPr/>
              <a:t>Planned</a:t>
            </a:r>
          </a:p>
          <a:p>
            <a:pPr lvl="0"/>
            <a:r>
              <a:rPr/>
              <a:t>Score the pre-registered predictions on the next countries added to the panel.</a:t>
            </a:r>
          </a:p>
          <a:p>
            <a:pPr lvl="0"/>
            <a:r>
              <a:rPr/>
              <a:t>Rerun the national track under the corrected protocol.</a:t>
            </a:r>
          </a:p>
          <a:p>
            <a:pPr lvl="0"/>
            <a:r>
              <a:rPr/>
              <a:t>Model-assisted cluster allocation for survey design.</a:t>
            </a:r>
          </a:p>
        </p:txBody>
      </p:sp>
      <p:sp>
        <p:nvSpPr>
          <p:cNvPr id="4" name="Content Placeholder 3"/>
          <p:cNvSpPr>
            <a:spLocks noGrp="1"/>
          </p:cNvSpPr>
          <p:nvPr>
            <p:ph idx="2" sz="half"/>
          </p:nvPr>
        </p:nvSpPr>
        <p:spPr/>
        <p:txBody>
          <a:bodyPr/>
          <a:lstStyle/>
          <a:p>
            <a:pPr lvl="0" indent="0" marL="0">
              <a:buNone/>
            </a:pPr>
            <a:r>
              <a:rPr/>
              <a:t>Open questions</a:t>
            </a:r>
          </a:p>
          <a:p>
            <a:pPr lvl="0"/>
            <a:r>
              <a:rPr/>
              <a:t>What rank correlation is sufficient to act on?</a:t>
            </a:r>
          </a:p>
          <a:p>
            <a:pPr lvl="0"/>
            <a:r>
              <a:rPr/>
              <a:t>Which national number is the cheapest honest anchor?</a:t>
            </a:r>
          </a:p>
          <a:p>
            <a:pPr lvl="0"/>
            <a:r>
              <a:rPr/>
              <a:t>Without new biomarker surveys, what benchmarks the models?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Ghana-presentation-2026-09_files/figure-pptx/weights-prev-1.png" id="0" name="Picture 1"/>
          <p:cNvPicPr>
            <a:picLocks noGrp="1" noChangeAspect="1"/>
          </p:cNvPicPr>
          <p:nvPr/>
        </p:nvPicPr>
        <p:blipFill>
          <a:blip r:embed="rId3"/>
          <a:stretch>
            <a:fillRect/>
          </a:stretch>
        </p:blipFill>
        <p:spPr bwMode="auto">
          <a:xfrm>
            <a:off x="1752600" y="1816100"/>
            <a:ext cx="8686800" cy="4343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Ghana-presentation-2026-09_files/figure-pptx/geostat-wmae-1.png" id="0" name="Picture 1"/>
          <p:cNvPicPr>
            <a:picLocks noGrp="1" noChangeAspect="1"/>
          </p:cNvPicPr>
          <p:nvPr/>
        </p:nvPicPr>
        <p:blipFill>
          <a:blip r:embed="rId3"/>
          <a:stretch>
            <a:fillRect/>
          </a:stretch>
        </p:blipFill>
        <p:spPr bwMode="auto">
          <a:xfrm>
            <a:off x="1371600" y="1816100"/>
            <a:ext cx="94361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Individual-level proxy versus survey-only models (Brier skill, AUC, PR gain)</a:t>
                      </a:r>
                    </a:p>
                  </a:txBody>
                </a:tc>
                <a:tc>
                  <a:txBody>
                    <a:bodyPr/>
                    <a:lstStyle/>
                    <a:p>
                      <a:pPr lvl="0" indent="0" marL="0" algn="l">
                        <a:buNone/>
                      </a:pPr>
                      <a:r>
                        <a:rPr/>
                        <a:t>Sensitivity layer; rerun under district-blocked folds</a:t>
                      </a:r>
                    </a:p>
                  </a:txBody>
                </a:tc>
                <a:tc>
                  <a:txBody>
                    <a:bodyPr/>
                    <a:lstStyle/>
                    <a:p>
                      <a:pPr lvl="0" indent="0" marL="0" algn="l">
                        <a:buNone/>
                      </a:pPr>
                      <a:r>
                        <a:rPr/>
                        <a:t>Individual-level models</a:t>
                      </a:r>
                    </a:p>
                  </a:txBody>
                </a:tc>
              </a:tr>
              <a:tr h="0">
                <a:tc>
                  <a:txBody>
                    <a:bodyPr/>
                    <a:lstStyle/>
                    <a:p>
                      <a:pPr lvl="0" indent="0" marL="0" algn="l">
                        <a:buNone/>
                      </a:pPr>
                      <a:r>
                        <a:rPr/>
                        <a:t>National-level VMNIS / BRINDA predictions</a:t>
                      </a:r>
                    </a:p>
                  </a:txBody>
                </a:tc>
                <a:tc>
                  <a:txBody>
                    <a:bodyPr/>
                    <a:lstStyle/>
                    <a:p>
                      <a:pPr lvl="0" indent="0" marL="0" algn="l">
                        <a:buNone/>
                      </a:pPr>
                      <a:r>
                        <a:rPr/>
                        <a:t>Separate sub-pipeline, last run April 2026</a:t>
                      </a:r>
                    </a:p>
                  </a:txBody>
                </a:tc>
                <a:tc>
                  <a:txBody>
                    <a:bodyPr/>
                    <a:lstStyle/>
                    <a:p>
                      <a:pPr lvl="0" indent="0" marL="0" algn="l">
                        <a:buNone/>
                      </a:pPr>
                      <a:r>
                        <a:rPr/>
                        <a:t>National-level track; not re-audited</a:t>
                      </a:r>
                    </a:p>
                  </a:txBody>
                </a:tc>
              </a:tr>
              <a:tr h="0">
                <a:tc>
                  <a:txBody>
                    <a:bodyPr/>
                    <a:lstStyle/>
                    <a:p>
                      <a:pPr lvl="0" indent="0" marL="0" algn="l">
                        <a:buNone/>
                      </a:pPr>
                      <a:r>
                        <a:rPr/>
                        <a:t>Iodine (Sierra Leone)</a:t>
                      </a:r>
                    </a:p>
                  </a:txBody>
                </a:tc>
                <a:tc>
                  <a:txBody>
                    <a:bodyPr/>
                    <a:lstStyle/>
                    <a:p>
                      <a:pPr lvl="0" indent="0" marL="0" algn="l">
                        <a:buNone/>
                      </a:pPr>
                      <a:r>
                        <a:rPr/>
                        <a:t>Rerun within country (The Gambia, Sierra Leone)</a:t>
                      </a:r>
                    </a:p>
                  </a:txBody>
                </a:tc>
                <a:tc>
                  <a:txBody>
                    <a:bodyPr/>
                    <a:lstStyle/>
                    <a:p>
                      <a:pPr lvl="0" indent="0" marL="0" algn="l">
                        <a:buNone/>
                      </a:pPr>
                      <a:r>
                        <a:rPr/>
                        <a:t>Iodine</a:t>
                      </a:r>
                    </a:p>
                  </a:txBody>
                </a:tc>
              </a:tr>
              <a:tr h="0">
                <a:tc>
                  <a:txBody>
                    <a:bodyPr/>
                    <a:lstStyle/>
                    <a:p>
                      <a:pPr lvl="0" indent="0" marL="0" algn="l">
                        <a:buNone/>
                      </a:pPr>
                      <a:r>
                        <a:rPr/>
                        <a:t>Risk-category accuracy (none / mild / moderate / severe)</a:t>
                      </a:r>
                    </a:p>
                  </a:txBody>
                </a:tc>
                <a:tc>
                  <a:txBody>
                    <a:bodyPr/>
                    <a:lstStyle/>
                    <a:p>
                      <a:pPr lvl="0" indent="0" marL="0" algn="l">
                        <a:buNone/>
                      </a:pPr>
                      <a:r>
                        <a:rPr/>
                        <a:t>Rerun under the protocol, WHO bands</a:t>
                      </a:r>
                    </a:p>
                  </a:txBody>
                </a:tc>
                <a:tc>
                  <a:txBody>
                    <a:bodyPr/>
                    <a:lstStyle/>
                    <a:p>
                      <a:pPr lvl="0" indent="0" marL="0" algn="l">
                        <a:buNone/>
                      </a:pPr>
                      <a:r>
                        <a:rPr/>
                        <a:t>Risk-class accuracy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a:t>January slide</a:t>
                      </a:r>
                    </a:p>
                  </a:txBody>
                  <a:tcPr/>
                </a:tc>
                <a:tc>
                  <a:txBody>
                    <a:bodyPr/>
                    <a:lstStyle/>
                    <a:p>
                      <a:pPr lvl="0" indent="0" marL="0" algn="l">
                        <a:buNone/>
                      </a:pPr>
                      <a:r>
                        <a:rPr/>
                        <a:t>Status</a:t>
                      </a:r>
                    </a:p>
                  </a:txBody>
                  <a:tcPr/>
                </a:tc>
                <a:tc>
                  <a:txBody>
                    <a:bodyPr/>
                    <a:lstStyle/>
                    <a:p>
                      <a:pPr lvl="0" indent="0" marL="0" algn="l">
                        <a:buNone/>
                      </a:pPr>
                      <a:r>
                        <a:rPr/>
                        <a:t>Where</a:t>
                      </a:r>
                    </a:p>
                  </a:txBody>
                  <a:tcPr/>
                </a:tc>
              </a:tr>
              <a:tr h="0">
                <a:tc>
                  <a:txBody>
                    <a:bodyPr/>
                    <a:lstStyle/>
                    <a:p>
                      <a:pPr lvl="0" indent="0" marL="0" algn="l">
                        <a:buNone/>
                      </a:pPr>
                      <a:r>
                        <a:rPr/>
                        <a:t>LSMS (275) and FluNet (3) predictors</a:t>
                      </a:r>
                    </a:p>
                  </a:txBody>
                </a:tc>
                <a:tc>
                  <a:txBody>
                    <a:bodyPr/>
                    <a:lstStyle/>
                    <a:p>
                      <a:pPr lvl="0" indent="0" marL="0" algn="l">
                        <a:buNone/>
                      </a:pPr>
                      <a:r>
                        <a:rPr/>
                        <a:t>Re-added: the GLSS7 region means add no skill; household budget survey microdata for all four countries are now in the base set; FluNet is national and inert</a:t>
                      </a:r>
                    </a:p>
                  </a:txBody>
                </a:tc>
                <a:tc>
                  <a:txBody>
                    <a:bodyPr/>
                    <a:lstStyle/>
                    <a:p>
                      <a:pPr lvl="0" indent="0" marL="0" algn="l">
                        <a:buNone/>
                      </a:pPr>
                      <a:r>
                        <a:rPr/>
                        <a:t>LSMS and FluNet predictors</a:t>
                      </a:r>
                    </a:p>
                  </a:txBody>
                </a:tc>
              </a:tr>
              <a:tr h="0">
                <a:tc>
                  <a:txBody>
                    <a:bodyPr/>
                    <a:lstStyle/>
                    <a:p>
                      <a:pPr lvl="0" indent="0" marL="0" algn="l">
                        <a:buNone/>
                      </a:pPr>
                      <a:r>
                        <a:rPr/>
                        <a:t>Data-source importance by change in MSE</a:t>
                      </a:r>
                    </a:p>
                  </a:txBody>
                </a:tc>
                <a:tc>
                  <a:txBody>
                    <a:bodyPr/>
                    <a:lstStyle/>
                    <a:p>
                      <a:pPr lvl="0" indent="0" marL="0" algn="l">
                        <a:buNone/>
                      </a:pPr>
                      <a:r>
                        <a:rPr/>
                        <a:t>Replaced by domain and source ablation under transport</a:t>
                      </a:r>
                    </a:p>
                  </a:txBody>
                </a:tc>
                <a:tc>
                  <a:txBody>
                    <a:bodyPr/>
                    <a:lstStyle/>
                    <a:p>
                      <a:pPr lvl="0" indent="0" marL="0" algn="l">
                        <a:buNone/>
                      </a:pPr>
                      <a:r>
                        <a:rPr/>
                        <a:t>Domain and source ablation</a:t>
                      </a:r>
                    </a:p>
                  </a:txBody>
                </a:tc>
              </a:tr>
              <a:tr h="0">
                <a:tc>
                  <a:txBody>
                    <a:bodyPr/>
                    <a:lstStyle/>
                    <a:p>
                      <a:pPr lvl="0" indent="0" marL="0" algn="l">
                        <a:buNone/>
                      </a:pPr>
                      <a:r>
                        <a:rPr/>
                        <a:t>Admin-1 women’s iron maps, predicted versus survey</a:t>
                      </a:r>
                    </a:p>
                  </a:txBody>
                </a:tc>
                <a:tc>
                  <a:txBody>
                    <a:bodyPr/>
                    <a:lstStyle/>
                    <a:p>
                      <a:pPr lvl="0" indent="0" marL="0" algn="l">
                        <a:buNone/>
                      </a:pPr>
                      <a:r>
                        <a:rPr/>
                        <a:t>Replaced by district maps with held-out predictions</a:t>
                      </a:r>
                    </a:p>
                  </a:txBody>
                </a:tc>
                <a:tc>
                  <a:txBody>
                    <a:bodyPr/>
                    <a:lstStyle/>
                    <a:p>
                      <a:pPr lvl="0" indent="0" marL="0" algn="l">
                        <a:buNone/>
                      </a:pPr>
                      <a:r>
                        <a:rPr/>
                        <a:t>Ghana maps</a:t>
                      </a:r>
                    </a:p>
                  </a:txBody>
                </a:tc>
              </a:tr>
              <a:tr h="0">
                <a:tc>
                  <a:txBody>
                    <a:bodyPr/>
                    <a:lstStyle/>
                    <a:p>
                      <a:pPr lvl="0" indent="0" marL="0" algn="l">
                        <a:buNone/>
                      </a:pPr>
                      <a:r>
                        <a:rPr/>
                        <a:t>Prescreened SuperLearner as the model</a:t>
                      </a:r>
                    </a:p>
                  </a:txBody>
                </a:tc>
                <a:tc>
                  <a:txBody>
                    <a:bodyPr/>
                    <a:lstStyle/>
                    <a:p>
                      <a:pPr lvl="0" indent="0" marL="0" algn="l">
                        <a:buNone/>
                      </a:pPr>
                      <a:r>
                        <a:rPr/>
                        <a:t>Retained as comparison; does not beat the zero-tuning index</a:t>
                      </a:r>
                    </a:p>
                  </a:txBody>
                </a:tc>
                <a:tc>
                  <a:txBody>
                    <a:bodyPr/>
                    <a:lstStyle/>
                    <a:p>
                      <a:pPr lvl="0" indent="0" marL="0" algn="l">
                        <a:buNone/>
                      </a:pPr>
                      <a:r>
                        <a:rPr/>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Proxy modelling of vitamin and mineral deficiencies</dc:title>
  <dc:creator>Andrew N. Mertens, University of California, Berkeley</dc:creator>
  <cp:keywords/>
  <dcterms:created xsi:type="dcterms:W3CDTF">2026-09-16T13:50:35Z</dcterms:created>
  <dcterms:modified xsi:type="dcterms:W3CDTF">2026-09-16T13:50:35Z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2026-09-10</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surveys, one evaluation protocol, September 2026</vt:lpwstr>
  </property>
  <property fmtid="{D5CDD505-2E9C-101B-9397-08002B2CF9AE}" pid="12" name="toc-title">
    <vt:lpwstr>Table of contents</vt:lpwstr>
  </property>
</Properties>
</file>