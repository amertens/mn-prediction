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notesMaster" Target="notesMasters/notesMaster1.xml" /><Relationship Id="rId58" Type="http://schemas.openxmlformats.org/officeDocument/2006/relationships/theme" Target="theme/theme1.xml" /><Relationship Id="rId57" Type="http://schemas.openxmlformats.org/officeDocument/2006/relationships/viewProps" Target="viewProps.xml" /><Relationship Id="rId56" Type="http://schemas.openxmlformats.org/officeDocument/2006/relationships/presProps" Target="presProps.xml" /><Relationship Id="rId4" Type="http://schemas.openxmlformats.org/officeDocument/2006/relationships/slideMaster" Target="slideMasters/slideMaster1.xml" /><Relationship Id="rId5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Vitamin A uses each survey’s published RBP-to-retinol calibration before the 0.70 cut-off (VA-01).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0.31 against 0.30 for the rank-loss ensemble, 0.27 for random forest, 0.26 for the squared-error ensemble, 0.22 for the principal-component highly adaptive ridge and 0.20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0.16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0.34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0.18 at district level (15 of 22 positive) and 0.33 at regional level for the full index; 0.24 at district level for climate and soil. The climate-and-soil pair was chosen on these four countries, so it enters the next country as a pre-registered prediction; honest nested selection of domains inside the training fold gives a median difference of +0.04 from the full index (better in 13 of 22). Since 9 September the DHS-derived predictors are cluster-level spatial estimates at every district (DS-01), which changed nothing in-country and cost the full index 0.01 across borders. Likely question: what a correlation of 0.26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(15 of 22 transport cells scored for the elastic net). The twenty-predictor composite gains +0.028 across borders (better in 12 of 22) and costs -0.02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454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30% to 48%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13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not a targeting gain. Likely question: why the ceiling is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The survey-derived domains (household assets, fertility, education, child morbidity, health access) sit at or below zero: removing them does not hurt a new country and in several cases helps. A fixed climate-and-soil index transports at 0.37 at district level and 0.45 regionally against 0.26 and 0.31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modelled IHME surfaces, crops and livestock carry it. The household-survey aggregates fit the training countries and do not carry, and the DHS Program’s own cluster-level estimator of those aggregates (DS-01) did not change that.</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22%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LSMS exists for Ghana alone (GLSS7): 134 region-level household expenditure and asset means, broadcast to districts through the 16-to-10 region crosswalk, so the block varies only across ten regions. It does not improve any Ghana cell beyond noise and cannot be scored across borders. FluNet reports for Ghana and Sierra Leone only and is a national weekly count, constant within a country; it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rare and costly; programmes need district estimates between them.</a:t>
            </a:r>
          </a:p>
          <a:p>
            <a:pPr lvl="0"/>
            <a:r>
              <a:rPr/>
              <a:t>Four biomarker surveys linked to 454 district-level proxies predict iron, vitamin A, folate, B12 and zinc deficiency.</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Estimate district deficiency from proxies, validated against biomarker surveys.</a:t>
            </a:r>
          </a:p>
          <a:p>
            <a:pPr lvl="0"/>
            <a:r>
              <a:rPr/>
              <a:t>Identify the districts at greatest risk; say whether a ranking or a level survives.</a:t>
            </a:r>
          </a:p>
          <a:p>
            <a:pPr lvl="0"/>
            <a:r>
              <a:rPr/>
              <a:t>Say what a country with no survey can expect,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965200"/>
                <a:gridCol w="2616200"/>
                <a:gridCol w="1587500"/>
                <a:gridCol w="3467100"/>
                <a:gridCol w="18796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Retinol-binding protein, BRINDA-adjusted, retinol equivalent</a:t>
                      </a:r>
                    </a:p>
                  </a:txBody>
                </a:tc>
                <a:tc>
                  <a:txBody>
                    <a:bodyPr/>
                    <a:lstStyle/>
                    <a:p>
                      <a:pPr lvl="0" indent="0" marL="0" algn="l">
                        <a:buNone/>
                      </a:pPr>
                      <a:r>
                        <a:rPr/>
                        <a:t>&lt; 0.70 umol/L retinol equivalent</a:t>
                      </a:r>
                    </a:p>
                  </a:txBody>
                </a:tc>
              </a:tr>
              <a:tr h="0">
                <a:tc>
                  <a:txBody>
                    <a:bodyPr/>
                    <a:lstStyle/>
                    <a:p>
                      <a:pPr lvl="0" indent="0" marL="0" algn="l">
                        <a:buNone/>
                      </a:pPr>
                      <a:r>
                        <a:rPr/>
                        <a:t>Folate</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DHS and MICS indicators to districts with a cluster-level spatial model, so every district has a value.</a:t>
            </a:r>
          </a:p>
          <a:p>
            <a:pPr lvl="0"/>
            <a:r>
              <a:rPr/>
              <a:t>Rank-normalise every predictor within country before pooling, so that cross-country level offsets cannot act as signal.</a:t>
            </a:r>
          </a:p>
          <a:p>
            <a:pPr lvl="0"/>
            <a:r>
              <a:rPr/>
              <a:t>Reduce each of 24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454 predictors in 24 domains. The household-survey aggregates and the Earth Engine layers are the largest blocks.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0.11 and -0.01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0.26 at district level (positive in 17 of 22) and 0.31 at regional level; the climate-and-soil index scores 0.37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-0.05, elastic net -0.06, lasso -0.06). Across borders the decorrelated index gains +0.026 (better in 11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-0.02 in-fill and gain +0.028 across borders; five predictors cost -0.07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47%.</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Nutrition status (MODELLED SURFACE); removing 16 of the 23 domains costs nothing or helps.</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Dropping all 131 DHS and MICS columns moves the transported Spearman from 0.26 to 0.33.</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98%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(0.37), the same after partialling out an urbanicity composite (0.36), and urbanicity alone (-0.05).</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0.44 against a split-half ceiling of 0.54; the index reaches its ceiling in 2 of 24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9.5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92%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19 cells: 0.52 for survey variables, 0.51 for district proxies, 0.52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(0.26 at district level, 0.37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9.5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Content Placeholder 2"/>
          <p:cNvSpPr>
            <a:spLocks noGrp="1"/>
          </p:cNvSpPr>
          <p:nvPr>
            <p:ph idx="1"/>
          </p:nvPr>
        </p:nvSpPr>
        <p:spPr/>
        <p:txBody>
          <a:bodyPr/>
          <a:lstStyle/>
          <a:p>
            <a:pPr lvl="0"/>
            <a:r>
              <a:rPr/>
              <a:t>Rank districts in a surveyed country? Yes: 0.40, null 0.08.</a:t>
            </a:r>
          </a:p>
          <a:p>
            <a:pPr lvl="0"/>
            <a:r>
              <a:rPr/>
              <a:t>Rank districts in a new country? Yes, less well: 0.26 against 0.08.</a:t>
            </a:r>
          </a:p>
          <a:p>
            <a:pPr lvl="0"/>
            <a:r>
              <a:rPr/>
              <a:t>Which predictors carry the signal? Satellite, climate and soil.</a:t>
            </a:r>
          </a:p>
          <a:p>
            <a:pPr lvl="0"/>
            <a:r>
              <a:rPr/>
              <a:t>Prevalence in a new country from the model alone? Not yet.</a:t>
            </a:r>
          </a:p>
          <a:p>
            <a:pPr lvl="0"/>
            <a:r>
              <a:rPr/>
              <a:t>Prevalence with one national anchor? Yes: 9.5 points at a 5% sample.</a:t>
            </a:r>
          </a:p>
          <a:p>
            <a:pPr lvl="0"/>
            <a:r>
              <a:rPr/>
              <a:t>Replace biomarker surveys? No: the ceiling is the survey’s.</a:t>
            </a:r>
          </a:p>
          <a:p>
            <a:pPr lvl="0"/>
            <a:r>
              <a:rPr/>
              <a:t>Guide where the next survey samples? In design, not piloted.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327400"/>
                <a:gridCol w="5422900"/>
                <a:gridCol w="17653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LSMS is Ghana-only and region-level, FluNet national; neither adds skill</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2026-09-11T19:20:24Z</dcterms:created>
  <dcterms:modified xsi:type="dcterms:W3CDTF">2026-09-11T19:20:24Z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