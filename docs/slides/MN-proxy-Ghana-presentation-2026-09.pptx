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notesMaster" Target="notesMasters/notesMaster1.xml" /><Relationship Id="rId3" Type="http://schemas.openxmlformats.org/officeDocument/2006/relationships/customXml" Target="../customXml/item3.xml" /><Relationship Id="rId48" Type="http://schemas.openxmlformats.org/officeDocument/2006/relationships/theme" Target="theme/theme1.xml" /><Relationship Id="rId47"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6" Type="http://schemas.openxmlformats.org/officeDocument/2006/relationships/presProps" Target="presProps.xml" /><Relationship Id="rId50" Type="http://schemas.microsoft.com/office/2018/10/relationships/authors" Target="authors.xml" /><Relationship Id="rId4" Type="http://schemas.openxmlformats.org/officeDocument/2006/relationships/slideMaster" Target="slideMasters/slideMaster1.xml" /><Relationship Id="rId4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on the concentration (15 and 17 on prevalence). Since RR-10 (2026-09-09) the DHS-derived predictors are cluster-level BYM2 estimates at every district, which cost the full index 0.01 at district level and changed nothing in-country.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the scored cells (18 in-fill and region, 22 transport), the same domain axes, folds and targets for every row: five replicated 5-fold draws in-fill, exhaustive leave-one-region-out, leave-one-country-out. The production index weights each axis by its pooled training-fold rank correlation, which is the infinite-penalty limit of a ridge regression on the axes; the other rows are other points of that family (ridge, elastic net, lasso; penalty by inner CV at lambda.min or lambda.1se, by nested block CV on the rank metric, or that with a one-SE rule) and three other sources of evidence for the weights (soft thresholding, meta-analytic replication across countries, decorrelation across domains), plus the sparse composites. Reading (RR-10 set, cluster-model DHS columns): in-country nothing beats the index and two arms tie it (soft threshold at |z| &lt; 1, decorrelated); every joint fit loses 0.05 (ridge) to 0.06 (elastic net, lasso) and lambda.1se collapses to the null model. Across borders the decorrelated index (+0.026, better in 11 of 22) and the twenty-predictor composite (+0.028, 12 of 22) gain and did so on the RR-09 set too; the soft threshold’s RR-09 gain (+0.024, 18 of 22) vanished once the survey columns were smoothed, so it was a property of noisy inputs, not of the estimator. Both survivors were chosen among 21 arms on these 22 cells and are candidates to pre-register for the next country, not a new estimator of record. Replication weighting is only defined across borders (its in-country blocks are regions of five to eight districts). Paired differences by cell: results/tables/protocol_v2/weight_sources_paired.csv; full reading: SANDBOX_LOG_2026-09.md, WS-01 / WS-02.</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zero-tuning index is linear in the rank-normalised predictors, so its axis weights project back exactly onto the 454 columns (beta per unit rank-normal score; script 57, results/tables/protocol_v2/index_importance_*.csv; figure from script 58). Shown: the ten largest |beta| in the pooled four-country fit on the biomarker level, the fit that would be deployed to a fifth country; bar colour is the predictor’s data source; a star marks a predictor whose sign is not reproduced in every country’s own independent fit. Shares of the index’s variance are exact and small per predictor (1 to 2 percent each: the index spreads its weight); by domain, the satellite embedding, climate and soil carry 30 to 48 percent depending on the outcome, matching the leave-one-domain-out ablation; since DS-01 (cluster-model DHS estimates) the survey aggregates take 0.34 of the index’s variance, up from 0.24. The prevalence-target version is results/figures/protocol_v2/index_importance_top10_prev.png.</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The common pattern is one gradient: districts that are drier and grassier, less productive (lower NPP and GPP), more pastoral (ruminant share, tropical livestock units per head), poorer (less house ownership, fewer women working, less schooling) and more stunted score high on every deficiency; vegetation productivity and market and schooling proxies score low. Livestock density carrying a positive sign for iron and B12 is ecological, not dietary: pastoral zones are the poor, dry zones in these four countries. Outcome-specific signals sit below that gradient: haemoglobin C allele frequency and cattle for iron, modelled anaemia surfaces and malaria for women’s iron, helminth coverage and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the scored cells (18 in-fill and region, 22 transport), same folds as every other arm. Inside each training fold the index’s weights are projected back onto the predictors, the m columns with the largest |weight| are kept, and they are summed with equal weights and the sign of the weight (Dawes’ improper linear model), then rescaled like the index; nothing is chosen on held-out districts. Twenty predictors lose 0.02 in-fill and 0.04 under region extrapolation on the level, and beat the full index across borders by 0.03 (12 of 22 cells, positive in 18 of 22 against 17); on the RR-09 set the figures were -0.04, -0.07 and +0.02. Five is too few everywhere; weighting the ten by their index weights instead of equally changes nothing. The composite is a transport and communication tool, not an in-country one: a ministry can compute it from twenty public layers.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their contribution (+ = more deficiency). Thirteen of the twenty have the same sign in every country’s own independent fit (all twenty did before the DHS columns were re-estimated in DS-01). In the benchmark the membership is re-chosen inside each training fold; this is the version fitted on all four countries. The other five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Climate, soil, the modelled nutrition surfaces, agriculture and livestock density are the load-bearing domains (RR-10; the survey-year malaria block sat among them until the DHS columns were re-estimated in DS-01) (+0.009 to +0.024 each when dropped), with the new livestock layer just behind (+0.007); the survey-derived domains cost nothing to remove, or help. A fixed climate + soil index transports better than the full vocabulary at both tiers (0.37 vs 0.27 at district level; 0.46 vs 0.31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2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2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2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145</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Malaria Atlas Project</a:t>
                      </a:r>
                    </a:p>
                  </a:txBody>
                </a:tc>
                <a:tc>
                  <a:txBody>
                    <a:bodyPr/>
                    <a:lstStyle/>
                    <a:p>
                      <a:pPr lvl="0" indent="0" marL="0" algn="r">
                        <a:buNone/>
                      </a:pPr>
                      <a:r>
                        <a:rPr/>
                        <a:t>12</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59</a:t>
                      </a:r>
                    </a:p>
                  </a:txBody>
                </a:tc>
                <a:tc>
                  <a:txBody>
                    <a:bodyPr/>
                    <a:lstStyle/>
                    <a:p>
                      <a:pPr lvl="0" indent="0" marL="0" algn="l">
                        <a:buNone/>
                      </a:pPr>
                      <a:r>
                        <a:rPr/>
                        <a:t>Dietary diversity</a:t>
                      </a:r>
                    </a:p>
                  </a:txBody>
                </a:tc>
                <a:tc>
                  <a:txBody>
                    <a:bodyPr/>
                    <a:lstStyle/>
                    <a:p>
                      <a:pPr lvl="0" indent="0" marL="0" algn="l">
                        <a:buNone/>
                      </a:pPr>
                      <a:r>
                        <a:rPr/>
                        <a:t>10</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Adult nutrition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pPr lvl="0" indent="0" marL="0" algn="l">
                        <a:buNone/>
                      </a:pPr>
                      <a:r>
                        <a:rPr/>
                        <a:t>Food fortification and supplementation</a:t>
                      </a:r>
                    </a:p>
                  </a:txBody>
                </a:tc>
                <a:tc>
                  <a:txBody>
                    <a:bodyPr/>
                    <a:lstStyle/>
                    <a:p>
                      <a:pPr lvl="0" indent="0" marL="0" algn="l">
                        <a:buNone/>
                      </a:pPr>
                      <a:r>
                        <a:rPr/>
                        <a:t>3</a:t>
                      </a:r>
                    </a:p>
                  </a:txBody>
                </a:tc>
              </a:tr>
              <a:tr h="0">
                <a:tc>
                  <a:txBody>
                    <a:bodyPr/>
                    <a:lstStyle/>
                    <a:p>
                      <a:pPr lvl="0" indent="0" marL="0" algn="l">
                        <a:buNone/>
                      </a:pPr>
                      <a:r>
                        <a:rPr/>
                        <a:t>Malaria incidence and treatment</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Zero-tuning domain index</a:t>
                      </a:r>
                    </a:p>
                  </a:txBody>
                </a:tc>
                <a:tc>
                  <a:txBody>
                    <a:bodyPr/>
                    <a:lstStyle/>
                    <a:p>
                      <a:pPr lvl="0" indent="0" marL="0" algn="r">
                        <a:buNone/>
                      </a:pPr>
                      <a:r>
                        <a:rPr/>
                        <a:t>0.399</a:t>
                      </a:r>
                    </a:p>
                  </a:txBody>
                </a:tc>
                <a:tc>
                  <a:txBody>
                    <a:bodyPr/>
                    <a:lstStyle/>
                    <a:p>
                      <a:pPr lvl="0" indent="0" marL="0" algn="r">
                        <a:buNone/>
                      </a:pPr>
                      <a:r>
                        <a:rPr/>
                        <a:t>0.285</a:t>
                      </a:r>
                    </a:p>
                  </a:txBody>
                </a:tc>
              </a:tr>
              <a:tr h="0">
                <a:tc>
                  <a:txBody>
                    <a:bodyPr/>
                    <a:lstStyle/>
                    <a:p>
                      <a:pPr lvl="0" indent="0" marL="0" algn="l">
                        <a:buNone/>
                      </a:pPr>
                      <a:r>
                        <a:rPr/>
                        <a:t>Spatial smoother + covariates</a:t>
                      </a:r>
                    </a:p>
                  </a:txBody>
                </a:tc>
                <a:tc>
                  <a:txBody>
                    <a:bodyPr/>
                    <a:lstStyle/>
                    <a:p>
                      <a:pPr lvl="0" indent="0" marL="0" algn="r">
                        <a:buNone/>
                      </a:pPr>
                      <a:r>
                        <a:rPr/>
                        <a:t>0.399</a:t>
                      </a:r>
                    </a:p>
                  </a:txBody>
                </a:tc>
                <a:tc>
                  <a:txBody>
                    <a:bodyPr/>
                    <a:lstStyle/>
                    <a:p>
                      <a:pPr lvl="0" indent="0" marL="0" algn="r">
                        <a:buNone/>
                      </a:pPr>
                      <a:r>
                        <a:rPr/>
                        <a:t>0.253</a:t>
                      </a:r>
                    </a:p>
                  </a:txBody>
                </a:tc>
              </a:tr>
              <a:tr h="0">
                <a:tc>
                  <a:txBody>
                    <a:bodyPr/>
                    <a:lstStyle/>
                    <a:p>
                      <a:pPr lvl="0" indent="0" marL="0" algn="l">
                        <a:buNone/>
                      </a:pPr>
                      <a:r>
                        <a:rPr/>
                        <a:t>Spatial smoother only</a:t>
                      </a:r>
                    </a:p>
                  </a:txBody>
                </a:tc>
                <a:tc>
                  <a:txBody>
                    <a:bodyPr/>
                    <a:lstStyle/>
                    <a:p>
                      <a:pPr lvl="0" indent="0" marL="0" algn="r">
                        <a:buNone/>
                      </a:pPr>
                      <a:r>
                        <a:rPr/>
                        <a:t>0.390</a:t>
                      </a:r>
                    </a:p>
                  </a:txBody>
                </a:tc>
                <a:tc>
                  <a:txBody>
                    <a:bodyPr/>
                    <a:lstStyle/>
                    <a:p>
                      <a:pPr lvl="0" indent="0" marL="0" algn="r">
                        <a:buNone/>
                      </a:pPr>
                      <a:r>
                        <a:rPr/>
                        <a:t>0.257</a:t>
                      </a:r>
                    </a:p>
                  </a:txBody>
                </a:tc>
              </a:tr>
              <a:tr h="0">
                <a:tc>
                  <a:txBody>
                    <a:bodyPr/>
                    <a:lstStyle/>
                    <a:p>
                      <a:pPr lvl="0" indent="0" marL="0" algn="l">
                        <a:buNone/>
                      </a:pPr>
                      <a:r>
                        <a:rPr/>
                        <a:t>Elastic net, domain PCs</a:t>
                      </a:r>
                    </a:p>
                  </a:txBody>
                </a:tc>
                <a:tc>
                  <a:txBody>
                    <a:bodyPr/>
                    <a:lstStyle/>
                    <a:p>
                      <a:pPr lvl="0" indent="0" marL="0" algn="r">
                        <a:buNone/>
                      </a:pPr>
                      <a:r>
                        <a:rPr/>
                        <a:t>0.344</a:t>
                      </a:r>
                    </a:p>
                  </a:txBody>
                </a:tc>
                <a:tc>
                  <a:txBody>
                    <a:bodyPr/>
                    <a:lstStyle/>
                    <a:p>
                      <a:pPr lvl="0" indent="0" marL="0" algn="r">
                        <a:buNone/>
                      </a:pPr>
                      <a:r>
                        <a:rPr/>
                        <a:t>0.182</a:t>
                      </a:r>
                    </a:p>
                  </a:txBody>
                </a:tc>
              </a:tr>
              <a:tr h="0">
                <a:tc>
                  <a:txBody>
                    <a:bodyPr/>
                    <a:lstStyle/>
                    <a:p>
                      <a:pPr lvl="0" indent="0" marL="0" algn="l">
                        <a:buNone/>
                      </a:pPr>
                      <a:r>
                        <a:rPr/>
                        <a:t>Elastic net, all 451 columns</a:t>
                      </a:r>
                    </a:p>
                  </a:txBody>
                </a:tc>
                <a:tc>
                  <a:txBody>
                    <a:bodyPr/>
                    <a:lstStyle/>
                    <a:p>
                      <a:pPr lvl="0" indent="0" marL="0" algn="r">
                        <a:buNone/>
                      </a:pPr>
                      <a:r>
                        <a:rPr/>
                        <a:t>0.325</a:t>
                      </a:r>
                    </a:p>
                  </a:txBody>
                </a:tc>
                <a:tc>
                  <a:txBody>
                    <a:bodyPr/>
                    <a:lstStyle/>
                    <a:p>
                      <a:pPr lvl="0" indent="0" marL="0" algn="r">
                        <a:buNone/>
                      </a:pPr>
                      <a:r>
                        <a:rPr/>
                        <a:t>0.166</a:t>
                      </a:r>
                    </a:p>
                  </a:txBody>
                </a:tc>
              </a:tr>
              <a:tr h="0">
                <a:tc>
                  <a:txBody>
                    <a:bodyPr/>
                    <a:lstStyle/>
                    <a:p>
                      <a:pPr lvl="0" indent="0" marL="0" algn="l">
                        <a:buNone/>
                      </a:pPr>
                      <a:r>
                        <a:rPr/>
                        <a:t>Survey: jackknifed regional mean</a:t>
                      </a:r>
                    </a:p>
                  </a:txBody>
                </a:tc>
                <a:tc>
                  <a:txBody>
                    <a:bodyPr/>
                    <a:lstStyle/>
                    <a:p>
                      <a:pPr lvl="0" indent="0" marL="0" algn="r">
                        <a:buNone/>
                      </a:pPr>
                      <a:r>
                        <a:rPr/>
                        <a:t>0.314</a:t>
                      </a:r>
                    </a:p>
                  </a:txBody>
                </a:tc>
                <a:tc>
                  <a:txBody>
                    <a:bodyPr/>
                    <a:lstStyle/>
                    <a:p>
                      <a:pPr lvl="0" indent="0" marL="0" algn="r">
                        <a:buNone/>
                      </a:pPr>
                      <a:r>
                        <a:rPr/>
                        <a:t>0.220</a:t>
                      </a:r>
                    </a:p>
                  </a:txBody>
                </a:tc>
              </a:tr>
              <a:tr h="0">
                <a:tc>
                  <a:txBody>
                    <a:bodyPr/>
                    <a:lstStyle/>
                    <a:p>
                      <a:pPr lvl="0" indent="0" marL="0" algn="l">
                        <a:buNone/>
                      </a:pPr>
                      <a:r>
                        <a:rPr/>
                        <a:t>Null: training mean</a:t>
                      </a:r>
                    </a:p>
                  </a:txBody>
                </a:tc>
                <a:tc>
                  <a:txBody>
                    <a:bodyPr/>
                    <a:lstStyle/>
                    <a:p>
                      <a:pPr lvl="0" indent="0" marL="0" algn="r">
                        <a:buNone/>
                      </a:pPr>
                      <a:r>
                        <a:rPr/>
                        <a:t>-0.228</a:t>
                      </a:r>
                    </a:p>
                  </a:txBody>
                </a:tc>
                <a:tc>
                  <a:txBody>
                    <a:bodyPr/>
                    <a:lstStyle/>
                    <a:p>
                      <a:pPr lvl="0" indent="0" marL="0" algn="r">
                        <a:buNone/>
                      </a:pPr>
                      <a:r>
                        <a:rPr/>
                        <a:t>-0.218</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0.386</a:t>
                      </a:r>
                    </a:p>
                  </a:txBody>
                </a:tc>
                <a:tc>
                  <a:txBody>
                    <a:bodyPr/>
                    <a:lstStyle/>
                    <a:p>
                      <a:pPr lvl="0" indent="0" marL="0" algn="r">
                        <a:buNone/>
                      </a:pPr>
                      <a:r>
                        <a:rPr/>
                        <a:t>0.238</a:t>
                      </a:r>
                    </a:p>
                  </a:txBody>
                </a:tc>
              </a:tr>
              <a:tr h="0">
                <a:tc>
                  <a:txBody>
                    <a:bodyPr/>
                    <a:lstStyle/>
                    <a:p>
                      <a:pPr lvl="0" indent="0" marL="0" algn="l">
                        <a:buNone/>
                      </a:pPr>
                      <a:r>
                        <a:rPr/>
                        <a:t>Zero-tuning domain index</a:t>
                      </a:r>
                    </a:p>
                  </a:txBody>
                </a:tc>
                <a:tc>
                  <a:txBody>
                    <a:bodyPr/>
                    <a:lstStyle/>
                    <a:p>
                      <a:pPr lvl="0" indent="0" marL="0" algn="r">
                        <a:buNone/>
                      </a:pPr>
                      <a:r>
                        <a:rPr/>
                        <a:t>0.378</a:t>
                      </a:r>
                    </a:p>
                  </a:txBody>
                </a:tc>
                <a:tc>
                  <a:txBody>
                    <a:bodyPr/>
                    <a:lstStyle/>
                    <a:p>
                      <a:pPr lvl="0" indent="0" marL="0" algn="r">
                        <a:buNone/>
                      </a:pPr>
                      <a:r>
                        <a:rPr/>
                        <a:t>0.264</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0.229</a:t>
                      </a:r>
                    </a:p>
                  </a:txBody>
                </a:tc>
              </a:tr>
              <a:tr h="0">
                <a:tc>
                  <a:txBody>
                    <a:bodyPr/>
                    <a:lstStyle/>
                    <a:p>
                      <a:pPr lvl="0" indent="0" marL="0" algn="l">
                        <a:buNone/>
                      </a:pPr>
                      <a:r>
                        <a:rPr/>
                        <a:t>Elastic net, domain PCs</a:t>
                      </a:r>
                    </a:p>
                  </a:txBody>
                </a:tc>
                <a:tc>
                  <a:txBody>
                    <a:bodyPr/>
                    <a:lstStyle/>
                    <a:p>
                      <a:pPr lvl="0" indent="0" marL="0" algn="r">
                        <a:buNone/>
                      </a:pPr>
                      <a:r>
                        <a:rPr/>
                        <a:t>0.292</a:t>
                      </a:r>
                    </a:p>
                  </a:txBody>
                </a:tc>
                <a:tc>
                  <a:txBody>
                    <a:bodyPr/>
                    <a:lstStyle/>
                    <a:p>
                      <a:pPr lvl="0" indent="0" marL="0" algn="r">
                        <a:buNone/>
                      </a:pPr>
                      <a:r>
                        <a:rPr/>
                        <a:t>0.110</a:t>
                      </a:r>
                    </a:p>
                  </a:txBody>
                </a:tc>
              </a:tr>
              <a:tr h="0">
                <a:tc>
                  <a:txBody>
                    <a:bodyPr/>
                    <a:lstStyle/>
                    <a:p>
                      <a:pPr lvl="0" indent="0" marL="0" algn="l">
                        <a:buNone/>
                      </a:pPr>
                      <a:r>
                        <a:rPr/>
                        <a:t>Elastic net, all 451 columns</a:t>
                      </a:r>
                    </a:p>
                  </a:txBody>
                </a:tc>
                <a:tc>
                  <a:txBody>
                    <a:bodyPr/>
                    <a:lstStyle/>
                    <a:p>
                      <a:pPr lvl="0" indent="0" marL="0" algn="r">
                        <a:buNone/>
                      </a:pPr>
                      <a:r>
                        <a:rPr/>
                        <a:t>0.202</a:t>
                      </a:r>
                    </a:p>
                  </a:txBody>
                </a:tc>
                <a:tc>
                  <a:txBody>
                    <a:bodyPr/>
                    <a:lstStyle/>
                    <a:p>
                      <a:pPr lvl="0" indent="0" marL="0" algn="r">
                        <a:buNone/>
                      </a:pPr>
                      <a:r>
                        <a:rPr/>
                        <a:t>-0.011</a:t>
                      </a:r>
                    </a:p>
                  </a:txBody>
                </a:tc>
              </a:tr>
              <a:tr h="0">
                <a:tc>
                  <a:txBody>
                    <a:bodyPr/>
                    <a:lstStyle/>
                    <a:p>
                      <a:pPr lvl="0" indent="0" marL="0" algn="l">
                        <a:buNone/>
                      </a:pPr>
                      <a:r>
                        <a:rPr/>
                        <a:t>Null: training mean</a:t>
                      </a:r>
                    </a:p>
                  </a:txBody>
                </a:tc>
                <a:tc>
                  <a:txBody>
                    <a:bodyPr/>
                    <a:lstStyle/>
                    <a:p>
                      <a:pPr lvl="0" indent="0" marL="0" algn="r">
                        <a:buNone/>
                      </a:pPr>
                      <a:r>
                        <a:rPr/>
                        <a:t>-0.604</a:t>
                      </a:r>
                    </a:p>
                  </a:txBody>
                </a:tc>
                <a:tc>
                  <a:txBody>
                    <a:bodyPr/>
                    <a:lstStyle/>
                    <a:p>
                      <a:pPr lvl="0" indent="0" marL="0" algn="r">
                        <a:buNone/>
                      </a:pPr>
                      <a:r>
                        <a:rPr/>
                        <a:t>-0.535</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0.26</a:t>
                      </a:r>
                    </a:p>
                  </a:txBody>
                </a:tc>
                <a:tc>
                  <a:txBody>
                    <a:bodyPr/>
                    <a:lstStyle/>
                    <a:p>
                      <a:pPr lvl="0" indent="0" marL="0" algn="r">
                        <a:buNone/>
                      </a:pPr>
                      <a:r>
                        <a:rPr/>
                        <a:t>0.18</a:t>
                      </a:r>
                    </a:p>
                  </a:txBody>
                </a:tc>
                <a:tc>
                  <a:txBody>
                    <a:bodyPr/>
                    <a:lstStyle/>
                    <a:p>
                      <a:pPr lvl="0" indent="0" marL="0" algn="r">
                        <a:buNone/>
                      </a:pPr>
                      <a:r>
                        <a:rPr/>
                        <a:t>0.37</a:t>
                      </a:r>
                    </a:p>
                  </a:txBody>
                </a:tc>
                <a:tc>
                  <a:txBody>
                    <a:bodyPr/>
                    <a:lstStyle/>
                    <a:p>
                      <a:pPr lvl="0" indent="0" marL="0" algn="r">
                        <a:buNone/>
                      </a:pPr>
                      <a:r>
                        <a:rPr/>
                        <a:t>0.24</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0.31</a:t>
                      </a:r>
                    </a:p>
                  </a:txBody>
                </a:tc>
                <a:tc>
                  <a:txBody>
                    <a:bodyPr/>
                    <a:lstStyle/>
                    <a:p>
                      <a:pPr lvl="0" indent="0" marL="0" algn="r">
                        <a:buNone/>
                      </a:pPr>
                      <a:r>
                        <a:rPr/>
                        <a:t>0.33</a:t>
                      </a:r>
                    </a:p>
                  </a:txBody>
                </a:tc>
                <a:tc>
                  <a:txBody>
                    <a:bodyPr/>
                    <a:lstStyle/>
                    <a:p>
                      <a:pPr lvl="0" indent="0" marL="0" algn="r">
                        <a:buNone/>
                      </a:pPr>
                      <a:r>
                        <a:rPr/>
                        <a:t>0.45</a:t>
                      </a:r>
                    </a:p>
                  </a:txBody>
                </a:tc>
                <a:tc>
                  <a:txBody>
                    <a:bodyPr/>
                    <a:lstStyle/>
                    <a:p>
                      <a:pPr lvl="0" indent="0" marL="0" algn="r">
                        <a:buNone/>
                      </a:pPr>
                      <a:r>
                        <a:rPr/>
                        <a:t>0.27</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index’s weights come from: nothing beats it in-country, decorrelation helps across borders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962400"/>
                <a:gridCol w="1066800"/>
                <a:gridCol w="1066800"/>
                <a:gridCol w="990600"/>
                <a:gridCol w="990600"/>
                <a:gridCol w="1219200"/>
                <a:gridCol w="1219200"/>
              </a:tblGrid>
              <a:tr h="0">
                <a:tc>
                  <a:txBody>
                    <a:bodyPr/>
                    <a:lstStyle/>
                    <a:p>
                      <a:pPr lvl="0" indent="0" marL="0" algn="l">
                        <a:buNone/>
                      </a:pPr>
                      <a:r>
                        <a:rPr/>
                        <a:t>Weights</a:t>
                      </a:r>
                    </a:p>
                  </a:txBody>
                  <a:tcPr/>
                </a:tc>
                <a:tc>
                  <a:txBody>
                    <a:bodyPr/>
                    <a:lstStyle/>
                    <a:p>
                      <a:pPr lvl="0" indent="0" marL="0" algn="r">
                        <a:buNone/>
                      </a:pPr>
                      <a:r>
                        <a:rPr/>
                        <a:t>In-fill level</a:t>
                      </a:r>
                    </a:p>
                  </a:txBody>
                  <a:tcPr/>
                </a:tc>
                <a:tc>
                  <a:txBody>
                    <a:bodyPr/>
                    <a:lstStyle/>
                    <a:p>
                      <a:pPr lvl="0" indent="0" marL="0" algn="r">
                        <a:buNone/>
                      </a:pPr>
                      <a:r>
                        <a:rPr/>
                        <a:t>In-fill prev.</a:t>
                      </a:r>
                    </a:p>
                  </a:txBody>
                  <a:tcPr/>
                </a:tc>
                <a:tc>
                  <a:txBody>
                    <a:bodyPr/>
                    <a:lstStyle/>
                    <a:p>
                      <a:pPr lvl="0" indent="0" marL="0" algn="r">
                        <a:buNone/>
                      </a:pPr>
                      <a:r>
                        <a:rPr/>
                        <a:t>Region level</a:t>
                      </a:r>
                    </a:p>
                  </a:txBody>
                  <a:tcPr/>
                </a:tc>
                <a:tc>
                  <a:txBody>
                    <a:bodyPr/>
                    <a:lstStyle/>
                    <a:p>
                      <a:pPr lvl="0" indent="0" marL="0" algn="r">
                        <a:buNone/>
                      </a:pPr>
                      <a:r>
                        <a:rPr/>
                        <a:t>Region prev.</a:t>
                      </a:r>
                    </a:p>
                  </a:txBody>
                  <a:tcPr/>
                </a:tc>
                <a:tc>
                  <a:txBody>
                    <a:bodyPr/>
                    <a:lstStyle/>
                    <a:p>
                      <a:pPr lvl="0" indent="0" marL="0" algn="r">
                        <a:buNone/>
                      </a:pPr>
                      <a:r>
                        <a:rPr/>
                        <a:t>Transport level</a:t>
                      </a:r>
                    </a:p>
                  </a:txBody>
                  <a:tcPr/>
                </a:tc>
                <a:tc>
                  <a:txBody>
                    <a:bodyPr/>
                    <a:lstStyle/>
                    <a:p>
                      <a:pPr lvl="0" indent="0" marL="0" algn="r">
                        <a:buNone/>
                      </a:pPr>
                      <a:r>
                        <a:rPr/>
                        <a:t>Transport prev.</a:t>
                      </a:r>
                    </a:p>
                  </a:txBody>
                  <a:tcPr/>
                </a:tc>
              </a:tr>
              <a:tr h="0">
                <a:tc>
                  <a:txBody>
                    <a:bodyPr/>
                    <a:lstStyle/>
                    <a:p>
                      <a:pPr lvl="0" indent="0" marL="0" algn="l">
                        <a:buNone/>
                      </a:pPr>
                      <a:r>
                        <a:rPr/>
                        <a:t>Production index (pooled rank correlation)</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0.26</a:t>
                      </a:r>
                    </a:p>
                  </a:txBody>
                </a:tc>
                <a:tc>
                  <a:txBody>
                    <a:bodyPr/>
                    <a:lstStyle/>
                    <a:p>
                      <a:pPr lvl="0" indent="0" marL="0" algn="r">
                        <a:buNone/>
                      </a:pPr>
                      <a:r>
                        <a:rPr/>
                        <a:t>0.26</a:t>
                      </a:r>
                    </a:p>
                  </a:txBody>
                </a:tc>
                <a:tc>
                  <a:txBody>
                    <a:bodyPr/>
                    <a:lstStyle/>
                    <a:p>
                      <a:pPr lvl="0" indent="0" marL="0" algn="r">
                        <a:buNone/>
                      </a:pPr>
                      <a:r>
                        <a:rPr/>
                        <a:t>0.18</a:t>
                      </a:r>
                    </a:p>
                  </a:txBody>
                </a:tc>
              </a:tr>
              <a:tr h="0">
                <a:tc>
                  <a:txBody>
                    <a:bodyPr/>
                    <a:lstStyle/>
                    <a:p>
                      <a:pPr lvl="0" indent="0" marL="0" algn="l">
                        <a:buNone/>
                      </a:pPr>
                      <a:r>
                        <a:rPr/>
                        <a:t>Soft-thresholded weights, |z| &lt; 1 to zero</a:t>
                      </a:r>
                    </a:p>
                  </a:txBody>
                </a:tc>
                <a:tc>
                  <a:txBody>
                    <a:bodyPr/>
                    <a:lstStyle/>
                    <a:p>
                      <a:pPr lvl="0" indent="0" marL="0" algn="r">
                        <a:buNone/>
                      </a:pPr>
                      <a:r>
                        <a:rPr/>
                        <a:t>0.40</a:t>
                      </a:r>
                    </a:p>
                  </a:txBody>
                </a:tc>
                <a:tc>
                  <a:txBody>
                    <a:bodyPr/>
                    <a:lstStyle/>
                    <a:p>
                      <a:pPr lvl="0" indent="0" marL="0" algn="r">
                        <a:buNone/>
                      </a:pPr>
                      <a:r>
                        <a:rPr/>
                        <a:t>0.27</a:t>
                      </a:r>
                    </a:p>
                  </a:txBody>
                </a:tc>
                <a:tc>
                  <a:txBody>
                    <a:bodyPr/>
                    <a:lstStyle/>
                    <a:p>
                      <a:pPr lvl="0" indent="0" marL="0" algn="r">
                        <a:buNone/>
                      </a:pPr>
                      <a:r>
                        <a:rPr/>
                        <a:t>0.37</a:t>
                      </a:r>
                    </a:p>
                  </a:txBody>
                </a:tc>
                <a:tc>
                  <a:txBody>
                    <a:bodyPr/>
                    <a:lstStyle/>
                    <a:p>
                      <a:pPr lvl="0" indent="0" marL="0" algn="r">
                        <a:buNone/>
                      </a:pPr>
                      <a:r>
                        <a:rPr/>
                        <a:t>0.25</a:t>
                      </a:r>
                    </a:p>
                  </a:txBody>
                </a:tc>
                <a:tc>
                  <a:txBody>
                    <a:bodyPr/>
                    <a:lstStyle/>
                    <a:p>
                      <a:pPr lvl="0" indent="0" marL="0" algn="r">
                        <a:buNone/>
                      </a:pPr>
                      <a:r>
                        <a:rPr/>
                        <a:t>0.27</a:t>
                      </a:r>
                    </a:p>
                  </a:txBody>
                </a:tc>
                <a:tc>
                  <a:txBody>
                    <a:bodyPr/>
                    <a:lstStyle/>
                    <a:p>
                      <a:pPr lvl="0" indent="0" marL="0" algn="r">
                        <a:buNone/>
                      </a:pPr>
                      <a:r>
                        <a:rPr/>
                        <a:t>0.19</a:t>
                      </a:r>
                    </a:p>
                  </a:txBody>
                </a:tc>
              </a:tr>
              <a:tr h="0">
                <a:tc>
                  <a:txBody>
                    <a:bodyPr/>
                    <a:lstStyle/>
                    <a:p>
                      <a:pPr lvl="0" indent="0" marL="0" algn="l">
                        <a:buNone/>
                      </a:pPr>
                      <a:r>
                        <a:rPr/>
                        <a:t>Soft-thresholded, |z| &lt; 2 to zero</a:t>
                      </a:r>
                    </a:p>
                  </a:txBody>
                </a:tc>
                <a:tc>
                  <a:txBody>
                    <a:bodyPr/>
                    <a:lstStyle/>
                    <a:p>
                      <a:pPr lvl="0" indent="0" marL="0" algn="r">
                        <a:buNone/>
                      </a:pPr>
                      <a:r>
                        <a:rPr/>
                        <a:t>0.40</a:t>
                      </a:r>
                    </a:p>
                  </a:txBody>
                </a:tc>
                <a:tc>
                  <a:txBody>
                    <a:bodyPr/>
                    <a:lstStyle/>
                    <a:p>
                      <a:pPr lvl="0" indent="0" marL="0" algn="r">
                        <a:buNone/>
                      </a:pPr>
                      <a:r>
                        <a:rPr/>
                        <a:t>0.26</a:t>
                      </a:r>
                    </a:p>
                  </a:txBody>
                </a:tc>
                <a:tc>
                  <a:txBody>
                    <a:bodyPr/>
                    <a:lstStyle/>
                    <a:p>
                      <a:pPr lvl="0" indent="0" marL="0" algn="r">
                        <a:buNone/>
                      </a:pPr>
                      <a:r>
                        <a:rPr/>
                        <a:t>0.37</a:t>
                      </a:r>
                    </a:p>
                  </a:txBody>
                </a:tc>
                <a:tc>
                  <a:txBody>
                    <a:bodyPr/>
                    <a:lstStyle/>
                    <a:p>
                      <a:pPr lvl="0" indent="0" marL="0" algn="r">
                        <a:buNone/>
                      </a:pPr>
                      <a:r>
                        <a:rPr/>
                        <a:t>0.22</a:t>
                      </a:r>
                    </a:p>
                  </a:txBody>
                </a:tc>
                <a:tc>
                  <a:txBody>
                    <a:bodyPr/>
                    <a:lstStyle/>
                    <a:p>
                      <a:pPr lvl="0" indent="0" marL="0" algn="r">
                        <a:buNone/>
                      </a:pPr>
                      <a:r>
                        <a:rPr/>
                        <a:t>0.26</a:t>
                      </a:r>
                    </a:p>
                  </a:txBody>
                </a:tc>
                <a:tc>
                  <a:txBody>
                    <a:bodyPr/>
                    <a:lstStyle/>
                    <a:p>
                      <a:pPr lvl="0" indent="0" marL="0" algn="r">
                        <a:buNone/>
                      </a:pPr>
                      <a:r>
                        <a:rPr/>
                        <a:t>0.15</a:t>
                      </a:r>
                    </a:p>
                  </a:txBody>
                </a:tc>
              </a:tr>
              <a:tr h="0">
                <a:tc>
                  <a:txBody>
                    <a:bodyPr/>
                    <a:lstStyle/>
                    <a:p>
                      <a:pPr lvl="0" indent="0" marL="0" algn="l">
                        <a:buNone/>
                      </a:pPr>
                      <a:r>
                        <a:rPr/>
                        <a:t>Replication-weighted (meta-analysis over blocks)</a:t>
                      </a:r>
                    </a:p>
                  </a:txBody>
                </a:tc>
                <a:tc>
                  <a:txBody>
                    <a:bodyPr/>
                    <a:lstStyle/>
                    <a:p>
                      <a:pPr lvl="0" indent="0" marL="0" algn="r">
                        <a:buNone/>
                      </a:pPr>
                      <a:r>
                        <a:rPr/>
                        <a:t>0.15</a:t>
                      </a:r>
                    </a:p>
                  </a:txBody>
                </a:tc>
                <a:tc>
                  <a:txBody>
                    <a:bodyPr/>
                    <a:lstStyle/>
                    <a:p>
                      <a:pPr lvl="0" indent="0" marL="0" algn="r">
                        <a:buNone/>
                      </a:pPr>
                      <a:r>
                        <a:rPr/>
                        <a:t>0.11</a:t>
                      </a:r>
                    </a:p>
                  </a:txBody>
                </a:tc>
                <a:tc>
                  <a:txBody>
                    <a:bodyPr/>
                    <a:lstStyle/>
                    <a:p>
                      <a:pPr lvl="0" indent="0" marL="0" algn="r">
                        <a:buNone/>
                      </a:pPr>
                      <a:r>
                        <a:rPr/>
                        <a:t>0.12</a:t>
                      </a:r>
                    </a:p>
                  </a:txBody>
                </a:tc>
                <a:tc>
                  <a:txBody>
                    <a:bodyPr/>
                    <a:lstStyle/>
                    <a:p>
                      <a:pPr lvl="0" indent="0" marL="0" algn="r">
                        <a:buNone/>
                      </a:pPr>
                      <a:r>
                        <a:rPr/>
                        <a:t>0.09</a:t>
                      </a:r>
                    </a:p>
                  </a:txBody>
                </a:tc>
                <a:tc>
                  <a:txBody>
                    <a:bodyPr/>
                    <a:lstStyle/>
                    <a:p>
                      <a:pPr lvl="0" indent="0" marL="0" algn="r">
                        <a:buNone/>
                      </a:pPr>
                      <a:r>
                        <a:rPr/>
                        <a:t>0.28</a:t>
                      </a:r>
                    </a:p>
                  </a:txBody>
                </a:tc>
                <a:tc>
                  <a:txBody>
                    <a:bodyPr/>
                    <a:lstStyle/>
                    <a:p>
                      <a:pPr lvl="0" indent="0" marL="0" algn="r">
                        <a:buNone/>
                      </a:pPr>
                      <a:r>
                        <a:rPr/>
                        <a:t>0.17</a:t>
                      </a:r>
                    </a:p>
                  </a:txBody>
                </a:tc>
              </a:tr>
              <a:tr h="0">
                <a:tc>
                  <a:txBody>
                    <a:bodyPr/>
                    <a:lstStyle/>
                    <a:p>
                      <a:pPr lvl="0" indent="0" marL="0" algn="l">
                        <a:buNone/>
                      </a:pPr>
                      <a:r>
                        <a:rPr/>
                        <a:t>Replication-weighted, sign must agree</a:t>
                      </a:r>
                    </a:p>
                  </a:txBody>
                </a:tc>
                <a:tc>
                  <a:txBody>
                    <a:bodyPr/>
                    <a:lstStyle/>
                    <a:p>
                      <a:pPr lvl="0" indent="0" marL="0" algn="r">
                        <a:buNone/>
                      </a:pPr>
                      <a:r>
                        <a:rPr/>
                        <a:t>0.14</a:t>
                      </a:r>
                    </a:p>
                  </a:txBody>
                </a:tc>
                <a:tc>
                  <a:txBody>
                    <a:bodyPr/>
                    <a:lstStyle/>
                    <a:p>
                      <a:pPr lvl="0" indent="0" marL="0" algn="r">
                        <a:buNone/>
                      </a:pPr>
                      <a:r>
                        <a:rPr/>
                        <a:t>0.10</a:t>
                      </a:r>
                    </a:p>
                  </a:txBody>
                </a:tc>
                <a:tc>
                  <a:txBody>
                    <a:bodyPr/>
                    <a:lstStyle/>
                    <a:p>
                      <a:pPr lvl="0" indent="0" marL="0" algn="r">
                        <a:buNone/>
                      </a:pPr>
                      <a:r>
                        <a:rPr/>
                        <a:t>0.16</a:t>
                      </a:r>
                    </a:p>
                  </a:txBody>
                </a:tc>
                <a:tc>
                  <a:txBody>
                    <a:bodyPr/>
                    <a:lstStyle/>
                    <a:p>
                      <a:pPr lvl="0" indent="0" marL="0" algn="r">
                        <a:buNone/>
                      </a:pPr>
                      <a:r>
                        <a:rPr/>
                        <a:t>0.06</a:t>
                      </a:r>
                    </a:p>
                  </a:txBody>
                </a:tc>
                <a:tc>
                  <a:txBody>
                    <a:bodyPr/>
                    <a:lstStyle/>
                    <a:p>
                      <a:pPr lvl="0" indent="0" marL="0" algn="r">
                        <a:buNone/>
                      </a:pPr>
                      <a:r>
                        <a:rPr/>
                        <a:t>0.26</a:t>
                      </a:r>
                    </a:p>
                  </a:txBody>
                </a:tc>
                <a:tc>
                  <a:txBody>
                    <a:bodyPr/>
                    <a:lstStyle/>
                    <a:p>
                      <a:pPr lvl="0" indent="0" marL="0" algn="r">
                        <a:buNone/>
                      </a:pPr>
                      <a:r>
                        <a:rPr/>
                        <a:t>0.11</a:t>
                      </a:r>
                    </a:p>
                  </a:txBody>
                </a:tc>
              </a:tr>
              <a:tr h="0">
                <a:tc>
                  <a:txBody>
                    <a:bodyPr/>
                    <a:lstStyle/>
                    <a:p>
                      <a:pPr lvl="0" indent="0" marL="0" algn="l">
                        <a:buNone/>
                      </a:pPr>
                      <a:r>
                        <a:rPr/>
                        <a:t>Decorrelated across domains, then weighted</a:t>
                      </a:r>
                    </a:p>
                  </a:txBody>
                </a:tc>
                <a:tc>
                  <a:txBody>
                    <a:bodyPr/>
                    <a:lstStyle/>
                    <a:p>
                      <a:pPr lvl="0" indent="0" marL="0" algn="r">
                        <a:buNone/>
                      </a:pPr>
                      <a:r>
                        <a:rPr/>
                        <a:t>0.40</a:t>
                      </a:r>
                    </a:p>
                  </a:txBody>
                </a:tc>
                <a:tc>
                  <a:txBody>
                    <a:bodyPr/>
                    <a:lstStyle/>
                    <a:p>
                      <a:pPr lvl="0" indent="0" marL="0" algn="r">
                        <a:buNone/>
                      </a:pPr>
                      <a:r>
                        <a:rPr/>
                        <a:t>0.27</a:t>
                      </a:r>
                    </a:p>
                  </a:txBody>
                </a:tc>
                <a:tc>
                  <a:txBody>
                    <a:bodyPr/>
                    <a:lstStyle/>
                    <a:p>
                      <a:pPr lvl="0" indent="0" marL="0" algn="r">
                        <a:buNone/>
                      </a:pPr>
                      <a:r>
                        <a:rPr/>
                        <a:t>0.39</a:t>
                      </a:r>
                    </a:p>
                  </a:txBody>
                </a:tc>
                <a:tc>
                  <a:txBody>
                    <a:bodyPr/>
                    <a:lstStyle/>
                    <a:p>
                      <a:pPr lvl="0" indent="0" marL="0" algn="r">
                        <a:buNone/>
                      </a:pPr>
                      <a:r>
                        <a:rPr/>
                        <a:t>0.26</a:t>
                      </a:r>
                    </a:p>
                  </a:txBody>
                </a:tc>
                <a:tc>
                  <a:txBody>
                    <a:bodyPr/>
                    <a:lstStyle/>
                    <a:p>
                      <a:pPr lvl="0" indent="0" marL="0" algn="r">
                        <a:buNone/>
                      </a:pPr>
                      <a:r>
                        <a:rPr/>
                        <a:t>0.29</a:t>
                      </a:r>
                    </a:p>
                  </a:txBody>
                </a:tc>
                <a:tc>
                  <a:txBody>
                    <a:bodyPr/>
                    <a:lstStyle/>
                    <a:p>
                      <a:pPr lvl="0" indent="0" marL="0" algn="r">
                        <a:buNone/>
                      </a:pPr>
                      <a:r>
                        <a:rPr/>
                        <a:t>0.18</a:t>
                      </a:r>
                    </a:p>
                  </a:txBody>
                </a:tc>
              </a:tr>
              <a:tr h="0">
                <a:tc>
                  <a:txBody>
                    <a:bodyPr/>
                    <a:lstStyle/>
                    <a:p>
                      <a:pPr lvl="0" indent="0" marL="0" algn="l">
                        <a:buNone/>
                      </a:pPr>
                      <a:r>
                        <a:rPr/>
                        <a:t>Ridge, penalty by inner CV</a:t>
                      </a:r>
                    </a:p>
                  </a:txBody>
                </a:tc>
                <a:tc>
                  <a:txBody>
                    <a:bodyPr/>
                    <a:lstStyle/>
                    <a:p>
                      <a:pPr lvl="0" indent="0" marL="0" algn="r">
                        <a:buNone/>
                      </a:pPr>
                      <a:r>
                        <a:rPr/>
                        <a:t>0.35</a:t>
                      </a:r>
                    </a:p>
                  </a:txBody>
                </a:tc>
                <a:tc>
                  <a:txBody>
                    <a:bodyPr/>
                    <a:lstStyle/>
                    <a:p>
                      <a:pPr lvl="0" indent="0" marL="0" algn="r">
                        <a:buNone/>
                      </a:pPr>
                      <a:r>
                        <a:rPr/>
                        <a:t>0.21</a:t>
                      </a:r>
                    </a:p>
                  </a:txBody>
                </a:tc>
                <a:tc>
                  <a:txBody>
                    <a:bodyPr/>
                    <a:lstStyle/>
                    <a:p>
                      <a:pPr lvl="0" indent="0" marL="0" algn="r">
                        <a:buNone/>
                      </a:pPr>
                      <a:r>
                        <a:rPr/>
                        <a:t>0.30</a:t>
                      </a:r>
                    </a:p>
                  </a:txBody>
                </a:tc>
                <a:tc>
                  <a:txBody>
                    <a:bodyPr/>
                    <a:lstStyle/>
                    <a:p>
                      <a:pPr lvl="0" indent="0" marL="0" algn="r">
                        <a:buNone/>
                      </a:pPr>
                      <a:r>
                        <a:rPr/>
                        <a:t>0.10</a:t>
                      </a:r>
                    </a:p>
                  </a:txBody>
                </a:tc>
                <a:tc>
                  <a:txBody>
                    <a:bodyPr/>
                    <a:lstStyle/>
                    <a:p>
                      <a:pPr lvl="0" indent="0" marL="0" algn="r">
                        <a:buNone/>
                      </a:pPr>
                      <a:r>
                        <a:rPr/>
                        <a:t>0.27</a:t>
                      </a:r>
                    </a:p>
                  </a:txBody>
                </a:tc>
                <a:tc>
                  <a:txBody>
                    <a:bodyPr/>
                    <a:lstStyle/>
                    <a:p>
                      <a:pPr lvl="0" indent="0" marL="0" algn="r">
                        <a:buNone/>
                      </a:pPr>
                      <a:r>
                        <a:rPr/>
                        <a:t>0.20</a:t>
                      </a:r>
                    </a:p>
                  </a:txBody>
                </a:tc>
              </a:tr>
              <a:tr h="0">
                <a:tc>
                  <a:txBody>
                    <a:bodyPr/>
                    <a:lstStyle/>
                    <a:p>
                      <a:pPr lvl="0" indent="0" marL="0" algn="l">
                        <a:buNone/>
                      </a:pPr>
                      <a:r>
                        <a:rPr/>
                        <a:t>Ridge, penalty by nested block CV on rank</a:t>
                      </a:r>
                    </a:p>
                  </a:txBody>
                </a:tc>
                <a:tc>
                  <a:txBody>
                    <a:bodyPr/>
                    <a:lstStyle/>
                    <a:p>
                      <a:pPr lvl="0" indent="0" marL="0" algn="r">
                        <a:buNone/>
                      </a:pPr>
                      <a:r>
                        <a:rPr/>
                        <a:t>0.36</a:t>
                      </a:r>
                    </a:p>
                  </a:txBody>
                </a:tc>
                <a:tc>
                  <a:txBody>
                    <a:bodyPr/>
                    <a:lstStyle/>
                    <a:p>
                      <a:pPr lvl="0" indent="0" marL="0" algn="r">
                        <a:buNone/>
                      </a:pPr>
                      <a:r>
                        <a:rPr/>
                        <a:t>0.23</a:t>
                      </a:r>
                    </a:p>
                  </a:txBody>
                </a:tc>
                <a:tc>
                  <a:txBody>
                    <a:bodyPr/>
                    <a:lstStyle/>
                    <a:p>
                      <a:pPr lvl="0" indent="0" marL="0" algn="r">
                        <a:buNone/>
                      </a:pPr>
                      <a:r>
                        <a:rPr/>
                        <a:t>0.34</a:t>
                      </a:r>
                    </a:p>
                  </a:txBody>
                </a:tc>
                <a:tc>
                  <a:txBody>
                    <a:bodyPr/>
                    <a:lstStyle/>
                    <a:p>
                      <a:pPr lvl="0" indent="0" marL="0" algn="r">
                        <a:buNone/>
                      </a:pPr>
                      <a:r>
                        <a:rPr/>
                        <a:t>0.20</a:t>
                      </a:r>
                    </a:p>
                  </a:txBody>
                </a:tc>
                <a:tc>
                  <a:txBody>
                    <a:bodyPr/>
                    <a:lstStyle/>
                    <a:p>
                      <a:pPr lvl="0" indent="0" marL="0" algn="r">
                        <a:buNone/>
                      </a:pPr>
                      <a:r>
                        <a:rPr/>
                        <a:t>0.23</a:t>
                      </a:r>
                    </a:p>
                  </a:txBody>
                </a:tc>
                <a:tc>
                  <a:txBody>
                    <a:bodyPr/>
                    <a:lstStyle/>
                    <a:p>
                      <a:pPr lvl="0" indent="0" marL="0" algn="r">
                        <a:buNone/>
                      </a:pPr>
                      <a:r>
                        <a:rPr/>
                        <a:t>0.17</a:t>
                      </a:r>
                    </a:p>
                  </a:txBody>
                </a:tc>
              </a:tr>
              <a:tr h="0">
                <a:tc>
                  <a:txBody>
                    <a:bodyPr/>
                    <a:lstStyle/>
                    <a:p>
                      <a:pPr lvl="0" indent="0" marL="0" algn="l">
                        <a:buNone/>
                      </a:pPr>
                      <a:r>
                        <a:rPr/>
                        <a:t>Elastic net, lambda.min (the deck’s comparator)</a:t>
                      </a:r>
                    </a:p>
                  </a:txBody>
                </a:tc>
                <a:tc>
                  <a:txBody>
                    <a:bodyPr/>
                    <a:lstStyle/>
                    <a:p>
                      <a:pPr lvl="0" indent="0" marL="0" algn="r">
                        <a:buNone/>
                      </a:pPr>
                      <a:r>
                        <a:rPr/>
                        <a:t>0.34</a:t>
                      </a:r>
                    </a:p>
                  </a:txBody>
                </a:tc>
                <a:tc>
                  <a:txBody>
                    <a:bodyPr/>
                    <a:lstStyle/>
                    <a:p>
                      <a:pPr lvl="0" indent="0" marL="0" algn="r">
                        <a:buNone/>
                      </a:pPr>
                      <a:r>
                        <a:rPr/>
                        <a:t>0.18</a:t>
                      </a:r>
                    </a:p>
                  </a:txBody>
                </a:tc>
                <a:tc>
                  <a:txBody>
                    <a:bodyPr/>
                    <a:lstStyle/>
                    <a:p>
                      <a:pPr lvl="0" indent="0" marL="0" algn="r">
                        <a:buNone/>
                      </a:pPr>
                      <a:r>
                        <a:rPr/>
                        <a:t>0.30</a:t>
                      </a:r>
                    </a:p>
                  </a:txBody>
                </a:tc>
                <a:tc>
                  <a:txBody>
                    <a:bodyPr/>
                    <a:lstStyle/>
                    <a:p>
                      <a:pPr lvl="0" indent="0" marL="0" algn="r">
                        <a:buNone/>
                      </a:pPr>
                      <a:r>
                        <a:rPr/>
                        <a:t>0.10</a:t>
                      </a:r>
                    </a:p>
                  </a:txBody>
                </a:tc>
                <a:tc>
                  <a:txBody>
                    <a:bodyPr/>
                    <a:lstStyle/>
                    <a:p>
                      <a:pPr lvl="0" indent="0" marL="0" algn="r">
                        <a:buNone/>
                      </a:pPr>
                      <a:r>
                        <a:rPr/>
                        <a:t>0.22</a:t>
                      </a:r>
                    </a:p>
                  </a:txBody>
                </a:tc>
                <a:tc>
                  <a:txBody>
                    <a:bodyPr/>
                    <a:lstStyle/>
                    <a:p>
                      <a:pPr lvl="0" indent="0" marL="0" algn="r">
                        <a:buNone/>
                      </a:pPr>
                      <a:r>
                        <a:rPr/>
                        <a:t>0.16</a:t>
                      </a:r>
                    </a:p>
                  </a:txBody>
                </a:tc>
              </a:tr>
              <a:tr h="0">
                <a:tc>
                  <a:txBody>
                    <a:bodyPr/>
                    <a:lstStyle/>
                    <a:p>
                      <a:pPr lvl="0" indent="0" marL="0" algn="l">
                        <a:buNone/>
                      </a:pPr>
                      <a:r>
                        <a:rPr/>
                        <a:t>Elastic net, lambda.1se</a:t>
                      </a:r>
                    </a:p>
                  </a:txBody>
                </a:tc>
                <a:tc>
                  <a:txBody>
                    <a:bodyPr/>
                    <a:lstStyle/>
                    <a:p>
                      <a:pPr lvl="0" indent="0" marL="0" algn="r">
                        <a:buNone/>
                      </a:pPr>
                      <a:r>
                        <a:rPr/>
                        <a:t>0.20</a:t>
                      </a:r>
                    </a:p>
                  </a:txBody>
                </a:tc>
                <a:tc>
                  <a:txBody>
                    <a:bodyPr/>
                    <a:lstStyle/>
                    <a:p>
                      <a:pPr lvl="0" indent="0" marL="0" algn="r">
                        <a:buNone/>
                      </a:pPr>
                      <a:r>
                        <a:rPr/>
                        <a:t>-0.01</a:t>
                      </a:r>
                    </a:p>
                  </a:txBody>
                </a:tc>
                <a:tc>
                  <a:txBody>
                    <a:bodyPr/>
                    <a:lstStyle/>
                    <a:p>
                      <a:pPr lvl="0" indent="0" marL="0" algn="r">
                        <a:buNone/>
                      </a:pPr>
                      <a:r>
                        <a:rPr/>
                        <a:t>0.06</a:t>
                      </a:r>
                    </a:p>
                  </a:txBody>
                </a:tc>
                <a:tc>
                  <a:txBody>
                    <a:bodyPr/>
                    <a:lstStyle/>
                    <a:p>
                      <a:pPr lvl="0" indent="0" marL="0" algn="r">
                        <a:buNone/>
                      </a:pPr>
                      <a:r>
                        <a:rPr/>
                        <a:t>-0.21</a:t>
                      </a:r>
                    </a:p>
                  </a:txBody>
                </a:tc>
                <a:tc>
                  <a:txBody>
                    <a:bodyPr/>
                    <a:lstStyle/>
                    <a:p>
                      <a:pPr lvl="0" indent="0" marL="0" algn="r">
                        <a:buNone/>
                      </a:pPr>
                      <a:r>
                        <a:rPr/>
                        <a:t>0.20</a:t>
                      </a:r>
                    </a:p>
                  </a:txBody>
                </a:tc>
                <a:tc>
                  <a:txBody>
                    <a:bodyPr/>
                    <a:lstStyle/>
                    <a:p>
                      <a:pPr lvl="0" indent="0" marL="0" algn="r">
                        <a:buNone/>
                      </a:pPr>
                      <a:r>
                        <a:rPr/>
                        <a:t>0.19</a:t>
                      </a:r>
                    </a:p>
                  </a:txBody>
                </a:tc>
              </a:tr>
              <a:tr h="0">
                <a:tc>
                  <a:txBody>
                    <a:bodyPr/>
                    <a:lstStyle/>
                    <a:p>
                      <a:pPr lvl="0" indent="0" marL="0" algn="l">
                        <a:buNone/>
                      </a:pPr>
                      <a:r>
                        <a:rPr/>
                        <a:t>Elastic net, nested block CV on rank</a:t>
                      </a:r>
                    </a:p>
                  </a:txBody>
                </a:tc>
                <a:tc>
                  <a:txBody>
                    <a:bodyPr/>
                    <a:lstStyle/>
                    <a:p>
                      <a:pPr lvl="0" indent="0" marL="0" algn="r">
                        <a:buNone/>
                      </a:pPr>
                      <a:r>
                        <a:rPr/>
                        <a:t>0.35</a:t>
                      </a:r>
                    </a:p>
                  </a:txBody>
                </a:tc>
                <a:tc>
                  <a:txBody>
                    <a:bodyPr/>
                    <a:lstStyle/>
                    <a:p>
                      <a:pPr lvl="0" indent="0" marL="0" algn="r">
                        <a:buNone/>
                      </a:pPr>
                      <a:r>
                        <a:rPr/>
                        <a:t>0.21</a:t>
                      </a:r>
                    </a:p>
                  </a:txBody>
                </a:tc>
                <a:tc>
                  <a:txBody>
                    <a:bodyPr/>
                    <a:lstStyle/>
                    <a:p>
                      <a:pPr lvl="0" indent="0" marL="0" algn="r">
                        <a:buNone/>
                      </a:pPr>
                      <a:r>
                        <a:rPr/>
                        <a:t>0.33</a:t>
                      </a:r>
                    </a:p>
                  </a:txBody>
                </a:tc>
                <a:tc>
                  <a:txBody>
                    <a:bodyPr/>
                    <a:lstStyle/>
                    <a:p>
                      <a:pPr lvl="0" indent="0" marL="0" algn="r">
                        <a:buNone/>
                      </a:pPr>
                      <a:r>
                        <a:rPr/>
                        <a:t>0.19</a:t>
                      </a:r>
                    </a:p>
                  </a:txBody>
                </a:tc>
                <a:tc>
                  <a:txBody>
                    <a:bodyPr/>
                    <a:lstStyle/>
                    <a:p>
                      <a:pPr lvl="0" indent="0" marL="0" algn="r">
                        <a:buNone/>
                      </a:pPr>
                      <a:r>
                        <a:rPr/>
                        <a:t>0.19</a:t>
                      </a:r>
                    </a:p>
                  </a:txBody>
                </a:tc>
                <a:tc>
                  <a:txBody>
                    <a:bodyPr/>
                    <a:lstStyle/>
                    <a:p>
                      <a:pPr lvl="0" indent="0" marL="0" algn="r">
                        <a:buNone/>
                      </a:pPr>
                      <a:r>
                        <a:rPr/>
                        <a:t>0.09</a:t>
                      </a:r>
                    </a:p>
                  </a:txBody>
                </a:tc>
              </a:tr>
              <a:tr h="0">
                <a:tc>
                  <a:txBody>
                    <a:bodyPr/>
                    <a:lstStyle/>
                    <a:p>
                      <a:pPr lvl="0" indent="0" marL="0" algn="l">
                        <a:buNone/>
                      </a:pPr>
                      <a:r>
                        <a:rPr/>
                        <a:t>Lasso, lambda.min</a:t>
                      </a:r>
                    </a:p>
                  </a:txBody>
                </a:tc>
                <a:tc>
                  <a:txBody>
                    <a:bodyPr/>
                    <a:lstStyle/>
                    <a:p>
                      <a:pPr lvl="0" indent="0" marL="0" algn="r">
                        <a:buNone/>
                      </a:pPr>
                      <a:r>
                        <a:rPr/>
                        <a:t>0.34</a:t>
                      </a:r>
                    </a:p>
                  </a:txBody>
                </a:tc>
                <a:tc>
                  <a:txBody>
                    <a:bodyPr/>
                    <a:lstStyle/>
                    <a:p>
                      <a:pPr lvl="0" indent="0" marL="0" algn="r">
                        <a:buNone/>
                      </a:pPr>
                      <a:r>
                        <a:rPr/>
                        <a:t>0.20</a:t>
                      </a:r>
                    </a:p>
                  </a:txBody>
                </a:tc>
                <a:tc>
                  <a:txBody>
                    <a:bodyPr/>
                    <a:lstStyle/>
                    <a:p>
                      <a:pPr lvl="0" indent="0" marL="0" algn="r">
                        <a:buNone/>
                      </a:pPr>
                      <a:r>
                        <a:rPr/>
                        <a:t>0.30</a:t>
                      </a:r>
                    </a:p>
                  </a:txBody>
                </a:tc>
                <a:tc>
                  <a:txBody>
                    <a:bodyPr/>
                    <a:lstStyle/>
                    <a:p>
                      <a:pPr lvl="0" indent="0" marL="0" algn="r">
                        <a:buNone/>
                      </a:pPr>
                      <a:r>
                        <a:rPr/>
                        <a:t>0.10</a:t>
                      </a:r>
                    </a:p>
                  </a:txBody>
                </a:tc>
                <a:tc>
                  <a:txBody>
                    <a:bodyPr/>
                    <a:lstStyle/>
                    <a:p>
                      <a:pPr lvl="0" indent="0" marL="0" algn="r">
                        <a:buNone/>
                      </a:pPr>
                      <a:r>
                        <a:rPr/>
                        <a:t>0.23</a:t>
                      </a:r>
                    </a:p>
                  </a:txBody>
                </a:tc>
                <a:tc>
                  <a:txBody>
                    <a:bodyPr/>
                    <a:lstStyle/>
                    <a:p>
                      <a:pPr lvl="0" indent="0" marL="0" algn="r">
                        <a:buNone/>
                      </a:pPr>
                      <a:r>
                        <a:rPr/>
                        <a:t>0.15</a:t>
                      </a:r>
                    </a:p>
                  </a:txBody>
                </a:tc>
              </a:tr>
              <a:tr h="0">
                <a:tc>
                  <a:txBody>
                    <a:bodyPr/>
                    <a:lstStyle/>
                    <a:p>
                      <a:pPr lvl="0" indent="0" marL="0" algn="l">
                        <a:buNone/>
                      </a:pPr>
                      <a:r>
                        <a:rPr/>
                        <a:t>Lasso, lambda.1se</a:t>
                      </a:r>
                    </a:p>
                  </a:txBody>
                </a:tc>
                <a:tc>
                  <a:txBody>
                    <a:bodyPr/>
                    <a:lstStyle/>
                    <a:p>
                      <a:pPr lvl="0" indent="0" marL="0" algn="r">
                        <a:buNone/>
                      </a:pPr>
                      <a:r>
                        <a:rPr/>
                        <a:t>0.21</a:t>
                      </a:r>
                    </a:p>
                  </a:txBody>
                </a:tc>
                <a:tc>
                  <a:txBody>
                    <a:bodyPr/>
                    <a:lstStyle/>
                    <a:p>
                      <a:pPr lvl="0" indent="0" marL="0" algn="r">
                        <a:buNone/>
                      </a:pPr>
                      <a:r>
                        <a:rPr/>
                        <a:t>0.00</a:t>
                      </a:r>
                    </a:p>
                  </a:txBody>
                </a:tc>
                <a:tc>
                  <a:txBody>
                    <a:bodyPr/>
                    <a:lstStyle/>
                    <a:p>
                      <a:pPr lvl="0" indent="0" marL="0" algn="r">
                        <a:buNone/>
                      </a:pPr>
                      <a:r>
                        <a:rPr/>
                        <a:t>0.01</a:t>
                      </a:r>
                    </a:p>
                  </a:txBody>
                </a:tc>
                <a:tc>
                  <a:txBody>
                    <a:bodyPr/>
                    <a:lstStyle/>
                    <a:p>
                      <a:pPr lvl="0" indent="0" marL="0" algn="r">
                        <a:buNone/>
                      </a:pPr>
                      <a:r>
                        <a:rPr/>
                        <a:t>-0.21</a:t>
                      </a:r>
                    </a:p>
                  </a:txBody>
                </a:tc>
                <a:tc>
                  <a:txBody>
                    <a:bodyPr/>
                    <a:lstStyle/>
                    <a:p>
                      <a:pPr lvl="0" indent="0" marL="0" algn="r">
                        <a:buNone/>
                      </a:pPr>
                      <a:r>
                        <a:rPr/>
                        <a:t>0.22</a:t>
                      </a:r>
                    </a:p>
                  </a:txBody>
                </a:tc>
                <a:tc>
                  <a:txBody>
                    <a:bodyPr/>
                    <a:lstStyle/>
                    <a:p>
                      <a:pPr lvl="0" indent="0" marL="0" algn="r">
                        <a:buNone/>
                      </a:pPr>
                      <a:r>
                        <a:rPr/>
                        <a:t>0.10</a:t>
                      </a:r>
                    </a:p>
                  </a:txBody>
                </a:tc>
              </a:tr>
              <a:tr h="0">
                <a:tc>
                  <a:txBody>
                    <a:bodyPr/>
                    <a:lstStyle/>
                    <a:p>
                      <a:pPr lvl="0" indent="0" marL="0" algn="l">
                        <a:buNone/>
                      </a:pPr>
                      <a:r>
                        <a:rPr/>
                        <a:t>Lasso, nested block CV on rank</a:t>
                      </a:r>
                    </a:p>
                  </a:txBody>
                </a:tc>
                <a:tc>
                  <a:txBody>
                    <a:bodyPr/>
                    <a:lstStyle/>
                    <a:p>
                      <a:pPr lvl="0" indent="0" marL="0" algn="r">
                        <a:buNone/>
                      </a:pPr>
                      <a:r>
                        <a:rPr/>
                        <a:t>0.34</a:t>
                      </a:r>
                    </a:p>
                  </a:txBody>
                </a:tc>
                <a:tc>
                  <a:txBody>
                    <a:bodyPr/>
                    <a:lstStyle/>
                    <a:p>
                      <a:pPr lvl="0" indent="0" marL="0" algn="r">
                        <a:buNone/>
                      </a:pPr>
                      <a:r>
                        <a:rPr/>
                        <a:t>0.21</a:t>
                      </a:r>
                    </a:p>
                  </a:txBody>
                </a:tc>
                <a:tc>
                  <a:txBody>
                    <a:bodyPr/>
                    <a:lstStyle/>
                    <a:p>
                      <a:pPr lvl="0" indent="0" marL="0" algn="r">
                        <a:buNone/>
                      </a:pPr>
                      <a:r>
                        <a:rPr/>
                        <a:t>0.32</a:t>
                      </a:r>
                    </a:p>
                  </a:txBody>
                </a:tc>
                <a:tc>
                  <a:txBody>
                    <a:bodyPr/>
                    <a:lstStyle/>
                    <a:p>
                      <a:pPr lvl="0" indent="0" marL="0" algn="r">
                        <a:buNone/>
                      </a:pPr>
                      <a:r>
                        <a:rPr/>
                        <a:t>0.18</a:t>
                      </a:r>
                    </a:p>
                  </a:txBody>
                </a:tc>
                <a:tc>
                  <a:txBody>
                    <a:bodyPr/>
                    <a:lstStyle/>
                    <a:p>
                      <a:pPr lvl="0" indent="0" marL="0" algn="r">
                        <a:buNone/>
                      </a:pPr>
                      <a:r>
                        <a:rPr/>
                        <a:t>0.20</a:t>
                      </a:r>
                    </a:p>
                  </a:txBody>
                </a:tc>
                <a:tc>
                  <a:txBody>
                    <a:bodyPr/>
                    <a:lstStyle/>
                    <a:p>
                      <a:pPr lvl="0" indent="0" marL="0" algn="r">
                        <a:buNone/>
                      </a:pPr>
                      <a:r>
                        <a:rPr/>
                        <a:t>0.11</a:t>
                      </a:r>
                    </a:p>
                  </a:txBody>
                </a:tc>
              </a:tr>
              <a:tr h="0">
                <a:tc>
                  <a:txBody>
                    <a:bodyPr/>
                    <a:lstStyle/>
                    <a:p>
                      <a:pPr lvl="0" indent="0" marL="0" algn="l">
                        <a:buNone/>
                      </a:pPr>
                      <a:r>
                        <a:rPr/>
                        <a:t>Ridge, nested rank CV, one-SE rule</a:t>
                      </a:r>
                    </a:p>
                  </a:txBody>
                </a:tc>
                <a:tc>
                  <a:txBody>
                    <a:bodyPr/>
                    <a:lstStyle/>
                    <a:p>
                      <a:pPr lvl="0" indent="0" marL="0" algn="r">
                        <a:buNone/>
                      </a:pPr>
                      <a:r>
                        <a:rPr/>
                        <a:t>0.31</a:t>
                      </a:r>
                    </a:p>
                  </a:txBody>
                </a:tc>
                <a:tc>
                  <a:txBody>
                    <a:bodyPr/>
                    <a:lstStyle/>
                    <a:p>
                      <a:pPr lvl="0" indent="0" marL="0" algn="r">
                        <a:buNone/>
                      </a:pPr>
                      <a:r>
                        <a:rPr/>
                        <a:t>0.21</a:t>
                      </a:r>
                    </a:p>
                  </a:txBody>
                </a:tc>
                <a:tc>
                  <a:txBody>
                    <a:bodyPr/>
                    <a:lstStyle/>
                    <a:p>
                      <a:pPr lvl="0" indent="0" marL="0" algn="r">
                        <a:buNone/>
                      </a:pPr>
                      <a:r>
                        <a:rPr/>
                        <a:t>0.27</a:t>
                      </a:r>
                    </a:p>
                  </a:txBody>
                </a:tc>
                <a:tc>
                  <a:txBody>
                    <a:bodyPr/>
                    <a:lstStyle/>
                    <a:p>
                      <a:pPr lvl="0" indent="0" marL="0" algn="r">
                        <a:buNone/>
                      </a:pPr>
                      <a:r>
                        <a:rPr/>
                        <a:t>0.11</a:t>
                      </a:r>
                    </a:p>
                  </a:txBody>
                </a:tc>
                <a:tc>
                  <a:txBody>
                    <a:bodyPr/>
                    <a:lstStyle/>
                    <a:p>
                      <a:pPr lvl="0" indent="0" marL="0" algn="r">
                        <a:buNone/>
                      </a:pPr>
                      <a:r>
                        <a:rPr/>
                        <a:t>0.29</a:t>
                      </a:r>
                    </a:p>
                  </a:txBody>
                </a:tc>
                <a:tc>
                  <a:txBody>
                    <a:bodyPr/>
                    <a:lstStyle/>
                    <a:p>
                      <a:pPr lvl="0" indent="0" marL="0" algn="r">
                        <a:buNone/>
                      </a:pPr>
                      <a:r>
                        <a:rPr/>
                        <a:t>0.14</a:t>
                      </a:r>
                    </a:p>
                  </a:txBody>
                </a:tc>
              </a:tr>
              <a:tr h="0">
                <a:tc>
                  <a:txBody>
                    <a:bodyPr/>
                    <a:lstStyle/>
                    <a:p>
                      <a:pPr lvl="0" indent="0" marL="0" algn="l">
                        <a:buNone/>
                      </a:pPr>
                      <a:r>
                        <a:rPr/>
                        <a:t>Elastic net, nested rank CV, one-SE rule</a:t>
                      </a:r>
                    </a:p>
                  </a:txBody>
                </a:tc>
                <a:tc>
                  <a:txBody>
                    <a:bodyPr/>
                    <a:lstStyle/>
                    <a:p>
                      <a:pPr lvl="0" indent="0" marL="0" algn="r">
                        <a:buNone/>
                      </a:pPr>
                      <a:r>
                        <a:rPr/>
                        <a:t>0.34</a:t>
                      </a:r>
                    </a:p>
                  </a:txBody>
                </a:tc>
                <a:tc>
                  <a:txBody>
                    <a:bodyPr/>
                    <a:lstStyle/>
                    <a:p>
                      <a:pPr lvl="0" indent="0" marL="0" algn="r">
                        <a:buNone/>
                      </a:pPr>
                      <a:r>
                        <a:rPr/>
                        <a:t>0.22</a:t>
                      </a:r>
                    </a:p>
                  </a:txBody>
                </a:tc>
                <a:tc>
                  <a:txBody>
                    <a:bodyPr/>
                    <a:lstStyle/>
                    <a:p>
                      <a:pPr lvl="0" indent="0" marL="0" algn="r">
                        <a:buNone/>
                      </a:pPr>
                      <a:r>
                        <a:rPr/>
                        <a:t>0.31</a:t>
                      </a:r>
                    </a:p>
                  </a:txBody>
                </a:tc>
                <a:tc>
                  <a:txBody>
                    <a:bodyPr/>
                    <a:lstStyle/>
                    <a:p>
                      <a:pPr lvl="0" indent="0" marL="0" algn="r">
                        <a:buNone/>
                      </a:pPr>
                      <a:r>
                        <a:rPr/>
                        <a:t>0.21</a:t>
                      </a:r>
                    </a:p>
                  </a:txBody>
                </a:tc>
                <a:tc>
                  <a:txBody>
                    <a:bodyPr/>
                    <a:lstStyle/>
                    <a:p>
                      <a:pPr lvl="0" indent="0" marL="0" algn="r">
                        <a:buNone/>
                      </a:pPr>
                      <a:r>
                        <a:rPr/>
                        <a:t>0.28</a:t>
                      </a:r>
                    </a:p>
                  </a:txBody>
                </a:tc>
                <a:tc>
                  <a:txBody>
                    <a:bodyPr/>
                    <a:lstStyle/>
                    <a:p>
                      <a:pPr lvl="0" indent="0" marL="0" algn="r">
                        <a:buNone/>
                      </a:pPr>
                      <a:r>
                        <a:rPr/>
                        <a:t>0.18</a:t>
                      </a:r>
                    </a:p>
                  </a:txBody>
                </a:tc>
              </a:tr>
              <a:tr h="0">
                <a:tc>
                  <a:txBody>
                    <a:bodyPr/>
                    <a:lstStyle/>
                    <a:p>
                      <a:pPr lvl="0" indent="0" marL="0" algn="l">
                        <a:buNone/>
                      </a:pPr>
                      <a:r>
                        <a:rPr/>
                        <a:t>Lasso, nested rank CV, one-SE rule</a:t>
                      </a:r>
                    </a:p>
                  </a:txBody>
                </a:tc>
                <a:tc>
                  <a:txBody>
                    <a:bodyPr/>
                    <a:lstStyle/>
                    <a:p>
                      <a:pPr lvl="0" indent="0" marL="0" algn="r">
                        <a:buNone/>
                      </a:pPr>
                      <a:r>
                        <a:rPr/>
                        <a:t>0.35</a:t>
                      </a:r>
                    </a:p>
                  </a:txBody>
                </a:tc>
                <a:tc>
                  <a:txBody>
                    <a:bodyPr/>
                    <a:lstStyle/>
                    <a:p>
                      <a:pPr lvl="0" indent="0" marL="0" algn="r">
                        <a:buNone/>
                      </a:pPr>
                      <a:r>
                        <a:rPr/>
                        <a:t>0.21</a:t>
                      </a:r>
                    </a:p>
                  </a:txBody>
                </a:tc>
                <a:tc>
                  <a:txBody>
                    <a:bodyPr/>
                    <a:lstStyle/>
                    <a:p>
                      <a:pPr lvl="0" indent="0" marL="0" algn="r">
                        <a:buNone/>
                      </a:pPr>
                      <a:r>
                        <a:rPr/>
                        <a:t>0.31</a:t>
                      </a:r>
                    </a:p>
                  </a:txBody>
                </a:tc>
                <a:tc>
                  <a:txBody>
                    <a:bodyPr/>
                    <a:lstStyle/>
                    <a:p>
                      <a:pPr lvl="0" indent="0" marL="0" algn="r">
                        <a:buNone/>
                      </a:pPr>
                      <a:r>
                        <a:rPr/>
                        <a:t>0.21</a:t>
                      </a:r>
                    </a:p>
                  </a:txBody>
                </a:tc>
                <a:tc>
                  <a:txBody>
                    <a:bodyPr/>
                    <a:lstStyle/>
                    <a:p>
                      <a:pPr lvl="0" indent="0" marL="0" algn="r">
                        <a:buNone/>
                      </a:pPr>
                      <a:r>
                        <a:rPr/>
                        <a:t>0.28</a:t>
                      </a:r>
                    </a:p>
                  </a:txBody>
                </a:tc>
                <a:tc>
                  <a:txBody>
                    <a:bodyPr/>
                    <a:lstStyle/>
                    <a:p>
                      <a:pPr lvl="0" indent="0" marL="0" algn="r">
                        <a:buNone/>
                      </a:pPr>
                      <a:r>
                        <a:rPr/>
                        <a:t>0.16</a:t>
                      </a:r>
                    </a:p>
                  </a:txBody>
                </a:tc>
              </a:tr>
              <a:tr h="0">
                <a:tc>
                  <a:txBody>
                    <a:bodyPr/>
                    <a:lstStyle/>
                    <a:p>
                      <a:pPr lvl="0" indent="0" marL="0" algn="l">
                        <a:buNone/>
                      </a:pPr>
                      <a:r>
                        <a:rPr/>
                        <a:t>Sparse: top 5 predictors, equal weights</a:t>
                      </a:r>
                    </a:p>
                  </a:txBody>
                </a:tc>
                <a:tc>
                  <a:txBody>
                    <a:bodyPr/>
                    <a:lstStyle/>
                    <a:p>
                      <a:pPr lvl="0" indent="0" marL="0" algn="r">
                        <a:buNone/>
                      </a:pPr>
                      <a:r>
                        <a:rPr/>
                        <a:t>0.33</a:t>
                      </a:r>
                    </a:p>
                  </a:txBody>
                </a:tc>
                <a:tc>
                  <a:txBody>
                    <a:bodyPr/>
                    <a:lstStyle/>
                    <a:p>
                      <a:pPr lvl="0" indent="0" marL="0" algn="r">
                        <a:buNone/>
                      </a:pPr>
                      <a:r>
                        <a:rPr/>
                        <a:t>0.21</a:t>
                      </a:r>
                    </a:p>
                  </a:txBody>
                </a:tc>
                <a:tc>
                  <a:txBody>
                    <a:bodyPr/>
                    <a:lstStyle/>
                    <a:p>
                      <a:pPr lvl="0" indent="0" marL="0" algn="r">
                        <a:buNone/>
                      </a:pPr>
                      <a:r>
                        <a:rPr/>
                        <a:t>0.28</a:t>
                      </a:r>
                    </a:p>
                  </a:txBody>
                </a:tc>
                <a:tc>
                  <a:txBody>
                    <a:bodyPr/>
                    <a:lstStyle/>
                    <a:p>
                      <a:pPr lvl="0" indent="0" marL="0" algn="r">
                        <a:buNone/>
                      </a:pPr>
                      <a:r>
                        <a:rPr/>
                        <a:t>0.20</a:t>
                      </a:r>
                    </a:p>
                  </a:txBody>
                </a:tc>
                <a:tc>
                  <a:txBody>
                    <a:bodyPr/>
                    <a:lstStyle/>
                    <a:p>
                      <a:pPr lvl="0" indent="0" marL="0" algn="r">
                        <a:buNone/>
                      </a:pPr>
                      <a:r>
                        <a:rPr/>
                        <a:t>0.10</a:t>
                      </a:r>
                    </a:p>
                  </a:txBody>
                </a:tc>
                <a:tc>
                  <a:txBody>
                    <a:bodyPr/>
                    <a:lstStyle/>
                    <a:p>
                      <a:pPr lvl="0" indent="0" marL="0" algn="r">
                        <a:buNone/>
                      </a:pPr>
                      <a:r>
                        <a:rPr/>
                        <a:t>0.08</a:t>
                      </a:r>
                    </a:p>
                  </a:txBody>
                </a:tc>
              </a:tr>
              <a:tr h="0">
                <a:tc>
                  <a:txBody>
                    <a:bodyPr/>
                    <a:lstStyle/>
                    <a:p>
                      <a:pPr lvl="0" indent="0" marL="0" algn="l">
                        <a:buNone/>
                      </a:pPr>
                      <a:r>
                        <a:rPr/>
                        <a:t>Sparse: top 10, equal weights</a:t>
                      </a:r>
                    </a:p>
                  </a:txBody>
                </a:tc>
                <a:tc>
                  <a:txBody>
                    <a:bodyPr/>
                    <a:lstStyle/>
                    <a:p>
                      <a:pPr lvl="0" indent="0" marL="0" algn="r">
                        <a:buNone/>
                      </a:pPr>
                      <a:r>
                        <a:rPr/>
                        <a:t>0.36</a:t>
                      </a:r>
                    </a:p>
                  </a:txBody>
                </a:tc>
                <a:tc>
                  <a:txBody>
                    <a:bodyPr/>
                    <a:lstStyle/>
                    <a:p>
                      <a:pPr lvl="0" indent="0" marL="0" algn="r">
                        <a:buNone/>
                      </a:pPr>
                      <a:r>
                        <a:rPr/>
                        <a:t>0.25</a:t>
                      </a:r>
                    </a:p>
                  </a:txBody>
                </a:tc>
                <a:tc>
                  <a:txBody>
                    <a:bodyPr/>
                    <a:lstStyle/>
                    <a:p>
                      <a:pPr lvl="0" indent="0" marL="0" algn="r">
                        <a:buNone/>
                      </a:pPr>
                      <a:r>
                        <a:rPr/>
                        <a:t>0.32</a:t>
                      </a:r>
                    </a:p>
                  </a:txBody>
                </a:tc>
                <a:tc>
                  <a:txBody>
                    <a:bodyPr/>
                    <a:lstStyle/>
                    <a:p>
                      <a:pPr lvl="0" indent="0" marL="0" algn="r">
                        <a:buNone/>
                      </a:pPr>
                      <a:r>
                        <a:rPr/>
                        <a:t>0.18</a:t>
                      </a:r>
                    </a:p>
                  </a:txBody>
                </a:tc>
                <a:tc>
                  <a:txBody>
                    <a:bodyPr/>
                    <a:lstStyle/>
                    <a:p>
                      <a:pPr lvl="0" indent="0" marL="0" algn="r">
                        <a:buNone/>
                      </a:pPr>
                      <a:r>
                        <a:rPr/>
                        <a:t>0.16</a:t>
                      </a:r>
                    </a:p>
                  </a:txBody>
                </a:tc>
                <a:tc>
                  <a:txBody>
                    <a:bodyPr/>
                    <a:lstStyle/>
                    <a:p>
                      <a:pPr lvl="0" indent="0" marL="0" algn="r">
                        <a:buNone/>
                      </a:pPr>
                      <a:r>
                        <a:rPr/>
                        <a:t>0.12</a:t>
                      </a:r>
                    </a:p>
                  </a:txBody>
                </a:tc>
              </a:tr>
              <a:tr h="0">
                <a:tc>
                  <a:txBody>
                    <a:bodyPr/>
                    <a:lstStyle/>
                    <a:p>
                      <a:pPr lvl="0" indent="0" marL="0" algn="l">
                        <a:buNone/>
                      </a:pPr>
                      <a:r>
                        <a:rPr/>
                        <a:t>Sparse: top 20, equal weights</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0.34</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0.16</a:t>
                      </a:r>
                    </a:p>
                  </a:txBody>
                </a:tc>
              </a:tr>
              <a:tr h="0">
                <a:tc>
                  <a:txBody>
                    <a:bodyPr/>
                    <a:lstStyle/>
                    <a:p>
                      <a:pPr lvl="0" indent="0" marL="0" algn="l">
                        <a:buNone/>
                      </a:pPr>
                      <a:r>
                        <a:rPr/>
                        <a:t>Sparse: top 10, index weights</a:t>
                      </a:r>
                    </a:p>
                  </a:txBody>
                </a:tc>
                <a:tc>
                  <a:txBody>
                    <a:bodyPr/>
                    <a:lstStyle/>
                    <a:p>
                      <a:pPr lvl="0" indent="0" marL="0" algn="r">
                        <a:buNone/>
                      </a:pPr>
                      <a:r>
                        <a:rPr/>
                        <a:t>0.35</a:t>
                      </a:r>
                    </a:p>
                  </a:txBody>
                </a:tc>
                <a:tc>
                  <a:txBody>
                    <a:bodyPr/>
                    <a:lstStyle/>
                    <a:p>
                      <a:pPr lvl="0" indent="0" marL="0" algn="r">
                        <a:buNone/>
                      </a:pPr>
                      <a:r>
                        <a:rPr/>
                        <a:t>0.24</a:t>
                      </a:r>
                    </a:p>
                  </a:txBody>
                </a:tc>
                <a:tc>
                  <a:txBody>
                    <a:bodyPr/>
                    <a:lstStyle/>
                    <a:p>
                      <a:pPr lvl="0" indent="0" marL="0" algn="r">
                        <a:buNone/>
                      </a:pPr>
                      <a:r>
                        <a:rPr/>
                        <a:t>0.31</a:t>
                      </a:r>
                    </a:p>
                  </a:txBody>
                </a:tc>
                <a:tc>
                  <a:txBody>
                    <a:bodyPr/>
                    <a:lstStyle/>
                    <a:p>
                      <a:pPr lvl="0" indent="0" marL="0" algn="r">
                        <a:buNone/>
                      </a:pPr>
                      <a:r>
                        <a:rPr/>
                        <a:t>0.18</a:t>
                      </a:r>
                    </a:p>
                  </a:txBody>
                </a:tc>
                <a:tc>
                  <a:txBody>
                    <a:bodyPr/>
                    <a:lstStyle/>
                    <a:p>
                      <a:pPr lvl="0" indent="0" marL="0" algn="r">
                        <a:buNone/>
                      </a:pPr>
                      <a:r>
                        <a:rPr/>
                        <a:t>0.16</a:t>
                      </a:r>
                    </a:p>
                  </a:txBody>
                </a:tc>
                <a:tc>
                  <a:txBody>
                    <a:bodyPr/>
                    <a:lstStyle/>
                    <a:p>
                      <a:pPr lvl="0" indent="0" marL="0" algn="r">
                        <a:buNone/>
                      </a:pPr>
                      <a:r>
                        <a:rPr/>
                        <a:t>0.12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index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index weights,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3898900"/>
                <a:gridCol w="1955800"/>
                <a:gridCol w="647700"/>
                <a:gridCol w="10795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9.4</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9.2</a:t>
                      </a:r>
                    </a:p>
                  </a:txBody>
                </a:tc>
              </a:tr>
              <a:tr h="0">
                <a:tc>
                  <a:txBody>
                    <a:bodyPr/>
                    <a:lstStyle/>
                    <a:p>
                      <a:pPr lvl="0" indent="0" marL="0" algn="l">
                        <a:buNone/>
                      </a:pPr>
                      <a:r>
                        <a:rPr/>
                        <a:t>ihme_underweightprevalence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2.3</a:t>
                      </a:r>
                    </a:p>
                  </a:txBody>
                </a:tc>
              </a:tr>
              <a:tr h="0">
                <a:tc>
                  <a:txBody>
                    <a:bodyPr/>
                    <a:lstStyle/>
                    <a:p>
                      <a:pPr lvl="0" indent="0" marL="0" algn="l">
                        <a:buNone/>
                      </a:pPr>
                      <a:r>
                        <a:rPr/>
                        <a:t>dhs_w_working</a:t>
                      </a:r>
                    </a:p>
                  </a:txBody>
                </a:tc>
                <a:tc>
                  <a:txBody>
                    <a:bodyPr/>
                    <a:lstStyle/>
                    <a:p>
                      <a:pPr lvl="0" indent="0" marL="0" algn="l">
                        <a:buNone/>
                      </a:pPr>
                      <a:r>
                        <a:rPr/>
                        <a:t>Education, employment, SES</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4.0</a:t>
                      </a:r>
                    </a:p>
                  </a:txBody>
                </a:tc>
              </a:tr>
              <a:tr h="0">
                <a:tc>
                  <a:txBody>
                    <a:bodyPr/>
                    <a:lstStyle/>
                    <a:p>
                      <a:pPr lvl="0" indent="0" marL="0" algn="l">
                        <a:buNone/>
                      </a:pPr>
                      <a:r>
                        <a:rPr/>
                        <a:t>ihme_stuntingprevalence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4.3</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5.7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7.3</a:t>
                      </a:r>
                    </a:p>
                  </a:txBody>
                </a:tc>
              </a:tr>
              <a:tr h="0">
                <a:tc>
                  <a:txBody>
                    <a:bodyPr/>
                    <a:lstStyle/>
                    <a:p>
                      <a:pPr lvl="0" indent="0" marL="0" algn="l">
                        <a:buNone/>
                      </a:pPr>
                      <a:r>
                        <a:rPr/>
                        <a:t>ihme_wastingprevalence</a:t>
                      </a:r>
                    </a:p>
                  </a:txBody>
                </a:tc>
                <a:tc>
                  <a:txBody>
                    <a:bodyPr/>
                    <a:lstStyle/>
                    <a:p>
                      <a:pPr lvl="0" indent="0" marL="0" algn="l">
                        <a:buNone/>
                      </a:pPr>
                      <a:r>
                        <a:rPr/>
                        <a:t>Nutrition status (MODELLED SURFACE)</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16.0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twenty-predictor composite transports as well as the full index</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1231900"/>
                <a:gridCol w="1231900"/>
                <a:gridCol w="1143000"/>
                <a:gridCol w="1143000"/>
                <a:gridCol w="1409700"/>
                <a:gridCol w="1409700"/>
              </a:tblGrid>
              <a:tr h="0">
                <a:tc>
                  <a:txBody>
                    <a:bodyPr/>
                    <a:lstStyle/>
                    <a:p>
                      <a:pPr lvl="0" indent="0" marL="0" algn="l">
                        <a:buNone/>
                      </a:pPr>
                      <a:r>
                        <a:rPr/>
                        <a:t>Model</a:t>
                      </a:r>
                    </a:p>
                  </a:txBody>
                  <a:tcPr/>
                </a:tc>
                <a:tc>
                  <a:txBody>
                    <a:bodyPr/>
                    <a:lstStyle/>
                    <a:p>
                      <a:pPr lvl="0" indent="0" marL="0" algn="r">
                        <a:buNone/>
                      </a:pPr>
                      <a:r>
                        <a:rPr/>
                        <a:t>In-fill level</a:t>
                      </a:r>
                    </a:p>
                  </a:txBody>
                  <a:tcPr/>
                </a:tc>
                <a:tc>
                  <a:txBody>
                    <a:bodyPr/>
                    <a:lstStyle/>
                    <a:p>
                      <a:pPr lvl="0" indent="0" marL="0" algn="r">
                        <a:buNone/>
                      </a:pPr>
                      <a:r>
                        <a:rPr/>
                        <a:t>In-fill prev.</a:t>
                      </a:r>
                    </a:p>
                  </a:txBody>
                  <a:tcPr/>
                </a:tc>
                <a:tc>
                  <a:txBody>
                    <a:bodyPr/>
                    <a:lstStyle/>
                    <a:p>
                      <a:pPr lvl="0" indent="0" marL="0" algn="r">
                        <a:buNone/>
                      </a:pPr>
                      <a:r>
                        <a:rPr/>
                        <a:t>Region level</a:t>
                      </a:r>
                    </a:p>
                  </a:txBody>
                  <a:tcPr/>
                </a:tc>
                <a:tc>
                  <a:txBody>
                    <a:bodyPr/>
                    <a:lstStyle/>
                    <a:p>
                      <a:pPr lvl="0" indent="0" marL="0" algn="r">
                        <a:buNone/>
                      </a:pPr>
                      <a:r>
                        <a:rPr/>
                        <a:t>Region prev.</a:t>
                      </a:r>
                    </a:p>
                  </a:txBody>
                  <a:tcPr/>
                </a:tc>
                <a:tc>
                  <a:txBody>
                    <a:bodyPr/>
                    <a:lstStyle/>
                    <a:p>
                      <a:pPr lvl="0" indent="0" marL="0" algn="r">
                        <a:buNone/>
                      </a:pPr>
                      <a:r>
                        <a:rPr/>
                        <a:t>Transport level</a:t>
                      </a:r>
                    </a:p>
                  </a:txBody>
                  <a:tcPr/>
                </a:tc>
                <a:tc>
                  <a:txBody>
                    <a:bodyPr/>
                    <a:lstStyle/>
                    <a:p>
                      <a:pPr lvl="0" indent="0" marL="0" algn="r">
                        <a:buNone/>
                      </a:pPr>
                      <a:r>
                        <a:rPr/>
                        <a:t>Transport prev.</a:t>
                      </a:r>
                    </a:p>
                  </a:txBody>
                  <a:tcPr/>
                </a:tc>
              </a:tr>
              <a:tr h="0">
                <a:tc>
                  <a:txBody>
                    <a:bodyPr/>
                    <a:lstStyle/>
                    <a:p>
                      <a:pPr lvl="0" indent="0" marL="0" algn="l">
                        <a:buNone/>
                      </a:pPr>
                      <a:r>
                        <a:rPr/>
                        <a:t>Full index (all 454 columns)</a:t>
                      </a:r>
                    </a:p>
                  </a:txBody>
                </a:tc>
                <a:tc>
                  <a:txBody>
                    <a:bodyPr/>
                    <a:lstStyle/>
                    <a:p>
                      <a:pPr lvl="0" indent="0" marL="0" algn="r">
                        <a:buNone/>
                      </a:pPr>
                      <a:r>
                        <a:rPr/>
                        <a:t>0.40</a:t>
                      </a:r>
                    </a:p>
                  </a:txBody>
                </a:tc>
                <a:tc>
                  <a:txBody>
                    <a:bodyPr/>
                    <a:lstStyle/>
                    <a:p>
                      <a:pPr lvl="0" indent="0" marL="0" algn="r">
                        <a:buNone/>
                      </a:pPr>
                      <a:r>
                        <a:rPr/>
                        <a:t>0.28</a:t>
                      </a:r>
                    </a:p>
                  </a:txBody>
                </a:tc>
                <a:tc>
                  <a:txBody>
                    <a:bodyPr/>
                    <a:lstStyle/>
                    <a:p>
                      <a:pPr lvl="0" indent="0" marL="0" algn="r">
                        <a:buNone/>
                      </a:pPr>
                      <a:r>
                        <a:rPr/>
                        <a:t>0.38</a:t>
                      </a:r>
                    </a:p>
                  </a:txBody>
                </a:tc>
                <a:tc>
                  <a:txBody>
                    <a:bodyPr/>
                    <a:lstStyle/>
                    <a:p>
                      <a:pPr lvl="0" indent="0" marL="0" algn="r">
                        <a:buNone/>
                      </a:pPr>
                      <a:r>
                        <a:rPr/>
                        <a:t>0.26</a:t>
                      </a:r>
                    </a:p>
                  </a:txBody>
                </a:tc>
                <a:tc>
                  <a:txBody>
                    <a:bodyPr/>
                    <a:lstStyle/>
                    <a:p>
                      <a:pPr lvl="0" indent="0" marL="0" algn="r">
                        <a:buNone/>
                      </a:pPr>
                      <a:r>
                        <a:rPr/>
                        <a:t>0.26</a:t>
                      </a:r>
                    </a:p>
                  </a:txBody>
                </a:tc>
                <a:tc>
                  <a:txBody>
                    <a:bodyPr/>
                    <a:lstStyle/>
                    <a:p>
                      <a:pPr lvl="0" indent="0" marL="0" algn="r">
                        <a:buNone/>
                      </a:pPr>
                      <a:r>
                        <a:rPr/>
                        <a:t>0.18</a:t>
                      </a:r>
                    </a:p>
                  </a:txBody>
                </a:tc>
              </a:tr>
              <a:tr h="0">
                <a:tc>
                  <a:txBody>
                    <a:bodyPr/>
                    <a:lstStyle/>
                    <a:p>
                      <a:pPr lvl="0" indent="0" marL="0" algn="l">
                        <a:buNone/>
                      </a:pPr>
                      <a:r>
                        <a:rPr/>
                        <a:t>Top 20 predictors, equal weights</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0.34</a:t>
                      </a:r>
                    </a:p>
                  </a:txBody>
                </a:tc>
                <a:tc>
                  <a:txBody>
                    <a:bodyPr/>
                    <a:lstStyle/>
                    <a:p>
                      <a:pPr lvl="0" indent="0" marL="0" algn="r">
                        <a:buNone/>
                      </a:pPr>
                      <a:r>
                        <a:rPr/>
                        <a:t>0.23</a:t>
                      </a:r>
                    </a:p>
                  </a:txBody>
                </a:tc>
                <a:tc>
                  <a:txBody>
                    <a:bodyPr/>
                    <a:lstStyle/>
                    <a:p>
                      <a:pPr lvl="0" indent="0" marL="0" algn="r">
                        <a:buNone/>
                      </a:pPr>
                      <a:r>
                        <a:rPr/>
                        <a:t>0.29</a:t>
                      </a:r>
                    </a:p>
                  </a:txBody>
                </a:tc>
                <a:tc>
                  <a:txBody>
                    <a:bodyPr/>
                    <a:lstStyle/>
                    <a:p>
                      <a:pPr lvl="0" indent="0" marL="0" algn="r">
                        <a:buNone/>
                      </a:pPr>
                      <a:r>
                        <a:rPr/>
                        <a:t>0.16</a:t>
                      </a:r>
                    </a:p>
                  </a:txBody>
                </a:tc>
              </a:tr>
              <a:tr h="0">
                <a:tc>
                  <a:txBody>
                    <a:bodyPr/>
                    <a:lstStyle/>
                    <a:p>
                      <a:pPr lvl="0" indent="0" marL="0" algn="l">
                        <a:buNone/>
                      </a:pPr>
                      <a:r>
                        <a:rPr/>
                        <a:t>Top 10, equal weights</a:t>
                      </a:r>
                    </a:p>
                  </a:txBody>
                </a:tc>
                <a:tc>
                  <a:txBody>
                    <a:bodyPr/>
                    <a:lstStyle/>
                    <a:p>
                      <a:pPr lvl="0" indent="0" marL="0" algn="r">
                        <a:buNone/>
                      </a:pPr>
                      <a:r>
                        <a:rPr/>
                        <a:t>0.36</a:t>
                      </a:r>
                    </a:p>
                  </a:txBody>
                </a:tc>
                <a:tc>
                  <a:txBody>
                    <a:bodyPr/>
                    <a:lstStyle/>
                    <a:p>
                      <a:pPr lvl="0" indent="0" marL="0" algn="r">
                        <a:buNone/>
                      </a:pPr>
                      <a:r>
                        <a:rPr/>
                        <a:t>0.25</a:t>
                      </a:r>
                    </a:p>
                  </a:txBody>
                </a:tc>
                <a:tc>
                  <a:txBody>
                    <a:bodyPr/>
                    <a:lstStyle/>
                    <a:p>
                      <a:pPr lvl="0" indent="0" marL="0" algn="r">
                        <a:buNone/>
                      </a:pPr>
                      <a:r>
                        <a:rPr/>
                        <a:t>0.32</a:t>
                      </a:r>
                    </a:p>
                  </a:txBody>
                </a:tc>
                <a:tc>
                  <a:txBody>
                    <a:bodyPr/>
                    <a:lstStyle/>
                    <a:p>
                      <a:pPr lvl="0" indent="0" marL="0" algn="r">
                        <a:buNone/>
                      </a:pPr>
                      <a:r>
                        <a:rPr/>
                        <a:t>0.18</a:t>
                      </a:r>
                    </a:p>
                  </a:txBody>
                </a:tc>
                <a:tc>
                  <a:txBody>
                    <a:bodyPr/>
                    <a:lstStyle/>
                    <a:p>
                      <a:pPr lvl="0" indent="0" marL="0" algn="r">
                        <a:buNone/>
                      </a:pPr>
                      <a:r>
                        <a:rPr/>
                        <a:t>0.16</a:t>
                      </a:r>
                    </a:p>
                  </a:txBody>
                </a:tc>
                <a:tc>
                  <a:txBody>
                    <a:bodyPr/>
                    <a:lstStyle/>
                    <a:p>
                      <a:pPr lvl="0" indent="0" marL="0" algn="r">
                        <a:buNone/>
                      </a:pPr>
                      <a:r>
                        <a:rPr/>
                        <a:t>0.12</a:t>
                      </a:r>
                    </a:p>
                  </a:txBody>
                </a:tc>
              </a:tr>
              <a:tr h="0">
                <a:tc>
                  <a:txBody>
                    <a:bodyPr/>
                    <a:lstStyle/>
                    <a:p>
                      <a:pPr lvl="0" indent="0" marL="0" algn="l">
                        <a:buNone/>
                      </a:pPr>
                      <a:r>
                        <a:rPr/>
                        <a:t>Top 5, equal weights</a:t>
                      </a:r>
                    </a:p>
                  </a:txBody>
                </a:tc>
                <a:tc>
                  <a:txBody>
                    <a:bodyPr/>
                    <a:lstStyle/>
                    <a:p>
                      <a:pPr lvl="0" indent="0" marL="0" algn="r">
                        <a:buNone/>
                      </a:pPr>
                      <a:r>
                        <a:rPr/>
                        <a:t>0.33</a:t>
                      </a:r>
                    </a:p>
                  </a:txBody>
                </a:tc>
                <a:tc>
                  <a:txBody>
                    <a:bodyPr/>
                    <a:lstStyle/>
                    <a:p>
                      <a:pPr lvl="0" indent="0" marL="0" algn="r">
                        <a:buNone/>
                      </a:pPr>
                      <a:r>
                        <a:rPr/>
                        <a:t>0.21</a:t>
                      </a:r>
                    </a:p>
                  </a:txBody>
                </a:tc>
                <a:tc>
                  <a:txBody>
                    <a:bodyPr/>
                    <a:lstStyle/>
                    <a:p>
                      <a:pPr lvl="0" indent="0" marL="0" algn="r">
                        <a:buNone/>
                      </a:pPr>
                      <a:r>
                        <a:rPr/>
                        <a:t>0.28</a:t>
                      </a:r>
                    </a:p>
                  </a:txBody>
                </a:tc>
                <a:tc>
                  <a:txBody>
                    <a:bodyPr/>
                    <a:lstStyle/>
                    <a:p>
                      <a:pPr lvl="0" indent="0" marL="0" algn="r">
                        <a:buNone/>
                      </a:pPr>
                      <a:r>
                        <a:rPr/>
                        <a:t>0.20</a:t>
                      </a:r>
                    </a:p>
                  </a:txBody>
                </a:tc>
                <a:tc>
                  <a:txBody>
                    <a:bodyPr/>
                    <a:lstStyle/>
                    <a:p>
                      <a:pPr lvl="0" indent="0" marL="0" algn="r">
                        <a:buNone/>
                      </a:pPr>
                      <a:r>
                        <a:rPr/>
                        <a:t>0.10</a:t>
                      </a:r>
                    </a:p>
                  </a:txBody>
                </a:tc>
                <a:tc>
                  <a:txBody>
                    <a:bodyPr/>
                    <a:lstStyle/>
                    <a:p>
                      <a:pPr lvl="0" indent="0" marL="0" algn="r">
                        <a:buNone/>
                      </a:pPr>
                      <a:r>
                        <a:rPr/>
                        <a:t>0.08</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child iron composite: twenty predictors, equal weights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13200"/>
                <a:gridCol w="2501900"/>
                <a:gridCol w="2349500"/>
                <a:gridCol w="16637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dhs_w_modern_fp (-)</a:t>
                      </a:r>
                    </a:p>
                  </a:txBody>
                </a:tc>
                <a:tc>
                  <a:txBody>
                    <a:bodyPr/>
                    <a:lstStyle/>
                    <a:p>
                      <a:pPr lvl="0" indent="0" marL="0" algn="l">
                        <a:buNone/>
                      </a:pPr>
                      <a:r>
                        <a:rPr/>
                        <a:t>DHS</a:t>
                      </a:r>
                    </a:p>
                  </a:txBody>
                </a:tc>
              </a:tr>
              <a:tr h="0">
                <a:tc>
                  <a:txBody>
                    <a:bodyPr/>
                    <a:lstStyle/>
                    <a:p>
                      <a:pPr lvl="0" indent="0" marL="0" algn="l">
                        <a:buNone/>
                      </a:pPr>
                      <a:r>
                        <a:rPr/>
                        <a:t>dhs_w_owns_house (-)</a:t>
                      </a:r>
                    </a:p>
                  </a:txBody>
                </a:tc>
                <a:tc>
                  <a:txBody>
                    <a:bodyPr/>
                    <a:lstStyle/>
                    <a:p>
                      <a:pPr lvl="0" indent="0" marL="0" algn="l">
                        <a:buNone/>
                      </a:pPr>
                      <a:r>
                        <a:rPr/>
                        <a:t>DHS</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dhs_w_birth_interval_short (-)</a:t>
                      </a:r>
                    </a:p>
                  </a:txBody>
                </a:tc>
                <a:tc>
                  <a:txBody>
                    <a:bodyPr/>
                    <a:lstStyle/>
                    <a:p>
                      <a:pPr lvl="0" indent="0" marL="0" algn="l">
                        <a:buNone/>
                      </a:pPr>
                      <a:r>
                        <a:rPr/>
                        <a:t>DHS</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dhs_w_health_insurance (+)</a:t>
                      </a:r>
                    </a:p>
                  </a:txBody>
                </a:tc>
                <a:tc>
                  <a:txBody>
                    <a:bodyPr/>
                    <a:lstStyle/>
                    <a:p>
                      <a:pPr lvl="0" indent="0" marL="0" algn="l">
                        <a:buNone/>
                      </a:pPr>
                      <a:r>
                        <a:rPr/>
                        <a:t>DHS</a:t>
                      </a:r>
                    </a:p>
                  </a:txBody>
                </a:tc>
                <a:tc>
                  <a:txBody>
                    <a:bodyPr/>
                    <a:lstStyle/>
                    <a:p>
                      <a:pPr lvl="0" indent="0" marL="0" algn="l">
                        <a:buNone/>
                      </a:pPr>
                      <a:r>
                        <a:rPr/>
                        <a:t>dhs_hh_soap_available (+)</a:t>
                      </a:r>
                    </a:p>
                  </a:txBody>
                </a:tc>
                <a:tc>
                  <a:txBody>
                    <a:bodyPr/>
                    <a:lstStyle/>
                    <a:p>
                      <a:pPr lvl="0" indent="0" marL="0" algn="l">
                        <a:buNone/>
                      </a:pPr>
                      <a:r>
                        <a:rPr/>
                        <a:t>DHS</a:t>
                      </a:r>
                    </a:p>
                  </a:txBody>
                </a:tc>
              </a:tr>
              <a:tr h="0">
                <a:tc>
                  <a:txBody>
                    <a:bodyPr/>
                    <a:lstStyle/>
                    <a:p>
                      <a:pPr lvl="0" indent="0" marL="0" algn="l">
                        <a:buNone/>
                      </a:pPr>
                      <a:r>
                        <a:rPr/>
                        <a:t>dhs_w_working (-)</a:t>
                      </a:r>
                    </a:p>
                  </a:txBody>
                </a:tc>
                <a:tc>
                  <a:txBody>
                    <a:bodyPr/>
                    <a:lstStyle/>
                    <a:p>
                      <a:pPr lvl="0" indent="0" marL="0" algn="l">
                        <a:buNone/>
                      </a:pPr>
                      <a:r>
                        <a:rPr/>
                        <a:t>DHS</a:t>
                      </a:r>
                    </a:p>
                  </a:txBody>
                </a:tc>
                <a:tc>
                  <a:txBody>
                    <a:bodyPr/>
                    <a:lstStyle/>
                    <a:p>
                      <a:pPr lvl="0" indent="0" marL="0" algn="l">
                        <a:buNone/>
                      </a:pPr>
                      <a:r>
                        <a:rPr/>
                        <a:t>npp_gpp_t0 (-)</a:t>
                      </a:r>
                    </a:p>
                  </a:txBody>
                </a:tc>
                <a:tc>
                  <a:txBody>
                    <a:bodyPr/>
                    <a:lstStyle/>
                    <a:p>
                      <a:pPr lvl="0" indent="0" marL="0" algn="l">
                        <a:buNone/>
                      </a:pPr>
                      <a:r>
                        <a:rPr/>
                        <a:t>GEE</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dhs_w_bmi_low (+)</a:t>
                      </a:r>
                    </a:p>
                  </a:txBody>
                </a:tc>
                <a:tc>
                  <a:txBody>
                    <a:bodyPr/>
                    <a:lstStyle/>
                    <a:p>
                      <a:pPr lvl="0" indent="0" marL="0" algn="l">
                        <a:buNone/>
                      </a:pPr>
                      <a:r>
                        <a:rPr/>
                        <a:t>DHS</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dhs_AN_NUTS_W_THN (+)</a:t>
                      </a:r>
                    </a:p>
                  </a:txBody>
                </a:tc>
                <a:tc>
                  <a:txBody>
                    <a:bodyPr/>
                    <a:lstStyle/>
                    <a:p>
                      <a:pPr lvl="0" indent="0" marL="0" algn="l">
                        <a:buNone/>
                      </a:pPr>
                      <a:r>
                        <a:rPr/>
                        <a:t>DHS</a:t>
                      </a:r>
                    </a:p>
                  </a:txBody>
                </a:tc>
              </a:tr>
              <a:tr h="0">
                <a:tc>
                  <a:txBody>
                    <a:bodyPr/>
                    <a:lstStyle/>
                    <a:p>
                      <a:pPr lvl="0" indent="0" marL="0" algn="l">
                        <a:buNone/>
                      </a:pPr>
                      <a:r>
                        <a:rPr/>
                        <a:t>map_blooddisorders201201africahbcallelefrequency (+)</a:t>
                      </a:r>
                    </a:p>
                  </a:txBody>
                </a:tc>
                <a:tc>
                  <a:txBody>
                    <a:bodyPr/>
                    <a:lstStyle/>
                    <a:p>
                      <a:pPr lvl="0" indent="0" marL="0" algn="l">
                        <a:buNone/>
                      </a:pPr>
                      <a:r>
                        <a:rPr/>
                        <a:t>Malaria Atlas</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dhs_hh_cows_any (+)</a:t>
                      </a:r>
                    </a:p>
                  </a:txBody>
                </a:tc>
                <a:tc>
                  <a:txBody>
                    <a:bodyPr/>
                    <a:lstStyle/>
                    <a:p>
                      <a:pPr lvl="0" indent="0" marL="0" algn="l">
                        <a:buNone/>
                      </a:pPr>
                      <a:r>
                        <a:rPr/>
                        <a:t>DHS</a:t>
                      </a:r>
                    </a:p>
                  </a:txBody>
                </a:tc>
              </a:tr>
              <a:tr h="0">
                <a:tc>
                  <a:txBody>
                    <a:bodyPr/>
                    <a:lstStyle/>
                    <a:p>
                      <a:pPr lvl="0" indent="0" marL="0" algn="l">
                        <a:buNone/>
                      </a:pPr>
                      <a:r>
                        <a:rPr/>
                        <a:t>dhs_FP_CUSA_W_MOD (-)</a:t>
                      </a:r>
                    </a:p>
                  </a:txBody>
                </a:tc>
                <a:tc>
                  <a:txBody>
                    <a:bodyPr/>
                    <a:lstStyle/>
                    <a:p>
                      <a:pPr lvl="0" indent="0" marL="0" algn="l">
                        <a:buNone/>
                      </a:pPr>
                      <a:r>
                        <a:rPr/>
                        <a:t>DHS</a:t>
                      </a:r>
                    </a:p>
                  </a:txBody>
                </a:tc>
                <a:tc>
                  <a:txBody>
                    <a:bodyPr/>
                    <a:lstStyle/>
                    <a:p>
                      <a:pPr lvl="0" indent="0" marL="0" algn="l">
                        <a:buNone/>
                      </a:pPr>
                      <a:r>
                        <a:rPr/>
                        <a:t>spam_share_roots (-)</a:t>
                      </a:r>
                    </a:p>
                  </a:txBody>
                </a:tc>
                <a:tc>
                  <a:txBody>
                    <a:bodyPr/>
                    <a:lstStyle/>
                    <a:p>
                      <a:pPr lvl="0" indent="0" marL="0" algn="l">
                        <a:buNone/>
                      </a:pPr>
                      <a:r>
                        <a:rPr/>
                        <a:t>MapSPAM</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0.22</a:t>
                      </a:r>
                    </a:p>
                  </a:txBody>
                </a:tc>
                <a:tc>
                  <a:txBody>
                    <a:bodyPr/>
                    <a:lstStyle/>
                    <a:p>
                      <a:pPr lvl="0" indent="0" marL="0" algn="r">
                        <a:buNone/>
                      </a:pPr>
                      <a:r>
                        <a:rPr/>
                        <a:t>1.13</a:t>
                      </a:r>
                    </a:p>
                  </a:txBody>
                </a:tc>
                <a:tc>
                  <a:txBody>
                    <a:bodyPr/>
                    <a:lstStyle/>
                    <a:p>
                      <a:pPr lvl="0" indent="0" marL="0" algn="r">
                        <a:buNone/>
                      </a:pPr>
                      <a:r>
                        <a:rPr/>
                        <a:t>12</a:t>
                      </a:r>
                    </a:p>
                  </a:txBody>
                </a:tc>
              </a:tr>
              <a:tr h="0">
                <a:tc>
                  <a:txBody>
                    <a:bodyPr/>
                    <a:lstStyle/>
                    <a:p>
                      <a:pPr lvl="0" indent="0" marL="0" algn="l">
                        <a:buNone/>
                      </a:pPr>
                      <a:r>
                        <a:rPr/>
                        <a:t>Survey: jackknifed regional mean</a:t>
                      </a:r>
                    </a:p>
                  </a:txBody>
                </a:tc>
                <a:tc>
                  <a:txBody>
                    <a:bodyPr/>
                    <a:lstStyle/>
                    <a:p>
                      <a:pPr lvl="0" indent="0" marL="0" algn="r">
                        <a:buNone/>
                      </a:pPr>
                      <a:r>
                        <a:rPr/>
                        <a:t>0.20</a:t>
                      </a:r>
                    </a:p>
                  </a:txBody>
                </a:tc>
                <a:tc>
                  <a:txBody>
                    <a:bodyPr/>
                    <a:lstStyle/>
                    <a:p>
                      <a:pPr lvl="0" indent="0" marL="0" algn="r">
                        <a:buNone/>
                      </a:pPr>
                      <a:r>
                        <a:rPr/>
                        <a:t>1.02</a:t>
                      </a:r>
                    </a:p>
                  </a:txBody>
                </a:tc>
                <a:tc>
                  <a:txBody>
                    <a:bodyPr/>
                    <a:lstStyle/>
                    <a:p>
                      <a:pPr lvl="0" indent="0" marL="0" algn="r">
                        <a:buNone/>
                      </a:pPr>
                      <a:r>
                        <a:rPr/>
                        <a:t>8</a:t>
                      </a:r>
                    </a:p>
                  </a:txBody>
                </a:tc>
              </a:tr>
              <a:tr h="0">
                <a:tc>
                  <a:txBody>
                    <a:bodyPr/>
                    <a:lstStyle/>
                    <a:p>
                      <a:pPr lvl="0" indent="0" marL="0" algn="l">
                        <a:buNone/>
                      </a:pPr>
                      <a:r>
                        <a:rPr/>
                        <a:t>Spatial smoother + covariates</a:t>
                      </a:r>
                    </a:p>
                  </a:txBody>
                </a:tc>
                <a:tc>
                  <a:txBody>
                    <a:bodyPr/>
                    <a:lstStyle/>
                    <a:p>
                      <a:pPr lvl="0" indent="0" marL="0" algn="r">
                        <a:buNone/>
                      </a:pPr>
                      <a:r>
                        <a:rPr/>
                        <a:t>0.20</a:t>
                      </a:r>
                    </a:p>
                  </a:txBody>
                </a:tc>
                <a:tc>
                  <a:txBody>
                    <a:bodyPr/>
                    <a:lstStyle/>
                    <a:p>
                      <a:pPr lvl="0" indent="0" marL="0" algn="r">
                        <a:buNone/>
                      </a:pPr>
                      <a:r>
                        <a:rPr/>
                        <a:t>0.99</a:t>
                      </a:r>
                    </a:p>
                  </a:txBody>
                </a:tc>
                <a:tc>
                  <a:txBody>
                    <a:bodyPr/>
                    <a:lstStyle/>
                    <a:p>
                      <a:pPr lvl="0" indent="0" marL="0" algn="r">
                        <a:buNone/>
                      </a:pPr>
                      <a:r>
                        <a:rPr/>
                        <a:t>7</a:t>
                      </a:r>
                    </a:p>
                  </a:txBody>
                </a:tc>
              </a:tr>
              <a:tr h="0">
                <a:tc>
                  <a:txBody>
                    <a:bodyPr/>
                    <a:lstStyle/>
                    <a:p>
                      <a:pPr lvl="0" indent="0" marL="0" algn="l">
                        <a:buNone/>
                      </a:pPr>
                      <a:r>
                        <a:rPr/>
                        <a:t>Spatial smoother only</a:t>
                      </a:r>
                    </a:p>
                  </a:txBody>
                </a:tc>
                <a:tc>
                  <a:txBody>
                    <a:bodyPr/>
                    <a:lstStyle/>
                    <a:p>
                      <a:pPr lvl="0" indent="0" marL="0" algn="r">
                        <a:buNone/>
                      </a:pPr>
                      <a:r>
                        <a:rPr/>
                        <a:t>0.20</a:t>
                      </a:r>
                    </a:p>
                  </a:txBody>
                </a:tc>
                <a:tc>
                  <a:txBody>
                    <a:bodyPr/>
                    <a:lstStyle/>
                    <a:p>
                      <a:pPr lvl="0" indent="0" marL="0" algn="r">
                        <a:buNone/>
                      </a:pPr>
                      <a:r>
                        <a:rPr/>
                        <a:t>0.99</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0.14</a:t>
                      </a:r>
                    </a:p>
                  </a:txBody>
                </a:tc>
                <a:tc>
                  <a:txBody>
                    <a:bodyPr/>
                    <a:lstStyle/>
                    <a:p>
                      <a:pPr lvl="0" indent="0" marL="0" algn="r">
                        <a:buNone/>
                      </a:pPr>
                      <a:r>
                        <a:rPr/>
                        <a:t>0.68</a:t>
                      </a:r>
                    </a:p>
                  </a:txBody>
                </a:tc>
                <a:tc>
                  <a:txBody>
                    <a:bodyPr/>
                    <a:lstStyle/>
                    <a:p>
                      <a:pPr lvl="0" indent="0" marL="0" algn="r">
                        <a:buNone/>
                      </a:pPr>
                      <a:r>
                        <a:rPr/>
                        <a:t>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Climate and weather</a:t>
                      </a:r>
                    </a:p>
                  </a:txBody>
                </a:tc>
                <a:tc>
                  <a:txBody>
                    <a:bodyPr/>
                    <a:lstStyle/>
                    <a:p>
                      <a:pPr lvl="0" indent="0" marL="0" algn="r">
                        <a:buNone/>
                      </a:pPr>
                      <a:r>
                        <a:rPr/>
                        <a:t>0.019</a:t>
                      </a:r>
                    </a:p>
                  </a:txBody>
                </a:tc>
                <a:tc>
                  <a:txBody>
                    <a:bodyPr/>
                    <a:lstStyle/>
                    <a:p>
                      <a:pPr lvl="0" indent="0" marL="0" algn="r">
                        <a:buNone/>
                      </a:pPr>
                      <a:r>
                        <a:rPr/>
                        <a:t>0.353</a:t>
                      </a:r>
                    </a:p>
                  </a:txBody>
                </a:tc>
              </a:tr>
              <a:tr h="0">
                <a:tc>
                  <a:txBody>
                    <a:bodyPr/>
                    <a:lstStyle/>
                    <a:p>
                      <a:pPr lvl="0" indent="0" marL="0" algn="l">
                        <a:buNone/>
                      </a:pPr>
                      <a:r>
                        <a:rPr/>
                        <a:t>Soil characteristics</a:t>
                      </a:r>
                    </a:p>
                  </a:txBody>
                </a:tc>
                <a:tc>
                  <a:txBody>
                    <a:bodyPr/>
                    <a:lstStyle/>
                    <a:p>
                      <a:pPr lvl="0" indent="0" marL="0" algn="r">
                        <a:buNone/>
                      </a:pPr>
                      <a:r>
                        <a:rPr/>
                        <a:t>0.015</a:t>
                      </a:r>
                    </a:p>
                  </a:txBody>
                </a:tc>
                <a:tc>
                  <a:txBody>
                    <a:bodyPr/>
                    <a:lstStyle/>
                    <a:p>
                      <a:pPr lvl="0" indent="0" marL="0" algn="r">
                        <a:buNone/>
                      </a:pPr>
                      <a:r>
                        <a:rPr/>
                        <a:t>0.327</a:t>
                      </a:r>
                    </a:p>
                  </a:txBody>
                </a:tc>
              </a:tr>
              <a:tr h="0">
                <a:tc>
                  <a:txBody>
                    <a:bodyPr/>
                    <a:lstStyle/>
                    <a:p>
                      <a:pPr lvl="0" indent="0" marL="0" algn="l">
                        <a:buNone/>
                      </a:pPr>
                      <a:r>
                        <a:rPr/>
                        <a:t>Nutrition status (MODELLED SURFACE)</a:t>
                      </a:r>
                    </a:p>
                  </a:txBody>
                </a:tc>
                <a:tc>
                  <a:txBody>
                    <a:bodyPr/>
                    <a:lstStyle/>
                    <a:p>
                      <a:pPr lvl="0" indent="0" marL="0" algn="r">
                        <a:buNone/>
                      </a:pPr>
                      <a:r>
                        <a:rPr/>
                        <a:t>0.011</a:t>
                      </a:r>
                    </a:p>
                  </a:txBody>
                </a:tc>
                <a:tc>
                  <a:txBody>
                    <a:bodyPr/>
                    <a:lstStyle/>
                    <a:p>
                      <a:pPr lvl="0" indent="0" marL="0" algn="r">
                        <a:buNone/>
                      </a:pPr>
                      <a:r>
                        <a:rPr/>
                        <a:t>0.220</a:t>
                      </a:r>
                    </a:p>
                  </a:txBody>
                </a:tc>
              </a:tr>
              <a:tr h="0">
                <a:tc>
                  <a:txBody>
                    <a:bodyPr/>
                    <a:lstStyle/>
                    <a:p>
                      <a:pPr lvl="0" indent="0" marL="0" algn="l">
                        <a:buNone/>
                      </a:pPr>
                      <a:r>
                        <a:rPr/>
                        <a:t>Agricultural production, land use</a:t>
                      </a:r>
                    </a:p>
                  </a:txBody>
                </a:tc>
                <a:tc>
                  <a:txBody>
                    <a:bodyPr/>
                    <a:lstStyle/>
                    <a:p>
                      <a:pPr lvl="0" indent="0" marL="0" algn="r">
                        <a:buNone/>
                      </a:pPr>
                      <a:r>
                        <a:rPr/>
                        <a:t>0.010</a:t>
                      </a:r>
                    </a:p>
                  </a:txBody>
                </a:tc>
                <a:tc>
                  <a:txBody>
                    <a:bodyPr/>
                    <a:lstStyle/>
                    <a:p>
                      <a:pPr lvl="0" indent="0" marL="0" algn="r">
                        <a:buNone/>
                      </a:pPr>
                      <a:r>
                        <a:rPr/>
                        <a:t>0.262</a:t>
                      </a:r>
                    </a:p>
                  </a:txBody>
                </a:tc>
              </a:tr>
              <a:tr h="0">
                <a:tc>
                  <a:txBody>
                    <a:bodyPr/>
                    <a:lstStyle/>
                    <a:p>
                      <a:pPr lvl="0" indent="0" marL="0" algn="l">
                        <a:buNone/>
                      </a:pPr>
                      <a:r>
                        <a:rPr/>
                        <a:t>Livestock density</a:t>
                      </a:r>
                    </a:p>
                  </a:txBody>
                </a:tc>
                <a:tc>
                  <a:txBody>
                    <a:bodyPr/>
                    <a:lstStyle/>
                    <a:p>
                      <a:pPr lvl="0" indent="0" marL="0" algn="r">
                        <a:buNone/>
                      </a:pPr>
                      <a:r>
                        <a:rPr/>
                        <a:t>0.009</a:t>
                      </a:r>
                    </a:p>
                  </a:txBody>
                </a:tc>
                <a:tc>
                  <a:txBody>
                    <a:bodyPr/>
                    <a:lstStyle/>
                    <a:p>
                      <a:pPr lvl="0" indent="0" marL="0" algn="r">
                        <a:buNone/>
                      </a:pPr>
                      <a:r>
                        <a:rPr/>
                        <a:t>0.236</a:t>
                      </a:r>
                    </a:p>
                  </a:txBody>
                </a:tc>
              </a:tr>
              <a:tr h="0">
                <a:tc>
                  <a:txBody>
                    <a:bodyPr/>
                    <a:lstStyle/>
                    <a:p>
                      <a:pPr lvl="0" indent="0" marL="0" algn="l">
                        <a:buNone/>
                      </a:pPr>
                      <a:r>
                        <a:rPr/>
                        <a:t>Malaria incidence and treatment</a:t>
                      </a:r>
                    </a:p>
                  </a:txBody>
                </a:tc>
                <a:tc>
                  <a:txBody>
                    <a:bodyPr/>
                    <a:lstStyle/>
                    <a:p>
                      <a:pPr lvl="0" indent="0" marL="0" algn="r">
                        <a:buNone/>
                      </a:pPr>
                      <a:r>
                        <a:rPr/>
                        <a:t>0.005</a:t>
                      </a:r>
                    </a:p>
                  </a:txBody>
                </a:tc>
                <a:tc>
                  <a:txBody>
                    <a:bodyPr/>
                    <a:lstStyle/>
                    <a:p>
                      <a:pPr lvl="0" indent="0" marL="0" algn="r">
                        <a:buNone/>
                      </a:pPr>
                      <a:r>
                        <a:rPr/>
                        <a:t>0.043</a:t>
                      </a:r>
                    </a:p>
                  </a:txBody>
                </a:tc>
              </a:tr>
              <a:tr h="0">
                <a:tc>
                  <a:txBody>
                    <a:bodyPr/>
                    <a:lstStyle/>
                    <a:p>
                      <a:pPr lvl="0" indent="0" marL="0" algn="l">
                        <a:buNone/>
                      </a:pPr>
                      <a:r>
                        <a:rPr/>
                        <a:t>Helminth burden and control</a:t>
                      </a:r>
                    </a:p>
                  </a:txBody>
                </a:tc>
                <a:tc>
                  <a:txBody>
                    <a:bodyPr/>
                    <a:lstStyle/>
                    <a:p>
                      <a:pPr lvl="0" indent="0" marL="0" algn="r">
                        <a:buNone/>
                      </a:pPr>
                      <a:r>
                        <a:rPr/>
                        <a:t>0.002</a:t>
                      </a:r>
                    </a:p>
                  </a:txBody>
                </a:tc>
                <a:tc>
                  <a:txBody>
                    <a:bodyPr/>
                    <a:lstStyle/>
                    <a:p>
                      <a:pPr lvl="0" indent="0" marL="0" algn="r">
                        <a:buNone/>
                      </a:pPr>
                      <a:r>
                        <a:rPr/>
                        <a:t>-0.030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0.015</a:t>
                      </a:r>
                    </a:p>
                  </a:txBody>
                </a:tc>
                <a:tc>
                  <a:txBody>
                    <a:bodyPr/>
                    <a:lstStyle/>
                    <a:p>
                      <a:pPr lvl="0" indent="0" marL="0" algn="r">
                        <a:buNone/>
                      </a:pPr>
                      <a:r>
                        <a:rPr/>
                        <a:t>0.327</a:t>
                      </a:r>
                    </a:p>
                  </a:txBody>
                </a:tc>
              </a:tr>
              <a:tr h="0">
                <a:tc>
                  <a:txBody>
                    <a:bodyPr/>
                    <a:lstStyle/>
                    <a:p>
                      <a:pPr lvl="0" indent="0" marL="0" algn="l">
                        <a:buNone/>
                      </a:pPr>
                      <a:r>
                        <a:rPr/>
                        <a:t>IHME</a:t>
                      </a:r>
                    </a:p>
                  </a:txBody>
                </a:tc>
                <a:tc>
                  <a:txBody>
                    <a:bodyPr/>
                    <a:lstStyle/>
                    <a:p>
                      <a:pPr lvl="0" indent="0" marL="0" algn="r">
                        <a:buNone/>
                      </a:pPr>
                      <a:r>
                        <a:rPr/>
                        <a:t>17</a:t>
                      </a:r>
                    </a:p>
                  </a:txBody>
                </a:tc>
                <a:tc>
                  <a:txBody>
                    <a:bodyPr/>
                    <a:lstStyle/>
                    <a:p>
                      <a:pPr lvl="0" indent="0" marL="0" algn="r">
                        <a:buNone/>
                      </a:pPr>
                      <a:r>
                        <a:rPr/>
                        <a:t>0.015</a:t>
                      </a:r>
                    </a:p>
                  </a:txBody>
                </a:tc>
                <a:tc>
                  <a:txBody>
                    <a:bodyPr/>
                    <a:lstStyle/>
                    <a:p>
                      <a:pPr lvl="0" indent="0" marL="0" algn="r">
                        <a:buNone/>
                      </a:pPr>
                      <a:r>
                        <a:rPr/>
                        <a:t>0.209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0.010</a:t>
                      </a:r>
                    </a:p>
                  </a:txBody>
                </a:tc>
                <a:tc>
                  <a:txBody>
                    <a:bodyPr/>
                    <a:lstStyle/>
                    <a:p>
                      <a:pPr lvl="0" indent="0" marL="0" algn="r">
                        <a:buNone/>
                      </a:pPr>
                      <a:r>
                        <a:rPr/>
                        <a:t>0.179</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0.009</a:t>
                      </a:r>
                    </a:p>
                  </a:txBody>
                </a:tc>
                <a:tc>
                  <a:txBody>
                    <a:bodyPr/>
                    <a:lstStyle/>
                    <a:p>
                      <a:pPr lvl="0" indent="0" marL="0" algn="r">
                        <a:buNone/>
                      </a:pPr>
                      <a:r>
                        <a:rPr/>
                        <a:t>0.236</a:t>
                      </a:r>
                    </a:p>
                  </a:txBody>
                </a:tc>
              </a:tr>
              <a:tr h="0">
                <a:tc>
                  <a:txBody>
                    <a:bodyPr/>
                    <a:lstStyle/>
                    <a:p>
                      <a:pPr lvl="0" indent="0" marL="0" algn="l">
                        <a:buNone/>
                      </a:pPr>
                      <a:r>
                        <a:rPr/>
                        <a:t>Malaria Atlas</a:t>
                      </a:r>
                    </a:p>
                  </a:txBody>
                </a:tc>
                <a:tc>
                  <a:txBody>
                    <a:bodyPr/>
                    <a:lstStyle/>
                    <a:p>
                      <a:pPr lvl="0" indent="0" marL="0" algn="r">
                        <a:buNone/>
                      </a:pPr>
                      <a:r>
                        <a:rPr/>
                        <a:t>11</a:t>
                      </a:r>
                    </a:p>
                  </a:txBody>
                </a:tc>
                <a:tc>
                  <a:txBody>
                    <a:bodyPr/>
                    <a:lstStyle/>
                    <a:p>
                      <a:pPr lvl="0" indent="0" marL="0" algn="r">
                        <a:buNone/>
                      </a:pPr>
                      <a:r>
                        <a:rPr/>
                        <a:t>0.005</a:t>
                      </a:r>
                    </a:p>
                  </a:txBody>
                </a:tc>
                <a:tc>
                  <a:txBody>
                    <a:bodyPr/>
                    <a:lstStyle/>
                    <a:p>
                      <a:pPr lvl="0" indent="0" marL="0" algn="r">
                        <a:buNone/>
                      </a:pPr>
                      <a:r>
                        <a:rPr/>
                        <a:t>0.043</a:t>
                      </a:r>
                    </a:p>
                  </a:txBody>
                </a:tc>
              </a:tr>
              <a:tr h="0">
                <a:tc>
                  <a:txBody>
                    <a:bodyPr/>
                    <a:lstStyle/>
                    <a:p>
                      <a:pPr lvl="0" indent="0" marL="0" algn="l">
                        <a:buNone/>
                      </a:pPr>
                      <a:r>
                        <a:rPr/>
                        <a:t>WHO ESPEN implementation-unit database 2014-2025 (portal export, no key)</a:t>
                      </a:r>
                    </a:p>
                  </a:txBody>
                </a:tc>
                <a:tc>
                  <a:txBody>
                    <a:bodyPr/>
                    <a:lstStyle/>
                    <a:p>
                      <a:pPr lvl="0" indent="0" marL="0" algn="r">
                        <a:buNone/>
                      </a:pPr>
                      <a:r>
                        <a:rPr/>
                        <a:t>4</a:t>
                      </a:r>
                    </a:p>
                  </a:txBody>
                </a:tc>
                <a:tc>
                  <a:txBody>
                    <a:bodyPr/>
                    <a:lstStyle/>
                    <a:p>
                      <a:pPr lvl="0" indent="0" marL="0" algn="r">
                        <a:buNone/>
                      </a:pPr>
                      <a:r>
                        <a:rPr/>
                        <a:t>0.002</a:t>
                      </a:r>
                    </a:p>
                  </a:txBody>
                </a:tc>
                <a:tc>
                  <a:txBody>
                    <a:bodyPr/>
                    <a:lstStyle/>
                    <a:p>
                      <a:pPr lvl="0" indent="0" marL="0" algn="r">
                        <a:buNone/>
                      </a:pPr>
                      <a:r>
                        <a:rPr/>
                        <a:t>-0.030</a:t>
                      </a:r>
                    </a:p>
                  </a:txBody>
                </a:tc>
              </a:tr>
              <a:tr h="0">
                <a:tc>
                  <a:txBody>
                    <a:bodyPr/>
                    <a:lstStyle/>
                    <a:p>
                      <a:pPr lvl="0" indent="0" marL="0" algn="l">
                        <a:buNone/>
                      </a:pPr>
                      <a:r>
                        <a:rPr/>
                        <a:t>DHS</a:t>
                      </a:r>
                    </a:p>
                  </a:txBody>
                </a:tc>
                <a:tc>
                  <a:txBody>
                    <a:bodyPr/>
                    <a:lstStyle/>
                    <a:p>
                      <a:pPr lvl="0" indent="0" marL="0" algn="r">
                        <a:buNone/>
                      </a:pPr>
                      <a:r>
                        <a:rPr/>
                        <a:t>131</a:t>
                      </a:r>
                    </a:p>
                  </a:txBody>
                </a:tc>
                <a:tc>
                  <a:txBody>
                    <a:bodyPr/>
                    <a:lstStyle/>
                    <a:p>
                      <a:pPr lvl="0" indent="0" marL="0" algn="r">
                        <a:buNone/>
                      </a:pPr>
                      <a:r>
                        <a:rPr/>
                        <a:t>-0.067</a:t>
                      </a:r>
                    </a:p>
                  </a:txBody>
                </a:tc>
                <a:tc>
                  <a:txBody>
                    <a:bodyPr/>
                    <a:lstStyle/>
                    <a:p>
                      <a:pPr lvl="0" indent="0" marL="0" algn="r">
                        <a:buNone/>
                      </a:pPr>
                      <a:r>
                        <a:rPr/>
                        <a:t>0.155</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0.36</a:t>
                      </a:r>
                    </a:p>
                  </a:txBody>
                </a:tc>
                <a:tc>
                  <a:txBody>
                    <a:bodyPr/>
                    <a:lstStyle/>
                    <a:p>
                      <a:pPr lvl="0" indent="0" marL="0" algn="r">
                        <a:buNone/>
                      </a:pPr>
                      <a:r>
                        <a:rPr/>
                        <a:t>-0.05</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0.42</a:t>
                      </a:r>
                    </a:p>
                  </a:txBody>
                </a:tc>
                <a:tc>
                  <a:txBody>
                    <a:bodyPr/>
                    <a:lstStyle/>
                    <a:p>
                      <a:pPr lvl="0" indent="0" marL="0" algn="r">
                        <a:buNone/>
                      </a:pPr>
                      <a:r>
                        <a:rPr/>
                        <a:t>-0.08</a:t>
                      </a:r>
                    </a:p>
                  </a:txBody>
                </a:tc>
                <a:tc>
                  <a:txBody>
                    <a:bodyPr/>
                    <a:lstStyle/>
                    <a:p>
                      <a:pPr lvl="0" indent="0" marL="0" algn="r">
                        <a:buNone/>
                      </a:pPr>
                      <a:r>
                        <a:rPr/>
                        <a:t>0.16</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0.59</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0.62</a:t>
                      </a:r>
                    </a:p>
                  </a:txBody>
                </a:tc>
                <a:tc>
                  <a:txBody>
                    <a:bodyPr/>
                    <a:lstStyle/>
                    <a:p>
                      <a:pPr lvl="0" indent="0" marL="0" algn="r">
                        <a:buNone/>
                      </a:pPr>
                      <a:r>
                        <a:rPr/>
                        <a:t>0.58</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0.51</a:t>
                      </a:r>
                    </a:p>
                  </a:txBody>
                </a:tc>
                <a:tc>
                  <a:txBody>
                    <a:bodyPr/>
                    <a:lstStyle/>
                    <a:p>
                      <a:pPr lvl="0" indent="0" marL="0" algn="r">
                        <a:buNone/>
                      </a:pPr>
                      <a:r>
                        <a:rPr/>
                        <a:t>0.37</a:t>
                      </a:r>
                    </a:p>
                  </a:txBody>
                </a:tc>
                <a:tc>
                  <a:txBody>
                    <a:bodyPr/>
                    <a:lstStyle/>
                    <a:p>
                      <a:pPr lvl="0" indent="0" marL="0" algn="r">
                        <a:buNone/>
                      </a:pPr>
                      <a:r>
                        <a:rPr/>
                        <a:t>0.12</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0.37</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10.3</a:t>
                      </a:r>
                    </a:p>
                  </a:txBody>
                </a:tc>
                <a:tc>
                  <a:txBody>
                    <a:bodyPr/>
                    <a:lstStyle/>
                    <a:p>
                      <a:pPr lvl="0" indent="0" marL="0" algn="r">
                        <a:buNone/>
                      </a:pPr>
                      <a:r>
                        <a:rPr/>
                        <a:t>12.8</a:t>
                      </a:r>
                    </a:p>
                  </a:txBody>
                </a:tc>
                <a:tc>
                  <a:txBody>
                    <a:bodyPr/>
                    <a:lstStyle/>
                    <a:p>
                      <a:pPr lvl="0" indent="0" marL="0" algn="r">
                        <a:buNone/>
                      </a:pPr>
                      <a:r>
                        <a:rPr/>
                        <a:t>19.7</a:t>
                      </a:r>
                    </a:p>
                  </a:txBody>
                </a:tc>
                <a:tc>
                  <a:txBody>
                    <a:bodyPr/>
                    <a:lstStyle/>
                    <a:p>
                      <a:pPr lvl="0" indent="0" marL="0" algn="r">
                        <a:buNone/>
                      </a:pPr>
                      <a:r>
                        <a:rPr/>
                        <a:t>12.8</a:t>
                      </a:r>
                    </a:p>
                  </a:txBody>
                </a:tc>
              </a:tr>
              <a:tr h="0">
                <a:tc>
                  <a:txBody>
                    <a:bodyPr/>
                    <a:lstStyle/>
                    <a:p>
                      <a:pPr lvl="0" indent="0" marL="0" algn="l">
                        <a:buNone/>
                      </a:pPr>
                      <a:r>
                        <a:rPr/>
                        <a:t>15%</a:t>
                      </a:r>
                    </a:p>
                  </a:txBody>
                </a:tc>
                <a:tc>
                  <a:txBody>
                    <a:bodyPr/>
                    <a:lstStyle/>
                    <a:p>
                      <a:pPr lvl="0" indent="0" marL="0" algn="r">
                        <a:buNone/>
                      </a:pPr>
                      <a:r>
                        <a:rPr/>
                        <a:t>9.1</a:t>
                      </a:r>
                    </a:p>
                  </a:txBody>
                </a:tc>
                <a:tc>
                  <a:txBody>
                    <a:bodyPr/>
                    <a:lstStyle/>
                    <a:p>
                      <a:pPr lvl="0" indent="0" marL="0" algn="r">
                        <a:buNone/>
                      </a:pPr>
                      <a:r>
                        <a:rPr/>
                        <a:t>9.5</a:t>
                      </a:r>
                    </a:p>
                  </a:txBody>
                </a:tc>
                <a:tc>
                  <a:txBody>
                    <a:bodyPr/>
                    <a:lstStyle/>
                    <a:p>
                      <a:pPr lvl="0" indent="0" marL="0" algn="r">
                        <a:buNone/>
                      </a:pPr>
                      <a:r>
                        <a:rPr/>
                        <a:t>13.1</a:t>
                      </a:r>
                    </a:p>
                  </a:txBody>
                </a:tc>
                <a:tc>
                  <a:txBody>
                    <a:bodyPr/>
                    <a:lstStyle/>
                    <a:p>
                      <a:pPr lvl="0" indent="0" marL="0" algn="r">
                        <a:buNone/>
                      </a:pPr>
                      <a:r>
                        <a:rPr/>
                        <a:t>9.1</a:t>
                      </a:r>
                    </a:p>
                  </a:txBody>
                </a:tc>
              </a:tr>
              <a:tr h="0">
                <a:tc>
                  <a:txBody>
                    <a:bodyPr/>
                    <a:lstStyle/>
                    <a:p>
                      <a:pPr lvl="0" indent="0" marL="0" algn="l">
                        <a:buNone/>
                      </a:pPr>
                      <a:r>
                        <a:rPr/>
                        <a:t>25%</a:t>
                      </a:r>
                    </a:p>
                  </a:txBody>
                </a:tc>
                <a:tc>
                  <a:txBody>
                    <a:bodyPr/>
                    <a:lstStyle/>
                    <a:p>
                      <a:pPr lvl="0" indent="0" marL="0" algn="r">
                        <a:buNone/>
                      </a:pPr>
                      <a:r>
                        <a:rPr/>
                        <a:t>8.9</a:t>
                      </a:r>
                    </a:p>
                  </a:txBody>
                </a:tc>
                <a:tc>
                  <a:txBody>
                    <a:bodyPr/>
                    <a:lstStyle/>
                    <a:p>
                      <a:pPr lvl="0" indent="0" marL="0" algn="r">
                        <a:buNone/>
                      </a:pPr>
                      <a:r>
                        <a:rPr/>
                        <a:t>8.5</a:t>
                      </a:r>
                    </a:p>
                  </a:txBody>
                </a:tc>
                <a:tc>
                  <a:txBody>
                    <a:bodyPr/>
                    <a:lstStyle/>
                    <a:p>
                      <a:pPr lvl="0" indent="0" marL="0" algn="r">
                        <a:buNone/>
                      </a:pPr>
                      <a:r>
                        <a:rPr/>
                        <a:t>9.5</a:t>
                      </a:r>
                    </a:p>
                  </a:txBody>
                </a:tc>
                <a:tc>
                  <a:txBody>
                    <a:bodyPr/>
                    <a:lstStyle/>
                    <a:p>
                      <a:pPr lvl="0" indent="0" marL="0" algn="r">
                        <a:buNone/>
                      </a:pPr>
                      <a:r>
                        <a:rPr/>
                        <a:t>8.3</a:t>
                      </a:r>
                    </a:p>
                  </a:txBody>
                </a:tc>
              </a:tr>
              <a:tr h="0">
                <a:tc>
                  <a:txBody>
                    <a:bodyPr/>
                    <a:lstStyle/>
                    <a:p>
                      <a:pPr lvl="0" indent="0" marL="0" algn="l">
                        <a:buNone/>
                      </a:pPr>
                      <a:r>
                        <a:rPr/>
                        <a:t>40%</a:t>
                      </a:r>
                    </a:p>
                  </a:txBody>
                </a:tc>
                <a:tc>
                  <a:txBody>
                    <a:bodyPr/>
                    <a:lstStyle/>
                    <a:p>
                      <a:pPr lvl="0" indent="0" marL="0" algn="r">
                        <a:buNone/>
                      </a:pPr>
                      <a:r>
                        <a:rPr/>
                        <a:t>9.0</a:t>
                      </a:r>
                    </a:p>
                  </a:txBody>
                </a:tc>
                <a:tc>
                  <a:txBody>
                    <a:bodyPr/>
                    <a:lstStyle/>
                    <a:p>
                      <a:pPr lvl="0" indent="0" marL="0" algn="r">
                        <a:buNone/>
                      </a:pPr>
                      <a:r>
                        <a:rPr/>
                        <a:t>8.0</a:t>
                      </a:r>
                    </a:p>
                  </a:txBody>
                </a:tc>
                <a:tc>
                  <a:txBody>
                    <a:bodyPr/>
                    <a:lstStyle/>
                    <a:p>
                      <a:pPr lvl="0" indent="0" marL="0" algn="r">
                        <a:buNone/>
                      </a:pPr>
                      <a:r>
                        <a:rPr/>
                        <a:t>6.9</a:t>
                      </a:r>
                    </a:p>
                  </a:txBody>
                </a:tc>
                <a:tc>
                  <a:txBody>
                    <a:bodyPr/>
                    <a:lstStyle/>
                    <a:p>
                      <a:pPr lvl="0" indent="0" marL="0" algn="r">
                        <a:buNone/>
                      </a:pPr>
                      <a:r>
                        <a:rPr/>
                        <a:t>7.8</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7.5</a:t>
                      </a:r>
                    </a:p>
                  </a:txBody>
                </a:tc>
                <a:tc>
                  <a:txBody>
                    <a:bodyPr/>
                    <a:lstStyle/>
                    <a:p>
                      <a:pPr lvl="0" indent="0" marL="0" algn="r">
                        <a:buNone/>
                      </a:pPr>
                      <a:r>
                        <a:rPr/>
                        <a:t>5.0</a:t>
                      </a:r>
                    </a:p>
                  </a:txBody>
                </a:tc>
                <a:tc>
                  <a:txBody>
                    <a:bodyPr/>
                    <a:lstStyle/>
                    <a:p>
                      <a:pPr lvl="0" indent="0" marL="0" algn="r">
                        <a:buNone/>
                      </a:pPr>
                      <a:r>
                        <a:rPr/>
                        <a:t>7.1</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0.38</a:t>
                      </a:r>
                    </a:p>
                  </a:txBody>
                </a:tc>
                <a:tc>
                  <a:txBody>
                    <a:bodyPr/>
                    <a:lstStyle/>
                    <a:p>
                      <a:pPr lvl="0" indent="0" marL="0" algn="r">
                        <a:buNone/>
                      </a:pPr>
                      <a:r>
                        <a:rPr/>
                        <a:t>0.40</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0.38</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0.21</a:t>
                      </a:r>
                    </a:p>
                  </a:txBody>
                </a:tc>
                <a:tc>
                  <a:txBody>
                    <a:bodyPr/>
                    <a:lstStyle/>
                    <a:p>
                      <a:pPr lvl="0" indent="0" marL="0" algn="r">
                        <a:buNone/>
                      </a:pPr>
                      <a:r>
                        <a:rPr/>
                        <a:t>0.27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climate + soil + national anchor</a:t>
                      </a:r>
                    </a:p>
                  </a:txBody>
                </a:tc>
                <a:tc>
                  <a:txBody>
                    <a:bodyPr/>
                    <a:lstStyle/>
                    <a:p>
                      <a:pPr lvl="0" indent="0" marL="0" algn="l">
                        <a:buNone/>
                      </a:pPr>
                      <a:r>
                        <a:rPr/>
                        <a:t>60%</a:t>
                      </a:r>
                    </a:p>
                  </a:txBody>
                </a:tc>
                <a:tc>
                  <a:txBody>
                    <a:bodyPr/>
                    <a:lstStyle/>
                    <a:p>
                      <a:pPr lvl="0" indent="0" marL="0" algn="l">
                        <a:buNone/>
                      </a:pPr>
                      <a:r>
                        <a:rPr/>
                        <a:t>95%</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Transport, full index + national anchor</a:t>
                      </a:r>
                    </a:p>
                  </a:txBody>
                </a:tc>
                <a:tc>
                  <a:txBody>
                    <a:bodyPr/>
                    <a:lstStyle/>
                    <a:p>
                      <a:pPr lvl="0" indent="0" marL="0" algn="l">
                        <a:buNone/>
                      </a:pPr>
                      <a:r>
                        <a:rPr/>
                        <a:t>60%</a:t>
                      </a:r>
                    </a:p>
                  </a:txBody>
                </a:tc>
                <a:tc>
                  <a:txBody>
                    <a:bodyPr/>
                    <a:lstStyle/>
                    <a:p>
                      <a:pPr lvl="0" indent="0" marL="0" algn="l">
                        <a:buNone/>
                      </a:pPr>
                      <a:r>
                        <a:rPr/>
                        <a:t>94%</a:t>
                      </a:r>
                    </a:p>
                  </a:txBody>
                </a:tc>
                <a:tc>
                  <a:txBody>
                    <a:bodyPr/>
                    <a:lstStyle/>
                    <a:p>
                      <a:pPr lvl="0" indent="0" marL="0" algn="l">
                        <a:buNone/>
                      </a:pPr>
                      <a:r>
                        <a:rPr/>
                        <a:t>80%</a:t>
                      </a:r>
                    </a:p>
                  </a:txBody>
                </a:tc>
                <a:tc>
                  <a:txBody>
                    <a:bodyPr/>
                    <a:lstStyle/>
                    <a:p>
                      <a:pPr lvl="0" indent="0" marL="0" algn="l">
                        <a:buNone/>
                      </a:pPr>
                      <a:r>
                        <a:rPr/>
                        <a:t>100%</a:t>
                      </a:r>
                    </a:p>
                  </a:txBody>
                </a:tc>
              </a:tr>
              <a:tr h="0">
                <a:tc>
                  <a:txBody>
                    <a:bodyPr/>
                    <a:lstStyle/>
                    <a:p>
                      <a:pPr lvl="0" indent="0" marL="0" algn="l">
                        <a:buNone/>
                      </a:pPr>
                      <a:r>
                        <a:rPr/>
                        <a:t>Spatial smoother,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75%</a:t>
                      </a:r>
                    </a:p>
                  </a:txBody>
                </a:tc>
                <a:tc>
                  <a:txBody>
                    <a:bodyPr/>
                    <a:lstStyle/>
                    <a:p>
                      <a:pPr lvl="0" indent="0" marL="0" algn="l">
                        <a:buNone/>
                      </a:pPr>
                      <a:r>
                        <a:rPr/>
                        <a:t>100%</a:t>
                      </a:r>
                    </a:p>
                  </a:txBody>
                </a:tc>
              </a:tr>
              <a:tr h="0">
                <a:tc>
                  <a:txBody>
                    <a:bodyPr/>
                    <a:lstStyle/>
                    <a:p>
                      <a:pPr lvl="0" indent="0" marL="0" algn="l">
                        <a:buNone/>
                      </a:pPr>
                      <a:r>
                        <a:rPr/>
                        <a:t>Smoother + covariates, in-fill</a:t>
                      </a:r>
                    </a:p>
                  </a:txBody>
                </a:tc>
                <a:tc>
                  <a:txBody>
                    <a:bodyPr/>
                    <a:lstStyle/>
                    <a:p>
                      <a:pPr lvl="0" indent="0" marL="0" algn="l">
                        <a:buNone/>
                      </a:pPr>
                      <a:r>
                        <a:rPr/>
                        <a:t>68%</a:t>
                      </a:r>
                    </a:p>
                  </a:txBody>
                </a:tc>
                <a:tc>
                  <a:txBody>
                    <a:bodyPr/>
                    <a:lstStyle/>
                    <a:p>
                      <a:pPr lvl="0" indent="0" marL="0" algn="l">
                        <a:buNone/>
                      </a:pPr>
                      <a:r>
                        <a:rPr/>
                        <a:t>94%</a:t>
                      </a:r>
                    </a:p>
                  </a:txBody>
                </a:tc>
                <a:tc>
                  <a:txBody>
                    <a:bodyPr/>
                    <a:lstStyle/>
                    <a:p>
                      <a:pPr lvl="0" indent="0" marL="0" algn="l">
                        <a:buNone/>
                      </a:pPr>
                      <a:r>
                        <a:rPr/>
                        <a:t>77%</a:t>
                      </a:r>
                    </a:p>
                  </a:txBody>
                </a:tc>
                <a:tc>
                  <a:txBody>
                    <a:bodyPr/>
                    <a:lstStyle/>
                    <a:p>
                      <a:pPr lvl="0" indent="0" marL="0" algn="l">
                        <a:buNone/>
                      </a:pPr>
                      <a:r>
                        <a:rPr/>
                        <a:t>100%</a:t>
                      </a:r>
                    </a:p>
                  </a:txBody>
                </a:tc>
              </a:tr>
              <a:tr h="0">
                <a:tc>
                  <a:txBody>
                    <a:bodyPr/>
                    <a:lstStyle/>
                    <a:p>
                      <a:pPr lvl="0" indent="0" marL="0" algn="l">
                        <a:buNone/>
                      </a:pPr>
                      <a:r>
                        <a:rPr/>
                        <a:t>Jackknifed regional mean, in-fill</a:t>
                      </a:r>
                    </a:p>
                  </a:txBody>
                </a:tc>
                <a:tc>
                  <a:txBody>
                    <a:bodyPr/>
                    <a:lstStyle/>
                    <a:p>
                      <a:pPr lvl="0" indent="0" marL="0" algn="l">
                        <a:buNone/>
                      </a:pPr>
                      <a:r>
                        <a:rPr/>
                        <a:t>66%</a:t>
                      </a:r>
                    </a:p>
                  </a:txBody>
                </a:tc>
                <a:tc>
                  <a:txBody>
                    <a:bodyPr/>
                    <a:lstStyle/>
                    <a:p>
                      <a:pPr lvl="0" indent="0" marL="0" algn="l">
                        <a:buNone/>
                      </a:pPr>
                      <a:r>
                        <a:rPr/>
                        <a:t>94%</a:t>
                      </a:r>
                    </a:p>
                  </a:txBody>
                </a:tc>
                <a:tc>
                  <a:txBody>
                    <a:bodyPr/>
                    <a:lstStyle/>
                    <a:p>
                      <a:pPr lvl="0" indent="0" marL="0" algn="l">
                        <a:buNone/>
                      </a:pPr>
                      <a:r>
                        <a:rPr/>
                        <a:t>74%</a:t>
                      </a:r>
                    </a:p>
                  </a:txBody>
                </a:tc>
                <a:tc>
                  <a:txBody>
                    <a:bodyPr/>
                    <a:lstStyle/>
                    <a:p>
                      <a:pPr lvl="0" indent="0" marL="0" algn="l">
                        <a:buNone/>
                      </a:pPr>
                      <a:r>
                        <a:rPr/>
                        <a:t>100%</a:t>
                      </a:r>
                    </a:p>
                  </a:txBody>
                </a:tc>
              </a:tr>
              <a:tr h="0">
                <a:tc>
                  <a:txBody>
                    <a:bodyPr/>
                    <a:lstStyle/>
                    <a:p>
                      <a:pPr lvl="0" indent="0" marL="0" algn="l">
                        <a:buNone/>
                      </a:pPr>
                      <a:r>
                        <a:rPr/>
                        <a:t>Zero-tuning index, in-fill</a:t>
                      </a:r>
                    </a:p>
                  </a:txBody>
                </a:tc>
                <a:tc>
                  <a:txBody>
                    <a:bodyPr/>
                    <a:lstStyle/>
                    <a:p>
                      <a:pPr lvl="0" indent="0" marL="0" algn="l">
                        <a:buNone/>
                      </a:pPr>
                      <a:r>
                        <a:rPr/>
                        <a:t>64%</a:t>
                      </a:r>
                    </a:p>
                  </a:txBody>
                </a:tc>
                <a:tc>
                  <a:txBody>
                    <a:bodyPr/>
                    <a:lstStyle/>
                    <a:p>
                      <a:pPr lvl="0" indent="0" marL="0" algn="l">
                        <a:buNone/>
                      </a:pPr>
                      <a:r>
                        <a:rPr/>
                        <a:t>92%</a:t>
                      </a:r>
                    </a:p>
                  </a:txBody>
                </a:tc>
                <a:tc>
                  <a:txBody>
                    <a:bodyPr/>
                    <a:lstStyle/>
                    <a:p>
                      <a:pPr lvl="0" indent="0" marL="0" algn="l">
                        <a:buNone/>
                      </a:pPr>
                      <a:r>
                        <a:rPr/>
                        <a:t>74%</a:t>
                      </a:r>
                    </a:p>
                  </a:txBody>
                </a:tc>
                <a:tc>
                  <a:txBody>
                    <a:bodyPr/>
                    <a:lstStyle/>
                    <a:p>
                      <a:pPr lvl="0" indent="0" marL="0" algn="l">
                        <a:buNone/>
                      </a:pPr>
                      <a:r>
                        <a:rPr/>
                        <a:t>96%</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0.46</a:t>
                      </a:r>
                    </a:p>
                  </a:txBody>
                </a:tc>
                <a:tc>
                  <a:txBody>
                    <a:bodyPr/>
                    <a:lstStyle/>
                    <a:p>
                      <a:pPr lvl="0" indent="0" marL="0" algn="l">
                        <a:buNone/>
                      </a:pPr>
                      <a:r>
                        <a:rPr/>
                        <a:t>0.45</a:t>
                      </a:r>
                    </a:p>
                  </a:txBody>
                </a:tc>
                <a:tc>
                  <a:txBody>
                    <a:bodyPr/>
                    <a:lstStyle/>
                    <a:p>
                      <a:pPr lvl="0" indent="0" marL="0" algn="l">
                        <a:buNone/>
                      </a:pPr>
                      <a:r>
                        <a:rPr/>
                        <a:t>0.53</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0.45</a:t>
                      </a:r>
                    </a:p>
                  </a:txBody>
                </a:tc>
                <a:tc>
                  <a:txBody>
                    <a:bodyPr/>
                    <a:lstStyle/>
                    <a:p>
                      <a:pPr lvl="0" indent="0" marL="0" algn="l">
                        <a:buNone/>
                      </a:pPr>
                      <a:r>
                        <a:rPr/>
                        <a:t>0.31</a:t>
                      </a:r>
                    </a:p>
                  </a:txBody>
                </a:tc>
                <a:tc>
                  <a:txBody>
                    <a:bodyPr/>
                    <a:lstStyle/>
                    <a:p>
                      <a:pPr lvl="0" indent="0" marL="0" algn="l">
                        <a:buNone/>
                      </a:pPr>
                      <a:r>
                        <a:rPr/>
                        <a:t>0.39</a:t>
                      </a:r>
                    </a:p>
                  </a:txBody>
                </a:tc>
                <a:tc>
                  <a:txBody>
                    <a:bodyPr/>
                    <a:lstStyle/>
                    <a:p>
                      <a:pPr lvl="0" indent="0" marL="0" algn="l">
                        <a:buNone/>
                      </a:pPr>
                      <a:r>
                        <a:rPr/>
                        <a:t>-0.35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0.46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2026-09-10T13:32:26Z</dcterms:created>
  <dcterms:modified xsi:type="dcterms:W3CDTF">2026-09-10T13:32:26Z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