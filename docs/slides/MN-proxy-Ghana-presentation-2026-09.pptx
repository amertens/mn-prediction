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Override PartName="/docProps/app.xml" ContentType="application/vnd.openxmlformats-officedocument.extended-properties+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96" r:id="rId4"/>
  </p:sldMasterIdLst>
  <p:notesMasterIdLst>
    <p:notesMasterId r:id="rId55"/>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Lst>
  <p:sldSz cx="12192000" cy="6858000"/>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348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987"/>
    <p:restoredTop autoAdjust="0" sz="78478"/>
  </p:normalViewPr>
  <p:slideViewPr>
    <p:cSldViewPr snapToGrid="0">
      <p:cViewPr varScale="1">
        <p:scale>
          <a:sx d="100" n="86"/>
          <a:sy d="100" n="86"/>
        </p:scale>
        <p:origin x="960" y="72"/>
      </p:cViewPr>
      <p:guideLst/>
    </p:cSldViewPr>
  </p:slideViewPr>
  <p:notesTextViewPr>
    <p:cViewPr>
      <p:scale>
        <a:sx d="1" n="1"/>
        <a:sy d="1" n="1"/>
      </p:scale>
      <p:origin x="0" y="0"/>
    </p:cViewPr>
  </p:notesTextViewPr>
  <p:gridSpacing cx="72008" cy="72008"/>
</p:viewPr>
</file>

<file path=ppt/_rels/presentation.xml.rels><?xml version="1.0" encoding="UTF-8"?><Relationships xmlns="http://schemas.openxmlformats.org/package/2006/relationships"><Relationship Id="rId5" Type="http://schemas.openxmlformats.org/officeDocument/2006/relationships/slide" Target="slides/slide1.xml" /><Relationship Id="rId6" Type="http://schemas.openxmlformats.org/officeDocument/2006/relationships/slide" Target="slides/slide2.xml" /><Relationship Id="rId7" Type="http://schemas.openxmlformats.org/officeDocument/2006/relationships/slide" Target="slides/slide3.xml" /><Relationship Id="rId8" Type="http://schemas.openxmlformats.org/officeDocument/2006/relationships/slide" Target="slides/slide4.xml" /><Relationship Id="rId9" Type="http://schemas.openxmlformats.org/officeDocument/2006/relationships/slide" Target="slides/slide5.xml" /><Relationship Id="rId10" Type="http://schemas.openxmlformats.org/officeDocument/2006/relationships/slide" Target="slides/slide6.xml" /><Relationship Id="rId11" Type="http://schemas.openxmlformats.org/officeDocument/2006/relationships/slide" Target="slides/slide7.xml" /><Relationship Id="rId12" Type="http://schemas.openxmlformats.org/officeDocument/2006/relationships/slide" Target="slides/slide8.xml" /><Relationship Id="rId13" Type="http://schemas.openxmlformats.org/officeDocument/2006/relationships/slide" Target="slides/slide9.xml" /><Relationship Id="rId14" Type="http://schemas.openxmlformats.org/officeDocument/2006/relationships/slide" Target="slides/slide10.xml" /><Relationship Id="rId15" Type="http://schemas.openxmlformats.org/officeDocument/2006/relationships/slide" Target="slides/slide11.xml" /><Relationship Id="rId16" Type="http://schemas.openxmlformats.org/officeDocument/2006/relationships/slide" Target="slides/slide12.xml" /><Relationship Id="rId17" Type="http://schemas.openxmlformats.org/officeDocument/2006/relationships/slide" Target="slides/slide13.xml" /><Relationship Id="rId18" Type="http://schemas.openxmlformats.org/officeDocument/2006/relationships/slide" Target="slides/slide14.xml" /><Relationship Id="rId19" Type="http://schemas.openxmlformats.org/officeDocument/2006/relationships/slide" Target="slides/slide15.xml" /><Relationship Id="rId20" Type="http://schemas.openxmlformats.org/officeDocument/2006/relationships/slide" Target="slides/slide16.xml" /><Relationship Id="rId21" Type="http://schemas.openxmlformats.org/officeDocument/2006/relationships/slide" Target="slides/slide17.xml" /><Relationship Id="rId22" Type="http://schemas.openxmlformats.org/officeDocument/2006/relationships/slide" Target="slides/slide18.xml" /><Relationship Id="rId23" Type="http://schemas.openxmlformats.org/officeDocument/2006/relationships/slide" Target="slides/slide19.xml" /><Relationship Id="rId24" Type="http://schemas.openxmlformats.org/officeDocument/2006/relationships/slide" Target="slides/slide20.xml" /><Relationship Id="rId25" Type="http://schemas.openxmlformats.org/officeDocument/2006/relationships/slide" Target="slides/slide21.xml" /><Relationship Id="rId26" Type="http://schemas.openxmlformats.org/officeDocument/2006/relationships/slide" Target="slides/slide22.xml" /><Relationship Id="rId27" Type="http://schemas.openxmlformats.org/officeDocument/2006/relationships/slide" Target="slides/slide23.xml" /><Relationship Id="rId28" Type="http://schemas.openxmlformats.org/officeDocument/2006/relationships/slide" Target="slides/slide24.xml" /><Relationship Id="rId29" Type="http://schemas.openxmlformats.org/officeDocument/2006/relationships/slide" Target="slides/slide25.xml" /><Relationship Id="rId30" Type="http://schemas.openxmlformats.org/officeDocument/2006/relationships/slide" Target="slides/slide26.xml" /><Relationship Id="rId31" Type="http://schemas.openxmlformats.org/officeDocument/2006/relationships/slide" Target="slides/slide27.xml" /><Relationship Id="rId32" Type="http://schemas.openxmlformats.org/officeDocument/2006/relationships/slide" Target="slides/slide28.xml" /><Relationship Id="rId33" Type="http://schemas.openxmlformats.org/officeDocument/2006/relationships/slide" Target="slides/slide29.xml" /><Relationship Id="rId34" Type="http://schemas.openxmlformats.org/officeDocument/2006/relationships/slide" Target="slides/slide30.xml" /><Relationship Id="rId35" Type="http://schemas.openxmlformats.org/officeDocument/2006/relationships/slide" Target="slides/slide31.xml" /><Relationship Id="rId36" Type="http://schemas.openxmlformats.org/officeDocument/2006/relationships/slide" Target="slides/slide32.xml" /><Relationship Id="rId37" Type="http://schemas.openxmlformats.org/officeDocument/2006/relationships/slide" Target="slides/slide33.xml" /><Relationship Id="rId38" Type="http://schemas.openxmlformats.org/officeDocument/2006/relationships/slide" Target="slides/slide34.xml" /><Relationship Id="rId39" Type="http://schemas.openxmlformats.org/officeDocument/2006/relationships/slide" Target="slides/slide35.xml" /><Relationship Id="rId40" Type="http://schemas.openxmlformats.org/officeDocument/2006/relationships/slide" Target="slides/slide36.xml" /><Relationship Id="rId41" Type="http://schemas.openxmlformats.org/officeDocument/2006/relationships/slide" Target="slides/slide37.xml" /><Relationship Id="rId42" Type="http://schemas.openxmlformats.org/officeDocument/2006/relationships/slide" Target="slides/slide38.xml" /><Relationship Id="rId43" Type="http://schemas.openxmlformats.org/officeDocument/2006/relationships/slide" Target="slides/slide39.xml" /><Relationship Id="rId44" Type="http://schemas.openxmlformats.org/officeDocument/2006/relationships/slide" Target="slides/slide40.xml" /><Relationship Id="rId45" Type="http://schemas.openxmlformats.org/officeDocument/2006/relationships/slide" Target="slides/slide41.xml" /><Relationship Id="rId46" Type="http://schemas.openxmlformats.org/officeDocument/2006/relationships/slide" Target="slides/slide42.xml" /><Relationship Id="rId47" Type="http://schemas.openxmlformats.org/officeDocument/2006/relationships/slide" Target="slides/slide43.xml" /><Relationship Id="rId48" Type="http://schemas.openxmlformats.org/officeDocument/2006/relationships/slide" Target="slides/slide44.xml" /><Relationship Id="rId49" Type="http://schemas.openxmlformats.org/officeDocument/2006/relationships/slide" Target="slides/slide45.xml" /><Relationship Id="rId50" Type="http://schemas.openxmlformats.org/officeDocument/2006/relationships/slide" Target="slides/slide46.xml" /><Relationship Id="rId51" Type="http://schemas.openxmlformats.org/officeDocument/2006/relationships/slide" Target="slides/slide47.xml" /><Relationship Id="rId52" Type="http://schemas.openxmlformats.org/officeDocument/2006/relationships/slide" Target="slides/slide48.xml" /><Relationship Id="rId53" Type="http://schemas.openxmlformats.org/officeDocument/2006/relationships/slide" Target="slides/slide49.xml" /><Relationship Id="rId54" Type="http://schemas.openxmlformats.org/officeDocument/2006/relationships/slide" Target="slides/slide50.xml" /><Relationship Id="rId55" Type="http://schemas.openxmlformats.org/officeDocument/2006/relationships/notesMaster" Target="notesMasters/notesMaster1.xml" /><Relationship Id="rId58" Type="http://schemas.openxmlformats.org/officeDocument/2006/relationships/theme" Target="theme/theme1.xml" /><Relationship Id="rId57" Type="http://schemas.openxmlformats.org/officeDocument/2006/relationships/viewProps" Target="viewProps.xml" /><Relationship Id="rId56" Type="http://schemas.openxmlformats.org/officeDocument/2006/relationships/presProps" Target="presProps.xml" /><Relationship Id="rId4" Type="http://schemas.openxmlformats.org/officeDocument/2006/relationships/slideMaster" Target="slideMasters/slideMaster1.xml" /><Relationship Id="rId59"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0068F7-1A27-4717-A728-A996FAEDE383}" type="datetimeFigureOut">
              <a:rPr lang="en-GB" smtClean="0"/>
              <a:t>14/01/2026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A43B92-3A2D-4964-BD32-AF28A47106C9}" type="slidenum">
              <a:rPr lang="en-GB" smtClean="0"/>
              <a:t>‹#›</a:t>
            </a:fld>
            <a:endParaRPr lang="en-GB"/>
          </a:p>
        </p:txBody>
      </p:sp>
    </p:spTree>
    <p:extLst>
      <p:ext uri="{BB962C8B-B14F-4D97-AF65-F5344CB8AC3E}">
        <p14:creationId xmlns:p14="http://schemas.microsoft.com/office/powerpoint/2010/main" val="15817077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Photo credit: Latter-day Saint Charities. GMS 2017 collaborators: University of Ghana, GroundWork, University of Wisconsin-Madison, KEMRI-Wellcome Trust; with UNICEF and Global Affairs Canada.</a:t>
            </a:r>
          </a:p>
        </p:txBody>
      </p:sp>
      <p:sp>
        <p:nvSpPr>
          <p:cNvPr id="4" name="Slide Number Placeholder 3"/>
          <p:cNvSpPr>
            <a:spLocks noGrp="1"/>
          </p:cNvSpPr>
          <p:nvPr>
            <p:ph type="sldNum" sz="quarter" idx="10"/>
          </p:nvPr>
        </p:nvSpPr>
        <p:spPr/>
        <p:txBody>
          <a:bodyPr/>
          <a:lstStyle/>
          <a:p>
            <a:fld id="{E2A43B92-3A2D-4964-BD32-AF28A47106C9}"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24 country-outcome cells, 206 surveyed districts, 323 survey clusters with GPS. Fieldwork dates were recovered for every cluster (Sierra Leone reconstructed from date of birth and age in days); ferritin, retinol and food prices are seasonal. Three surveys ran in the dry season and Malawi in the lean season. Likely question: why districts rather than regions. Districts are the programme unit; they sit below the surveys’ design resolution, so the reliability ceiling slide reports what a perfect predictor could reach.</a:t>
            </a:r>
          </a:p>
        </p:txBody>
      </p:sp>
      <p:sp>
        <p:nvSpPr>
          <p:cNvPr id="4" name="Slide Number Placeholder 3"/>
          <p:cNvSpPr>
            <a:spLocks noGrp="1"/>
          </p:cNvSpPr>
          <p:nvPr>
            <p:ph type="sldNum" sz="quarter" idx="10"/>
          </p:nvPr>
        </p:nvSpPr>
        <p:spPr/>
        <p:txBody>
          <a:bodyPr/>
          <a:lstStyle/>
          <a:p>
            <a:fld id="{E2A43B92-3A2D-4964-BD32-AF28A47106C9}" type="slidenum">
              <a:rPr lang="en-US"/>
              <a:t>6</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 targets per cell: the deficiency prevalence, and the district mean of the negated log biomarker concentration (higher means worse), which carries more signal than the dichotomy and is reported alongside it. Vitamin A uses each survey’s published RBP-to-retinol calibration before the 0.70 cut-off (VA-01). Iodine (The Gambia, Sierra Leone) is analysed within country only; a one- or two-country outcome has no cross-border test.</a:t>
            </a:r>
          </a:p>
        </p:txBody>
      </p:sp>
      <p:sp>
        <p:nvSpPr>
          <p:cNvPr id="4" name="Slide Number Placeholder 3"/>
          <p:cNvSpPr>
            <a:spLocks noGrp="1"/>
          </p:cNvSpPr>
          <p:nvPr>
            <p:ph type="sldNum" sz="quarter" idx="10"/>
          </p:nvPr>
        </p:nvSpPr>
        <p:spPr/>
        <p:txBody>
          <a:bodyPr/>
          <a:lstStyle/>
          <a:p>
            <a:fld id="{E2A43B92-3A2D-4964-BD32-AF28A47106C9}" type="slidenum">
              <a:rPr lang="en-US"/>
              <a:t>7</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Adapted from Hess et al., Ann N Y Acad Sci 2023. The framework is unchanged; the ablation slides show which of its pathways the data can see.</a:t>
            </a:r>
          </a:p>
        </p:txBody>
      </p:sp>
      <p:sp>
        <p:nvSpPr>
          <p:cNvPr id="4" name="Slide Number Placeholder 3"/>
          <p:cNvSpPr>
            <a:spLocks noGrp="1"/>
          </p:cNvSpPr>
          <p:nvPr>
            <p:ph type="sldNum" sz="quarter" idx="10"/>
          </p:nvPr>
        </p:nvSpPr>
        <p:spPr/>
        <p:txBody>
          <a:bodyPr/>
          <a:lstStyle/>
          <a:p>
            <a:fld id="{E2A43B92-3A2D-4964-BD32-AF28A47106C9}" type="slidenum">
              <a:rPr lang="en-US"/>
              <a:t>8</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January deck listed LSMS (275) and FluNet (3) predictors; both are on disk but did not survive the all-country harmonisation and are scored as add-ons in the sensitivity section.</a:t>
            </a:r>
          </a:p>
        </p:txBody>
      </p:sp>
      <p:sp>
        <p:nvSpPr>
          <p:cNvPr id="4" name="Slide Number Placeholder 3"/>
          <p:cNvSpPr>
            <a:spLocks noGrp="1"/>
          </p:cNvSpPr>
          <p:nvPr>
            <p:ph type="sldNum" sz="quarter" idx="10"/>
          </p:nvPr>
        </p:nvSpPr>
        <p:spPr/>
        <p:txBody>
          <a:bodyPr/>
          <a:lstStyle/>
          <a:p>
            <a:fld id="{E2A43B92-3A2D-4964-BD32-AF28A47106C9}" type="slidenum">
              <a:rPr lang="en-US"/>
              <a:t>10</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 the same folds the index scores 0.31 against 0.30 for the rank-loss ensemble, 0.27 for random forest, 0.26 for the squared-error ensemble, 0.22 for the principal-component highly adaptive ridge and 0.20 for the elastic net (mean of cell medians over the 17 cells every arm scored, prevalence, in-fill; SL-01 to SL-05, rerun on the RR-10 set). Likely question: why capacity hurts. With 14 to 87 districts per country the index has no tuned parameter, and every estimator that tunes one shrinks toward the constant under squared-error cross-validation; the weighting slide quantifies this over a family of penalties.</a:t>
            </a:r>
          </a:p>
        </p:txBody>
      </p:sp>
      <p:sp>
        <p:nvSpPr>
          <p:cNvPr id="4" name="Slide Number Placeholder 3"/>
          <p:cNvSpPr>
            <a:spLocks noGrp="1"/>
          </p:cNvSpPr>
          <p:nvPr>
            <p:ph type="sldNum" sz="quarter" idx="10"/>
          </p:nvPr>
        </p:nvSpPr>
        <p:spPr/>
        <p:txBody>
          <a:bodyPr/>
          <a:lstStyle/>
          <a:p>
            <a:fld id="{E2A43B92-3A2D-4964-BD32-AF28A47106C9}" type="slidenum">
              <a:rPr lang="en-US"/>
              <a:t>13</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earlier leaderboard scored transport-style models against an in-fill baseline that read the held-out district’s own respondents; that comparison is withdrawn. Counts of positive cells have a fat null when a country’s outcomes are correlated: with no transport at all, 16 of 22 cells are positive at the 95th percentile of the permutation null, so the mean rank correlation is the statistic compared with its null (0.08 at district level, 0.16 at regional level).</a:t>
            </a:r>
          </a:p>
        </p:txBody>
      </p:sp>
      <p:sp>
        <p:nvSpPr>
          <p:cNvPr id="4" name="Slide Number Placeholder 3"/>
          <p:cNvSpPr>
            <a:spLocks noGrp="1"/>
          </p:cNvSpPr>
          <p:nvPr>
            <p:ph type="sldNum" sz="quarter" idx="10"/>
          </p:nvPr>
        </p:nvSpPr>
        <p:spPr/>
        <p:txBody>
          <a:bodyPr/>
          <a:lstStyle/>
          <a:p>
            <a:fld id="{E2A43B92-3A2D-4964-BD32-AF28A47106C9}" type="slidenum">
              <a:rPr lang="en-US"/>
              <a:t>14</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Cells: 18 on the level (Sierra Leone’s cells score NA at 14 districts). On prevalence the index scores 0.28 against 0.22. The smoother with covariates fitted to its residuals scores 0.40; covariates add +0.01 over the smoother alone on the level. The penalised fits score 0.34 (domain components) and 0.32 (all columns). Likely question: why the smoother does so well. Inside a surveyed country the covariates mostly reproduce a smooth surface that neighbouring districts already provide; the value of the covariates is in unsurveyed regions and countries.</a:t>
            </a:r>
          </a:p>
        </p:txBody>
      </p:sp>
      <p:sp>
        <p:nvSpPr>
          <p:cNvPr id="4" name="Slide Number Placeholder 3"/>
          <p:cNvSpPr>
            <a:spLocks noGrp="1"/>
          </p:cNvSpPr>
          <p:nvPr>
            <p:ph type="sldNum" sz="quarter" idx="10"/>
          </p:nvPr>
        </p:nvSpPr>
        <p:spPr/>
        <p:txBody>
          <a:bodyPr/>
          <a:lstStyle/>
          <a:p>
            <a:fld id="{E2A43B92-3A2D-4964-BD32-AF28A47106C9}" type="slidenum">
              <a:rPr lang="en-US"/>
              <a:t>16</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Leaving out a whole region is where a smoother must extrapolate past the edge of its data. The index and the smoother stay close (0.38 against 0.38 on the level); the null training mean collapses. Ghana and Malawi are the countries where this estimand is well determined; The Gambia and Sierra Leone give one number per region.</a:t>
            </a:r>
          </a:p>
        </p:txBody>
      </p:sp>
      <p:sp>
        <p:nvSpPr>
          <p:cNvPr id="4" name="Slide Number Placeholder 3"/>
          <p:cNvSpPr>
            <a:spLocks noGrp="1"/>
          </p:cNvSpPr>
          <p:nvPr>
            <p:ph type="sldNum" sz="quarter" idx="10"/>
          </p:nvPr>
        </p:nvSpPr>
        <p:spPr/>
        <p:txBody>
          <a:bodyPr/>
          <a:lstStyle/>
          <a:p>
            <a:fld id="{E2A43B92-3A2D-4964-BD32-AF28A47106C9}" type="slidenum">
              <a:rPr lang="en-US"/>
              <a:t>17</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Absolute levels do not transport: raw ferritin differs several-fold between surveys, so the transported product is a ranking. Prevalence: 0.18 at district level (15 of 22 positive) and 0.33 at regional level for the full index; 0.24 at district level for climate and soil. The climate-and-soil pair was chosen on these four countries, so it enters the next country as a pre-registered prediction; honest nested selection of domains inside the training fold gives a median difference of +0.04 from the full index (better in 13 of 22). Since 9 September the DHS-derived predictors are cluster-level spatial estimates at every district (DS-01), which changed nothing in-country and cost the full index 0.01 across borders. Likely question: what a correlation of 0.26 means for a programme. The targeting slide answers in burden captured.</a:t>
            </a:r>
          </a:p>
        </p:txBody>
      </p:sp>
      <p:sp>
        <p:nvSpPr>
          <p:cNvPr id="4" name="Slide Number Placeholder 3"/>
          <p:cNvSpPr>
            <a:spLocks noGrp="1"/>
          </p:cNvSpPr>
          <p:nvPr>
            <p:ph type="sldNum" sz="quarter" idx="10"/>
          </p:nvPr>
        </p:nvSpPr>
        <p:spPr/>
        <p:txBody>
          <a:bodyPr/>
          <a:lstStyle/>
          <a:p>
            <a:fld id="{E2A43B92-3A2D-4964-BD32-AF28A47106C9}" type="slidenum">
              <a:rPr lang="en-US"/>
              <a:t>18</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INLA-SPDE Matern field with penalised-complexity priors, binomial on cluster counts for prevalence and Gaussian for the level, cluster predictions aggregated to districts by effective sample size; run with the first component of every covariate domain and with the DHS Program’s ten-raster list (0.28 on the level). The field alone scores 0.19. The geostatistical model has the lower absolute error on prevalence (9.2 against 10.7 percentage points) because it estimates a level and shrinks toward it. Under region extrapolation the index scores 0.36 against 0.28. The method needs measured clusters inside the country it predicts, so it has no country-transport estimand. Likely question: whether the two are complementary. Yes: the geostatistical model for a calibrated prevalence where a survey exists, the index for a ranking where none does.</a:t>
            </a:r>
          </a:p>
        </p:txBody>
      </p:sp>
      <p:sp>
        <p:nvSpPr>
          <p:cNvPr id="4" name="Slide Number Placeholder 3"/>
          <p:cNvSpPr>
            <a:spLocks noGrp="1"/>
          </p:cNvSpPr>
          <p:nvPr>
            <p:ph type="sldNum" sz="quarter" idx="10"/>
          </p:nvPr>
        </p:nvSpPr>
        <p:spPr/>
        <p:txBody>
          <a:bodyPr/>
          <a:lstStyle/>
          <a:p>
            <a:fld id="{E2A43B92-3A2D-4964-BD32-AF28A47106C9}" type="slidenum">
              <a:rPr lang="en-US"/>
              <a:t>19</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production weights are the infinite-penalty limit of a ridge regression on the components, so the rows are points along that family plus other sources of evidence for the weights (soft thresholding, meta-analytic replication across training countries, decorrelation across domains). Same folds and cells as every other arm; five in-fill draws. The one-SE rules return the null model in some cells (15 of 22 transport cells scored for the elastic net). The twenty-predictor composite gains +0.028 across borders (better in 12 of 22) and costs -0.02 in-fill. The soft threshold gained 0.02 across borders on the direct DHS estimates and +0.002 on the smoothed ones, so that gain was a property of noisy inputs. Both gains were found among 21 arms on these cells and are pre-registered for the next country rather than adopted. Prevalence-target version in the appendix.</a:t>
            </a:r>
          </a:p>
        </p:txBody>
      </p:sp>
      <p:sp>
        <p:nvSpPr>
          <p:cNvPr id="4" name="Slide Number Placeholder 3"/>
          <p:cNvSpPr>
            <a:spLocks noGrp="1"/>
          </p:cNvSpPr>
          <p:nvPr>
            <p:ph type="sldNum" sz="quarter" idx="10"/>
          </p:nvPr>
        </p:nvSpPr>
        <p:spPr/>
        <p:txBody>
          <a:bodyPr/>
          <a:lstStyle/>
          <a:p>
            <a:fld id="{E2A43B92-3A2D-4964-BD32-AF28A47106C9}" type="slidenum">
              <a:rPr lang="en-US"/>
              <a:t>20</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index is linear in the rank-normalised predictors, so its component weights project back exactly onto the 454 columns (scripts 57 and 58). Shown: the ten largest weights in the pooled four-country fit on the biomarker level, coloured by data source; a star marks a sign not reproduced in every country’s own fit. No predictor carries more than 2% of the index’s variance; the satellite embedding, climate and soil together carry 30% to 48% depending on the outcome. Likely question: whether these are causes. They are not; the weights say where deficiency is. Livestock density carrying a positive sign for iron and B12 is ecological: pastoral zones are the dry, poor zones in these countries.</a:t>
            </a:r>
          </a:p>
        </p:txBody>
      </p:sp>
      <p:sp>
        <p:nvSpPr>
          <p:cNvPr id="4" name="Slide Number Placeholder 3"/>
          <p:cNvSpPr>
            <a:spLocks noGrp="1"/>
          </p:cNvSpPr>
          <p:nvPr>
            <p:ph type="sldNum" sz="quarter" idx="10"/>
          </p:nvPr>
        </p:nvSpPr>
        <p:spPr/>
        <p:txBody>
          <a:bodyPr/>
          <a:lstStyle/>
          <a:p>
            <a:fld id="{E2A43B92-3A2D-4964-BD32-AF28A47106C9}" type="slidenum">
              <a:rPr lang="en-US"/>
              <a:t>21</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Predictors in the pooled top 20 of three or more of the six outcomes on the level target, with the sign in each. One gradient recurs: districts that are drier and grassier, less productive (lower net and gross primary productivity), more pastoral, poorer (less home ownership, fewer women in paid work, less schooling) and more stunted rank worse on every deficiency. Outcome-specific signals sit below it: haemoglobin C allele frequency and cattle for child iron, the modelled anaemia surfaces for women’s iron, helminth treatment coverage and the drought index for folate, elevation and coast distance for B12.</a:t>
            </a:r>
          </a:p>
        </p:txBody>
      </p:sp>
      <p:sp>
        <p:nvSpPr>
          <p:cNvPr id="4" name="Slide Number Placeholder 3"/>
          <p:cNvSpPr>
            <a:spLocks noGrp="1"/>
          </p:cNvSpPr>
          <p:nvPr>
            <p:ph type="sldNum" sz="quarter" idx="10"/>
          </p:nvPr>
        </p:nvSpPr>
        <p:spPr/>
        <p:txBody>
          <a:bodyPr/>
          <a:lstStyle/>
          <a:p>
            <a:fld id="{E2A43B92-3A2D-4964-BD32-AF28A47106C9}" type="slidenum">
              <a:rPr lang="en-US"/>
              <a:t>22</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Dawes’ improper linear model: direction from the training fold, equal weights, rescaled like the index; nothing is chosen on held-out districts. Weighting the ten by their index weights instead of equally changes nothing. The composite is a transport and communication tool: twenty public layers a ministry can compute. Likely question: which twenty. The next slide lists the child iron members.</a:t>
            </a:r>
          </a:p>
        </p:txBody>
      </p:sp>
      <p:sp>
        <p:nvSpPr>
          <p:cNvPr id="4" name="Slide Number Placeholder 3"/>
          <p:cNvSpPr>
            <a:spLocks noGrp="1"/>
          </p:cNvSpPr>
          <p:nvPr>
            <p:ph type="sldNum" sz="quarter" idx="10"/>
          </p:nvPr>
        </p:nvSpPr>
        <p:spPr/>
        <p:txBody>
          <a:bodyPr/>
          <a:lstStyle/>
          <a:p>
            <a:fld id="{E2A43B92-3A2D-4964-BD32-AF28A47106C9}" type="slidenum">
              <a:rPr lang="en-US"/>
              <a:t>23</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twenty columns the four-country fit would deploy for child iron, in order of weight, with the sign of the contribution (plus means more deficiency). 20 of the twenty keep their sign in every leave-one-country-out fit and 13 in every country’s own independent fit. In the benchmark the membership is re-chosen inside each training fold; this is the version fitted on all four countries. The other outcomes’ composites are in results/tables/protocol_v2/index_importance_top.csv.</a:t>
            </a:r>
          </a:p>
        </p:txBody>
      </p:sp>
      <p:sp>
        <p:nvSpPr>
          <p:cNvPr id="4" name="Slide Number Placeholder 3"/>
          <p:cNvSpPr>
            <a:spLocks noGrp="1"/>
          </p:cNvSpPr>
          <p:nvPr>
            <p:ph type="sldNum" sz="quarter" idx="10"/>
          </p:nvPr>
        </p:nvSpPr>
        <p:spPr/>
        <p:txBody>
          <a:bodyPr/>
          <a:lstStyle/>
          <a:p>
            <a:fld id="{E2A43B92-3A2D-4964-BD32-AF28A47106C9}" type="slidenum">
              <a:rPr lang="en-US"/>
              <a:t>24</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Districts with survey data only (grey: no survey clusters). Each district’s prediction is made with that district held out (5-fold, averaged over ten draws). The model orders districts; the survey’s own estimate at a single-cluster district is itself noisy, which is what the reliability ceiling slide quantifies.</a:t>
            </a:r>
          </a:p>
        </p:txBody>
      </p:sp>
      <p:sp>
        <p:nvSpPr>
          <p:cNvPr id="4" name="Slide Number Placeholder 3"/>
          <p:cNvSpPr>
            <a:spLocks noGrp="1"/>
          </p:cNvSpPr>
          <p:nvPr>
            <p:ph type="sldNum" sz="quarter" idx="10"/>
          </p:nvPr>
        </p:nvSpPr>
        <p:spPr/>
        <p:txBody>
          <a:bodyPr/>
          <a:lstStyle/>
          <a:p>
            <a:fld id="{E2A43B92-3A2D-4964-BD32-AF28A47106C9}" type="slidenum">
              <a:rPr lang="en-US"/>
              <a:t>25</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dashed line is the share a random fifth of districts would capture. The margin over the survey’s own regional averages is small per cell and concentrates where regions hold three to five districts. Under transport, burden captured is at chance: the transported product is an ordering and brings no targeting gain. Likely question: why the ceiling is only 47%. Burden is spread across districts; even the true worst fifth holds under half of it.</a:t>
            </a:r>
          </a:p>
        </p:txBody>
      </p:sp>
      <p:sp>
        <p:nvSpPr>
          <p:cNvPr id="4" name="Slide Number Placeholder 3"/>
          <p:cNvSpPr>
            <a:spLocks noGrp="1"/>
          </p:cNvSpPr>
          <p:nvPr>
            <p:ph type="sldNum" sz="quarter" idx="10"/>
          </p:nvPr>
        </p:nvSpPr>
        <p:spPr/>
        <p:txBody>
          <a:bodyPr/>
          <a:lstStyle/>
          <a:p>
            <a:fld id="{E2A43B92-3A2D-4964-BD32-AF28A47106C9}" type="slidenum">
              <a:rPr lang="en-US"/>
              <a:t>26</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Positive values mean the domain is load-bearing. The survey-derived domains (household assets, fertility, education, child morbidity, health access) sit at or below zero: removing them does not hurt a new country and in several cases helps. A fixed climate-and-soil index transports at 0.37 at district level and 0.45 regionally against 0.26 and 0.31 for the full vocabulary; it was found on the same four countries it is scored on and enters the next country as a pre-registered prediction.</a:t>
            </a:r>
          </a:p>
        </p:txBody>
      </p:sp>
      <p:sp>
        <p:nvSpPr>
          <p:cNvPr id="4" name="Slide Number Placeholder 3"/>
          <p:cNvSpPr>
            <a:spLocks noGrp="1"/>
          </p:cNvSpPr>
          <p:nvPr>
            <p:ph type="sldNum" sz="quarter" idx="10"/>
          </p:nvPr>
        </p:nvSpPr>
        <p:spPr/>
        <p:txBody>
          <a:bodyPr/>
          <a:lstStyle/>
          <a:p>
            <a:fld id="{E2A43B92-3A2D-4964-BD32-AF28A47106C9}" type="slidenum">
              <a:rPr lang="en-US"/>
              <a:t>27</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January deck’s data-source importance was one country’s in-sample change in mean squared error; this scores transport to a held-out country. Soil, the modelled IHME surfaces, crops and livestock carry it. The household-survey aggregates fit the training countries and do not carry, and the DHS Program’s own cluster-level estimator of those aggregates (DS-01) did not change that.</a:t>
            </a:r>
          </a:p>
        </p:txBody>
      </p:sp>
      <p:sp>
        <p:nvSpPr>
          <p:cNvPr id="4" name="Slide Number Placeholder 3"/>
          <p:cNvSpPr>
            <a:spLocks noGrp="1"/>
          </p:cNvSpPr>
          <p:nvPr>
            <p:ph type="sldNum" sz="quarter" idx="10"/>
          </p:nvPr>
        </p:nvSpPr>
        <p:spPr/>
        <p:txBody>
          <a:bodyPr/>
          <a:lstStyle/>
          <a:p>
            <a:fld id="{E2A43B92-3A2D-4964-BD32-AF28A47106C9}" type="slidenum">
              <a:rPr lang="en-US"/>
              <a:t>28</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Bars are the interquartile range over fits. Likely question: whether four countries are enough. The curve has not flattened at three training countries, which is the argument for adding surveys to the panel rather than changing the estimator.</a:t>
            </a:r>
          </a:p>
        </p:txBody>
      </p:sp>
      <p:sp>
        <p:nvSpPr>
          <p:cNvPr id="4" name="Slide Number Placeholder 3"/>
          <p:cNvSpPr>
            <a:spLocks noGrp="1"/>
          </p:cNvSpPr>
          <p:nvPr>
            <p:ph type="sldNum" sz="quarter" idx="10"/>
          </p:nvPr>
        </p:nvSpPr>
        <p:spPr/>
        <p:txBody>
          <a:bodyPr/>
          <a:lstStyle/>
          <a:p>
            <a:fld id="{E2A43B92-3A2D-4964-BD32-AF28A47106C9}" type="slidenum">
              <a:rPr lang="en-US"/>
              <a:t>29</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Urbanicity composite: night lights, population density, built surface, urban land cover, travel time to health care. The replicated associations (legumes, cattle, soil chemistry, night-time temperature, all toward more deficiency) describe where subsistence agriculture is, so an urban-rural gradient was the rival explanation; partialling it out moves the transported correlation by less than 0.02 and urbanicity alone does not transport.</a:t>
            </a:r>
          </a:p>
        </p:txBody>
      </p:sp>
      <p:sp>
        <p:nvSpPr>
          <p:cNvPr id="4" name="Slide Number Placeholder 3"/>
          <p:cNvSpPr>
            <a:spLocks noGrp="1"/>
          </p:cNvSpPr>
          <p:nvPr>
            <p:ph type="sldNum" sz="quarter" idx="10"/>
          </p:nvPr>
        </p:nvSpPr>
        <p:spPr/>
        <p:txBody>
          <a:bodyPr/>
          <a:lstStyle/>
          <a:p>
            <a:fld id="{E2A43B92-3A2D-4964-BD32-AF28A47106C9}" type="slidenum">
              <a:rPr lang="en-US"/>
              <a:t>30</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Legume cultivation and cattle ownership track more deficiency at district level, the reverse of the household-level dietary relationship, which is an ecological-fallacy signature: the replicated axis is rural subsistence agro-ecology, useful for deciding where to look and uninformative about what to change. No malaria burden indicator replicates; child wasting tracks women’s vitamin A deficiency in all four countries. An earlier version of these slides had the signs inverted.</a:t>
            </a:r>
          </a:p>
        </p:txBody>
      </p:sp>
      <p:sp>
        <p:nvSpPr>
          <p:cNvPr id="4" name="Slide Number Placeholder 3"/>
          <p:cNvSpPr>
            <a:spLocks noGrp="1"/>
          </p:cNvSpPr>
          <p:nvPr>
            <p:ph type="sldNum" sz="quarter" idx="10"/>
          </p:nvPr>
        </p:nvSpPr>
        <p:spPr/>
        <p:txBody>
          <a:bodyPr/>
          <a:lstStyle/>
          <a:p>
            <a:fld id="{E2A43B92-3A2D-4964-BD32-AF28A47106C9}" type="slidenum">
              <a:rPr lang="en-US"/>
              <a:t>31</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respondent-in-cluster-in-district-in-region variance model reproduces the split-half ceiling when the cluster is counted as geography, then removes the cluster term: 22% of the split-half ceiling was cluster effect. Child zinc has no district geography; what looked like geography was the cluster, and the time of the blood draw explains part of the cluster effect (ZN-02).</a:t>
            </a:r>
          </a:p>
        </p:txBody>
      </p:sp>
      <p:sp>
        <p:nvSpPr>
          <p:cNvPr id="4" name="Slide Number Placeholder 3"/>
          <p:cNvSpPr>
            <a:spLocks noGrp="1"/>
          </p:cNvSpPr>
          <p:nvPr>
            <p:ph type="sldNum" sz="quarter" idx="10"/>
          </p:nvPr>
        </p:nvSpPr>
        <p:spPr/>
        <p:txBody>
          <a:bodyPr/>
          <a:lstStyle/>
          <a:p>
            <a:fld id="{E2A43B92-3A2D-4964-BD32-AF28A47106C9}" type="slidenum">
              <a:rPr lang="en-US"/>
              <a:t>32</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district survey matches the anchored ranking’s level error at about 25% of the full sample. The ranking wins on level error only: a district survey of any size captures more burden, because burden sits in populous districts that surveys measure precisely. Fitted symmetrically on a reduced survey, the model’s error degrades in step with the survey’s, so the model improves the ordering at any sample size and does not reduce the sample a survey needs.</a:t>
            </a:r>
          </a:p>
        </p:txBody>
      </p:sp>
      <p:sp>
        <p:nvSpPr>
          <p:cNvPr id="4" name="Slide Number Placeholder 3"/>
          <p:cNvSpPr>
            <a:spLocks noGrp="1"/>
          </p:cNvSpPr>
          <p:nvPr>
            <p:ph type="sldNum" sz="quarter" idx="10"/>
          </p:nvPr>
        </p:nvSpPr>
        <p:spPr/>
        <p:txBody>
          <a:bodyPr/>
          <a:lstStyle/>
          <a:p>
            <a:fld id="{E2A43B92-3A2D-4964-BD32-AF28A47106C9}" type="slidenum">
              <a:rPr lang="en-US"/>
              <a:t>33</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Bars are the interquartile range over cells. No block moves in-fill or transport by more than 0.01 at the median: the vocabulary is saturated. The fieldwork-matched temperature columns are among the most consistently associated with deficiency in the marginal scan yet improve no fold, because a covariate defined by when the survey happened cannot rank districts that have not been surveyed. Found in passing and fixed: the price columns used 2021 as The Gambia’s survey year (fieldwork was January to April 2018), and the satellite embedding had been filed under agriculture.</a:t>
            </a:r>
          </a:p>
        </p:txBody>
      </p:sp>
      <p:sp>
        <p:nvSpPr>
          <p:cNvPr id="4" name="Slide Number Placeholder 3"/>
          <p:cNvSpPr>
            <a:spLocks noGrp="1"/>
          </p:cNvSpPr>
          <p:nvPr>
            <p:ph type="sldNum" sz="quarter" idx="10"/>
          </p:nvPr>
        </p:nvSpPr>
        <p:spPr/>
        <p:txBody>
          <a:bodyPr/>
          <a:lstStyle/>
          <a:p>
            <a:fld id="{E2A43B92-3A2D-4964-BD32-AF28A47106C9}" type="slidenum">
              <a:rPr lang="en-US"/>
              <a:t>35</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323 clusters with GPS; covariates as 2 km (urban) and 5 km (rural) buffer means from rasters on disk; the same estimands with folds cut by district and region. Cluster-fitted models trail district-fitted ones on every estimand and for transport. A precision-weighted index and empirical-Bayes shrinkage of cluster outcomes recover a third to a half of the gap. A matched-vocabulary comparison attributes the remaining gap to the layers rather than the fitting unit. The cluster track is a sensitivity analysis until its vocabulary is matched layer for layer.</a:t>
            </a:r>
          </a:p>
        </p:txBody>
      </p:sp>
      <p:sp>
        <p:nvSpPr>
          <p:cNvPr id="4" name="Slide Number Placeholder 3"/>
          <p:cNvSpPr>
            <a:spLocks noGrp="1"/>
          </p:cNvSpPr>
          <p:nvPr>
            <p:ph type="sldNum" sz="quarter" idx="10"/>
          </p:nvPr>
        </p:nvSpPr>
        <p:spPr/>
        <p:txBody>
          <a:bodyPr/>
          <a:lstStyle/>
          <a:p>
            <a:fld id="{E2A43B92-3A2D-4964-BD32-AF28A47106C9}" type="slidenum">
              <a:rPr lang="en-US"/>
              <a:t>36</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Out-of-fold predictions averaged over ten draws; transport rows use the held-out country’s own national prevalence as the anchor (AR-01 design), the only honest way to put a transported ranking on the prevalence scale. The January deck’s child vitamin A cell was 44 and 75 percent (exact, within one) for the full model from the old leaderboard. For iron and the other outcomes only the 20 percent threshold has a WHO source; the two-class accuracies are in results/tables/protocol_v2/risk_category_accuracy_summary.csv.</a:t>
            </a:r>
          </a:p>
        </p:txBody>
      </p:sp>
      <p:sp>
        <p:nvSpPr>
          <p:cNvPr id="4" name="Slide Number Placeholder 3"/>
          <p:cNvSpPr>
            <a:spLocks noGrp="1"/>
          </p:cNvSpPr>
          <p:nvPr>
            <p:ph type="sldNum" sz="quarter" idx="10"/>
          </p:nvPr>
        </p:nvSpPr>
        <p:spPr/>
        <p:txBody>
          <a:bodyPr/>
          <a:lstStyle/>
          <a:p>
            <a:fld id="{E2A43B92-3A2D-4964-BD32-AF28A47106C9}" type="slidenum">
              <a:rPr lang="en-US"/>
              <a:t>37</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LSMS exists for Ghana alone (GLSS7): 134 region-level household expenditure and asset means, broadcast to districts through the 16-to-10 region crosswalk, so the block varies only across ten regions. It does not improve any Ghana cell beyond noise and cannot be scored across borders. FluNet reports for Ghana and Sierra Leone only and is a national weekly count, constant within a country; it contributes nothing by construction. Both are candidates only if collected sub-nationally in the next countries.</a:t>
            </a:r>
          </a:p>
        </p:txBody>
      </p:sp>
      <p:sp>
        <p:nvSpPr>
          <p:cNvPr id="4" name="Slide Number Placeholder 3"/>
          <p:cNvSpPr>
            <a:spLocks noGrp="1"/>
          </p:cNvSpPr>
          <p:nvPr>
            <p:ph type="sldNum" sz="quarter" idx="10"/>
          </p:nvPr>
        </p:nvSpPr>
        <p:spPr/>
        <p:txBody>
          <a:bodyPr/>
          <a:lstStyle/>
          <a:p>
            <a:fld id="{E2A43B92-3A2D-4964-BD32-AF28A47106C9}" type="slidenum">
              <a:rPr lang="en-US"/>
              <a:t>38</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Library: mean, elastic net, random forest; survey weights; inner folds blocked by district; outer 5-fold by district so no district’s respondents are split across training and test. Survey variables: up to 80 respondent columns with 70 percent coverage after removing biomarkers, adjustments, identifiers, weights, dates and locations. Proxies: the district’s domain components joined to each respondent. Person-level skill exists for iron only (survey-variable AUC up to 0.78 in Ghana and Malawi); vitamin A, folate and B12 show none. The January figure (Brier skill 20 to 60 percent) came from folds not blocked by district and a survey set that included biomarker-adjacent variables. Aggregating a person-level classifier biases area means, so this remains a sensitivity analysis. Rerun on the RR-10 set on 10 September.</a:t>
            </a:r>
          </a:p>
        </p:txBody>
      </p:sp>
      <p:sp>
        <p:nvSpPr>
          <p:cNvPr id="4" name="Slide Number Placeholder 3"/>
          <p:cNvSpPr>
            <a:spLocks noGrp="1"/>
          </p:cNvSpPr>
          <p:nvPr>
            <p:ph type="sldNum" sz="quarter" idx="10"/>
          </p:nvPr>
        </p:nvSpPr>
        <p:spPr/>
        <p:txBody>
          <a:bodyPr/>
          <a:lstStyle/>
          <a:p>
            <a:fld id="{E2A43B92-3A2D-4964-BD32-AF28A47106C9}" type="slidenum">
              <a:rPr lang="en-US"/>
              <a:t>39</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January deck’s national-level track (WHO VMNIS and BRINDA outcomes, FAOSTAT and policy predictors) lives in a separate sub-pipeline last run in April 2026. It is not part of the current protocol and has not been re-audited; the table is its last output for the four survey countries. It is the only track with time series and fortification policy indicators and is a candidate for a rerun under the corrected protocol.</a:t>
            </a:r>
          </a:p>
        </p:txBody>
      </p:sp>
      <p:sp>
        <p:nvSpPr>
          <p:cNvPr id="4" name="Slide Number Placeholder 3"/>
          <p:cNvSpPr>
            <a:spLocks noGrp="1"/>
          </p:cNvSpPr>
          <p:nvPr>
            <p:ph type="sldNum" sz="quarter" idx="10"/>
          </p:nvPr>
        </p:nvSpPr>
        <p:spPr/>
        <p:txBody>
          <a:bodyPr/>
          <a:lstStyle/>
          <a:p>
            <a:fld id="{E2A43B92-3A2D-4964-BD32-AF28A47106C9}" type="slidenum">
              <a:rPr lang="en-US"/>
              <a:t>40</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Urinary iodine is measured in The Gambia (continuous, with household salt iodine) and in Sierra Leone (six WHO categories, non-lactating women); it left the modelling outcomes because a one- or two-country outcome has no leave-one-country-out test. Targets: district prevalence of urinary iodine concentration below 100 micrograms per litre and, for The Gambia, the district median. In-fill needs at least 15 districts, so it runs for The Gambia only; leave-one-region-out runs in both. Whether district salt iodisation tracks district iodine status is in results/tables/protocol_v2/iodine_in_country.csv (rows analysis = descriptive).</a:t>
            </a:r>
          </a:p>
        </p:txBody>
      </p:sp>
      <p:sp>
        <p:nvSpPr>
          <p:cNvPr id="4" name="Slide Number Placeholder 3"/>
          <p:cNvSpPr>
            <a:spLocks noGrp="1"/>
          </p:cNvSpPr>
          <p:nvPr>
            <p:ph type="sldNum" sz="quarter" idx="10"/>
          </p:nvPr>
        </p:nvSpPr>
        <p:spPr/>
        <p:txBody>
          <a:bodyPr/>
          <a:lstStyle/>
          <a:p>
            <a:fld id="{E2A43B92-3A2D-4964-BD32-AF28A47106C9}" type="slidenum">
              <a:rPr lang="en-US"/>
              <a:t>41</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checklist agreed at the 10 September check-in, one row per question. Sources: benchmarks_v2_summary.csv (in-fill and country transport, biomarker level), transport_null_calibration.csv (95th percentile of the permutation null), nested_domain_selection.csv (fixed climate-and-soil set), index_importance_domains.csv (pooled shares of the three remotely sensed domains), anchor_and_rank.csv (AR-01, 5% fraction, climate-and-soil set, ranks from prevalence), variance_components_ceiling.csv (prevalence, admin2). Levels do not transport because the surveys differ in year, season, team and calibration (fe_transport_level_offset); the anchor supplies the level the ranking lacks. Guiding the next survey is a design result on these four surveys, not a pilot.</a:t>
            </a:r>
          </a:p>
        </p:txBody>
      </p:sp>
      <p:sp>
        <p:nvSpPr>
          <p:cNvPr id="4" name="Slide Number Placeholder 3"/>
          <p:cNvSpPr>
            <a:spLocks noGrp="1"/>
          </p:cNvSpPr>
          <p:nvPr>
            <p:ph type="sldNum" sz="quarter" idx="10"/>
          </p:nvPr>
        </p:nvSpPr>
        <p:spPr/>
        <p:txBody>
          <a:bodyPr/>
          <a:lstStyle/>
          <a:p>
            <a:fld id="{E2A43B92-3A2D-4964-BD32-AF28A47106C9}" type="slidenum">
              <a:rPr lang="en-US"/>
              <a:t>44</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Sources: docs/findings/TWO_READINGS_2026-09f.md (current abstracts), SANDBOX_LOG_2026-09.md (every experiment), PREREGISTRATION_NEW_COUNTRIES_2026-09.md, CLUSTER_LEVEL_DESIGN_2026-09.md. Every table in this deck is read at render time from results/tables.</a:t>
            </a:r>
          </a:p>
        </p:txBody>
      </p:sp>
      <p:sp>
        <p:nvSpPr>
          <p:cNvPr id="4" name="Slide Number Placeholder 3"/>
          <p:cNvSpPr>
            <a:spLocks noGrp="1"/>
          </p:cNvSpPr>
          <p:nvPr>
            <p:ph type="sldNum" sz="quarter" idx="10"/>
          </p:nvPr>
        </p:nvSpPr>
        <p:spPr/>
        <p:txBody>
          <a:bodyPr/>
          <a:lstStyle/>
          <a:p>
            <a:fld id="{E2A43B92-3A2D-4964-BD32-AF28A47106C9}" type="slidenum">
              <a:rPr lang="en-US"/>
              <a:t>45</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Prevalence target, same arms and folds as the biomarker-level figure. Mean Spearman over cells with a 95% interval across cells.</a:t>
            </a:r>
          </a:p>
        </p:txBody>
      </p:sp>
      <p:sp>
        <p:nvSpPr>
          <p:cNvPr id="4" name="Slide Number Placeholder 3"/>
          <p:cNvSpPr>
            <a:spLocks noGrp="1"/>
          </p:cNvSpPr>
          <p:nvPr>
            <p:ph type="sldNum" sz="quarter" idx="10"/>
          </p:nvPr>
        </p:nvSpPr>
        <p:spPr/>
        <p:txBody>
          <a:bodyPr/>
          <a:lstStyle/>
          <a:p>
            <a:fld id="{E2A43B92-3A2D-4964-BD32-AF28A47106C9}" type="slidenum">
              <a:rPr lang="en-US"/>
              <a:t>47</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In-fill, prevalence. The geostatistical model estimates a level and shrinks uncertain districts toward the mean, which lowers absolute error; the index ranks and is rescaled to the training outcome’s spread, which does not. If the deliverable is a prevalence figure for a named district, the geostatistical model is the right tool; if it is a ranking, the index is.</a:t>
            </a:r>
          </a:p>
        </p:txBody>
      </p:sp>
      <p:sp>
        <p:nvSpPr>
          <p:cNvPr id="4" name="Slide Number Placeholder 3"/>
          <p:cNvSpPr>
            <a:spLocks noGrp="1"/>
          </p:cNvSpPr>
          <p:nvPr>
            <p:ph type="sldNum" sz="quarter" idx="10"/>
          </p:nvPr>
        </p:nvSpPr>
        <p:spPr/>
        <p:txBody>
          <a:bodyPr/>
          <a:lstStyle/>
          <a:p>
            <a:fld id="{E2A43B92-3A2D-4964-BD32-AF28A47106C9}" type="slidenum">
              <a:rPr lang="en-US"/>
              <a:t>48</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individual-level SuperLearner remains a sensitivity analysis because shrinking a noisy individual classifier biases area means; it was removed from the dashboard on 13 September, which now shows only the protocol’s index (amertens.shinyapps.io/micronutrient-burden).</a:t>
            </a:r>
          </a:p>
        </p:txBody>
      </p:sp>
      <p:sp>
        <p:nvSpPr>
          <p:cNvPr id="4" name="Slide Number Placeholder 3"/>
          <p:cNvSpPr>
            <a:spLocks noGrp="1"/>
          </p:cNvSpPr>
          <p:nvPr>
            <p:ph type="sldNum" sz="quarter" idx="10"/>
          </p:nvPr>
        </p:nvSpPr>
        <p:spPr/>
        <p:txBody>
          <a:bodyPr/>
          <a:lstStyle/>
          <a:p>
            <a:fld id="{E2A43B92-3A2D-4964-BD32-AF28A47106C9}" type="slidenum">
              <a:rPr lang="en-US"/>
              <a:t>49</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
        <p:nvSpPr>
          <p:cNvPr id="7" name="TextBox 6">
            <a:extLst>
              <a:ext uri="{FF2B5EF4-FFF2-40B4-BE49-F238E27FC236}">
                <a16:creationId xmlns:a16="http://schemas.microsoft.com/office/drawing/2014/main" id="{DBB63C27-DD85-8476-375D-EB16F5A6ADB0}"/>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844691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9A3B38-64E1-431E-BEA9-6580D124E61C}" type="datetimeFigureOut">
              <a:rPr lang="en-GB" smtClean="0"/>
              <a:t>14/01/2026</a:t>
            </a:fld>
            <a:endParaRPr lang="en-GB"/>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7558A8C7-06A4-4826-B9D4-6AFEE114A5DB}" type="slidenum">
              <a:rPr lang="en-GB" smtClean="0"/>
              <a:t>‹#›</a:t>
            </a:fld>
            <a:endParaRPr lang="en-GB"/>
          </a:p>
        </p:txBody>
      </p:sp>
      <p:sp>
        <p:nvSpPr>
          <p:cNvPr id="7" name="TextBox 6">
            <a:extLst>
              <a:ext uri="{FF2B5EF4-FFF2-40B4-BE49-F238E27FC236}">
                <a16:creationId xmlns:a16="http://schemas.microsoft.com/office/drawing/2014/main" id="{AE1C6CC3-8F74-EDBB-C900-31606B76182B}"/>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761388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9A3B38-64E1-431E-BEA9-6580D124E61C}" type="datetimeFigureOut">
              <a:rPr lang="en-GB" smtClean="0"/>
              <a:t>14/01/2026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558A8C7-06A4-4826-B9D4-6AFEE114A5DB}" type="slidenum">
              <a:rPr lang="en-GB" smtClean="0"/>
              <a:t>‹#›</a:t>
            </a:fld>
            <a:endParaRPr lang="en-GB"/>
          </a:p>
        </p:txBody>
      </p:sp>
      <p:sp>
        <p:nvSpPr>
          <p:cNvPr id="7" name="TextBox 6">
            <a:extLst>
              <a:ext uri="{FF2B5EF4-FFF2-40B4-BE49-F238E27FC236}">
                <a16:creationId xmlns:a16="http://schemas.microsoft.com/office/drawing/2014/main" id="{7FA9F931-E5AE-F452-FEFF-7D5D0E3B6E23}"/>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479266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9A3B38-64E1-431E-BEA9-6580D124E61C}" type="datetimeFigureOut">
              <a:rPr lang="en-GB" smtClean="0"/>
              <a:t>14/01/2026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558A8C7-06A4-4826-B9D4-6AFEE114A5DB}" type="slidenum">
              <a:rPr lang="en-GB" smtClean="0"/>
              <a:t>‹#›</a:t>
            </a:fld>
            <a:endParaRPr lang="en-GB"/>
          </a:p>
        </p:txBody>
      </p:sp>
      <p:sp>
        <p:nvSpPr>
          <p:cNvPr id="8" name="TextBox 7">
            <a:extLst>
              <a:ext uri="{FF2B5EF4-FFF2-40B4-BE49-F238E27FC236}">
                <a16:creationId xmlns:a16="http://schemas.microsoft.com/office/drawing/2014/main" id="{6792EBD8-CFBD-9CA6-B371-55CFC4AF9CA6}"/>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2417712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9A3B38-64E1-431E-BEA9-6580D124E61C}" type="datetimeFigureOut">
              <a:rPr lang="en-GB" smtClean="0"/>
              <a:t>14/01/2026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558A8C7-06A4-4826-B9D4-6AFEE114A5DB}" type="slidenum">
              <a:rPr lang="en-GB" smtClean="0"/>
              <a:t>‹#›</a:t>
            </a:fld>
            <a:endParaRPr lang="en-GB"/>
          </a:p>
        </p:txBody>
      </p:sp>
      <p:sp>
        <p:nvSpPr>
          <p:cNvPr id="10" name="TextBox 9">
            <a:extLst>
              <a:ext uri="{FF2B5EF4-FFF2-40B4-BE49-F238E27FC236}">
                <a16:creationId xmlns:a16="http://schemas.microsoft.com/office/drawing/2014/main" id="{B9BEB713-6C4A-8232-ACDD-6FA7B502F31D}"/>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087072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9A3B38-64E1-431E-BEA9-6580D124E61C}" type="datetimeFigureOut">
              <a:rPr lang="en-GB" smtClean="0"/>
              <a:t>14/01/2026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558A8C7-06A4-4826-B9D4-6AFEE114A5DB}" type="slidenum">
              <a:rPr lang="en-GB" smtClean="0"/>
              <a:t>‹#›</a:t>
            </a:fld>
            <a:endParaRPr lang="en-GB"/>
          </a:p>
        </p:txBody>
      </p:sp>
      <p:sp>
        <p:nvSpPr>
          <p:cNvPr id="6" name="TextBox 5">
            <a:extLst>
              <a:ext uri="{FF2B5EF4-FFF2-40B4-BE49-F238E27FC236}">
                <a16:creationId xmlns:a16="http://schemas.microsoft.com/office/drawing/2014/main" id="{EDB3E47D-A329-EFAE-BBAF-0D11D0605DC9}"/>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209632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9A3B38-64E1-431E-BEA9-6580D124E61C}" type="datetimeFigureOut">
              <a:rPr lang="en-GB" smtClean="0"/>
              <a:t>14/01/2026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558A8C7-06A4-4826-B9D4-6AFEE114A5DB}" type="slidenum">
              <a:rPr lang="en-GB" smtClean="0"/>
              <a:t>‹#›</a:t>
            </a:fld>
            <a:endParaRPr lang="en-GB"/>
          </a:p>
        </p:txBody>
      </p:sp>
      <p:sp>
        <p:nvSpPr>
          <p:cNvPr id="5" name="TextBox 4">
            <a:extLst>
              <a:ext uri="{FF2B5EF4-FFF2-40B4-BE49-F238E27FC236}">
                <a16:creationId xmlns:a16="http://schemas.microsoft.com/office/drawing/2014/main" id="{B1477A53-470A-CC57-81B5-B7AEF3704FA4}"/>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1932842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9A3B38-64E1-431E-BEA9-6580D124E61C}" type="datetimeFigureOut">
              <a:rPr lang="en-GB" smtClean="0"/>
              <a:t>14/01/2026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558A8C7-06A4-4826-B9D4-6AFEE114A5DB}" type="slidenum">
              <a:rPr lang="en-GB" smtClean="0"/>
              <a:t>‹#›</a:t>
            </a:fld>
            <a:endParaRPr lang="en-GB"/>
          </a:p>
        </p:txBody>
      </p:sp>
      <p:sp>
        <p:nvSpPr>
          <p:cNvPr id="8" name="TextBox 7">
            <a:extLst>
              <a:ext uri="{FF2B5EF4-FFF2-40B4-BE49-F238E27FC236}">
                <a16:creationId xmlns:a16="http://schemas.microsoft.com/office/drawing/2014/main" id="{0FEBA640-1EAD-1558-1817-2B531018C357}"/>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414940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9A3B38-64E1-431E-BEA9-6580D124E61C}" type="datetimeFigureOut">
              <a:rPr lang="en-GB" smtClean="0"/>
              <a:t>14/01/2026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558A8C7-06A4-4826-B9D4-6AFEE114A5DB}" type="slidenum">
              <a:rPr lang="en-GB" smtClean="0"/>
              <a:t>‹#›</a:t>
            </a:fld>
            <a:endParaRPr lang="en-GB"/>
          </a:p>
        </p:txBody>
      </p:sp>
    </p:spTree>
    <p:extLst>
      <p:ext uri="{BB962C8B-B14F-4D97-AF65-F5344CB8AC3E}">
        <p14:creationId xmlns:p14="http://schemas.microsoft.com/office/powerpoint/2010/main" val="23567870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9A3B38-64E1-431E-BEA9-6580D124E61C}" type="datetimeFigureOut">
              <a:rPr lang="en-GB" smtClean="0"/>
              <a:t>14/01/2026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558A8C7-06A4-4826-B9D4-6AFEE114A5DB}" type="slidenum">
              <a:rPr lang="en-GB" smtClean="0"/>
              <a:t>‹#›</a:t>
            </a:fld>
            <a:endParaRPr lang="en-GB"/>
          </a:p>
        </p:txBody>
      </p:sp>
      <p:sp>
        <p:nvSpPr>
          <p:cNvPr id="7" name="TextBox 6">
            <a:extLst>
              <a:ext uri="{FF2B5EF4-FFF2-40B4-BE49-F238E27FC236}">
                <a16:creationId xmlns:a16="http://schemas.microsoft.com/office/drawing/2014/main" id="{EC4FC9C3-F78F-EDAD-63EB-2DBDD24DFA28}"/>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177154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9A3B38-64E1-431E-BEA9-6580D124E61C}" type="datetimeFigureOut">
              <a:rPr lang="en-GB" smtClean="0"/>
              <a:t>14/01/2026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558A8C7-06A4-4826-B9D4-6AFEE114A5DB}" type="slidenum">
              <a:rPr lang="en-GB" smtClean="0"/>
              <a:t>‹#›</a:t>
            </a:fld>
            <a:endParaRPr lang="en-GB"/>
          </a:p>
        </p:txBody>
      </p:sp>
      <p:sp>
        <p:nvSpPr>
          <p:cNvPr id="7" name="TextBox 6">
            <a:extLst>
              <a:ext uri="{FF2B5EF4-FFF2-40B4-BE49-F238E27FC236}">
                <a16:creationId xmlns:a16="http://schemas.microsoft.com/office/drawing/2014/main" id="{A22A0341-EDCF-508D-A7A9-B7A8B8B805AF}"/>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291448896"/>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media/image1.jpg" Type="http://schemas.openxmlformats.org/officeDocument/2006/relationships/image"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nchor="ctr" bIns="45720" lIns="91440" rIns="91440" rtlCol="0" tIns="45720" vert="horz">
            <a:normAutofit/>
          </a:bodyPr>
          <a:lstStyle/>
          <a:p>
            <a:r>
              <a:rPr lang="en-US"/>
              <a:t>Click to edit Master title style</a:t>
            </a:r>
            <a:endParaRPr dirty="0" lang="en-US"/>
          </a:p>
        </p:txBody>
      </p:sp>
      <p:sp>
        <p:nvSpPr>
          <p:cNvPr id="3" name="Text Placeholder 2"/>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4" name="Date Placeholder 3"/>
          <p:cNvSpPr>
            <a:spLocks noGrp="1"/>
          </p:cNvSpPr>
          <p:nvPr>
            <p:ph idx="2" sz="half" type="dt"/>
          </p:nvPr>
        </p:nvSpPr>
        <p:spPr>
          <a:xfrm>
            <a:off x="838200" y="6356350"/>
            <a:ext cx="2743200" cy="365125"/>
          </a:xfrm>
          <a:prstGeom prst="rect">
            <a:avLst/>
          </a:prstGeom>
        </p:spPr>
        <p:txBody>
          <a:bodyPr anchor="ctr" bIns="45720" lIns="91440" rIns="91440" rtlCol="0" tIns="45720" vert="horz"/>
          <a:lstStyle>
            <a:lvl1pPr algn="l">
              <a:defRPr sz="1200">
                <a:solidFill>
                  <a:schemeClr val="tx1">
                    <a:tint val="75000"/>
                  </a:schemeClr>
                </a:solidFill>
              </a:defRPr>
            </a:lvl1pPr>
          </a:lstStyle>
          <a:p>
            <a:fld id="{159A3B38-64E1-431E-BEA9-6580D124E61C}" type="datetimeFigureOut">
              <a:rPr lang="en-GB" smtClean="0"/>
              <a:t>14/01/2026</a:t>
            </a:fld>
            <a:endParaRPr lang="en-GB"/>
          </a:p>
        </p:txBody>
      </p:sp>
      <p:sp>
        <p:nvSpPr>
          <p:cNvPr id="5" name="Footer Placeholder 4"/>
          <p:cNvSpPr>
            <a:spLocks noGrp="1"/>
          </p:cNvSpPr>
          <p:nvPr>
            <p:ph idx="3" sz="quarter" type="ftr"/>
          </p:nvPr>
        </p:nvSpPr>
        <p:spPr>
          <a:xfrm>
            <a:off x="4038600" y="6356350"/>
            <a:ext cx="4114800" cy="365125"/>
          </a:xfrm>
          <a:prstGeom prst="rect">
            <a:avLst/>
          </a:prstGeom>
        </p:spPr>
        <p:txBody>
          <a:bodyPr anchor="ctr" bIns="45720" lIns="91440" rIns="91440" rtlCol="0" tIns="45720" vert="horz"/>
          <a:lstStyle>
            <a:lvl1pPr algn="ctr">
              <a:defRPr sz="1200">
                <a:solidFill>
                  <a:schemeClr val="tx1">
                    <a:tint val="75000"/>
                  </a:schemeClr>
                </a:solidFill>
              </a:defRPr>
            </a:lvl1pPr>
          </a:lstStyle>
          <a:p>
            <a:endParaRPr lang="en-GB"/>
          </a:p>
        </p:txBody>
      </p:sp>
      <p:sp>
        <p:nvSpPr>
          <p:cNvPr id="6" name="Slide Number Placeholder 5"/>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75000"/>
                  </a:schemeClr>
                </a:solidFill>
              </a:defRPr>
            </a:lvl1pPr>
          </a:lstStyle>
          <a:p>
            <a:fld id="{7558A8C7-06A4-4826-B9D4-6AFEE114A5DB}" type="slidenum">
              <a:rPr lang="en-GB" smtClean="0"/>
              <a:t>‹#›</a:t>
            </a:fld>
            <a:endParaRPr lang="en-GB"/>
          </a:p>
        </p:txBody>
      </p:sp>
      <p:pic>
        <p:nvPicPr>
          <p:cNvPr id="7" name="Image 9">
            <a:extLst>
              <a:ext uri="{FF2B5EF4-FFF2-40B4-BE49-F238E27FC236}">
                <a16:creationId xmlns:a16="http://schemas.microsoft.com/office/drawing/2014/main" id="{C0C6644B-E5FD-0AA4-EE55-11FB45AB938A}"/>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6045200"/>
            <a:ext cx="12192000" cy="812800"/>
          </a:xfrm>
          <a:prstGeom prst="rect">
            <a:avLst/>
          </a:prstGeom>
        </p:spPr>
      </p:pic>
    </p:spTree>
    <p:extLst>
      <p:ext uri="{BB962C8B-B14F-4D97-AF65-F5344CB8AC3E}">
        <p14:creationId xmlns:p14="http://schemas.microsoft.com/office/powerpoint/2010/main" val="3175565750"/>
      </p:ext>
    </p:extLst>
  </p:cSld>
  <p:clrMap accent1="accent1" accent2="accent2" accent3="accent3" accent4="accent4" accent5="accent5" accent6="accent6" bg1="lt1" bg2="lt2" folHlink="folHlink" hlink="hlink" tx1="dk1" tx2="dk2"/>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eaLnBrk="1" hangingPunct="1" latinLnBrk="0" rtl="0">
        <a:lnSpc>
          <a:spcPct val="90000"/>
        </a:lnSpc>
        <a:spcBef>
          <a:spcPct val="0"/>
        </a:spcBef>
        <a:buNone/>
        <a:defRPr kern="1200" sz="44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xml" /><Relationship Id="rId3" Type="http://schemas.openxmlformats.org/officeDocument/2006/relationships/image" Target="../media/image22.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3.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24.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5.xml" /><Relationship Id="rId3" Type="http://schemas.openxmlformats.org/officeDocument/2006/relationships/image" Target="../media/image25.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6.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6.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8.xml" /><Relationship Id="rId3" Type="http://schemas.openxmlformats.org/officeDocument/2006/relationships/image" Target="../media/image27.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9.xml" /><Relationship Id="rId3" Type="http://schemas.openxmlformats.org/officeDocument/2006/relationships/image" Target="../media/image28.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0.xml" /><Relationship Id="rId3" Type="http://schemas.openxmlformats.org/officeDocument/2006/relationships/image" Target="../media/image29.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1.xml" /><Relationship Id="rId3" Type="http://schemas.openxmlformats.org/officeDocument/2006/relationships/image" Target="../media/image30.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2.xml" /><Relationship Id="rId3" Type="http://schemas.openxmlformats.org/officeDocument/2006/relationships/image" Target="../media/image31.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 Id="rId3" Type="http://schemas.openxmlformats.org/officeDocument/2006/relationships/image" Target="../media/image32.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5.xml" /><Relationship Id="rId3" Type="http://schemas.openxmlformats.org/officeDocument/2006/relationships/image" Target="../media/image33.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 Id="rId3" Type="http://schemas.openxmlformats.org/officeDocument/2006/relationships/image" Target="../media/image34.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8.xml" /><Relationship Id="rId3" Type="http://schemas.openxmlformats.org/officeDocument/2006/relationships/image" Target="../media/image35.png" /></Relationships>
</file>

<file path=ppt/slides/_rels/slide2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9.xml" /><Relationship Id="rId3" Type="http://schemas.openxmlformats.org/officeDocument/2006/relationships/image" Target="../media/image36.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0.xml" /><Relationship Id="rId3" Type="http://schemas.openxmlformats.org/officeDocument/2006/relationships/image" Target="../media/image37.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1.xml" /><Relationship Id="rId3" Type="http://schemas.openxmlformats.org/officeDocument/2006/relationships/image" Target="../media/image38.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2.xml" /><Relationship Id="rId3" Type="http://schemas.openxmlformats.org/officeDocument/2006/relationships/image" Target="../media/image39.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3.xml" /><Relationship Id="rId3" Type="http://schemas.openxmlformats.org/officeDocument/2006/relationships/image" Target="../media/image40.png" /></Relationships>
</file>

<file path=ppt/slides/_rels/slide3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4.xml" /><Relationship Id="rId3" Type="http://schemas.openxmlformats.org/officeDocument/2006/relationships/image" Target="../media/image41.png" /></Relationships>
</file>

<file path=ppt/slides/_rels/slide3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5.xml" /><Relationship Id="rId3" Type="http://schemas.openxmlformats.org/officeDocument/2006/relationships/image" Target="../media/image42.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6.xml" /><Relationship Id="rId3" Type="http://schemas.openxmlformats.org/officeDocument/2006/relationships/image" Target="../media/image43.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7.xml" /><Relationship Id="rId3" Type="http://schemas.openxmlformats.org/officeDocument/2006/relationships/image" Target="../media/image44.png" /></Relationships>
</file>

<file path=ppt/slides/_rels/slide3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8.xml" /><Relationship Id="rId3" Type="http://schemas.openxmlformats.org/officeDocument/2006/relationships/image" Target="../media/image45.png" /></Relationships>
</file>

<file path=ppt/slides/_rels/slide3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9.xml" /><Relationship Id="rId3" Type="http://schemas.openxmlformats.org/officeDocument/2006/relationships/image" Target="../media/image46.png" /></Relationships>
</file>

<file path=ppt/slides/_rels/slide3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0.xml" /><Relationship Id="rId3" Type="http://schemas.openxmlformats.org/officeDocument/2006/relationships/image" Target="../media/image47.png"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4.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 Id="rId3" Type="http://schemas.openxmlformats.org/officeDocument/2006/relationships/image" Target="../media/image48.png"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 Id="rId3" Type="http://schemas.openxmlformats.org/officeDocument/2006/relationships/image" Target="../media/image49.png"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lstStyle/>
          <a:p>
            <a:pPr lvl="0" indent="0" marL="0">
              <a:buNone/>
            </a:pPr>
            <a:r>
              <a:rPr/>
              <a:t>Proxy modelling of vitamin and mineral deficiencies</a:t>
            </a:r>
          </a:p>
        </p:txBody>
      </p:sp>
      <p:sp>
        <p:nvSpPr>
          <p:cNvPr id="3" name="Subtitle 2"/>
          <p:cNvSpPr>
            <a:spLocks noGrp="1"/>
          </p:cNvSpPr>
          <p:nvPr>
            <p:ph idx="1" type="subTitle"/>
          </p:nvPr>
        </p:nvSpPr>
        <p:spPr>
          <a:xfrm>
            <a:off x="1524000" y="3602038"/>
            <a:ext cx="9144000" cy="1655762"/>
          </a:xfrm>
        </p:spPr>
        <p:txBody>
          <a:bodyPr/>
          <a:lstStyle/>
          <a:p>
            <a:pPr lvl="0" indent="0" marL="0">
              <a:buNone/>
            </a:pPr>
            <a:r>
              <a:rPr/>
              <a:t>Four surveys, one evaluation protocol, September 2026</a:t>
            </a:r>
            <a:br/>
            <a:br/>
            <a:r>
              <a:rPr/>
              <a:t>Andrew N. Mertens, University of California, Berkeley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lstStyle/>
          <a:p>
            <a:pPr lvl="0" indent="0" marL="0">
              <a:buNone/>
            </a:pPr>
            <a:r>
              <a:rPr/>
              <a:t>Background</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Motivation</a:t>
            </a:r>
          </a:p>
        </p:txBody>
      </p:sp>
      <p:sp>
        <p:nvSpPr>
          <p:cNvPr id="3" name="Content Placeholder 2"/>
          <p:cNvSpPr>
            <a:spLocks noGrp="1"/>
          </p:cNvSpPr>
          <p:nvPr>
            <p:ph idx="1" sz="half"/>
          </p:nvPr>
        </p:nvSpPr>
        <p:spPr/>
        <p:txBody>
          <a:bodyPr/>
          <a:lstStyle/>
          <a:p>
            <a:pPr lvl="0"/>
            <a:r>
              <a:rPr/>
              <a:t>Biomarker surveys are rare and costly; programmes need district estimates between them.</a:t>
            </a:r>
          </a:p>
          <a:p>
            <a:pPr lvl="0"/>
            <a:r>
              <a:rPr/>
              <a:t>Four biomarker surveys linked to 454 district-level proxies predict iron, vitamin A, folate, B12 and zinc deficiency.</a:t>
            </a:r>
          </a:p>
        </p:txBody>
      </p:sp>
      <p:pic>
        <p:nvPicPr>
          <p:cNvPr descr="img/old_s02_intro_photo_1.png" id="0" name="Picture 1"/>
          <p:cNvPicPr>
            <a:picLocks noGrp="1" noChangeAspect="1"/>
          </p:cNvPicPr>
          <p:nvPr/>
        </p:nvPicPr>
        <p:blipFill>
          <a:blip r:embed="rId3"/>
          <a:stretch>
            <a:fillRect/>
          </a:stretch>
        </p:blipFill>
        <p:spPr bwMode="auto">
          <a:xfrm>
            <a:off x="6172200" y="2044700"/>
            <a:ext cx="5181600" cy="38862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Aims</a:t>
            </a:r>
          </a:p>
        </p:txBody>
      </p:sp>
      <p:sp>
        <p:nvSpPr>
          <p:cNvPr id="3" name="Content Placeholder 2"/>
          <p:cNvSpPr>
            <a:spLocks noGrp="1"/>
          </p:cNvSpPr>
          <p:nvPr>
            <p:ph idx="1" sz="half"/>
          </p:nvPr>
        </p:nvSpPr>
        <p:spPr/>
        <p:txBody>
          <a:bodyPr/>
          <a:lstStyle/>
          <a:p>
            <a:pPr lvl="0"/>
            <a:r>
              <a:rPr/>
              <a:t>Estimate district deficiency from proxies, validated against biomarker surveys.</a:t>
            </a:r>
          </a:p>
          <a:p>
            <a:pPr lvl="0"/>
            <a:r>
              <a:rPr/>
              <a:t>Identify the districts at greatest risk; say whether a ranking or a level survives.</a:t>
            </a:r>
          </a:p>
          <a:p>
            <a:pPr lvl="0"/>
            <a:r>
              <a:rPr/>
              <a:t>Say what a country with no survey can expect, and what it must still measure.</a:t>
            </a:r>
          </a:p>
        </p:txBody>
      </p:sp>
      <p:pic>
        <p:nvPicPr>
          <p:cNvPr descr="img/old_s03_goals_2.png" id="0" name="Picture 1"/>
          <p:cNvPicPr>
            <a:picLocks noGrp="1" noChangeAspect="1"/>
          </p:cNvPicPr>
          <p:nvPr/>
        </p:nvPicPr>
        <p:blipFill>
          <a:blip r:embed="rId2"/>
          <a:stretch>
            <a:fillRect/>
          </a:stretch>
        </p:blipFill>
        <p:spPr bwMode="auto">
          <a:xfrm>
            <a:off x="7200900" y="1816100"/>
            <a:ext cx="3111500" cy="43434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lstStyle/>
          <a:p>
            <a:pPr lvl="0" indent="0" marL="0">
              <a:buNone/>
            </a:pPr>
            <a:r>
              <a:rPr/>
              <a:t>Data</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Surveys</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4000500"/>
                <a:gridCol w="1828800"/>
                <a:gridCol w="863600"/>
                <a:gridCol w="787400"/>
                <a:gridCol w="3048000"/>
              </a:tblGrid>
              <a:tr h="0">
                <a:tc>
                  <a:txBody>
                    <a:bodyPr/>
                    <a:lstStyle/>
                    <a:p>
                      <a:pPr lvl="0" indent="0" marL="0" algn="l">
                        <a:buNone/>
                      </a:pPr>
                      <a:r>
                        <a:rPr/>
                        <a:t>Survey</a:t>
                      </a:r>
                    </a:p>
                  </a:txBody>
                  <a:tcPr/>
                </a:tc>
                <a:tc>
                  <a:txBody>
                    <a:bodyPr/>
                    <a:lstStyle/>
                    <a:p>
                      <a:pPr lvl="0" indent="0" marL="0" algn="l">
                        <a:buNone/>
                      </a:pPr>
                      <a:r>
                        <a:rPr/>
                        <a:t>Fieldwork</a:t>
                      </a:r>
                    </a:p>
                  </a:txBody>
                  <a:tcPr/>
                </a:tc>
                <a:tc>
                  <a:txBody>
                    <a:bodyPr/>
                    <a:lstStyle/>
                    <a:p>
                      <a:pPr lvl="0" indent="0" marL="0" algn="r">
                        <a:buNone/>
                      </a:pPr>
                      <a:r>
                        <a:rPr/>
                        <a:t>Districts</a:t>
                      </a:r>
                    </a:p>
                  </a:txBody>
                  <a:tcPr/>
                </a:tc>
                <a:tc>
                  <a:txBody>
                    <a:bodyPr/>
                    <a:lstStyle/>
                    <a:p>
                      <a:pPr lvl="0" indent="0" marL="0" algn="r">
                        <a:buNone/>
                      </a:pPr>
                      <a:r>
                        <a:rPr/>
                        <a:t>Clusters</a:t>
                      </a:r>
                    </a:p>
                  </a:txBody>
                  <a:tcPr/>
                </a:tc>
                <a:tc>
                  <a:txBody>
                    <a:bodyPr/>
                    <a:lstStyle/>
                    <a:p>
                      <a:pPr lvl="0" indent="0" marL="0" algn="l">
                        <a:buNone/>
                      </a:pPr>
                      <a:r>
                        <a:rPr/>
                        <a:t>Outcomes</a:t>
                      </a:r>
                    </a:p>
                  </a:txBody>
                  <a:tcPr/>
                </a:tc>
              </a:tr>
              <a:tr h="0">
                <a:tc>
                  <a:txBody>
                    <a:bodyPr/>
                    <a:lstStyle/>
                    <a:p>
                      <a:pPr lvl="0" indent="0" marL="0" algn="l">
                        <a:buNone/>
                      </a:pPr>
                      <a:r>
                        <a:rPr/>
                        <a:t>Gambia Micronutrient Survey 2018 (GMNS)</a:t>
                      </a:r>
                    </a:p>
                  </a:txBody>
                </a:tc>
                <a:tc>
                  <a:txBody>
                    <a:bodyPr/>
                    <a:lstStyle/>
                    <a:p>
                      <a:pPr lvl="0" indent="0" marL="0" algn="l">
                        <a:buNone/>
                      </a:pPr>
                      <a:r>
                        <a:rPr/>
                        <a:t>Jan 2018 to Apr 2018</a:t>
                      </a:r>
                    </a:p>
                  </a:txBody>
                </a:tc>
                <a:tc>
                  <a:txBody>
                    <a:bodyPr/>
                    <a:lstStyle/>
                    <a:p>
                      <a:pPr lvl="0" indent="0" marL="0" algn="r">
                        <a:buNone/>
                      </a:pPr>
                      <a:r>
                        <a:rPr/>
                        <a:t>30</a:t>
                      </a:r>
                    </a:p>
                  </a:txBody>
                </a:tc>
                <a:tc>
                  <a:txBody>
                    <a:bodyPr/>
                    <a:lstStyle/>
                    <a:p>
                      <a:pPr lvl="0" indent="0" marL="0" algn="r">
                        <a:buNone/>
                      </a:pPr>
                      <a:r>
                        <a:rPr/>
                        <a:t>70</a:t>
                      </a:r>
                    </a:p>
                  </a:txBody>
                </a:tc>
                <a:tc>
                  <a:txBody>
                    <a:bodyPr/>
                    <a:lstStyle/>
                    <a:p>
                      <a:pPr lvl="0" indent="0" marL="0" algn="l">
                        <a:buNone/>
                      </a:pPr>
                      <a:r>
                        <a:rPr/>
                        <a:t>vitamin A, iron</a:t>
                      </a:r>
                    </a:p>
                  </a:txBody>
                </a:tc>
              </a:tr>
              <a:tr h="0">
                <a:tc>
                  <a:txBody>
                    <a:bodyPr/>
                    <a:lstStyle/>
                    <a:p>
                      <a:pPr lvl="0" indent="0" marL="0" algn="l">
                        <a:buNone/>
                      </a:pPr>
                      <a:r>
                        <a:rPr/>
                        <a:t>Ghana Micronutrient Survey 2017 (GMS)</a:t>
                      </a:r>
                    </a:p>
                  </a:txBody>
                </a:tc>
                <a:tc>
                  <a:txBody>
                    <a:bodyPr/>
                    <a:lstStyle/>
                    <a:p>
                      <a:pPr lvl="0" indent="0" marL="0" algn="l">
                        <a:buNone/>
                      </a:pPr>
                      <a:r>
                        <a:rPr/>
                        <a:t>Apr 2017 to Jun 2017</a:t>
                      </a:r>
                    </a:p>
                  </a:txBody>
                </a:tc>
                <a:tc>
                  <a:txBody>
                    <a:bodyPr/>
                    <a:lstStyle/>
                    <a:p>
                      <a:pPr lvl="0" indent="0" marL="0" algn="r">
                        <a:buNone/>
                      </a:pPr>
                      <a:r>
                        <a:rPr/>
                        <a:t>75</a:t>
                      </a:r>
                    </a:p>
                  </a:txBody>
                </a:tc>
                <a:tc>
                  <a:txBody>
                    <a:bodyPr/>
                    <a:lstStyle/>
                    <a:p>
                      <a:pPr lvl="0" indent="0" marL="0" algn="r">
                        <a:buNone/>
                      </a:pPr>
                      <a:r>
                        <a:rPr/>
                        <a:t>90</a:t>
                      </a:r>
                    </a:p>
                  </a:txBody>
                </a:tc>
                <a:tc>
                  <a:txBody>
                    <a:bodyPr/>
                    <a:lstStyle/>
                    <a:p>
                      <a:pPr lvl="0" indent="0" marL="0" algn="l">
                        <a:buNone/>
                      </a:pPr>
                      <a:r>
                        <a:rPr/>
                        <a:t>vitamin A, iron, folate, b12</a:t>
                      </a:r>
                    </a:p>
                  </a:txBody>
                </a:tc>
              </a:tr>
              <a:tr h="0">
                <a:tc>
                  <a:txBody>
                    <a:bodyPr/>
                    <a:lstStyle/>
                    <a:p>
                      <a:pPr lvl="0" indent="0" marL="0" algn="l">
                        <a:buNone/>
                      </a:pPr>
                      <a:r>
                        <a:rPr/>
                        <a:t>Malawi Micronutrient Survey 2015-16 (MNS)</a:t>
                      </a:r>
                    </a:p>
                  </a:txBody>
                </a:tc>
                <a:tc>
                  <a:txBody>
                    <a:bodyPr/>
                    <a:lstStyle/>
                    <a:p>
                      <a:pPr lvl="0" indent="0" marL="0" algn="l">
                        <a:buNone/>
                      </a:pPr>
                      <a:r>
                        <a:rPr/>
                        <a:t>Dec 2015 to Feb 2016</a:t>
                      </a:r>
                    </a:p>
                  </a:txBody>
                </a:tc>
                <a:tc>
                  <a:txBody>
                    <a:bodyPr/>
                    <a:lstStyle/>
                    <a:p>
                      <a:pPr lvl="0" indent="0" marL="0" algn="r">
                        <a:buNone/>
                      </a:pPr>
                      <a:r>
                        <a:rPr/>
                        <a:t>87</a:t>
                      </a:r>
                    </a:p>
                  </a:txBody>
                </a:tc>
                <a:tc>
                  <a:txBody>
                    <a:bodyPr/>
                    <a:lstStyle/>
                    <a:p>
                      <a:pPr lvl="0" indent="0" marL="0" algn="r">
                        <a:buNone/>
                      </a:pPr>
                      <a:r>
                        <a:rPr/>
                        <a:t>103</a:t>
                      </a:r>
                    </a:p>
                  </a:txBody>
                </a:tc>
                <a:tc>
                  <a:txBody>
                    <a:bodyPr/>
                    <a:lstStyle/>
                    <a:p>
                      <a:pPr lvl="0" indent="0" marL="0" algn="l">
                        <a:buNone/>
                      </a:pPr>
                      <a:r>
                        <a:rPr/>
                        <a:t>vitamin A, iron, folate, b12, zinc</a:t>
                      </a:r>
                    </a:p>
                  </a:txBody>
                </a:tc>
              </a:tr>
              <a:tr h="0">
                <a:tc>
                  <a:txBody>
                    <a:bodyPr/>
                    <a:lstStyle/>
                    <a:p>
                      <a:pPr lvl="0" indent="0" marL="0" algn="l">
                        <a:buNone/>
                      </a:pPr>
                      <a:r>
                        <a:rPr/>
                        <a:t>Sierra Leone Micronutrient Survey 2013 (SLMS)</a:t>
                      </a:r>
                    </a:p>
                  </a:txBody>
                </a:tc>
                <a:tc>
                  <a:txBody>
                    <a:bodyPr/>
                    <a:lstStyle/>
                    <a:p>
                      <a:pPr lvl="0" indent="0" marL="0" algn="l">
                        <a:buNone/>
                      </a:pPr>
                      <a:r>
                        <a:rPr/>
                        <a:t>Oct 2013 to Dec 2013</a:t>
                      </a:r>
                    </a:p>
                  </a:txBody>
                </a:tc>
                <a:tc>
                  <a:txBody>
                    <a:bodyPr/>
                    <a:lstStyle/>
                    <a:p>
                      <a:pPr lvl="0" indent="0" marL="0" algn="r">
                        <a:buNone/>
                      </a:pPr>
                      <a:r>
                        <a:rPr/>
                        <a:t>14</a:t>
                      </a:r>
                    </a:p>
                  </a:txBody>
                </a:tc>
                <a:tc>
                  <a:txBody>
                    <a:bodyPr/>
                    <a:lstStyle/>
                    <a:p>
                      <a:pPr lvl="0" indent="0" marL="0" algn="r">
                        <a:buNone/>
                      </a:pPr>
                      <a:r>
                        <a:rPr/>
                        <a:t>60</a:t>
                      </a:r>
                    </a:p>
                  </a:txBody>
                </a:tc>
                <a:tc>
                  <a:txBody>
                    <a:bodyPr/>
                    <a:lstStyle/>
                    <a:p>
                      <a:pPr lvl="0" indent="0" marL="0" algn="l">
                        <a:buNone/>
                      </a:pPr>
                      <a:r>
                        <a:rPr/>
                        <a:t>vitamin A, iron, folate, b12</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Outcomes</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965200"/>
                <a:gridCol w="2616200"/>
                <a:gridCol w="1587500"/>
                <a:gridCol w="3467100"/>
                <a:gridCol w="1879600"/>
              </a:tblGrid>
              <a:tr h="0">
                <a:tc>
                  <a:txBody>
                    <a:bodyPr/>
                    <a:lstStyle/>
                    <a:p>
                      <a:pPr lvl="0" indent="0" marL="0" algn="l">
                        <a:buNone/>
                      </a:pPr>
                      <a:r>
                        <a:rPr/>
                        <a:t>Outcome</a:t>
                      </a:r>
                    </a:p>
                  </a:txBody>
                  <a:tcPr/>
                </a:tc>
                <a:tc>
                  <a:txBody>
                    <a:bodyPr/>
                    <a:lstStyle/>
                    <a:p>
                      <a:pPr lvl="0" indent="0" marL="0" algn="l">
                        <a:buNone/>
                      </a:pPr>
                      <a:r>
                        <a:rPr/>
                        <a:t>Population</a:t>
                      </a:r>
                    </a:p>
                  </a:txBody>
                  <a:tcPr/>
                </a:tc>
                <a:tc>
                  <a:txBody>
                    <a:bodyPr/>
                    <a:lstStyle/>
                    <a:p>
                      <a:pPr lvl="0" indent="0" marL="0" algn="l">
                        <a:buNone/>
                      </a:pPr>
                      <a:r>
                        <a:rPr/>
                        <a:t>Countries</a:t>
                      </a:r>
                    </a:p>
                  </a:txBody>
                  <a:tcPr/>
                </a:tc>
                <a:tc>
                  <a:txBody>
                    <a:bodyPr/>
                    <a:lstStyle/>
                    <a:p>
                      <a:pPr lvl="0" indent="0" marL="0" algn="l">
                        <a:buNone/>
                      </a:pPr>
                      <a:r>
                        <a:rPr/>
                        <a:t>Biomarker</a:t>
                      </a:r>
                    </a:p>
                  </a:txBody>
                  <a:tcPr/>
                </a:tc>
                <a:tc>
                  <a:txBody>
                    <a:bodyPr/>
                    <a:lstStyle/>
                    <a:p>
                      <a:pPr lvl="0" indent="0" marL="0" algn="l">
                        <a:buNone/>
                      </a:pPr>
                      <a:r>
                        <a:rPr/>
                        <a:t>Uniform cut-off</a:t>
                      </a:r>
                    </a:p>
                  </a:txBody>
                  <a:tcPr/>
                </a:tc>
              </a:tr>
              <a:tr h="0">
                <a:tc>
                  <a:txBody>
                    <a:bodyPr/>
                    <a:lstStyle/>
                    <a:p>
                      <a:pPr lvl="0" indent="0" marL="0" algn="l">
                        <a:buNone/>
                      </a:pPr>
                      <a:r>
                        <a:rPr/>
                        <a:t>Iron status</a:t>
                      </a:r>
                    </a:p>
                  </a:txBody>
                </a:tc>
                <a:tc>
                  <a:txBody>
                    <a:bodyPr/>
                    <a:lstStyle/>
                    <a:p>
                      <a:pPr lvl="0" indent="0" marL="0" algn="l">
                        <a:buNone/>
                      </a:pPr>
                      <a:r>
                        <a:rPr/>
                        <a:t>Children 6 to 59 months; women 15 to 49 years</a:t>
                      </a:r>
                    </a:p>
                  </a:txBody>
                </a:tc>
                <a:tc>
                  <a:txBody>
                    <a:bodyPr/>
                    <a:lstStyle/>
                    <a:p>
                      <a:pPr lvl="0" indent="0" marL="0" algn="l">
                        <a:buNone/>
                      </a:pPr>
                      <a:r>
                        <a:rPr/>
                        <a:t>All four</a:t>
                      </a:r>
                    </a:p>
                  </a:txBody>
                </a:tc>
                <a:tc>
                  <a:txBody>
                    <a:bodyPr/>
                    <a:lstStyle/>
                    <a:p>
                      <a:pPr lvl="0" indent="0" marL="0" algn="l">
                        <a:buNone/>
                      </a:pPr>
                      <a:r>
                        <a:rPr/>
                        <a:t>Serum ferritin, BRINDA-adjusted</a:t>
                      </a:r>
                    </a:p>
                  </a:txBody>
                </a:tc>
                <a:tc>
                  <a:txBody>
                    <a:bodyPr/>
                    <a:lstStyle/>
                    <a:p>
                      <a:pPr lvl="0" indent="0" marL="0" algn="l">
                        <a:buNone/>
                      </a:pPr>
                      <a:r>
                        <a:rPr/>
                        <a:t>&lt; 12 / &lt; 15 ug/L</a:t>
                      </a:r>
                    </a:p>
                  </a:txBody>
                </a:tc>
              </a:tr>
              <a:tr h="0">
                <a:tc>
                  <a:txBody>
                    <a:bodyPr/>
                    <a:lstStyle/>
                    <a:p>
                      <a:pPr lvl="0" indent="0" marL="0" algn="l">
                        <a:buNone/>
                      </a:pPr>
                      <a:r>
                        <a:rPr/>
                        <a:t>Vitamin A status</a:t>
                      </a:r>
                    </a:p>
                  </a:txBody>
                </a:tc>
                <a:tc>
                  <a:txBody>
                    <a:bodyPr/>
                    <a:lstStyle/>
                    <a:p>
                      <a:pPr lvl="0" indent="0" marL="0" algn="l">
                        <a:buNone/>
                      </a:pPr>
                      <a:r>
                        <a:rPr/>
                        <a:t>Children 6 to 59 months; women 15 to 49 years</a:t>
                      </a:r>
                    </a:p>
                  </a:txBody>
                </a:tc>
                <a:tc>
                  <a:txBody>
                    <a:bodyPr/>
                    <a:lstStyle/>
                    <a:p>
                      <a:pPr lvl="0" indent="0" marL="0" algn="l">
                        <a:buNone/>
                      </a:pPr>
                      <a:r>
                        <a:rPr/>
                        <a:t>All four</a:t>
                      </a:r>
                    </a:p>
                  </a:txBody>
                </a:tc>
                <a:tc>
                  <a:txBody>
                    <a:bodyPr/>
                    <a:lstStyle/>
                    <a:p>
                      <a:pPr lvl="0" indent="0" marL="0" algn="l">
                        <a:buNone/>
                      </a:pPr>
                      <a:r>
                        <a:rPr/>
                        <a:t>Retinol-binding protein, BRINDA-adjusted, retinol equivalent</a:t>
                      </a:r>
                    </a:p>
                  </a:txBody>
                </a:tc>
                <a:tc>
                  <a:txBody>
                    <a:bodyPr/>
                    <a:lstStyle/>
                    <a:p>
                      <a:pPr lvl="0" indent="0" marL="0" algn="l">
                        <a:buNone/>
                      </a:pPr>
                      <a:r>
                        <a:rPr/>
                        <a:t>&lt; 0.70 umol/L retinol equivalent</a:t>
                      </a:r>
                    </a:p>
                  </a:txBody>
                </a:tc>
              </a:tr>
              <a:tr h="0">
                <a:tc>
                  <a:txBody>
                    <a:bodyPr/>
                    <a:lstStyle/>
                    <a:p>
                      <a:pPr lvl="0" indent="0" marL="0" algn="l">
                        <a:buNone/>
                      </a:pPr>
                      <a:r>
                        <a:rPr/>
                        <a:t>Folate</a:t>
                      </a:r>
                    </a:p>
                  </a:txBody>
                </a:tc>
                <a:tc>
                  <a:txBody>
                    <a:bodyPr/>
                    <a:lstStyle/>
                    <a:p>
                      <a:pPr lvl="0" indent="0" marL="0" algn="l">
                        <a:buNone/>
                      </a:pPr>
                      <a:r>
                        <a:rPr/>
                        <a:t>Women 15 to 49 years</a:t>
                      </a:r>
                    </a:p>
                  </a:txBody>
                </a:tc>
                <a:tc>
                  <a:txBody>
                    <a:bodyPr/>
                    <a:lstStyle/>
                    <a:p>
                      <a:pPr lvl="0" indent="0" marL="0" algn="l">
                        <a:buNone/>
                      </a:pPr>
                      <a:r>
                        <a:rPr/>
                        <a:t>Ghana, Sierra Leone, Malawi</a:t>
                      </a:r>
                    </a:p>
                  </a:txBody>
                </a:tc>
                <a:tc>
                  <a:txBody>
                    <a:bodyPr/>
                    <a:lstStyle/>
                    <a:p>
                      <a:pPr lvl="0" indent="0" marL="0" algn="l">
                        <a:buNone/>
                      </a:pPr>
                      <a:r>
                        <a:rPr/>
                        <a:t>Serum folate</a:t>
                      </a:r>
                    </a:p>
                  </a:txBody>
                </a:tc>
                <a:tc>
                  <a:txBody>
                    <a:bodyPr/>
                    <a:lstStyle/>
                    <a:p>
                      <a:pPr lvl="0" indent="0" marL="0" algn="l">
                        <a:buNone/>
                      </a:pPr>
                      <a:r>
                        <a:rPr/>
                        <a:t>&lt; 10 nmol/L</a:t>
                      </a:r>
                    </a:p>
                  </a:txBody>
                </a:tc>
              </a:tr>
              <a:tr h="0">
                <a:tc>
                  <a:txBody>
                    <a:bodyPr/>
                    <a:lstStyle/>
                    <a:p>
                      <a:pPr lvl="0" indent="0" marL="0" algn="l">
                        <a:buNone/>
                      </a:pPr>
                      <a:r>
                        <a:rPr/>
                        <a:t>Vitamin B12</a:t>
                      </a:r>
                    </a:p>
                  </a:txBody>
                </a:tc>
                <a:tc>
                  <a:txBody>
                    <a:bodyPr/>
                    <a:lstStyle/>
                    <a:p>
                      <a:pPr lvl="0" indent="0" marL="0" algn="l">
                        <a:buNone/>
                      </a:pPr>
                      <a:r>
                        <a:rPr/>
                        <a:t>Women 15 to 49 years</a:t>
                      </a:r>
                    </a:p>
                  </a:txBody>
                </a:tc>
                <a:tc>
                  <a:txBody>
                    <a:bodyPr/>
                    <a:lstStyle/>
                    <a:p>
                      <a:pPr lvl="0" indent="0" marL="0" algn="l">
                        <a:buNone/>
                      </a:pPr>
                      <a:r>
                        <a:rPr/>
                        <a:t>Ghana, Sierra Leone, Malawi</a:t>
                      </a:r>
                    </a:p>
                  </a:txBody>
                </a:tc>
                <a:tc>
                  <a:txBody>
                    <a:bodyPr/>
                    <a:lstStyle/>
                    <a:p>
                      <a:pPr lvl="0" indent="0" marL="0" algn="l">
                        <a:buNone/>
                      </a:pPr>
                      <a:r>
                        <a:rPr/>
                        <a:t>Serum B12</a:t>
                      </a:r>
                    </a:p>
                  </a:txBody>
                </a:tc>
                <a:tc>
                  <a:txBody>
                    <a:bodyPr/>
                    <a:lstStyle/>
                    <a:p>
                      <a:pPr lvl="0" indent="0" marL="0" algn="l">
                        <a:buNone/>
                      </a:pPr>
                      <a:r>
                        <a:rPr/>
                        <a:t>&lt; 150 pmol/L</a:t>
                      </a:r>
                    </a:p>
                  </a:txBody>
                </a:tc>
              </a:tr>
              <a:tr h="0">
                <a:tc>
                  <a:txBody>
                    <a:bodyPr/>
                    <a:lstStyle/>
                    <a:p>
                      <a:pPr lvl="0" indent="0" marL="0" algn="l">
                        <a:buNone/>
                      </a:pPr>
                      <a:r>
                        <a:rPr/>
                        <a:t>Zinc</a:t>
                      </a:r>
                    </a:p>
                  </a:txBody>
                </a:tc>
                <a:tc>
                  <a:txBody>
                    <a:bodyPr/>
                    <a:lstStyle/>
                    <a:p>
                      <a:pPr lvl="0" indent="0" marL="0" algn="l">
                        <a:buNone/>
                      </a:pPr>
                      <a:r>
                        <a:rPr/>
                        <a:t>Children; women</a:t>
                      </a:r>
                    </a:p>
                  </a:txBody>
                </a:tc>
                <a:tc>
                  <a:txBody>
                    <a:bodyPr/>
                    <a:lstStyle/>
                    <a:p>
                      <a:pPr lvl="0" indent="0" marL="0" algn="l">
                        <a:buNone/>
                      </a:pPr>
                      <a:r>
                        <a:rPr/>
                        <a:t>Malawi only</a:t>
                      </a:r>
                    </a:p>
                  </a:txBody>
                </a:tc>
                <a:tc>
                  <a:txBody>
                    <a:bodyPr/>
                    <a:lstStyle/>
                    <a:p>
                      <a:pPr lvl="0" indent="0" marL="0" algn="l">
                        <a:buNone/>
                      </a:pPr>
                      <a:r>
                        <a:rPr/>
                        <a:t>Serum zinc</a:t>
                      </a:r>
                    </a:p>
                  </a:txBody>
                </a:tc>
                <a:tc>
                  <a:txBody>
                    <a:bodyPr/>
                    <a:lstStyle/>
                    <a:p>
                      <a:pPr lvl="0" indent="0" marL="0" algn="l">
                        <a:buNone/>
                      </a:pPr>
                      <a:r>
                        <a:rPr/>
                        <a:t>IZiNCG, by time of draw</a:t>
                      </a:r>
                    </a:p>
                  </a:txBody>
                </a:tc>
              </a:tr>
            </a:tbl>
          </a:graphicData>
        </a:graphic>
      </p:graphicFrame>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Conceptual framework: iron deficiency</a:t>
            </a:r>
          </a:p>
        </p:txBody>
      </p:sp>
      <p:pic>
        <p:nvPicPr>
          <p:cNvPr descr="img/old_s06_framework_1.png" id="0" name="Picture 1"/>
          <p:cNvPicPr>
            <a:picLocks noGrp="1" noChangeAspect="1"/>
          </p:cNvPicPr>
          <p:nvPr/>
        </p:nvPicPr>
        <p:blipFill>
          <a:blip r:embed="rId3"/>
          <a:stretch>
            <a:fillRect/>
          </a:stretch>
        </p:blipFill>
        <p:spPr bwMode="auto">
          <a:xfrm>
            <a:off x="3200400" y="1816100"/>
            <a:ext cx="5791200" cy="43434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assembly</a:t>
            </a:r>
          </a:p>
        </p:txBody>
      </p:sp>
      <p:sp>
        <p:nvSpPr>
          <p:cNvPr id="3" name="Content Placeholder 2"/>
          <p:cNvSpPr>
            <a:spLocks noGrp="1"/>
          </p:cNvSpPr>
          <p:nvPr>
            <p:ph idx="1"/>
          </p:nvPr>
        </p:nvSpPr>
        <p:spPr/>
        <p:txBody>
          <a:bodyPr/>
          <a:lstStyle/>
          <a:p>
            <a:pPr lvl="0"/>
            <a:r>
              <a:rPr/>
              <a:t>Clean and merge the national micronutrient surveys, with one uniform outcome definition per nutrient across countries.</a:t>
            </a:r>
          </a:p>
          <a:p>
            <a:pPr lvl="0"/>
            <a:r>
              <a:rPr/>
              <a:t>Link gridded layers to districts as zonal means, and to survey clusters as buffer means.</a:t>
            </a:r>
          </a:p>
          <a:p>
            <a:pPr lvl="0"/>
            <a:r>
              <a:rPr/>
              <a:t>Aggregate DHS and MICS indicators to districts with a cluster-level spatial model, so every district has a value.</a:t>
            </a:r>
          </a:p>
          <a:p>
            <a:pPr lvl="0"/>
            <a:r>
              <a:rPr/>
              <a:t>Rank-normalise every predictor within country before pooling, so that cross-country level offsets cannot act as signal.</a:t>
            </a:r>
          </a:p>
          <a:p>
            <a:pPr lvl="0"/>
            <a:r>
              <a:rPr/>
              <a:t>Reduce each of 24 domains to its leading principal components; nothing is selected on the outcome.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Predictors by source</a:t>
            </a:r>
          </a:p>
        </p:txBody>
      </p:sp>
      <p:sp>
        <p:nvSpPr>
          <p:cNvPr id="3" name="Content Placeholder 2"/>
          <p:cNvSpPr>
            <a:spLocks noGrp="1"/>
          </p:cNvSpPr>
          <p:nvPr>
            <p:ph idx="1" sz="half"/>
          </p:nvPr>
        </p:nvSpPr>
        <p:spPr/>
        <p:txBody>
          <a:bodyPr/>
          <a:lstStyle/>
          <a:p>
            <a:pPr lvl="0" indent="0" marL="0">
              <a:buNone/>
            </a:pPr>
            <a:r>
              <a:rPr/>
              <a:t>454 predictors in 24 domains. The household-survey aggregates and the Earth Engine layers are the largest blocks.</a:t>
            </a:r>
          </a:p>
        </p:txBody>
      </p:sp>
      <p:pic>
        <p:nvPicPr>
          <p:cNvPr descr="MN-proxy-Ghana-presentation-2026-09_files/figure-pptx/sources-1.png" id="0" name="Picture 1"/>
          <p:cNvPicPr>
            <a:picLocks noGrp="1" noChangeAspect="1"/>
          </p:cNvPicPr>
          <p:nvPr/>
        </p:nvPicPr>
        <p:blipFill>
          <a:blip r:embed="rId3"/>
          <a:stretch>
            <a:fillRect/>
          </a:stretch>
        </p:blipFill>
        <p:spPr bwMode="auto">
          <a:xfrm>
            <a:off x="6172200" y="2019300"/>
            <a:ext cx="5181600" cy="39370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Predictor domains</a:t>
            </a:r>
          </a:p>
        </p:txBody>
      </p:sp>
      <p:sp>
        <p:nvSpPr>
          <p:cNvPr id="3" name="Content Placeholder 2"/>
          <p:cNvSpPr>
            <a:spLocks noGrp="1"/>
          </p:cNvSpPr>
          <p:nvPr>
            <p:ph idx="1" sz="half"/>
          </p:nvPr>
        </p:nvSpPr>
        <p:spPr/>
        <p:txBody>
          <a:bodyPr/>
          <a:lstStyle/>
          <a:p>
            <a:pPr lvl="0" indent="0" marL="0">
              <a:buNone/>
            </a:pPr>
            <a:r>
              <a:rPr/>
              <a:t>Columns per domain. The satellite embedding, child morbidity, climate and soil are the four largest domains; each enters the models as its leading principal components to 80% of variance.</a:t>
            </a:r>
          </a:p>
        </p:txBody>
      </p:sp>
      <p:pic>
        <p:nvPicPr>
          <p:cNvPr descr="MN-proxy-Ghana-presentation-2026-09_files/figure-pptx/domains-1.png" id="0" name="Picture 1"/>
          <p:cNvPicPr>
            <a:picLocks noGrp="1" noChangeAspect="1"/>
          </p:cNvPicPr>
          <p:nvPr/>
        </p:nvPicPr>
        <p:blipFill>
          <a:blip r:embed="rId2"/>
          <a:stretch>
            <a:fillRect/>
          </a:stretch>
        </p:blipFill>
        <p:spPr bwMode="auto">
          <a:xfrm>
            <a:off x="6337300" y="1816100"/>
            <a:ext cx="4838700" cy="43434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lstStyle/>
          <a:p>
            <a:pPr lvl="0" indent="0" marL="0">
              <a:buNone/>
            </a:pPr>
            <a:r>
              <a:rPr/>
              <a:t>Protocol</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Estimators</a:t>
            </a:r>
          </a:p>
        </p:txBody>
      </p:sp>
      <p:sp>
        <p:nvSpPr>
          <p:cNvPr id="3" name="Content Placeholder 2"/>
          <p:cNvSpPr>
            <a:spLocks noGrp="1"/>
          </p:cNvSpPr>
          <p:nvPr>
            <p:ph idx="1" sz="half"/>
          </p:nvPr>
        </p:nvSpPr>
        <p:spPr/>
        <p:txBody>
          <a:bodyPr/>
          <a:lstStyle/>
          <a:p>
            <a:pPr lvl="0" indent="0" marL="0">
              <a:buNone/>
            </a:pPr>
            <a:r>
              <a:rPr/>
              <a:t>January: spatial ensemble learning</a:t>
            </a:r>
          </a:p>
          <a:p>
            <a:pPr lvl="0"/>
            <a:r>
              <a:rPr/>
              <a:t>SuperLearner library, weighted by cross-validated performance.</a:t>
            </a:r>
          </a:p>
          <a:p>
            <a:pPr lvl="0"/>
            <a:r>
              <a:rPr/>
              <a:t>Prescreening from thousands of predictors to 10 to 100 per model.</a:t>
            </a:r>
          </a:p>
          <a:p>
            <a:pPr lvl="0"/>
            <a:r>
              <a:rPr/>
              <a:t>Importance by change in mean squared error.</a:t>
            </a:r>
          </a:p>
        </p:txBody>
      </p:sp>
      <p:sp>
        <p:nvSpPr>
          <p:cNvPr id="4" name="Content Placeholder 3"/>
          <p:cNvSpPr>
            <a:spLocks noGrp="1"/>
          </p:cNvSpPr>
          <p:nvPr>
            <p:ph idx="2" sz="half"/>
          </p:nvPr>
        </p:nvSpPr>
        <p:spPr/>
        <p:txBody>
          <a:bodyPr/>
          <a:lstStyle/>
          <a:p>
            <a:pPr lvl="0" indent="0" marL="0">
              <a:buNone/>
            </a:pPr>
            <a:r>
              <a:rPr/>
              <a:t>Current: the corrected protocol</a:t>
            </a:r>
          </a:p>
          <a:p>
            <a:pPr lvl="0"/>
            <a:r>
              <a:rPr/>
              <a:t>Zero-tuning index: domain principal components weighted by their training-fold rank correlation with the outcome.</a:t>
            </a:r>
          </a:p>
          <a:p>
            <a:pPr lvl="0"/>
            <a:r>
              <a:rPr/>
              <a:t>SuperLearner retained as a comparison.</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Estimands</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1651000"/>
                <a:gridCol w="3213100"/>
                <a:gridCol w="2273300"/>
                <a:gridCol w="3378200"/>
              </a:tblGrid>
              <a:tr h="0">
                <a:tc>
                  <a:txBody>
                    <a:bodyPr/>
                    <a:lstStyle/>
                    <a:p>
                      <a:pPr lvl="0" indent="0" marL="0" algn="l">
                        <a:buNone/>
                      </a:pPr>
                      <a:r>
                        <a:rPr/>
                        <a:t>Estimand</a:t>
                      </a:r>
                    </a:p>
                  </a:txBody>
                  <a:tcPr/>
                </a:tc>
                <a:tc>
                  <a:txBody>
                    <a:bodyPr/>
                    <a:lstStyle/>
                    <a:p>
                      <a:pPr lvl="0" indent="0" marL="0" algn="l">
                        <a:buNone/>
                      </a:pPr>
                      <a:r>
                        <a:rPr/>
                        <a:t>Question</a:t>
                      </a:r>
                    </a:p>
                  </a:txBody>
                  <a:tcPr/>
                </a:tc>
                <a:tc>
                  <a:txBody>
                    <a:bodyPr/>
                    <a:lstStyle/>
                    <a:p>
                      <a:pPr lvl="0" indent="0" marL="0" algn="l">
                        <a:buNone/>
                      </a:pPr>
                      <a:r>
                        <a:rPr/>
                        <a:t>Folds</a:t>
                      </a:r>
                    </a:p>
                  </a:txBody>
                  <a:tcPr/>
                </a:tc>
                <a:tc>
                  <a:txBody>
                    <a:bodyPr/>
                    <a:lstStyle/>
                    <a:p>
                      <a:pPr lvl="0" indent="0" marL="0" algn="l">
                        <a:buNone/>
                      </a:pPr>
                      <a:r>
                        <a:rPr/>
                        <a:t>Matched baseline</a:t>
                      </a:r>
                    </a:p>
                  </a:txBody>
                  <a:tcPr/>
                </a:tc>
              </a:tr>
              <a:tr h="0">
                <a:tc>
                  <a:txBody>
                    <a:bodyPr/>
                    <a:lstStyle/>
                    <a:p>
                      <a:pPr lvl="0" indent="0" marL="0" algn="l">
                        <a:buNone/>
                      </a:pPr>
                      <a:r>
                        <a:rPr/>
                        <a:t>In-fill</a:t>
                      </a:r>
                    </a:p>
                  </a:txBody>
                </a:tc>
                <a:tc>
                  <a:txBody>
                    <a:bodyPr/>
                    <a:lstStyle/>
                    <a:p>
                      <a:pPr lvl="0" indent="0" marL="0" algn="l">
                        <a:buNone/>
                      </a:pPr>
                      <a:r>
                        <a:rPr/>
                        <a:t>Unsurveyed district in a surveyed region</a:t>
                      </a:r>
                    </a:p>
                  </a:txBody>
                </a:tc>
                <a:tc>
                  <a:txBody>
                    <a:bodyPr/>
                    <a:lstStyle/>
                    <a:p>
                      <a:pPr lvl="0" indent="0" marL="0" algn="l">
                        <a:buNone/>
                      </a:pPr>
                      <a:r>
                        <a:rPr/>
                        <a:t>5-fold by district, 10 draws</a:t>
                      </a:r>
                    </a:p>
                  </a:txBody>
                </a:tc>
                <a:tc>
                  <a:txBody>
                    <a:bodyPr/>
                    <a:lstStyle/>
                    <a:p>
                      <a:pPr lvl="0" indent="0" marL="0" algn="l">
                        <a:buNone/>
                      </a:pPr>
                      <a:r>
                        <a:rPr/>
                        <a:t>Jackknifed regional mean; spatial smoother</a:t>
                      </a:r>
                    </a:p>
                  </a:txBody>
                </a:tc>
              </a:tr>
              <a:tr h="0">
                <a:tc>
                  <a:txBody>
                    <a:bodyPr/>
                    <a:lstStyle/>
                    <a:p>
                      <a:pPr lvl="0" indent="0" marL="0" algn="l">
                        <a:buNone/>
                      </a:pPr>
                      <a:r>
                        <a:rPr/>
                        <a:t>Region extrapolation</a:t>
                      </a:r>
                    </a:p>
                  </a:txBody>
                </a:tc>
                <a:tc>
                  <a:txBody>
                    <a:bodyPr/>
                    <a:lstStyle/>
                    <a:p>
                      <a:pPr lvl="0" indent="0" marL="0" algn="l">
                        <a:buNone/>
                      </a:pPr>
                      <a:r>
                        <a:rPr/>
                        <a:t>Whole unsurveyed region</a:t>
                      </a:r>
                    </a:p>
                  </a:txBody>
                </a:tc>
                <a:tc>
                  <a:txBody>
                    <a:bodyPr/>
                    <a:lstStyle/>
                    <a:p>
                      <a:pPr lvl="0" indent="0" marL="0" algn="l">
                        <a:buNone/>
                      </a:pPr>
                      <a:r>
                        <a:rPr/>
                        <a:t>Leave-one-region-out</a:t>
                      </a:r>
                    </a:p>
                  </a:txBody>
                </a:tc>
                <a:tc>
                  <a:txBody>
                    <a:bodyPr/>
                    <a:lstStyle/>
                    <a:p>
                      <a:pPr lvl="0" indent="0" marL="0" algn="l">
                        <a:buNone/>
                      </a:pPr>
                      <a:r>
                        <a:rPr/>
                        <a:t>Spatial smoother</a:t>
                      </a:r>
                    </a:p>
                  </a:txBody>
                </a:tc>
              </a:tr>
              <a:tr h="0">
                <a:tc>
                  <a:txBody>
                    <a:bodyPr/>
                    <a:lstStyle/>
                    <a:p>
                      <a:pPr lvl="0" indent="0" marL="0" algn="l">
                        <a:buNone/>
                      </a:pPr>
                      <a:r>
                        <a:rPr/>
                        <a:t>Country transport</a:t>
                      </a:r>
                    </a:p>
                  </a:txBody>
                </a:tc>
                <a:tc>
                  <a:txBody>
                    <a:bodyPr/>
                    <a:lstStyle/>
                    <a:p>
                      <a:pPr lvl="0" indent="0" marL="0" algn="l">
                        <a:buNone/>
                      </a:pPr>
                      <a:r>
                        <a:rPr/>
                        <a:t>Country with no biomarker survey</a:t>
                      </a:r>
                    </a:p>
                  </a:txBody>
                </a:tc>
                <a:tc>
                  <a:txBody>
                    <a:bodyPr/>
                    <a:lstStyle/>
                    <a:p>
                      <a:pPr lvl="0" indent="0" marL="0" algn="l">
                        <a:buNone/>
                      </a:pPr>
                      <a:r>
                        <a:rPr/>
                        <a:t>Leave-one-country-out</a:t>
                      </a:r>
                    </a:p>
                  </a:txBody>
                </a:tc>
                <a:tc>
                  <a:txBody>
                    <a:bodyPr/>
                    <a:lstStyle/>
                    <a:p>
                      <a:pPr lvl="0" indent="0" marL="0" algn="l">
                        <a:buNone/>
                      </a:pPr>
                      <a:r>
                        <a:rPr/>
                        <a:t>Country-block permutation null</a:t>
                      </a:r>
                    </a:p>
                  </a:txBody>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lstStyle/>
          <a:p>
            <a:pPr lvl="0" indent="0" marL="0">
              <a:buNone/>
            </a:pPr>
            <a:r>
              <a:rPr/>
              <a:t>Results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In-fill: district ranking accuracy</a:t>
            </a:r>
          </a:p>
        </p:txBody>
      </p:sp>
      <p:sp>
        <p:nvSpPr>
          <p:cNvPr id="3" name="Content Placeholder 2"/>
          <p:cNvSpPr>
            <a:spLocks noGrp="1"/>
          </p:cNvSpPr>
          <p:nvPr>
            <p:ph idx="1" sz="half"/>
          </p:nvPr>
        </p:nvSpPr>
        <p:spPr/>
        <p:txBody>
          <a:bodyPr/>
          <a:lstStyle/>
          <a:p>
            <a:pPr lvl="0" indent="0" marL="0">
              <a:buNone/>
            </a:pPr>
            <a:r>
              <a:rPr/>
              <a:t>Mean Spearman correlation over the scored cells with a 95% interval across cells. The index reaches 0.40 on the biomarker level against 0.31 for the jackknifed regional mean (better in 13 of 18 cells) and 0.39 for the covariate-free smoother.</a:t>
            </a:r>
          </a:p>
        </p:txBody>
      </p:sp>
      <p:pic>
        <p:nvPicPr>
          <p:cNvPr descr="MN-proxy-Ghana-presentation-2026-09_files/figure-pptx/infill-1.png" id="0" name="Picture 1"/>
          <p:cNvPicPr>
            <a:picLocks noGrp="1" noChangeAspect="1"/>
          </p:cNvPicPr>
          <p:nvPr/>
        </p:nvPicPr>
        <p:blipFill>
          <a:blip r:embed="rId3"/>
          <a:stretch>
            <a:fillRect/>
          </a:stretch>
        </p:blipFill>
        <p:spPr bwMode="auto">
          <a:xfrm>
            <a:off x="6172200" y="1930400"/>
            <a:ext cx="5181600" cy="41148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Region extrapolation</a:t>
            </a:r>
          </a:p>
        </p:txBody>
      </p:sp>
      <p:sp>
        <p:nvSpPr>
          <p:cNvPr id="3" name="Content Placeholder 2"/>
          <p:cNvSpPr>
            <a:spLocks noGrp="1"/>
          </p:cNvSpPr>
          <p:nvPr>
            <p:ph idx="1" sz="half"/>
          </p:nvPr>
        </p:nvSpPr>
        <p:spPr/>
        <p:txBody>
          <a:bodyPr/>
          <a:lstStyle/>
          <a:p>
            <a:pPr lvl="0" indent="0" marL="0">
              <a:buNone/>
            </a:pPr>
            <a:r>
              <a:rPr/>
              <a:t>Leave-one-region-out, mean over cells with a 95% interval. The index scores 0.38 on the level and 0.26 on prevalence; the penalised fits fall to 0.11 and -0.01 on prevalence.</a:t>
            </a:r>
          </a:p>
        </p:txBody>
      </p:sp>
      <p:pic>
        <p:nvPicPr>
          <p:cNvPr descr="MN-proxy-Ghana-presentation-2026-09_files/figure-pptx/region-1.png" id="0" name="Picture 1"/>
          <p:cNvPicPr>
            <a:picLocks noGrp="1" noChangeAspect="1"/>
          </p:cNvPicPr>
          <p:nvPr/>
        </p:nvPicPr>
        <p:blipFill>
          <a:blip r:embed="rId3"/>
          <a:stretch>
            <a:fillRect/>
          </a:stretch>
        </p:blipFill>
        <p:spPr bwMode="auto">
          <a:xfrm>
            <a:off x="6172200" y="1930400"/>
            <a:ext cx="5181600" cy="41148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Country transport</a:t>
            </a:r>
          </a:p>
        </p:txBody>
      </p:sp>
      <p:sp>
        <p:nvSpPr>
          <p:cNvPr id="3" name="Content Placeholder 2"/>
          <p:cNvSpPr>
            <a:spLocks noGrp="1"/>
          </p:cNvSpPr>
          <p:nvPr>
            <p:ph idx="1" sz="half"/>
          </p:nvPr>
        </p:nvSpPr>
        <p:spPr/>
        <p:txBody>
          <a:bodyPr/>
          <a:lstStyle/>
          <a:p>
            <a:pPr lvl="0" indent="0" marL="0">
              <a:buNone/>
            </a:pPr>
            <a:r>
              <a:rPr/>
              <a:t>Leave-one-country-out, 22 cells. The full index scores 0.26 at district level (positive in 17 of 22) and 0.31 at regional level; the climate-and-soil index scores 0.37 and 0.45. Dashed lines are the 95th percentile of the permutation null.</a:t>
            </a:r>
          </a:p>
        </p:txBody>
      </p:sp>
      <p:pic>
        <p:nvPicPr>
          <p:cNvPr descr="MN-proxy-Ghana-presentation-2026-09_files/figure-pptx/transport-1.png" id="0" name="Picture 1"/>
          <p:cNvPicPr>
            <a:picLocks noGrp="1" noChangeAspect="1"/>
          </p:cNvPicPr>
          <p:nvPr/>
        </p:nvPicPr>
        <p:blipFill>
          <a:blip r:embed="rId3"/>
          <a:stretch>
            <a:fillRect/>
          </a:stretch>
        </p:blipFill>
        <p:spPr bwMode="auto">
          <a:xfrm>
            <a:off x="6172200" y="1930400"/>
            <a:ext cx="5181600" cy="41148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Geostatistical comparator</a:t>
            </a:r>
          </a:p>
        </p:txBody>
      </p:sp>
      <p:sp>
        <p:nvSpPr>
          <p:cNvPr id="3" name="Content Placeholder 2"/>
          <p:cNvSpPr>
            <a:spLocks noGrp="1"/>
          </p:cNvSpPr>
          <p:nvPr>
            <p:ph idx="1" sz="half"/>
          </p:nvPr>
        </p:nvSpPr>
        <p:spPr/>
        <p:txBody>
          <a:bodyPr/>
          <a:lstStyle/>
          <a:p>
            <a:pPr lvl="0" indent="0" marL="0">
              <a:buNone/>
            </a:pPr>
            <a:r>
              <a:rPr/>
              <a:t>The DHS Program’s model-based geostatistics fitted at the survey clusters (a spatial field plus covariates), scored on the same district folds. On the level it scores 0.27 against 0.38 for the index (index better in 20 of 24 cells); on prevalence 0.21 against 0.21.</a:t>
            </a:r>
          </a:p>
        </p:txBody>
      </p:sp>
      <p:pic>
        <p:nvPicPr>
          <p:cNvPr descr="MN-proxy-Ghana-presentation-2026-09_files/figure-pptx/geostat-1.png" id="0" name="Picture 1"/>
          <p:cNvPicPr>
            <a:picLocks noGrp="1" noChangeAspect="1"/>
          </p:cNvPicPr>
          <p:nvPr/>
        </p:nvPicPr>
        <p:blipFill>
          <a:blip r:embed="rId3"/>
          <a:stretch>
            <a:fillRect/>
          </a:stretch>
        </p:blipFill>
        <p:spPr bwMode="auto">
          <a:xfrm>
            <a:off x="6172200" y="1930400"/>
            <a:ext cx="5181600" cy="41148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Weighting of the domain components</a:t>
            </a:r>
          </a:p>
        </p:txBody>
      </p:sp>
      <p:sp>
        <p:nvSpPr>
          <p:cNvPr id="3" name="Content Placeholder 2"/>
          <p:cNvSpPr>
            <a:spLocks noGrp="1"/>
          </p:cNvSpPr>
          <p:nvPr>
            <p:ph idx="1" sz="half"/>
          </p:nvPr>
        </p:nvSpPr>
        <p:spPr/>
        <p:txBody>
          <a:bodyPr/>
          <a:lstStyle/>
          <a:p>
            <a:pPr lvl="0" indent="0" marL="0">
              <a:buNone/>
            </a:pPr>
            <a:r>
              <a:rPr/>
              <a:t>Alternative weightings of the same components on the biomarker level. In-country every joint fit loses to the marginal-correlation weights (ridge -0.05, elastic net -0.06, lasso -0.06). Across borders the decorrelated index gains +0.026 (better in 11 of 22).</a:t>
            </a:r>
          </a:p>
        </p:txBody>
      </p:sp>
      <p:pic>
        <p:nvPicPr>
          <p:cNvPr descr="MN-proxy-Ghana-presentation-2026-09_files/figure-pptx/weights-1.png" id="0" name="Picture 1"/>
          <p:cNvPicPr>
            <a:picLocks noGrp="1" noChangeAspect="1"/>
          </p:cNvPicPr>
          <p:nvPr/>
        </p:nvPicPr>
        <p:blipFill>
          <a:blip r:embed="rId3"/>
          <a:stretch>
            <a:fillRect/>
          </a:stretch>
        </p:blipFill>
        <p:spPr bwMode="auto">
          <a:xfrm>
            <a:off x="6337300" y="1816100"/>
            <a:ext cx="4838700" cy="43434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Predictor weights by outcome</a:t>
            </a:r>
          </a:p>
        </p:txBody>
      </p:sp>
      <p:pic>
        <p:nvPicPr>
          <p:cNvPr descr="../../results/figures/protocol_v2/index_importance_top10_level.png" id="0" name="Picture 1"/>
          <p:cNvPicPr>
            <a:picLocks noGrp="1" noChangeAspect="1"/>
          </p:cNvPicPr>
          <p:nvPr/>
        </p:nvPicPr>
        <p:blipFill>
          <a:blip r:embed="rId3"/>
          <a:stretch>
            <a:fillRect/>
          </a:stretch>
        </p:blipFill>
        <p:spPr bwMode="auto">
          <a:xfrm>
            <a:off x="2768600" y="1816100"/>
            <a:ext cx="6642100" cy="43434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Predictors recurring across outcomes</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2921000"/>
                <a:gridCol w="3898900"/>
                <a:gridCol w="1955800"/>
                <a:gridCol w="647700"/>
                <a:gridCol w="1079500"/>
              </a:tblGrid>
              <a:tr h="0">
                <a:tc>
                  <a:txBody>
                    <a:bodyPr/>
                    <a:lstStyle/>
                    <a:p>
                      <a:pPr lvl="0" indent="0" marL="0" algn="l">
                        <a:buNone/>
                      </a:pPr>
                      <a:r>
                        <a:rPr/>
                        <a:t>Predictor</a:t>
                      </a:r>
                    </a:p>
                  </a:txBody>
                  <a:tcPr/>
                </a:tc>
                <a:tc>
                  <a:txBody>
                    <a:bodyPr/>
                    <a:lstStyle/>
                    <a:p>
                      <a:pPr lvl="0" indent="0" marL="0" algn="l">
                        <a:buNone/>
                      </a:pPr>
                      <a:r>
                        <a:rPr/>
                        <a:t>Domain</a:t>
                      </a:r>
                    </a:p>
                  </a:txBody>
                  <a:tcPr/>
                </a:tc>
                <a:tc>
                  <a:txBody>
                    <a:bodyPr/>
                    <a:lstStyle/>
                    <a:p>
                      <a:pPr lvl="0" indent="0" marL="0" algn="r">
                        <a:buNone/>
                      </a:pPr>
                      <a:r>
                        <a:rPr/>
                        <a:t>Outcomes (top 20)</a:t>
                      </a:r>
                    </a:p>
                  </a:txBody>
                  <a:tcPr/>
                </a:tc>
                <a:tc>
                  <a:txBody>
                    <a:bodyPr/>
                    <a:lstStyle/>
                    <a:p>
                      <a:pPr lvl="0" indent="0" marL="0" algn="l">
                        <a:buNone/>
                      </a:pPr>
                      <a:r>
                        <a:rPr/>
                        <a:t>Signs</a:t>
                      </a:r>
                    </a:p>
                  </a:txBody>
                  <a:tcPr/>
                </a:tc>
                <a:tc>
                  <a:txBody>
                    <a:bodyPr/>
                    <a:lstStyle/>
                    <a:p>
                      <a:pPr lvl="0" indent="0" marL="0" algn="r">
                        <a:buNone/>
                      </a:pPr>
                      <a:r>
                        <a:rPr/>
                        <a:t>Mean rank</a:t>
                      </a:r>
                    </a:p>
                  </a:txBody>
                  <a:tcPr/>
                </a:tc>
              </a:tr>
              <a:tr h="0">
                <a:tc>
                  <a:txBody>
                    <a:bodyPr/>
                    <a:lstStyle/>
                    <a:p>
                      <a:pPr lvl="0" indent="0" marL="0" algn="l">
                        <a:buNone/>
                      </a:pPr>
                      <a:r>
                        <a:rPr/>
                        <a:t>fprice_staple_rel</a:t>
                      </a:r>
                    </a:p>
                  </a:txBody>
                </a:tc>
                <a:tc>
                  <a:txBody>
                    <a:bodyPr/>
                    <a:lstStyle/>
                    <a:p>
                      <a:pPr lvl="0" indent="0" marL="0" algn="l">
                        <a:buNone/>
                      </a:pPr>
                      <a:r>
                        <a:rPr/>
                        <a:t>Food prices and supply</a:t>
                      </a:r>
                    </a:p>
                  </a:txBody>
                </a:tc>
                <a:tc>
                  <a:txBody>
                    <a:bodyPr/>
                    <a:lstStyle/>
                    <a:p>
                      <a:pPr lvl="0" indent="0" marL="0" algn="r">
                        <a:buNone/>
                      </a:pPr>
                      <a:r>
                        <a:rPr/>
                        <a:t>5</a:t>
                      </a:r>
                    </a:p>
                  </a:txBody>
                </a:tc>
                <a:tc>
                  <a:txBody>
                    <a:bodyPr/>
                    <a:lstStyle/>
                    <a:p>
                      <a:pPr lvl="0" indent="0" marL="0" algn="l">
                        <a:buNone/>
                      </a:pPr>
                      <a:r>
                        <a:rPr/>
                        <a:t>—–</a:t>
                      </a:r>
                    </a:p>
                  </a:txBody>
                </a:tc>
                <a:tc>
                  <a:txBody>
                    <a:bodyPr/>
                    <a:lstStyle/>
                    <a:p>
                      <a:pPr lvl="0" indent="0" marL="0" algn="r">
                        <a:buNone/>
                      </a:pPr>
                      <a:r>
                        <a:rPr/>
                        <a:t>9.4</a:t>
                      </a:r>
                    </a:p>
                  </a:txBody>
                </a:tc>
              </a:tr>
              <a:tr h="0">
                <a:tc>
                  <a:txBody>
                    <a:bodyPr/>
                    <a:lstStyle/>
                    <a:p>
                      <a:pPr lvl="0" indent="0" marL="0" algn="l">
                        <a:buNone/>
                      </a:pPr>
                      <a:r>
                        <a:rPr/>
                        <a:t>npp_npp_t0</a:t>
                      </a:r>
                    </a:p>
                  </a:txBody>
                </a:tc>
                <a:tc>
                  <a:txBody>
                    <a:bodyPr/>
                    <a:lstStyle/>
                    <a:p>
                      <a:pPr lvl="0" indent="0" marL="0" algn="l">
                        <a:buNone/>
                      </a:pPr>
                      <a:r>
                        <a:rPr/>
                        <a:t>Ecosystem productivity/greenness</a:t>
                      </a:r>
                    </a:p>
                  </a:txBody>
                </a:tc>
                <a:tc>
                  <a:txBody>
                    <a:bodyPr/>
                    <a:lstStyle/>
                    <a:p>
                      <a:pPr lvl="0" indent="0" marL="0" algn="r">
                        <a:buNone/>
                      </a:pPr>
                      <a:r>
                        <a:rPr/>
                        <a:t>4</a:t>
                      </a:r>
                    </a:p>
                  </a:txBody>
                </a:tc>
                <a:tc>
                  <a:txBody>
                    <a:bodyPr/>
                    <a:lstStyle/>
                    <a:p>
                      <a:pPr lvl="0" indent="0" marL="0" algn="l">
                        <a:buNone/>
                      </a:pPr>
                      <a:r>
                        <a:rPr/>
                        <a:t>—-</a:t>
                      </a:r>
                    </a:p>
                  </a:txBody>
                </a:tc>
                <a:tc>
                  <a:txBody>
                    <a:bodyPr/>
                    <a:lstStyle/>
                    <a:p>
                      <a:pPr lvl="0" indent="0" marL="0" algn="r">
                        <a:buNone/>
                      </a:pPr>
                      <a:r>
                        <a:rPr/>
                        <a:t>7.0</a:t>
                      </a:r>
                    </a:p>
                  </a:txBody>
                </a:tc>
              </a:tr>
              <a:tr h="0">
                <a:tc>
                  <a:txBody>
                    <a:bodyPr/>
                    <a:lstStyle/>
                    <a:p>
                      <a:pPr lvl="0" indent="0" marL="0" algn="l">
                        <a:buNone/>
                      </a:pPr>
                      <a:r>
                        <a:rPr/>
                        <a:t>npp_gpp_t0</a:t>
                      </a:r>
                    </a:p>
                  </a:txBody>
                </a:tc>
                <a:tc>
                  <a:txBody>
                    <a:bodyPr/>
                    <a:lstStyle/>
                    <a:p>
                      <a:pPr lvl="0" indent="0" marL="0" algn="l">
                        <a:buNone/>
                      </a:pPr>
                      <a:r>
                        <a:rPr/>
                        <a:t>Ecosystem productivity/greenness</a:t>
                      </a:r>
                    </a:p>
                  </a:txBody>
                </a:tc>
                <a:tc>
                  <a:txBody>
                    <a:bodyPr/>
                    <a:lstStyle/>
                    <a:p>
                      <a:pPr lvl="0" indent="0" marL="0" algn="r">
                        <a:buNone/>
                      </a:pPr>
                      <a:r>
                        <a:rPr/>
                        <a:t>4</a:t>
                      </a:r>
                    </a:p>
                  </a:txBody>
                </a:tc>
                <a:tc>
                  <a:txBody>
                    <a:bodyPr/>
                    <a:lstStyle/>
                    <a:p>
                      <a:pPr lvl="0" indent="0" marL="0" algn="l">
                        <a:buNone/>
                      </a:pPr>
                      <a:r>
                        <a:rPr/>
                        <a:t>—-</a:t>
                      </a:r>
                    </a:p>
                  </a:txBody>
                </a:tc>
                <a:tc>
                  <a:txBody>
                    <a:bodyPr/>
                    <a:lstStyle/>
                    <a:p>
                      <a:pPr lvl="0" indent="0" marL="0" algn="r">
                        <a:buNone/>
                      </a:pPr>
                      <a:r>
                        <a:rPr/>
                        <a:t>9.2</a:t>
                      </a:r>
                    </a:p>
                  </a:txBody>
                </a:tc>
              </a:tr>
              <a:tr h="0">
                <a:tc>
                  <a:txBody>
                    <a:bodyPr/>
                    <a:lstStyle/>
                    <a:p>
                      <a:pPr lvl="0" indent="0" marL="0" algn="l">
                        <a:buNone/>
                      </a:pPr>
                      <a:r>
                        <a:rPr/>
                        <a:t>ihme_underweightprevalence</a:t>
                      </a:r>
                    </a:p>
                  </a:txBody>
                </a:tc>
                <a:tc>
                  <a:txBody>
                    <a:bodyPr/>
                    <a:lstStyle/>
                    <a:p>
                      <a:pPr lvl="0" indent="0" marL="0" algn="l">
                        <a:buNone/>
                      </a:pPr>
                      <a:r>
                        <a:rPr/>
                        <a:t>Nutrition status (MODELLED SURFACE)</a:t>
                      </a:r>
                    </a:p>
                  </a:txBody>
                </a:tc>
                <a:tc>
                  <a:txBody>
                    <a:bodyPr/>
                    <a:lstStyle/>
                    <a:p>
                      <a:pPr lvl="0" indent="0" marL="0" algn="r">
                        <a:buNone/>
                      </a:pPr>
                      <a:r>
                        <a:rPr/>
                        <a:t>3</a:t>
                      </a:r>
                    </a:p>
                  </a:txBody>
                </a:tc>
                <a:tc>
                  <a:txBody>
                    <a:bodyPr/>
                    <a:lstStyle/>
                    <a:p>
                      <a:pPr lvl="0" indent="0" marL="0" algn="l">
                        <a:buNone/>
                      </a:pPr>
                      <a:r>
                        <a:rPr/>
                        <a:t>+++</a:t>
                      </a:r>
                    </a:p>
                  </a:txBody>
                </a:tc>
                <a:tc>
                  <a:txBody>
                    <a:bodyPr/>
                    <a:lstStyle/>
                    <a:p>
                      <a:pPr lvl="0" indent="0" marL="0" algn="r">
                        <a:buNone/>
                      </a:pPr>
                      <a:r>
                        <a:rPr/>
                        <a:t>2.3</a:t>
                      </a:r>
                    </a:p>
                  </a:txBody>
                </a:tc>
              </a:tr>
              <a:tr h="0">
                <a:tc>
                  <a:txBody>
                    <a:bodyPr/>
                    <a:lstStyle/>
                    <a:p>
                      <a:pPr lvl="0" indent="0" marL="0" algn="l">
                        <a:buNone/>
                      </a:pPr>
                      <a:r>
                        <a:rPr/>
                        <a:t>dhs_w_working</a:t>
                      </a:r>
                    </a:p>
                  </a:txBody>
                </a:tc>
                <a:tc>
                  <a:txBody>
                    <a:bodyPr/>
                    <a:lstStyle/>
                    <a:p>
                      <a:pPr lvl="0" indent="0" marL="0" algn="l">
                        <a:buNone/>
                      </a:pPr>
                      <a:r>
                        <a:rPr/>
                        <a:t>Education, employment, SES</a:t>
                      </a:r>
                    </a:p>
                  </a:txBody>
                </a:tc>
                <a:tc>
                  <a:txBody>
                    <a:bodyPr/>
                    <a:lstStyle/>
                    <a:p>
                      <a:pPr lvl="0" indent="0" marL="0" algn="r">
                        <a:buNone/>
                      </a:pPr>
                      <a:r>
                        <a:rPr/>
                        <a:t>3</a:t>
                      </a:r>
                    </a:p>
                  </a:txBody>
                </a:tc>
                <a:tc>
                  <a:txBody>
                    <a:bodyPr/>
                    <a:lstStyle/>
                    <a:p>
                      <a:pPr lvl="0" indent="0" marL="0" algn="l">
                        <a:buNone/>
                      </a:pPr>
                      <a:r>
                        <a:rPr/>
                        <a:t>—</a:t>
                      </a:r>
                    </a:p>
                  </a:txBody>
                </a:tc>
                <a:tc>
                  <a:txBody>
                    <a:bodyPr/>
                    <a:lstStyle/>
                    <a:p>
                      <a:pPr lvl="0" indent="0" marL="0" algn="r">
                        <a:buNone/>
                      </a:pPr>
                      <a:r>
                        <a:rPr/>
                        <a:t>4.0</a:t>
                      </a:r>
                    </a:p>
                  </a:txBody>
                </a:tc>
              </a:tr>
              <a:tr h="0">
                <a:tc>
                  <a:txBody>
                    <a:bodyPr/>
                    <a:lstStyle/>
                    <a:p>
                      <a:pPr lvl="0" indent="0" marL="0" algn="l">
                        <a:buNone/>
                      </a:pPr>
                      <a:r>
                        <a:rPr/>
                        <a:t>ihme_stuntingprevalence</a:t>
                      </a:r>
                    </a:p>
                  </a:txBody>
                </a:tc>
                <a:tc>
                  <a:txBody>
                    <a:bodyPr/>
                    <a:lstStyle/>
                    <a:p>
                      <a:pPr lvl="0" indent="0" marL="0" algn="l">
                        <a:buNone/>
                      </a:pPr>
                      <a:r>
                        <a:rPr/>
                        <a:t>Nutrition status (MODELLED SURFACE)</a:t>
                      </a:r>
                    </a:p>
                  </a:txBody>
                </a:tc>
                <a:tc>
                  <a:txBody>
                    <a:bodyPr/>
                    <a:lstStyle/>
                    <a:p>
                      <a:pPr lvl="0" indent="0" marL="0" algn="r">
                        <a:buNone/>
                      </a:pPr>
                      <a:r>
                        <a:rPr/>
                        <a:t>3</a:t>
                      </a:r>
                    </a:p>
                  </a:txBody>
                </a:tc>
                <a:tc>
                  <a:txBody>
                    <a:bodyPr/>
                    <a:lstStyle/>
                    <a:p>
                      <a:pPr lvl="0" indent="0" marL="0" algn="l">
                        <a:buNone/>
                      </a:pPr>
                      <a:r>
                        <a:rPr/>
                        <a:t>+++</a:t>
                      </a:r>
                    </a:p>
                  </a:txBody>
                </a:tc>
                <a:tc>
                  <a:txBody>
                    <a:bodyPr/>
                    <a:lstStyle/>
                    <a:p>
                      <a:pPr lvl="0" indent="0" marL="0" algn="r">
                        <a:buNone/>
                      </a:pPr>
                      <a:r>
                        <a:rPr/>
                        <a:t>4.3</a:t>
                      </a:r>
                    </a:p>
                  </a:txBody>
                </a:tc>
              </a:tr>
              <a:tr h="0">
                <a:tc>
                  <a:txBody>
                    <a:bodyPr/>
                    <a:lstStyle/>
                    <a:p>
                      <a:pPr lvl="0" indent="0" marL="0" algn="l">
                        <a:buNone/>
                      </a:pPr>
                      <a:r>
                        <a:rPr/>
                        <a:t>glw_ruminant_share</a:t>
                      </a:r>
                    </a:p>
                  </a:txBody>
                </a:tc>
                <a:tc>
                  <a:txBody>
                    <a:bodyPr/>
                    <a:lstStyle/>
                    <a:p>
                      <a:pPr lvl="0" indent="0" marL="0" algn="l">
                        <a:buNone/>
                      </a:pPr>
                      <a:r>
                        <a:rPr/>
                        <a:t>Livestock density</a:t>
                      </a:r>
                    </a:p>
                  </a:txBody>
                </a:tc>
                <a:tc>
                  <a:txBody>
                    <a:bodyPr/>
                    <a:lstStyle/>
                    <a:p>
                      <a:pPr lvl="0" indent="0" marL="0" algn="r">
                        <a:buNone/>
                      </a:pPr>
                      <a:r>
                        <a:rPr/>
                        <a:t>3</a:t>
                      </a:r>
                    </a:p>
                  </a:txBody>
                </a:tc>
                <a:tc>
                  <a:txBody>
                    <a:bodyPr/>
                    <a:lstStyle/>
                    <a:p>
                      <a:pPr lvl="0" indent="0" marL="0" algn="l">
                        <a:buNone/>
                      </a:pPr>
                      <a:r>
                        <a:rPr/>
                        <a:t>+++</a:t>
                      </a:r>
                    </a:p>
                  </a:txBody>
                </a:tc>
                <a:tc>
                  <a:txBody>
                    <a:bodyPr/>
                    <a:lstStyle/>
                    <a:p>
                      <a:pPr lvl="0" indent="0" marL="0" algn="r">
                        <a:buNone/>
                      </a:pPr>
                      <a:r>
                        <a:rPr/>
                        <a:t>5.7</a:t>
                      </a:r>
                    </a:p>
                  </a:txBody>
                </a:tc>
              </a:tr>
              <a:tr h="0">
                <a:tc>
                  <a:txBody>
                    <a:bodyPr/>
                    <a:lstStyle/>
                    <a:p>
                      <a:pPr lvl="0" indent="0" marL="0" algn="l">
                        <a:buNone/>
                      </a:pPr>
                      <a:r>
                        <a:rPr/>
                        <a:t>glw_tlu_per_capita</a:t>
                      </a:r>
                    </a:p>
                  </a:txBody>
                </a:tc>
                <a:tc>
                  <a:txBody>
                    <a:bodyPr/>
                    <a:lstStyle/>
                    <a:p>
                      <a:pPr lvl="0" indent="0" marL="0" algn="l">
                        <a:buNone/>
                      </a:pPr>
                      <a:r>
                        <a:rPr/>
                        <a:t>Livestock density</a:t>
                      </a:r>
                    </a:p>
                  </a:txBody>
                </a:tc>
                <a:tc>
                  <a:txBody>
                    <a:bodyPr/>
                    <a:lstStyle/>
                    <a:p>
                      <a:pPr lvl="0" indent="0" marL="0" algn="r">
                        <a:buNone/>
                      </a:pPr>
                      <a:r>
                        <a:rPr/>
                        <a:t>3</a:t>
                      </a:r>
                    </a:p>
                  </a:txBody>
                </a:tc>
                <a:tc>
                  <a:txBody>
                    <a:bodyPr/>
                    <a:lstStyle/>
                    <a:p>
                      <a:pPr lvl="0" indent="0" marL="0" algn="l">
                        <a:buNone/>
                      </a:pPr>
                      <a:r>
                        <a:rPr/>
                        <a:t>+++</a:t>
                      </a:r>
                    </a:p>
                  </a:txBody>
                </a:tc>
                <a:tc>
                  <a:txBody>
                    <a:bodyPr/>
                    <a:lstStyle/>
                    <a:p>
                      <a:pPr lvl="0" indent="0" marL="0" algn="r">
                        <a:buNone/>
                      </a:pPr>
                      <a:r>
                        <a:rPr/>
                        <a:t>7.3</a:t>
                      </a:r>
                    </a:p>
                  </a:txBody>
                </a:tc>
              </a:tr>
              <a:tr h="0">
                <a:tc>
                  <a:txBody>
                    <a:bodyPr/>
                    <a:lstStyle/>
                    <a:p>
                      <a:pPr lvl="0" indent="0" marL="0" algn="l">
                        <a:buNone/>
                      </a:pPr>
                      <a:r>
                        <a:rPr/>
                        <a:t>ihme_wastingprevalence</a:t>
                      </a:r>
                    </a:p>
                  </a:txBody>
                </a:tc>
                <a:tc>
                  <a:txBody>
                    <a:bodyPr/>
                    <a:lstStyle/>
                    <a:p>
                      <a:pPr lvl="0" indent="0" marL="0" algn="l">
                        <a:buNone/>
                      </a:pPr>
                      <a:r>
                        <a:rPr/>
                        <a:t>Nutrition status (MODELLED SURFACE)</a:t>
                      </a:r>
                    </a:p>
                  </a:txBody>
                </a:tc>
                <a:tc>
                  <a:txBody>
                    <a:bodyPr/>
                    <a:lstStyle/>
                    <a:p>
                      <a:pPr lvl="0" indent="0" marL="0" algn="r">
                        <a:buNone/>
                      </a:pPr>
                      <a:r>
                        <a:rPr/>
                        <a:t>3</a:t>
                      </a:r>
                    </a:p>
                  </a:txBody>
                </a:tc>
                <a:tc>
                  <a:txBody>
                    <a:bodyPr/>
                    <a:lstStyle/>
                    <a:p>
                      <a:pPr lvl="0" indent="0" marL="0" algn="l">
                        <a:buNone/>
                      </a:pPr>
                      <a:r>
                        <a:rPr/>
                        <a:t>+++</a:t>
                      </a:r>
                    </a:p>
                  </a:txBody>
                </a:tc>
                <a:tc>
                  <a:txBody>
                    <a:bodyPr/>
                    <a:lstStyle/>
                    <a:p>
                      <a:pPr lvl="0" indent="0" marL="0" algn="r">
                        <a:buNone/>
                      </a:pPr>
                      <a:r>
                        <a:rPr/>
                        <a:t>16.0</a:t>
                      </a:r>
                    </a:p>
                  </a:txBody>
                </a:tc>
              </a:tr>
            </a:tbl>
          </a:graphicData>
        </a:graphic>
      </p:graphicFrame>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Sparse composites</a:t>
            </a:r>
          </a:p>
        </p:txBody>
      </p:sp>
      <p:sp>
        <p:nvSpPr>
          <p:cNvPr id="3" name="Content Placeholder 2"/>
          <p:cNvSpPr>
            <a:spLocks noGrp="1"/>
          </p:cNvSpPr>
          <p:nvPr>
            <p:ph idx="1" sz="half"/>
          </p:nvPr>
        </p:nvSpPr>
        <p:spPr/>
        <p:txBody>
          <a:bodyPr/>
          <a:lstStyle/>
          <a:p>
            <a:pPr lvl="0" indent="0" marL="0">
              <a:buNone/>
            </a:pPr>
            <a:r>
              <a:rPr/>
              <a:t>Equal-weight composites of the top 5, 10 and 20 predictors, membership chosen inside each training fold by back-projected index weight. Twenty predictors cost -0.02 in-fill and gain +0.028 across borders; five predictors cost -0.07 in-fill.</a:t>
            </a:r>
          </a:p>
        </p:txBody>
      </p:sp>
      <p:pic>
        <p:nvPicPr>
          <p:cNvPr descr="MN-proxy-Ghana-presentation-2026-09_files/figure-pptx/sparse-1.png" id="0" name="Picture 1"/>
          <p:cNvPicPr>
            <a:picLocks noGrp="1" noChangeAspect="1"/>
          </p:cNvPicPr>
          <p:nvPr/>
        </p:nvPicPr>
        <p:blipFill>
          <a:blip r:embed="rId3"/>
          <a:stretch>
            <a:fillRect/>
          </a:stretch>
        </p:blipFill>
        <p:spPr bwMode="auto">
          <a:xfrm>
            <a:off x="6172200" y="2108200"/>
            <a:ext cx="5181600" cy="37465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Child iron composite</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4013200"/>
                <a:gridCol w="2501900"/>
                <a:gridCol w="2349500"/>
                <a:gridCol w="1663700"/>
              </a:tblGrid>
              <a:tr h="0">
                <a:tc>
                  <a:txBody>
                    <a:bodyPr/>
                    <a:lstStyle/>
                    <a:p>
                      <a:pPr lvl="0" indent="0" marL="0" algn="l">
                        <a:buNone/>
                      </a:pPr>
                      <a:r>
                        <a:rPr/>
                        <a:t>Predictor</a:t>
                      </a:r>
                    </a:p>
                  </a:txBody>
                  <a:tcPr/>
                </a:tc>
                <a:tc>
                  <a:txBody>
                    <a:bodyPr/>
                    <a:lstStyle/>
                    <a:p>
                      <a:pPr lvl="0" indent="0" marL="0" algn="l">
                        <a:buNone/>
                      </a:pPr>
                      <a:r>
                        <a:rPr/>
                        <a:t>Source</a:t>
                      </a:r>
                    </a:p>
                  </a:txBody>
                  <a:tcPr/>
                </a:tc>
                <a:tc>
                  <a:txBody>
                    <a:bodyPr/>
                    <a:lstStyle/>
                    <a:p>
                      <a:pPr lvl="0" indent="0" marL="0" algn="l">
                        <a:buNone/>
                      </a:pPr>
                      <a:r>
                        <a:rPr/>
                        <a:t>Predictor</a:t>
                      </a:r>
                    </a:p>
                  </a:txBody>
                  <a:tcPr/>
                </a:tc>
                <a:tc>
                  <a:txBody>
                    <a:bodyPr/>
                    <a:lstStyle/>
                    <a:p>
                      <a:pPr lvl="0" indent="0" marL="0" algn="l">
                        <a:buNone/>
                      </a:pPr>
                      <a:r>
                        <a:rPr/>
                        <a:t>Source</a:t>
                      </a:r>
                    </a:p>
                  </a:txBody>
                  <a:tcPr/>
                </a:tc>
              </a:tr>
              <a:tr h="0">
                <a:tc>
                  <a:txBody>
                    <a:bodyPr/>
                    <a:lstStyle/>
                    <a:p>
                      <a:pPr lvl="0" indent="0" marL="0" algn="l">
                        <a:buNone/>
                      </a:pPr>
                      <a:r>
                        <a:rPr/>
                        <a:t>glw_ruminant_share (+)</a:t>
                      </a:r>
                    </a:p>
                  </a:txBody>
                </a:tc>
                <a:tc>
                  <a:txBody>
                    <a:bodyPr/>
                    <a:lstStyle/>
                    <a:p>
                      <a:pPr lvl="0" indent="0" marL="0" algn="l">
                        <a:buNone/>
                      </a:pPr>
                      <a:r>
                        <a:rPr/>
                        <a:t>Gridded Livestock of the World 4</a:t>
                      </a:r>
                    </a:p>
                  </a:txBody>
                </a:tc>
                <a:tc>
                  <a:txBody>
                    <a:bodyPr/>
                    <a:lstStyle/>
                    <a:p>
                      <a:pPr lvl="0" indent="0" marL="0" algn="l">
                        <a:buNone/>
                      </a:pPr>
                      <a:r>
                        <a:rPr/>
                        <a:t>dhs_w_modern_fp (-)</a:t>
                      </a:r>
                    </a:p>
                  </a:txBody>
                </a:tc>
                <a:tc>
                  <a:txBody>
                    <a:bodyPr/>
                    <a:lstStyle/>
                    <a:p>
                      <a:pPr lvl="0" indent="0" marL="0" algn="l">
                        <a:buNone/>
                      </a:pPr>
                      <a:r>
                        <a:rPr/>
                        <a:t>DHS</a:t>
                      </a:r>
                    </a:p>
                  </a:txBody>
                </a:tc>
              </a:tr>
              <a:tr h="0">
                <a:tc>
                  <a:txBody>
                    <a:bodyPr/>
                    <a:lstStyle/>
                    <a:p>
                      <a:pPr lvl="0" indent="0" marL="0" algn="l">
                        <a:buNone/>
                      </a:pPr>
                      <a:r>
                        <a:rPr/>
                        <a:t>dhs_w_owns_house (-)</a:t>
                      </a:r>
                    </a:p>
                  </a:txBody>
                </a:tc>
                <a:tc>
                  <a:txBody>
                    <a:bodyPr/>
                    <a:lstStyle/>
                    <a:p>
                      <a:pPr lvl="0" indent="0" marL="0" algn="l">
                        <a:buNone/>
                      </a:pPr>
                      <a:r>
                        <a:rPr/>
                        <a:t>DHS</a:t>
                      </a:r>
                    </a:p>
                  </a:txBody>
                </a:tc>
                <a:tc>
                  <a:txBody>
                    <a:bodyPr/>
                    <a:lstStyle/>
                    <a:p>
                      <a:pPr lvl="0" indent="0" marL="0" algn="l">
                        <a:buNone/>
                      </a:pPr>
                      <a:r>
                        <a:rPr/>
                        <a:t>npp_npp_t0 (-)</a:t>
                      </a:r>
                    </a:p>
                  </a:txBody>
                </a:tc>
                <a:tc>
                  <a:txBody>
                    <a:bodyPr/>
                    <a:lstStyle/>
                    <a:p>
                      <a:pPr lvl="0" indent="0" marL="0" algn="l">
                        <a:buNone/>
                      </a:pPr>
                      <a:r>
                        <a:rPr/>
                        <a:t>GEE</a:t>
                      </a:r>
                    </a:p>
                  </a:txBody>
                </a:tc>
              </a:tr>
              <a:tr h="0">
                <a:tc>
                  <a:txBody>
                    <a:bodyPr/>
                    <a:lstStyle/>
                    <a:p>
                      <a:pPr lvl="0" indent="0" marL="0" algn="l">
                        <a:buNone/>
                      </a:pPr>
                      <a:r>
                        <a:rPr/>
                        <a:t>dhs_w_birth_interval_short (-)</a:t>
                      </a:r>
                    </a:p>
                  </a:txBody>
                </a:tc>
                <a:tc>
                  <a:txBody>
                    <a:bodyPr/>
                    <a:lstStyle/>
                    <a:p>
                      <a:pPr lvl="0" indent="0" marL="0" algn="l">
                        <a:buNone/>
                      </a:pPr>
                      <a:r>
                        <a:rPr/>
                        <a:t>DHS</a:t>
                      </a:r>
                    </a:p>
                  </a:txBody>
                </a:tc>
                <a:tc>
                  <a:txBody>
                    <a:bodyPr/>
                    <a:lstStyle/>
                    <a:p>
                      <a:pPr lvl="0" indent="0" marL="0" algn="l">
                        <a:buNone/>
                      </a:pPr>
                      <a:r>
                        <a:rPr/>
                        <a:t>soil_phosphorus_stdev_0_20 (+)</a:t>
                      </a:r>
                    </a:p>
                  </a:txBody>
                </a:tc>
                <a:tc>
                  <a:txBody>
                    <a:bodyPr/>
                    <a:lstStyle/>
                    <a:p>
                      <a:pPr lvl="0" indent="0" marL="0" algn="l">
                        <a:buNone/>
                      </a:pPr>
                      <a:r>
                        <a:rPr/>
                        <a:t>SoilGrids / iSDA</a:t>
                      </a:r>
                    </a:p>
                  </a:txBody>
                </a:tc>
              </a:tr>
              <a:tr h="0">
                <a:tc>
                  <a:txBody>
                    <a:bodyPr/>
                    <a:lstStyle/>
                    <a:p>
                      <a:pPr lvl="0" indent="0" marL="0" algn="l">
                        <a:buNone/>
                      </a:pPr>
                      <a:r>
                        <a:rPr/>
                        <a:t>dhs_w_health_insurance (+)</a:t>
                      </a:r>
                    </a:p>
                  </a:txBody>
                </a:tc>
                <a:tc>
                  <a:txBody>
                    <a:bodyPr/>
                    <a:lstStyle/>
                    <a:p>
                      <a:pPr lvl="0" indent="0" marL="0" algn="l">
                        <a:buNone/>
                      </a:pPr>
                      <a:r>
                        <a:rPr/>
                        <a:t>DHS</a:t>
                      </a:r>
                    </a:p>
                  </a:txBody>
                </a:tc>
                <a:tc>
                  <a:txBody>
                    <a:bodyPr/>
                    <a:lstStyle/>
                    <a:p>
                      <a:pPr lvl="0" indent="0" marL="0" algn="l">
                        <a:buNone/>
                      </a:pPr>
                      <a:r>
                        <a:rPr/>
                        <a:t>dhs_hh_soap_available (+)</a:t>
                      </a:r>
                    </a:p>
                  </a:txBody>
                </a:tc>
                <a:tc>
                  <a:txBody>
                    <a:bodyPr/>
                    <a:lstStyle/>
                    <a:p>
                      <a:pPr lvl="0" indent="0" marL="0" algn="l">
                        <a:buNone/>
                      </a:pPr>
                      <a:r>
                        <a:rPr/>
                        <a:t>DHS</a:t>
                      </a:r>
                    </a:p>
                  </a:txBody>
                </a:tc>
              </a:tr>
              <a:tr h="0">
                <a:tc>
                  <a:txBody>
                    <a:bodyPr/>
                    <a:lstStyle/>
                    <a:p>
                      <a:pPr lvl="0" indent="0" marL="0" algn="l">
                        <a:buNone/>
                      </a:pPr>
                      <a:r>
                        <a:rPr/>
                        <a:t>dhs_w_working (-)</a:t>
                      </a:r>
                    </a:p>
                  </a:txBody>
                </a:tc>
                <a:tc>
                  <a:txBody>
                    <a:bodyPr/>
                    <a:lstStyle/>
                    <a:p>
                      <a:pPr lvl="0" indent="0" marL="0" algn="l">
                        <a:buNone/>
                      </a:pPr>
                      <a:r>
                        <a:rPr/>
                        <a:t>DHS</a:t>
                      </a:r>
                    </a:p>
                  </a:txBody>
                </a:tc>
                <a:tc>
                  <a:txBody>
                    <a:bodyPr/>
                    <a:lstStyle/>
                    <a:p>
                      <a:pPr lvl="0" indent="0" marL="0" algn="l">
                        <a:buNone/>
                      </a:pPr>
                      <a:r>
                        <a:rPr/>
                        <a:t>npp_gpp_t0 (-)</a:t>
                      </a:r>
                    </a:p>
                  </a:txBody>
                </a:tc>
                <a:tc>
                  <a:txBody>
                    <a:bodyPr/>
                    <a:lstStyle/>
                    <a:p>
                      <a:pPr lvl="0" indent="0" marL="0" algn="l">
                        <a:buNone/>
                      </a:pPr>
                      <a:r>
                        <a:rPr/>
                        <a:t>GEE</a:t>
                      </a:r>
                    </a:p>
                  </a:txBody>
                </a:tc>
              </a:tr>
              <a:tr h="0">
                <a:tc>
                  <a:txBody>
                    <a:bodyPr/>
                    <a:lstStyle/>
                    <a:p>
                      <a:pPr lvl="0" indent="0" marL="0" algn="l">
                        <a:buNone/>
                      </a:pPr>
                      <a:r>
                        <a:rPr/>
                        <a:t>spam_share_cereals (+)</a:t>
                      </a:r>
                    </a:p>
                  </a:txBody>
                </a:tc>
                <a:tc>
                  <a:txBody>
                    <a:bodyPr/>
                    <a:lstStyle/>
                    <a:p>
                      <a:pPr lvl="0" indent="0" marL="0" algn="l">
                        <a:buNone/>
                      </a:pPr>
                      <a:r>
                        <a:rPr/>
                        <a:t>MapSPAM</a:t>
                      </a:r>
                    </a:p>
                  </a:txBody>
                </a:tc>
                <a:tc>
                  <a:txBody>
                    <a:bodyPr/>
                    <a:lstStyle/>
                    <a:p>
                      <a:pPr lvl="0" indent="0" marL="0" algn="l">
                        <a:buNone/>
                      </a:pPr>
                      <a:r>
                        <a:rPr/>
                        <a:t>dhs_w_bmi_low (+)</a:t>
                      </a:r>
                    </a:p>
                  </a:txBody>
                </a:tc>
                <a:tc>
                  <a:txBody>
                    <a:bodyPr/>
                    <a:lstStyle/>
                    <a:p>
                      <a:pPr lvl="0" indent="0" marL="0" algn="l">
                        <a:buNone/>
                      </a:pPr>
                      <a:r>
                        <a:rPr/>
                        <a:t>DHS</a:t>
                      </a:r>
                    </a:p>
                  </a:txBody>
                </a:tc>
              </a:tr>
              <a:tr h="0">
                <a:tc>
                  <a:txBody>
                    <a:bodyPr/>
                    <a:lstStyle/>
                    <a:p>
                      <a:pPr lvl="0" indent="0" marL="0" algn="l">
                        <a:buNone/>
                      </a:pPr>
                      <a:r>
                        <a:rPr/>
                        <a:t>fprice_staple_rel (-)</a:t>
                      </a:r>
                    </a:p>
                  </a:txBody>
                </a:tc>
                <a:tc>
                  <a:txBody>
                    <a:bodyPr/>
                    <a:lstStyle/>
                    <a:p>
                      <a:pPr lvl="0" indent="0" marL="0" algn="l">
                        <a:buNone/>
                      </a:pPr>
                      <a:r>
                        <a:rPr/>
                        <a:t>WFP / HDX market prices</a:t>
                      </a:r>
                    </a:p>
                  </a:txBody>
                </a:tc>
                <a:tc>
                  <a:txBody>
                    <a:bodyPr/>
                    <a:lstStyle/>
                    <a:p>
                      <a:pPr lvl="0" indent="0" marL="0" algn="l">
                        <a:buNone/>
                      </a:pPr>
                      <a:r>
                        <a:rPr/>
                        <a:t>dhs_AN_NUTS_W_THN (+)</a:t>
                      </a:r>
                    </a:p>
                  </a:txBody>
                </a:tc>
                <a:tc>
                  <a:txBody>
                    <a:bodyPr/>
                    <a:lstStyle/>
                    <a:p>
                      <a:pPr lvl="0" indent="0" marL="0" algn="l">
                        <a:buNone/>
                      </a:pPr>
                      <a:r>
                        <a:rPr/>
                        <a:t>DHS</a:t>
                      </a:r>
                    </a:p>
                  </a:txBody>
                </a:tc>
              </a:tr>
              <a:tr h="0">
                <a:tc>
                  <a:txBody>
                    <a:bodyPr/>
                    <a:lstStyle/>
                    <a:p>
                      <a:pPr lvl="0" indent="0" marL="0" algn="l">
                        <a:buNone/>
                      </a:pPr>
                      <a:r>
                        <a:rPr/>
                        <a:t>map_blooddisorders201201africahbcallelefrequency (+)</a:t>
                      </a:r>
                    </a:p>
                  </a:txBody>
                </a:tc>
                <a:tc>
                  <a:txBody>
                    <a:bodyPr/>
                    <a:lstStyle/>
                    <a:p>
                      <a:pPr lvl="0" indent="0" marL="0" algn="l">
                        <a:buNone/>
                      </a:pPr>
                      <a:r>
                        <a:rPr/>
                        <a:t>Malaria Atlas</a:t>
                      </a:r>
                    </a:p>
                  </a:txBody>
                </a:tc>
                <a:tc>
                  <a:txBody>
                    <a:bodyPr/>
                    <a:lstStyle/>
                    <a:p>
                      <a:pPr lvl="0" indent="0" marL="0" algn="l">
                        <a:buNone/>
                      </a:pPr>
                      <a:r>
                        <a:rPr/>
                        <a:t>map_sy_pf_parasite_rate (-)</a:t>
                      </a:r>
                    </a:p>
                  </a:txBody>
                </a:tc>
                <a:tc>
                  <a:txBody>
                    <a:bodyPr/>
                    <a:lstStyle/>
                    <a:p>
                      <a:pPr lvl="0" indent="0" marL="0" algn="l">
                        <a:buNone/>
                      </a:pPr>
                      <a:r>
                        <a:rPr/>
                        <a:t>Malaria Atlas Project</a:t>
                      </a:r>
                    </a:p>
                  </a:txBody>
                </a:tc>
              </a:tr>
              <a:tr h="0">
                <a:tc>
                  <a:txBody>
                    <a:bodyPr/>
                    <a:lstStyle/>
                    <a:p>
                      <a:pPr lvl="0" indent="0" marL="0" algn="l">
                        <a:buNone/>
                      </a:pPr>
                      <a:r>
                        <a:rPr/>
                        <a:t>glw_cattle_km2 (+)</a:t>
                      </a:r>
                    </a:p>
                  </a:txBody>
                </a:tc>
                <a:tc>
                  <a:txBody>
                    <a:bodyPr/>
                    <a:lstStyle/>
                    <a:p>
                      <a:pPr lvl="0" indent="0" marL="0" algn="l">
                        <a:buNone/>
                      </a:pPr>
                      <a:r>
                        <a:rPr/>
                        <a:t>Gridded Livestock of the World 4</a:t>
                      </a:r>
                    </a:p>
                  </a:txBody>
                </a:tc>
                <a:tc>
                  <a:txBody>
                    <a:bodyPr/>
                    <a:lstStyle/>
                    <a:p>
                      <a:pPr lvl="0" indent="0" marL="0" algn="l">
                        <a:buNone/>
                      </a:pPr>
                      <a:r>
                        <a:rPr/>
                        <a:t>dhs_hh_cows_any (+)</a:t>
                      </a:r>
                    </a:p>
                  </a:txBody>
                </a:tc>
                <a:tc>
                  <a:txBody>
                    <a:bodyPr/>
                    <a:lstStyle/>
                    <a:p>
                      <a:pPr lvl="0" indent="0" marL="0" algn="l">
                        <a:buNone/>
                      </a:pPr>
                      <a:r>
                        <a:rPr/>
                        <a:t>DHS</a:t>
                      </a:r>
                    </a:p>
                  </a:txBody>
                </a:tc>
              </a:tr>
              <a:tr h="0">
                <a:tc>
                  <a:txBody>
                    <a:bodyPr/>
                    <a:lstStyle/>
                    <a:p>
                      <a:pPr lvl="0" indent="0" marL="0" algn="l">
                        <a:buNone/>
                      </a:pPr>
                      <a:r>
                        <a:rPr/>
                        <a:t>dhs_FP_CUSA_W_MOD (-)</a:t>
                      </a:r>
                    </a:p>
                  </a:txBody>
                </a:tc>
                <a:tc>
                  <a:txBody>
                    <a:bodyPr/>
                    <a:lstStyle/>
                    <a:p>
                      <a:pPr lvl="0" indent="0" marL="0" algn="l">
                        <a:buNone/>
                      </a:pPr>
                      <a:r>
                        <a:rPr/>
                        <a:t>DHS</a:t>
                      </a:r>
                    </a:p>
                  </a:txBody>
                </a:tc>
                <a:tc>
                  <a:txBody>
                    <a:bodyPr/>
                    <a:lstStyle/>
                    <a:p>
                      <a:pPr lvl="0" indent="0" marL="0" algn="l">
                        <a:buNone/>
                      </a:pPr>
                      <a:r>
                        <a:rPr/>
                        <a:t>spam_share_roots (-)</a:t>
                      </a:r>
                    </a:p>
                  </a:txBody>
                </a:tc>
                <a:tc>
                  <a:txBody>
                    <a:bodyPr/>
                    <a:lstStyle/>
                    <a:p>
                      <a:pPr lvl="0" indent="0" marL="0" algn="l">
                        <a:buNone/>
                      </a:pPr>
                      <a:r>
                        <a:rPr/>
                        <a:t>MapSPAM</a:t>
                      </a:r>
                    </a:p>
                  </a:txBody>
                </a:tc>
              </a:tr>
            </a:tbl>
          </a:graphicData>
        </a:graphic>
      </p:graphicFrame>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Ghana: survey and held-out prediction</a:t>
            </a:r>
          </a:p>
        </p:txBody>
      </p:sp>
      <p:pic>
        <p:nvPicPr>
          <p:cNvPr descr="MN-proxy-Ghana-presentation-2026-09_files/figure-pptx/ghana-maps-1.png" id="0" name="Picture 1"/>
          <p:cNvPicPr>
            <a:picLocks noGrp="1" noChangeAspect="1"/>
          </p:cNvPicPr>
          <p:nvPr/>
        </p:nvPicPr>
        <p:blipFill>
          <a:blip r:embed="rId3"/>
          <a:stretch>
            <a:fillRect/>
          </a:stretch>
        </p:blipFill>
        <p:spPr bwMode="auto">
          <a:xfrm>
            <a:off x="1828800" y="1816100"/>
            <a:ext cx="8534400" cy="43434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Targeting value</a:t>
            </a:r>
          </a:p>
        </p:txBody>
      </p:sp>
      <p:sp>
        <p:nvSpPr>
          <p:cNvPr id="3" name="Content Placeholder 2"/>
          <p:cNvSpPr>
            <a:spLocks noGrp="1"/>
          </p:cNvSpPr>
          <p:nvPr>
            <p:ph idx="1" sz="half"/>
          </p:nvPr>
        </p:nvSpPr>
        <p:spPr/>
        <p:txBody>
          <a:bodyPr/>
          <a:lstStyle/>
          <a:p>
            <a:pPr lvl="0" indent="0" marL="0">
              <a:buNone/>
            </a:pPr>
            <a:r>
              <a:rPr/>
              <a:t>Share of the national deficiency burden in the fifth of districts each method ranks worst, in-fill, mean over cells with a 95% interval. The index reaches 22%, the jackknifed regional mean 20%, no information 14% and perfect knowledge 47%.</a:t>
            </a:r>
          </a:p>
        </p:txBody>
      </p:sp>
      <p:pic>
        <p:nvPicPr>
          <p:cNvPr descr="MN-proxy-Ghana-presentation-2026-09_files/figure-pptx/burden-1.png" id="0" name="Picture 1"/>
          <p:cNvPicPr>
            <a:picLocks noGrp="1" noChangeAspect="1"/>
          </p:cNvPicPr>
          <p:nvPr/>
        </p:nvPicPr>
        <p:blipFill>
          <a:blip r:embed="rId3"/>
          <a:stretch>
            <a:fillRect/>
          </a:stretch>
        </p:blipFill>
        <p:spPr bwMode="auto">
          <a:xfrm>
            <a:off x="6172200" y="2108200"/>
            <a:ext cx="5181600" cy="3746500"/>
          </a:xfrm>
          <a:prstGeom prst="rect">
            <a:avLst/>
          </a:prstGeom>
          <a:noFill/>
          <a:ln w="9525">
            <a:noFill/>
            <a:headEnd/>
            <a:tailEnd/>
          </a:ln>
        </p:spPr>
      </p:pic>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Domain ablation under transport</a:t>
            </a:r>
          </a:p>
        </p:txBody>
      </p:sp>
      <p:sp>
        <p:nvSpPr>
          <p:cNvPr id="3" name="Content Placeholder 2"/>
          <p:cNvSpPr>
            <a:spLocks noGrp="1"/>
          </p:cNvSpPr>
          <p:nvPr>
            <p:ph idx="1" sz="half"/>
          </p:nvPr>
        </p:nvSpPr>
        <p:spPr/>
        <p:txBody>
          <a:bodyPr/>
          <a:lstStyle/>
          <a:p>
            <a:pPr lvl="0" indent="0" marL="0">
              <a:buNone/>
            </a:pPr>
            <a:r>
              <a:rPr/>
              <a:t>Loss in transported Spearman (biomarker level, 22 cells) when each domain is dropped and the components rebuilt, mean over cells with a 95% interval. The load-bearing domains are Climate and weather, Soil characteristics, Nutrition status (MODELLED SURFACE); removing 16 of the 23 domains costs nothing or helps.</a:t>
            </a:r>
          </a:p>
        </p:txBody>
      </p:sp>
      <p:pic>
        <p:nvPicPr>
          <p:cNvPr descr="MN-proxy-Ghana-presentation-2026-09_files/figure-pptx/ablation-1.png" id="0" name="Picture 1"/>
          <p:cNvPicPr>
            <a:picLocks noGrp="1" noChangeAspect="1"/>
          </p:cNvPicPr>
          <p:nvPr/>
        </p:nvPicPr>
        <p:blipFill>
          <a:blip r:embed="rId3"/>
          <a:stretch>
            <a:fillRect/>
          </a:stretch>
        </p:blipFill>
        <p:spPr bwMode="auto">
          <a:xfrm>
            <a:off x="6515100" y="1816100"/>
            <a:ext cx="4495800" cy="434340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Source ablation under transport</a:t>
            </a:r>
          </a:p>
        </p:txBody>
      </p:sp>
      <p:sp>
        <p:nvSpPr>
          <p:cNvPr id="3" name="Content Placeholder 2"/>
          <p:cNvSpPr>
            <a:spLocks noGrp="1"/>
          </p:cNvSpPr>
          <p:nvPr>
            <p:ph idx="1" sz="half"/>
          </p:nvPr>
        </p:nvSpPr>
        <p:spPr/>
        <p:txBody>
          <a:bodyPr/>
          <a:lstStyle/>
          <a:p>
            <a:pPr lvl="0" indent="0" marL="0">
              <a:buNone/>
            </a:pPr>
            <a:r>
              <a:rPr/>
              <a:t>The same ablation by data source. Dropping all 131 DHS and MICS columns moves the transported Spearman from 0.26 to 0.33.</a:t>
            </a:r>
          </a:p>
        </p:txBody>
      </p:sp>
      <p:pic>
        <p:nvPicPr>
          <p:cNvPr descr="MN-proxy-Ghana-presentation-2026-09_files/figure-pptx/sources-ablation-1.png" id="0" name="Picture 1"/>
          <p:cNvPicPr>
            <a:picLocks noGrp="1" noChangeAspect="1"/>
          </p:cNvPicPr>
          <p:nvPr/>
        </p:nvPicPr>
        <p:blipFill>
          <a:blip r:embed="rId3"/>
          <a:stretch>
            <a:fillRect/>
          </a:stretch>
        </p:blipFill>
        <p:spPr bwMode="auto">
          <a:xfrm>
            <a:off x="6172200" y="1841500"/>
            <a:ext cx="5181600" cy="4292600"/>
          </a:xfrm>
          <a:prstGeom prst="rect">
            <a:avLst/>
          </a:prstGeom>
          <a:noFill/>
          <a:ln w="9525">
            <a:noFill/>
            <a:headEnd/>
            <a:tailEnd/>
          </a:ln>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Transport by number of training countries</a:t>
            </a:r>
          </a:p>
        </p:txBody>
      </p:sp>
      <p:sp>
        <p:nvSpPr>
          <p:cNvPr id="3" name="Content Placeholder 2"/>
          <p:cNvSpPr>
            <a:spLocks noGrp="1"/>
          </p:cNvSpPr>
          <p:nvPr>
            <p:ph idx="1" sz="half"/>
          </p:nvPr>
        </p:nvSpPr>
        <p:spPr/>
        <p:txBody>
          <a:bodyPr/>
          <a:lstStyle/>
          <a:p>
            <a:pPr lvl="0" indent="0" marL="0">
              <a:buNone/>
            </a:pPr>
            <a:r>
              <a:rPr/>
              <a:t>Every subset of training countries scored on each held-out country. The full vocabulary gains about 0.05 per added training country on the level; the climate-and-soil index starts higher and is positive in 98% of single-country fits.</a:t>
            </a:r>
          </a:p>
        </p:txBody>
      </p:sp>
      <p:pic>
        <p:nvPicPr>
          <p:cNvPr descr="MN-proxy-Ghana-presentation-2026-09_files/figure-pptx/curve-1.png" id="0" name="Picture 1"/>
          <p:cNvPicPr>
            <a:picLocks noGrp="1" noChangeAspect="1"/>
          </p:cNvPicPr>
          <p:nvPr/>
        </p:nvPicPr>
        <p:blipFill>
          <a:blip r:embed="rId3"/>
          <a:stretch>
            <a:fillRect/>
          </a:stretch>
        </p:blipFill>
        <p:spPr bwMode="auto">
          <a:xfrm>
            <a:off x="6172200" y="2019300"/>
            <a:ext cx="5181600" cy="3937000"/>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Urbanicity conditioning</a:t>
            </a:r>
          </a:p>
        </p:txBody>
      </p:sp>
      <p:sp>
        <p:nvSpPr>
          <p:cNvPr id="3" name="Content Placeholder 2"/>
          <p:cNvSpPr>
            <a:spLocks noGrp="1"/>
          </p:cNvSpPr>
          <p:nvPr>
            <p:ph idx="1" sz="half"/>
          </p:nvPr>
        </p:nvSpPr>
        <p:spPr/>
        <p:txBody>
          <a:bodyPr/>
          <a:lstStyle/>
          <a:p>
            <a:pPr lvl="0" indent="0" marL="0">
              <a:buNone/>
            </a:pPr>
            <a:r>
              <a:rPr/>
              <a:t>Transported Spearman of the climate-and-soil index at district level (0.37), the same after partialling out an urbanicity composite (0.36), and urbanicity alone (-0.05).</a:t>
            </a:r>
          </a:p>
        </p:txBody>
      </p:sp>
      <p:pic>
        <p:nvPicPr>
          <p:cNvPr descr="MN-proxy-Ghana-presentation-2026-09_files/figure-pptx/urban-1.png" id="0" name="Picture 1"/>
          <p:cNvPicPr>
            <a:picLocks noGrp="1" noChangeAspect="1"/>
          </p:cNvPicPr>
          <p:nvPr/>
        </p:nvPicPr>
        <p:blipFill>
          <a:blip r:embed="rId3"/>
          <a:stretch>
            <a:fillRect/>
          </a:stretch>
        </p:blipFill>
        <p:spPr bwMode="auto">
          <a:xfrm>
            <a:off x="6172200" y="2197100"/>
            <a:ext cx="5181600" cy="3568700"/>
          </a:xfrm>
          <a:prstGeom prst="rect">
            <a:avLst/>
          </a:prstGeom>
          <a:noFill/>
          <a:ln w="9525">
            <a:noFill/>
            <a:headEnd/>
            <a:tailEnd/>
          </a:ln>
        </p:spPr>
      </p:pic>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Replicated indicators</a:t>
            </a:r>
          </a:p>
        </p:txBody>
      </p:sp>
      <p:sp>
        <p:nvSpPr>
          <p:cNvPr id="3" name="Content Placeholder 2"/>
          <p:cNvSpPr>
            <a:spLocks noGrp="1"/>
          </p:cNvSpPr>
          <p:nvPr>
            <p:ph idx="1" sz="half"/>
          </p:nvPr>
        </p:nvSpPr>
        <p:spPr/>
        <p:txBody>
          <a:bodyPr/>
          <a:lstStyle/>
          <a:p>
            <a:pPr lvl="0" indent="0" marL="0">
              <a:buNone/>
            </a:pPr>
            <a:r>
              <a:rPr/>
              <a:t>Indicators whose district-level association with the outcome has the same sign in every country with the outcome, ranked by pooled meta-analytic z. Positive z means more deficiency.</a:t>
            </a:r>
          </a:p>
        </p:txBody>
      </p:sp>
      <p:pic>
        <p:nvPicPr>
          <p:cNvPr descr="MN-proxy-Ghana-presentation-2026-09_files/figure-pptx/signal-1.png" id="0" name="Picture 1"/>
          <p:cNvPicPr>
            <a:picLocks noGrp="1" noChangeAspect="1"/>
          </p:cNvPicPr>
          <p:nvPr/>
        </p:nvPicPr>
        <p:blipFill>
          <a:blip r:embed="rId3"/>
          <a:stretch>
            <a:fillRect/>
          </a:stretch>
        </p:blipFill>
        <p:spPr bwMode="auto">
          <a:xfrm>
            <a:off x="6337300" y="1816100"/>
            <a:ext cx="4838700" cy="4343400"/>
          </a:xfrm>
          <a:prstGeom prst="rect">
            <a:avLst/>
          </a:prstGeom>
          <a:noFill/>
          <a:ln w="9525">
            <a:noFill/>
            <a:headEnd/>
            <a:tailEnd/>
          </a:ln>
        </p:spPr>
      </p:pic>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Reliability ceiling</a:t>
            </a:r>
          </a:p>
        </p:txBody>
      </p:sp>
      <p:sp>
        <p:nvSpPr>
          <p:cNvPr id="3" name="Content Placeholder 2"/>
          <p:cNvSpPr>
            <a:spLocks noGrp="1"/>
          </p:cNvSpPr>
          <p:nvPr>
            <p:ph idx="1" sz="half"/>
          </p:nvPr>
        </p:nvSpPr>
        <p:spPr/>
        <p:txBody>
          <a:bodyPr/>
          <a:lstStyle/>
          <a:p>
            <a:pPr lvl="0" indent="0" marL="0">
              <a:buNone/>
            </a:pPr>
            <a:r>
              <a:rPr/>
              <a:t>The correlation a perfect predictor of the true district prevalence could reach, given the survey’s sampling noise, by country. The honest ceiling averages 0.44 against a split-half ceiling of 0.54; the index reaches its ceiling in 2 of 24 cells.</a:t>
            </a:r>
          </a:p>
        </p:txBody>
      </p:sp>
      <p:pic>
        <p:nvPicPr>
          <p:cNvPr descr="MN-proxy-Ghana-presentation-2026-09_files/figure-pptx/ceiling-1.png" id="0" name="Picture 1"/>
          <p:cNvPicPr>
            <a:picLocks noGrp="1" noChangeAspect="1"/>
          </p:cNvPicPr>
          <p:nvPr/>
        </p:nvPicPr>
        <p:blipFill>
          <a:blip r:embed="rId3"/>
          <a:stretch>
            <a:fillRect/>
          </a:stretch>
        </p:blipFill>
        <p:spPr bwMode="auto">
          <a:xfrm>
            <a:off x="6172200" y="2108200"/>
            <a:ext cx="5181600" cy="3746500"/>
          </a:xfrm>
          <a:prstGeom prst="rect">
            <a:avLst/>
          </a:prstGeom>
          <a:noFill/>
          <a:ln w="9525">
            <a:noFill/>
            <a:headEnd/>
            <a:tailEnd/>
          </a:ln>
        </p:spPr>
      </p:pic>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Survey design: district error</a:t>
            </a:r>
          </a:p>
        </p:txBody>
      </p:sp>
      <p:sp>
        <p:nvSpPr>
          <p:cNvPr id="3" name="Content Placeholder 2"/>
          <p:cNvSpPr>
            <a:spLocks noGrp="1"/>
          </p:cNvSpPr>
          <p:nvPr>
            <p:ph idx="1" sz="half"/>
          </p:nvPr>
        </p:nvSpPr>
        <p:spPr/>
        <p:txBody>
          <a:bodyPr/>
          <a:lstStyle/>
          <a:p>
            <a:pPr lvl="0" indent="0" marL="0">
              <a:buNone/>
            </a:pPr>
            <a:r>
              <a:rPr/>
              <a:t>Median district error in percentage points against the share of a full survey sampled, four designs, 22 cells. At 5% of the sample a national anchor plus the transported ranking gives 9.5 points, a regional survey 11.7 and a district survey 17.3.</a:t>
            </a:r>
          </a:p>
        </p:txBody>
      </p:sp>
      <p:pic>
        <p:nvPicPr>
          <p:cNvPr descr="MN-proxy-Ghana-presentation-2026-09_files/figure-pptx/anchor-1.png" id="0" name="Picture 1"/>
          <p:cNvPicPr>
            <a:picLocks noGrp="1" noChangeAspect="1"/>
          </p:cNvPicPr>
          <p:nvPr/>
        </p:nvPicPr>
        <p:blipFill>
          <a:blip r:embed="rId3"/>
          <a:stretch>
            <a:fillRect/>
          </a:stretch>
        </p:blipFill>
        <p:spPr bwMode="auto">
          <a:xfrm>
            <a:off x="6172200" y="2019300"/>
            <a:ext cx="5181600" cy="3937000"/>
          </a:xfrm>
          <a:prstGeom prst="rect">
            <a:avLst/>
          </a:prstGeom>
          <a:noFill/>
          <a:ln w="9525">
            <a:noFill/>
            <a:headEnd/>
            <a:tailEnd/>
          </a:ln>
        </p:spPr>
      </p:pic>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lstStyle/>
          <a:p>
            <a:pPr lvl="0" indent="0" marL="0">
              <a:buNone/>
            </a:pPr>
            <a:r>
              <a:rPr/>
              <a:t>Sensitivity analyses</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Add-on predictor blocks</a:t>
            </a:r>
          </a:p>
        </p:txBody>
      </p:sp>
      <p:sp>
        <p:nvSpPr>
          <p:cNvPr id="3" name="Content Placeholder 2"/>
          <p:cNvSpPr>
            <a:spLocks noGrp="1"/>
          </p:cNvSpPr>
          <p:nvPr>
            <p:ph idx="1" sz="half"/>
          </p:nvPr>
        </p:nvSpPr>
        <p:spPr/>
        <p:txBody>
          <a:bodyPr/>
          <a:lstStyle/>
          <a:p>
            <a:pPr lvl="0" indent="0" marL="0">
              <a:buNone/>
            </a:pPr>
            <a:r>
              <a:rPr/>
              <a:t>Median change in Spearman when a block is added to the base vocabulary, in-fill and district transport on the biomarker level, scored under one harness with the same folds.</a:t>
            </a:r>
          </a:p>
        </p:txBody>
      </p:sp>
      <p:pic>
        <p:nvPicPr>
          <p:cNvPr descr="MN-proxy-Ghana-presentation-2026-09_files/figure-pptx/addons-1.png" id="0" name="Picture 1"/>
          <p:cNvPicPr>
            <a:picLocks noGrp="1" noChangeAspect="1"/>
          </p:cNvPicPr>
          <p:nvPr/>
        </p:nvPicPr>
        <p:blipFill>
          <a:blip r:embed="rId3"/>
          <a:stretch>
            <a:fillRect/>
          </a:stretch>
        </p:blipFill>
        <p:spPr bwMode="auto">
          <a:xfrm>
            <a:off x="6172200" y="1841500"/>
            <a:ext cx="5181600" cy="4292600"/>
          </a:xfrm>
          <a:prstGeom prst="rect">
            <a:avLst/>
          </a:prstGeom>
          <a:noFill/>
          <a:ln w="9525">
            <a:noFill/>
            <a:headEnd/>
            <a:tailEnd/>
          </a:ln>
        </p:spPr>
      </p:pic>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Cluster-level fitting</a:t>
            </a:r>
          </a:p>
        </p:txBody>
      </p:sp>
      <p:sp>
        <p:nvSpPr>
          <p:cNvPr id="3" name="Content Placeholder 2"/>
          <p:cNvSpPr>
            <a:spLocks noGrp="1"/>
          </p:cNvSpPr>
          <p:nvPr>
            <p:ph idx="1" sz="half"/>
          </p:nvPr>
        </p:nvSpPr>
        <p:spPr/>
        <p:txBody>
          <a:bodyPr/>
          <a:lstStyle/>
          <a:p>
            <a:pPr lvl="0" indent="0" marL="0">
              <a:buNone/>
            </a:pPr>
            <a:r>
              <a:rPr/>
              <a:t>The same index fitted at the survey cluster and aggregated to districts, against the district fit, on the same cells. In-fill on the level: 0.38 cluster-fitted against 0.40 district-fitted.</a:t>
            </a:r>
          </a:p>
        </p:txBody>
      </p:sp>
      <p:pic>
        <p:nvPicPr>
          <p:cNvPr descr="MN-proxy-Ghana-presentation-2026-09_files/figure-pptx/cluster-1.png" id="0" name="Picture 1"/>
          <p:cNvPicPr>
            <a:picLocks noGrp="1" noChangeAspect="1"/>
          </p:cNvPicPr>
          <p:nvPr/>
        </p:nvPicPr>
        <p:blipFill>
          <a:blip r:embed="rId3"/>
          <a:stretch>
            <a:fillRect/>
          </a:stretch>
        </p:blipFill>
        <p:spPr bwMode="auto">
          <a:xfrm>
            <a:off x="6172200" y="2108200"/>
            <a:ext cx="5181600" cy="3746500"/>
          </a:xfrm>
          <a:prstGeom prst="rect">
            <a:avLst/>
          </a:prstGeom>
          <a:noFill/>
          <a:ln w="9525">
            <a:noFill/>
            <a:headEnd/>
            <a:tailEnd/>
          </a:ln>
        </p:spPr>
      </p:pic>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Risk-class accuracy</a:t>
            </a:r>
          </a:p>
        </p:txBody>
      </p:sp>
      <p:sp>
        <p:nvSpPr>
          <p:cNvPr id="3" name="Content Placeholder 2"/>
          <p:cNvSpPr>
            <a:spLocks noGrp="1"/>
          </p:cNvSpPr>
          <p:nvPr>
            <p:ph idx="1" sz="half"/>
          </p:nvPr>
        </p:nvSpPr>
        <p:spPr/>
        <p:txBody>
          <a:bodyPr/>
          <a:lstStyle/>
          <a:p>
            <a:pPr lvl="0" indent="0" marL="0">
              <a:buNone/>
            </a:pPr>
            <a:r>
              <a:rPr/>
              <a:t>Share of districts placed in the correct WHO vitamin A band (under 2%, 2 to 10, 10 to 20, 20 or more), and within one band, mean over the vitamin A cells. The index in-fill: 64% exact and 92% within one band.</a:t>
            </a:r>
          </a:p>
        </p:txBody>
      </p:sp>
      <p:pic>
        <p:nvPicPr>
          <p:cNvPr descr="MN-proxy-Ghana-presentation-2026-09_files/figure-pptx/riskcat-1.png" id="0" name="Picture 1"/>
          <p:cNvPicPr>
            <a:picLocks noGrp="1" noChangeAspect="1"/>
          </p:cNvPicPr>
          <p:nvPr/>
        </p:nvPicPr>
        <p:blipFill>
          <a:blip r:embed="rId3"/>
          <a:stretch>
            <a:fillRect/>
          </a:stretch>
        </p:blipFill>
        <p:spPr bwMode="auto">
          <a:xfrm>
            <a:off x="6172200" y="2019300"/>
            <a:ext cx="5181600" cy="3937000"/>
          </a:xfrm>
          <a:prstGeom prst="rect">
            <a:avLst/>
          </a:prstGeom>
          <a:noFill/>
          <a:ln w="9525">
            <a:noFill/>
            <a:headEnd/>
            <a:tailEnd/>
          </a:ln>
        </p:spPr>
      </p:pic>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LSMS and FluNet predictors</a:t>
            </a:r>
          </a:p>
        </p:txBody>
      </p:sp>
      <p:sp>
        <p:nvSpPr>
          <p:cNvPr id="3" name="Content Placeholder 2"/>
          <p:cNvSpPr>
            <a:spLocks noGrp="1"/>
          </p:cNvSpPr>
          <p:nvPr>
            <p:ph idx="1" sz="half"/>
          </p:nvPr>
        </p:nvSpPr>
        <p:spPr/>
        <p:txBody>
          <a:bodyPr/>
          <a:lstStyle/>
          <a:p>
            <a:pPr lvl="0" indent="0" marL="0">
              <a:buNone/>
            </a:pPr>
            <a:r>
              <a:rPr/>
              <a:t>Ghana in-fill on the biomarker level with the base vocabulary, the base plus the LSMS block, and the LSMS block alone, median over ten draws.</a:t>
            </a:r>
          </a:p>
        </p:txBody>
      </p:sp>
      <p:pic>
        <p:nvPicPr>
          <p:cNvPr descr="MN-proxy-Ghana-presentation-2026-09_files/figure-pptx/lsms-1.png" id="0" name="Picture 1"/>
          <p:cNvPicPr>
            <a:picLocks noGrp="1" noChangeAspect="1"/>
          </p:cNvPicPr>
          <p:nvPr/>
        </p:nvPicPr>
        <p:blipFill>
          <a:blip r:embed="rId3"/>
          <a:stretch>
            <a:fillRect/>
          </a:stretch>
        </p:blipFill>
        <p:spPr bwMode="auto">
          <a:xfrm>
            <a:off x="6172200" y="2108200"/>
            <a:ext cx="5181600" cy="3746500"/>
          </a:xfrm>
          <a:prstGeom prst="rect">
            <a:avLst/>
          </a:prstGeom>
          <a:noFill/>
          <a:ln w="9525">
            <a:noFill/>
            <a:headEnd/>
            <a:tailEnd/>
          </a:ln>
        </p:spPr>
      </p:pic>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Individual-level models</a:t>
            </a:r>
          </a:p>
        </p:txBody>
      </p:sp>
      <p:sp>
        <p:nvSpPr>
          <p:cNvPr id="3" name="Content Placeholder 2"/>
          <p:cNvSpPr>
            <a:spLocks noGrp="1"/>
          </p:cNvSpPr>
          <p:nvPr>
            <p:ph idx="1" sz="half"/>
          </p:nvPr>
        </p:nvSpPr>
        <p:spPr/>
        <p:txBody>
          <a:bodyPr/>
          <a:lstStyle/>
          <a:p>
            <a:pPr lvl="0" indent="0" marL="0">
              <a:buNone/>
            </a:pPr>
            <a:r>
              <a:rPr/>
              <a:t>Person-level SuperLearner under district-blocked folds, Brier skill over the national prevalence, by country and outcome. Mean AUC over 19 cells: 0.52 for survey variables, 0.51 for district proxies, 0.52 for both.</a:t>
            </a:r>
          </a:p>
        </p:txBody>
      </p:sp>
      <p:pic>
        <p:nvPicPr>
          <p:cNvPr descr="MN-proxy-Ghana-presentation-2026-09_files/figure-pptx/individual-1.png" id="0" name="Picture 1"/>
          <p:cNvPicPr>
            <a:picLocks noGrp="1" noChangeAspect="1"/>
          </p:cNvPicPr>
          <p:nvPr/>
        </p:nvPicPr>
        <p:blipFill>
          <a:blip r:embed="rId3"/>
          <a:stretch>
            <a:fillRect/>
          </a:stretch>
        </p:blipFill>
        <p:spPr bwMode="auto">
          <a:xfrm>
            <a:off x="6172200" y="1930400"/>
            <a:ext cx="5181600" cy="4114800"/>
          </a:xfrm>
          <a:prstGeom prst="rect">
            <a:avLst/>
          </a:prstGeom>
          <a:noFill/>
          <a:ln w="9525">
            <a:noFill/>
            <a:headEnd/>
            <a:tailEnd/>
          </a:ln>
        </p:spPr>
      </p:pic>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National-level track</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2197100"/>
                <a:gridCol w="1219200"/>
                <a:gridCol w="1955800"/>
                <a:gridCol w="2082800"/>
                <a:gridCol w="3060700"/>
              </a:tblGrid>
              <a:tr h="0">
                <a:tc>
                  <a:txBody>
                    <a:bodyPr/>
                    <a:lstStyle/>
                    <a:p>
                      <a:pPr lvl="0" indent="0" marL="0" algn="l">
                        <a:buNone/>
                      </a:pPr>
                      <a:r>
                        <a:rPr/>
                        <a:t>Outcome</a:t>
                      </a:r>
                    </a:p>
                  </a:txBody>
                  <a:tcPr/>
                </a:tc>
                <a:tc>
                  <a:txBody>
                    <a:bodyPr/>
                    <a:lstStyle/>
                    <a:p>
                      <a:pPr lvl="0" indent="0" marL="0" algn="r">
                        <a:buNone/>
                      </a:pPr>
                      <a:r>
                        <a:rPr/>
                        <a:t>Countries</a:t>
                      </a:r>
                    </a:p>
                  </a:txBody>
                  <a:tcPr/>
                </a:tc>
                <a:tc>
                  <a:txBody>
                    <a:bodyPr/>
                    <a:lstStyle/>
                    <a:p>
                      <a:pPr lvl="0" indent="0" marL="0" algn="r">
                        <a:buNone/>
                      </a:pPr>
                      <a:r>
                        <a:rPr/>
                        <a:t>Observed (mean)</a:t>
                      </a:r>
                    </a:p>
                  </a:txBody>
                  <a:tcPr/>
                </a:tc>
                <a:tc>
                  <a:txBody>
                    <a:bodyPr/>
                    <a:lstStyle/>
                    <a:p>
                      <a:pPr lvl="0" indent="0" marL="0" algn="r">
                        <a:buNone/>
                      </a:pPr>
                      <a:r>
                        <a:rPr/>
                        <a:t>Predicted (mean)</a:t>
                      </a:r>
                    </a:p>
                  </a:txBody>
                  <a:tcPr/>
                </a:tc>
                <a:tc>
                  <a:txBody>
                    <a:bodyPr/>
                    <a:lstStyle/>
                    <a:p>
                      <a:pPr lvl="0" indent="0" marL="0" algn="r">
                        <a:buNone/>
                      </a:pPr>
                      <a:r>
                        <a:rPr/>
                        <a:t>Mean absolute error (pp)</a:t>
                      </a:r>
                    </a:p>
                  </a:txBody>
                  <a:tcPr/>
                </a:tc>
              </a:tr>
              <a:tr h="0">
                <a:tc>
                  <a:txBody>
                    <a:bodyPr/>
                    <a:lstStyle/>
                    <a:p>
                      <a:pPr lvl="0" indent="0" marL="0" algn="l">
                        <a:buNone/>
                      </a:pPr>
                      <a:r>
                        <a:rPr/>
                        <a:t>Child iron</a:t>
                      </a:r>
                    </a:p>
                  </a:txBody>
                </a:tc>
                <a:tc>
                  <a:txBody>
                    <a:bodyPr/>
                    <a:lstStyle/>
                    <a:p>
                      <a:pPr lvl="0" indent="0" marL="0" algn="r">
                        <a:buNone/>
                      </a:pPr>
                      <a:r>
                        <a:rPr/>
                        <a:t>4</a:t>
                      </a:r>
                    </a:p>
                  </a:txBody>
                </a:tc>
                <a:tc>
                  <a:txBody>
                    <a:bodyPr/>
                    <a:lstStyle/>
                    <a:p>
                      <a:pPr lvl="0" indent="0" marL="0" algn="r">
                        <a:buNone/>
                      </a:pPr>
                      <a:r>
                        <a:rPr/>
                        <a:t>0.19</a:t>
                      </a:r>
                    </a:p>
                  </a:txBody>
                </a:tc>
                <a:tc>
                  <a:txBody>
                    <a:bodyPr/>
                    <a:lstStyle/>
                    <a:p>
                      <a:pPr lvl="0" indent="0" marL="0" algn="r">
                        <a:buNone/>
                      </a:pPr>
                      <a:r>
                        <a:rPr/>
                        <a:t>0.21</a:t>
                      </a:r>
                    </a:p>
                  </a:txBody>
                </a:tc>
                <a:tc>
                  <a:txBody>
                    <a:bodyPr/>
                    <a:lstStyle/>
                    <a:p>
                      <a:pPr lvl="0" indent="0" marL="0" algn="r">
                        <a:buNone/>
                      </a:pPr>
                      <a:r>
                        <a:rPr/>
                        <a:t>2.09</a:t>
                      </a:r>
                    </a:p>
                  </a:txBody>
                </a:tc>
              </a:tr>
              <a:tr h="0">
                <a:tc>
                  <a:txBody>
                    <a:bodyPr/>
                    <a:lstStyle/>
                    <a:p>
                      <a:pPr lvl="0" indent="0" marL="0" algn="l">
                        <a:buNone/>
                      </a:pPr>
                      <a:r>
                        <a:rPr/>
                        <a:t>Child vitamin A</a:t>
                      </a:r>
                    </a:p>
                  </a:txBody>
                </a:tc>
                <a:tc>
                  <a:txBody>
                    <a:bodyPr/>
                    <a:lstStyle/>
                    <a:p>
                      <a:pPr lvl="0" indent="0" marL="0" algn="r">
                        <a:buNone/>
                      </a:pPr>
                      <a:r>
                        <a:rPr/>
                        <a:t>4</a:t>
                      </a:r>
                    </a:p>
                  </a:txBody>
                </a:tc>
                <a:tc>
                  <a:txBody>
                    <a:bodyPr/>
                    <a:lstStyle/>
                    <a:p>
                      <a:pPr lvl="0" indent="0" marL="0" algn="r">
                        <a:buNone/>
                      </a:pPr>
                      <a:r>
                        <a:rPr/>
                        <a:t>0.14</a:t>
                      </a:r>
                    </a:p>
                  </a:txBody>
                </a:tc>
                <a:tc>
                  <a:txBody>
                    <a:bodyPr/>
                    <a:lstStyle/>
                    <a:p>
                      <a:pPr lvl="0" indent="0" marL="0" algn="r">
                        <a:buNone/>
                      </a:pPr>
                      <a:r>
                        <a:rPr/>
                        <a:t>0.14</a:t>
                      </a:r>
                    </a:p>
                  </a:txBody>
                </a:tc>
                <a:tc>
                  <a:txBody>
                    <a:bodyPr/>
                    <a:lstStyle/>
                    <a:p>
                      <a:pPr lvl="0" indent="0" marL="0" algn="r">
                        <a:buNone/>
                      </a:pPr>
                      <a:r>
                        <a:rPr/>
                        <a:t>0.94</a:t>
                      </a:r>
                    </a:p>
                  </a:txBody>
                </a:tc>
              </a:tr>
              <a:tr h="0">
                <a:tc>
                  <a:txBody>
                    <a:bodyPr/>
                    <a:lstStyle/>
                    <a:p>
                      <a:pPr lvl="0" indent="0" marL="0" algn="l">
                        <a:buNone/>
                      </a:pPr>
                      <a:r>
                        <a:rPr/>
                        <a:t>Women’s iron</a:t>
                      </a:r>
                    </a:p>
                  </a:txBody>
                </a:tc>
                <a:tc>
                  <a:txBody>
                    <a:bodyPr/>
                    <a:lstStyle/>
                    <a:p>
                      <a:pPr lvl="0" indent="0" marL="0" algn="r">
                        <a:buNone/>
                      </a:pPr>
                      <a:r>
                        <a:rPr/>
                        <a:t>4</a:t>
                      </a:r>
                    </a:p>
                  </a:txBody>
                </a:tc>
                <a:tc>
                  <a:txBody>
                    <a:bodyPr/>
                    <a:lstStyle/>
                    <a:p>
                      <a:pPr lvl="0" indent="0" marL="0" algn="r">
                        <a:buNone/>
                      </a:pPr>
                      <a:r>
                        <a:rPr/>
                        <a:t>0.14</a:t>
                      </a:r>
                    </a:p>
                  </a:txBody>
                </a:tc>
                <a:tc>
                  <a:txBody>
                    <a:bodyPr/>
                    <a:lstStyle/>
                    <a:p>
                      <a:pPr lvl="0" indent="0" marL="0" algn="r">
                        <a:buNone/>
                      </a:pPr>
                      <a:r>
                        <a:rPr/>
                        <a:t>0.14</a:t>
                      </a:r>
                    </a:p>
                  </a:txBody>
                </a:tc>
                <a:tc>
                  <a:txBody>
                    <a:bodyPr/>
                    <a:lstStyle/>
                    <a:p>
                      <a:pPr lvl="0" indent="0" marL="0" algn="r">
                        <a:buNone/>
                      </a:pPr>
                      <a:r>
                        <a:rPr/>
                        <a:t>0.63</a:t>
                      </a:r>
                    </a:p>
                  </a:txBody>
                </a:tc>
              </a:tr>
              <a:tr h="0">
                <a:tc>
                  <a:txBody>
                    <a:bodyPr/>
                    <a:lstStyle/>
                    <a:p>
                      <a:pPr lvl="0" indent="0" marL="0" algn="l">
                        <a:buNone/>
                      </a:pPr>
                      <a:r>
                        <a:rPr/>
                        <a:t>Women’s vitamin A</a:t>
                      </a:r>
                    </a:p>
                  </a:txBody>
                </a:tc>
                <a:tc>
                  <a:txBody>
                    <a:bodyPr/>
                    <a:lstStyle/>
                    <a:p>
                      <a:pPr lvl="0" indent="0" marL="0" algn="r">
                        <a:buNone/>
                      </a:pPr>
                      <a:r>
                        <a:rPr/>
                        <a:t>4</a:t>
                      </a:r>
                    </a:p>
                  </a:txBody>
                </a:tc>
                <a:tc>
                  <a:txBody>
                    <a:bodyPr/>
                    <a:lstStyle/>
                    <a:p>
                      <a:pPr lvl="0" indent="0" marL="0" algn="r">
                        <a:buNone/>
                      </a:pPr>
                      <a:r>
                        <a:rPr/>
                        <a:t>0.02</a:t>
                      </a:r>
                    </a:p>
                  </a:txBody>
                </a:tc>
                <a:tc>
                  <a:txBody>
                    <a:bodyPr/>
                    <a:lstStyle/>
                    <a:p>
                      <a:pPr lvl="0" indent="0" marL="0" algn="r">
                        <a:buNone/>
                      </a:pPr>
                      <a:r>
                        <a:rPr/>
                        <a:t>0.02</a:t>
                      </a:r>
                    </a:p>
                  </a:txBody>
                </a:tc>
                <a:tc>
                  <a:txBody>
                    <a:bodyPr/>
                    <a:lstStyle/>
                    <a:p>
                      <a:pPr lvl="0" indent="0" marL="0" algn="r">
                        <a:buNone/>
                      </a:pPr>
                      <a:r>
                        <a:rPr/>
                        <a:t>0.23</a:t>
                      </a:r>
                    </a:p>
                  </a:txBody>
                </a:tc>
              </a:tr>
            </a:tbl>
          </a:graphicData>
        </a:graphic>
      </p:graphicFrame>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Iodine</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1638300"/>
                <a:gridCol w="1714500"/>
                <a:gridCol w="1638300"/>
                <a:gridCol w="1778000"/>
                <a:gridCol w="1714500"/>
                <a:gridCol w="2032000"/>
              </a:tblGrid>
              <a:tr h="0">
                <a:tc>
                  <a:txBody>
                    <a:bodyPr/>
                    <a:lstStyle/>
                    <a:p>
                      <a:pPr lvl="0" indent="0" marL="0" algn="l">
                        <a:buNone/>
                      </a:pPr>
                      <a:r>
                        <a:rPr/>
                        <a:t>Model</a:t>
                      </a:r>
                    </a:p>
                  </a:txBody>
                  <a:tcPr/>
                </a:tc>
                <a:tc>
                  <a:txBody>
                    <a:bodyPr/>
                    <a:lstStyle/>
                    <a:p>
                      <a:pPr lvl="0" indent="0" marL="0" algn="l">
                        <a:buNone/>
                      </a:pPr>
                      <a:r>
                        <a:rPr/>
                        <a:t>Gambia UIC &lt; 100, in-fill</a:t>
                      </a:r>
                    </a:p>
                  </a:txBody>
                  <a:tcPr/>
                </a:tc>
                <a:tc>
                  <a:txBody>
                    <a:bodyPr/>
                    <a:lstStyle/>
                    <a:p>
                      <a:pPr lvl="0" indent="0" marL="0" algn="l">
                        <a:buNone/>
                      </a:pPr>
                      <a:r>
                        <a:rPr/>
                        <a:t>Gambia UIC &lt; 100, region</a:t>
                      </a:r>
                    </a:p>
                  </a:txBody>
                  <a:tcPr/>
                </a:tc>
                <a:tc>
                  <a:txBody>
                    <a:bodyPr/>
                    <a:lstStyle/>
                    <a:p>
                      <a:pPr lvl="0" indent="0" marL="0" algn="l">
                        <a:buNone/>
                      </a:pPr>
                      <a:r>
                        <a:rPr/>
                        <a:t>Gambia median UIC, in-fill</a:t>
                      </a:r>
                    </a:p>
                  </a:txBody>
                  <a:tcPr/>
                </a:tc>
                <a:tc>
                  <a:txBody>
                    <a:bodyPr/>
                    <a:lstStyle/>
                    <a:p>
                      <a:pPr lvl="0" indent="0" marL="0" algn="l">
                        <a:buNone/>
                      </a:pPr>
                      <a:r>
                        <a:rPr/>
                        <a:t>Gambia median UIC, region</a:t>
                      </a:r>
                    </a:p>
                  </a:txBody>
                  <a:tcPr/>
                </a:tc>
                <a:tc>
                  <a:txBody>
                    <a:bodyPr/>
                    <a:lstStyle/>
                    <a:p>
                      <a:pPr lvl="0" indent="0" marL="0" algn="l">
                        <a:buNone/>
                      </a:pPr>
                      <a:r>
                        <a:rPr/>
                        <a:t>Sierra Leone UIC &lt; 100, region</a:t>
                      </a:r>
                    </a:p>
                  </a:txBody>
                  <a:tcPr/>
                </a:tc>
              </a:tr>
              <a:tr h="0">
                <a:tc>
                  <a:txBody>
                    <a:bodyPr/>
                    <a:lstStyle/>
                    <a:p>
                      <a:pPr lvl="0" indent="0" marL="0" algn="l">
                        <a:buNone/>
                      </a:pPr>
                      <a:r>
                        <a:rPr/>
                        <a:t>Training mean</a:t>
                      </a:r>
                    </a:p>
                  </a:txBody>
                </a:tc>
                <a:tc>
                  <a:txBody>
                    <a:bodyPr/>
                    <a:lstStyle/>
                    <a:p>
                      <a:pPr lvl="0" indent="0" marL="0" algn="l">
                        <a:buNone/>
                      </a:pPr>
                      <a:r>
                        <a:rPr/>
                        <a:t>-0.31</a:t>
                      </a:r>
                    </a:p>
                  </a:txBody>
                </a:tc>
                <a:tc>
                  <a:txBody>
                    <a:bodyPr/>
                    <a:lstStyle/>
                    <a:p>
                      <a:pPr lvl="0" indent="0" marL="0" algn="l">
                        <a:buNone/>
                      </a:pPr>
                      <a:r>
                        <a:rPr/>
                        <a:t>-0.55</a:t>
                      </a:r>
                    </a:p>
                  </a:txBody>
                </a:tc>
                <a:tc>
                  <a:txBody>
                    <a:bodyPr/>
                    <a:lstStyle/>
                    <a:p>
                      <a:pPr lvl="0" indent="0" marL="0" algn="l">
                        <a:buNone/>
                      </a:pPr>
                      <a:r>
                        <a:rPr/>
                        <a:t>-0.29</a:t>
                      </a:r>
                    </a:p>
                  </a:txBody>
                </a:tc>
                <a:tc>
                  <a:txBody>
                    <a:bodyPr/>
                    <a:lstStyle/>
                    <a:p>
                      <a:pPr lvl="0" indent="0" marL="0" algn="l">
                        <a:buNone/>
                      </a:pPr>
                      <a:r>
                        <a:rPr/>
                        <a:t>-0.60</a:t>
                      </a:r>
                    </a:p>
                  </a:txBody>
                </a:tc>
                <a:tc>
                  <a:txBody>
                    <a:bodyPr/>
                    <a:lstStyle/>
                    <a:p>
                      <a:pPr lvl="0" indent="0" marL="0" algn="l">
                        <a:buNone/>
                      </a:pPr>
                      <a:r>
                        <a:rPr/>
                        <a:t>-0.34</a:t>
                      </a:r>
                    </a:p>
                  </a:txBody>
                </a:tc>
              </a:tr>
              <a:tr h="0">
                <a:tc>
                  <a:txBody>
                    <a:bodyPr/>
                    <a:lstStyle/>
                    <a:p>
                      <a:pPr lvl="0" indent="0" marL="0" algn="l">
                        <a:buNone/>
                      </a:pPr>
                      <a:r>
                        <a:rPr/>
                        <a:t>Jackknifed regional mean</a:t>
                      </a:r>
                    </a:p>
                  </a:txBody>
                </a:tc>
                <a:tc>
                  <a:txBody>
                    <a:bodyPr/>
                    <a:lstStyle/>
                    <a:p>
                      <a:pPr lvl="0" indent="0" marL="0" algn="l">
                        <a:buNone/>
                      </a:pPr>
                      <a:r>
                        <a:rPr/>
                        <a:t>0.33</a:t>
                      </a:r>
                    </a:p>
                  </a:txBody>
                </a:tc>
                <a:tc>
                  <a:txBody>
                    <a:bodyPr/>
                    <a:lstStyle/>
                    <a:p>
                      <a:pPr lvl="0" indent="0" marL="0" algn="l">
                        <a:buNone/>
                      </a:pPr>
                      <a:r>
                        <a:rPr/>
                        <a:t>-</a:t>
                      </a:r>
                    </a:p>
                  </a:txBody>
                </a:tc>
                <a:tc>
                  <a:txBody>
                    <a:bodyPr/>
                    <a:lstStyle/>
                    <a:p>
                      <a:pPr lvl="0" indent="0" marL="0" algn="l">
                        <a:buNone/>
                      </a:pPr>
                      <a:r>
                        <a:rPr/>
                        <a:t>0.35</a:t>
                      </a:r>
                    </a:p>
                  </a:txBody>
                </a:tc>
                <a:tc>
                  <a:txBody>
                    <a:bodyPr/>
                    <a:lstStyle/>
                    <a:p>
                      <a:pPr lvl="0" indent="0" marL="0" algn="l">
                        <a:buNone/>
                      </a:pPr>
                      <a:r>
                        <a:rPr/>
                        <a:t>-</a:t>
                      </a:r>
                    </a:p>
                  </a:txBody>
                </a:tc>
                <a:tc>
                  <a:txBody>
                    <a:bodyPr/>
                    <a:lstStyle/>
                    <a:p>
                      <a:pPr lvl="0" indent="0" marL="0" algn="l">
                        <a:buNone/>
                      </a:pPr>
                      <a:r>
                        <a:rPr/>
                        <a:t>-</a:t>
                      </a:r>
                    </a:p>
                  </a:txBody>
                </a:tc>
              </a:tr>
              <a:tr h="0">
                <a:tc>
                  <a:txBody>
                    <a:bodyPr/>
                    <a:lstStyle/>
                    <a:p>
                      <a:pPr lvl="0" indent="0" marL="0" algn="l">
                        <a:buNone/>
                      </a:pPr>
                      <a:r>
                        <a:rPr/>
                        <a:t>Spatial smoother</a:t>
                      </a:r>
                    </a:p>
                  </a:txBody>
                </a:tc>
                <a:tc>
                  <a:txBody>
                    <a:bodyPr/>
                    <a:lstStyle/>
                    <a:p>
                      <a:pPr lvl="0" indent="0" marL="0" algn="l">
                        <a:buNone/>
                      </a:pPr>
                      <a:r>
                        <a:rPr/>
                        <a:t>0.31</a:t>
                      </a:r>
                    </a:p>
                  </a:txBody>
                </a:tc>
                <a:tc>
                  <a:txBody>
                    <a:bodyPr/>
                    <a:lstStyle/>
                    <a:p>
                      <a:pPr lvl="0" indent="0" marL="0" algn="l">
                        <a:buNone/>
                      </a:pPr>
                      <a:r>
                        <a:rPr/>
                        <a:t>0.50</a:t>
                      </a:r>
                    </a:p>
                  </a:txBody>
                </a:tc>
                <a:tc>
                  <a:txBody>
                    <a:bodyPr/>
                    <a:lstStyle/>
                    <a:p>
                      <a:pPr lvl="0" indent="0" marL="0" algn="l">
                        <a:buNone/>
                      </a:pPr>
                      <a:r>
                        <a:rPr/>
                        <a:t>0.27</a:t>
                      </a:r>
                    </a:p>
                  </a:txBody>
                </a:tc>
                <a:tc>
                  <a:txBody>
                    <a:bodyPr/>
                    <a:lstStyle/>
                    <a:p>
                      <a:pPr lvl="0" indent="0" marL="0" algn="l">
                        <a:buNone/>
                      </a:pPr>
                      <a:r>
                        <a:rPr/>
                        <a:t>0.27</a:t>
                      </a:r>
                    </a:p>
                  </a:txBody>
                </a:tc>
                <a:tc>
                  <a:txBody>
                    <a:bodyPr/>
                    <a:lstStyle/>
                    <a:p>
                      <a:pPr lvl="0" indent="0" marL="0" algn="l">
                        <a:buNone/>
                      </a:pPr>
                      <a:r>
                        <a:rPr/>
                        <a:t>-0.35</a:t>
                      </a:r>
                    </a:p>
                  </a:txBody>
                </a:tc>
              </a:tr>
              <a:tr h="0">
                <a:tc>
                  <a:txBody>
                    <a:bodyPr/>
                    <a:lstStyle/>
                    <a:p>
                      <a:pPr lvl="0" indent="0" marL="0" algn="l">
                        <a:buNone/>
                      </a:pPr>
                      <a:r>
                        <a:rPr/>
                        <a:t>Zero-tuning index</a:t>
                      </a:r>
                    </a:p>
                  </a:txBody>
                </a:tc>
                <a:tc>
                  <a:txBody>
                    <a:bodyPr/>
                    <a:lstStyle/>
                    <a:p>
                      <a:pPr lvl="0" indent="0" marL="0" algn="l">
                        <a:buNone/>
                      </a:pPr>
                      <a:r>
                        <a:rPr/>
                        <a:t>0.37</a:t>
                      </a:r>
                    </a:p>
                  </a:txBody>
                </a:tc>
                <a:tc>
                  <a:txBody>
                    <a:bodyPr/>
                    <a:lstStyle/>
                    <a:p>
                      <a:pPr lvl="0" indent="0" marL="0" algn="l">
                        <a:buNone/>
                      </a:pPr>
                      <a:r>
                        <a:rPr/>
                        <a:t>0.46</a:t>
                      </a:r>
                    </a:p>
                  </a:txBody>
                </a:tc>
                <a:tc>
                  <a:txBody>
                    <a:bodyPr/>
                    <a:lstStyle/>
                    <a:p>
                      <a:pPr lvl="0" indent="0" marL="0" algn="l">
                        <a:buNone/>
                      </a:pPr>
                      <a:r>
                        <a:rPr/>
                        <a:t>0.45</a:t>
                      </a:r>
                    </a:p>
                  </a:txBody>
                </a:tc>
                <a:tc>
                  <a:txBody>
                    <a:bodyPr/>
                    <a:lstStyle/>
                    <a:p>
                      <a:pPr lvl="0" indent="0" marL="0" algn="l">
                        <a:buNone/>
                      </a:pPr>
                      <a:r>
                        <a:rPr/>
                        <a:t>0.53</a:t>
                      </a:r>
                    </a:p>
                  </a:txBody>
                </a:tc>
                <a:tc>
                  <a:txBody>
                    <a:bodyPr/>
                    <a:lstStyle/>
                    <a:p>
                      <a:pPr lvl="0" indent="0" marL="0" algn="l">
                        <a:buNone/>
                      </a:pPr>
                      <a:r>
                        <a:rPr/>
                        <a:t>0.27</a:t>
                      </a:r>
                    </a:p>
                  </a:txBody>
                </a:tc>
              </a:tr>
              <a:tr h="0">
                <a:tc>
                  <a:txBody>
                    <a:bodyPr/>
                    <a:lstStyle/>
                    <a:p>
                      <a:pPr lvl="0" indent="0" marL="0" algn="l">
                        <a:buNone/>
                      </a:pPr>
                      <a:r>
                        <a:rPr/>
                        <a:t>Smoother + covariates</a:t>
                      </a:r>
                    </a:p>
                  </a:txBody>
                </a:tc>
                <a:tc>
                  <a:txBody>
                    <a:bodyPr/>
                    <a:lstStyle/>
                    <a:p>
                      <a:pPr lvl="0" indent="0" marL="0" algn="l">
                        <a:buNone/>
                      </a:pPr>
                      <a:r>
                        <a:rPr/>
                        <a:t>0.30</a:t>
                      </a:r>
                    </a:p>
                  </a:txBody>
                </a:tc>
                <a:tc>
                  <a:txBody>
                    <a:bodyPr/>
                    <a:lstStyle/>
                    <a:p>
                      <a:pPr lvl="0" indent="0" marL="0" algn="l">
                        <a:buNone/>
                      </a:pPr>
                      <a:r>
                        <a:rPr/>
                        <a:t>0.45</a:t>
                      </a:r>
                    </a:p>
                  </a:txBody>
                </a:tc>
                <a:tc>
                  <a:txBody>
                    <a:bodyPr/>
                    <a:lstStyle/>
                    <a:p>
                      <a:pPr lvl="0" indent="0" marL="0" algn="l">
                        <a:buNone/>
                      </a:pPr>
                      <a:r>
                        <a:rPr/>
                        <a:t>0.31</a:t>
                      </a:r>
                    </a:p>
                  </a:txBody>
                </a:tc>
                <a:tc>
                  <a:txBody>
                    <a:bodyPr/>
                    <a:lstStyle/>
                    <a:p>
                      <a:pPr lvl="0" indent="0" marL="0" algn="l">
                        <a:buNone/>
                      </a:pPr>
                      <a:r>
                        <a:rPr/>
                        <a:t>0.39</a:t>
                      </a:r>
                    </a:p>
                  </a:txBody>
                </a:tc>
                <a:tc>
                  <a:txBody>
                    <a:bodyPr/>
                    <a:lstStyle/>
                    <a:p>
                      <a:pPr lvl="0" indent="0" marL="0" algn="l">
                        <a:buNone/>
                      </a:pPr>
                      <a:r>
                        <a:rPr/>
                        <a:t>-0.35</a:t>
                      </a:r>
                    </a:p>
                  </a:txBody>
                </a:tc>
              </a:tr>
            </a:tbl>
          </a:graphicData>
        </a:graphic>
      </p:graphicFrame>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lstStyle/>
          <a:p>
            <a:pPr lvl="0" indent="0" marL="0">
              <a:buNone/>
            </a:pPr>
            <a:r>
              <a:rPr/>
              <a:t>Conclusions</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Conclusions</a:t>
            </a:r>
          </a:p>
        </p:txBody>
      </p:sp>
      <p:sp>
        <p:nvSpPr>
          <p:cNvPr id="3" name="Content Placeholder 2"/>
          <p:cNvSpPr>
            <a:spLocks noGrp="1"/>
          </p:cNvSpPr>
          <p:nvPr>
            <p:ph idx="1"/>
          </p:nvPr>
        </p:nvSpPr>
        <p:spPr/>
        <p:txBody>
          <a:bodyPr/>
          <a:lstStyle/>
          <a:p>
            <a:pPr lvl="0"/>
            <a:r>
              <a:rPr/>
              <a:t>In-fill: the index scores 0.40 against 0.31 for the survey’s own regional averages and 0.39 for a covariate-free smoother.</a:t>
            </a:r>
          </a:p>
          <a:p>
            <a:pPr lvl="0"/>
            <a:r>
              <a:rPr/>
              <a:t>Transport: rankings carry (0.26 at district level, 0.37 from climate and soil alone, null 0.08); levels do not.</a:t>
            </a:r>
          </a:p>
          <a:p>
            <a:pPr lvl="0"/>
            <a:r>
              <a:rPr/>
              <a:t>Survey-derived inputs help inside a country and hold a new country back; the cross-border model should lean on the environment.</a:t>
            </a:r>
          </a:p>
          <a:p>
            <a:pPr lvl="0"/>
            <a:r>
              <a:rPr/>
              <a:t>A national anchor puts levels on the ranking: district error 9.5 points at 5% of a full sample, matched by a district survey at 25%.</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the models can and cannot do yet</a:t>
            </a:r>
          </a:p>
        </p:txBody>
      </p:sp>
      <p:sp>
        <p:nvSpPr>
          <p:cNvPr id="3" name="Content Placeholder 2"/>
          <p:cNvSpPr>
            <a:spLocks noGrp="1"/>
          </p:cNvSpPr>
          <p:nvPr>
            <p:ph idx="1"/>
          </p:nvPr>
        </p:nvSpPr>
        <p:spPr/>
        <p:txBody>
          <a:bodyPr/>
          <a:lstStyle/>
          <a:p>
            <a:pPr lvl="0"/>
            <a:r>
              <a:rPr/>
              <a:t>Rank districts in a surveyed country? Yes: 0.40, null 0.08.</a:t>
            </a:r>
          </a:p>
          <a:p>
            <a:pPr lvl="0"/>
            <a:r>
              <a:rPr/>
              <a:t>Rank districts in a new country? Yes, less well: 0.26 against 0.08.</a:t>
            </a:r>
          </a:p>
          <a:p>
            <a:pPr lvl="0"/>
            <a:r>
              <a:rPr/>
              <a:t>Which predictors carry the signal? Satellite, climate and soil.</a:t>
            </a:r>
          </a:p>
          <a:p>
            <a:pPr lvl="0"/>
            <a:r>
              <a:rPr/>
              <a:t>Prevalence in a new country from the model alone? Not yet.</a:t>
            </a:r>
          </a:p>
          <a:p>
            <a:pPr lvl="0"/>
            <a:r>
              <a:rPr/>
              <a:t>Prevalence with one national anchor? Yes: 9.5 points at a 5% sample.</a:t>
            </a:r>
          </a:p>
          <a:p>
            <a:pPr lvl="0"/>
            <a:r>
              <a:rPr/>
              <a:t>Replace biomarker surveys? No: the ceiling is the survey’s.</a:t>
            </a:r>
          </a:p>
          <a:p>
            <a:pPr lvl="0"/>
            <a:r>
              <a:rPr/>
              <a:t>Guide where the next survey samples? In design, not piloted.</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Next steps</a:t>
            </a:r>
          </a:p>
        </p:txBody>
      </p:sp>
      <p:sp>
        <p:nvSpPr>
          <p:cNvPr id="3" name="Content Placeholder 2"/>
          <p:cNvSpPr>
            <a:spLocks noGrp="1"/>
          </p:cNvSpPr>
          <p:nvPr>
            <p:ph idx="1" sz="half"/>
          </p:nvPr>
        </p:nvSpPr>
        <p:spPr/>
        <p:txBody>
          <a:bodyPr/>
          <a:lstStyle/>
          <a:p>
            <a:pPr lvl="0" indent="0" marL="0">
              <a:buNone/>
            </a:pPr>
            <a:r>
              <a:rPr/>
              <a:t>Planned</a:t>
            </a:r>
          </a:p>
          <a:p>
            <a:pPr lvl="0"/>
            <a:r>
              <a:rPr/>
              <a:t>Score the pre-registered predictions on the next countries added to the panel.</a:t>
            </a:r>
          </a:p>
          <a:p>
            <a:pPr lvl="0"/>
            <a:r>
              <a:rPr/>
              <a:t>Rerun the national track under the corrected protocol.</a:t>
            </a:r>
          </a:p>
          <a:p>
            <a:pPr lvl="0"/>
            <a:r>
              <a:rPr/>
              <a:t>Model-assisted cluster allocation for survey design.</a:t>
            </a:r>
          </a:p>
        </p:txBody>
      </p:sp>
      <p:sp>
        <p:nvSpPr>
          <p:cNvPr id="4" name="Content Placeholder 3"/>
          <p:cNvSpPr>
            <a:spLocks noGrp="1"/>
          </p:cNvSpPr>
          <p:nvPr>
            <p:ph idx="2" sz="half"/>
          </p:nvPr>
        </p:nvSpPr>
        <p:spPr/>
        <p:txBody>
          <a:bodyPr/>
          <a:lstStyle/>
          <a:p>
            <a:pPr lvl="0" indent="0" marL="0">
              <a:buNone/>
            </a:pPr>
            <a:r>
              <a:rPr/>
              <a:t>Open questions</a:t>
            </a:r>
          </a:p>
          <a:p>
            <a:pPr lvl="0"/>
            <a:r>
              <a:rPr/>
              <a:t>What rank correlation is sufficient to act on?</a:t>
            </a:r>
          </a:p>
          <a:p>
            <a:pPr lvl="0"/>
            <a:r>
              <a:rPr/>
              <a:t>Which national number is the cheapest honest anchor?</a:t>
            </a:r>
          </a:p>
          <a:p>
            <a:pPr lvl="0"/>
            <a:r>
              <a:rPr/>
              <a:t>Without new biomarker surveys, what benchmarks the models?</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lstStyle/>
          <a:p>
            <a:pPr lvl="0" indent="0" marL="0">
              <a:buNone/>
            </a:pPr>
            <a:r>
              <a:rPr/>
              <a:t>Appendix</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Weighting of the domain components: prevalence</a:t>
            </a:r>
          </a:p>
        </p:txBody>
      </p:sp>
      <p:pic>
        <p:nvPicPr>
          <p:cNvPr descr="MN-proxy-Ghana-presentation-2026-09_files/figure-pptx/weights-prev-1.png" id="0" name="Picture 1"/>
          <p:cNvPicPr>
            <a:picLocks noGrp="1" noChangeAspect="1"/>
          </p:cNvPicPr>
          <p:nvPr/>
        </p:nvPicPr>
        <p:blipFill>
          <a:blip r:embed="rId3"/>
          <a:stretch>
            <a:fillRect/>
          </a:stretch>
        </p:blipFill>
        <p:spPr bwMode="auto">
          <a:xfrm>
            <a:off x="1752600" y="1816100"/>
            <a:ext cx="8686800" cy="4343400"/>
          </a:xfrm>
          <a:prstGeom prst="rect">
            <a:avLst/>
          </a:prstGeom>
          <a:noFill/>
          <a:ln w="9525">
            <a:noFill/>
            <a:headEnd/>
            <a:tailEnd/>
          </a:ln>
        </p:spPr>
      </p:pic>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Geostatistical comparator: absolute error</a:t>
            </a:r>
          </a:p>
        </p:txBody>
      </p:sp>
      <p:pic>
        <p:nvPicPr>
          <p:cNvPr descr="MN-proxy-Ghana-presentation-2026-09_files/figure-pptx/geostat-wmae-1.png" id="0" name="Picture 1"/>
          <p:cNvPicPr>
            <a:picLocks noGrp="1" noChangeAspect="1"/>
          </p:cNvPicPr>
          <p:nvPr/>
        </p:nvPicPr>
        <p:blipFill>
          <a:blip r:embed="rId3"/>
          <a:stretch>
            <a:fillRect/>
          </a:stretch>
        </p:blipFill>
        <p:spPr bwMode="auto">
          <a:xfrm>
            <a:off x="1371600" y="1816100"/>
            <a:ext cx="9436100" cy="4343400"/>
          </a:xfrm>
          <a:prstGeom prst="rect">
            <a:avLst/>
          </a:prstGeom>
          <a:noFill/>
          <a:ln w="9525">
            <a:noFill/>
            <a:headEnd/>
            <a:tailEnd/>
          </a:ln>
        </p:spPr>
      </p:pic>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Status of the January analyses (1)</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4826000"/>
                <a:gridCol w="3378200"/>
                <a:gridCol w="2311400"/>
              </a:tblGrid>
              <a:tr h="0">
                <a:tc>
                  <a:txBody>
                    <a:bodyPr/>
                    <a:lstStyle/>
                    <a:p>
                      <a:pPr lvl="0" indent="0" marL="0" algn="l">
                        <a:buNone/>
                      </a:pPr>
                      <a:r>
                        <a:rPr/>
                        <a:t>January slide</a:t>
                      </a:r>
                    </a:p>
                  </a:txBody>
                  <a:tcPr/>
                </a:tc>
                <a:tc>
                  <a:txBody>
                    <a:bodyPr/>
                    <a:lstStyle/>
                    <a:p>
                      <a:pPr lvl="0" indent="0" marL="0" algn="l">
                        <a:buNone/>
                      </a:pPr>
                      <a:r>
                        <a:rPr/>
                        <a:t>Status</a:t>
                      </a:r>
                    </a:p>
                  </a:txBody>
                  <a:tcPr/>
                </a:tc>
                <a:tc>
                  <a:txBody>
                    <a:bodyPr/>
                    <a:lstStyle/>
                    <a:p>
                      <a:pPr lvl="0" indent="0" marL="0" algn="l">
                        <a:buNone/>
                      </a:pPr>
                      <a:r>
                        <a:rPr/>
                        <a:t>Where</a:t>
                      </a:r>
                    </a:p>
                  </a:txBody>
                  <a:tcPr/>
                </a:tc>
              </a:tr>
              <a:tr h="0">
                <a:tc>
                  <a:txBody>
                    <a:bodyPr/>
                    <a:lstStyle/>
                    <a:p>
                      <a:pPr lvl="0" indent="0" marL="0" algn="l">
                        <a:buNone/>
                      </a:pPr>
                      <a:r>
                        <a:rPr/>
                        <a:t>Individual-level proxy versus survey-only models (Brier skill, AUC, PR gain)</a:t>
                      </a:r>
                    </a:p>
                  </a:txBody>
                </a:tc>
                <a:tc>
                  <a:txBody>
                    <a:bodyPr/>
                    <a:lstStyle/>
                    <a:p>
                      <a:pPr lvl="0" indent="0" marL="0" algn="l">
                        <a:buNone/>
                      </a:pPr>
                      <a:r>
                        <a:rPr/>
                        <a:t>Sensitivity layer; rerun under district-blocked folds</a:t>
                      </a:r>
                    </a:p>
                  </a:txBody>
                </a:tc>
                <a:tc>
                  <a:txBody>
                    <a:bodyPr/>
                    <a:lstStyle/>
                    <a:p>
                      <a:pPr lvl="0" indent="0" marL="0" algn="l">
                        <a:buNone/>
                      </a:pPr>
                      <a:r>
                        <a:rPr/>
                        <a:t>Individual-level models</a:t>
                      </a:r>
                    </a:p>
                  </a:txBody>
                </a:tc>
              </a:tr>
              <a:tr h="0">
                <a:tc>
                  <a:txBody>
                    <a:bodyPr/>
                    <a:lstStyle/>
                    <a:p>
                      <a:pPr lvl="0" indent="0" marL="0" algn="l">
                        <a:buNone/>
                      </a:pPr>
                      <a:r>
                        <a:rPr/>
                        <a:t>National-level VMNIS / BRINDA predictions</a:t>
                      </a:r>
                    </a:p>
                  </a:txBody>
                </a:tc>
                <a:tc>
                  <a:txBody>
                    <a:bodyPr/>
                    <a:lstStyle/>
                    <a:p>
                      <a:pPr lvl="0" indent="0" marL="0" algn="l">
                        <a:buNone/>
                      </a:pPr>
                      <a:r>
                        <a:rPr/>
                        <a:t>Separate sub-pipeline, last run April 2026</a:t>
                      </a:r>
                    </a:p>
                  </a:txBody>
                </a:tc>
                <a:tc>
                  <a:txBody>
                    <a:bodyPr/>
                    <a:lstStyle/>
                    <a:p>
                      <a:pPr lvl="0" indent="0" marL="0" algn="l">
                        <a:buNone/>
                      </a:pPr>
                      <a:r>
                        <a:rPr/>
                        <a:t>National-level track; not re-audited</a:t>
                      </a:r>
                    </a:p>
                  </a:txBody>
                </a:tc>
              </a:tr>
              <a:tr h="0">
                <a:tc>
                  <a:txBody>
                    <a:bodyPr/>
                    <a:lstStyle/>
                    <a:p>
                      <a:pPr lvl="0" indent="0" marL="0" algn="l">
                        <a:buNone/>
                      </a:pPr>
                      <a:r>
                        <a:rPr/>
                        <a:t>Iodine (Sierra Leone)</a:t>
                      </a:r>
                    </a:p>
                  </a:txBody>
                </a:tc>
                <a:tc>
                  <a:txBody>
                    <a:bodyPr/>
                    <a:lstStyle/>
                    <a:p>
                      <a:pPr lvl="0" indent="0" marL="0" algn="l">
                        <a:buNone/>
                      </a:pPr>
                      <a:r>
                        <a:rPr/>
                        <a:t>Rerun within country (The Gambia, Sierra Leone)</a:t>
                      </a:r>
                    </a:p>
                  </a:txBody>
                </a:tc>
                <a:tc>
                  <a:txBody>
                    <a:bodyPr/>
                    <a:lstStyle/>
                    <a:p>
                      <a:pPr lvl="0" indent="0" marL="0" algn="l">
                        <a:buNone/>
                      </a:pPr>
                      <a:r>
                        <a:rPr/>
                        <a:t>Iodine</a:t>
                      </a:r>
                    </a:p>
                  </a:txBody>
                </a:tc>
              </a:tr>
              <a:tr h="0">
                <a:tc>
                  <a:txBody>
                    <a:bodyPr/>
                    <a:lstStyle/>
                    <a:p>
                      <a:pPr lvl="0" indent="0" marL="0" algn="l">
                        <a:buNone/>
                      </a:pPr>
                      <a:r>
                        <a:rPr/>
                        <a:t>Risk-category accuracy (none / mild / moderate / severe)</a:t>
                      </a:r>
                    </a:p>
                  </a:txBody>
                </a:tc>
                <a:tc>
                  <a:txBody>
                    <a:bodyPr/>
                    <a:lstStyle/>
                    <a:p>
                      <a:pPr lvl="0" indent="0" marL="0" algn="l">
                        <a:buNone/>
                      </a:pPr>
                      <a:r>
                        <a:rPr/>
                        <a:t>Rerun under the protocol, WHO bands</a:t>
                      </a:r>
                    </a:p>
                  </a:txBody>
                </a:tc>
                <a:tc>
                  <a:txBody>
                    <a:bodyPr/>
                    <a:lstStyle/>
                    <a:p>
                      <a:pPr lvl="0" indent="0" marL="0" algn="l">
                        <a:buNone/>
                      </a:pPr>
                      <a:r>
                        <a:rPr/>
                        <a:t>Risk-class accuracy</a:t>
                      </a:r>
                    </a:p>
                  </a:txBody>
                </a:tc>
              </a:tr>
            </a:tbl>
          </a:graphicData>
        </a:graphic>
      </p:graphicFrame>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Status of the January analyses (2)</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3327400"/>
                <a:gridCol w="5422900"/>
                <a:gridCol w="1765300"/>
              </a:tblGrid>
              <a:tr h="0">
                <a:tc>
                  <a:txBody>
                    <a:bodyPr/>
                    <a:lstStyle/>
                    <a:p>
                      <a:pPr lvl="0" indent="0" marL="0" algn="l">
                        <a:buNone/>
                      </a:pPr>
                      <a:r>
                        <a:rPr/>
                        <a:t>January slide</a:t>
                      </a:r>
                    </a:p>
                  </a:txBody>
                  <a:tcPr/>
                </a:tc>
                <a:tc>
                  <a:txBody>
                    <a:bodyPr/>
                    <a:lstStyle/>
                    <a:p>
                      <a:pPr lvl="0" indent="0" marL="0" algn="l">
                        <a:buNone/>
                      </a:pPr>
                      <a:r>
                        <a:rPr/>
                        <a:t>Status</a:t>
                      </a:r>
                    </a:p>
                  </a:txBody>
                  <a:tcPr/>
                </a:tc>
                <a:tc>
                  <a:txBody>
                    <a:bodyPr/>
                    <a:lstStyle/>
                    <a:p>
                      <a:pPr lvl="0" indent="0" marL="0" algn="l">
                        <a:buNone/>
                      </a:pPr>
                      <a:r>
                        <a:rPr/>
                        <a:t>Where</a:t>
                      </a:r>
                    </a:p>
                  </a:txBody>
                  <a:tcPr/>
                </a:tc>
              </a:tr>
              <a:tr h="0">
                <a:tc>
                  <a:txBody>
                    <a:bodyPr/>
                    <a:lstStyle/>
                    <a:p>
                      <a:pPr lvl="0" indent="0" marL="0" algn="l">
                        <a:buNone/>
                      </a:pPr>
                      <a:r>
                        <a:rPr/>
                        <a:t>LSMS (275) and FluNet (3) predictors</a:t>
                      </a:r>
                    </a:p>
                  </a:txBody>
                </a:tc>
                <a:tc>
                  <a:txBody>
                    <a:bodyPr/>
                    <a:lstStyle/>
                    <a:p>
                      <a:pPr lvl="0" indent="0" marL="0" algn="l">
                        <a:buNone/>
                      </a:pPr>
                      <a:r>
                        <a:rPr/>
                        <a:t>Re-added: LSMS is Ghana-only and region-level, FluNet national; neither adds skill</a:t>
                      </a:r>
                    </a:p>
                  </a:txBody>
                </a:tc>
                <a:tc>
                  <a:txBody>
                    <a:bodyPr/>
                    <a:lstStyle/>
                    <a:p>
                      <a:pPr lvl="0" indent="0" marL="0" algn="l">
                        <a:buNone/>
                      </a:pPr>
                      <a:r>
                        <a:rPr/>
                        <a:t>LSMS and FluNet predictors</a:t>
                      </a:r>
                    </a:p>
                  </a:txBody>
                </a:tc>
              </a:tr>
              <a:tr h="0">
                <a:tc>
                  <a:txBody>
                    <a:bodyPr/>
                    <a:lstStyle/>
                    <a:p>
                      <a:pPr lvl="0" indent="0" marL="0" algn="l">
                        <a:buNone/>
                      </a:pPr>
                      <a:r>
                        <a:rPr/>
                        <a:t>Data-source importance by change in MSE</a:t>
                      </a:r>
                    </a:p>
                  </a:txBody>
                </a:tc>
                <a:tc>
                  <a:txBody>
                    <a:bodyPr/>
                    <a:lstStyle/>
                    <a:p>
                      <a:pPr lvl="0" indent="0" marL="0" algn="l">
                        <a:buNone/>
                      </a:pPr>
                      <a:r>
                        <a:rPr/>
                        <a:t>Replaced by domain and source ablation under transport</a:t>
                      </a:r>
                    </a:p>
                  </a:txBody>
                </a:tc>
                <a:tc>
                  <a:txBody>
                    <a:bodyPr/>
                    <a:lstStyle/>
                    <a:p>
                      <a:pPr lvl="0" indent="0" marL="0" algn="l">
                        <a:buNone/>
                      </a:pPr>
                      <a:r>
                        <a:rPr/>
                        <a:t>Domain and source ablation</a:t>
                      </a:r>
                    </a:p>
                  </a:txBody>
                </a:tc>
              </a:tr>
              <a:tr h="0">
                <a:tc>
                  <a:txBody>
                    <a:bodyPr/>
                    <a:lstStyle/>
                    <a:p>
                      <a:pPr lvl="0" indent="0" marL="0" algn="l">
                        <a:buNone/>
                      </a:pPr>
                      <a:r>
                        <a:rPr/>
                        <a:t>Admin-1 women’s iron maps, predicted versus survey</a:t>
                      </a:r>
                    </a:p>
                  </a:txBody>
                </a:tc>
                <a:tc>
                  <a:txBody>
                    <a:bodyPr/>
                    <a:lstStyle/>
                    <a:p>
                      <a:pPr lvl="0" indent="0" marL="0" algn="l">
                        <a:buNone/>
                      </a:pPr>
                      <a:r>
                        <a:rPr/>
                        <a:t>Replaced by district maps with held-out predictions</a:t>
                      </a:r>
                    </a:p>
                  </a:txBody>
                </a:tc>
                <a:tc>
                  <a:txBody>
                    <a:bodyPr/>
                    <a:lstStyle/>
                    <a:p>
                      <a:pPr lvl="0" indent="0" marL="0" algn="l">
                        <a:buNone/>
                      </a:pPr>
                      <a:r>
                        <a:rPr/>
                        <a:t>Ghana maps</a:t>
                      </a:r>
                    </a:p>
                  </a:txBody>
                </a:tc>
              </a:tr>
              <a:tr h="0">
                <a:tc>
                  <a:txBody>
                    <a:bodyPr/>
                    <a:lstStyle/>
                    <a:p>
                      <a:pPr lvl="0" indent="0" marL="0" algn="l">
                        <a:buNone/>
                      </a:pPr>
                      <a:r>
                        <a:rPr/>
                        <a:t>Prescreened SuperLearner as the model</a:t>
                      </a:r>
                    </a:p>
                  </a:txBody>
                </a:tc>
                <a:tc>
                  <a:txBody>
                    <a:bodyPr/>
                    <a:lstStyle/>
                    <a:p>
                      <a:pPr lvl="0" indent="0" marL="0" algn="l">
                        <a:buNone/>
                      </a:pPr>
                      <a:r>
                        <a:rPr/>
                        <a:t>Retained as comparison; does not beat the zero-tuning index</a:t>
                      </a:r>
                    </a:p>
                  </a:txBody>
                </a:tc>
                <a:tc>
                  <a:txBody>
                    <a:bodyPr/>
                    <a:lstStyle/>
                    <a:p>
                      <a:pPr lvl="0" indent="0" marL="0" algn="l">
                        <a:buNone/>
                      </a:pPr>
                      <a:r>
                        <a:rPr/>
                        <a:t>Estimators</a:t>
                      </a:r>
                    </a:p>
                  </a:txBody>
                </a:tc>
              </a:tr>
            </a:tbl>
          </a:graphicData>
        </a:graphic>
      </p:graphicFrame>
    </p:spTree>
  </p:cSld>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4824</TotalTime>
  <Words>2454</Words>
  <Application>Microsoft Office PowerPoint</Application>
  <PresentationFormat>Widescreen</PresentationFormat>
  <Paragraphs>309</Paragraphs>
  <Slides>26</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 Narrow</vt:lpstr>
      <vt:lpstr>Arial</vt:lpstr>
      <vt:lpstr>Calibri</vt:lpstr>
      <vt:lpstr>Calibri Light</vt:lpstr>
      <vt:lpstr>Office 2013 - 2022 Theme</vt:lpstr>
      <vt:lpstr>Proxy VMD Modeling Project Andrew Mertens (University of California, Berkeley)  </vt:lpstr>
      <vt:lpstr>PowerPoint Presentation</vt:lpstr>
      <vt:lpstr>Goals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Details on one model-b12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National-level BRINDA and VMNIS predictions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Proxy modelling of vitamin and mineral deficiencies</dc:title>
  <dc:creator>Andrew N. Mertens, University of California, Berkeley</dc:creator>
  <cp:keywords/>
  <dcterms:created xsi:type="dcterms:W3CDTF">2026-09-14T01:00:02Z</dcterms:created>
  <dcterms:modified xsi:type="dcterms:W3CDTF">2026-09-14T01:00:02Z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2026-09-10</vt:lpwstr>
  </property>
  <property fmtid="{D5CDD505-2E9C-101B-9397-08002B2CF9AE}" pid="6" name="execute">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subtitle">
    <vt:lpwstr>Four surveys, one evaluation protocol, September 2026</vt:lpwstr>
  </property>
  <property fmtid="{D5CDD505-2E9C-101B-9397-08002B2CF9AE}" pid="12" name="toc-title">
    <vt:lpwstr>Table of contents</vt:lpwstr>
  </property>
</Properties>
</file>