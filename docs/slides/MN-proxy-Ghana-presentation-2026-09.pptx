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 Since 15 September the base set carries household budget survey microdata for all four countries (IHS 2015/16, GLSS7, IHS4, SLIHS 2018) and MICS microdata aggregates for all four; FluNet’s three national counts are in the set but constant within a country, so the fit-time policy drops them. Bars are coloured by access tier: the headline models use the open and public-microdata tiers; the DHS tier is the with-DHS sensitivity arm.</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Earth Engine layers, crops, livestock and the modelled IHME surfaces carry it. Household-survey aggregates fit the training countries and do not carry: the DHS block cost 0.07 abroad on the previous set and costs 0.02 now, which is why the headline set leaves it out; the DHS Program’s own cluster-level estimator of those aggregates (DS-01) did not change that, and the public MICS aggregates that remain in the set show the same pattern on a smaller scale. Whether the headline should drop to the open tier alone (0.32 against 0.30; 0.24 against 0.22 on prevalence) is an open decision; the difference sits inside the 0.03 tie rule.</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rare and costly; programmes need district estimates between them.</a:t>
            </a:r>
          </a:p>
          <a:p>
            <a:pPr lvl="0"/>
            <a:r>
              <a:rPr/>
              <a:t>Four biomarker surveys linked to 575 district-level proxies predict iron, vitamin A, folate, B12 and zinc deficiency.</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Estimate district deficiency from proxies, validated against biomarker surveys.</a:t>
            </a:r>
          </a:p>
          <a:p>
            <a:pPr lvl="0"/>
            <a:r>
              <a:rPr/>
              <a:t>Identify the districts at greatest risk; say whether a ranking or a level survives.</a:t>
            </a:r>
          </a:p>
          <a:p>
            <a:pPr lvl="0"/>
            <a:r>
              <a:rPr/>
              <a:t>Say what a country with no survey can expect,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16000"/>
                <a:gridCol w="2870200"/>
                <a:gridCol w="1790700"/>
                <a:gridCol w="3505200"/>
                <a:gridCol w="1333500"/>
              </a:tblGrid>
              <a:tr h="0">
                <a:tc>
                  <a:txBody>
                    <a:bodyPr/>
                    <a:lstStyle/>
                    <a:p>
                      <a:pPr lvl="0" indent="0" marL="0" algn="l">
                        <a:buNone/>
                      </a:pPr>
                      <a:r>
                        <a:rPr/>
                        <a:t>Nutrient status</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Ferritin, inflammation-adjusted (survey flag; not IDA)</a:t>
                      </a:r>
                    </a:p>
                  </a:txBody>
                </a:tc>
                <a:tc>
                  <a:txBody>
                    <a:bodyPr/>
                    <a:lstStyle/>
                    <a:p>
                      <a:pPr lvl="0" indent="0" marL="0" algn="l">
                        <a:buNone/>
                      </a:pPr>
                      <a:r>
                        <a:rPr/>
                        <a:t>&lt; 12 / &lt; 15 ug/L</a:t>
                      </a:r>
                    </a:p>
                  </a:txBody>
                </a:tc>
              </a:tr>
              <a:tr h="0">
                <a:tc>
                  <a:txBody>
                    <a:bodyPr/>
                    <a:lstStyle/>
                    <a:p>
                      <a:pPr lvl="0" indent="0" marL="0" algn="l">
                        <a:buNone/>
                      </a:pPr>
                      <a:r>
                        <a:rPr/>
                        <a:t>Vitamin A</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Retinol-binding protein, one BRINDA adjustment for all</a:t>
                      </a:r>
                    </a:p>
                  </a:txBody>
                </a:tc>
                <a:tc>
                  <a:txBody>
                    <a:bodyPr/>
                    <a:lstStyle/>
                    <a:p>
                      <a:pPr lvl="0" indent="0" marL="0" algn="l">
                        <a:buNone/>
                      </a:pPr>
                      <a:r>
                        <a:rPr/>
                        <a:t>&lt; 0.70 umol/L RBP</a:t>
                      </a:r>
                    </a:p>
                  </a:txBody>
                </a:tc>
              </a:tr>
              <a:tr h="0">
                <a:tc>
                  <a:txBody>
                    <a:bodyPr/>
                    <a:lstStyle/>
                    <a:p>
                      <a:pPr lvl="0" indent="0" marL="0" algn="l">
                        <a:buNone/>
                      </a:pPr>
                      <a:r>
                        <a:rPr/>
                        <a:t>Folate</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folate (immunoassay GH, SL; microbiologic MW)</a:t>
                      </a:r>
                    </a:p>
                  </a:txBody>
                </a:tc>
                <a:tc>
                  <a:txBody>
                    <a:bodyPr/>
                    <a:lstStyle/>
                    <a:p>
                      <a:pPr lvl="0" indent="0" marL="0" algn="l">
                        <a:buNone/>
                      </a:pPr>
                      <a:r>
                        <a:rPr/>
                        <a:t>&lt; 10 nmol/L</a:t>
                      </a:r>
                    </a:p>
                  </a:txBody>
                </a:tc>
              </a:tr>
              <a:tr h="0">
                <a:tc>
                  <a:txBody>
                    <a:bodyPr/>
                    <a:lstStyle/>
                    <a:p>
                      <a:pPr lvl="0" indent="0" marL="0" algn="l">
                        <a:buNone/>
                      </a:pPr>
                      <a:r>
                        <a:rPr/>
                        <a:t>B12</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148-150 pmol/L</a:t>
                      </a:r>
                    </a:p>
                  </a:txBody>
                </a:tc>
              </a:tr>
              <a:tr h="0">
                <a:tc>
                  <a:txBody>
                    <a:bodyPr/>
                    <a:lstStyle/>
                    <a:p>
                      <a:pPr lvl="0" indent="0" marL="0" algn="l">
                        <a:buNone/>
                      </a:pPr>
                      <a:r>
                        <a:rPr/>
                        <a:t>Zinc</a:t>
                      </a:r>
                    </a:p>
                  </a:txBody>
                </a:tc>
                <a:tc>
                  <a:txBody>
                    <a:bodyPr/>
                    <a:lstStyle/>
                    <a:p>
                      <a:pPr lvl="0" indent="0" marL="0" algn="l">
                        <a:buNone/>
                      </a:pPr>
                      <a:r>
                        <a:rPr/>
                        <a:t>Children 6-59 mo; non-pregnant women</a:t>
                      </a:r>
                    </a:p>
                  </a:txBody>
                </a:tc>
                <a:tc>
                  <a:txBody>
                    <a:bodyPr/>
                    <a:lstStyle/>
                    <a:p>
                      <a:pPr lvl="0" indent="0" marL="0" algn="l">
                        <a:buNone/>
                      </a:pPr>
                      <a:r>
                        <a:rPr/>
                        <a:t>Malawi only</a:t>
                      </a:r>
                    </a:p>
                  </a:txBody>
                </a:tc>
                <a:tc>
                  <a:txBody>
                    <a:bodyPr/>
                    <a:lstStyle/>
                    <a:p>
                      <a:pPr lvl="0" indent="0" marL="0" algn="l">
                        <a:buNone/>
                      </a:pPr>
                      <a:r>
                        <a:rPr/>
                        <a:t>Serum zinc, IZiNCG flag, unadjusted</a:t>
                      </a:r>
                    </a:p>
                  </a:txBody>
                </a:tc>
                <a:tc>
                  <a:txBody>
                    <a:bodyPr/>
                    <a:lstStyle/>
                    <a:p>
                      <a:pPr lvl="0" indent="0" marL="0" algn="l">
                        <a:buNone/>
                      </a:pPr>
                      <a:r>
                        <a:rPr/>
                        <a:t>IZiNCG, by draw time</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the household surveys to districts: DHS with a cluster-level spatial model, MICS and the household budget surveys from their public microdata at the finest level each survey identifies.</a:t>
            </a:r>
          </a:p>
          <a:p>
            <a:pPr lvl="0"/>
            <a:r>
              <a:rPr/>
              <a:t>Every layer is taken at the survey year or the nearest available one; climate enters as a 30-year normal plus the survey-year anomaly.</a:t>
            </a:r>
          </a:p>
          <a:p>
            <a:pPr lvl="0"/>
            <a:r>
              <a:rPr/>
              <a:t>The headline models use only open layers and public survey microdata. The DHS aggregates are a sensitivity arm, so the set is one a country without a recent DHS can rebuild.</a:t>
            </a:r>
          </a:p>
          <a:p>
            <a:pPr lvl="0"/>
            <a:r>
              <a:rPr/>
              <a:t>Rank-normalise every predictor within country before pooling, so that cross-country level offsets cannot act as signal.</a:t>
            </a:r>
          </a:p>
          <a:p>
            <a:pPr lvl="0"/>
            <a:r>
              <a:rPr/>
              <a:t>Reduce each of 29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575 predictors in 29 domains; 383 enter the headline models. The DHS aggregates (150) are a sensitivity arm. The Earth Engine layers, the DHS block and the satellite embedding are the largest sources.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0.39 on the level and 0.26 on prevalence; the penalised fits fall to 0.07 and -0.05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10.2</a:t>
                      </a:r>
                    </a:p>
                  </a:txBody>
                </a:tc>
              </a:tr>
              <a:tr h="0">
                <a:tc>
                  <a:txBody>
                    <a:bodyPr/>
                    <a:lstStyle/>
                    <a:p>
                      <a:pPr lvl="0" indent="0" marL="0" algn="l">
                        <a:buNone/>
                      </a:pPr>
                      <a:r>
                        <a:rPr/>
                        <a:t>ihme_overweightprevalence</a:t>
                      </a:r>
                    </a:p>
                  </a:txBody>
                </a:tc>
                <a:tc>
                  <a:txBody>
                    <a:bodyPr/>
                    <a:lstStyle/>
                    <a:p>
                      <a:pPr lvl="0" indent="0" marL="0" algn="l">
                        <a:buNone/>
                      </a:pPr>
                      <a:r>
                        <a:rPr/>
                        <a:t>Child anthropometry</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6.0</a:t>
                      </a:r>
                    </a:p>
                  </a:txBody>
                </a:tc>
              </a:tr>
              <a:tr h="0">
                <a:tc>
                  <a:txBody>
                    <a:bodyPr/>
                    <a:lstStyle/>
                    <a:p>
                      <a:pPr lvl="0" indent="0" marL="0" algn="l">
                        <a:buNone/>
                      </a:pPr>
                      <a:r>
                        <a:rPr/>
                        <a:t>map_sy_pf_mortality_rate</a:t>
                      </a:r>
                    </a:p>
                  </a:txBody>
                </a:tc>
                <a:tc>
                  <a:txBody>
                    <a:bodyPr/>
                    <a:lstStyle/>
                    <a:p>
                      <a:pPr lvl="0" indent="0" marL="0" algn="l">
                        <a:buNone/>
                      </a:pPr>
                      <a:r>
                        <a:rPr/>
                        <a:t>Infection and inflammation burden</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8.0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14.2</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14.8</a:t>
                      </a:r>
                    </a:p>
                  </a:txBody>
                </a:tc>
              </a:tr>
              <a:tr h="0">
                <a:tc>
                  <a:txBody>
                    <a:bodyPr/>
                    <a:lstStyle/>
                    <a:p>
                      <a:pPr lvl="0" indent="0" marL="0" algn="l">
                        <a:buNone/>
                      </a:pPr>
                      <a:r>
                        <a:rPr/>
                        <a:t>mics_w_iptp_sp</a:t>
                      </a:r>
                    </a:p>
                  </a:txBody>
                </a:tc>
                <a:tc>
                  <a:txBody>
                    <a:bodyPr/>
                    <a:lstStyle/>
                    <a:p>
                      <a:pPr lvl="0" indent="0" marL="0" algn="l">
                        <a:buNone/>
                      </a:pPr>
                      <a:r>
                        <a:rPr/>
                        <a:t>Infection and inflammation burden</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3.0</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6.3</a:t>
                      </a:r>
                    </a:p>
                  </a:txBody>
                </a:tc>
              </a:tr>
              <a:tr h="0">
                <a:tc>
                  <a:txBody>
                    <a:bodyPr/>
                    <a:lstStyle/>
                    <a:p>
                      <a:pPr lvl="0" indent="0" marL="0" algn="l">
                        <a:buNone/>
                      </a:pPr>
                      <a:r>
                        <a:rPr/>
                        <a:t>ihme_underweightprevalence</a:t>
                      </a:r>
                    </a:p>
                  </a:txBody>
                </a:tc>
                <a:tc>
                  <a:txBody>
                    <a:bodyPr/>
                    <a:lstStyle/>
                    <a:p>
                      <a:pPr lvl="0" indent="0" marL="0" algn="l">
                        <a:buNone/>
                      </a:pPr>
                      <a:r>
                        <a:rPr/>
                        <a:t>Child anthropometry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lcover_grass_frac_t0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lcover_crops_frac_t0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8.3</a:t>
                      </a:r>
                    </a:p>
                  </a:txBody>
                </a:tc>
              </a:tr>
              <a:tr h="0">
                <a:tc>
                  <a:txBody>
                    <a:bodyPr/>
                    <a:lstStyle/>
                    <a:p>
                      <a:pPr lvl="0" indent="0" marL="0" algn="l">
                        <a:buNone/>
                      </a:pPr>
                      <a:r>
                        <a:rPr/>
                        <a:t>ihme_allanemia</a:t>
                      </a:r>
                    </a:p>
                  </a:txBody>
                </a:tc>
                <a:tc>
                  <a:txBody>
                    <a:bodyPr/>
                    <a:lstStyle/>
                    <a:p>
                      <a:pPr lvl="0" indent="0" marL="0" algn="l">
                        <a:buNone/>
                      </a:pPr>
                      <a:r>
                        <a:rPr/>
                        <a:t>Anaemia and haemoglobin</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8.7</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ihme_overweightprevalence (-)</a:t>
                      </a:r>
                    </a:p>
                  </a:txBody>
                </a:tc>
                <a:tc>
                  <a:txBody>
                    <a:bodyPr/>
                    <a:lstStyle/>
                    <a:p>
                      <a:pPr lvl="0" indent="0" marL="0" algn="l">
                        <a:buNone/>
                      </a:pPr>
                      <a:r>
                        <a:rPr/>
                        <a:t>IHME</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wdist_coast_km_mean (+)</a:t>
                      </a:r>
                    </a:p>
                  </a:txBody>
                </a:tc>
                <a:tc>
                  <a:txBody>
                    <a:bodyPr/>
                    <a:lstStyle/>
                    <a:p>
                      <a:pPr lvl="0" indent="0" marL="0" algn="l">
                        <a:buNone/>
                      </a:pPr>
                      <a:r>
                        <a:rPr/>
                        <a:t>JRC Global Surface Water 1.4; USDOS LSIB 2017</a:t>
                      </a:r>
                    </a:p>
                  </a:txBody>
                </a:tc>
              </a:tr>
              <a:tr h="0">
                <a:tc>
                  <a:txBody>
                    <a:bodyPr/>
                    <a:lstStyle/>
                    <a:p>
                      <a:pPr lvl="0" indent="0" marL="0" algn="l">
                        <a:buNone/>
                      </a:pPr>
                      <a:r>
                        <a:rPr/>
                        <a:t>spam_share_roots (-)</a:t>
                      </a:r>
                    </a:p>
                  </a:txBody>
                </a:tc>
                <a:tc>
                  <a:txBody>
                    <a:bodyPr/>
                    <a:lstStyle/>
                    <a:p>
                      <a:pPr lvl="0" indent="0" marL="0" algn="l">
                        <a:buNone/>
                      </a:pPr>
                      <a:r>
                        <a:rPr/>
                        <a:t>MapSPAM</a:t>
                      </a:r>
                    </a:p>
                  </a:txBody>
                </a:tc>
                <a:tc>
                  <a:txBody>
                    <a:bodyPr/>
                    <a:lstStyle/>
                    <a:p>
                      <a:pPr lvl="0" indent="0" marL="0" algn="l">
                        <a:buNone/>
                      </a:pPr>
                      <a:r>
                        <a:rPr/>
                        <a:t>mics_c_fg_legumes (+)</a:t>
                      </a:r>
                    </a:p>
                  </a:txBody>
                </a:tc>
                <a:tc>
                  <a:txBody>
                    <a:bodyPr/>
                    <a:lstStyle/>
                    <a:p>
                      <a:pPr lvl="0" indent="0" marL="0" algn="l">
                        <a:buNone/>
                      </a:pPr>
                      <a:r>
                        <a:rPr/>
                        <a:t>MICS microdata</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wdist_coast_km_min (+)</a:t>
                      </a:r>
                    </a:p>
                  </a:txBody>
                </a:tc>
                <a:tc>
                  <a:txBody>
                    <a:bodyPr/>
                    <a:lstStyle/>
                    <a:p>
                      <a:pPr lvl="0" indent="0" marL="0" algn="l">
                        <a:buNone/>
                      </a:pPr>
                      <a:r>
                        <a:rPr/>
                        <a:t>JRC Global Surface Water 1.4; USDOS LSIB 2017</a:t>
                      </a:r>
                    </a:p>
                  </a:txBody>
                </a:tc>
              </a:tr>
              <a:tr h="0">
                <a:tc>
                  <a:txBody>
                    <a:bodyPr/>
                    <a:lstStyle/>
                    <a:p>
                      <a:pPr lvl="0" indent="0" marL="0" algn="l">
                        <a:buNone/>
                      </a:pPr>
                      <a:r>
                        <a:rPr/>
                        <a:t>map_sy_pf_mortality_rate (-)</a:t>
                      </a:r>
                    </a:p>
                  </a:txBody>
                </a:tc>
                <a:tc>
                  <a:txBody>
                    <a:bodyPr/>
                    <a:lstStyle/>
                    <a:p>
                      <a:pPr lvl="0" indent="0" marL="0" algn="l">
                        <a:buNone/>
                      </a:pPr>
                      <a:r>
                        <a:rPr/>
                        <a:t>Malaria Atlas Project</a:t>
                      </a:r>
                    </a:p>
                  </a:txBody>
                </a:tc>
                <a:tc>
                  <a:txBody>
                    <a:bodyPr/>
                    <a:lstStyle/>
                    <a:p>
                      <a:pPr lvl="0" indent="0" marL="0" algn="l">
                        <a:buNone/>
                      </a:pPr>
                      <a:r>
                        <a:rPr/>
                        <a:t>rwi_sd (-)</a:t>
                      </a:r>
                    </a:p>
                  </a:txBody>
                </a:tc>
                <a:tc>
                  <a:txBody>
                    <a:bodyPr/>
                    <a:lstStyle/>
                    <a:p>
                      <a:pPr lvl="0" indent="0" marL="0" algn="l">
                        <a:buNone/>
                      </a:pPr>
                      <a:r>
                        <a:rPr/>
                        <a:t>Meta/Data for Good RWI; WorldPop; CIESIN GPW v4.11</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ihme_simpother (-)</a:t>
                      </a:r>
                    </a:p>
                  </a:txBody>
                </a:tc>
                <a:tc>
                  <a:txBody>
                    <a:bodyPr/>
                    <a:lstStyle/>
                    <a:p>
                      <a:pPr lvl="0" indent="0" marL="0" algn="l">
                        <a:buNone/>
                      </a:pPr>
                      <a:r>
                        <a:rPr/>
                        <a:t>IHME</a:t>
                      </a:r>
                    </a:p>
                  </a:txBody>
                </a:tc>
              </a:tr>
              <a:tr h="0">
                <a:tc>
                  <a:txBody>
                    <a:bodyPr/>
                    <a:lstStyle/>
                    <a:p>
                      <a:pPr lvl="0" indent="0" marL="0" algn="l">
                        <a:buNone/>
                      </a:pPr>
                      <a:r>
                        <a:rPr/>
                        <a:t>lcover_crops_frac_t0 (+)</a:t>
                      </a:r>
                    </a:p>
                  </a:txBody>
                </a:tc>
                <a:tc>
                  <a:txBody>
                    <a:bodyPr/>
                    <a:lstStyle/>
                    <a:p>
                      <a:pPr lvl="0" indent="0" marL="0" algn="l">
                        <a:buNone/>
                      </a:pPr>
                      <a:r>
                        <a:rPr/>
                        <a:t>GEE</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mics_c_fg_vita_fv (+)</a:t>
                      </a:r>
                    </a:p>
                  </a:txBody>
                </a:tc>
                <a:tc>
                  <a:txBody>
                    <a:bodyPr/>
                    <a:lstStyle/>
                    <a:p>
                      <a:pPr lvl="0" indent="0" marL="0" algn="l">
                        <a:buNone/>
                      </a:pPr>
                      <a:r>
                        <a:rPr/>
                        <a:t>MICS microdata</a:t>
                      </a:r>
                    </a:p>
                  </a:txBody>
                </a:tc>
                <a:tc>
                  <a:txBody>
                    <a:bodyPr/>
                    <a:lstStyle/>
                    <a:p>
                      <a:pPr lvl="0" indent="0" marL="0" algn="l">
                        <a:buNone/>
                      </a:pPr>
                      <a:r>
                        <a:rPr/>
                        <a:t>wpop_dependency_ratio (+)</a:t>
                      </a:r>
                    </a:p>
                  </a:txBody>
                </a:tc>
                <a:tc>
                  <a:txBody>
                    <a:bodyPr/>
                    <a:lstStyle/>
                    <a:p>
                      <a:pPr lvl="0" indent="0" marL="0" algn="l">
                        <a:buNone/>
                      </a:pPr>
                      <a:r>
                        <a:rPr/>
                        <a:t>WorldPop age-sex / JRC GHS-SMOD</a:t>
                      </a:r>
                    </a:p>
                  </a:txBody>
                </a:tc>
              </a:tr>
              <a:tr h="0">
                <a:tc>
                  <a:txBody>
                    <a:bodyPr/>
                    <a:lstStyle/>
                    <a:p>
                      <a:pPr lvl="0" indent="0" marL="0" algn="l">
                        <a:buNone/>
                      </a:pPr>
                      <a:r>
                        <a:rPr/>
                        <a:t>map_sy_pf_reproductive_number (-)</a:t>
                      </a:r>
                    </a:p>
                  </a:txBody>
                </a:tc>
                <a:tc>
                  <a:txBody>
                    <a:bodyPr/>
                    <a:lstStyle/>
                    <a:p>
                      <a:pPr lvl="0" indent="0" marL="0" algn="l">
                        <a:buNone/>
                      </a:pPr>
                      <a:r>
                        <a:rPr/>
                        <a:t>Malaria Atlas Project</a:t>
                      </a:r>
                    </a:p>
                  </a:txBody>
                </a:tc>
                <a:tc>
                  <a:txBody>
                    <a:bodyPr/>
                    <a:lstStyle/>
                    <a:p>
                      <a:pPr lvl="0" indent="0" marL="0" algn="l">
                        <a:buNone/>
                      </a:pPr>
                      <a:r>
                        <a:rPr/>
                        <a:t>npp_gpp_t0 (-)</a:t>
                      </a:r>
                    </a:p>
                  </a:txBody>
                </a:tc>
                <a:tc>
                  <a:txBody>
                    <a:bodyPr/>
                    <a:lstStyle/>
                    <a:p>
                      <a:pPr lvl="0" indent="0" marL="0" algn="l">
                        <a:buNone/>
                      </a:pPr>
                      <a:r>
                        <a:rPr/>
                        <a:t>GEE</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within the headline set. The one source whose removal helps a new country is the MICS microdata block (27 columns, -0.01); the DHS block is not in the set, and adding it back moves the transported Spearman from 0.30 to 0.28. An index from the open layers alone scores 0.32.</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(0.38), the same after partialling out an urbanicity composite (0.36), and urbanicity alone (-0.07).</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91%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18 cells: 0.52 for survey variables, 0.50 for district proxies, 0.53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0.45</a:t>
                      </a:r>
                    </a:p>
                  </a:txBody>
                </a:tc>
                <a:tc>
                  <a:txBody>
                    <a:bodyPr/>
                    <a:lstStyle/>
                    <a:p>
                      <a:pPr lvl="0" indent="0" marL="0" algn="l">
                        <a:buNone/>
                      </a:pPr>
                      <a:r>
                        <a:rPr/>
                        <a:t>0.48</a:t>
                      </a:r>
                    </a:p>
                  </a:txBody>
                </a:tc>
                <a:tc>
                  <a:txBody>
                    <a:bodyPr/>
                    <a:lstStyle/>
                    <a:p>
                      <a:pPr lvl="0" indent="0" marL="0" algn="l">
                        <a:buNone/>
                      </a:pPr>
                      <a:r>
                        <a:rPr/>
                        <a:t>0.55</a:t>
                      </a:r>
                    </a:p>
                  </a:txBody>
                </a:tc>
                <a:tc>
                  <a:txBody>
                    <a:bodyPr/>
                    <a:lstStyle/>
                    <a:p>
                      <a:pPr lvl="0" indent="0" marL="0" algn="l">
                        <a:buNone/>
                      </a:pPr>
                      <a:r>
                        <a:rPr/>
                        <a:t>0.56</a:t>
                      </a:r>
                    </a:p>
                  </a:txBody>
                </a:tc>
                <a:tc>
                  <a:txBody>
                    <a:bodyPr/>
                    <a:lstStyle/>
                    <a:p>
                      <a:pPr lvl="0" indent="0" marL="0" algn="l">
                        <a:buNone/>
                      </a:pPr>
                      <a:r>
                        <a:rPr/>
                        <a:t>0.10</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0.47</a:t>
                      </a:r>
                    </a:p>
                  </a:txBody>
                </a:tc>
                <a:tc>
                  <a:txBody>
                    <a:bodyPr/>
                    <a:lstStyle/>
                    <a:p>
                      <a:pPr lvl="0" indent="0" marL="0" algn="l">
                        <a:buNone/>
                      </a:pPr>
                      <a:r>
                        <a:rPr/>
                        <a:t>0.32</a:t>
                      </a:r>
                    </a:p>
                  </a:txBody>
                </a:tc>
                <a:tc>
                  <a:txBody>
                    <a:bodyPr/>
                    <a:lstStyle/>
                    <a:p>
                      <a:pPr lvl="0" indent="0" marL="0" algn="l">
                        <a:buNone/>
                      </a:pPr>
                      <a:r>
                        <a:rPr/>
                        <a:t>0.32</a:t>
                      </a:r>
                    </a:p>
                  </a:txBody>
                </a:tc>
                <a:tc>
                  <a:txBody>
                    <a:bodyPr/>
                    <a:lstStyle/>
                    <a:p>
                      <a:pPr lvl="0" indent="0" marL="0" algn="l">
                        <a:buNone/>
                      </a:pPr>
                      <a:r>
                        <a:rPr/>
                        <a:t>0.19</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(0.30 at district level, 0.38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9.3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0.30 against 0.08.</a:t>
            </a:r>
          </a:p>
          <a:p>
            <a:pPr lvl="0"/>
            <a:r>
              <a:rPr/>
              <a:t>Which predictors carry the signal? Satellite, climate and soil.</a:t>
            </a:r>
          </a:p>
          <a:p>
            <a:pPr lvl="0"/>
            <a:r>
              <a:rPr/>
              <a:t>Prevalence in a new country from the model alone? Not yet.</a:t>
            </a:r>
          </a:p>
          <a:p>
            <a:pPr lvl="0"/>
            <a:r>
              <a:rPr/>
              <a:t>Prevalence with one national anchor? Yes: 9.3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the GLSS7 region means add no skill; household budget survey microdata for all four countries are now in the base set; FluNet is national and inert</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2026-09-17T06:40:22Z</dcterms:created>
  <dcterms:modified xsi:type="dcterms:W3CDTF">2026-09-17T06:40:22Z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