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B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16_0.xml" ContentType="application/vnd.ms-powerpoint.comments+xml"/>
  <Override PartName="/ppt/notesSlides/notesSlide17.xml" ContentType="application/vnd.openxmlformats-officedocument.presentationml.notesSlide+xml"/>
  <Override PartName="/ppt/comments/modernComment_119_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B_0.xml" ContentType="application/vnd.ms-powerpoint.comments+xml"/>
  <Override PartName="/ppt/notesSlides/notesSlide20.xml" ContentType="application/vnd.openxmlformats-officedocument.presentationml.notesSlide+xml"/>
  <Override PartName="/ppt/comments/modernComment_11C_0.xml" ContentType="application/vnd.ms-powerpoint.comments+xml"/>
  <Override PartName="/ppt/notesSlides/notesSlide21.xml" ContentType="application/vnd.openxmlformats-officedocument.presentationml.notesSlide+xml"/>
  <Override PartName="/ppt/comments/modernComment_11E_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2F_0.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31_0.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141_0.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1"/>
  </p:sldMasterIdLst>
  <p:notesMasterIdLst>
    <p:notesMasterId r:id="rId47"/>
  </p:notesMasterIdLst>
  <p:sldIdLst>
    <p:sldId id="256" r:id="rId2"/>
    <p:sldId id="257" r:id="rId3"/>
    <p:sldId id="260" r:id="rId4"/>
    <p:sldId id="262" r:id="rId5"/>
    <p:sldId id="263" r:id="rId6"/>
    <p:sldId id="265" r:id="rId7"/>
    <p:sldId id="267" r:id="rId8"/>
    <p:sldId id="268" r:id="rId9"/>
    <p:sldId id="269" r:id="rId10"/>
    <p:sldId id="270" r:id="rId11"/>
    <p:sldId id="271" r:id="rId12"/>
    <p:sldId id="272" r:id="rId13"/>
    <p:sldId id="274" r:id="rId14"/>
    <p:sldId id="275" r:id="rId15"/>
    <p:sldId id="276" r:id="rId16"/>
    <p:sldId id="277" r:id="rId17"/>
    <p:sldId id="278" r:id="rId18"/>
    <p:sldId id="281" r:id="rId19"/>
    <p:sldId id="282" r:id="rId20"/>
    <p:sldId id="283" r:id="rId21"/>
    <p:sldId id="284" r:id="rId22"/>
    <p:sldId id="286" r:id="rId23"/>
    <p:sldId id="292" r:id="rId24"/>
    <p:sldId id="293" r:id="rId25"/>
    <p:sldId id="294" r:id="rId26"/>
    <p:sldId id="295" r:id="rId27"/>
    <p:sldId id="296" r:id="rId28"/>
    <p:sldId id="302" r:id="rId29"/>
    <p:sldId id="303" r:id="rId30"/>
    <p:sldId id="304" r:id="rId31"/>
    <p:sldId id="305" r:id="rId32"/>
    <p:sldId id="309" r:id="rId33"/>
    <p:sldId id="310" r:id="rId34"/>
    <p:sldId id="311" r:id="rId35"/>
    <p:sldId id="312" r:id="rId36"/>
    <p:sldId id="313" r:id="rId37"/>
    <p:sldId id="314" r:id="rId38"/>
    <p:sldId id="316" r:id="rId39"/>
    <p:sldId id="317" r:id="rId40"/>
    <p:sldId id="320" r:id="rId41"/>
    <p:sldId id="321" r:id="rId42"/>
    <p:sldId id="325" r:id="rId43"/>
    <p:sldId id="328" r:id="rId44"/>
    <p:sldId id="334" r:id="rId45"/>
    <p:sldId id="337" r:id="rId46"/>
  </p:sldIdLst>
  <p:sldSz cx="12192000" cy="6858000"/>
  <p:notesSz cx="6858000" cy="9144000"/>
  <p:defaultText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4E4CAE-E167-60D0-ADF6-DC628FC944DC}" name="Andrew Mertens" initials="AM" userId="S::amertens@BERKELEY.EDU::40cc52c3-f288-42ba-b8ef-bfc4fa2900b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3"/>
    <p:restoredTop sz="94694"/>
  </p:normalViewPr>
  <p:slideViewPr>
    <p:cSldViewPr snapToGrid="0">
      <p:cViewPr varScale="1">
        <p:scale>
          <a:sx n="95" d="100"/>
          <a:sy n="95" d="100"/>
        </p:scale>
        <p:origin x="104" y="276"/>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F29220FA-E279-4F7C-BFA9-66DC3BFCCDD9}" authorId="{014E4CAE-E167-60D0-ADF6-DC628FC944DC}" created="2026-09-27T22:07:33.879">
    <ac:txMkLst xmlns:ac="http://schemas.microsoft.com/office/drawing/2013/main/command">
      <pc:docMk xmlns:pc="http://schemas.microsoft.com/office/powerpoint/2013/main/command"/>
      <pc:sldMk xmlns:pc="http://schemas.microsoft.com/office/powerpoint/2013/main/command" cId="0" sldId="267"/>
      <ac:spMk id="2" creationId="{B2AB3E48-2765-D748-089D-83A321314B8F}"/>
      <ac:txMk cp="0" len="59">
        <ac:context len="60" hash="1089875970"/>
      </ac:txMk>
    </ac:txMkLst>
    <p188:pos x="9818716" y="366395"/>
    <p188:txBody>
      <a:bodyPr/>
      <a:lstStyle/>
      <a:p>
        <a:r>
          <a:rPr lang="en-US"/>
          <a:t>Questions don’t work for this and the next slide title
</a:t>
        </a:r>
      </a:p>
    </p188:txBody>
  </p188:cm>
</p188:cmLst>
</file>

<file path=ppt/comments/modernComment_11B_0.xml><?xml version="1.0" encoding="utf-8"?>
<p188:cmLst xmlns:a="http://schemas.openxmlformats.org/drawingml/2006/main" xmlns:r="http://schemas.openxmlformats.org/officeDocument/2006/relationships" xmlns:p188="http://schemas.microsoft.com/office/powerpoint/2018/8/main">
  <p188:cm id="{A93D5C2A-8588-4379-B3C5-7FFE029F3AE7}" authorId="{014E4CAE-E167-60D0-ADF6-DC628FC944DC}" created="2026-09-27T22:11:46.066">
    <ac:txMkLst xmlns:ac="http://schemas.microsoft.com/office/drawing/2013/main/command">
      <pc:docMk xmlns:pc="http://schemas.microsoft.com/office/powerpoint/2013/main/command"/>
      <pc:sldMk xmlns:pc="http://schemas.microsoft.com/office/powerpoint/2013/main/command" cId="0" sldId="283"/>
      <ac:spMk id="2" creationId="{9DBE2CBA-5A11-5AEE-644F-228E9B86DB9D}"/>
      <ac:txMk cp="0" len="5">
        <ac:context len="28" hash="3721090235"/>
      </ac:txMk>
    </ac:txMkLst>
    <p188:pos x="1348047" y="607464"/>
    <p188:txBody>
      <a:bodyPr/>
      <a:lstStyle/>
      <a:p>
        <a:r>
          <a:rPr lang="en-US"/>
          <a:t>Make sure this is updated if need be</a:t>
        </a:r>
      </a:p>
    </p188:txBody>
  </p188:cm>
</p188:cmLst>
</file>

<file path=ppt/comments/modernComment_11C_0.xml><?xml version="1.0" encoding="utf-8"?>
<p188:cmLst xmlns:a="http://schemas.openxmlformats.org/drawingml/2006/main" xmlns:r="http://schemas.openxmlformats.org/officeDocument/2006/relationships" xmlns:p188="http://schemas.microsoft.com/office/powerpoint/2018/8/main">
  <p188:cm id="{9B90DF4B-BB34-4D77-BA1F-8BFCC6BD7929}" authorId="{014E4CAE-E167-60D0-ADF6-DC628FC944DC}" created="2026-09-27T22:12:30.871">
    <pc:sldMkLst xmlns:pc="http://schemas.microsoft.com/office/powerpoint/2013/main/command">
      <pc:docMk/>
      <pc:sldMk cId="0" sldId="284"/>
    </pc:sldMkLst>
    <p188:txBody>
      <a:bodyPr/>
      <a:lstStyle/>
      <a:p>
        <a:r>
          <a:rPr lang="en-US"/>
          <a:t>Are there any more interpretable policy relevant measures of accuracy we can add to this slide?</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F4EF10C9-9DB0-45DB-A98C-9D4A5835F55A}" authorId="{014E4CAE-E167-60D0-ADF6-DC628FC944DC}" created="2026-09-27T22:13:24.702">
    <ac:deMkLst xmlns:ac="http://schemas.microsoft.com/office/drawing/2013/main/command">
      <pc:docMk xmlns:pc="http://schemas.microsoft.com/office/powerpoint/2013/main/command"/>
      <pc:sldMk xmlns:pc="http://schemas.microsoft.com/office/powerpoint/2013/main/command" cId="0" sldId="286"/>
      <ac:picMk id="3" creationId="{00000000-0000-0000-0000-000000000000}"/>
    </ac:deMkLst>
    <p188:txBody>
      <a:bodyPr/>
      <a:lstStyle/>
      <a:p>
        <a:r>
          <a:rPr lang="en-US"/>
          <a:t>Is there a better country-outcome combination we could use for this? It doesn’t look impressive</a:t>
        </a:r>
      </a:p>
    </p188:txBody>
  </p188:cm>
</p188:cmLst>
</file>

<file path=ppt/comments/modernComment_12F_0.xml><?xml version="1.0" encoding="utf-8"?>
<p188:cmLst xmlns:a="http://schemas.openxmlformats.org/drawingml/2006/main" xmlns:r="http://schemas.openxmlformats.org/officeDocument/2006/relationships" xmlns:p188="http://schemas.microsoft.com/office/powerpoint/2018/8/main">
  <p188:cm id="{7EA60FC3-B24F-47F1-BA70-8F6F7A458065}" authorId="{014E4CAE-E167-60D0-ADF6-DC628FC944DC}" created="2026-09-27T22:20:34.059">
    <pc:sldMkLst xmlns:pc="http://schemas.microsoft.com/office/powerpoint/2013/main/command">
      <pc:docMk/>
      <pc:sldMk cId="0" sldId="303"/>
    </pc:sldMkLst>
    <p188:txBody>
      <a:bodyPr/>
      <a:lstStyle/>
      <a:p>
        <a:r>
          <a:rPr lang="en-US"/>
          <a:t>Every slide from here and down should be in the appendix</a:t>
        </a:r>
      </a:p>
    </p188:txBody>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FEA0793E-5831-4C16-93F1-4715A51C5335}" authorId="{014E4CAE-E167-60D0-ADF6-DC628FC944DC}" created="2026-09-27T22:09:39.940">
    <ac:deMkLst xmlns:ac="http://schemas.microsoft.com/office/drawing/2013/main/command">
      <pc:docMk xmlns:pc="http://schemas.microsoft.com/office/powerpoint/2013/main/command"/>
      <pc:sldMk xmlns:pc="http://schemas.microsoft.com/office/powerpoint/2013/main/command" cId="0" sldId="278"/>
      <ac:picMk id="3" creationId="{00000000-0000-0000-0000-000000000000}"/>
    </ac:deMkLst>
    <p188:txBody>
      <a:bodyPr/>
      <a:lstStyle/>
      <a:p>
        <a:r>
          <a:rPr lang="en-US"/>
          <a:t>Is this right for district fill in? Because most should be grey if they don’t have data? And do we group the held out districts in space or not?</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3666F722-260A-499D-B755-7FA57211DC08}" authorId="{014E4CAE-E167-60D0-ADF6-DC628FC944DC}" created="2026-09-27T22:11:11.712">
    <pc:sldMkLst xmlns:pc="http://schemas.microsoft.com/office/powerpoint/2013/main/command">
      <pc:docMk/>
      <pc:sldMk cId="0" sldId="281"/>
    </pc:sldMkLst>
    <p188:txBody>
      <a:bodyPr/>
      <a:lstStyle/>
      <a:p>
        <a:r>
          <a:rPr lang="en-US"/>
          <a:t>Legend is confusing for audiences who haven’t seen it before, and the points are hard to see except for the blue dots</a:t>
        </a:r>
      </a:p>
    </p188:txBody>
  </p188:cm>
</p188:cmLst>
</file>

<file path=ppt/comments/modernComment_131_0.xml><?xml version="1.0" encoding="utf-8"?>
<p188:cmLst xmlns:a="http://schemas.openxmlformats.org/drawingml/2006/main" xmlns:r="http://schemas.openxmlformats.org/officeDocument/2006/relationships" xmlns:p188="http://schemas.microsoft.com/office/powerpoint/2018/8/main">
  <p188:cm id="{F3FE1871-3BE0-4ED8-AF4D-BC4FCF3C9036}" authorId="{014E4CAE-E167-60D0-ADF6-DC628FC944DC}" created="2026-09-27T22:16:22.485">
    <ac:txMkLst xmlns:ac="http://schemas.microsoft.com/office/drawing/2013/main/command">
      <pc:docMk xmlns:pc="http://schemas.microsoft.com/office/powerpoint/2013/main/command"/>
      <pc:sldMk xmlns:pc="http://schemas.microsoft.com/office/powerpoint/2013/main/command" cId="0" sldId="305"/>
      <ac:spMk id="2" creationId="{B2AB3E48-2765-D748-089D-83A321314B8F}"/>
      <ac:txMk cp="0" len="4">
        <ac:context len="58" hash="2959981672"/>
      </ac:txMk>
    </ac:txMkLst>
    <p188:pos x="1115291" y="366395"/>
    <p188:txBody>
      <a:bodyPr/>
      <a:lstStyle/>
      <a:p>
        <a:r>
          <a:rPr lang="en-US"/>
          <a:t>This slide is super confusing and needs more text to explain what we are looking at?</a:t>
        </a:r>
      </a:p>
    </p188:txBody>
  </p188:cm>
</p188:cmLst>
</file>

<file path=ppt/comments/modernComment_141_0.xml><?xml version="1.0" encoding="utf-8"?>
<p188:cmLst xmlns:a="http://schemas.openxmlformats.org/drawingml/2006/main" xmlns:r="http://schemas.openxmlformats.org/officeDocument/2006/relationships" xmlns:p188="http://schemas.microsoft.com/office/powerpoint/2018/8/main">
  <p188:cm id="{3272A1DC-CADB-4A92-9977-82F56AD9B932}" authorId="{014E4CAE-E167-60D0-ADF6-DC628FC944DC}" created="2026-09-27T22:21:05.688">
    <ac:txMkLst xmlns:ac="http://schemas.microsoft.com/office/drawing/2013/main/command">
      <pc:docMk xmlns:pc="http://schemas.microsoft.com/office/powerpoint/2013/main/command"/>
      <pc:sldMk xmlns:pc="http://schemas.microsoft.com/office/powerpoint/2013/main/command" cId="0" sldId="321"/>
      <ac:spMk id="2" creationId="{B2AB3E48-2765-D748-089D-83A321314B8F}"/>
      <ac:txMk cp="5" len="4">
        <ac:context len="43" hash="2037544964"/>
      </ac:txMk>
    </ac:txMkLst>
    <p188:pos x="2079567" y="607464"/>
    <p188:txBody>
      <a:bodyPr/>
      <a:lstStyle/>
      <a:p>
        <a:r>
          <a:rPr lang="en-US"/>
          <a:t>Make an updated version of this an actual conclusion slide (not appendix)</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09/27/2026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three project goals as stated in the proposal: district and national prevalence estimates from proxies, validated against biomarker surveys; the districts at greatest risk; engagement with national stakeholders throughout. The map is Ghana child iron deficiency from the 2017 survey, the worked example that recurs through the talk.</a:t>
            </a:r>
          </a:p>
        </p:txBody>
      </p:sp>
      <p:sp>
        <p:nvSpPr>
          <p:cNvPr id="4" name="Slide Number Placeholder 3"/>
          <p:cNvSpPr>
            <a:spLocks noGrp="1"/>
          </p:cNvSpPr>
          <p:nvPr>
            <p:ph type="sldNum" sz="quarter" idx="10"/>
          </p:nvPr>
        </p:nvSpPr>
        <p:spPr/>
        <p:txBody>
          <a:bodyPr/>
          <a:lstStyle/>
          <a:p>
            <a:fld id="{57582FD5-DD72-EA41-90DE-BC5D4D375366}"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same project is both. The opportunity: hundreds of public layers covering every district. The problem: the thing we predict is measured once a decade, in 14 to 87 districts per country. Everything in the protocol follows from holding both at once.</a:t>
            </a:r>
          </a:p>
          <a:p>
            <a:pPr marL="0" lvl="0" indent="0">
              <a:buNone/>
            </a:pPr>
            <a:endParaRPr/>
          </a:p>
          <a:p>
            <a:pPr marL="0" lvl="0" indent="0">
              <a:buNone/>
            </a:pPr>
            <a:r>
              <a:t>DETAIL: The same sentence describes both halves. Big: 575 columns from 28 sources, most of them rasters at 30 m to 10 km summarized over 554 districts, four household surveys aggregated from their microdata, a satellite embedding with 64 dimensions per district. Small: the thing being predicted is measured in one biomarker survey per country per decade, at 206 surveyed districts over four countries, 24 country-outcome outcome-country combinations, and 14 to 87 districts per country, which is the effective sample size of every model. Everything in the protocol follows from holding both at once: predictors are reduced to domain components with nothing chosen on the outcome, the estimator has no tuned parameter, the folds are cut by district, region and country, and the reliability ceiling says how much of the survey signal is noise at district level. Likely question: why not fit at the person level. That was the January approach; a person-level classifier under district-blocked folds is a coin toss on proxies alone, and shrinking its predictions biases area means (individual-level slide in the appendix).</a:t>
            </a:r>
          </a:p>
        </p:txBody>
      </p:sp>
      <p:sp>
        <p:nvSpPr>
          <p:cNvPr id="4" name="Slide Number Placeholder 3"/>
          <p:cNvSpPr>
            <a:spLocks noGrp="1"/>
          </p:cNvSpPr>
          <p:nvPr>
            <p:ph type="sldNum" sz="quarter" idx="10"/>
          </p:nvPr>
        </p:nvSpPr>
        <p:spPr/>
        <p:txBody>
          <a:bodyPr/>
          <a:lstStyle/>
          <a:p>
            <a:fld id="{57582FD5-DD72-EA41-90DE-BC5D4D375366}"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Four national micronutrient surveys, one per country, each with blood biomarkers and GPS clusters: The Gambia 2018, Ghana 2017, Sierra Leone 2013, Malawi 2015-16. The maps show women’s iron deficiency by region as the surveys report it; the districts and clusters under each map are what the model learns from.</a:t>
            </a:r>
          </a:p>
          <a:p>
            <a:pPr marL="0" lvl="0" indent="0">
              <a:buNone/>
            </a:pPr>
            <a:endParaRPr/>
          </a:p>
          <a:p>
            <a:pPr marL="0" lvl="0" indent="0">
              <a:buNone/>
            </a:pPr>
            <a:r>
              <a:t>DETAIL: Region-level respondent-weighted prevalence of women’s iron deficiency from targets_v2.csv, on the GADM 4.1 regions. Counts per country from the same table and the cluster file (Sierra Leone: 14 districts, 60 clusters; The Gambia 30 and 70; Ghana 75 and 90; Malawi 87 and 103). All four measured iron and vitamin A in children and women; folate and B12 in three (not The Gambia); zinc in Malawi only. Fieldwork dates recovered for every cluster; three surveys ran in the dry season and Malawi in the lean season. Likely question: why districts rather than regions. Districts are the program unit; they sit below the surveys’ design resolution, which is why the reliability ceiling slide reports what a perfect predictor could reach.</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Five deficiencies, each defined once, the same way in every country, reconciled against the survey reports: iron, vitamin A, folate, B12 and zinc. Children under five and non-pregnant women.</a:t>
            </a:r>
          </a:p>
          <a:p>
            <a:pPr marL="0" lvl="0" indent="0">
              <a:buNone/>
            </a:pPr>
            <a:endParaRPr/>
          </a:p>
          <a:p>
            <a:pPr marL="0" lvl="0" indent="0">
              <a:buNone/>
            </a:pPr>
            <a:r>
              <a:t>DETAIL: Two targets per outcome-country combination: the deficiency prevalence, and the district mean of the negated log biomarker concentration (higher means worse), which carries more signal than the dichotomy and is reported alongside it. Definitions were reconciled against the four survey reports and the 21 papers that re-analyze them on 15 September 2026 (docs/survey_report_reconciliation.md): every iron, zinc, folate and B12 national estimate now reproduces its report to the decimal, and the Gambia LGA estimates track the report at r = 0.98 to 0.99. What changed then: the iron binaries had been the surveys’ iron-deficiency-ANAEMIA columns in three countries (ferritin plus hemoglobin), Malawi’s iron flag came from a mis-specified local BRINDA that under-counted by half, pregnant women and children outside 6 to 59 months were being kept, and vitamin A had been converted to retinol-equivalents with each survey’s own RBP-to-retinol line. That conversion is now the sensitivity analysis, not the primary: the four lines were fitted in different directions on 14 to 300 specimens, and Malawi’s has R-squared 0.13, which manufactures near-zero deficiency by construction; the survey’s own re-analysis (Likoswe 2021) recommends exactly BRINDA-adjusted RBP below 0.70, the estimand used here. Call it low RBP rather than vitamin A deficiency: Ghana’s MRDR found 6.7 percent depleted and Malawi’s none. Two caveats to say if asked. Sierra Leone’s child file as supplied holds only the survey’s anaemic children (532 of 654 assayed), so its child outcome-country combinations are anaemic-subgroup estimates until the full file arrives. Folate is not comparable across the two assays (Malawi’s microbiologic assay reads higher than the Roche immunoassay), so its cross-border numbers are indicative only. Iodine (The Gambia, Sierra Leone) is analyzed within country only; a one- or two-country outcome has no cross-border test.</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same boxes, colored by whether the 575 public predictors cover them. Green: we have district-level layers (climate, soil, poverty, water, malaria, diet from budget surveys). Yellow: only a national figure or a modeled surface. Gray: nothing public reaches it, which is culture, absorption and the individual physiology. The model can only see the green and yellow pathways.</a:t>
            </a:r>
          </a:p>
          <a:p>
            <a:pPr marL="0" lvl="0" indent="0">
              <a:buNone/>
            </a:pPr>
            <a:endParaRPr/>
          </a:p>
          <a:p>
            <a:pPr marL="0" lvl="0" indent="0">
              <a:buNone/>
            </a:pPr>
            <a:r>
              <a:t>DETAIL: Coverage judged from the domain list: ecology and climate (GEE, SoilGrids, AlphaEarth), poverty and education (MICS, HCES, GDL, RWI), sanitation and water (MICS, IHME WASH), food insecurity and diet (HCES food groups, HFID, FEWS, RTFP prices, MapSPAM, livestock), infection (Malaria Atlas, ESPEN helminths, IHME), care practices (MICS infant feeding), inherited red-outcome-country combination disorders (Malaria Atlas HbS, HbC, G6PD allele surfaces). Partly: physiological vulnerability and gynecological conditions (fertility and age structure from MICS/WorldPop), economy and policy (national constants, fortification standards), inflammation (only through malaria and diarrhea surfaces), losses and requirements (fertility, helminths). No: culture and norms, absorption. Likely question: is the lack of a culture proxy why the model plateaus. Possibly; it is one reason the deck says the vocabulary is saturated with respect to what is public.</a:t>
            </a:r>
          </a:p>
        </p:txBody>
      </p:sp>
      <p:sp>
        <p:nvSpPr>
          <p:cNvPr id="4" name="Slide Number Placeholder 3"/>
          <p:cNvSpPr>
            <a:spLocks noGrp="1"/>
          </p:cNvSpPr>
          <p:nvPr>
            <p:ph type="sldNum" sz="quarter" idx="10"/>
          </p:nvPr>
        </p:nvSpPr>
        <p:spPr/>
        <p:txBody>
          <a:bodyPr/>
          <a:lstStyle/>
          <a:p>
            <a:fld id="{57582FD5-DD72-EA41-90DE-BC5D4D375366}"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land side of the data: what the satellites and soil surveys see. Rainfall and temperature normals, soil chemistry, crops, livestock, land cover and a satellite embedding, every one of them public and covering every district. The maps are Ghana, so you can see the north-south gradient most of these layers share.</a:t>
            </a:r>
          </a:p>
          <a:p>
            <a:pPr marL="0" lvl="0" indent="0">
              <a:buNone/>
            </a:pPr>
            <a:endParaRPr/>
          </a:p>
          <a:p>
            <a:pPr marL="0" lvl="0" indent="0">
              <a:buNone/>
            </a:pPr>
            <a:r>
              <a:t>DETAIL: Sources: Earth Engine TerraClimate (monthly climate, 4 km, survey year and 1991-2020 normals), MODIS (land-surface temperature, NDVI, EVI), Copernicus land cover, night lights, GHSL built-up, MODIS productivity, AlphaEarth 64-band satellite embedding, SoilGrids and iSDA soil chemistry at two depths, Koppen and agro-ecological zones, JRC surface water and coast distance, MapSPAM 2010 crop production and area, Gridded Livestock of the World 4, WorldPop, GHSL and GPW population, Meta relative wealth index. What a proxy has to be: This talk is about the right-hand side of the model: where the 575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record behind the fourth bullet is the shared metadata file and results/tables/protocol_v2/variable_sheet.csv. One consequence of the first bullet: 42 of the 575 columns are national series with one value per country, and a value that is the same in every district cannot rank districts, so the models drop them when they are fitted.</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people side: modeled health surfaces from IHME and the Malaria Atlas, helminths from WHO, food prices from WFP and the World Bank, and the public household surveys, MICS and the budget surveys, aggregated to districts. These are public too; the DHS is kept out of the headline models on purpose.</a:t>
            </a:r>
          </a:p>
          <a:p>
            <a:pPr marL="0" lvl="0" indent="0">
              <a:buNone/>
            </a:pPr>
            <a:endParaRPr/>
          </a:p>
          <a:p>
            <a:pPr marL="0" lvl="0" indent="0">
              <a:buNone/>
            </a:pPr>
            <a:r>
              <a:t>DETAIL: Sources: IHME 5 km modeled surfaces (child growth, anemia, WASH, education, ORS, HIV, measles vaccination), Malaria Atlas (parasite rate, incidence, mortality, nets, spraying, blood-disorder allele frequencies), WHO ESPEN helminth treatment coverage, WHO anemia and UNICEF vitamin A supplementation national series, WFP and World Bank real-time market prices, FAOSTAT balances and HFID food security, GFDx fortification standards, MIMI dietary inadequacy for Ghana, MICS microdata aggregated to districts, household budget surveys (IHS 2015/16, GLSS7, IHS4, SLIHS 2018) for diet, Global Data Lab HDI. DHS aggregates exist for all four countries and are a sensitivity arm only.</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Twenty-eight sources, 575 predictors, one district list. Most are satellite and modeled surfaces; the public household surveys, MICS and the budget surveys, are the rest. The dark part of each bar exists in all four countries and can travel to a new one.</a:t>
            </a:r>
          </a:p>
          <a:p>
            <a:pPr marL="0" lvl="0" indent="0">
              <a:buNone/>
            </a:pPr>
            <a:endParaRPr/>
          </a:p>
          <a:p>
            <a:pPr marL="0" lvl="0" indent="0">
              <a:buNone/>
            </a:pPr>
            <a:r>
              <a:t>DETAIL: Read the bar chart from the top. One harmonized set feeds every model: the in-country models use whatever a country has, the cross-country models the columns all four share, so the light segment (household budget survey diet items for two countries, RTFP prices for two, MIMI for Ghana, MICS items missing from one round, a few IHME surfaces) works at home and not abroad. Behind the set sits a larger extraction: about 740 columns per country in the raw files (1,968 distinct names across the four, mostly the same quantity under country-specific names), harmonized to a common vocabulary; what did not harmonize was used only in the pre-protocol models.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summarize a year of imagery; soil is iSDA and SoilGrids, ten nutrient concentrations at two depths plus texture and pH; crops are MapSPAM’s 2010 allocation; livestock is GLW4. The health and nutrition surfaces are IHME’s modeled estimates (anemia,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(Ghana 2014, Malawi 2015-16, Sierra Leone 2013, The Gambia 2019-20), estimated with a cluster-level spatial model so every district has a value. Everything here is listed with its source, year and definition in results/tables/protocol_v2/variable_sheet.csv and in the dashboard’s catalog.</a:t>
            </a:r>
          </a:p>
        </p:txBody>
      </p:sp>
      <p:sp>
        <p:nvSpPr>
          <p:cNvPr id="4" name="Slide Number Placeholder 3"/>
          <p:cNvSpPr>
            <a:spLocks noGrp="1"/>
          </p:cNvSpPr>
          <p:nvPr>
            <p:ph type="sldNum" sz="quarter" idx="10"/>
          </p:nvPr>
        </p:nvSpPr>
        <p:spPr/>
        <p:txBody>
          <a:bodyPr/>
          <a:lstStyle/>
          <a:p>
            <a:fld id="{57582FD5-DD72-EA41-90DE-BC5D4D375366}"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Two rules. In space: one list of districts, and every layer is joined to it by a code, never by a district’s name, so a renamed or split district cannot silently drop out. In time: every layer is taken at the year of the country’s survey or the nearest year available, climate as a 30-year normal plus that year’s anomaly, and the gap between the layer’s year and the survey’s is recorded for every column.</a:t>
            </a:r>
          </a:p>
          <a:p>
            <a:pPr marL="0" lvl="0" indent="0">
              <a:buNone/>
            </a:pPr>
            <a:endParaRPr/>
          </a:p>
          <a:p>
            <a:pPr marL="0" lvl="0" indent="0">
              <a:buNone/>
            </a:pPr>
            <a:r>
              <a:t>DETAIL: Space: 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 Time: 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57582FD5-DD72-EA41-90DE-BC5D4D375366}"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Twenty-nine domains, grouped here into eight for the slide, with the number of predictors in each. Each domain enters the model as its leading principal components rather than as raw columns, because 575 columns against 14 to 87 districts cannot be fitted one by one.</a:t>
            </a:r>
          </a:p>
          <a:p>
            <a:pPr marL="0" lvl="0" indent="0">
              <a:buNone/>
            </a:pPr>
            <a:endParaRPr/>
          </a:p>
          <a:p>
            <a:pPr marL="0" lvl="0" indent="0">
              <a:buNone/>
            </a:pPr>
            <a:r>
              <a:t>DETAIL: 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analyzes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57582FD5-DD72-EA41-90DE-BC5D4D375366}"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Six steps: clean the surveys to one definition per nutrient; link the gridded layers to districts; aggregate the household surveys; align everything in time; keep only open data in the headline models; then rank-normalize within country and reduce each domain to its leading components. Nothing in the last step looks at the outcome.</a:t>
            </a:r>
          </a:p>
          <a:p>
            <a:pPr marL="0" lvl="0" indent="0">
              <a:buNone/>
            </a:pPr>
            <a:endParaRPr/>
          </a:p>
          <a:p>
            <a:pPr marL="0" lvl="0" indent="0">
              <a:buNone/>
            </a:pPr>
            <a:r>
              <a:t>DETAIL: Why 28 sources but 29 domains: a source is where a layer comes from (IHME, the Malaria Atlas, MICS), a domain is what it measures; several sources feed one domain (malaria columns from MAP, IHME and MICS sit together) and one source feeds several domains (IHME supplies anemia, child growth and WASH). The column counts at each step are in the appendix CONSORT table.</a:t>
            </a:r>
          </a:p>
        </p:txBody>
      </p:sp>
      <p:sp>
        <p:nvSpPr>
          <p:cNvPr id="4" name="Slide Number Placeholder 3"/>
          <p:cNvSpPr>
            <a:spLocks noGrp="1"/>
          </p:cNvSpPr>
          <p:nvPr>
            <p:ph type="sldNum" sz="quarter" idx="10"/>
          </p:nvPr>
        </p:nvSpPr>
        <p:spPr/>
        <p:txBody>
          <a:bodyPr/>
          <a:lstStyle/>
          <a:p>
            <a:fld id="{57582FD5-DD72-EA41-90DE-BC5D4D375366}"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A library of candidate algorithms, from a simple mean through penalized regressions, random forests, gradient boosting and spatial and geostatistical models, to the one that won: a principal-component index with nothing tuned. All are compared on the same honest folds.</a:t>
            </a:r>
          </a:p>
          <a:p>
            <a:pPr marL="0" lvl="0" indent="0">
              <a:buNone/>
            </a:pPr>
            <a:endParaRPr/>
          </a:p>
          <a:p>
            <a:pPr marL="0" lvl="0" indent="0">
              <a:buNone/>
            </a:pPr>
            <a:r>
              <a:t>DETAIL: The comparison run (SL-01 to SL-05, rerun on the current set): on identical district-blocked folds the PC index scores 0.29 against 0.28 for the rank-loss SuperLearner ensemble, 0.27 for random forest, 0.25 for the squared-error ensemble, 0.22 for the principal-component highly adaptive ridge and 0.19 for the elastic net (mean of outcome-country combination medians over 17 outcome-country combinations, prevalence, in-fill). Why the simplest wins: with 14 to 87 districts every estimator that tunes a parameter shrinks toward the constant under squared-error cross-validation; the index has no tuned parameter.</a:t>
            </a:r>
          </a:p>
        </p:txBody>
      </p:sp>
      <p:sp>
        <p:nvSpPr>
          <p:cNvPr id="4" name="Slide Number Placeholder 3"/>
          <p:cNvSpPr>
            <a:spLocks noGrp="1"/>
          </p:cNvSpPr>
          <p:nvPr>
            <p:ph type="sldNum" sz="quarter" idx="10"/>
          </p:nvPr>
        </p:nvSpPr>
        <p:spPr/>
        <p:txBody>
          <a:bodyPr/>
          <a:lstStyle/>
          <a:p>
            <a:fld id="{57582FD5-DD72-EA41-90DE-BC5D4D375366}"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By ensemble machine learning, SuperLearner: every algorithm in the library is scored on data it did not see, with folds cut by district so no district is split between training and validation, and the best one, or the best weighted combination, is chosen. The principal-component index is one candidate in that library, and it is the one that wins.</a:t>
            </a:r>
          </a:p>
          <a:p>
            <a:pPr marL="0" lvl="0" indent="0">
              <a:buNone/>
            </a:pPr>
            <a:endParaRPr/>
          </a:p>
          <a:p>
            <a:pPr marL="0" lvl="0" indent="0">
              <a:buNone/>
            </a:pPr>
            <a:r>
              <a:t>DETAIL: No penalty other than computation to add a learner: diversity, redundancy, synergy. Library: mean, penalized regressions, random forest, gradient boosting, PCA-HAL, BART, geostatistical models, the PC index. Discrete SuperLearner picks the single best learner by cross-validated loss; the weighted version combines them. The figure on the right is the V-fold scheme.</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Four steps, none of which looks at a held-out district: rank every predictor within its country; take the leading components of each domain; weight each component by how well it tracks the outcome in the training districts; add them up. It is a weighted sum with the weights read off the data, nothing tuned.</a:t>
            </a:r>
          </a:p>
          <a:p>
            <a:pPr marL="0" lvl="0" indent="0">
              <a:buNone/>
            </a:pPr>
            <a:endParaRPr/>
          </a:p>
          <a:p>
            <a:pPr marL="0" lvl="0" indent="0">
              <a:buNone/>
            </a:pPr>
            <a:r>
              <a:t>DETAIL: Four steps, none of which looks at a held-out district. (1) Rank-normalize every predictor within country, so a level offset between surveys cannot act as signal. (2) Take the leading principal components of each of the 29 domains, to 80% of variance and at most twelve, on the training districts. (3) Weight each component by its rank correlation with the outcome in the training fold, sign and size; nothing else is fitted. (4) Sum, and rescale to the training outcome spread. The index is the infinite-penalty limit of a ridge regression on the components (weighting slide in the appendix), and because it is linear in the rank-normalized columns every column has an exact back-projected weight, which is what the importance slides show.</a:t>
            </a:r>
          </a:p>
        </p:txBody>
      </p:sp>
      <p:sp>
        <p:nvSpPr>
          <p:cNvPr id="4" name="Slide Number Placeholder 3"/>
          <p:cNvSpPr>
            <a:spLocks noGrp="1"/>
          </p:cNvSpPr>
          <p:nvPr>
            <p:ph type="sldNum" sz="quarter" idx="10"/>
          </p:nvPr>
        </p:nvSpPr>
        <p:spPr/>
        <p:txBody>
          <a:bodyPr/>
          <a:lstStyle/>
          <a:p>
            <a:fld id="{57582FD5-DD72-EA41-90DE-BC5D4D375366}"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Three questions a program might ask, each tested by holding out the right thing. District in-fill: a district the survey missed in a country it did visit. Region extrapolation: a whole region the survey never reached. Cross-country transport: a country with no biomarker survey at all. Each is compared with the best thing you could do without the model.</a:t>
            </a:r>
          </a:p>
          <a:p>
            <a:pPr marL="0" lvl="0" indent="0">
              <a:buNone/>
            </a:pPr>
            <a:endParaRPr/>
          </a:p>
          <a:p>
            <a:pPr marL="0" lvl="0" indent="0">
              <a:buNone/>
            </a:pPr>
            <a:r>
              <a:t>DETAIL: In-fill folds are 5-fold by district repeated ten times; the baseline is the survey’s own regional average computed without the held-out district (jackknifed) and a spatial smoother. Region extrapolation holds out one region at a time; baseline a spatial smoother. Transport holds out one country and trains on the other three; the baseline is a permutation null with country blocks kept intact. The earlier leaderboard compared transport-style models against an in-fill baseline that had seen the district’s own respondents; that comparison is withdrawn. 16 of 22 combinations are positive at the 95th percentile of the null with no transport at all, so the mean correlation is what is compared with its null (0.08 district, 0.18 regional).</a:t>
            </a:r>
          </a:p>
        </p:txBody>
      </p:sp>
      <p:sp>
        <p:nvSpPr>
          <p:cNvPr id="4" name="Slide Number Placeholder 3"/>
          <p:cNvSpPr>
            <a:spLocks noGrp="1"/>
          </p:cNvSpPr>
          <p:nvPr>
            <p:ph type="sldNum" sz="quarter" idx="10"/>
          </p:nvPr>
        </p:nvSpPr>
        <p:spPr/>
        <p:txBody>
          <a:bodyPr/>
          <a:lstStyle/>
          <a:p>
            <a:fld id="{57582FD5-DD72-EA41-90DE-BC5D4D375366}"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same three levels as pictures: orange is predicted from blue. A few districts held out inside Ghana; a whole region of Ghana; then all of Ghana, predicted from the other three countries.</a:t>
            </a:r>
          </a:p>
          <a:p>
            <a:pPr marL="0" lvl="0" indent="0">
              <a:buNone/>
            </a:pPr>
            <a:endParaRPr/>
          </a:p>
          <a:p>
            <a:pPr marL="0" lvl="0" indent="0">
              <a:buNone/>
            </a:pPr>
            <a:r>
              <a:t>DETAIL: In-fill holds out districts one fold at a time (5-fold by district, ten draws); region extrapolation holds out a whole region; transport holds out a whole country and trains on the other three. Every fold is cut at the district or above, never through a district’s respondents.</a:t>
            </a:r>
          </a:p>
        </p:txBody>
      </p:sp>
      <p:sp>
        <p:nvSpPr>
          <p:cNvPr id="4" name="Slide Number Placeholder 3"/>
          <p:cNvSpPr>
            <a:spLocks noGrp="1"/>
          </p:cNvSpPr>
          <p:nvPr>
            <p:ph type="sldNum" sz="quarter" idx="10"/>
          </p:nvPr>
        </p:nvSpPr>
        <p:spPr/>
        <p:txBody>
          <a:bodyPr/>
          <a:lstStyle/>
          <a:p>
            <a:fld id="{57582FD5-DD72-EA41-90DE-BC5D4D375366}"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Same combinations, now the level: how many percentage points each district’s predicted prevalence is from the survey’s. Read this slide as the limit of what any of us has today. At district level nobody has a level: the survey’s own regional breakdown is no better than writing one national number on every district. The model, once it is shrunk for this job, is slightly better than both — and that is all. It is built to order districts, not to measure them.</a:t>
            </a:r>
          </a:p>
          <a:p>
            <a:pPr marL="0" lvl="0" indent="0">
              <a:buNone/>
            </a:pPr>
            <a:endParaRPr/>
          </a:p>
          <a:p>
            <a:pPr marL="0" lvl="0" indent="0">
              <a:buNone/>
            </a:pPr>
            <a:r>
              <a:t>DETAIL: Same combinations, same order, prevalence scale: the population-weighted mean absolute error of each district’s held-out prevalence, in percentage points, for three arms — the calibrated index, the survey’s own jackknifed regional average, and one national number for every district (the status quo where no sub-national estimate exists). Means over the 18 scored cells: calibrated index 10.74, regional average 11.77, national number 11.49, spatial smoother 10.93. The arm this slide used to plot, the DEPLOYED ranking (domain_index), scores 14.25 and is worse than the national number in 13 of 18 cells: it is rescaled to the training districts’ spread, so its predictions carry the full between-district variance while correlating about 0.28 with the truth, and refusing to shrink inflates absolute error. Shrinking it costs ranking (level 0.40 to 0.35, prevalence 0.28 to 0.21), so the two arms are two products: domain_index for the order, domain_index_cal for any level, MAE or bias. Both are in benchmarks_v2_cells.csv; no rerun is needed. Read the error against the outcome: 10 points on an outcome at 40% is a different thing from 3 points on one at 4%, which is why the rare-outcome combinations look accurate here and useless on the ranking slide. The geostatistical comparator slide shows what a model built to estimate a level does to absolute error (9.2 against 10.7). Where a level has to be defended, this slide plus the national anchor is the argument, not the ranking correlation.</a:t>
            </a:r>
          </a:p>
        </p:txBody>
      </p:sp>
      <p:sp>
        <p:nvSpPr>
          <p:cNvPr id="4" name="Slide Number Placeholder 3"/>
          <p:cNvSpPr>
            <a:spLocks noGrp="1"/>
          </p:cNvSpPr>
          <p:nvPr>
            <p:ph type="sldNum" sz="quarter" idx="10"/>
          </p:nvPr>
        </p:nvSpPr>
        <p:spPr/>
        <p:txBody>
          <a:bodyPr/>
          <a:lstStyle/>
          <a:p>
            <a:fld id="{57582FD5-DD72-EA41-90DE-BC5D4D375366}"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same on the biomarker concentration scale, as error relative to how much districts differ: one means no better than the national mean. The model sits near one in most combinations even where it ranks well, which is the same message: order, not level.</a:t>
            </a:r>
          </a:p>
          <a:p>
            <a:pPr marL="0" lvl="0" indent="0">
              <a:buNone/>
            </a:pPr>
            <a:endParaRPr/>
          </a:p>
          <a:p>
            <a:pPr marL="0" lvl="0" indent="0">
              <a:buNone/>
            </a:pPr>
            <a:r>
              <a:t>DETAIL: Same combinations, mean concentration scale: the district mean of the log biomarker concentration (ferritin, RBP, folate, B12, zinc), predicted with the district held out, scored as root-mean-square error divided by the spread of the observed district means, so that 1.0 means no better than giving every district the national mean and anything below it is skill. The index is a ranker rescaled to the training spread, so its squared error is often at or above 1 even in combinations where it ranks well; the spatial smoother, which shrinks toward neighbors, is usually the best other arm on this loss. That is the honest division of labour the geostatistical slide draws: the index for the order, a shrinking estimator for the level. Cells whose index error sits well below 1 (the strong combinations in bold) are the ones where the proxies carry enough signal to predict the concentration itself, not only its order.</a:t>
            </a:r>
          </a:p>
        </p:txBody>
      </p:sp>
      <p:sp>
        <p:nvSpPr>
          <p:cNvPr id="4" name="Slide Number Placeholder 3"/>
          <p:cNvSpPr>
            <a:spLocks noGrp="1"/>
          </p:cNvSpPr>
          <p:nvPr>
            <p:ph type="sldNum" sz="quarter" idx="10"/>
          </p:nvPr>
        </p:nvSpPr>
        <p:spPr/>
        <p:txBody>
          <a:bodyPr/>
          <a:lstStyle/>
          <a:p>
            <a:fld id="{57582FD5-DD72-EA41-90DE-BC5D4D375366}"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Each point is one outcome in one country against how common the deficiency is. Above the line: iron, B12 and vitamin A where they are common enough to measure, and The Gambia everywhere. Below: the very rare outcomes, zinc, and the single-cluster countries. The model needs a survey that can see districts before it can be shown to rank them.</a:t>
            </a:r>
          </a:p>
          <a:p>
            <a:pPr marL="0" lvl="0" indent="0">
              <a:buNone/>
            </a:pPr>
            <a:endParaRPr/>
          </a:p>
          <a:p>
            <a:pPr marL="0" lvl="0" indent="0">
              <a:buNone/>
            </a:pPr>
            <a:r>
              <a:t>DETAIL: Each point is a country-outcome outcome-country combination: the index’s in-fill ranking accuracy against how common the deficiency is nationally. Rarity hurts at the extreme: below 1% prevalence (Malawi’s two vitamin A combinations, mean 0.26) the survey finds a handful of deficient respondents per district and its district estimates are mostly zero, so no predictor can recover an order; at 2 to 4% (The Gambia’s and Ghana’s women’s vitamin A) the ranking still works. Above that, the spread is about the survey more than the nutrient: The Gambia’s 30 districts with several clusters each score 0.41 to 0.70 (3 of above the line), Ghana’s and Malawi’s single-cluster districts are mixed (3 of ). Zinc (Malawi only, -0.07) is the other failure and is not a rarity problem: serum zinc is unadjusted, drawn under fasting rules that vary by cluster, and the survey’s own district means are close to noise. Everything the deck claims about ranking rests on the combinations above the dotted line: 6 of 18, iron, vitamin A where it is common, folate and B12, in three countries. Likely question: why not just report those. Because the cut is chosen on the same held-out scores, so the strong-outcome-country combination mean of 0.64 is a description, not a promise; the promise for a new country is the transport slide’s pre-registered climate-and-soil index.</a:t>
            </a:r>
          </a:p>
        </p:txBody>
      </p:sp>
      <p:sp>
        <p:nvSpPr>
          <p:cNvPr id="4" name="Slide Number Placeholder 3"/>
          <p:cNvSpPr>
            <a:spLocks noGrp="1"/>
          </p:cNvSpPr>
          <p:nvPr>
            <p:ph type="sldNum" sz="quarter" idx="10"/>
          </p:nvPr>
        </p:nvSpPr>
        <p:spPr/>
        <p:txBody>
          <a:bodyPr/>
          <a:lstStyle/>
          <a:p>
            <a:fld id="{57582FD5-DD72-EA41-90DE-BC5D4D375366}"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four best: Malawi B12 and three of The Gambia’s outcomes, all at or near 0.7 on the ranking. The level column is the caution: even here the district prevalence error is no better than the survey’s regional average. Strong on the order, not on the level.</a:t>
            </a:r>
          </a:p>
          <a:p>
            <a:pPr marL="0" lvl="0" indent="0">
              <a:buNone/>
            </a:pPr>
            <a:endParaRPr/>
          </a:p>
          <a:p>
            <a:pPr marL="0" lvl="0" indent="0">
              <a:buNone/>
            </a:pPr>
            <a:r>
              <a:t>DETAIL: The four best in-country outcome-country combinations on the held-out ranking, from benchmarks_v2_raw.csv (in-fill, biomarker level, mean over ten draws), with the same outcome-country combination’s prevalence-target ranking, its population-weighted district prevalence error in percentage points and the national prevalence. These are the outcome-country combinations to show a country: the model is not a uniform 0.40, it is 0.64 where the outcome is common enough to measure and close to nothing where it is not. 6 of 18 combinations clear 0.5.</a:t>
            </a:r>
          </a:p>
        </p:txBody>
      </p:sp>
      <p:sp>
        <p:nvSpPr>
          <p:cNvPr id="4" name="Slide Number Placeholder 3"/>
          <p:cNvSpPr>
            <a:spLocks noGrp="1"/>
          </p:cNvSpPr>
          <p:nvPr>
            <p:ph type="sldNum" sz="quarter" idx="10"/>
          </p:nvPr>
        </p:nvSpPr>
        <p:spPr/>
        <p:txBody>
          <a:bodyPr/>
          <a:lstStyle/>
          <a:p>
            <a:fld id="{57582FD5-DD72-EA41-90DE-BC5D4D375366}"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Ghana, women’s iron deficiency, one outcome across the four questions a map has to answer. Left, what the survey measured, district by district. Second, what the model predicts for each of those districts when it is held out. Third, the model applied to every district including the ones never surveyed. Right, the calibrated chance that each district sits at or above the WHO moderate line - a probability that has been checked, not a shading of the model’s mood.</a:t>
            </a:r>
          </a:p>
          <a:p>
            <a:pPr marL="0" lvl="0" indent="0">
              <a:buNone/>
            </a:pPr>
            <a:endParaRPr/>
          </a:p>
          <a:p>
            <a:pPr marL="0" lvl="0" indent="0">
              <a:buNone/>
            </a:pPr>
            <a:r>
              <a:t>DETAIL: Panel 2 is the in-fill out-of-fold prediction (5-fold by district, ten draws, prevalence target). Panel 3 is the deployment fit as the dashboard shows it: the index on all surveyed districts, level-calibrated, anchored to the national figure, in-sample for the surveyed ones. Panel 4 (CP-01, 27 September): the conformal-predictive-distribution chance of sitting at or above the 20 percent line, from out-of-fold residuals whose 90 percent band covers the survey’s own value 91 percent of the time under leave-one-out; the cell’s half-width is about 20 points, much of it the survey’s own single-cluster noise. Gray in panels 1 and 2: no survey clusters. Tables: viz/oof_women_iron.csv, viz/deploy_ghana_women_iron_cal.csv.</a:t>
            </a:r>
          </a:p>
        </p:txBody>
      </p:sp>
      <p:sp>
        <p:nvSpPr>
          <p:cNvPr id="4" name="Slide Number Placeholder 3"/>
          <p:cNvSpPr>
            <a:spLocks noGrp="1"/>
          </p:cNvSpPr>
          <p:nvPr>
            <p:ph type="sldNum" sz="quarter" idx="10"/>
          </p:nvPr>
        </p:nvSpPr>
        <p:spPr/>
        <p:txBody>
          <a:bodyPr/>
          <a:lstStyle/>
          <a:p>
            <a:fld id="{57582FD5-DD72-EA41-90DE-BC5D4D375366}"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One table and two sentences. The table: for each outcome, how well the model ranks districts inside a surveyed country and in a new one, and how far off its district prevalence is. The sentences: it gets six district pairs in ten in the survey’s order, against five and a half for the region’s average; and a level is only trustworthy with a national anchor.</a:t>
            </a:r>
          </a:p>
          <a:p>
            <a:pPr marL="0" lvl="0" indent="0">
              <a:buNone/>
            </a:pPr>
            <a:endParaRPr/>
          </a:p>
          <a:p>
            <a:pPr marL="0" lvl="0" indent="0">
              <a:buNone/>
            </a:pPr>
            <a:r>
              <a:t>DETAIL: The MIMI deck’s evaluation summary format: the per-outcome table on the left (held-out Spearman inside a country and in a new country, biomarker level; the population-weighted district prevalence error in-fill), and on the right the two sentences a policy reader takes away, one about the order and one about the level, with the pair-count and the anchor error behind them. The four draft translation slides that follow expand these two readings; keep this one if only one fits.</a:t>
            </a:r>
          </a:p>
        </p:txBody>
      </p:sp>
      <p:sp>
        <p:nvSpPr>
          <p:cNvPr id="4" name="Slide Number Placeholder 3"/>
          <p:cNvSpPr>
            <a:spLocks noGrp="1"/>
          </p:cNvSpPr>
          <p:nvPr>
            <p:ph type="sldNum" sz="quarter" idx="10"/>
          </p:nvPr>
        </p:nvSpPr>
        <p:spPr/>
        <p:txBody>
          <a:bodyPr/>
          <a:lstStyle/>
          <a:p>
            <a:fld id="{57582FD5-DD72-EA41-90DE-BC5D4D375366}"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Three readings of the same 0.40, all from the best model, the index, predicting each district with it held out: six pairs in ten in the survey’s order; the flagged fifth has a third more deficiency than the country; that fifth holds a fifth of the deficient people. Real, modest, and better than the number a ministry has today.</a:t>
            </a:r>
          </a:p>
          <a:p>
            <a:pPr marL="0" lvl="0" indent="0">
              <a:buNone/>
            </a:pPr>
            <a:endParaRPr/>
          </a:p>
          <a:p>
            <a:pPr marL="0" lvl="0" indent="0">
              <a:buNone/>
            </a:pPr>
            <a:r>
              <a:t>DETAIL: DRAFT A of four candidate translations; all numbers are the index (the deployed and best-performing model), averaged over the 24 outcome-country combinations; in the six strongest combinations the pair count is about 70%. The three readings are all computed from the same held-out predictions (in-fill, 5-fold by district, ten draws). Pairs: counted exactly from the held-out predictions (12_nce_targeting_metrics.R, PC-01: every pair of districts, ties excluded, mean over the 24 outcome-country combinations): the model orders 60% of district pairs the way the survey does, the survey’s own regional averages 56%, a coin toss 50%; across borders (leave-one-country-out, 22 outcome-country combinations) it is 55%. A Spearman of 0.40 sounds like more than it is: at district level it is six pairs in ten. The flagged fifth: deficiency prevalence in the fifth of districts the model ranks worst averages 32.2% against 24.3% nationally (nce_targeting_summary.csv, mean over the 24 outcome-country combinations); a map that knew the truth would find 41.3%. Burden: the model’s worst fifth holds 22% of the deficient people, the survey’s own regional averages 20%, a perfect map 48%. The honest message is that the ranking is real but modest: it is better than the regional average a ministry would use today, and a long way from a map that knows every district, which is what the reliability ceiling explains.</a:t>
            </a:r>
          </a:p>
        </p:txBody>
      </p:sp>
      <p:sp>
        <p:nvSpPr>
          <p:cNvPr id="4" name="Slide Number Placeholder 3"/>
          <p:cNvSpPr>
            <a:spLocks noGrp="1"/>
          </p:cNvSpPr>
          <p:nvPr>
            <p:ph type="sldNum" sz="quarter" idx="10"/>
          </p:nvPr>
        </p:nvSpPr>
        <p:spPr/>
        <p:txBody>
          <a:bodyPr/>
          <a:lstStyle/>
          <a:p>
            <a:fld id="{57582FD5-DD72-EA41-90DE-BC5D4D375366}"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Two comparisons that make 0.40 readable. First, against the ceiling: the survey’s own district estimates are noisy, so even a perfect predictor would only reach 0.48 against them; the model reaches 59% of that. Second, against the best prediction you can make with survey data alone, the region’s average: the model beats it in 13 of 18 combinations.</a:t>
            </a:r>
          </a:p>
          <a:p>
            <a:pPr marL="0" lvl="0" indent="0">
              <a:buNone/>
            </a:pPr>
            <a:endParaRPr/>
          </a:p>
          <a:p>
            <a:pPr marL="0" lvl="0" indent="0">
              <a:buNone/>
            </a:pPr>
            <a:r>
              <a:t>DETAIL: How the ceiling is known: a variance model with respondents nested in clusters, clusters in districts and districts in regions, fitted to each survey, gives the share of district-to-district variation that is true signal rather than sampling noise; the correlation a predictor of the true value could reach with the observed value follows from that share (variance_components_ceiling.csv). The regional average is jackknifed: each district’s value is its region’s average computed without that district’s own respondents, so it never sees the answer. DRAFT B. The question a decision-maker actually asks is not “is 0.40 high” but “compared with what”. Two comparisons. Against the ceiling: a district estimate from the survey itself is noisy (one to three clusters per district), so even a perfect predictor of the true prevalence would correlate only 0.48 with what the survey reports; on that scale the model’s 0.28 (prevalence target) is 59% of the attainable. Against current practice: the number a ministry would use for an unsurveyed district today is its region’s average; the model beats it (0.40 against 0.31, better in 13 of 18 outcome-country combinations). Say plainly that the remaining gap is mostly the survey’s noise, not the model’s ignorance, and that the way to raise the ceiling is more clusters per district, which is the survey-design slide.</a:t>
            </a:r>
          </a:p>
        </p:txBody>
      </p:sp>
      <p:sp>
        <p:nvSpPr>
          <p:cNvPr id="4" name="Slide Number Placeholder 3"/>
          <p:cNvSpPr>
            <a:spLocks noGrp="1"/>
          </p:cNvSpPr>
          <p:nvPr>
            <p:ph type="sldNum" sz="quarter" idx="10"/>
          </p:nvPr>
        </p:nvSpPr>
        <p:spPr/>
        <p:txBody>
          <a:bodyPr/>
          <a:lstStyle/>
          <a:p>
            <a:fld id="{57582FD5-DD72-EA41-90DE-BC5D4D375366}"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Policy runs on severity bands. With each district held out, the model puts 64% of districts in the survey’s WHO vitamin A band and 91% within one band. The survey’s regional averages do slightly better, because a band is mostly a level; the model’s case is a band where there is no survey at all.</a:t>
            </a:r>
          </a:p>
          <a:p>
            <a:pPr marL="0" lvl="0" indent="0">
              <a:buNone/>
            </a:pPr>
            <a:endParaRPr/>
          </a:p>
          <a:p>
            <a:pPr marL="0" lvl="0" indent="0">
              <a:buNone/>
            </a:pPr>
            <a:r>
              <a:t>DETAIL: DRAFT C. Policy runs on severity bands, not correlations: WHO’s vitamin A bands are under 2%, 2 to 10, 10 to 20, 20% or more. With each district held out, the model puts 64% of districts in the band the survey puts them in and 91% within one band (risk_category_accuracy.csv, mean over the vitamin A outcome-country combinations); the survey’s own regional averages give 66% exact and 94% within one band. Read the comparison honestly: on severity bands the survey’s own regional averages do as well as the model or slightly better, because a band is mostly a level and the regional average carries the country’s own level. The model is almost never two bands wrong (a district the survey calls severe is not called mild), and its case is not that it beats the regional average on bands but that it gives a band where there is no survey at all; in a new country the level comes from the national anchor (risk-class slide in the appendix has the transport rows). Use this slide only if the audience reads vitamin A or anemia severity maps, and say the regional-average comparison aloud rather than letting the numbers sit.</a:t>
            </a:r>
          </a:p>
        </p:txBody>
      </p:sp>
      <p:sp>
        <p:nvSpPr>
          <p:cNvPr id="4" name="Slide Number Placeholder 3"/>
          <p:cNvSpPr>
            <a:spLocks noGrp="1"/>
          </p:cNvSpPr>
          <p:nvPr>
            <p:ph type="sldNum" sz="quarter" idx="10"/>
          </p:nvPr>
        </p:nvSpPr>
        <p:spPr/>
        <p:txBody>
          <a:bodyPr/>
          <a:lstStyle/>
          <a:p>
            <a:fld id="{57582FD5-DD72-EA41-90DE-BC5D4D375366}" type="slidenum">
              <a:rPr lang="en-US"/>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Which districts to visit first, where the next survey should sample, the order of a roll-out: yes. A planning prevalence: only with a national anchor. A district prevalence with no survey, or whether a program worked: no.</a:t>
            </a:r>
          </a:p>
          <a:p>
            <a:pPr marL="0" lvl="0" indent="0">
              <a:buNone/>
            </a:pPr>
            <a:endParaRPr/>
          </a:p>
          <a:p>
            <a:pPr marL="0" lvl="0" indent="0">
              <a:buNone/>
            </a:pPr>
            <a:r>
              <a:t>DETAIL: DRAFT D. The correlation does not tell a program whether the model is fit for a decision; this slide says which decisions, and which not. Yes: choosing which districts to visit, assess or enrol first, and where the next survey should put its clusters, because those need an order and the order is 60% right at the pair level and better than the regional average. Yes: sequencing a roll-out across districts, for the same reason. With a national anchor only: a planning prevalence per district (9.3 points median error at a 5% national sample), because the ranking has no level of its own. No: reporting a district prevalence with no survey at all, or judging whether a program worked, because the model is cross-sectional and validated on levels at one point in time, not on change. The decision rule to offer: use it where being roughly right about the order is enough, and pair it with a survey wherever a number has to be defended.</a:t>
            </a:r>
          </a:p>
        </p:txBody>
      </p:sp>
      <p:sp>
        <p:nvSpPr>
          <p:cNvPr id="4" name="Slide Number Placeholder 3"/>
          <p:cNvSpPr>
            <a:spLocks noGrp="1"/>
          </p:cNvSpPr>
          <p:nvPr>
            <p:ph type="sldNum" sz="quarter" idx="10"/>
          </p:nvPr>
        </p:nvSpPr>
        <p:spPr/>
        <p:txBody>
          <a:bodyPr/>
          <a:lstStyle/>
          <a:p>
            <a:fld id="{57582FD5-DD72-EA41-90DE-BC5D4D375366}"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same held-out district predictions, and the survey, both aggregated to the regions (respondent-weighted means), child iron. This is the resolution at which the surveys were designed to be read, and the comparison a ministry statistician will make first. The regional pattern is recovered in each country; the district slide before this one shows the finer level where the survey itself becomes noisy. The MIMI and IHME decks show exactly this pair of maps as their headline validation figure.</a:t>
            </a:r>
          </a:p>
        </p:txBody>
      </p:sp>
      <p:sp>
        <p:nvSpPr>
          <p:cNvPr id="4" name="Slide Number Placeholder 3"/>
          <p:cNvSpPr>
            <a:spLocks noGrp="1"/>
          </p:cNvSpPr>
          <p:nvPr>
            <p:ph type="sldNum" sz="quarter" idx="10"/>
          </p:nvPr>
        </p:nvSpPr>
        <p:spPr/>
        <p:txBody>
          <a:bodyPr/>
          <a:lstStyle/>
          <a:p>
            <a:fld id="{57582FD5-DD72-EA41-90DE-BC5D4D375366}" type="slidenum">
              <a:rPr lang="en-US"/>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device IHME uses for every one of its maps, applied here: not “what is the prevalence” but “how likely is it to be above the line a program acts on”. Ghana, child vitamin A, the deployed map (the index fitted on the 75 surveyed districts, level-calibrated, anchored to the national figure, applied to all 260). Since 27 September the right map is CALIBRATED (CP-01): the chance comes from a conformal predictive distribution over 75 out-of-fold residuals, and the underlying 90 percent band (about 29 points either side here) covers the survey’s own measured district value 91% of the time under leave-one-out, checked across all 27 country-outcome combinations. 53 districts are above the 20 percent line with at least 80 percent probability, 0 below it, and 207 are honestly undecided; 185 of the 260 have no survey clusters and inherit the cell’s width. Before calibration the resampling version of this map called 63 districts “80 percent sure” — resampling bands cover the survey’s value only 8% of the time, which is why they were replaced. The coverage target includes the survey’s own single-cluster noise, so much of the band width is the survey’s, not the model’s. For a new country the anchor would come from a small national sample and the map would read as a planning figure.</a:t>
            </a:r>
          </a:p>
        </p:txBody>
      </p:sp>
      <p:sp>
        <p:nvSpPr>
          <p:cNvPr id="4" name="Slide Number Placeholder 3"/>
          <p:cNvSpPr>
            <a:spLocks noGrp="1"/>
          </p:cNvSpPr>
          <p:nvPr>
            <p:ph type="sldNum" sz="quarter" idx="10"/>
          </p:nvPr>
        </p:nvSpPr>
        <p:spPr/>
        <p:txBody>
          <a:bodyPr/>
          <a:lstStyle/>
          <a:p>
            <a:fld id="{57582FD5-DD72-EA41-90DE-BC5D4D375366}" type="slidenum">
              <a:rPr lang="en-US"/>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two Cote d’Ivoire maps folded into one, the bivariate device the geospatial-health literature recommends for policy audiences: color hue is the ranking (purple worst third, blue middle, green best third; median over the 400 refits) and color depth is how sure the refits are of that placement (deep = at least 80 percent of refits put it in that third; pale = under 60 percent). The legend counts districts in each outcome-country combination. The reading is immediate: deep purple, act; pale purple or pale blue, survey first; deep green, lowest priority. The labeled districts are the deep-purple ones, the northern belt. As before, “sure” means stable under resampling of the training set, not verified against a Cote d’Ivoire survey.</a:t>
            </a:r>
          </a:p>
        </p:txBody>
      </p:sp>
      <p:sp>
        <p:nvSpPr>
          <p:cNvPr id="4" name="Slide Number Placeholder 3"/>
          <p:cNvSpPr>
            <a:spLocks noGrp="1"/>
          </p:cNvSpPr>
          <p:nvPr>
            <p:ph type="sldNum" sz="quarter" idx="10"/>
          </p:nvPr>
        </p:nvSpPr>
        <p:spPr/>
        <p:txBody>
          <a:bodyPr/>
          <a:lstStyle/>
          <a:p>
            <a:fld id="{57582FD5-DD72-EA41-90DE-BC5D4D375366}" type="slidenum">
              <a:rPr lang="en-US"/>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calibration check the Cote d’Ivoire slides needed. The 90 percent rank intervals on those maps come from resampling the training districts. If they were honest intervals for the truth, the survey’s own rank would fall inside them 90 percent of the time. Doing exactly that with each surveyed country held out (100 resamples of the other three, climate and soil, biomarker level), the survey rank falls inside the interval 38% of the time on average, 16% to 70% across the 22 country-outcome outcome-country combinations, with a median interval 21% of the list wide. So the intervals are far too narrow to be read as “the truth is in here”; they answer a different question, how much the ranking would move if we had learned from different districts, and the gap to 90 percent is the model error the transport correlation already reports. Right panel: the calibrated width. Taking the 90th percentile of the distance between the held-out survey rank and the point prediction over all 1176 held-out districts (conformal calibration), a 90 percent interval for a single district’s rank has to be 55% of the list either side, against 11% for the interval as drawn and about 68 percent for a random ordering; the median miss is 20% of the list (random: 29 percent). In words: at a transport correlation of 0.3 to 0.4, an honest 90 percent interval on where one district sits is nearly the whole list, and it is 35% in The Gambia and 59% in Malawi. The useful statement is therefore not an interval but a probability of a class: a district the model puts in the worst third is in the survey’s worst third 52% of the time (chance 33%), and one it puts in its top five 62% of the time. That is what the Cote d’Ivoire maps should be read as: deep color means the model will not change its mind, and a worst-third call is right about half the time rather than a third. Say it aloud: stable, not verified, and honest about the odds.</a:t>
            </a:r>
          </a:p>
          <a:p>
            <a:pPr marL="0" lvl="0" indent="0">
              <a:buNone/>
            </a:pPr>
            <a:endParaRPr/>
          </a:p>
          <a:p>
            <a:pPr marL="0" lvl="0" indent="0">
              <a:buNone/>
            </a:pPr>
            <a:r>
              <a:t>Since 27 September the PREVALENCE side is fixed rather than caveated (CP-01): every planning-prevalence figure carries a split-conformal 90 percent band from out-of-fold residuals, checked by leave-one-out to cover the survey’s own measured district value 91% of the time across all 27 country-outcome combinations (the resampling bands it replaced covered 8%), with a median half-width of 26 points — much of it the survey’s own single-cluster noise. The WHO-threshold chances on the exceedance slide and the dashboard are conformal predictive distributions from the same residuals. Ranks remain class-probability territory as argued above; levels now come with an interval that means what it says.</a:t>
            </a:r>
          </a:p>
        </p:txBody>
      </p:sp>
      <p:sp>
        <p:nvSpPr>
          <p:cNvPr id="4" name="Slide Number Placeholder 3"/>
          <p:cNvSpPr>
            <a:spLocks noGrp="1"/>
          </p:cNvSpPr>
          <p:nvPr>
            <p:ph type="sldNum" sz="quarter" idx="10"/>
          </p:nvPr>
        </p:nvSpPr>
        <p:spPr/>
        <p:txBody>
          <a:bodyPr/>
          <a:lstStyle/>
          <a:p>
            <a:fld id="{57582FD5-DD72-EA41-90DE-BC5D4D375366}" type="slidenum">
              <a:rPr lang="en-US"/>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twelve heaviest predictors for child iron, pooled over the four countries, with plain names. Red bars mean more of the layer goes with worse iron status, blue with better. No single predictor carries more than a few percent of the index: it is a sum of many small signals, mostly about landscape and livelihoods, not one master variable.</a:t>
            </a:r>
          </a:p>
          <a:p>
            <a:pPr marL="0" lvl="0" indent="0">
              <a:buNone/>
            </a:pPr>
            <a:endParaRPr/>
          </a:p>
          <a:p>
            <a:pPr marL="0" lvl="0" indent="0">
              <a:buNone/>
            </a:pPr>
            <a:r>
              <a:t>DETAIL: The index is linear in the rank-normalized predictors, so its component weights project back exactly onto the columns (scripts 57 and 58); shown is the pooled fit on the biomarker level, labels from R/predictor_plain_names.R. The satellite embedding, climate and soil together carry 39% to 54% of the index depending on the outcome. The other outcomes are in results/figures/protocol_v2/index_importance_top10_level.png. Likely question: whether these are causes. They are not; the weights say where deficiency is.</a:t>
            </a:r>
          </a:p>
        </p:txBody>
      </p:sp>
      <p:sp>
        <p:nvSpPr>
          <p:cNvPr id="4" name="Slide Number Placeholder 3"/>
          <p:cNvSpPr>
            <a:spLocks noGrp="1"/>
          </p:cNvSpPr>
          <p:nvPr>
            <p:ph type="sldNum" sz="quarter" idx="10"/>
          </p:nvPr>
        </p:nvSpPr>
        <p:spPr/>
        <p:txBody>
          <a:bodyPr/>
          <a:lstStyle/>
          <a:p>
            <a:fld id="{57582FD5-DD72-EA41-90DE-BC5D4D375366}" type="slidenum">
              <a:rPr lang="en-US"/>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The single best ranking in the study, women’s B12 in Malawi, and the twenty predictors behind it. Districts where more infants are fed meat or fish, more households eat fish, and wealth is higher have better B12; poorer, grassier, more pastoral districts have worse. And then the anemia and malaria surfaces run the other way, which the next slide explains.</a:t>
            </a:r>
          </a:p>
          <a:p>
            <a:pPr marL="0" lvl="0" indent="0">
              <a:buNone/>
            </a:pPr>
            <a:endParaRPr/>
          </a:p>
          <a:p>
            <a:pPr marL="0" lvl="0" indent="0">
              <a:buNone/>
            </a:pPr>
            <a:r>
              <a:t>DETAIL: Malawi, women’s B12, biomarker level: the outcome-country combination with the best in-fill ranking of the 24 (Spearman 0.70; The Gambia child vitamin A is next at 0.69). The index is linear in the rank-normalized columns, so every column has a standardized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anemia and malaria surfaces run the other way (more anemia and malaria, better B12), which is the lakeshore and the south against the uplands, and a reminder that these are ecological associations, not effects. Script: scripts/policy_deck/09_vim_forest_example.R, which takes any country, outcome and target through environment variables. B12 is measured in three of the four surveys, so this outcome-country combination does not enter the cross-country transport figures.</a:t>
            </a:r>
          </a:p>
        </p:txBody>
      </p:sp>
      <p:sp>
        <p:nvSpPr>
          <p:cNvPr id="4" name="Slide Number Placeholder 3"/>
          <p:cNvSpPr>
            <a:spLocks noGrp="1"/>
          </p:cNvSpPr>
          <p:nvPr>
            <p:ph type="sldNum" sz="quarter" idx="10"/>
          </p:nvPr>
        </p:nvSpPr>
        <p:spPr/>
        <p:txBody>
          <a:bodyPr/>
          <a:lstStyle/>
          <a:p>
            <a:fld id="{57582FD5-DD72-EA41-90DE-BC5D4D375366}" type="slidenum">
              <a:rPr lang="en-US"/>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Some predictors are plausible causes, fish consumption for B12. Some are surrogates: the anemia and malaria surfaces predict better B12 in Malawi not because malaria protects anyone but because they mark the lakeshore and the south, where fish is eaten. The model finds both kinds; it cannot tell them apart, and a surrogate need not travel to the next country.</a:t>
            </a:r>
          </a:p>
          <a:p>
            <a:pPr marL="0" lvl="0" indent="0">
              <a:buNone/>
            </a:pPr>
            <a:endParaRPr/>
          </a:p>
          <a:p>
            <a:pPr marL="0" lvl="0" indent="0">
              <a:buNone/>
            </a:pPr>
            <a:r>
              <a:t>DETAIL: The story behind the forest plot on the previous slide. In Malawi the modeled anemia and malaria surfaces carry negative weights for B12: districts with MORE anemia and malaria have BETTER B12 status. No nutritional mechanism says that. The maps say why: the lakeshore and the southern lowlands are where malaria transmission and anemia are highest, and they are also where households eat fish, the main dietary B12 source in the country; the uplands have less malaria, less fish and worse B12. The anemia surface is a surrogate marker for that geography, not a cause, and it is a good one precisely because it is modeled from the same environment. Three lessons for the audience: the index finds these markers on its own, they are ecological associations and must never be read as effects, and a surrogate that works in Malawi need not work in the next country, which is why the cross-border models lean on climate and soil rather than on health surfaces (ablation slide). The second panel is the deployment fit (the index fitted on the 87 surveyed districts and applied to all 243, in-sample for the surveyed ones, as on the dashboard): it fills the gray districts and smooths the survey’s single-cluster noise, and it visibly follows the anemia and fish geography. Each map is the within-country percentile of its variable so the four share one scale; rho is the Spearman correlation with B12 deficiency across the surveyed Traditional Authorities (negative for anemia and for fish: more of either, less deficiency).</a:t>
            </a:r>
          </a:p>
        </p:txBody>
      </p:sp>
      <p:sp>
        <p:nvSpPr>
          <p:cNvPr id="4" name="Slide Number Placeholder 3"/>
          <p:cNvSpPr>
            <a:spLocks noGrp="1"/>
          </p:cNvSpPr>
          <p:nvPr>
            <p:ph type="sldNum" sz="quarter" idx="10"/>
          </p:nvPr>
        </p:nvSpPr>
        <p:spPr/>
        <p:txBody>
          <a:bodyPr/>
          <a:lstStyle/>
          <a:p>
            <a:fld id="{57582FD5-DD72-EA41-90DE-BC5D4D375366}" type="slidenum">
              <a:rPr lang="en-US"/>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Drop each domain in turn and see what the transported ranking loses. Climate and soil are load-bearing; the anemia surfaces, agriculture and greenness follow; the household-survey items help inside a country and not across a border. The physical environment is what carries, and it is also what a country without a survey can download.</a:t>
            </a:r>
          </a:p>
          <a:p>
            <a:pPr marL="0" lvl="0" indent="0">
              <a:buNone/>
            </a:pPr>
            <a:endParaRPr/>
          </a:p>
          <a:p>
            <a:pPr marL="0" lvl="0" indent="0">
              <a:buNone/>
            </a:pPr>
            <a:r>
              <a:t>DETAIL: Positive values mean the domain is load-bearing. Climate and soil carry most, with the anemia surfaces, agriculture and greenness behind; the water-and-sanitation, education and infant-feeding domains sit at or below zero: removing them does not hurt a new country and in two cases helps. The DHS-derived domains are not in the headline set at all: with them in, the district transport index scores 0.28 against 0.30 without. A fixed climate-and-soil index transports at 0.38 at district level and 0.45 regionally against 0.30 and 0.28 for the full vocabulary; it was found on the same four countries it is scored on and enters the next country as a pre-registered prediction.</a:t>
            </a:r>
          </a:p>
        </p:txBody>
      </p:sp>
      <p:sp>
        <p:nvSpPr>
          <p:cNvPr id="4" name="Slide Number Placeholder 3"/>
          <p:cNvSpPr>
            <a:spLocks noGrp="1"/>
          </p:cNvSpPr>
          <p:nvPr>
            <p:ph type="sldNum" sz="quarter" idx="10"/>
          </p:nvPr>
        </p:nvSpPr>
        <p:spPr/>
        <p:txBody>
          <a:bodyPr/>
          <a:lstStyle/>
          <a:p>
            <a:fld id="{57582FD5-DD72-EA41-90DE-BC5D4D375366}" type="slidenum">
              <a:rPr lang="en-US"/>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standardized weights. Every column named on the slide keeps the same sign in every fit where it appears (34 of the 41 columns that recur in five or more fits are unanimous). The pattern is the one on the previous two slides seen from the other side: what a model trained elsewhere reaches for in a new country is the physical environment and the modeled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10"/>
          </p:nvPr>
        </p:nvSpPr>
        <p:spPr/>
        <p:txBody>
          <a:bodyPr/>
          <a:lstStyle/>
          <a:p>
            <a:fld id="{57582FD5-DD72-EA41-90DE-BC5D4D375366}" type="slidenum">
              <a:rPr lang="en-US"/>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Legume cultivation and cattle ownership track more deficiency at district level, the reverse of the household-level dietary relationship, which is an ecological-fallacy signature: the replicated axis is rural subsistence agro-ecology, useful for deciding where to look and uninformative about what to change. No malaria burden indicator replicates; child wasting tracks women’s vitamin A deficiency in all four countries. An earlier version of these slides had the signs inverted.</a:t>
            </a:r>
          </a:p>
        </p:txBody>
      </p:sp>
      <p:sp>
        <p:nvSpPr>
          <p:cNvPr id="4" name="Slide Number Placeholder 3"/>
          <p:cNvSpPr>
            <a:spLocks noGrp="1"/>
          </p:cNvSpPr>
          <p:nvPr>
            <p:ph type="sldNum" sz="quarter" idx="10"/>
          </p:nvPr>
        </p:nvSpPr>
        <p:spPr/>
        <p:txBody>
          <a:bodyPr/>
          <a:lstStyle/>
          <a:p>
            <a:fld id="{57582FD5-DD72-EA41-90DE-BC5D4D375366}" type="slidenum">
              <a:rPr lang="en-US"/>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A survey that samples one cluster per district gives a district number with a lot of noise in it. Even a model that knew the truth exactly would only correlate about 0.5 with that number. So when the model scores 0.4, it has most of what there is to get; the way to raise the bar is more clusters per district, which is a survey decision.</a:t>
            </a:r>
          </a:p>
          <a:p>
            <a:pPr marL="0" lvl="0" indent="0">
              <a:buNone/>
            </a:pPr>
            <a:endParaRPr/>
          </a:p>
          <a:p>
            <a:pPr marL="0" lvl="0" indent="0">
              <a:buNone/>
            </a:pPr>
            <a:r>
              <a:t>DETAIL: A respondent-in-cluster-in-district-in-region variance model reproduces the split-half ceiling when the cluster is counted as geography, then removes the cluster term: 13% of the split-half ceiling was cluster effect. Child zinc has no district geography; what looked like geography was the cluster, and the time of the blood draw explains part of the cluster effect (ZN-02).</a:t>
            </a:r>
          </a:p>
        </p:txBody>
      </p:sp>
      <p:sp>
        <p:nvSpPr>
          <p:cNvPr id="4" name="Slide Number Placeholder 3"/>
          <p:cNvSpPr>
            <a:spLocks noGrp="1"/>
          </p:cNvSpPr>
          <p:nvPr>
            <p:ph type="sldNum" sz="quarter" idx="10"/>
          </p:nvPr>
        </p:nvSpPr>
        <p:spPr/>
        <p:txBody>
          <a:bodyPr/>
          <a:lstStyle/>
          <a:p>
            <a:fld id="{57582FD5-DD72-EA41-90DE-BC5D4D375366}" type="slidenum">
              <a:rPr lang="en-US"/>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On the level of deficiency, a small national sample plus the ranking does as well as a district survey four to five times its size. On finding where the deficient people are, a district survey of any size still wins, because it measures the populous districts directly. So: not a replacement, a much cheaper first pass.</a:t>
            </a:r>
          </a:p>
          <a:p>
            <a:pPr marL="0" lvl="0" indent="0">
              <a:buNone/>
            </a:pPr>
            <a:endParaRPr/>
          </a:p>
          <a:p>
            <a:pPr marL="0" lvl="0" indent="0">
              <a:buNone/>
            </a:pPr>
            <a:r>
              <a:t>DETAIL: A district survey matches the anchored ranking’s level error at about 25% of the full sample. The ranking wins on level error only: a district survey of any size captures more burden, because burden sits in populous districts that surveys measure precisely. Fitted symmetrically on a reduced survey, the model’s error degrades in step with the survey’s, so the model improves the ordering at any sample size and does not reduce the sample a survey needs.</a:t>
            </a:r>
          </a:p>
        </p:txBody>
      </p:sp>
      <p:sp>
        <p:nvSpPr>
          <p:cNvPr id="4" name="Slide Number Placeholder 3"/>
          <p:cNvSpPr>
            <a:spLocks noGrp="1"/>
          </p:cNvSpPr>
          <p:nvPr>
            <p:ph type="sldNum" sz="quarter" idx="10"/>
          </p:nvPr>
        </p:nvSpPr>
        <p:spPr/>
        <p:txBody>
          <a:bodyPr/>
          <a:lstStyle/>
          <a:p>
            <a:fld id="{57582FD5-DD72-EA41-90DE-BC5D4D375366}" type="slidenum">
              <a:rPr lang="en-US"/>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sz="quarter" idx="10"/>
          </p:nvPr>
        </p:nvSpPr>
        <p:spPr/>
        <p:txBody>
          <a:bodyPr/>
          <a:lstStyle/>
          <a:p>
            <a:fld id="{57582FD5-DD72-EA41-90DE-BC5D4D375366}" type="slidenum">
              <a:rPr lang="en-US"/>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SAY: Public data can rank a country’s districts by micronutrient deficiency: inside a surveyed country better than the survey’s own regional averages, and in a country with no survey at all, where nothing else can. Where the survey resolves districts, the model is close to the best any model could be. A single national number puts a level on the ranking. The uncertainty on the maps is honest about what it is. And the last row is the one I want to leave you with: what limits this method today is not the satellite data, which is saturated — eleven blocks added this year each moved it by less than 0.01 — it is the number of biomarker surveys it can learn from. One training survey gets a new country to 0.20, three get it to 0.30, and the curve has not flattened. So our ask is that countries with a micronutrient survey, recent or planned or sitting in a drawer, put it in the pool: it improves every other country’s map, and yours gets a ranking for the districts your survey never reached.</a:t>
            </a:r>
          </a:p>
          <a:p>
            <a:pPr marL="0" lvl="0" indent="0">
              <a:buNone/>
            </a:pPr>
            <a:endParaRPr/>
          </a:p>
          <a:p>
            <a:pPr marL="0" lvl="0" indent="0">
              <a:buNone/>
            </a:pPr>
            <a:r>
              <a:t>DETAIL: The rows are the numbers from the optimiztic reading (TWO_READINGS_2026-09g.md). Not on the slide, said if asked: the honest product is a ranking, levels remain planning figures, and the per-outcome maps in an unsurveyed country are mostly one map of environmental deprivation. On the pooling row, three qualifiers to have ready. (1) The gain is uneven: as held-out countries The Gambia goes 0.40 to 0.60 and Ghana 0.30 to 0.39 as surveys are added, while Malawi (0.16) and Sierra Leone (0.06) stay flat, so “every survey improves every map” is a statement about the average. (2) Which country is added matters, and we can say how: trained on Ghana alone the model reaches The Gambia at 0.61, while trained on The Gambia alone it reaches Ghana at 0.30 — Ghana’s 260 districts span the widest environmental gradient in the panel (NDVI SD 0.16 against 0.04 to 0.09 elsewhere), and a training country that contains the whole gradient teaches the whole gradient. So the request is not simply “more countries” but countries that extend the range, which is checkable from public rasters before any blood is drawn. (3) The saturation claim behind “it is the surveys, not the predictors”: eleven candidate predictor blocks were scored under one harness and none moved in-fill or transport by more than 0.01 at the median, while the open, permission-free tier transports better than the full set (0.316 vs 0.302 vs 0.281 with DHS added).</a:t>
            </a:r>
          </a:p>
        </p:txBody>
      </p:sp>
      <p:sp>
        <p:nvSpPr>
          <p:cNvPr id="4" name="Slide Number Placeholder 3"/>
          <p:cNvSpPr>
            <a:spLocks noGrp="1"/>
          </p:cNvSpPr>
          <p:nvPr>
            <p:ph type="sldNum" sz="quarter" idx="10"/>
          </p:nvPr>
        </p:nvSpPr>
        <p:spPr/>
        <p:txBody>
          <a:bodyPr/>
          <a:lstStyle/>
          <a:p>
            <a:fld id="{57582FD5-DD72-EA41-90DE-BC5D4D375366}" type="slidenum">
              <a:rPr lang="en-US"/>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INLA-SPDE Matern field with penalized-complexity priors, binomial on cluster counts for prevalence and Gaussian for the level, cluster predictions aggregated to districts by effective sample size; run with the first component of every covariate domain and with the DHS Program’s ten-raster list (0.28 on the level). The field alone scores 0.19. The geostatistical model has the lower absolute error on prevalence (9.2 against 10.7 percentage points) because it estimates a level and shrinks toward it. Under region extrapolation the index scores 0.36 against 0.28. The method needs measured clusters inside the country it predicts, so it has no country-transport estimand. Likely question: whether the two are complementary. Yes: the geostatistical model for a calibrated prevalence where a survey exists, the index for a ranking where none does.</a:t>
            </a:r>
          </a:p>
        </p:txBody>
      </p:sp>
      <p:sp>
        <p:nvSpPr>
          <p:cNvPr id="4" name="Slide Number Placeholder 3"/>
          <p:cNvSpPr>
            <a:spLocks noGrp="1"/>
          </p:cNvSpPr>
          <p:nvPr>
            <p:ph type="sldNum" sz="quarter" idx="10"/>
          </p:nvPr>
        </p:nvSpPr>
        <p:spPr/>
        <p:txBody>
          <a:bodyPr/>
          <a:lstStyle/>
          <a:p>
            <a:fld id="{57582FD5-DD72-EA41-90DE-BC5D4D375366}" type="slidenum">
              <a:rPr lang="en-US"/>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index_importance_top.csv, child iron, biomarker level: the twenty largest standardized weights in the pooled four-country fit, drawn as bars so their sizes can be compared. The level target is the negated log ferritin, so a bar to the right means districts with more of the layer rank worse on child iron, to the left better. The label is the share of the index’s variance the layer carries: the twenty together hold about a fifth of the index (21%), the rest is spread over the other 350 columns, which is how a weighted sum of many weak signals is meant to behave. All twenty keep their direction in every leave-one-country-out fit; the starred ones (10 of twenty) also keep it in each country’s own separate fit, the stricter test. The story is the one on the earlier slides: cereal-heavy cropping, ruminant and cattle density, cropland, distance from the coast and a high dependency ratio rank a district worse; root crops, higher plant productivity, relatively expensive staples, modeled overweight and malaria intensity rank it better, the last for the geographic reason discussed. None of the twenty requires a blood sample, and the twenty-layer equal-weight composite scores about the same as the full index for a new country.</a:t>
            </a:r>
          </a:p>
        </p:txBody>
      </p:sp>
      <p:sp>
        <p:nvSpPr>
          <p:cNvPr id="4" name="Slide Number Placeholder 3"/>
          <p:cNvSpPr>
            <a:spLocks noGrp="1"/>
          </p:cNvSpPr>
          <p:nvPr>
            <p:ph type="sldNum" sz="quarter" idx="10"/>
          </p:nvPr>
        </p:nvSpPr>
        <p:spPr/>
        <p:txBody>
          <a:bodyPr/>
          <a:lstStyle/>
          <a:p>
            <a:fld id="{57582FD5-DD72-EA41-90DE-BC5D4D375366}" type="slidenum">
              <a:rPr lang="en-US"/>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Dawes’ improper linear model: direction from the training fold, equal weights, rescaled like the index; nothing is chosen on held-out districts. Weighting the ten by their index weights instead of equally changes nothing. The composite is a transport and communication tool: twenty public layers a ministry can compute. Likely question: which twenty. The next slide lists the child iron members.</a:t>
            </a:r>
          </a:p>
        </p:txBody>
      </p:sp>
      <p:sp>
        <p:nvSpPr>
          <p:cNvPr id="4" name="Slide Number Placeholder 3"/>
          <p:cNvSpPr>
            <a:spLocks noGrp="1"/>
          </p:cNvSpPr>
          <p:nvPr>
            <p:ph type="sldNum" sz="quarter" idx="10"/>
          </p:nvPr>
        </p:nvSpPr>
        <p:spPr/>
        <p:txBody>
          <a:bodyPr/>
          <a:lstStyle/>
          <a:p>
            <a:fld id="{57582FD5-DD72-EA41-90DE-BC5D4D375366}" type="slidenum">
              <a:rPr lang="en-US"/>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Bars are the interquartile range over outcome-country combinations. No block moves in-fill or transport by more than 0.01 at the median: the vocabulary is saturated. The fieldwork-matched temperature columns are among the most consistently associated with deficiency in the marginal scan yet improve no fold, because a covariate defined by when the survey happened cannot rank districts that have not been surveyed. Found in passing and fixed: the price columns used 2021 as The Gambia’s survey year (fieldwork was January to April 2018), and the satellite embedding had been filed under agriculture.</a:t>
            </a:r>
          </a:p>
        </p:txBody>
      </p:sp>
      <p:sp>
        <p:nvSpPr>
          <p:cNvPr id="4" name="Slide Number Placeholder 3"/>
          <p:cNvSpPr>
            <a:spLocks noGrp="1"/>
          </p:cNvSpPr>
          <p:nvPr>
            <p:ph type="sldNum" sz="quarter" idx="10"/>
          </p:nvPr>
        </p:nvSpPr>
        <p:spPr/>
        <p:txBody>
          <a:bodyPr/>
          <a:lstStyle/>
          <a:p>
            <a:fld id="{57582FD5-DD72-EA41-90DE-BC5D4D375366}" type="slidenum">
              <a:rPr lang="en-US"/>
              <a:t>45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9/27/2026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9/27/2026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9/27/2026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9/27/2026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9/27/2026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9/27/2026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9/27/2026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9/27/2026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9/27/2026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9/27/2026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9/27/2026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8000"/>
            <a:lum/>
          </a:blip>
          <a:srcRect/>
          <a:stretch>
            <a:fillRect t="-4000" b="-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4A5735-1510-7049-BCA2-D05BF1104DA2}" type="datetime1">
              <a:rPr lang="en-US" smtClean="0"/>
              <a:t>9/27/2026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18/10/relationships/comments" Target="../comments/modernComment_10B_0.xml"/><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36.png"/><Relationship Id="rId4" Type="http://schemas.openxmlformats.org/officeDocument/2006/relationships/image" Target="../media/image19.png"/><Relationship Id="rId9" Type="http://schemas.openxmlformats.org/officeDocument/2006/relationships/image" Target="../media/image35.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6.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47.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5.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43.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6_0.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19_0.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1C_0.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E_0.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2F_0.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131_0.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25.png"/><Relationship Id="rId4" Type="http://schemas.openxmlformats.org/officeDocument/2006/relationships/image" Target="../media/image81.png"/></Relationships>
</file>

<file path=ppt/slides/_rels/slide3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8" Type="http://schemas.openxmlformats.org/officeDocument/2006/relationships/image" Target="../media/image88.png"/><Relationship Id="rId3" Type="http://schemas.microsoft.com/office/2018/10/relationships/comments" Target="../comments/modernComment_141_0.xml"/><Relationship Id="rId7" Type="http://schemas.openxmlformats.org/officeDocument/2006/relationships/image" Target="../media/image8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5.png"/><Relationship Id="rId4" Type="http://schemas.openxmlformats.org/officeDocument/2006/relationships/image" Target="../media/image5.png"/><Relationship Id="rId9" Type="http://schemas.openxmlformats.org/officeDocument/2006/relationships/image" Target="../media/image89.png"/></Relationships>
</file>

<file path=ppt/slides/_rels/slide4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marL="0" lvl="0" indent="0">
              <a:buNone/>
            </a:pPr>
            <a:r>
              <a:rPr sz="3000"/>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188720"/>
          </a:xfrm>
        </p:spPr>
        <p:txBody>
          <a:bodyPr/>
          <a:lstStyle/>
          <a:p>
            <a:pPr marL="0" lvl="0" indent="0">
              <a:buNone/>
            </a:pPr>
            <a:br/>
            <a:br/>
            <a:r>
              <a:rPr sz="1800"/>
              <a:t>Andrew N. Mertens (University of California, Berkeley) and Sonja Y. Hess (University of California, Davis)</a:t>
            </a:r>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pPr marL="0" lvl="0" indent="0">
              <a:buNone/>
            </a:pPr>
            <a:r>
              <a:rPr sz="1800"/>
              <a:t>2026-09-16</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1</a:t>
            </a:fld>
            <a:endParaRPr lang="en-BG"/>
          </a:p>
        </p:txBody>
      </p:sp>
      <p:pic>
        <p:nvPicPr>
          <p:cNvPr id="7" name="Picture 6" descr="logo_ucberkeley.png"/>
          <p:cNvPicPr>
            <a:picLocks noChangeAspect="1"/>
          </p:cNvPicPr>
          <p:nvPr/>
        </p:nvPicPr>
        <p:blipFill>
          <a:blip r:embed="rId2"/>
          <a:stretch>
            <a:fillRect/>
          </a:stretch>
        </p:blipFill>
        <p:spPr>
          <a:xfrm>
            <a:off x="2167128" y="4983480"/>
            <a:ext cx="2116765" cy="502920"/>
          </a:xfrm>
          <a:prstGeom prst="rect">
            <a:avLst/>
          </a:prstGeom>
        </p:spPr>
      </p:pic>
      <p:pic>
        <p:nvPicPr>
          <p:cNvPr id="8" name="Picture 7" descr="logo_ucdavis.png"/>
          <p:cNvPicPr>
            <a:picLocks noChangeAspect="1"/>
          </p:cNvPicPr>
          <p:nvPr/>
        </p:nvPicPr>
        <p:blipFill>
          <a:blip r:embed="rId3"/>
          <a:stretch>
            <a:fillRect/>
          </a:stretch>
        </p:blipFill>
        <p:spPr>
          <a:xfrm>
            <a:off x="5184648" y="5045562"/>
            <a:ext cx="2194560" cy="378756"/>
          </a:xfrm>
          <a:prstGeom prst="rect">
            <a:avLst/>
          </a:prstGeom>
        </p:spPr>
      </p:pic>
      <p:pic>
        <p:nvPicPr>
          <p:cNvPr id="9" name="Picture 8" descr="logo_mnforum.png"/>
          <p:cNvPicPr>
            <a:picLocks noChangeAspect="1"/>
          </p:cNvPicPr>
          <p:nvPr/>
        </p:nvPicPr>
        <p:blipFill>
          <a:blip r:embed="rId4"/>
          <a:stretch>
            <a:fillRect/>
          </a:stretch>
        </p:blipFill>
        <p:spPr>
          <a:xfrm>
            <a:off x="8202168" y="4983480"/>
            <a:ext cx="1233439" cy="502920"/>
          </a:xfrm>
          <a:prstGeom prst="rect">
            <a:avLst/>
          </a:prstGeom>
        </p:spPr>
      </p:pic>
      <p:sp>
        <p:nvSpPr>
          <p:cNvPr id="10" name="TextBox 9"/>
          <p:cNvSpPr txBox="1"/>
          <p:nvPr/>
        </p:nvSpPr>
        <p:spPr>
          <a:xfrm>
            <a:off x="841248" y="5577840"/>
            <a:ext cx="10515600" cy="365760"/>
          </a:xfrm>
          <a:prstGeom prst="rect">
            <a:avLst/>
          </a:prstGeom>
          <a:noFill/>
        </p:spPr>
        <p:txBody>
          <a:bodyPr wrap="square" lIns="45720" tIns="27432" rIns="45720" bIns="27432" anchor="t">
            <a:spAutoFit/>
          </a:bodyPr>
          <a:lstStyle/>
          <a:p>
            <a:pPr algn="ctr"/>
            <a:r>
              <a:rPr sz="1200" b="0">
                <a:solidFill>
                  <a:srgbClr val="666666"/>
                </a:solidFill>
                <a:latin typeface="Calibri"/>
              </a:rPr>
              <a:t>We are grateful for the funding support of the Gates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Goals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a:t>
            </a:fld>
            <a:endParaRPr lang="en-BG"/>
          </a:p>
        </p:txBody>
      </p:sp>
      <p:pic>
        <p:nvPicPr>
          <p:cNvPr id="7" name="Picture 6" descr="map-location-dot_blue.png"/>
          <p:cNvPicPr>
            <a:picLocks noChangeAspect="1"/>
          </p:cNvPicPr>
          <p:nvPr/>
        </p:nvPicPr>
        <p:blipFill>
          <a:blip r:embed="rId3"/>
          <a:stretch>
            <a:fillRect/>
          </a:stretch>
        </p:blipFill>
        <p:spPr>
          <a:xfrm>
            <a:off x="932688" y="1920240"/>
            <a:ext cx="925830" cy="822960"/>
          </a:xfrm>
          <a:prstGeom prst="rect">
            <a:avLst/>
          </a:prstGeom>
        </p:spPr>
      </p:pic>
      <p:sp>
        <p:nvSpPr>
          <p:cNvPr id="8" name="TextBox 7"/>
          <p:cNvSpPr txBox="1"/>
          <p:nvPr/>
        </p:nvSpPr>
        <p:spPr>
          <a:xfrm>
            <a:off x="1984248" y="169164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Estimate deficiency prevalence, nationally and by district</a:t>
            </a:r>
          </a:p>
          <a:p>
            <a:pPr algn="l">
              <a:spcBef>
                <a:spcPts val="300"/>
              </a:spcBef>
            </a:pPr>
            <a:r>
              <a:rPr sz="1400" b="0">
                <a:solidFill>
                  <a:srgbClr val="333333"/>
                </a:solidFill>
                <a:latin typeface="Calibri"/>
              </a:rPr>
              <a:t>From a wide range of proxy indicators, validated against the prevalence measured by biomarker assessment in national surveys.</a:t>
            </a:r>
          </a:p>
        </p:txBody>
      </p:sp>
      <p:pic>
        <p:nvPicPr>
          <p:cNvPr id="9" name="Picture 8" descr="ranking-star_blue.png"/>
          <p:cNvPicPr>
            <a:picLocks noChangeAspect="1"/>
          </p:cNvPicPr>
          <p:nvPr/>
        </p:nvPicPr>
        <p:blipFill>
          <a:blip r:embed="rId4"/>
          <a:stretch>
            <a:fillRect/>
          </a:stretch>
        </p:blipFill>
        <p:spPr>
          <a:xfrm>
            <a:off x="932688" y="3383280"/>
            <a:ext cx="1028700" cy="822960"/>
          </a:xfrm>
          <a:prstGeom prst="rect">
            <a:avLst/>
          </a:prstGeom>
        </p:spPr>
      </p:pic>
      <p:sp>
        <p:nvSpPr>
          <p:cNvPr id="10" name="TextBox 9"/>
          <p:cNvSpPr txBox="1"/>
          <p:nvPr/>
        </p:nvSpPr>
        <p:spPr>
          <a:xfrm>
            <a:off x="1984248" y="315468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Identify the subnational regions at greatest risk</a:t>
            </a:r>
          </a:p>
          <a:p>
            <a:pPr algn="l">
              <a:spcBef>
                <a:spcPts val="300"/>
              </a:spcBef>
            </a:pPr>
            <a:r>
              <a:rPr sz="1400" b="0">
                <a:solidFill>
                  <a:srgbClr val="333333"/>
                </a:solidFill>
                <a:latin typeface="Calibri"/>
              </a:rPr>
              <a:t>A ranking a program can act on, and a level once anchored to a national number.</a:t>
            </a:r>
          </a:p>
        </p:txBody>
      </p:sp>
      <p:pic>
        <p:nvPicPr>
          <p:cNvPr id="11" name="Picture 10" descr="handshake_blue.png"/>
          <p:cNvPicPr>
            <a:picLocks noChangeAspect="1"/>
          </p:cNvPicPr>
          <p:nvPr/>
        </p:nvPicPr>
        <p:blipFill>
          <a:blip r:embed="rId5"/>
          <a:stretch>
            <a:fillRect/>
          </a:stretch>
        </p:blipFill>
        <p:spPr>
          <a:xfrm>
            <a:off x="932688" y="4846320"/>
            <a:ext cx="1028700" cy="822960"/>
          </a:xfrm>
          <a:prstGeom prst="rect">
            <a:avLst/>
          </a:prstGeom>
        </p:spPr>
      </p:pic>
      <p:sp>
        <p:nvSpPr>
          <p:cNvPr id="12" name="TextBox 11"/>
          <p:cNvSpPr txBox="1"/>
          <p:nvPr/>
        </p:nvSpPr>
        <p:spPr>
          <a:xfrm>
            <a:off x="1984248" y="4617720"/>
            <a:ext cx="6995160" cy="1280160"/>
          </a:xfrm>
          <a:prstGeom prst="rect">
            <a:avLst/>
          </a:prstGeom>
          <a:noFill/>
        </p:spPr>
        <p:txBody>
          <a:bodyPr wrap="square" lIns="45720" tIns="27432" rIns="45720" bIns="27432" anchor="ctr">
            <a:spAutoFit/>
          </a:bodyPr>
          <a:lstStyle/>
          <a:p>
            <a:pPr algn="l"/>
            <a:r>
              <a:rPr sz="2000" b="1">
                <a:solidFill>
                  <a:srgbClr val="1F4E79"/>
                </a:solidFill>
                <a:latin typeface="Calibri"/>
              </a:rPr>
              <a:t>Engage national stakeholders throughout</a:t>
            </a:r>
          </a:p>
          <a:p>
            <a:pPr algn="l">
              <a:spcBef>
                <a:spcPts val="300"/>
              </a:spcBef>
            </a:pPr>
            <a:r>
              <a:rPr sz="1400" b="0">
                <a:solidFill>
                  <a:srgbClr val="333333"/>
                </a:solidFill>
                <a:latin typeface="Calibri"/>
              </a:rPr>
              <a:t>Ghana as the worked example; the dashboard and country briefs as the shared product.</a:t>
            </a:r>
          </a:p>
        </p:txBody>
      </p:sp>
      <p:pic>
        <p:nvPicPr>
          <p:cNvPr id="13" name="Picture 12" descr="goals_ghana_map.png"/>
          <p:cNvPicPr>
            <a:picLocks noChangeAspect="1"/>
          </p:cNvPicPr>
          <p:nvPr/>
        </p:nvPicPr>
        <p:blipFill>
          <a:blip r:embed="rId6"/>
          <a:stretch>
            <a:fillRect/>
          </a:stretch>
        </p:blipFill>
        <p:spPr>
          <a:xfrm>
            <a:off x="9345168" y="1783080"/>
            <a:ext cx="2011680" cy="28064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Both a big-data opportunity and a small-data problem</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database_white.png"/>
          <p:cNvPicPr>
            <a:picLocks noChangeAspect="1"/>
          </p:cNvPicPr>
          <p:nvPr/>
        </p:nvPicPr>
        <p:blipFill>
          <a:blip r:embed="rId3"/>
          <a:stretch>
            <a:fillRect/>
          </a:stretch>
        </p:blipFill>
        <p:spPr>
          <a:xfrm>
            <a:off x="1024128" y="1810512"/>
            <a:ext cx="352044" cy="402336"/>
          </a:xfrm>
          <a:prstGeom prst="rect">
            <a:avLst/>
          </a:prstGeom>
        </p:spPr>
      </p:pic>
      <p:sp>
        <p:nvSpPr>
          <p:cNvPr id="10" name="TextBox 9"/>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Big data: the predictors</a:t>
            </a:r>
          </a:p>
        </p:txBody>
      </p:sp>
      <p:sp>
        <p:nvSpPr>
          <p:cNvPr id="11" name="TextBox 10"/>
          <p:cNvSpPr txBox="1"/>
          <p:nvPr/>
        </p:nvSpPr>
        <p:spPr>
          <a:xfrm>
            <a:off x="1069848" y="242316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575 columns from 28 sources</a:t>
            </a:r>
          </a:p>
          <a:p>
            <a:pPr algn="l">
              <a:spcBef>
                <a:spcPts val="300"/>
              </a:spcBef>
            </a:pPr>
            <a:r>
              <a:rPr sz="1250" b="0">
                <a:solidFill>
                  <a:srgbClr val="333333"/>
                </a:solidFill>
                <a:latin typeface="Calibri"/>
              </a:rPr>
              <a:t>Rasters at 30 m to 10 km summarized over 554 districts; a 64-dimension satellite embedding; four household surveys aggregated from microdata.</a:t>
            </a:r>
          </a:p>
        </p:txBody>
      </p:sp>
      <p:sp>
        <p:nvSpPr>
          <p:cNvPr id="12" name="TextBox 11"/>
          <p:cNvSpPr txBox="1"/>
          <p:nvPr/>
        </p:nvSpPr>
        <p:spPr>
          <a:xfrm>
            <a:off x="1069848" y="355092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Reduced to 29 domains</a:t>
            </a:r>
          </a:p>
          <a:p>
            <a:pPr algn="l">
              <a:spcBef>
                <a:spcPts val="300"/>
              </a:spcBef>
            </a:pPr>
            <a:r>
              <a:rPr sz="1250" b="0">
                <a:solidFill>
                  <a:srgbClr val="333333"/>
                </a:solidFill>
                <a:latin typeface="Calibri"/>
              </a:rPr>
              <a:t>Leading principal components per domain, learned on training districts only; nothing chosen on the outcome.</a:t>
            </a:r>
          </a:p>
        </p:txBody>
      </p:sp>
      <p:sp>
        <p:nvSpPr>
          <p:cNvPr id="13" name="TextBox 12"/>
          <p:cNvSpPr txBox="1"/>
          <p:nvPr/>
        </p:nvSpPr>
        <p:spPr>
          <a:xfrm>
            <a:off x="1069848" y="467868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All of it public</a:t>
            </a:r>
          </a:p>
          <a:p>
            <a:pPr algn="l">
              <a:spcBef>
                <a:spcPts val="300"/>
              </a:spcBef>
            </a:pPr>
            <a:r>
              <a:rPr sz="1250" b="0">
                <a:solidFill>
                  <a:srgbClr val="333333"/>
                </a:solidFill>
                <a:latin typeface="Calibri"/>
              </a:rPr>
              <a:t>The headline set has no DHS in it; a country without a recent DHS can rebuild it.</a:t>
            </a:r>
          </a:p>
        </p:txBody>
      </p:sp>
      <p:sp>
        <p:nvSpPr>
          <p:cNvPr id="14" name="Rounded Rectangle 13"/>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vial_white.png"/>
          <p:cNvPicPr>
            <a:picLocks noChangeAspect="1"/>
          </p:cNvPicPr>
          <p:nvPr/>
        </p:nvPicPr>
        <p:blipFill>
          <a:blip r:embed="rId4"/>
          <a:stretch>
            <a:fillRect/>
          </a:stretch>
        </p:blipFill>
        <p:spPr>
          <a:xfrm>
            <a:off x="6510528" y="1810512"/>
            <a:ext cx="402336" cy="402336"/>
          </a:xfrm>
          <a:prstGeom prst="rect">
            <a:avLst/>
          </a:prstGeom>
        </p:spPr>
      </p:pic>
      <p:sp>
        <p:nvSpPr>
          <p:cNvPr id="17" name="TextBox 16"/>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Small data: the outcome</a:t>
            </a:r>
          </a:p>
        </p:txBody>
      </p:sp>
      <p:sp>
        <p:nvSpPr>
          <p:cNvPr id="18" name="TextBox 17"/>
          <p:cNvSpPr txBox="1"/>
          <p:nvPr/>
        </p:nvSpPr>
        <p:spPr>
          <a:xfrm>
            <a:off x="6556248" y="242316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One biomarker survey per country per decade</a:t>
            </a:r>
          </a:p>
          <a:p>
            <a:pPr algn="l">
              <a:spcBef>
                <a:spcPts val="300"/>
              </a:spcBef>
            </a:pPr>
            <a:r>
              <a:rPr sz="1250" b="0">
                <a:solidFill>
                  <a:srgbClr val="333333"/>
                </a:solidFill>
                <a:latin typeface="Calibri"/>
              </a:rPr>
              <a:t>Four surveys, 24 country-outcome cells, 206 surveyed districts in all.</a:t>
            </a:r>
          </a:p>
        </p:txBody>
      </p:sp>
      <p:sp>
        <p:nvSpPr>
          <p:cNvPr id="19" name="TextBox 18"/>
          <p:cNvSpPr txBox="1"/>
          <p:nvPr/>
        </p:nvSpPr>
        <p:spPr>
          <a:xfrm>
            <a:off x="6556248" y="355092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14 to 87 districts per country</a:t>
            </a:r>
          </a:p>
          <a:p>
            <a:pPr algn="l">
              <a:spcBef>
                <a:spcPts val="300"/>
              </a:spcBef>
            </a:pPr>
            <a:r>
              <a:rPr sz="1250" b="0">
                <a:solidFill>
                  <a:srgbClr val="333333"/>
                </a:solidFill>
                <a:latin typeface="Calibri"/>
              </a:rPr>
              <a:t>The effective sample size of every model; a tuned estimator shrinks to the constant, so the index tunes nothing.</a:t>
            </a:r>
          </a:p>
        </p:txBody>
      </p:sp>
      <p:sp>
        <p:nvSpPr>
          <p:cNvPr id="20" name="TextBox 19"/>
          <p:cNvSpPr txBox="1"/>
          <p:nvPr/>
        </p:nvSpPr>
        <p:spPr>
          <a:xfrm>
            <a:off x="6556248" y="4678680"/>
            <a:ext cx="4663440" cy="1127760"/>
          </a:xfrm>
          <a:prstGeom prst="rect">
            <a:avLst/>
          </a:prstGeom>
          <a:noFill/>
        </p:spPr>
        <p:txBody>
          <a:bodyPr wrap="square" lIns="45720" tIns="27432" rIns="45720" bIns="27432" anchor="ctr">
            <a:spAutoFit/>
          </a:bodyPr>
          <a:lstStyle/>
          <a:p>
            <a:pPr algn="l"/>
            <a:r>
              <a:rPr sz="1600" b="1">
                <a:solidFill>
                  <a:srgbClr val="1F4E79"/>
                </a:solidFill>
                <a:latin typeface="Calibri"/>
              </a:rPr>
              <a:t>Honest folds and a reliability ceiling</a:t>
            </a:r>
          </a:p>
          <a:p>
            <a:pPr algn="l">
              <a:spcBef>
                <a:spcPts val="300"/>
              </a:spcBef>
            </a:pPr>
            <a:r>
              <a:rPr sz="1250" b="0">
                <a:solidFill>
                  <a:srgbClr val="333333"/>
                </a:solidFill>
                <a:latin typeface="Calibri"/>
              </a:rPr>
              <a:t>Folds cut by district, region and country; the survey's own district noise sets the ceiling any model can reach.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surveys did we learn from?</a:t>
            </a:r>
          </a:p>
        </p:txBody>
      </p:sp>
      <p:pic>
        <p:nvPicPr>
          <p:cNvPr id="3" name="Picture 1" descr="MN-proxy-full-talk-2026-09_files/figure-pptx/survey-maps-1.png"/>
          <p:cNvPicPr>
            <a:picLocks noGrp="1" noChangeAspect="1"/>
          </p:cNvPicPr>
          <p:nvPr/>
        </p:nvPicPr>
        <p:blipFill>
          <a:blip r:embed="rId3"/>
          <a:stretch>
            <a:fillRect/>
          </a:stretch>
        </p:blipFill>
        <p:spPr bwMode="auto">
          <a:xfrm>
            <a:off x="841248" y="1691640"/>
            <a:ext cx="10515600" cy="40259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a:t>
            </a:fld>
            <a:endParaRPr lang="en-B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deficiencies do we predict?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a:t>
            </a:fld>
            <a:endParaRPr lang="en-BG"/>
          </a:p>
        </p:txBody>
      </p:sp>
      <p:sp>
        <p:nvSpPr>
          <p:cNvPr id="7" name="Rounded Rectangle 6"/>
          <p:cNvSpPr/>
          <p:nvPr/>
        </p:nvSpPr>
        <p:spPr>
          <a:xfrm>
            <a:off x="84124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droplet_blue.png"/>
          <p:cNvPicPr>
            <a:picLocks noChangeAspect="1"/>
          </p:cNvPicPr>
          <p:nvPr/>
        </p:nvPicPr>
        <p:blipFill>
          <a:blip r:embed="rId3"/>
          <a:stretch>
            <a:fillRect/>
          </a:stretch>
        </p:blipFill>
        <p:spPr>
          <a:xfrm>
            <a:off x="1458468" y="1920240"/>
            <a:ext cx="514350" cy="685800"/>
          </a:xfrm>
          <a:prstGeom prst="rect">
            <a:avLst/>
          </a:prstGeom>
        </p:spPr>
      </p:pic>
      <p:sp>
        <p:nvSpPr>
          <p:cNvPr id="9" name="TextBox 8"/>
          <p:cNvSpPr txBox="1"/>
          <p:nvPr/>
        </p:nvSpPr>
        <p:spPr>
          <a:xfrm>
            <a:off x="93268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Iron</a:t>
            </a:r>
          </a:p>
        </p:txBody>
      </p:sp>
      <p:sp>
        <p:nvSpPr>
          <p:cNvPr id="10" name="TextBox 9"/>
          <p:cNvSpPr txBox="1"/>
          <p:nvPr/>
        </p:nvSpPr>
        <p:spPr>
          <a:xfrm>
            <a:off x="97840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ferritin, adjusted for inflammation</a:t>
            </a:r>
          </a:p>
          <a:p>
            <a:pPr algn="l">
              <a:spcBef>
                <a:spcPts val="300"/>
              </a:spcBef>
              <a:spcAft>
                <a:spcPts val="400"/>
              </a:spcAft>
            </a:pPr>
            <a:r>
              <a:rPr sz="1300" b="1">
                <a:solidFill>
                  <a:srgbClr val="1F4E79"/>
                </a:solidFill>
                <a:latin typeface="Calibri"/>
              </a:rPr>
              <a:t>Cut-off:</a:t>
            </a:r>
            <a:r>
              <a:rPr sz="1300">
                <a:solidFill>
                  <a:srgbClr val="333333"/>
                </a:solidFill>
                <a:latin typeface="Calibri"/>
              </a:rPr>
              <a:t> ferritin below 12 (children) or 15 (women) ug/L</a:t>
            </a:r>
          </a:p>
        </p:txBody>
      </p:sp>
      <p:sp>
        <p:nvSpPr>
          <p:cNvPr id="11" name="Rounded Rectangle 10"/>
          <p:cNvSpPr/>
          <p:nvPr/>
        </p:nvSpPr>
        <p:spPr>
          <a:xfrm>
            <a:off x="299008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arrot_blue.png"/>
          <p:cNvPicPr>
            <a:picLocks noChangeAspect="1"/>
          </p:cNvPicPr>
          <p:nvPr/>
        </p:nvPicPr>
        <p:blipFill>
          <a:blip r:embed="rId4"/>
          <a:stretch>
            <a:fillRect/>
          </a:stretch>
        </p:blipFill>
        <p:spPr>
          <a:xfrm>
            <a:off x="3607308" y="1920240"/>
            <a:ext cx="685800" cy="685800"/>
          </a:xfrm>
          <a:prstGeom prst="rect">
            <a:avLst/>
          </a:prstGeom>
        </p:spPr>
      </p:pic>
      <p:sp>
        <p:nvSpPr>
          <p:cNvPr id="13" name="TextBox 12"/>
          <p:cNvSpPr txBox="1"/>
          <p:nvPr/>
        </p:nvSpPr>
        <p:spPr>
          <a:xfrm>
            <a:off x="308152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Vitamin A</a:t>
            </a:r>
          </a:p>
        </p:txBody>
      </p:sp>
      <p:sp>
        <p:nvSpPr>
          <p:cNvPr id="14" name="TextBox 13"/>
          <p:cNvSpPr txBox="1"/>
          <p:nvPr/>
        </p:nvSpPr>
        <p:spPr>
          <a:xfrm>
            <a:off x="312724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retinol-binding protein, adjusted for inflammation</a:t>
            </a:r>
          </a:p>
          <a:p>
            <a:pPr algn="l">
              <a:spcBef>
                <a:spcPts val="300"/>
              </a:spcBef>
              <a:spcAft>
                <a:spcPts val="400"/>
              </a:spcAft>
            </a:pPr>
            <a:r>
              <a:rPr sz="1300" b="1">
                <a:solidFill>
                  <a:srgbClr val="1F4E79"/>
                </a:solidFill>
                <a:latin typeface="Calibri"/>
              </a:rPr>
              <a:t>Cut-off:</a:t>
            </a:r>
            <a:r>
              <a:rPr sz="1300">
                <a:solidFill>
                  <a:srgbClr val="333333"/>
                </a:solidFill>
                <a:latin typeface="Calibri"/>
              </a:rPr>
              <a:t> RBP below 0.70 umol/L</a:t>
            </a:r>
          </a:p>
        </p:txBody>
      </p:sp>
      <p:sp>
        <p:nvSpPr>
          <p:cNvPr id="15" name="Rounded Rectangle 14"/>
          <p:cNvSpPr/>
          <p:nvPr/>
        </p:nvSpPr>
        <p:spPr>
          <a:xfrm>
            <a:off x="513892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leaf_blue.png"/>
          <p:cNvPicPr>
            <a:picLocks noChangeAspect="1"/>
          </p:cNvPicPr>
          <p:nvPr/>
        </p:nvPicPr>
        <p:blipFill>
          <a:blip r:embed="rId5"/>
          <a:stretch>
            <a:fillRect/>
          </a:stretch>
        </p:blipFill>
        <p:spPr>
          <a:xfrm>
            <a:off x="5756148" y="1920240"/>
            <a:ext cx="685800" cy="685800"/>
          </a:xfrm>
          <a:prstGeom prst="rect">
            <a:avLst/>
          </a:prstGeom>
        </p:spPr>
      </p:pic>
      <p:sp>
        <p:nvSpPr>
          <p:cNvPr id="17" name="TextBox 16"/>
          <p:cNvSpPr txBox="1"/>
          <p:nvPr/>
        </p:nvSpPr>
        <p:spPr>
          <a:xfrm>
            <a:off x="523036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Folate</a:t>
            </a:r>
          </a:p>
        </p:txBody>
      </p:sp>
      <p:sp>
        <p:nvSpPr>
          <p:cNvPr id="18" name="TextBox 17"/>
          <p:cNvSpPr txBox="1"/>
          <p:nvPr/>
        </p:nvSpPr>
        <p:spPr>
          <a:xfrm>
            <a:off x="527608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folate</a:t>
            </a:r>
          </a:p>
          <a:p>
            <a:pPr algn="l">
              <a:spcBef>
                <a:spcPts val="300"/>
              </a:spcBef>
              <a:spcAft>
                <a:spcPts val="400"/>
              </a:spcAft>
            </a:pPr>
            <a:r>
              <a:rPr sz="1300" b="1">
                <a:solidFill>
                  <a:srgbClr val="1F4E79"/>
                </a:solidFill>
                <a:latin typeface="Calibri"/>
              </a:rPr>
              <a:t>Cut-off:</a:t>
            </a:r>
            <a:r>
              <a:rPr sz="1300">
                <a:solidFill>
                  <a:srgbClr val="333333"/>
                </a:solidFill>
                <a:latin typeface="Calibri"/>
              </a:rPr>
              <a:t> below 10 nmol/L</a:t>
            </a:r>
          </a:p>
        </p:txBody>
      </p:sp>
      <p:sp>
        <p:nvSpPr>
          <p:cNvPr id="19" name="Rounded Rectangle 18"/>
          <p:cNvSpPr/>
          <p:nvPr/>
        </p:nvSpPr>
        <p:spPr>
          <a:xfrm>
            <a:off x="728776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drumstick-bite_blue.png"/>
          <p:cNvPicPr>
            <a:picLocks noChangeAspect="1"/>
          </p:cNvPicPr>
          <p:nvPr/>
        </p:nvPicPr>
        <p:blipFill>
          <a:blip r:embed="rId6"/>
          <a:stretch>
            <a:fillRect/>
          </a:stretch>
        </p:blipFill>
        <p:spPr>
          <a:xfrm>
            <a:off x="7904988" y="1920240"/>
            <a:ext cx="685800" cy="685800"/>
          </a:xfrm>
          <a:prstGeom prst="rect">
            <a:avLst/>
          </a:prstGeom>
        </p:spPr>
      </p:pic>
      <p:sp>
        <p:nvSpPr>
          <p:cNvPr id="21" name="TextBox 20"/>
          <p:cNvSpPr txBox="1"/>
          <p:nvPr/>
        </p:nvSpPr>
        <p:spPr>
          <a:xfrm>
            <a:off x="737920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B12</a:t>
            </a:r>
          </a:p>
        </p:txBody>
      </p:sp>
      <p:sp>
        <p:nvSpPr>
          <p:cNvPr id="22" name="TextBox 21"/>
          <p:cNvSpPr txBox="1"/>
          <p:nvPr/>
        </p:nvSpPr>
        <p:spPr>
          <a:xfrm>
            <a:off x="742492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B12</a:t>
            </a:r>
          </a:p>
          <a:p>
            <a:pPr algn="l">
              <a:spcBef>
                <a:spcPts val="300"/>
              </a:spcBef>
              <a:spcAft>
                <a:spcPts val="400"/>
              </a:spcAft>
            </a:pPr>
            <a:r>
              <a:rPr sz="1300" b="1">
                <a:solidFill>
                  <a:srgbClr val="1F4E79"/>
                </a:solidFill>
                <a:latin typeface="Calibri"/>
              </a:rPr>
              <a:t>Cut-off:</a:t>
            </a:r>
            <a:r>
              <a:rPr sz="1300">
                <a:solidFill>
                  <a:srgbClr val="333333"/>
                </a:solidFill>
                <a:latin typeface="Calibri"/>
              </a:rPr>
              <a:t> below 150 pmol/L</a:t>
            </a:r>
          </a:p>
        </p:txBody>
      </p:sp>
      <p:sp>
        <p:nvSpPr>
          <p:cNvPr id="23" name="Rounded Rectangle 22"/>
          <p:cNvSpPr/>
          <p:nvPr/>
        </p:nvSpPr>
        <p:spPr>
          <a:xfrm>
            <a:off x="943660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wheat-awn_blue.png"/>
          <p:cNvPicPr>
            <a:picLocks noChangeAspect="1"/>
          </p:cNvPicPr>
          <p:nvPr/>
        </p:nvPicPr>
        <p:blipFill>
          <a:blip r:embed="rId7"/>
          <a:stretch>
            <a:fillRect/>
          </a:stretch>
        </p:blipFill>
        <p:spPr>
          <a:xfrm>
            <a:off x="10053828" y="1920240"/>
            <a:ext cx="685800" cy="685800"/>
          </a:xfrm>
          <a:prstGeom prst="rect">
            <a:avLst/>
          </a:prstGeom>
        </p:spPr>
      </p:pic>
      <p:sp>
        <p:nvSpPr>
          <p:cNvPr id="25" name="TextBox 24"/>
          <p:cNvSpPr txBox="1"/>
          <p:nvPr/>
        </p:nvSpPr>
        <p:spPr>
          <a:xfrm>
            <a:off x="9528048" y="2743200"/>
            <a:ext cx="1737360" cy="457200"/>
          </a:xfrm>
          <a:prstGeom prst="rect">
            <a:avLst/>
          </a:prstGeom>
          <a:noFill/>
        </p:spPr>
        <p:txBody>
          <a:bodyPr wrap="square" lIns="45720" tIns="27432" rIns="45720" bIns="27432" anchor="t">
            <a:spAutoFit/>
          </a:bodyPr>
          <a:lstStyle/>
          <a:p>
            <a:pPr algn="ctr"/>
            <a:r>
              <a:rPr sz="1800" b="1">
                <a:solidFill>
                  <a:srgbClr val="1F4E79"/>
                </a:solidFill>
                <a:latin typeface="Calibri"/>
              </a:rPr>
              <a:t>Zinc</a:t>
            </a:r>
          </a:p>
        </p:txBody>
      </p:sp>
      <p:sp>
        <p:nvSpPr>
          <p:cNvPr id="26" name="TextBox 25"/>
          <p:cNvSpPr txBox="1"/>
          <p:nvPr/>
        </p:nvSpPr>
        <p:spPr>
          <a:xfrm>
            <a:off x="9573768" y="3291840"/>
            <a:ext cx="164592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Malawi only</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zinc</a:t>
            </a:r>
          </a:p>
          <a:p>
            <a:pPr algn="l">
              <a:spcBef>
                <a:spcPts val="300"/>
              </a:spcBef>
              <a:spcAft>
                <a:spcPts val="400"/>
              </a:spcAft>
            </a:pPr>
            <a:r>
              <a:rPr sz="1300" b="1">
                <a:solidFill>
                  <a:srgbClr val="1F4E79"/>
                </a:solidFill>
                <a:latin typeface="Calibri"/>
              </a:rPr>
              <a:t>Cut-off:</a:t>
            </a:r>
            <a:r>
              <a:rPr sz="1300">
                <a:solidFill>
                  <a:srgbClr val="333333"/>
                </a:solidFill>
                <a:latin typeface="Calibri"/>
              </a:rPr>
              <a:t> IZiNCG thresholds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Where do we have proxy data for those causes?</a:t>
            </a:r>
          </a:p>
        </p:txBody>
      </p:sp>
      <p:pic>
        <p:nvPicPr>
          <p:cNvPr id="3" name="Picture 1" descr="MN-proxy-full-talk-2026-09_files/figure-pptx/framework-coverage-1.png"/>
          <p:cNvPicPr>
            <a:picLocks noGrp="1" noChangeAspect="1"/>
          </p:cNvPicPr>
          <p:nvPr/>
        </p:nvPicPr>
        <p:blipFill>
          <a:blip r:embed="rId3"/>
          <a:stretch>
            <a:fillRect/>
          </a:stretch>
        </p:blipFill>
        <p:spPr bwMode="auto">
          <a:xfrm>
            <a:off x="1425448" y="1691640"/>
            <a:ext cx="9347200"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6</a:t>
            </a:fld>
            <a:endParaRPr lang="en-BG"/>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do the land, climate and agriculture layers look like?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7</a:t>
            </a:fld>
            <a:endParaRPr lang="en-BG"/>
          </a:p>
        </p:txBody>
      </p:sp>
      <p:pic>
        <p:nvPicPr>
          <p:cNvPr id="7" name="Picture 6" descr="cloud-sun-rain_blue.png"/>
          <p:cNvPicPr>
            <a:picLocks noChangeAspect="1"/>
          </p:cNvPicPr>
          <p:nvPr/>
        </p:nvPicPr>
        <p:blipFill>
          <a:blip r:embed="rId4"/>
          <a:stretch>
            <a:fillRect/>
          </a:stretch>
        </p:blipFill>
        <p:spPr>
          <a:xfrm>
            <a:off x="932688" y="1783080"/>
            <a:ext cx="640080" cy="512064"/>
          </a:xfrm>
          <a:prstGeom prst="rect">
            <a:avLst/>
          </a:prstGeom>
        </p:spPr>
      </p:pic>
      <p:sp>
        <p:nvSpPr>
          <p:cNvPr id="8" name="TextBox 7"/>
          <p:cNvSpPr txBox="1"/>
          <p:nvPr/>
        </p:nvSpPr>
        <p:spPr>
          <a:xfrm>
            <a:off x="1984248" y="1691640"/>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Climate</a:t>
            </a:r>
          </a:p>
          <a:p>
            <a:pPr algn="l">
              <a:spcBef>
                <a:spcPts val="300"/>
              </a:spcBef>
            </a:pPr>
            <a:r>
              <a:rPr sz="1200" b="0">
                <a:solidFill>
                  <a:srgbClr val="333333"/>
                </a:solidFill>
                <a:latin typeface="Calibri"/>
              </a:rPr>
              <a:t>Monthly rainfall and temperature at the survey year and as 30-year normals; drought and evaporation (TerraClimate, MODIS).</a:t>
            </a:r>
          </a:p>
        </p:txBody>
      </p:sp>
      <p:pic>
        <p:nvPicPr>
          <p:cNvPr id="9" name="Picture 8" descr="mound_blue.png"/>
          <p:cNvPicPr>
            <a:picLocks noChangeAspect="1"/>
          </p:cNvPicPr>
          <p:nvPr/>
        </p:nvPicPr>
        <p:blipFill>
          <a:blip r:embed="rId5"/>
          <a:stretch>
            <a:fillRect/>
          </a:stretch>
        </p:blipFill>
        <p:spPr>
          <a:xfrm>
            <a:off x="932688" y="2660904"/>
            <a:ext cx="576072" cy="512064"/>
          </a:xfrm>
          <a:prstGeom prst="rect">
            <a:avLst/>
          </a:prstGeom>
        </p:spPr>
      </p:pic>
      <p:sp>
        <p:nvSpPr>
          <p:cNvPr id="10" name="TextBox 9"/>
          <p:cNvSpPr txBox="1"/>
          <p:nvPr/>
        </p:nvSpPr>
        <p:spPr>
          <a:xfrm>
            <a:off x="1984248" y="2569464"/>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Soil</a:t>
            </a:r>
          </a:p>
          <a:p>
            <a:pPr algn="l">
              <a:spcBef>
                <a:spcPts val="300"/>
              </a:spcBef>
            </a:pPr>
            <a:r>
              <a:rPr sz="1200" b="0">
                <a:solidFill>
                  <a:srgbClr val="333333"/>
                </a:solidFill>
                <a:latin typeface="Calibri"/>
              </a:rPr>
              <a:t>pH, organic carbon, texture and nutrients such as zinc and iron, at two depths (SoilGrids, iSDA).</a:t>
            </a:r>
          </a:p>
        </p:txBody>
      </p:sp>
      <p:pic>
        <p:nvPicPr>
          <p:cNvPr id="11" name="Picture 10" descr="tractor_blue.png"/>
          <p:cNvPicPr>
            <a:picLocks noChangeAspect="1"/>
          </p:cNvPicPr>
          <p:nvPr/>
        </p:nvPicPr>
        <p:blipFill>
          <a:blip r:embed="rId6"/>
          <a:stretch>
            <a:fillRect/>
          </a:stretch>
        </p:blipFill>
        <p:spPr>
          <a:xfrm>
            <a:off x="932688" y="3538728"/>
            <a:ext cx="640080" cy="512064"/>
          </a:xfrm>
          <a:prstGeom prst="rect">
            <a:avLst/>
          </a:prstGeom>
        </p:spPr>
      </p:pic>
      <p:sp>
        <p:nvSpPr>
          <p:cNvPr id="12" name="TextBox 11"/>
          <p:cNvSpPr txBox="1"/>
          <p:nvPr/>
        </p:nvSpPr>
        <p:spPr>
          <a:xfrm>
            <a:off x="1984248" y="3447288"/>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Crops and livestock</a:t>
            </a:r>
          </a:p>
          <a:p>
            <a:pPr algn="l">
              <a:spcBef>
                <a:spcPts val="300"/>
              </a:spcBef>
            </a:pPr>
            <a:r>
              <a:rPr sz="1200" b="0">
                <a:solidFill>
                  <a:srgbClr val="333333"/>
                </a:solidFill>
                <a:latin typeface="Calibri"/>
              </a:rPr>
              <a:t>What is grown and how much, cattle, goats, sheep, pigs and poultry per square kilometer (MapSPAM, Gridded Livestock).</a:t>
            </a:r>
          </a:p>
        </p:txBody>
      </p:sp>
      <p:pic>
        <p:nvPicPr>
          <p:cNvPr id="13" name="Picture 12" descr="satellite_blue.png"/>
          <p:cNvPicPr>
            <a:picLocks noChangeAspect="1"/>
          </p:cNvPicPr>
          <p:nvPr/>
        </p:nvPicPr>
        <p:blipFill>
          <a:blip r:embed="rId7"/>
          <a:stretch>
            <a:fillRect/>
          </a:stretch>
        </p:blipFill>
        <p:spPr>
          <a:xfrm>
            <a:off x="932688" y="4416552"/>
            <a:ext cx="512064" cy="512064"/>
          </a:xfrm>
          <a:prstGeom prst="rect">
            <a:avLst/>
          </a:prstGeom>
        </p:spPr>
      </p:pic>
      <p:sp>
        <p:nvSpPr>
          <p:cNvPr id="14" name="TextBox 13"/>
          <p:cNvSpPr txBox="1"/>
          <p:nvPr/>
        </p:nvSpPr>
        <p:spPr>
          <a:xfrm>
            <a:off x="1984248" y="4325112"/>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Land cover and satellite embedding</a:t>
            </a:r>
          </a:p>
          <a:p>
            <a:pPr algn="l">
              <a:spcBef>
                <a:spcPts val="300"/>
              </a:spcBef>
            </a:pPr>
            <a:r>
              <a:rPr sz="1200" b="0">
                <a:solidFill>
                  <a:srgbClr val="333333"/>
                </a:solidFill>
                <a:latin typeface="Calibri"/>
              </a:rPr>
              <a:t>Cropland, grassland, built-up area, night lights, plant productivity, and a 64-number summary of a year of satellite images (AlphaEarth).</a:t>
            </a:r>
          </a:p>
        </p:txBody>
      </p:sp>
      <p:pic>
        <p:nvPicPr>
          <p:cNvPr id="15" name="Picture 14" descr="water_blue.png"/>
          <p:cNvPicPr>
            <a:picLocks noChangeAspect="1"/>
          </p:cNvPicPr>
          <p:nvPr/>
        </p:nvPicPr>
        <p:blipFill>
          <a:blip r:embed="rId8"/>
          <a:stretch>
            <a:fillRect/>
          </a:stretch>
        </p:blipFill>
        <p:spPr>
          <a:xfrm>
            <a:off x="932688" y="5294376"/>
            <a:ext cx="576072" cy="512064"/>
          </a:xfrm>
          <a:prstGeom prst="rect">
            <a:avLst/>
          </a:prstGeom>
        </p:spPr>
      </p:pic>
      <p:sp>
        <p:nvSpPr>
          <p:cNvPr id="16" name="TextBox 15"/>
          <p:cNvSpPr txBox="1"/>
          <p:nvPr/>
        </p:nvSpPr>
        <p:spPr>
          <a:xfrm>
            <a:off x="1984248" y="5202936"/>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Water and terrain</a:t>
            </a:r>
          </a:p>
          <a:p>
            <a:pPr algn="l">
              <a:spcBef>
                <a:spcPts val="300"/>
              </a:spcBef>
            </a:pPr>
            <a:r>
              <a:rPr sz="1200" b="0">
                <a:solidFill>
                  <a:srgbClr val="333333"/>
                </a:solidFill>
                <a:latin typeface="Calibri"/>
              </a:rPr>
              <a:t>Distance to permanent water and the coast; elevation and slope.</a:t>
            </a:r>
          </a:p>
        </p:txBody>
      </p:sp>
      <p:pic>
        <p:nvPicPr>
          <p:cNvPr id="17" name="Picture 16" descr="ghana_sources_land.png"/>
          <p:cNvPicPr>
            <a:picLocks noChangeAspect="1"/>
          </p:cNvPicPr>
          <p:nvPr/>
        </p:nvPicPr>
        <p:blipFill>
          <a:blip r:embed="rId9"/>
          <a:stretch>
            <a:fillRect/>
          </a:stretch>
        </p:blipFill>
        <p:spPr>
          <a:xfrm>
            <a:off x="7699248" y="1783080"/>
            <a:ext cx="3559126" cy="402336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do the health, food and household layers look like?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8</a:t>
            </a:fld>
            <a:endParaRPr lang="en-BG"/>
          </a:p>
        </p:txBody>
      </p:sp>
      <p:pic>
        <p:nvPicPr>
          <p:cNvPr id="7" name="Picture 6" descr="virus_blue.png"/>
          <p:cNvPicPr>
            <a:picLocks noChangeAspect="1"/>
          </p:cNvPicPr>
          <p:nvPr/>
        </p:nvPicPr>
        <p:blipFill>
          <a:blip r:embed="rId3"/>
          <a:stretch>
            <a:fillRect/>
          </a:stretch>
        </p:blipFill>
        <p:spPr>
          <a:xfrm>
            <a:off x="932688" y="1783080"/>
            <a:ext cx="512064" cy="512064"/>
          </a:xfrm>
          <a:prstGeom prst="rect">
            <a:avLst/>
          </a:prstGeom>
        </p:spPr>
      </p:pic>
      <p:sp>
        <p:nvSpPr>
          <p:cNvPr id="8" name="TextBox 7"/>
          <p:cNvSpPr txBox="1"/>
          <p:nvPr/>
        </p:nvSpPr>
        <p:spPr>
          <a:xfrm>
            <a:off x="1984248" y="1691640"/>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Modeled health surfaces</a:t>
            </a:r>
          </a:p>
          <a:p>
            <a:pPr algn="l">
              <a:spcBef>
                <a:spcPts val="300"/>
              </a:spcBef>
            </a:pPr>
            <a:r>
              <a:rPr sz="1200" b="0">
                <a:solidFill>
                  <a:srgbClr val="333333"/>
                </a:solidFill>
                <a:latin typeface="Calibri"/>
              </a:rPr>
              <a:t>Malaria, anemia, child growth, diarrhea, sanitation and vaccination, mapped at 5 km by IHME and the Malaria Atlas; helminths from WHO.</a:t>
            </a:r>
          </a:p>
        </p:txBody>
      </p:sp>
      <p:pic>
        <p:nvPicPr>
          <p:cNvPr id="9" name="Picture 8" descr="basket-shopping_blue.png"/>
          <p:cNvPicPr>
            <a:picLocks noChangeAspect="1"/>
          </p:cNvPicPr>
          <p:nvPr/>
        </p:nvPicPr>
        <p:blipFill>
          <a:blip r:embed="rId4"/>
          <a:stretch>
            <a:fillRect/>
          </a:stretch>
        </p:blipFill>
        <p:spPr>
          <a:xfrm>
            <a:off x="932688" y="2660904"/>
            <a:ext cx="576072" cy="512064"/>
          </a:xfrm>
          <a:prstGeom prst="rect">
            <a:avLst/>
          </a:prstGeom>
        </p:spPr>
      </p:pic>
      <p:sp>
        <p:nvSpPr>
          <p:cNvPr id="10" name="TextBox 9"/>
          <p:cNvSpPr txBox="1"/>
          <p:nvPr/>
        </p:nvSpPr>
        <p:spPr>
          <a:xfrm>
            <a:off x="1984248" y="2569464"/>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Food prices and supply</a:t>
            </a:r>
          </a:p>
          <a:p>
            <a:pPr algn="l">
              <a:spcBef>
                <a:spcPts val="300"/>
              </a:spcBef>
            </a:pPr>
            <a:r>
              <a:rPr sz="1200" b="0">
                <a:solidFill>
                  <a:srgbClr val="333333"/>
                </a:solidFill>
                <a:latin typeface="Calibri"/>
              </a:rPr>
              <a:t>Local staple prices against the national level (WFP, World Bank), food security phases, fortification standards.</a:t>
            </a:r>
          </a:p>
        </p:txBody>
      </p:sp>
      <p:pic>
        <p:nvPicPr>
          <p:cNvPr id="11" name="Picture 10" descr="people-roof_blue.png"/>
          <p:cNvPicPr>
            <a:picLocks noChangeAspect="1"/>
          </p:cNvPicPr>
          <p:nvPr/>
        </p:nvPicPr>
        <p:blipFill>
          <a:blip r:embed="rId5"/>
          <a:stretch>
            <a:fillRect/>
          </a:stretch>
        </p:blipFill>
        <p:spPr>
          <a:xfrm>
            <a:off x="932688" y="3538728"/>
            <a:ext cx="640080" cy="512064"/>
          </a:xfrm>
          <a:prstGeom prst="rect">
            <a:avLst/>
          </a:prstGeom>
        </p:spPr>
      </p:pic>
      <p:sp>
        <p:nvSpPr>
          <p:cNvPr id="12" name="TextBox 11"/>
          <p:cNvSpPr txBox="1"/>
          <p:nvPr/>
        </p:nvSpPr>
        <p:spPr>
          <a:xfrm>
            <a:off x="1984248" y="3447288"/>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Public household surveys</a:t>
            </a:r>
          </a:p>
          <a:p>
            <a:pPr algn="l">
              <a:spcBef>
                <a:spcPts val="300"/>
              </a:spcBef>
            </a:pPr>
            <a:r>
              <a:rPr sz="1200" b="0">
                <a:solidFill>
                  <a:srgbClr val="333333"/>
                </a:solidFill>
                <a:latin typeface="Calibri"/>
              </a:rPr>
              <a:t>MICS and the national budget surveys, aggregated to districts: wealth, schooling, water, infant feeding, what households ate last week.</a:t>
            </a:r>
          </a:p>
        </p:txBody>
      </p:sp>
      <p:pic>
        <p:nvPicPr>
          <p:cNvPr id="13" name="Picture 12" descr="users_blue.png"/>
          <p:cNvPicPr>
            <a:picLocks noChangeAspect="1"/>
          </p:cNvPicPr>
          <p:nvPr/>
        </p:nvPicPr>
        <p:blipFill>
          <a:blip r:embed="rId6"/>
          <a:stretch>
            <a:fillRect/>
          </a:stretch>
        </p:blipFill>
        <p:spPr>
          <a:xfrm>
            <a:off x="932688" y="4416552"/>
            <a:ext cx="640080" cy="512064"/>
          </a:xfrm>
          <a:prstGeom prst="rect">
            <a:avLst/>
          </a:prstGeom>
        </p:spPr>
      </p:pic>
      <p:sp>
        <p:nvSpPr>
          <p:cNvPr id="14" name="TextBox 13"/>
          <p:cNvSpPr txBox="1"/>
          <p:nvPr/>
        </p:nvSpPr>
        <p:spPr>
          <a:xfrm>
            <a:off x="1984248" y="4325112"/>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People and access</a:t>
            </a:r>
          </a:p>
          <a:p>
            <a:pPr algn="l">
              <a:spcBef>
                <a:spcPts val="300"/>
              </a:spcBef>
            </a:pPr>
            <a:r>
              <a:rPr sz="1200" b="0">
                <a:solidFill>
                  <a:srgbClr val="333333"/>
                </a:solidFill>
                <a:latin typeface="Calibri"/>
              </a:rPr>
              <a:t>Population and density, travel time to health care and markets, a relative wealth index from satellite and phone data.</a:t>
            </a:r>
          </a:p>
        </p:txBody>
      </p:sp>
      <p:pic>
        <p:nvPicPr>
          <p:cNvPr id="15" name="Picture 14" descr="lock_blue.png"/>
          <p:cNvPicPr>
            <a:picLocks noChangeAspect="1"/>
          </p:cNvPicPr>
          <p:nvPr/>
        </p:nvPicPr>
        <p:blipFill>
          <a:blip r:embed="rId7"/>
          <a:stretch>
            <a:fillRect/>
          </a:stretch>
        </p:blipFill>
        <p:spPr>
          <a:xfrm>
            <a:off x="932688" y="5294376"/>
            <a:ext cx="448056" cy="512064"/>
          </a:xfrm>
          <a:prstGeom prst="rect">
            <a:avLst/>
          </a:prstGeom>
        </p:spPr>
      </p:pic>
      <p:sp>
        <p:nvSpPr>
          <p:cNvPr id="16" name="TextBox 15"/>
          <p:cNvSpPr txBox="1"/>
          <p:nvPr/>
        </p:nvSpPr>
        <p:spPr>
          <a:xfrm>
            <a:off x="1984248" y="5202936"/>
            <a:ext cx="5349240" cy="694944"/>
          </a:xfrm>
          <a:prstGeom prst="rect">
            <a:avLst/>
          </a:prstGeom>
          <a:noFill/>
        </p:spPr>
        <p:txBody>
          <a:bodyPr wrap="square" lIns="45720" tIns="27432" rIns="45720" bIns="27432" anchor="ctr">
            <a:spAutoFit/>
          </a:bodyPr>
          <a:lstStyle/>
          <a:p>
            <a:pPr algn="l"/>
            <a:r>
              <a:rPr sz="1600" b="1">
                <a:solidFill>
                  <a:srgbClr val="1F4E79"/>
                </a:solidFill>
                <a:latin typeface="Calibri"/>
              </a:rPr>
              <a:t>What is kept out</a:t>
            </a:r>
          </a:p>
          <a:p>
            <a:pPr algn="l">
              <a:spcBef>
                <a:spcPts val="300"/>
              </a:spcBef>
            </a:pPr>
            <a:r>
              <a:rPr sz="1200" b="0">
                <a:solidFill>
                  <a:srgbClr val="333333"/>
                </a:solidFill>
                <a:latin typeface="Calibri"/>
              </a:rPr>
              <a:t>The DHS aggregates exist for all four countries and are used only as a check; the headline models use open and public data alone.</a:t>
            </a:r>
          </a:p>
        </p:txBody>
      </p:sp>
      <p:pic>
        <p:nvPicPr>
          <p:cNvPr id="17" name="Picture 16" descr="ghana_sources_health.png"/>
          <p:cNvPicPr>
            <a:picLocks noChangeAspect="1"/>
          </p:cNvPicPr>
          <p:nvPr/>
        </p:nvPicPr>
        <p:blipFill>
          <a:blip r:embed="rId8"/>
          <a:stretch>
            <a:fillRect/>
          </a:stretch>
        </p:blipFill>
        <p:spPr>
          <a:xfrm>
            <a:off x="7699248" y="1783080"/>
            <a:ext cx="3559126" cy="4023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Where do the 575 predictors come from?</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lvl="0"/>
            <a:r>
              <a:rPr sz="1800"/>
              <a:t>575 predictors from 28 sources, every one matched to the same list of 554 districts.</a:t>
            </a:r>
          </a:p>
          <a:p>
            <a:pPr lvl="0"/>
            <a:r>
              <a:rPr sz="1800"/>
              <a:t>518 exist in all four countries, so they can serve a model for a new country.</a:t>
            </a:r>
          </a:p>
          <a:p>
            <a:pPr lvl="0"/>
            <a:r>
              <a:rPr sz="1800"/>
              <a:t>The other 57 exist in one to three and are used only inside those countries.</a:t>
            </a:r>
          </a:p>
        </p:txBody>
      </p:sp>
      <p:pic>
        <p:nvPicPr>
          <p:cNvPr id="4" name="Picture 1" descr="MN-proxy-full-talk-2026-09_files/figure-pptx/sources-1.png"/>
          <p:cNvPicPr>
            <a:picLocks noGrp="1" noChangeAspect="1"/>
          </p:cNvPicPr>
          <p:nvPr/>
        </p:nvPicPr>
        <p:blipFill>
          <a:blip r:embed="rId3"/>
          <a:stretch>
            <a:fillRect/>
          </a:stretch>
        </p:blipFill>
        <p:spPr bwMode="auto">
          <a:xfrm>
            <a:off x="6273800" y="1816100"/>
            <a:ext cx="49911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9</a:t>
            </a:fld>
            <a:endParaRPr lang="en-BG"/>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are the layers matched to districts in space and time?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10</a:t>
            </a:fld>
            <a:endParaRPr lang="en-BG"/>
          </a:p>
        </p:txBody>
      </p:sp>
      <p:pic>
        <p:nvPicPr>
          <p:cNvPr id="7" name="Picture 6" descr="map_blue.png"/>
          <p:cNvPicPr>
            <a:picLocks noChangeAspect="1"/>
          </p:cNvPicPr>
          <p:nvPr/>
        </p:nvPicPr>
        <p:blipFill>
          <a:blip r:embed="rId3"/>
          <a:stretch>
            <a:fillRect/>
          </a:stretch>
        </p:blipFill>
        <p:spPr>
          <a:xfrm>
            <a:off x="932688" y="1920240"/>
            <a:ext cx="925830" cy="822960"/>
          </a:xfrm>
          <a:prstGeom prst="rect">
            <a:avLst/>
          </a:prstGeom>
        </p:spPr>
      </p:pic>
      <p:sp>
        <p:nvSpPr>
          <p:cNvPr id="8" name="TextBox 7"/>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Space: one list of 554 districts</a:t>
            </a:r>
          </a:p>
          <a:p>
            <a:pPr algn="l">
              <a:spcBef>
                <a:spcPts val="300"/>
              </a:spcBef>
            </a:pPr>
            <a:r>
              <a:rPr sz="1400" b="0">
                <a:solidFill>
                  <a:srgbClr val="333333"/>
                </a:solidFill>
                <a:latin typeface="Calibri"/>
              </a:rPr>
              <a:t>Every layer is joined to it by a district code, never by a district's name, so a renamed or split district cannot silently drop out.</a:t>
            </a:r>
          </a:p>
        </p:txBody>
      </p:sp>
      <p:pic>
        <p:nvPicPr>
          <p:cNvPr id="9" name="Picture 8" descr="calendar-check_blue.png"/>
          <p:cNvPicPr>
            <a:picLocks noChangeAspect="1"/>
          </p:cNvPicPr>
          <p:nvPr/>
        </p:nvPicPr>
        <p:blipFill>
          <a:blip r:embed="rId4"/>
          <a:stretch>
            <a:fillRect/>
          </a:stretch>
        </p:blipFill>
        <p:spPr>
          <a:xfrm>
            <a:off x="932688" y="3383280"/>
            <a:ext cx="720090" cy="822960"/>
          </a:xfrm>
          <a:prstGeom prst="rect">
            <a:avLst/>
          </a:prstGeom>
        </p:spPr>
      </p:pic>
      <p:sp>
        <p:nvSpPr>
          <p:cNvPr id="10" name="TextBox 9"/>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Time: every layer at the survey year, or the nearest</a:t>
            </a:r>
          </a:p>
          <a:p>
            <a:pPr algn="l">
              <a:spcBef>
                <a:spcPts val="300"/>
              </a:spcBef>
            </a:pPr>
            <a:r>
              <a:rPr sz="1400" b="0">
                <a:solidFill>
                  <a:srgbClr val="333333"/>
                </a:solidFill>
                <a:latin typeface="Calibri"/>
              </a:rPr>
              <a:t>Climate enters as a 30-year normal plus the survey year's anomaly; household surveys as the round nearest the biomarker survey.</a:t>
            </a:r>
          </a:p>
        </p:txBody>
      </p:sp>
      <p:pic>
        <p:nvPicPr>
          <p:cNvPr id="11" name="Picture 10" descr="file-lines_blue.png"/>
          <p:cNvPicPr>
            <a:picLocks noChangeAspect="1"/>
          </p:cNvPicPr>
          <p:nvPr/>
        </p:nvPicPr>
        <p:blipFill>
          <a:blip r:embed="rId5"/>
          <a:stretch>
            <a:fillRect/>
          </a:stretch>
        </p:blipFill>
        <p:spPr>
          <a:xfrm>
            <a:off x="932688" y="4846320"/>
            <a:ext cx="617220" cy="822960"/>
          </a:xfrm>
          <a:prstGeom prst="rect">
            <a:avLst/>
          </a:prstGeom>
        </p:spPr>
      </p:pic>
      <p:sp>
        <p:nvSpPr>
          <p:cNvPr id="12" name="TextBox 11"/>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The gap is recorded for every column</a:t>
            </a:r>
          </a:p>
          <a:p>
            <a:pPr algn="l">
              <a:spcBef>
                <a:spcPts val="300"/>
              </a:spcBef>
            </a:pPr>
            <a:r>
              <a:rPr sz="1400" b="0">
                <a:solidFill>
                  <a:srgbClr val="333333"/>
                </a:solidFill>
                <a:latin typeface="Calibri"/>
              </a:rPr>
              <a:t>136 columns sit exactly on the survey year in every country, 78 are static layers; where a source is years off, the gap travels with the column.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29 conceptual domains of proxy variables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11</a:t>
            </a:fld>
            <a:endParaRPr lang="en-BG"/>
          </a:p>
        </p:txBody>
      </p:sp>
      <p:sp>
        <p:nvSpPr>
          <p:cNvPr id="7" name="Rounded Rectangle 6"/>
          <p:cNvSpPr/>
          <p:nvPr/>
        </p:nvSpPr>
        <p:spPr>
          <a:xfrm>
            <a:off x="84124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satellite_blue.png"/>
          <p:cNvPicPr>
            <a:picLocks noChangeAspect="1"/>
          </p:cNvPicPr>
          <p:nvPr/>
        </p:nvPicPr>
        <p:blipFill>
          <a:blip r:embed="rId3"/>
          <a:stretch>
            <a:fillRect/>
          </a:stretch>
        </p:blipFill>
        <p:spPr>
          <a:xfrm>
            <a:off x="978408" y="1828800"/>
            <a:ext cx="548640" cy="548640"/>
          </a:xfrm>
          <a:prstGeom prst="rect">
            <a:avLst/>
          </a:prstGeom>
        </p:spPr>
      </p:pic>
      <p:sp>
        <p:nvSpPr>
          <p:cNvPr id="9" name="TextBox 8"/>
          <p:cNvSpPr txBox="1"/>
          <p:nvPr/>
        </p:nvSpPr>
        <p:spPr>
          <a:xfrm>
            <a:off x="1664208" y="169164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Environment from satellite  (144)</a:t>
            </a:r>
          </a:p>
          <a:p>
            <a:pPr algn="l">
              <a:spcBef>
                <a:spcPts val="300"/>
              </a:spcBef>
            </a:pPr>
            <a:r>
              <a:rPr sz="1150" b="0">
                <a:solidFill>
                  <a:srgbClr val="333333"/>
                </a:solidFill>
                <a:latin typeface="Calibri"/>
              </a:rPr>
              <a:t>AlphaEarth embedding; temperature, rainfall, drought index; NDVI and productivity; distance to water and coast</a:t>
            </a:r>
          </a:p>
        </p:txBody>
      </p:sp>
      <p:sp>
        <p:nvSpPr>
          <p:cNvPr id="10" name="Rounded Rectangle 9"/>
          <p:cNvSpPr/>
          <p:nvPr/>
        </p:nvSpPr>
        <p:spPr>
          <a:xfrm>
            <a:off x="625906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mound_blue.png"/>
          <p:cNvPicPr>
            <a:picLocks noChangeAspect="1"/>
          </p:cNvPicPr>
          <p:nvPr/>
        </p:nvPicPr>
        <p:blipFill>
          <a:blip r:embed="rId4"/>
          <a:stretch>
            <a:fillRect/>
          </a:stretch>
        </p:blipFill>
        <p:spPr>
          <a:xfrm>
            <a:off x="6396228" y="1828800"/>
            <a:ext cx="617220" cy="548640"/>
          </a:xfrm>
          <a:prstGeom prst="rect">
            <a:avLst/>
          </a:prstGeom>
        </p:spPr>
      </p:pic>
      <p:sp>
        <p:nvSpPr>
          <p:cNvPr id="12" name="TextBox 11"/>
          <p:cNvSpPr txBox="1"/>
          <p:nvPr/>
        </p:nvSpPr>
        <p:spPr>
          <a:xfrm>
            <a:off x="7082028" y="169164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Soil  (45)</a:t>
            </a:r>
          </a:p>
          <a:p>
            <a:pPr algn="l">
              <a:spcBef>
                <a:spcPts val="300"/>
              </a:spcBef>
            </a:pPr>
            <a:r>
              <a:rPr sz="1150" b="0">
                <a:solidFill>
                  <a:srgbClr val="333333"/>
                </a:solidFill>
                <a:latin typeface="Calibri"/>
              </a:rPr>
              <a:t>SoilGrids and iSDA: pH, organic carbon, texture, nutrient availability</a:t>
            </a:r>
          </a:p>
        </p:txBody>
      </p:sp>
      <p:sp>
        <p:nvSpPr>
          <p:cNvPr id="13" name="Rounded Rectangle 12"/>
          <p:cNvSpPr/>
          <p:nvPr/>
        </p:nvSpPr>
        <p:spPr>
          <a:xfrm>
            <a:off x="84124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tractor_blue.png"/>
          <p:cNvPicPr>
            <a:picLocks noChangeAspect="1"/>
          </p:cNvPicPr>
          <p:nvPr/>
        </p:nvPicPr>
        <p:blipFill>
          <a:blip r:embed="rId5"/>
          <a:stretch>
            <a:fillRect/>
          </a:stretch>
        </p:blipFill>
        <p:spPr>
          <a:xfrm>
            <a:off x="978408" y="2788920"/>
            <a:ext cx="685800" cy="548640"/>
          </a:xfrm>
          <a:prstGeom prst="rect">
            <a:avLst/>
          </a:prstGeom>
        </p:spPr>
      </p:pic>
      <p:sp>
        <p:nvSpPr>
          <p:cNvPr id="15" name="TextBox 14"/>
          <p:cNvSpPr txBox="1"/>
          <p:nvPr/>
        </p:nvSpPr>
        <p:spPr>
          <a:xfrm>
            <a:off x="1664208" y="265176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Agriculture and livestock  (37)</a:t>
            </a:r>
          </a:p>
          <a:p>
            <a:pPr algn="l">
              <a:spcBef>
                <a:spcPts val="300"/>
              </a:spcBef>
            </a:pPr>
            <a:r>
              <a:rPr sz="1150" b="0">
                <a:solidFill>
                  <a:srgbClr val="333333"/>
                </a:solidFill>
                <a:latin typeface="Calibri"/>
              </a:rPr>
              <a:t>MapSPAM crop mix and cropland; cattle, goat and poultry density</a:t>
            </a:r>
          </a:p>
        </p:txBody>
      </p:sp>
      <p:sp>
        <p:nvSpPr>
          <p:cNvPr id="16" name="Rounded Rectangle 15"/>
          <p:cNvSpPr/>
          <p:nvPr/>
        </p:nvSpPr>
        <p:spPr>
          <a:xfrm>
            <a:off x="625906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basket-shopping_blue.png"/>
          <p:cNvPicPr>
            <a:picLocks noChangeAspect="1"/>
          </p:cNvPicPr>
          <p:nvPr/>
        </p:nvPicPr>
        <p:blipFill>
          <a:blip r:embed="rId6"/>
          <a:stretch>
            <a:fillRect/>
          </a:stretch>
        </p:blipFill>
        <p:spPr>
          <a:xfrm>
            <a:off x="6396228" y="2788920"/>
            <a:ext cx="617220" cy="548640"/>
          </a:xfrm>
          <a:prstGeom prst="rect">
            <a:avLst/>
          </a:prstGeom>
        </p:spPr>
      </p:pic>
      <p:sp>
        <p:nvSpPr>
          <p:cNvPr id="18" name="TextBox 17"/>
          <p:cNvSpPr txBox="1"/>
          <p:nvPr/>
        </p:nvSpPr>
        <p:spPr>
          <a:xfrm>
            <a:off x="7082028" y="265176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Food, prices and diet  (83)</a:t>
            </a:r>
          </a:p>
          <a:p>
            <a:pPr algn="l">
              <a:spcBef>
                <a:spcPts val="300"/>
              </a:spcBef>
            </a:pPr>
            <a:r>
              <a:rPr sz="1150" b="0">
                <a:solidFill>
                  <a:srgbClr val="333333"/>
                </a:solidFill>
                <a:latin typeface="Calibri"/>
              </a:rPr>
              <a:t>WFP and World Bank prices; budget-survey diets; fortification and supplementation coverage</a:t>
            </a:r>
          </a:p>
        </p:txBody>
      </p:sp>
      <p:sp>
        <p:nvSpPr>
          <p:cNvPr id="19" name="Rounded Rectangle 18"/>
          <p:cNvSpPr/>
          <p:nvPr/>
        </p:nvSpPr>
        <p:spPr>
          <a:xfrm>
            <a:off x="84124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virus_blue.png"/>
          <p:cNvPicPr>
            <a:picLocks noChangeAspect="1"/>
          </p:cNvPicPr>
          <p:nvPr/>
        </p:nvPicPr>
        <p:blipFill>
          <a:blip r:embed="rId7"/>
          <a:stretch>
            <a:fillRect/>
          </a:stretch>
        </p:blipFill>
        <p:spPr>
          <a:xfrm>
            <a:off x="978408" y="3749040"/>
            <a:ext cx="548640" cy="548640"/>
          </a:xfrm>
          <a:prstGeom prst="rect">
            <a:avLst/>
          </a:prstGeom>
        </p:spPr>
      </p:pic>
      <p:sp>
        <p:nvSpPr>
          <p:cNvPr id="21" name="TextBox 20"/>
          <p:cNvSpPr txBox="1"/>
          <p:nvPr/>
        </p:nvSpPr>
        <p:spPr>
          <a:xfrm>
            <a:off x="1664208" y="361188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Infection and disease  (84)</a:t>
            </a:r>
          </a:p>
          <a:p>
            <a:pPr algn="l">
              <a:spcBef>
                <a:spcPts val="300"/>
              </a:spcBef>
            </a:pPr>
            <a:r>
              <a:rPr sz="1150" b="0">
                <a:solidFill>
                  <a:srgbClr val="333333"/>
                </a:solidFill>
                <a:latin typeface="Calibri"/>
              </a:rPr>
              <a:t>Malaria, helminths, inflammation; child morbidity and mortality; immunisation coverage</a:t>
            </a:r>
          </a:p>
        </p:txBody>
      </p:sp>
      <p:sp>
        <p:nvSpPr>
          <p:cNvPr id="22" name="Rounded Rectangle 21"/>
          <p:cNvSpPr/>
          <p:nvPr/>
        </p:nvSpPr>
        <p:spPr>
          <a:xfrm>
            <a:off x="625906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ild_blue.png"/>
          <p:cNvPicPr>
            <a:picLocks noChangeAspect="1"/>
          </p:cNvPicPr>
          <p:nvPr/>
        </p:nvPicPr>
        <p:blipFill>
          <a:blip r:embed="rId8"/>
          <a:stretch>
            <a:fillRect/>
          </a:stretch>
        </p:blipFill>
        <p:spPr>
          <a:xfrm>
            <a:off x="6396228" y="3749040"/>
            <a:ext cx="342900" cy="548640"/>
          </a:xfrm>
          <a:prstGeom prst="rect">
            <a:avLst/>
          </a:prstGeom>
        </p:spPr>
      </p:pic>
      <p:sp>
        <p:nvSpPr>
          <p:cNvPr id="24" name="TextBox 23"/>
          <p:cNvSpPr txBox="1"/>
          <p:nvPr/>
        </p:nvSpPr>
        <p:spPr>
          <a:xfrm>
            <a:off x="7082028" y="361188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Nutrition status  (64)</a:t>
            </a:r>
          </a:p>
          <a:p>
            <a:pPr algn="l">
              <a:spcBef>
                <a:spcPts val="300"/>
              </a:spcBef>
            </a:pPr>
            <a:r>
              <a:rPr sz="1150" b="0">
                <a:solidFill>
                  <a:srgbClr val="333333"/>
                </a:solidFill>
                <a:latin typeface="Calibri"/>
              </a:rPr>
              <a:t>Stunting and wasting; anemia surfaces; infant and young child feeding</a:t>
            </a:r>
          </a:p>
        </p:txBody>
      </p:sp>
      <p:sp>
        <p:nvSpPr>
          <p:cNvPr id="25" name="Rounded Rectangle 24"/>
          <p:cNvSpPr/>
          <p:nvPr/>
        </p:nvSpPr>
        <p:spPr>
          <a:xfrm>
            <a:off x="84124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house-chimney_blue.png"/>
          <p:cNvPicPr>
            <a:picLocks noChangeAspect="1"/>
          </p:cNvPicPr>
          <p:nvPr/>
        </p:nvPicPr>
        <p:blipFill>
          <a:blip r:embed="rId9"/>
          <a:stretch>
            <a:fillRect/>
          </a:stretch>
        </p:blipFill>
        <p:spPr>
          <a:xfrm>
            <a:off x="978408" y="4709160"/>
            <a:ext cx="617220" cy="548640"/>
          </a:xfrm>
          <a:prstGeom prst="rect">
            <a:avLst/>
          </a:prstGeom>
        </p:spPr>
      </p:pic>
      <p:sp>
        <p:nvSpPr>
          <p:cNvPr id="27" name="TextBox 26"/>
          <p:cNvSpPr txBox="1"/>
          <p:nvPr/>
        </p:nvSpPr>
        <p:spPr>
          <a:xfrm>
            <a:off x="1664208" y="457200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Households and economy  (90)</a:t>
            </a:r>
          </a:p>
          <a:p>
            <a:pPr algn="l">
              <a:spcBef>
                <a:spcPts val="300"/>
              </a:spcBef>
            </a:pPr>
            <a:r>
              <a:rPr sz="1150" b="0">
                <a:solidFill>
                  <a:srgbClr val="333333"/>
                </a:solidFill>
                <a:latin typeface="Calibri"/>
              </a:rPr>
              <a:t>Assets, schooling, employment; water and sanitation; fertility; access to care</a:t>
            </a:r>
          </a:p>
        </p:txBody>
      </p:sp>
      <p:sp>
        <p:nvSpPr>
          <p:cNvPr id="28" name="Rounded Rectangle 27"/>
          <p:cNvSpPr/>
          <p:nvPr/>
        </p:nvSpPr>
        <p:spPr>
          <a:xfrm>
            <a:off x="625906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ity_blue.png"/>
          <p:cNvPicPr>
            <a:picLocks noChangeAspect="1"/>
          </p:cNvPicPr>
          <p:nvPr/>
        </p:nvPicPr>
        <p:blipFill>
          <a:blip r:embed="rId10"/>
          <a:stretch>
            <a:fillRect/>
          </a:stretch>
        </p:blipFill>
        <p:spPr>
          <a:xfrm>
            <a:off x="6396228" y="4709160"/>
            <a:ext cx="685800" cy="548640"/>
          </a:xfrm>
          <a:prstGeom prst="rect">
            <a:avLst/>
          </a:prstGeom>
        </p:spPr>
      </p:pic>
      <p:sp>
        <p:nvSpPr>
          <p:cNvPr id="30" name="TextBox 29"/>
          <p:cNvSpPr txBox="1"/>
          <p:nvPr/>
        </p:nvSpPr>
        <p:spPr>
          <a:xfrm>
            <a:off x="7082028" y="457200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Settlement, access and security  (28)</a:t>
            </a:r>
          </a:p>
          <a:p>
            <a:pPr algn="l">
              <a:spcBef>
                <a:spcPts val="300"/>
              </a:spcBef>
            </a:pPr>
            <a:r>
              <a:rPr sz="1150" b="0">
                <a:solidFill>
                  <a:srgbClr val="333333"/>
                </a:solidFill>
                <a:latin typeface="Calibri"/>
              </a:rPr>
              <a:t>Night lights, population density, travel time, built-up area; conflict events</a:t>
            </a:r>
          </a:p>
        </p:txBody>
      </p:sp>
      <p:sp>
        <p:nvSpPr>
          <p:cNvPr id="31" name="TextBox 30"/>
          <p:cNvSpPr txBox="1"/>
          <p:nvPr/>
        </p:nvSpPr>
        <p:spPr>
          <a:xfrm>
            <a:off x="841248" y="5440680"/>
            <a:ext cx="10515600" cy="457200"/>
          </a:xfrm>
          <a:prstGeom prst="rect">
            <a:avLst/>
          </a:prstGeom>
          <a:noFill/>
        </p:spPr>
        <p:txBody>
          <a:bodyPr wrap="square" lIns="45720" tIns="27432" rIns="45720" bIns="27432" anchor="t">
            <a:spAutoFit/>
          </a:bodyPr>
          <a:lstStyle/>
          <a:p>
            <a:pPr algn="l"/>
            <a:r>
              <a:rPr sz="800" b="0">
                <a:solidFill>
                  <a:srgbClr val="666666"/>
                </a:solidFill>
                <a:latin typeface="Calibri"/>
              </a:rPr>
              <a:t>Grouped into eight for the slide; number of predictors in brackets. The 29 domains: satellite embedding; climate and weather; soil; ecosystem productivity; water and coast proximity; agricultural production and land use; livestock density; food prices and supply; market prices; household diet (HCES); dietary inadequacy; fortification and supplementation; infection and inflammation; malaria; helminths; infant and child morbidity and mortality; child mortality; adult and maternal mortality; immunization; child anthropometry; adult nutrition; nutrition status surfaces; anemia and hemoglobin; infant and young child feeding; household assets; education, employment and SES; water and sanitation; fertility and reproductive health; healthcare access; built environment; ruralness and population density; conflict.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is the </a:t>
            </a:r>
            <a:r>
              <a:rPr lang="en-US" dirty="0"/>
              <a:t>proxy dataset</a:t>
            </a:r>
            <a:r>
              <a:rPr dirty="0"/>
              <a:t> built?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12</a:t>
            </a:fld>
            <a:endParaRPr lang="en-BG"/>
          </a:p>
        </p:txBody>
      </p:sp>
      <p:sp>
        <p:nvSpPr>
          <p:cNvPr id="7" name="Rounded Rectangle 6"/>
          <p:cNvSpPr/>
          <p:nvPr/>
        </p:nvSpPr>
        <p:spPr>
          <a:xfrm>
            <a:off x="84124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vials_blue.png"/>
          <p:cNvPicPr>
            <a:picLocks noChangeAspect="1"/>
          </p:cNvPicPr>
          <p:nvPr/>
        </p:nvPicPr>
        <p:blipFill>
          <a:blip r:embed="rId3"/>
          <a:stretch>
            <a:fillRect/>
          </a:stretch>
        </p:blipFill>
        <p:spPr>
          <a:xfrm>
            <a:off x="1024128" y="1856232"/>
            <a:ext cx="566928" cy="566928"/>
          </a:xfrm>
          <a:prstGeom prst="rect">
            <a:avLst/>
          </a:prstGeom>
        </p:spPr>
      </p:pic>
      <p:sp>
        <p:nvSpPr>
          <p:cNvPr id="9" name="TextBox 8"/>
          <p:cNvSpPr txBox="1"/>
          <p:nvPr/>
        </p:nvSpPr>
        <p:spPr>
          <a:xfrm>
            <a:off x="170992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1. Clean and merge the surveys</a:t>
            </a:r>
          </a:p>
        </p:txBody>
      </p:sp>
      <p:sp>
        <p:nvSpPr>
          <p:cNvPr id="10" name="TextBox 9"/>
          <p:cNvSpPr txBox="1"/>
          <p:nvPr/>
        </p:nvSpPr>
        <p:spPr>
          <a:xfrm>
            <a:off x="102412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Four surveys, one definition per nutrient.</a:t>
            </a:r>
          </a:p>
        </p:txBody>
      </p:sp>
      <p:sp>
        <p:nvSpPr>
          <p:cNvPr id="11" name="Chevron 10"/>
          <p:cNvSpPr/>
          <p:nvPr/>
        </p:nvSpPr>
        <p:spPr>
          <a:xfrm>
            <a:off x="413918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1408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satellite_blue.png"/>
          <p:cNvPicPr>
            <a:picLocks noChangeAspect="1"/>
          </p:cNvPicPr>
          <p:nvPr/>
        </p:nvPicPr>
        <p:blipFill>
          <a:blip r:embed="rId4"/>
          <a:stretch>
            <a:fillRect/>
          </a:stretch>
        </p:blipFill>
        <p:spPr>
          <a:xfrm>
            <a:off x="4696968" y="1856232"/>
            <a:ext cx="566928" cy="566928"/>
          </a:xfrm>
          <a:prstGeom prst="rect">
            <a:avLst/>
          </a:prstGeom>
        </p:spPr>
      </p:pic>
      <p:sp>
        <p:nvSpPr>
          <p:cNvPr id="14" name="TextBox 13"/>
          <p:cNvSpPr txBox="1"/>
          <p:nvPr/>
        </p:nvSpPr>
        <p:spPr>
          <a:xfrm>
            <a:off x="538276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2. Link gridded layers</a:t>
            </a:r>
          </a:p>
        </p:txBody>
      </p:sp>
      <p:sp>
        <p:nvSpPr>
          <p:cNvPr id="15" name="TextBox 14"/>
          <p:cNvSpPr txBox="1"/>
          <p:nvPr/>
        </p:nvSpPr>
        <p:spPr>
          <a:xfrm>
            <a:off x="469696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Each layer averaged over each district.</a:t>
            </a:r>
          </a:p>
        </p:txBody>
      </p:sp>
      <p:sp>
        <p:nvSpPr>
          <p:cNvPr id="16" name="Chevron 15"/>
          <p:cNvSpPr/>
          <p:nvPr/>
        </p:nvSpPr>
        <p:spPr>
          <a:xfrm>
            <a:off x="781202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18692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people-roof_blue.png"/>
          <p:cNvPicPr>
            <a:picLocks noChangeAspect="1"/>
          </p:cNvPicPr>
          <p:nvPr/>
        </p:nvPicPr>
        <p:blipFill>
          <a:blip r:embed="rId5"/>
          <a:stretch>
            <a:fillRect/>
          </a:stretch>
        </p:blipFill>
        <p:spPr>
          <a:xfrm>
            <a:off x="8369808" y="1856232"/>
            <a:ext cx="708660" cy="566928"/>
          </a:xfrm>
          <a:prstGeom prst="rect">
            <a:avLst/>
          </a:prstGeom>
        </p:spPr>
      </p:pic>
      <p:sp>
        <p:nvSpPr>
          <p:cNvPr id="19" name="TextBox 18"/>
          <p:cNvSpPr txBox="1"/>
          <p:nvPr/>
        </p:nvSpPr>
        <p:spPr>
          <a:xfrm>
            <a:off x="9055608" y="180136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3. Aggregate household surveys</a:t>
            </a:r>
          </a:p>
        </p:txBody>
      </p:sp>
      <p:sp>
        <p:nvSpPr>
          <p:cNvPr id="20" name="TextBox 19"/>
          <p:cNvSpPr txBox="1"/>
          <p:nvPr/>
        </p:nvSpPr>
        <p:spPr>
          <a:xfrm>
            <a:off x="8369808" y="253288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MICS and budget-survey microdata averaged to districts.</a:t>
            </a:r>
          </a:p>
        </p:txBody>
      </p:sp>
      <p:sp>
        <p:nvSpPr>
          <p:cNvPr id="21" name="Rounded Rectangle 20"/>
          <p:cNvSpPr/>
          <p:nvPr/>
        </p:nvSpPr>
        <p:spPr>
          <a:xfrm>
            <a:off x="84124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calendar-check_blue.png"/>
          <p:cNvPicPr>
            <a:picLocks noChangeAspect="1"/>
          </p:cNvPicPr>
          <p:nvPr/>
        </p:nvPicPr>
        <p:blipFill>
          <a:blip r:embed="rId6"/>
          <a:stretch>
            <a:fillRect/>
          </a:stretch>
        </p:blipFill>
        <p:spPr>
          <a:xfrm>
            <a:off x="1024128" y="4096512"/>
            <a:ext cx="496062" cy="566928"/>
          </a:xfrm>
          <a:prstGeom prst="rect">
            <a:avLst/>
          </a:prstGeom>
        </p:spPr>
      </p:pic>
      <p:sp>
        <p:nvSpPr>
          <p:cNvPr id="23" name="TextBox 22"/>
          <p:cNvSpPr txBox="1"/>
          <p:nvPr/>
        </p:nvSpPr>
        <p:spPr>
          <a:xfrm>
            <a:off x="170992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4. Align in time</a:t>
            </a:r>
          </a:p>
        </p:txBody>
      </p:sp>
      <p:sp>
        <p:nvSpPr>
          <p:cNvPr id="24" name="TextBox 23"/>
          <p:cNvSpPr txBox="1"/>
          <p:nvPr/>
        </p:nvSpPr>
        <p:spPr>
          <a:xfrm>
            <a:off x="102412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Every layer at the survey year or the nearest year available.</a:t>
            </a:r>
          </a:p>
        </p:txBody>
      </p:sp>
      <p:sp>
        <p:nvSpPr>
          <p:cNvPr id="25" name="Chevron 24"/>
          <p:cNvSpPr/>
          <p:nvPr/>
        </p:nvSpPr>
        <p:spPr>
          <a:xfrm>
            <a:off x="413918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51408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lock-open_blue.png"/>
          <p:cNvPicPr>
            <a:picLocks noChangeAspect="1"/>
          </p:cNvPicPr>
          <p:nvPr/>
        </p:nvPicPr>
        <p:blipFill>
          <a:blip r:embed="rId7"/>
          <a:stretch>
            <a:fillRect/>
          </a:stretch>
        </p:blipFill>
        <p:spPr>
          <a:xfrm>
            <a:off x="4696968" y="4096512"/>
            <a:ext cx="637794" cy="566928"/>
          </a:xfrm>
          <a:prstGeom prst="rect">
            <a:avLst/>
          </a:prstGeom>
        </p:spPr>
      </p:pic>
      <p:sp>
        <p:nvSpPr>
          <p:cNvPr id="28" name="TextBox 27"/>
          <p:cNvSpPr txBox="1"/>
          <p:nvPr/>
        </p:nvSpPr>
        <p:spPr>
          <a:xfrm>
            <a:off x="538276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5. Open data only</a:t>
            </a:r>
          </a:p>
        </p:txBody>
      </p:sp>
      <p:sp>
        <p:nvSpPr>
          <p:cNvPr id="29" name="TextBox 28"/>
          <p:cNvSpPr txBox="1"/>
          <p:nvPr/>
        </p:nvSpPr>
        <p:spPr>
          <a:xfrm>
            <a:off x="469696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Headline models use open layers and public microdata.</a:t>
            </a:r>
          </a:p>
        </p:txBody>
      </p:sp>
      <p:sp>
        <p:nvSpPr>
          <p:cNvPr id="30" name="Chevron 29"/>
          <p:cNvSpPr/>
          <p:nvPr/>
        </p:nvSpPr>
        <p:spPr>
          <a:xfrm>
            <a:off x="781202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8692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sliders_blue.png"/>
          <p:cNvPicPr>
            <a:picLocks noChangeAspect="1"/>
          </p:cNvPicPr>
          <p:nvPr/>
        </p:nvPicPr>
        <p:blipFill>
          <a:blip r:embed="rId8"/>
          <a:stretch>
            <a:fillRect/>
          </a:stretch>
        </p:blipFill>
        <p:spPr>
          <a:xfrm>
            <a:off x="8369808" y="4096512"/>
            <a:ext cx="566928" cy="566928"/>
          </a:xfrm>
          <a:prstGeom prst="rect">
            <a:avLst/>
          </a:prstGeom>
        </p:spPr>
      </p:pic>
      <p:sp>
        <p:nvSpPr>
          <p:cNvPr id="33" name="TextBox 32"/>
          <p:cNvSpPr txBox="1"/>
          <p:nvPr/>
        </p:nvSpPr>
        <p:spPr>
          <a:xfrm>
            <a:off x="9055608" y="4041648"/>
            <a:ext cx="2209800" cy="685800"/>
          </a:xfrm>
          <a:prstGeom prst="rect">
            <a:avLst/>
          </a:prstGeom>
          <a:noFill/>
        </p:spPr>
        <p:txBody>
          <a:bodyPr wrap="square" lIns="45720" tIns="27432" rIns="45720" bIns="27432" anchor="ctr">
            <a:spAutoFit/>
          </a:bodyPr>
          <a:lstStyle/>
          <a:p>
            <a:pPr algn="l"/>
            <a:r>
              <a:rPr sz="1700" b="1">
                <a:solidFill>
                  <a:srgbClr val="1F4E79"/>
                </a:solidFill>
                <a:latin typeface="Calibri"/>
              </a:rPr>
              <a:t>6. Rank-normalize and reduce</a:t>
            </a:r>
          </a:p>
        </p:txBody>
      </p:sp>
      <p:sp>
        <p:nvSpPr>
          <p:cNvPr id="34" name="TextBox 33"/>
          <p:cNvSpPr txBox="1"/>
          <p:nvPr/>
        </p:nvSpPr>
        <p:spPr>
          <a:xfrm>
            <a:off x="8369808" y="4773168"/>
            <a:ext cx="2849880" cy="1051560"/>
          </a:xfrm>
          <a:prstGeom prst="rect">
            <a:avLst/>
          </a:prstGeom>
          <a:noFill/>
        </p:spPr>
        <p:txBody>
          <a:bodyPr wrap="square" lIns="45720" tIns="27432" rIns="45720" bIns="27432" anchor="t">
            <a:spAutoFit/>
          </a:bodyPr>
          <a:lstStyle/>
          <a:p>
            <a:pPr algn="l"/>
            <a:r>
              <a:rPr sz="1300" b="0">
                <a:solidFill>
                  <a:srgbClr val="333333"/>
                </a:solidFill>
                <a:latin typeface="Calibri"/>
              </a:rPr>
              <a:t>Rank within country; each of the 29 domains to its leading components. Nothing chosen on the outcome.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algorithms did we compare?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13</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book-open_white.png"/>
          <p:cNvPicPr>
            <a:picLocks noChangeAspect="1"/>
          </p:cNvPicPr>
          <p:nvPr/>
        </p:nvPicPr>
        <p:blipFill>
          <a:blip r:embed="rId3"/>
          <a:stretch>
            <a:fillRect/>
          </a:stretch>
        </p:blipFill>
        <p:spPr>
          <a:xfrm>
            <a:off x="1024128" y="1810512"/>
            <a:ext cx="452628" cy="402336"/>
          </a:xfrm>
          <a:prstGeom prst="rect">
            <a:avLst/>
          </a:prstGeom>
        </p:spPr>
      </p:pic>
      <p:sp>
        <p:nvSpPr>
          <p:cNvPr id="10" name="TextBox 9"/>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The candidate library</a:t>
            </a:r>
          </a:p>
        </p:txBody>
      </p:sp>
      <p:pic>
        <p:nvPicPr>
          <p:cNvPr id="11" name="Picture 10" descr="minus_blue.png"/>
          <p:cNvPicPr>
            <a:picLocks noChangeAspect="1"/>
          </p:cNvPicPr>
          <p:nvPr/>
        </p:nvPicPr>
        <p:blipFill>
          <a:blip r:embed="rId4"/>
          <a:stretch>
            <a:fillRect/>
          </a:stretch>
        </p:blipFill>
        <p:spPr>
          <a:xfrm>
            <a:off x="1069848" y="2594610"/>
            <a:ext cx="440055" cy="502920"/>
          </a:xfrm>
          <a:prstGeom prst="rect">
            <a:avLst/>
          </a:prstGeom>
        </p:spPr>
      </p:pic>
      <p:sp>
        <p:nvSpPr>
          <p:cNvPr id="12" name="TextBox 11"/>
          <p:cNvSpPr txBox="1"/>
          <p:nvPr/>
        </p:nvSpPr>
        <p:spPr>
          <a:xfrm>
            <a:off x="1755648" y="242316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Simple mean and penalized regressions</a:t>
            </a:r>
          </a:p>
          <a:p>
            <a:pPr algn="l">
              <a:spcBef>
                <a:spcPts val="300"/>
              </a:spcBef>
            </a:pPr>
            <a:r>
              <a:rPr sz="1200" b="0">
                <a:solidFill>
                  <a:srgbClr val="333333"/>
                </a:solidFill>
                <a:latin typeface="Calibri"/>
              </a:rPr>
              <a:t>The floor, and the elastic net on domain components or on all columns.</a:t>
            </a:r>
          </a:p>
        </p:txBody>
      </p:sp>
      <p:pic>
        <p:nvPicPr>
          <p:cNvPr id="13" name="Picture 12" descr="tree_blue.png"/>
          <p:cNvPicPr>
            <a:picLocks noChangeAspect="1"/>
          </p:cNvPicPr>
          <p:nvPr/>
        </p:nvPicPr>
        <p:blipFill>
          <a:blip r:embed="rId5"/>
          <a:stretch>
            <a:fillRect/>
          </a:stretch>
        </p:blipFill>
        <p:spPr>
          <a:xfrm>
            <a:off x="1069848" y="3440430"/>
            <a:ext cx="440055" cy="502920"/>
          </a:xfrm>
          <a:prstGeom prst="rect">
            <a:avLst/>
          </a:prstGeom>
        </p:spPr>
      </p:pic>
      <p:sp>
        <p:nvSpPr>
          <p:cNvPr id="14" name="TextBox 13"/>
          <p:cNvSpPr txBox="1"/>
          <p:nvPr/>
        </p:nvSpPr>
        <p:spPr>
          <a:xfrm>
            <a:off x="1755648" y="326898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Random forest, gradient boosting, additive trees</a:t>
            </a:r>
          </a:p>
          <a:p>
            <a:pPr algn="l">
              <a:spcBef>
                <a:spcPts val="300"/>
              </a:spcBef>
            </a:pPr>
            <a:r>
              <a:rPr sz="1200" b="0">
                <a:solidFill>
                  <a:srgbClr val="333333"/>
                </a:solidFill>
                <a:latin typeface="Calibri"/>
              </a:rPr>
              <a:t>Flexible learners that can find interactions.</a:t>
            </a:r>
          </a:p>
        </p:txBody>
      </p:sp>
      <p:pic>
        <p:nvPicPr>
          <p:cNvPr id="15" name="Picture 14" descr="map-location-dot_blue.png"/>
          <p:cNvPicPr>
            <a:picLocks noChangeAspect="1"/>
          </p:cNvPicPr>
          <p:nvPr/>
        </p:nvPicPr>
        <p:blipFill>
          <a:blip r:embed="rId6"/>
          <a:stretch>
            <a:fillRect/>
          </a:stretch>
        </p:blipFill>
        <p:spPr>
          <a:xfrm>
            <a:off x="1069848" y="4286250"/>
            <a:ext cx="565785" cy="502920"/>
          </a:xfrm>
          <a:prstGeom prst="rect">
            <a:avLst/>
          </a:prstGeom>
        </p:spPr>
      </p:pic>
      <p:sp>
        <p:nvSpPr>
          <p:cNvPr id="16" name="TextBox 15"/>
          <p:cNvSpPr txBox="1"/>
          <p:nvPr/>
        </p:nvSpPr>
        <p:spPr>
          <a:xfrm>
            <a:off x="1755648" y="411480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Spatial smoother and geostatistical model</a:t>
            </a:r>
          </a:p>
          <a:p>
            <a:pPr algn="l">
              <a:spcBef>
                <a:spcPts val="300"/>
              </a:spcBef>
            </a:pPr>
            <a:r>
              <a:rPr sz="1200" b="0">
                <a:solidFill>
                  <a:srgbClr val="333333"/>
                </a:solidFill>
                <a:latin typeface="Calibri"/>
              </a:rPr>
              <a:t>Neighbors only, or a spatial field plus covariates (the DHS Program's method).</a:t>
            </a:r>
          </a:p>
        </p:txBody>
      </p:sp>
      <p:pic>
        <p:nvPicPr>
          <p:cNvPr id="17" name="Picture 16" descr="scale-balanced_blue.png"/>
          <p:cNvPicPr>
            <a:picLocks noChangeAspect="1"/>
          </p:cNvPicPr>
          <p:nvPr/>
        </p:nvPicPr>
        <p:blipFill>
          <a:blip r:embed="rId7"/>
          <a:stretch>
            <a:fillRect/>
          </a:stretch>
        </p:blipFill>
        <p:spPr>
          <a:xfrm>
            <a:off x="1069848" y="5132070"/>
            <a:ext cx="628650" cy="502920"/>
          </a:xfrm>
          <a:prstGeom prst="rect">
            <a:avLst/>
          </a:prstGeom>
        </p:spPr>
      </p:pic>
      <p:sp>
        <p:nvSpPr>
          <p:cNvPr id="18" name="TextBox 17"/>
          <p:cNvSpPr txBox="1"/>
          <p:nvPr/>
        </p:nvSpPr>
        <p:spPr>
          <a:xfrm>
            <a:off x="1755648" y="496062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Principal-component index</a:t>
            </a:r>
          </a:p>
          <a:p>
            <a:pPr algn="l">
              <a:spcBef>
                <a:spcPts val="300"/>
              </a:spcBef>
            </a:pPr>
            <a:r>
              <a:rPr sz="1200" b="0">
                <a:solidFill>
                  <a:srgbClr val="333333"/>
                </a:solidFill>
                <a:latin typeface="Calibri"/>
              </a:rPr>
              <a:t>Domain components weighted by their training-fold rank correlation; nothing tuned.</a:t>
            </a:r>
          </a:p>
        </p:txBody>
      </p:sp>
      <p:sp>
        <p:nvSpPr>
          <p:cNvPr id="19" name="Rounded Rectangle 18"/>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check-double_white.png"/>
          <p:cNvPicPr>
            <a:picLocks noChangeAspect="1"/>
          </p:cNvPicPr>
          <p:nvPr/>
        </p:nvPicPr>
        <p:blipFill>
          <a:blip r:embed="rId8"/>
          <a:stretch>
            <a:fillRect/>
          </a:stretch>
        </p:blipFill>
        <p:spPr>
          <a:xfrm>
            <a:off x="6510528" y="1810512"/>
            <a:ext cx="352044" cy="402336"/>
          </a:xfrm>
          <a:prstGeom prst="rect">
            <a:avLst/>
          </a:prstGeom>
        </p:spPr>
      </p:pic>
      <p:sp>
        <p:nvSpPr>
          <p:cNvPr id="22" name="TextBox 21"/>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How they were compared, and who won</a:t>
            </a:r>
          </a:p>
        </p:txBody>
      </p:sp>
      <p:pic>
        <p:nvPicPr>
          <p:cNvPr id="23" name="Picture 22" descr="shuffle_blue.png"/>
          <p:cNvPicPr>
            <a:picLocks noChangeAspect="1"/>
          </p:cNvPicPr>
          <p:nvPr/>
        </p:nvPicPr>
        <p:blipFill>
          <a:blip r:embed="rId9"/>
          <a:stretch>
            <a:fillRect/>
          </a:stretch>
        </p:blipFill>
        <p:spPr>
          <a:xfrm>
            <a:off x="6556248" y="2735580"/>
            <a:ext cx="502920" cy="502920"/>
          </a:xfrm>
          <a:prstGeom prst="rect">
            <a:avLst/>
          </a:prstGeom>
        </p:spPr>
      </p:pic>
      <p:sp>
        <p:nvSpPr>
          <p:cNvPr id="24" name="TextBox 23"/>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Same honest folds for every algorithm</a:t>
            </a:r>
          </a:p>
          <a:p>
            <a:pPr algn="l">
              <a:spcBef>
                <a:spcPts val="300"/>
              </a:spcBef>
            </a:pPr>
            <a:r>
              <a:rPr sz="1200" b="0">
                <a:solidFill>
                  <a:srgbClr val="333333"/>
                </a:solidFill>
                <a:latin typeface="Calibri"/>
              </a:rPr>
              <a:t>Cut by district, region and country; no district split between training and test.</a:t>
            </a:r>
          </a:p>
        </p:txBody>
      </p:sp>
      <p:pic>
        <p:nvPicPr>
          <p:cNvPr id="25" name="Picture 24" descr="trophy_blue.png"/>
          <p:cNvPicPr>
            <a:picLocks noChangeAspect="1"/>
          </p:cNvPicPr>
          <p:nvPr/>
        </p:nvPicPr>
        <p:blipFill>
          <a:blip r:embed="rId10"/>
          <a:stretch>
            <a:fillRect/>
          </a:stretch>
        </p:blipFill>
        <p:spPr>
          <a:xfrm>
            <a:off x="6556248" y="3863340"/>
            <a:ext cx="565785" cy="502920"/>
          </a:xfrm>
          <a:prstGeom prst="rect">
            <a:avLst/>
          </a:prstGeom>
        </p:spPr>
      </p:pic>
      <p:sp>
        <p:nvSpPr>
          <p:cNvPr id="26" name="TextBox 25"/>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The index wins: 0.29 against 0.28 for the ensemble</a:t>
            </a:r>
          </a:p>
          <a:p>
            <a:pPr algn="l">
              <a:spcBef>
                <a:spcPts val="300"/>
              </a:spcBef>
            </a:pPr>
            <a:r>
              <a:rPr sz="1200" b="0">
                <a:solidFill>
                  <a:srgbClr val="333333"/>
                </a:solidFill>
                <a:latin typeface="Calibri"/>
              </a:rPr>
              <a:t>Random forest 0.27; the smoother ties inside a country and cannot cross a border.</a:t>
            </a:r>
          </a:p>
        </p:txBody>
      </p:sp>
      <p:pic>
        <p:nvPicPr>
          <p:cNvPr id="27" name="Picture 26" descr="circle-info_blue.png"/>
          <p:cNvPicPr>
            <a:picLocks noChangeAspect="1"/>
          </p:cNvPicPr>
          <p:nvPr/>
        </p:nvPicPr>
        <p:blipFill>
          <a:blip r:embed="rId11"/>
          <a:stretch>
            <a:fillRect/>
          </a:stretch>
        </p:blipFill>
        <p:spPr>
          <a:xfrm>
            <a:off x="6556248" y="4991100"/>
            <a:ext cx="502920" cy="502920"/>
          </a:xfrm>
          <a:prstGeom prst="rect">
            <a:avLst/>
          </a:prstGeom>
        </p:spPr>
      </p:pic>
      <p:sp>
        <p:nvSpPr>
          <p:cNvPr id="28" name="TextBox 27"/>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Why the simplest wins</a:t>
            </a:r>
          </a:p>
          <a:p>
            <a:pPr algn="l">
              <a:spcBef>
                <a:spcPts val="300"/>
              </a:spcBef>
            </a:pPr>
            <a:r>
              <a:rPr sz="1200" b="0">
                <a:solidFill>
                  <a:srgbClr val="333333"/>
                </a:solidFill>
                <a:latin typeface="Calibri"/>
              </a:rPr>
              <a:t>With 14 to 87 districts, every algorithm that tunes a parameter shrinks toward the constant; the index has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do we choose among algorithms?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14</a:t>
            </a:fld>
            <a:endParaRPr lang="en-BG"/>
          </a:p>
        </p:txBody>
      </p:sp>
      <p:pic>
        <p:nvPicPr>
          <p:cNvPr id="7" name="Picture 6" descr="people-group_blue.png"/>
          <p:cNvPicPr>
            <a:picLocks noChangeAspect="1"/>
          </p:cNvPicPr>
          <p:nvPr/>
        </p:nvPicPr>
        <p:blipFill>
          <a:blip r:embed="rId3"/>
          <a:stretch>
            <a:fillRect/>
          </a:stretch>
        </p:blipFill>
        <p:spPr>
          <a:xfrm>
            <a:off x="932688" y="1783080"/>
            <a:ext cx="914400" cy="731520"/>
          </a:xfrm>
          <a:prstGeom prst="rect">
            <a:avLst/>
          </a:prstGeom>
        </p:spPr>
      </p:pic>
      <p:sp>
        <p:nvSpPr>
          <p:cNvPr id="8" name="TextBox 7"/>
          <p:cNvSpPr txBox="1"/>
          <p:nvPr/>
        </p:nvSpPr>
        <p:spPr>
          <a:xfrm>
            <a:off x="1984248" y="169164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A competition of algorithms</a:t>
            </a:r>
          </a:p>
          <a:p>
            <a:pPr algn="l">
              <a:spcBef>
                <a:spcPts val="300"/>
              </a:spcBef>
            </a:pPr>
            <a:r>
              <a:rPr sz="1400" b="0">
                <a:solidFill>
                  <a:srgbClr val="333333"/>
                </a:solidFill>
                <a:latin typeface="Calibri"/>
              </a:rPr>
              <a:t>Simple regressions and more complex machine learning models side by side, to allow interactions and nonlinear associations.</a:t>
            </a:r>
          </a:p>
        </p:txBody>
      </p:sp>
      <p:pic>
        <p:nvPicPr>
          <p:cNvPr id="9" name="Picture 8" descr="trophy_blue.png"/>
          <p:cNvPicPr>
            <a:picLocks noChangeAspect="1"/>
          </p:cNvPicPr>
          <p:nvPr/>
        </p:nvPicPr>
        <p:blipFill>
          <a:blip r:embed="rId4"/>
          <a:stretch>
            <a:fillRect/>
          </a:stretch>
        </p:blipFill>
        <p:spPr>
          <a:xfrm>
            <a:off x="932688" y="2880360"/>
            <a:ext cx="822960" cy="731520"/>
          </a:xfrm>
          <a:prstGeom prst="rect">
            <a:avLst/>
          </a:prstGeom>
        </p:spPr>
      </p:pic>
      <p:sp>
        <p:nvSpPr>
          <p:cNvPr id="10" name="TextBox 9"/>
          <p:cNvSpPr txBox="1"/>
          <p:nvPr/>
        </p:nvSpPr>
        <p:spPr>
          <a:xfrm>
            <a:off x="1984248" y="278892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best team wins</a:t>
            </a:r>
          </a:p>
          <a:p>
            <a:pPr algn="l">
              <a:spcBef>
                <a:spcPts val="300"/>
              </a:spcBef>
            </a:pPr>
            <a:r>
              <a:rPr sz="1400" b="0">
                <a:solidFill>
                  <a:srgbClr val="333333"/>
                </a:solidFill>
                <a:latin typeface="Calibri"/>
              </a:rPr>
              <a:t>A weighted combination of algorithms; the weights come from performance on data the algorithms did not see.</a:t>
            </a:r>
          </a:p>
        </p:txBody>
      </p:sp>
      <p:pic>
        <p:nvPicPr>
          <p:cNvPr id="11" name="Picture 10" descr="shuffle_blue.png"/>
          <p:cNvPicPr>
            <a:picLocks noChangeAspect="1"/>
          </p:cNvPicPr>
          <p:nvPr/>
        </p:nvPicPr>
        <p:blipFill>
          <a:blip r:embed="rId5"/>
          <a:stretch>
            <a:fillRect/>
          </a:stretch>
        </p:blipFill>
        <p:spPr>
          <a:xfrm>
            <a:off x="932688" y="3977640"/>
            <a:ext cx="731520" cy="731520"/>
          </a:xfrm>
          <a:prstGeom prst="rect">
            <a:avLst/>
          </a:prstGeom>
        </p:spPr>
      </p:pic>
      <p:sp>
        <p:nvSpPr>
          <p:cNvPr id="12" name="TextBox 11"/>
          <p:cNvSpPr txBox="1"/>
          <p:nvPr/>
        </p:nvSpPr>
        <p:spPr>
          <a:xfrm>
            <a:off x="1984248" y="388620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V-fold cross-validation</a:t>
            </a:r>
          </a:p>
          <a:p>
            <a:pPr algn="l">
              <a:spcBef>
                <a:spcPts val="300"/>
              </a:spcBef>
            </a:pPr>
            <a:r>
              <a:rPr sz="1400" b="0">
                <a:solidFill>
                  <a:srgbClr val="333333"/>
                </a:solidFill>
                <a:latin typeface="Calibri"/>
              </a:rPr>
              <a:t>Internal data splits by district, so that no district is in both training and validation; guards against overfitting.</a:t>
            </a:r>
          </a:p>
        </p:txBody>
      </p:sp>
      <p:pic>
        <p:nvPicPr>
          <p:cNvPr id="13" name="Picture 12" descr="book-open_blue.png"/>
          <p:cNvPicPr>
            <a:picLocks noChangeAspect="1"/>
          </p:cNvPicPr>
          <p:nvPr/>
        </p:nvPicPr>
        <p:blipFill>
          <a:blip r:embed="rId6"/>
          <a:stretch>
            <a:fillRect/>
          </a:stretch>
        </p:blipFill>
        <p:spPr>
          <a:xfrm>
            <a:off x="932688" y="5074920"/>
            <a:ext cx="822960" cy="731520"/>
          </a:xfrm>
          <a:prstGeom prst="rect">
            <a:avLst/>
          </a:prstGeom>
        </p:spPr>
      </p:pic>
      <p:sp>
        <p:nvSpPr>
          <p:cNvPr id="14" name="TextBox 13"/>
          <p:cNvSpPr txBox="1"/>
          <p:nvPr/>
        </p:nvSpPr>
        <p:spPr>
          <a:xfrm>
            <a:off x="1984248" y="4983480"/>
            <a:ext cx="6812280" cy="914400"/>
          </a:xfrm>
          <a:prstGeom prst="rect">
            <a:avLst/>
          </a:prstGeom>
          <a:noFill/>
        </p:spPr>
        <p:txBody>
          <a:bodyPr wrap="square" lIns="45720" tIns="27432" rIns="45720" bIns="27432" anchor="ctr">
            <a:spAutoFit/>
          </a:bodyPr>
          <a:lstStyle/>
          <a:p>
            <a:pPr algn="l"/>
            <a:r>
              <a:rPr sz="2000" b="1">
                <a:solidFill>
                  <a:srgbClr val="1F4E79"/>
                </a:solidFill>
                <a:latin typeface="Calibri"/>
              </a:rPr>
              <a:t>The library</a:t>
            </a:r>
          </a:p>
          <a:p>
            <a:pPr algn="l">
              <a:spcBef>
                <a:spcPts val="300"/>
              </a:spcBef>
            </a:pPr>
            <a:r>
              <a:rPr sz="1400" b="0">
                <a:solidFill>
                  <a:srgbClr val="333333"/>
                </a:solidFill>
                <a:latin typeface="Calibri"/>
              </a:rPr>
              <a:t>Simple mean, penalized regressions, random forest, gradient boosting, additive trees, geostatistical models, and the principal-component index that wins.</a:t>
            </a:r>
          </a:p>
        </p:txBody>
      </p:sp>
      <p:pic>
        <p:nvPicPr>
          <p:cNvPr id="15" name="Picture 14" descr="ensemble_vfold.png"/>
          <p:cNvPicPr>
            <a:picLocks noChangeAspect="1"/>
          </p:cNvPicPr>
          <p:nvPr/>
        </p:nvPicPr>
        <p:blipFill>
          <a:blip r:embed="rId7"/>
          <a:stretch>
            <a:fillRect/>
          </a:stretch>
        </p:blipFill>
        <p:spPr>
          <a:xfrm>
            <a:off x="9162288" y="1783080"/>
            <a:ext cx="2194560" cy="35323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does the best-performing model work?</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15</a:t>
            </a:fld>
            <a:endParaRPr lang="en-BG"/>
          </a:p>
        </p:txBody>
      </p:sp>
      <p:sp>
        <p:nvSpPr>
          <p:cNvPr id="7" name="Rounded Rectangle 6"/>
          <p:cNvSpPr/>
          <p:nvPr/>
        </p:nvSpPr>
        <p:spPr>
          <a:xfrm>
            <a:off x="84124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rrow-down-wide-short_blue.png"/>
          <p:cNvPicPr>
            <a:picLocks noChangeAspect="1"/>
          </p:cNvPicPr>
          <p:nvPr/>
        </p:nvPicPr>
        <p:blipFill>
          <a:blip r:embed="rId3"/>
          <a:stretch>
            <a:fillRect/>
          </a:stretch>
        </p:blipFill>
        <p:spPr>
          <a:xfrm>
            <a:off x="1692783" y="1874520"/>
            <a:ext cx="617220" cy="548640"/>
          </a:xfrm>
          <a:prstGeom prst="rect">
            <a:avLst/>
          </a:prstGeom>
        </p:spPr>
      </p:pic>
      <p:sp>
        <p:nvSpPr>
          <p:cNvPr id="9" name="TextBox 8"/>
          <p:cNvSpPr txBox="1"/>
          <p:nvPr/>
        </p:nvSpPr>
        <p:spPr>
          <a:xfrm>
            <a:off x="95097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1. Rank-normalize within country</a:t>
            </a:r>
          </a:p>
        </p:txBody>
      </p:sp>
      <p:sp>
        <p:nvSpPr>
          <p:cNvPr id="10" name="TextBox 9"/>
          <p:cNvSpPr txBox="1"/>
          <p:nvPr/>
        </p:nvSpPr>
        <p:spPr>
          <a:xfrm>
            <a:off x="97840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Every predictor becomes a within-country rank, so a level offset between surveys cannot act as signal.</a:t>
            </a:r>
          </a:p>
        </p:txBody>
      </p:sp>
      <p:sp>
        <p:nvSpPr>
          <p:cNvPr id="11" name="Chevron 10"/>
          <p:cNvSpPr/>
          <p:nvPr/>
        </p:nvSpPr>
        <p:spPr>
          <a:xfrm>
            <a:off x="322097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9587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layer-group_blue.png"/>
          <p:cNvPicPr>
            <a:picLocks noChangeAspect="1"/>
          </p:cNvPicPr>
          <p:nvPr/>
        </p:nvPicPr>
        <p:blipFill>
          <a:blip r:embed="rId4"/>
          <a:stretch>
            <a:fillRect/>
          </a:stretch>
        </p:blipFill>
        <p:spPr>
          <a:xfrm>
            <a:off x="4447413" y="1874520"/>
            <a:ext cx="617220" cy="548640"/>
          </a:xfrm>
          <a:prstGeom prst="rect">
            <a:avLst/>
          </a:prstGeom>
        </p:spPr>
      </p:pic>
      <p:sp>
        <p:nvSpPr>
          <p:cNvPr id="14" name="TextBox 13"/>
          <p:cNvSpPr txBox="1"/>
          <p:nvPr/>
        </p:nvSpPr>
        <p:spPr>
          <a:xfrm>
            <a:off x="370560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2. Domain components</a:t>
            </a:r>
          </a:p>
        </p:txBody>
      </p:sp>
      <p:sp>
        <p:nvSpPr>
          <p:cNvPr id="15" name="TextBox 14"/>
          <p:cNvSpPr txBox="1"/>
          <p:nvPr/>
        </p:nvSpPr>
        <p:spPr>
          <a:xfrm>
            <a:off x="373303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Leading principal components of each of the 29 domains, to 80% of variance, learned on the training districts only.</a:t>
            </a:r>
          </a:p>
        </p:txBody>
      </p:sp>
      <p:sp>
        <p:nvSpPr>
          <p:cNvPr id="16" name="Chevron 15"/>
          <p:cNvSpPr/>
          <p:nvPr/>
        </p:nvSpPr>
        <p:spPr>
          <a:xfrm>
            <a:off x="597560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050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scale-balanced_blue.png"/>
          <p:cNvPicPr>
            <a:picLocks noChangeAspect="1"/>
          </p:cNvPicPr>
          <p:nvPr/>
        </p:nvPicPr>
        <p:blipFill>
          <a:blip r:embed="rId5"/>
          <a:stretch>
            <a:fillRect/>
          </a:stretch>
        </p:blipFill>
        <p:spPr>
          <a:xfrm>
            <a:off x="7202043" y="1874520"/>
            <a:ext cx="685800" cy="548640"/>
          </a:xfrm>
          <a:prstGeom prst="rect">
            <a:avLst/>
          </a:prstGeom>
        </p:spPr>
      </p:pic>
      <p:sp>
        <p:nvSpPr>
          <p:cNvPr id="19" name="TextBox 18"/>
          <p:cNvSpPr txBox="1"/>
          <p:nvPr/>
        </p:nvSpPr>
        <p:spPr>
          <a:xfrm>
            <a:off x="646023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3. Weight by rank correlation</a:t>
            </a:r>
          </a:p>
        </p:txBody>
      </p:sp>
      <p:sp>
        <p:nvSpPr>
          <p:cNvPr id="20" name="TextBox 19"/>
          <p:cNvSpPr txBox="1"/>
          <p:nvPr/>
        </p:nvSpPr>
        <p:spPr>
          <a:xfrm>
            <a:off x="648766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Each component is weighted by its Spearman correlation with the outcome in the training fold; sign and size, nothing else is fitted.</a:t>
            </a:r>
          </a:p>
        </p:txBody>
      </p:sp>
      <p:sp>
        <p:nvSpPr>
          <p:cNvPr id="21" name="Chevron 20"/>
          <p:cNvSpPr/>
          <p:nvPr/>
        </p:nvSpPr>
        <p:spPr>
          <a:xfrm>
            <a:off x="873023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0513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plus_blue.png"/>
          <p:cNvPicPr>
            <a:picLocks noChangeAspect="1"/>
          </p:cNvPicPr>
          <p:nvPr/>
        </p:nvPicPr>
        <p:blipFill>
          <a:blip r:embed="rId6"/>
          <a:stretch>
            <a:fillRect/>
          </a:stretch>
        </p:blipFill>
        <p:spPr>
          <a:xfrm>
            <a:off x="9956673" y="1874520"/>
            <a:ext cx="480060" cy="548640"/>
          </a:xfrm>
          <a:prstGeom prst="rect">
            <a:avLst/>
          </a:prstGeom>
        </p:spPr>
      </p:pic>
      <p:sp>
        <p:nvSpPr>
          <p:cNvPr id="24" name="TextBox 23"/>
          <p:cNvSpPr txBox="1"/>
          <p:nvPr/>
        </p:nvSpPr>
        <p:spPr>
          <a:xfrm>
            <a:off x="9214866" y="2468880"/>
            <a:ext cx="2032254" cy="731520"/>
          </a:xfrm>
          <a:prstGeom prst="rect">
            <a:avLst/>
          </a:prstGeom>
          <a:noFill/>
        </p:spPr>
        <p:txBody>
          <a:bodyPr wrap="square" lIns="45720" tIns="27432" rIns="45720" bIns="27432" anchor="ctr">
            <a:spAutoFit/>
          </a:bodyPr>
          <a:lstStyle/>
          <a:p>
            <a:pPr algn="ctr"/>
            <a:r>
              <a:rPr sz="1500" b="1">
                <a:solidFill>
                  <a:srgbClr val="1F4E79"/>
                </a:solidFill>
                <a:latin typeface="Calibri"/>
              </a:rPr>
              <a:t>4. Sum and rescale</a:t>
            </a:r>
          </a:p>
        </p:txBody>
      </p:sp>
      <p:sp>
        <p:nvSpPr>
          <p:cNvPr id="25" name="TextBox 24"/>
          <p:cNvSpPr txBox="1"/>
          <p:nvPr/>
        </p:nvSpPr>
        <p:spPr>
          <a:xfrm>
            <a:off x="9242298" y="3246120"/>
            <a:ext cx="1977390" cy="1645920"/>
          </a:xfrm>
          <a:prstGeom prst="rect">
            <a:avLst/>
          </a:prstGeom>
          <a:noFill/>
        </p:spPr>
        <p:txBody>
          <a:bodyPr wrap="square" lIns="45720" tIns="27432" rIns="45720" bIns="27432" anchor="t">
            <a:spAutoFit/>
          </a:bodyPr>
          <a:lstStyle/>
          <a:p>
            <a:pPr algn="l"/>
            <a:r>
              <a:rPr sz="1250" b="0">
                <a:solidFill>
                  <a:srgbClr val="333333"/>
                </a:solidFill>
                <a:latin typeface="Calibri"/>
              </a:rPr>
              <a:t>The weighted sum, rescaled to the training outcome's spread; the infinite-penalty limit of a ridge regression on the components.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Three levels of prediction</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16</a:t>
            </a:fld>
            <a:endParaRPr lang="en-BG"/>
          </a:p>
        </p:txBody>
      </p:sp>
      <p:sp>
        <p:nvSpPr>
          <p:cNvPr id="7" name="Rounded Rectangle 6"/>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map-location-dot_blue.png"/>
          <p:cNvPicPr>
            <a:picLocks noChangeAspect="1"/>
          </p:cNvPicPr>
          <p:nvPr/>
        </p:nvPicPr>
        <p:blipFill>
          <a:blip r:embed="rId3"/>
          <a:stretch>
            <a:fillRect/>
          </a:stretch>
        </p:blipFill>
        <p:spPr>
          <a:xfrm>
            <a:off x="1999488" y="1920240"/>
            <a:ext cx="1028700" cy="914400"/>
          </a:xfrm>
          <a:prstGeom prst="rect">
            <a:avLst/>
          </a:prstGeom>
        </p:spPr>
      </p:pic>
      <p:sp>
        <p:nvSpPr>
          <p:cNvPr id="9" name="TextBox 8"/>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District in-fill</a:t>
            </a:r>
          </a:p>
        </p:txBody>
      </p:sp>
      <p:sp>
        <p:nvSpPr>
          <p:cNvPr id="10" name="TextBox 9"/>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 district the survey missed, in a country it visited</a:t>
            </a:r>
          </a:p>
          <a:p>
            <a:pPr algn="l">
              <a:spcBef>
                <a:spcPts val="300"/>
              </a:spcBef>
              <a:spcAft>
                <a:spcPts val="600"/>
              </a:spcAft>
            </a:pPr>
            <a:r>
              <a:rPr sz="1400" b="1">
                <a:solidFill>
                  <a:srgbClr val="1F4E79"/>
                </a:solidFill>
                <a:latin typeface="Calibri"/>
              </a:rPr>
              <a:t>Folds:</a:t>
            </a:r>
            <a:r>
              <a:rPr sz="1400">
                <a:solidFill>
                  <a:srgbClr val="333333"/>
                </a:solidFill>
                <a:latin typeface="Calibri"/>
              </a:rPr>
              <a:t> 5-fold by district, 10 draws</a:t>
            </a:r>
          </a:p>
          <a:p>
            <a:pPr algn="l">
              <a:spcBef>
                <a:spcPts val="300"/>
              </a:spcBef>
              <a:spcAft>
                <a:spcPts val="600"/>
              </a:spcAft>
            </a:pPr>
            <a:r>
              <a:rPr sz="1400" b="1">
                <a:solidFill>
                  <a:srgbClr val="1F4E79"/>
                </a:solidFill>
                <a:latin typeface="Calibri"/>
              </a:rPr>
              <a:t>Compared with:</a:t>
            </a:r>
            <a:r>
              <a:rPr sz="1400">
                <a:solidFill>
                  <a:srgbClr val="333333"/>
                </a:solidFill>
                <a:latin typeface="Calibri"/>
              </a:rPr>
              <a:t> the region's average (without that district); a spatial smoother</a:t>
            </a:r>
          </a:p>
        </p:txBody>
      </p:sp>
      <p:sp>
        <p:nvSpPr>
          <p:cNvPr id="11" name="Rounded Rectangle 10"/>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draw-polygon_blue.png"/>
          <p:cNvPicPr>
            <a:picLocks noChangeAspect="1"/>
          </p:cNvPicPr>
          <p:nvPr/>
        </p:nvPicPr>
        <p:blipFill>
          <a:blip r:embed="rId4"/>
          <a:stretch>
            <a:fillRect/>
          </a:stretch>
        </p:blipFill>
        <p:spPr>
          <a:xfrm>
            <a:off x="5641848" y="1920240"/>
            <a:ext cx="800100" cy="914400"/>
          </a:xfrm>
          <a:prstGeom prst="rect">
            <a:avLst/>
          </a:prstGeom>
        </p:spPr>
      </p:pic>
      <p:sp>
        <p:nvSpPr>
          <p:cNvPr id="13" name="TextBox 12"/>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Region extrapolation</a:t>
            </a:r>
          </a:p>
        </p:txBody>
      </p:sp>
      <p:sp>
        <p:nvSpPr>
          <p:cNvPr id="14" name="TextBox 13"/>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 whole unsurveyed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leave-one-region-out</a:t>
            </a:r>
          </a:p>
          <a:p>
            <a:pPr algn="l">
              <a:spcBef>
                <a:spcPts val="300"/>
              </a:spcBef>
              <a:spcAft>
                <a:spcPts val="600"/>
              </a:spcAft>
            </a:pPr>
            <a:r>
              <a:rPr sz="1400" b="1">
                <a:solidFill>
                  <a:srgbClr val="1F4E79"/>
                </a:solidFill>
                <a:latin typeface="Calibri"/>
              </a:rPr>
              <a:t>Compared with:</a:t>
            </a:r>
            <a:r>
              <a:rPr sz="1400">
                <a:solidFill>
                  <a:srgbClr val="333333"/>
                </a:solidFill>
                <a:latin typeface="Calibri"/>
              </a:rPr>
              <a:t> a spatial smoother</a:t>
            </a:r>
          </a:p>
        </p:txBody>
      </p:sp>
      <p:sp>
        <p:nvSpPr>
          <p:cNvPr id="15" name="Rounded Rectangle 14"/>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earth-africa_blue.png"/>
          <p:cNvPicPr>
            <a:picLocks noChangeAspect="1"/>
          </p:cNvPicPr>
          <p:nvPr/>
        </p:nvPicPr>
        <p:blipFill>
          <a:blip r:embed="rId5"/>
          <a:stretch>
            <a:fillRect/>
          </a:stretch>
        </p:blipFill>
        <p:spPr>
          <a:xfrm>
            <a:off x="9284208" y="1920240"/>
            <a:ext cx="914400" cy="914400"/>
          </a:xfrm>
          <a:prstGeom prst="rect">
            <a:avLst/>
          </a:prstGeom>
        </p:spPr>
      </p:pic>
      <p:sp>
        <p:nvSpPr>
          <p:cNvPr id="17" name="TextBox 16"/>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Cross-country transport</a:t>
            </a:r>
          </a:p>
        </p:txBody>
      </p:sp>
      <p:sp>
        <p:nvSpPr>
          <p:cNvPr id="18" name="TextBox 17"/>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Question:</a:t>
            </a:r>
            <a:r>
              <a:rPr sz="1400">
                <a:solidFill>
                  <a:srgbClr val="333333"/>
                </a:solidFill>
                <a:latin typeface="Calibri"/>
              </a:rPr>
              <a:t> a country with no biomarker survey</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leave-one-country-out</a:t>
            </a:r>
          </a:p>
          <a:p>
            <a:pPr algn="l">
              <a:spcBef>
                <a:spcPts val="300"/>
              </a:spcBef>
              <a:spcAft>
                <a:spcPts val="600"/>
              </a:spcAft>
            </a:pPr>
            <a:r>
              <a:rPr sz="1400" b="1">
                <a:solidFill>
                  <a:srgbClr val="1F4E79"/>
                </a:solidFill>
                <a:latin typeface="Calibri"/>
              </a:rPr>
              <a:t>Compared with:</a:t>
            </a:r>
            <a:r>
              <a:rPr sz="1400">
                <a:solidFill>
                  <a:srgbClr val="333333"/>
                </a:solidFill>
                <a:latin typeface="Calibri"/>
              </a:rPr>
              <a:t> chance (permutation with countries kept whole)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is held out at each level?</a:t>
            </a:r>
          </a:p>
        </p:txBody>
      </p:sp>
      <p:pic>
        <p:nvPicPr>
          <p:cNvPr id="3" name="Picture 1" descr="MN-proxy-full-talk-2026-09_files/figure-pptx/silhouettes-1.png"/>
          <p:cNvPicPr>
            <a:picLocks noGrp="1" noChangeAspect="1"/>
          </p:cNvPicPr>
          <p:nvPr/>
        </p:nvPicPr>
        <p:blipFill>
          <a:blip r:embed="rId4"/>
          <a:stretch>
            <a:fillRect/>
          </a:stretch>
        </p:blipFill>
        <p:spPr bwMode="auto">
          <a:xfrm>
            <a:off x="841248" y="1691640"/>
            <a:ext cx="10515600" cy="40259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17</a:t>
            </a:fld>
            <a:endParaRPr lang="en-BG"/>
          </a:p>
        </p:txBody>
      </p:sp>
    </p:spTree>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far off is the predicted prevalence, outcome by outcome?</a:t>
            </a:r>
          </a:p>
        </p:txBody>
      </p:sp>
      <p:pic>
        <p:nvPicPr>
          <p:cNvPr id="3" name="Picture 1" descr="MN-proxy-full-talk-2026-09_files/figure-pptx/cells-prev-1.png"/>
          <p:cNvPicPr>
            <a:picLocks noGrp="1" noChangeAspect="1"/>
          </p:cNvPicPr>
          <p:nvPr/>
        </p:nvPicPr>
        <p:blipFill>
          <a:blip r:embed="rId4"/>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18</a:t>
            </a:fld>
            <a:endParaRPr lang="en-BG"/>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far off is the predicted mean concentration, outcome by outcome?</a:t>
            </a:r>
          </a:p>
        </p:txBody>
      </p:sp>
      <p:pic>
        <p:nvPicPr>
          <p:cNvPr id="3" name="Picture 1" descr="MN-proxy-full-talk-2026-09_files/figure-pptx/cells-level-1.png"/>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19</a:t>
            </a:fld>
            <a:endParaRPr lang="en-B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rPr dirty="0"/>
              <a:t>Where do the rankings work?</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Where it works: iron, B12 and vitamin A where the deficiency is common, and everywhere the survey has several clusters per district.</a:t>
            </a:r>
          </a:p>
          <a:p>
            <a:pPr marL="0" lvl="0" indent="0">
              <a:buNone/>
            </a:pPr>
            <a:r>
              <a:rPr sz="1800"/>
              <a:t>Why not elsewhere: an outcome under 1% prevalence has nothing to rank, zinc carries no district signal, and a single-cluster district gives the survey too little to be compared with.</a:t>
            </a:r>
          </a:p>
        </p:txBody>
      </p:sp>
      <p:pic>
        <p:nvPicPr>
          <p:cNvPr id="4" name="Picture 1" descr="MN-proxy-full-talk-2026-09_files/figure-pptx/cells-scatter-1.png"/>
          <p:cNvPicPr>
            <a:picLocks noGrp="1" noChangeAspect="1"/>
          </p:cNvPicPr>
          <p:nvPr/>
        </p:nvPicPr>
        <p:blipFill>
          <a:blip r:embed="rId4"/>
          <a:stretch>
            <a:fillRect/>
          </a:stretch>
        </p:blipFill>
        <p:spPr bwMode="auto">
          <a:xfrm>
            <a:off x="6172200" y="2171700"/>
            <a:ext cx="5181600" cy="36449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20</a:t>
            </a:fld>
            <a:endParaRPr lang="en-BG"/>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The strongest outcome-country combinations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21</a:t>
            </a:fld>
            <a:endParaRPr lang="en-BG"/>
          </a:p>
        </p:txBody>
      </p:sp>
      <p:sp>
        <p:nvSpPr>
          <p:cNvPr id="7" name="Rounded Rectangle 6"/>
          <p:cNvSpPr/>
          <p:nvPr/>
        </p:nvSpPr>
        <p:spPr>
          <a:xfrm>
            <a:off x="8412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ranking-star_blue.png"/>
          <p:cNvPicPr>
            <a:picLocks noChangeAspect="1"/>
          </p:cNvPicPr>
          <p:nvPr/>
        </p:nvPicPr>
        <p:blipFill>
          <a:blip r:embed="rId4"/>
          <a:stretch>
            <a:fillRect/>
          </a:stretch>
        </p:blipFill>
        <p:spPr>
          <a:xfrm>
            <a:off x="1727073" y="1920240"/>
            <a:ext cx="857250" cy="685800"/>
          </a:xfrm>
          <a:prstGeom prst="rect">
            <a:avLst/>
          </a:prstGeom>
        </p:spPr>
      </p:pic>
      <p:sp>
        <p:nvSpPr>
          <p:cNvPr id="9" name="TextBox 8"/>
          <p:cNvSpPr txBox="1"/>
          <p:nvPr/>
        </p:nvSpPr>
        <p:spPr>
          <a:xfrm>
            <a:off x="93268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Malawi: women's B12</a:t>
            </a:r>
          </a:p>
        </p:txBody>
      </p:sp>
      <p:sp>
        <p:nvSpPr>
          <p:cNvPr id="10" name="TextBox 9"/>
          <p:cNvSpPr txBox="1"/>
          <p:nvPr/>
        </p:nvSpPr>
        <p:spPr>
          <a:xfrm>
            <a:off x="97840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0.70 (prevalence target 0.57)</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10.6 points (the region's average does as well)</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10%</a:t>
            </a:r>
          </a:p>
        </p:txBody>
      </p:sp>
      <p:sp>
        <p:nvSpPr>
          <p:cNvPr id="11" name="Rounded Rectangle 10"/>
          <p:cNvSpPr/>
          <p:nvPr/>
        </p:nvSpPr>
        <p:spPr>
          <a:xfrm>
            <a:off x="35272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ranking-star_blue.png"/>
          <p:cNvPicPr>
            <a:picLocks noChangeAspect="1"/>
          </p:cNvPicPr>
          <p:nvPr/>
        </p:nvPicPr>
        <p:blipFill>
          <a:blip r:embed="rId4"/>
          <a:stretch>
            <a:fillRect/>
          </a:stretch>
        </p:blipFill>
        <p:spPr>
          <a:xfrm>
            <a:off x="4413123" y="1920240"/>
            <a:ext cx="857250" cy="685800"/>
          </a:xfrm>
          <a:prstGeom prst="rect">
            <a:avLst/>
          </a:prstGeom>
        </p:spPr>
      </p:pic>
      <p:sp>
        <p:nvSpPr>
          <p:cNvPr id="13" name="TextBox 12"/>
          <p:cNvSpPr txBox="1"/>
          <p:nvPr/>
        </p:nvSpPr>
        <p:spPr>
          <a:xfrm>
            <a:off x="361873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The Gambia: women's vitamin A</a:t>
            </a:r>
          </a:p>
        </p:txBody>
      </p:sp>
      <p:sp>
        <p:nvSpPr>
          <p:cNvPr id="14" name="TextBox 13"/>
          <p:cNvSpPr txBox="1"/>
          <p:nvPr/>
        </p:nvSpPr>
        <p:spPr>
          <a:xfrm>
            <a:off x="366445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0.70 (prevalence target 0.43)</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2.4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2%</a:t>
            </a:r>
          </a:p>
        </p:txBody>
      </p:sp>
      <p:sp>
        <p:nvSpPr>
          <p:cNvPr id="15" name="Rounded Rectangle 14"/>
          <p:cNvSpPr/>
          <p:nvPr/>
        </p:nvSpPr>
        <p:spPr>
          <a:xfrm>
            <a:off x="62133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ranking-star_blue.png"/>
          <p:cNvPicPr>
            <a:picLocks noChangeAspect="1"/>
          </p:cNvPicPr>
          <p:nvPr/>
        </p:nvPicPr>
        <p:blipFill>
          <a:blip r:embed="rId4"/>
          <a:stretch>
            <a:fillRect/>
          </a:stretch>
        </p:blipFill>
        <p:spPr>
          <a:xfrm>
            <a:off x="7099173" y="1920240"/>
            <a:ext cx="857250" cy="685800"/>
          </a:xfrm>
          <a:prstGeom prst="rect">
            <a:avLst/>
          </a:prstGeom>
        </p:spPr>
      </p:pic>
      <p:sp>
        <p:nvSpPr>
          <p:cNvPr id="17" name="TextBox 16"/>
          <p:cNvSpPr txBox="1"/>
          <p:nvPr/>
        </p:nvSpPr>
        <p:spPr>
          <a:xfrm>
            <a:off x="630478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The Gambia: child vitamin A</a:t>
            </a:r>
          </a:p>
        </p:txBody>
      </p:sp>
      <p:sp>
        <p:nvSpPr>
          <p:cNvPr id="18" name="TextBox 17"/>
          <p:cNvSpPr txBox="1"/>
          <p:nvPr/>
        </p:nvSpPr>
        <p:spPr>
          <a:xfrm>
            <a:off x="635050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0.69 (prevalence target 0.58)</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10.3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16%</a:t>
            </a:r>
          </a:p>
        </p:txBody>
      </p:sp>
      <p:sp>
        <p:nvSpPr>
          <p:cNvPr id="19" name="Rounded Rectangle 18"/>
          <p:cNvSpPr/>
          <p:nvPr/>
        </p:nvSpPr>
        <p:spPr>
          <a:xfrm>
            <a:off x="88993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ranking-star_blue.png"/>
          <p:cNvPicPr>
            <a:picLocks noChangeAspect="1"/>
          </p:cNvPicPr>
          <p:nvPr/>
        </p:nvPicPr>
        <p:blipFill>
          <a:blip r:embed="rId4"/>
          <a:stretch>
            <a:fillRect/>
          </a:stretch>
        </p:blipFill>
        <p:spPr>
          <a:xfrm>
            <a:off x="9785223" y="1920240"/>
            <a:ext cx="857250" cy="685800"/>
          </a:xfrm>
          <a:prstGeom prst="rect">
            <a:avLst/>
          </a:prstGeom>
        </p:spPr>
      </p:pic>
      <p:sp>
        <p:nvSpPr>
          <p:cNvPr id="21" name="TextBox 20"/>
          <p:cNvSpPr txBox="1"/>
          <p:nvPr/>
        </p:nvSpPr>
        <p:spPr>
          <a:xfrm>
            <a:off x="8990838" y="2743200"/>
            <a:ext cx="2274570" cy="457200"/>
          </a:xfrm>
          <a:prstGeom prst="rect">
            <a:avLst/>
          </a:prstGeom>
          <a:noFill/>
        </p:spPr>
        <p:txBody>
          <a:bodyPr wrap="square" lIns="45720" tIns="27432" rIns="45720" bIns="27432" anchor="t">
            <a:spAutoFit/>
          </a:bodyPr>
          <a:lstStyle/>
          <a:p>
            <a:pPr algn="ctr"/>
            <a:r>
              <a:rPr sz="1700" b="1">
                <a:solidFill>
                  <a:srgbClr val="1F4E79"/>
                </a:solidFill>
                <a:latin typeface="Calibri"/>
              </a:rPr>
              <a:t>The Gambia: women's iron</a:t>
            </a:r>
          </a:p>
        </p:txBody>
      </p:sp>
      <p:sp>
        <p:nvSpPr>
          <p:cNvPr id="22" name="TextBox 21"/>
          <p:cNvSpPr txBox="1"/>
          <p:nvPr/>
        </p:nvSpPr>
        <p:spPr>
          <a:xfrm>
            <a:off x="9036558" y="3291840"/>
            <a:ext cx="2183130" cy="2514600"/>
          </a:xfrm>
          <a:prstGeom prst="rect">
            <a:avLst/>
          </a:prstGeom>
          <a:noFill/>
        </p:spPr>
        <p:txBody>
          <a:bodyPr wrap="square" lIns="45720" tIns="27432" rIns="45720" bIns="27432" anchor="t">
            <a:spAutoFit/>
          </a:bodyPr>
          <a:lstStyle/>
          <a:p>
            <a:pPr algn="l">
              <a:spcAft>
                <a:spcPts val="400"/>
              </a:spcAft>
            </a:pPr>
            <a:r>
              <a:rPr sz="1300" b="1">
                <a:solidFill>
                  <a:srgbClr val="1F4E79"/>
                </a:solidFill>
                <a:latin typeface="Calibri"/>
              </a:rPr>
              <a:t>Ranking, held out:</a:t>
            </a:r>
            <a:r>
              <a:rPr sz="1300">
                <a:solidFill>
                  <a:srgbClr val="333333"/>
                </a:solidFill>
                <a:latin typeface="Calibri"/>
              </a:rPr>
              <a:t> 0.68 (prevalence target 0.74)</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9.7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42%</a:t>
            </a:r>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Ghana: survey, held-out prediction, extrapolation and uncertainty</a:t>
            </a:r>
          </a:p>
        </p:txBody>
      </p:sp>
      <p:pic>
        <p:nvPicPr>
          <p:cNvPr id="3" name="Picture 1" descr="MN-proxy-full-talk-2026-09_files/figure-pptx/ghana-four-1.png"/>
          <p:cNvPicPr>
            <a:picLocks noGrp="1" noChangeAspect="1"/>
          </p:cNvPicPr>
          <p:nvPr/>
        </p:nvPicPr>
        <p:blipFill>
          <a:blip r:embed="rId4"/>
          <a:stretch>
            <a:fillRect/>
          </a:stretch>
        </p:blipFill>
        <p:spPr bwMode="auto">
          <a:xfrm>
            <a:off x="1044181" y="1691640"/>
            <a:ext cx="10109734"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22</a:t>
            </a:fld>
            <a:endParaRPr lang="en-BG"/>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How good are the models? One table, two readings</a:t>
            </a:r>
          </a:p>
        </p:txBody>
      </p:sp>
      <p:graphicFrame>
        <p:nvGraphicFramePr>
          <p:cNvPr id="6" name="Content Placeholder 5"/>
          <p:cNvGraphicFramePr>
            <a:graphicFrameLocks noGrp="1"/>
          </p:cNvGraphicFramePr>
          <p:nvPr>
            <p:ph idx="1"/>
          </p:nvPr>
        </p:nvGraphicFramePr>
        <p:xfrm>
          <a:off x="838200" y="1816100"/>
          <a:ext cx="5181600" cy="2499360"/>
        </p:xfrm>
        <a:graphic>
          <a:graphicData uri="http://schemas.openxmlformats.org/drawingml/2006/table">
            <a:tbl>
              <a:tblPr firstRow="1" bandRow="1">
                <a:tableStyleId>{5C22544A-7EE6-4342-B048-85BDC9FD1C3A}</a:tableStyleId>
              </a:tblPr>
              <a:tblGrid>
                <a:gridCol w="1054100">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tblGrid>
              <a:tr h="0">
                <a:tc>
                  <a:txBody>
                    <a:bodyPr/>
                    <a:lstStyle/>
                    <a:p>
                      <a:pPr marL="0" lvl="0" indent="0" algn="l">
                        <a:buNone/>
                      </a:pPr>
                      <a:r>
                        <a:rPr sz="1000"/>
                        <a:t>Outcome</a:t>
                      </a:r>
                    </a:p>
                  </a:txBody>
                  <a:tcPr/>
                </a:tc>
                <a:tc>
                  <a:txBody>
                    <a:bodyPr/>
                    <a:lstStyle/>
                    <a:p>
                      <a:pPr marL="0" lvl="0" indent="0" algn="r">
                        <a:buNone/>
                      </a:pPr>
                      <a:r>
                        <a:rPr sz="1000"/>
                        <a:t>Ranking, surveyed country</a:t>
                      </a:r>
                    </a:p>
                  </a:txBody>
                  <a:tcPr/>
                </a:tc>
                <a:tc>
                  <a:txBody>
                    <a:bodyPr/>
                    <a:lstStyle/>
                    <a:p>
                      <a:pPr marL="0" lvl="0" indent="0" algn="r">
                        <a:buNone/>
                      </a:pPr>
                      <a:r>
                        <a:rPr sz="1000"/>
                        <a:t>Ranking, new country</a:t>
                      </a:r>
                    </a:p>
                  </a:txBody>
                  <a:tcPr/>
                </a:tc>
                <a:tc>
                  <a:txBody>
                    <a:bodyPr/>
                    <a:lstStyle/>
                    <a:p>
                      <a:pPr marL="0" lvl="0" indent="0" algn="r">
                        <a:buNone/>
                      </a:pPr>
                      <a:r>
                        <a:rPr sz="1000"/>
                        <a:t>District error (points)</a:t>
                      </a:r>
                    </a:p>
                  </a:txBody>
                  <a:tcPr/>
                </a:tc>
                <a:extLst>
                  <a:ext uri="{0D108BD9-81ED-4DB2-BD59-A6C34878D82A}">
                    <a16:rowId xmlns:a16="http://schemas.microsoft.com/office/drawing/2014/main" val="10000"/>
                  </a:ext>
                </a:extLst>
              </a:tr>
              <a:tr h="0">
                <a:tc>
                  <a:txBody>
                    <a:bodyPr/>
                    <a:lstStyle/>
                    <a:p>
                      <a:pPr marL="0" lvl="0" indent="0" algn="l">
                        <a:buNone/>
                      </a:pPr>
                      <a:r>
                        <a:rPr sz="1000"/>
                        <a:t>Women’s B12</a:t>
                      </a:r>
                    </a:p>
                  </a:txBody>
                  <a:tcPr/>
                </a:tc>
                <a:tc>
                  <a:txBody>
                    <a:bodyPr/>
                    <a:lstStyle/>
                    <a:p>
                      <a:pPr marL="0" lvl="0" indent="0" algn="r">
                        <a:buNone/>
                      </a:pPr>
                      <a:r>
                        <a:rPr sz="1000"/>
                        <a:t>0.63</a:t>
                      </a:r>
                    </a:p>
                  </a:txBody>
                  <a:tcPr/>
                </a:tc>
                <a:tc>
                  <a:txBody>
                    <a:bodyPr/>
                    <a:lstStyle/>
                    <a:p>
                      <a:pPr marL="0" lvl="0" indent="0" algn="r">
                        <a:buNone/>
                      </a:pPr>
                      <a:r>
                        <a:rPr sz="1000"/>
                        <a:t>0.53</a:t>
                      </a:r>
                    </a:p>
                  </a:txBody>
                  <a:tcPr/>
                </a:tc>
                <a:tc>
                  <a:txBody>
                    <a:bodyPr/>
                    <a:lstStyle/>
                    <a:p>
                      <a:pPr marL="0" lvl="0" indent="0" algn="r">
                        <a:buNone/>
                      </a:pPr>
                      <a:r>
                        <a:rPr sz="1000"/>
                        <a:t>10.1</a:t>
                      </a:r>
                    </a:p>
                  </a:txBody>
                  <a:tcPr/>
                </a:tc>
                <a:extLst>
                  <a:ext uri="{0D108BD9-81ED-4DB2-BD59-A6C34878D82A}">
                    <a16:rowId xmlns:a16="http://schemas.microsoft.com/office/drawing/2014/main" val="10001"/>
                  </a:ext>
                </a:extLst>
              </a:tr>
              <a:tr h="0">
                <a:tc>
                  <a:txBody>
                    <a:bodyPr/>
                    <a:lstStyle/>
                    <a:p>
                      <a:pPr marL="0" lvl="0" indent="0" algn="l">
                        <a:buNone/>
                      </a:pPr>
                      <a:r>
                        <a:rPr sz="1000"/>
                        <a:t>Women’s vitamin A</a:t>
                      </a:r>
                    </a:p>
                  </a:txBody>
                  <a:tcPr/>
                </a:tc>
                <a:tc>
                  <a:txBody>
                    <a:bodyPr/>
                    <a:lstStyle/>
                    <a:p>
                      <a:pPr marL="0" lvl="0" indent="0" algn="r">
                        <a:buNone/>
                      </a:pPr>
                      <a:r>
                        <a:rPr sz="1000"/>
                        <a:t>0.49</a:t>
                      </a:r>
                    </a:p>
                  </a:txBody>
                  <a:tcPr/>
                </a:tc>
                <a:tc>
                  <a:txBody>
                    <a:bodyPr/>
                    <a:lstStyle/>
                    <a:p>
                      <a:pPr marL="0" lvl="0" indent="0" algn="r">
                        <a:buNone/>
                      </a:pPr>
                      <a:r>
                        <a:rPr sz="1000"/>
                        <a:t>0.32</a:t>
                      </a:r>
                    </a:p>
                  </a:txBody>
                  <a:tcPr/>
                </a:tc>
                <a:tc>
                  <a:txBody>
                    <a:bodyPr/>
                    <a:lstStyle/>
                    <a:p>
                      <a:pPr marL="0" lvl="0" indent="0" algn="r">
                        <a:buNone/>
                      </a:pPr>
                      <a:r>
                        <a:rPr sz="1000"/>
                        <a:t>2.5</a:t>
                      </a:r>
                    </a:p>
                  </a:txBody>
                  <a:tcPr/>
                </a:tc>
                <a:extLst>
                  <a:ext uri="{0D108BD9-81ED-4DB2-BD59-A6C34878D82A}">
                    <a16:rowId xmlns:a16="http://schemas.microsoft.com/office/drawing/2014/main" val="10002"/>
                  </a:ext>
                </a:extLst>
              </a:tr>
              <a:tr h="0">
                <a:tc>
                  <a:txBody>
                    <a:bodyPr/>
                    <a:lstStyle/>
                    <a:p>
                      <a:pPr marL="0" lvl="0" indent="0" algn="l">
                        <a:buNone/>
                      </a:pPr>
                      <a:r>
                        <a:rPr sz="1000"/>
                        <a:t>Women’s iron</a:t>
                      </a:r>
                    </a:p>
                  </a:txBody>
                  <a:tcPr/>
                </a:tc>
                <a:tc>
                  <a:txBody>
                    <a:bodyPr/>
                    <a:lstStyle/>
                    <a:p>
                      <a:pPr marL="0" lvl="0" indent="0" algn="r">
                        <a:buNone/>
                      </a:pPr>
                      <a:r>
                        <a:rPr sz="1000"/>
                        <a:t>0.44</a:t>
                      </a:r>
                    </a:p>
                  </a:txBody>
                  <a:tcPr/>
                </a:tc>
                <a:tc>
                  <a:txBody>
                    <a:bodyPr/>
                    <a:lstStyle/>
                    <a:p>
                      <a:pPr marL="0" lvl="0" indent="0" algn="r">
                        <a:buNone/>
                      </a:pPr>
                      <a:r>
                        <a:rPr sz="1000"/>
                        <a:t>0.28</a:t>
                      </a:r>
                    </a:p>
                  </a:txBody>
                  <a:tcPr/>
                </a:tc>
                <a:tc>
                  <a:txBody>
                    <a:bodyPr/>
                    <a:lstStyle/>
                    <a:p>
                      <a:pPr marL="0" lvl="0" indent="0" algn="r">
                        <a:buNone/>
                      </a:pPr>
                      <a:r>
                        <a:rPr sz="1000"/>
                        <a:t>14.1</a:t>
                      </a:r>
                    </a:p>
                  </a:txBody>
                  <a:tcPr/>
                </a:tc>
                <a:extLst>
                  <a:ext uri="{0D108BD9-81ED-4DB2-BD59-A6C34878D82A}">
                    <a16:rowId xmlns:a16="http://schemas.microsoft.com/office/drawing/2014/main" val="10003"/>
                  </a:ext>
                </a:extLst>
              </a:tr>
              <a:tr h="0">
                <a:tc>
                  <a:txBody>
                    <a:bodyPr/>
                    <a:lstStyle/>
                    <a:p>
                      <a:pPr marL="0" lvl="0" indent="0" algn="l">
                        <a:buNone/>
                      </a:pPr>
                      <a:r>
                        <a:rPr sz="1000"/>
                        <a:t>Child iron</a:t>
                      </a:r>
                    </a:p>
                  </a:txBody>
                  <a:tcPr/>
                </a:tc>
                <a:tc>
                  <a:txBody>
                    <a:bodyPr/>
                    <a:lstStyle/>
                    <a:p>
                      <a:pPr marL="0" lvl="0" indent="0" algn="r">
                        <a:buNone/>
                      </a:pPr>
                      <a:r>
                        <a:rPr sz="1000"/>
                        <a:t>0.43</a:t>
                      </a:r>
                    </a:p>
                  </a:txBody>
                  <a:tcPr/>
                </a:tc>
                <a:tc>
                  <a:txBody>
                    <a:bodyPr/>
                    <a:lstStyle/>
                    <a:p>
                      <a:pPr marL="0" lvl="0" indent="0" algn="r">
                        <a:buNone/>
                      </a:pPr>
                      <a:r>
                        <a:rPr sz="1000"/>
                        <a:t>0.28</a:t>
                      </a:r>
                    </a:p>
                  </a:txBody>
                  <a:tcPr/>
                </a:tc>
                <a:tc>
                  <a:txBody>
                    <a:bodyPr/>
                    <a:lstStyle/>
                    <a:p>
                      <a:pPr marL="0" lvl="0" indent="0" algn="r">
                        <a:buNone/>
                      </a:pPr>
                      <a:r>
                        <a:rPr sz="1000"/>
                        <a:t>14.8</a:t>
                      </a:r>
                    </a:p>
                  </a:txBody>
                  <a:tcPr/>
                </a:tc>
                <a:extLst>
                  <a:ext uri="{0D108BD9-81ED-4DB2-BD59-A6C34878D82A}">
                    <a16:rowId xmlns:a16="http://schemas.microsoft.com/office/drawing/2014/main" val="10004"/>
                  </a:ext>
                </a:extLst>
              </a:tr>
              <a:tr h="0">
                <a:tc>
                  <a:txBody>
                    <a:bodyPr/>
                    <a:lstStyle/>
                    <a:p>
                      <a:pPr marL="0" lvl="0" indent="0" algn="l">
                        <a:buNone/>
                      </a:pPr>
                      <a:r>
                        <a:rPr sz="1000"/>
                        <a:t>Child vitamin A</a:t>
                      </a:r>
                    </a:p>
                  </a:txBody>
                  <a:tcPr/>
                </a:tc>
                <a:tc>
                  <a:txBody>
                    <a:bodyPr/>
                    <a:lstStyle/>
                    <a:p>
                      <a:pPr marL="0" lvl="0" indent="0" algn="r">
                        <a:buNone/>
                      </a:pPr>
                      <a:r>
                        <a:rPr sz="1000"/>
                        <a:t>0.40</a:t>
                      </a:r>
                    </a:p>
                  </a:txBody>
                  <a:tcPr/>
                </a:tc>
                <a:tc>
                  <a:txBody>
                    <a:bodyPr/>
                    <a:lstStyle/>
                    <a:p>
                      <a:pPr marL="0" lvl="0" indent="0" algn="r">
                        <a:buNone/>
                      </a:pPr>
                      <a:r>
                        <a:rPr sz="1000"/>
                        <a:t>0.32</a:t>
                      </a:r>
                    </a:p>
                  </a:txBody>
                  <a:tcPr/>
                </a:tc>
                <a:tc>
                  <a:txBody>
                    <a:bodyPr/>
                    <a:lstStyle/>
                    <a:p>
                      <a:pPr marL="0" lvl="0" indent="0" algn="r">
                        <a:buNone/>
                      </a:pPr>
                      <a:r>
                        <a:rPr sz="1000"/>
                        <a:t>10.8</a:t>
                      </a:r>
                    </a:p>
                  </a:txBody>
                  <a:tcPr/>
                </a:tc>
                <a:extLst>
                  <a:ext uri="{0D108BD9-81ED-4DB2-BD59-A6C34878D82A}">
                    <a16:rowId xmlns:a16="http://schemas.microsoft.com/office/drawing/2014/main" val="10005"/>
                  </a:ext>
                </a:extLst>
              </a:tr>
              <a:tr h="0">
                <a:tc>
                  <a:txBody>
                    <a:bodyPr/>
                    <a:lstStyle/>
                    <a:p>
                      <a:pPr marL="0" lvl="0" indent="0" algn="l">
                        <a:buNone/>
                      </a:pPr>
                      <a:r>
                        <a:rPr sz="1000"/>
                        <a:t>Women’s folate</a:t>
                      </a:r>
                    </a:p>
                  </a:txBody>
                  <a:tcPr/>
                </a:tc>
                <a:tc>
                  <a:txBody>
                    <a:bodyPr/>
                    <a:lstStyle/>
                    <a:p>
                      <a:pPr marL="0" lvl="0" indent="0" algn="r">
                        <a:buNone/>
                      </a:pPr>
                      <a:r>
                        <a:rPr sz="1000"/>
                        <a:t>0.40</a:t>
                      </a:r>
                    </a:p>
                  </a:txBody>
                  <a:tcPr/>
                </a:tc>
                <a:tc>
                  <a:txBody>
                    <a:bodyPr/>
                    <a:lstStyle/>
                    <a:p>
                      <a:pPr marL="0" lvl="0" indent="0" algn="r">
                        <a:buNone/>
                      </a:pPr>
                      <a:r>
                        <a:rPr sz="1000"/>
                        <a:t>0.07</a:t>
                      </a:r>
                    </a:p>
                  </a:txBody>
                  <a:tcPr/>
                </a:tc>
                <a:tc>
                  <a:txBody>
                    <a:bodyPr/>
                    <a:lstStyle/>
                    <a:p>
                      <a:pPr marL="0" lvl="0" indent="0" algn="r">
                        <a:buNone/>
                      </a:pPr>
                      <a:r>
                        <a:rPr sz="1000"/>
                        <a:t>24.8</a:t>
                      </a:r>
                    </a:p>
                  </a:txBody>
                  <a:tcPr/>
                </a:tc>
                <a:extLst>
                  <a:ext uri="{0D108BD9-81ED-4DB2-BD59-A6C34878D82A}">
                    <a16:rowId xmlns:a16="http://schemas.microsoft.com/office/drawing/2014/main" val="10006"/>
                  </a:ext>
                </a:extLst>
              </a:tr>
              <a:tr h="0">
                <a:tc>
                  <a:txBody>
                    <a:bodyPr/>
                    <a:lstStyle/>
                    <a:p>
                      <a:pPr marL="0" lvl="0" indent="0" algn="l">
                        <a:buNone/>
                      </a:pPr>
                      <a:r>
                        <a:rPr sz="1000"/>
                        <a:t>Women’s zinc</a:t>
                      </a:r>
                    </a:p>
                  </a:txBody>
                  <a:tcPr/>
                </a:tc>
                <a:tc>
                  <a:txBody>
                    <a:bodyPr/>
                    <a:lstStyle/>
                    <a:p>
                      <a:pPr marL="0" lvl="0" indent="0" algn="r">
                        <a:buNone/>
                      </a:pPr>
                      <a:r>
                        <a:rPr sz="1000"/>
                        <a:t>-0.03</a:t>
                      </a:r>
                    </a:p>
                  </a:txBody>
                  <a:tcPr/>
                </a:tc>
                <a:tc>
                  <a:txBody>
                    <a:bodyPr/>
                    <a:lstStyle/>
                    <a:p>
                      <a:pPr marL="0" lvl="0" indent="0" algn="r">
                        <a:buNone/>
                      </a:pPr>
                      <a:r>
                        <a:rPr sz="1000"/>
                        <a:t>NA</a:t>
                      </a:r>
                    </a:p>
                  </a:txBody>
                  <a:tcPr/>
                </a:tc>
                <a:tc>
                  <a:txBody>
                    <a:bodyPr/>
                    <a:lstStyle/>
                    <a:p>
                      <a:pPr marL="0" lvl="0" indent="0" algn="r">
                        <a:buNone/>
                      </a:pPr>
                      <a:r>
                        <a:rPr sz="1000"/>
                        <a:t>31.6</a:t>
                      </a:r>
                    </a:p>
                  </a:txBody>
                  <a:tcPr/>
                </a:tc>
                <a:extLst>
                  <a:ext uri="{0D108BD9-81ED-4DB2-BD59-A6C34878D82A}">
                    <a16:rowId xmlns:a16="http://schemas.microsoft.com/office/drawing/2014/main" val="10007"/>
                  </a:ext>
                </a:extLst>
              </a:tr>
              <a:tr h="0">
                <a:tc>
                  <a:txBody>
                    <a:bodyPr/>
                    <a:lstStyle/>
                    <a:p>
                      <a:pPr marL="0" lvl="0" indent="0" algn="l">
                        <a:buNone/>
                      </a:pPr>
                      <a:r>
                        <a:rPr sz="1000"/>
                        <a:t>Child zinc</a:t>
                      </a:r>
                    </a:p>
                  </a:txBody>
                  <a:tcPr/>
                </a:tc>
                <a:tc>
                  <a:txBody>
                    <a:bodyPr/>
                    <a:lstStyle/>
                    <a:p>
                      <a:pPr marL="0" lvl="0" indent="0" algn="r">
                        <a:buNone/>
                      </a:pPr>
                      <a:r>
                        <a:rPr sz="1000"/>
                        <a:t>-0.11</a:t>
                      </a:r>
                    </a:p>
                  </a:txBody>
                  <a:tcPr/>
                </a:tc>
                <a:tc>
                  <a:txBody>
                    <a:bodyPr/>
                    <a:lstStyle/>
                    <a:p>
                      <a:pPr marL="0" lvl="0" indent="0" algn="r">
                        <a:buNone/>
                      </a:pPr>
                      <a:r>
                        <a:rPr sz="1000"/>
                        <a:t>NA</a:t>
                      </a:r>
                    </a:p>
                  </a:txBody>
                  <a:tcPr/>
                </a:tc>
                <a:tc>
                  <a:txBody>
                    <a:bodyPr/>
                    <a:lstStyle/>
                    <a:p>
                      <a:pPr marL="0" lvl="0" indent="0" algn="r">
                        <a:buNone/>
                      </a:pPr>
                      <a:r>
                        <a:rPr sz="1000"/>
                        <a:t>28.5</a:t>
                      </a:r>
                    </a:p>
                  </a:txBody>
                  <a:tcPr/>
                </a:tc>
                <a:extLst>
                  <a:ext uri="{0D108BD9-81ED-4DB2-BD59-A6C34878D82A}">
                    <a16:rowId xmlns:a16="http://schemas.microsoft.com/office/drawing/2014/main" val="10008"/>
                  </a:ext>
                </a:extLst>
              </a:tr>
            </a:tbl>
          </a:graphicData>
        </a:graphic>
      </p:graphicFrame>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p:txBody>
          <a:bodyPr/>
          <a:lstStyle/>
          <a:p>
            <a:pPr marL="0" lvl="0" indent="0">
              <a:buNone/>
            </a:pPr>
            <a:r>
              <a:rPr sz="1800" b="1"/>
              <a:t>Ranking.</a:t>
            </a:r>
            <a:r>
              <a:rPr sz="1800"/>
              <a:t> For every pair of districts, the survey says which is worse and so does the model, predicting each district with it held out. They agree on 60% of pairs inside a surveyed country: six in ten, against five in ten for a random ordering and 56% for the best you can do with survey data alone, the region’s average. In a country the model has never seen, 55%.</a:t>
            </a:r>
          </a:p>
          <a:p>
            <a:pPr marL="0" lvl="0" indent="0">
              <a:buNone/>
            </a:pPr>
            <a:r>
              <a:rPr sz="1800" b="1"/>
              <a:t>Level.</a:t>
            </a:r>
            <a:r>
              <a:rPr sz="1800"/>
              <a:t> Inside a surveyed country a district’s predicted prevalence is off by 13 to 16 percentage points on average (child iron), no better than the region’s average. In a new country, one small national sample (5% of a survey) plus the ranking gives 9.3 points; a district survey needs 25% of its full size to match that. Read levels as planning figures; the ranking is the product.</a:t>
            </a:r>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23</a:t>
            </a:fld>
            <a:endParaRPr lang="en-BG"/>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does a rank correlation of 0.40 mean on the ground?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24</a:t>
            </a:fld>
            <a:endParaRPr lang="en-BG"/>
          </a:p>
        </p:txBody>
      </p:sp>
      <p:pic>
        <p:nvPicPr>
          <p:cNvPr id="7" name="Picture 6" descr="right-left_blue.png"/>
          <p:cNvPicPr>
            <a:picLocks noChangeAspect="1"/>
          </p:cNvPicPr>
          <p:nvPr/>
        </p:nvPicPr>
        <p:blipFill>
          <a:blip r:embed="rId3"/>
          <a:stretch>
            <a:fillRect/>
          </a:stretch>
        </p:blipFill>
        <p:spPr>
          <a:xfrm>
            <a:off x="932688" y="1920240"/>
            <a:ext cx="822960" cy="822960"/>
          </a:xfrm>
          <a:prstGeom prst="rect">
            <a:avLst/>
          </a:prstGeom>
        </p:spPr>
      </p:pic>
      <p:sp>
        <p:nvSpPr>
          <p:cNvPr id="8" name="TextBox 7"/>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Take any two districts: the best model orders them the way the survey does 60% of the time</a:t>
            </a:r>
          </a:p>
          <a:p>
            <a:pPr algn="l">
              <a:spcBef>
                <a:spcPts val="300"/>
              </a:spcBef>
            </a:pPr>
            <a:r>
              <a:rPr sz="1400" b="0">
                <a:solidFill>
                  <a:srgbClr val="333333"/>
                </a:solidFill>
                <a:latin typeface="Calibri"/>
              </a:rPr>
              <a:t>Counted over every pair of districts. A random ordering gets 50% on average, the survey's own regional averages 56%; in a country the model has never seen, 55%.</a:t>
            </a:r>
          </a:p>
        </p:txBody>
      </p:sp>
      <p:pic>
        <p:nvPicPr>
          <p:cNvPr id="9" name="Picture 8" descr="flag_blue.png"/>
          <p:cNvPicPr>
            <a:picLocks noChangeAspect="1"/>
          </p:cNvPicPr>
          <p:nvPr/>
        </p:nvPicPr>
        <p:blipFill>
          <a:blip r:embed="rId4"/>
          <a:stretch>
            <a:fillRect/>
          </a:stretch>
        </p:blipFill>
        <p:spPr>
          <a:xfrm>
            <a:off x="932688" y="3383280"/>
            <a:ext cx="720090" cy="822960"/>
          </a:xfrm>
          <a:prstGeom prst="rect">
            <a:avLst/>
          </a:prstGeom>
        </p:spPr>
      </p:pic>
      <p:sp>
        <p:nvSpPr>
          <p:cNvPr id="10" name="TextBox 9"/>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In the fifth of districts it flags, deficiency runs at 32% against 24% nationally</a:t>
            </a:r>
          </a:p>
          <a:p>
            <a:pPr algn="l">
              <a:spcBef>
                <a:spcPts val="300"/>
              </a:spcBef>
            </a:pPr>
            <a:r>
              <a:rPr sz="1400" b="0">
                <a:solidFill>
                  <a:srgbClr val="333333"/>
                </a:solidFill>
                <a:latin typeface="Calibri"/>
              </a:rPr>
              <a:t>A map that knew every district would find 41% in its worst fifth.</a:t>
            </a:r>
          </a:p>
        </p:txBody>
      </p:sp>
      <p:pic>
        <p:nvPicPr>
          <p:cNvPr id="11" name="Picture 10" descr="people-group_blue.png"/>
          <p:cNvPicPr>
            <a:picLocks noChangeAspect="1"/>
          </p:cNvPicPr>
          <p:nvPr/>
        </p:nvPicPr>
        <p:blipFill>
          <a:blip r:embed="rId5"/>
          <a:stretch>
            <a:fillRect/>
          </a:stretch>
        </p:blipFill>
        <p:spPr>
          <a:xfrm>
            <a:off x="932688" y="4846320"/>
            <a:ext cx="1028700" cy="822960"/>
          </a:xfrm>
          <a:prstGeom prst="rect">
            <a:avLst/>
          </a:prstGeom>
        </p:spPr>
      </p:pic>
      <p:sp>
        <p:nvSpPr>
          <p:cNvPr id="12" name="TextBox 11"/>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That fifth holds 22% of the deficient people</a:t>
            </a:r>
          </a:p>
          <a:p>
            <a:pPr algn="l">
              <a:spcBef>
                <a:spcPts val="300"/>
              </a:spcBef>
            </a:pPr>
            <a:r>
              <a:rPr sz="1400" b="0">
                <a:solidFill>
                  <a:srgbClr val="333333"/>
                </a:solidFill>
                <a:latin typeface="Calibri"/>
              </a:rPr>
              <a:t>The survey's own regional averages capture 20%; a perfect map 48%. Real, modest, and better than today's number.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much of what a survey can see does the model recover?</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25</a:t>
            </a:fld>
            <a:endParaRPr lang="en-BG"/>
          </a:p>
        </p:txBody>
      </p:sp>
      <p:pic>
        <p:nvPicPr>
          <p:cNvPr id="7" name="Picture 6" descr="wave-square_blue.png"/>
          <p:cNvPicPr>
            <a:picLocks noChangeAspect="1"/>
          </p:cNvPicPr>
          <p:nvPr/>
        </p:nvPicPr>
        <p:blipFill>
          <a:blip r:embed="rId3"/>
          <a:stretch>
            <a:fillRect/>
          </a:stretch>
        </p:blipFill>
        <p:spPr>
          <a:xfrm>
            <a:off x="932688" y="1920240"/>
            <a:ext cx="1028700" cy="822960"/>
          </a:xfrm>
          <a:prstGeom prst="rect">
            <a:avLst/>
          </a:prstGeom>
        </p:spPr>
      </p:pic>
      <p:sp>
        <p:nvSpPr>
          <p:cNvPr id="8" name="TextBox 7"/>
          <p:cNvSpPr txBox="1"/>
          <p:nvPr/>
        </p:nvSpPr>
        <p:spPr>
          <a:xfrm>
            <a:off x="1984248" y="169164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The survey itself is noisy at district level: a perfect predictor would score only 0.48</a:t>
            </a:r>
          </a:p>
          <a:p>
            <a:pPr algn="l">
              <a:spcBef>
                <a:spcPts val="300"/>
              </a:spcBef>
            </a:pPr>
            <a:r>
              <a:rPr sz="1400" b="0">
                <a:solidFill>
                  <a:srgbClr val="333333"/>
                </a:solidFill>
                <a:latin typeface="Calibri"/>
              </a:rPr>
              <a:t>Known from a variance model of respondents within clusters within districts: it says how much of the district-to-district variation is real.</a:t>
            </a:r>
          </a:p>
        </p:txBody>
      </p:sp>
      <p:pic>
        <p:nvPicPr>
          <p:cNvPr id="9" name="Picture 8" descr="gauge-high_blue.png"/>
          <p:cNvPicPr>
            <a:picLocks noChangeAspect="1"/>
          </p:cNvPicPr>
          <p:nvPr/>
        </p:nvPicPr>
        <p:blipFill>
          <a:blip r:embed="rId4"/>
          <a:stretch>
            <a:fillRect/>
          </a:stretch>
        </p:blipFill>
        <p:spPr>
          <a:xfrm>
            <a:off x="932688" y="3383280"/>
            <a:ext cx="822960" cy="822960"/>
          </a:xfrm>
          <a:prstGeom prst="rect">
            <a:avLst/>
          </a:prstGeom>
        </p:spPr>
      </p:pic>
      <p:sp>
        <p:nvSpPr>
          <p:cNvPr id="10" name="TextBox 9"/>
          <p:cNvSpPr txBox="1"/>
          <p:nvPr/>
        </p:nvSpPr>
        <p:spPr>
          <a:xfrm>
            <a:off x="1984248" y="315468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The model reaches 59% of that ceiling</a:t>
            </a:r>
          </a:p>
          <a:p>
            <a:pPr algn="l">
              <a:spcBef>
                <a:spcPts val="300"/>
              </a:spcBef>
            </a:pPr>
            <a:r>
              <a:rPr sz="1400" b="0">
                <a:solidFill>
                  <a:srgbClr val="333333"/>
                </a:solidFill>
                <a:latin typeface="Calibri"/>
              </a:rPr>
              <a:t>0.28 on the prevalence target against a ceiling of 0.48. The gap is mostly the survey's noise, not the model's ignorance.</a:t>
            </a:r>
          </a:p>
        </p:txBody>
      </p:sp>
      <p:pic>
        <p:nvPicPr>
          <p:cNvPr id="11" name="Picture 10" descr="building-columns_blue.png"/>
          <p:cNvPicPr>
            <a:picLocks noChangeAspect="1"/>
          </p:cNvPicPr>
          <p:nvPr/>
        </p:nvPicPr>
        <p:blipFill>
          <a:blip r:embed="rId5"/>
          <a:stretch>
            <a:fillRect/>
          </a:stretch>
        </p:blipFill>
        <p:spPr>
          <a:xfrm>
            <a:off x="932688" y="4846320"/>
            <a:ext cx="822960" cy="822960"/>
          </a:xfrm>
          <a:prstGeom prst="rect">
            <a:avLst/>
          </a:prstGeom>
        </p:spPr>
      </p:pic>
      <p:sp>
        <p:nvSpPr>
          <p:cNvPr id="12" name="TextBox 11"/>
          <p:cNvSpPr txBox="1"/>
          <p:nvPr/>
        </p:nvSpPr>
        <p:spPr>
          <a:xfrm>
            <a:off x="1984248" y="4617720"/>
            <a:ext cx="9326880" cy="1280160"/>
          </a:xfrm>
          <a:prstGeom prst="rect">
            <a:avLst/>
          </a:prstGeom>
          <a:noFill/>
        </p:spPr>
        <p:txBody>
          <a:bodyPr wrap="square" lIns="45720" tIns="27432" rIns="45720" bIns="27432" anchor="ctr">
            <a:spAutoFit/>
          </a:bodyPr>
          <a:lstStyle/>
          <a:p>
            <a:pPr algn="l"/>
            <a:r>
              <a:rPr sz="2000" b="1">
                <a:solidFill>
                  <a:srgbClr val="1F4E79"/>
                </a:solidFill>
                <a:latin typeface="Calibri"/>
              </a:rPr>
              <a:t>And beats the best prediction you can make from survey data alone</a:t>
            </a:r>
          </a:p>
          <a:p>
            <a:pPr algn="l">
              <a:spcBef>
                <a:spcPts val="300"/>
              </a:spcBef>
            </a:pPr>
            <a:r>
              <a:rPr sz="1400" b="0">
                <a:solidFill>
                  <a:srgbClr val="333333"/>
                </a:solidFill>
                <a:latin typeface="Calibri"/>
              </a:rPr>
              <a:t>The region's average, computed without the district itself: 0.31; the model 0.40, better in 13 of 18 outcome-country combinations.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the model put districts in the right severity band?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26</a:t>
            </a:fld>
            <a:endParaRPr lang="en-BG"/>
          </a:p>
        </p:txBody>
      </p:sp>
      <p:sp>
        <p:nvSpPr>
          <p:cNvPr id="7" name="Rounded Rectangle 6"/>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bullseye_blue.png"/>
          <p:cNvPicPr>
            <a:picLocks noChangeAspect="1"/>
          </p:cNvPicPr>
          <p:nvPr/>
        </p:nvPicPr>
        <p:blipFill>
          <a:blip r:embed="rId3"/>
          <a:stretch>
            <a:fillRect/>
          </a:stretch>
        </p:blipFill>
        <p:spPr>
          <a:xfrm>
            <a:off x="1999488" y="1920240"/>
            <a:ext cx="914400" cy="914400"/>
          </a:xfrm>
          <a:prstGeom prst="rect">
            <a:avLst/>
          </a:prstGeom>
        </p:spPr>
      </p:pic>
      <p:sp>
        <p:nvSpPr>
          <p:cNvPr id="9" name="TextBox 8"/>
          <p:cNvSpPr txBox="1"/>
          <p:nvPr/>
        </p:nvSpPr>
        <p:spPr>
          <a:xfrm>
            <a:off x="93268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Exact WHO band</a:t>
            </a:r>
          </a:p>
        </p:txBody>
      </p:sp>
      <p:sp>
        <p:nvSpPr>
          <p:cNvPr id="10" name="TextBox 9"/>
          <p:cNvSpPr txBox="1"/>
          <p:nvPr/>
        </p:nvSpPr>
        <p:spPr>
          <a:xfrm>
            <a:off x="111556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64%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66%</a:t>
            </a:r>
          </a:p>
          <a:p>
            <a:pPr algn="l">
              <a:spcBef>
                <a:spcPts val="300"/>
              </a:spcBef>
              <a:spcAft>
                <a:spcPts val="600"/>
              </a:spcAft>
            </a:pPr>
            <a:r>
              <a:rPr sz="1400" b="1">
                <a:solidFill>
                  <a:srgbClr val="1F4E79"/>
                </a:solidFill>
                <a:latin typeface="Calibri"/>
              </a:rPr>
              <a:t>Bands:</a:t>
            </a:r>
            <a:r>
              <a:rPr sz="1400">
                <a:solidFill>
                  <a:srgbClr val="333333"/>
                </a:solidFill>
                <a:latin typeface="Calibri"/>
              </a:rPr>
              <a:t> under 2%, 2 to 10, 10 to 20, 20% or more (vitamin A); each district held out</a:t>
            </a:r>
          </a:p>
        </p:txBody>
      </p:sp>
      <p:sp>
        <p:nvSpPr>
          <p:cNvPr id="11" name="Rounded Rectangle 10"/>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ircle-half-stroke_blue.png"/>
          <p:cNvPicPr>
            <a:picLocks noChangeAspect="1"/>
          </p:cNvPicPr>
          <p:nvPr/>
        </p:nvPicPr>
        <p:blipFill>
          <a:blip r:embed="rId4"/>
          <a:stretch>
            <a:fillRect/>
          </a:stretch>
        </p:blipFill>
        <p:spPr>
          <a:xfrm>
            <a:off x="5641848" y="1920240"/>
            <a:ext cx="914400" cy="914400"/>
          </a:xfrm>
          <a:prstGeom prst="rect">
            <a:avLst/>
          </a:prstGeom>
        </p:spPr>
      </p:pic>
      <p:sp>
        <p:nvSpPr>
          <p:cNvPr id="13" name="TextBox 12"/>
          <p:cNvSpPr txBox="1"/>
          <p:nvPr/>
        </p:nvSpPr>
        <p:spPr>
          <a:xfrm>
            <a:off x="457504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Within one band</a:t>
            </a:r>
          </a:p>
        </p:txBody>
      </p:sp>
      <p:sp>
        <p:nvSpPr>
          <p:cNvPr id="14" name="TextBox 13"/>
          <p:cNvSpPr txBox="1"/>
          <p:nvPr/>
        </p:nvSpPr>
        <p:spPr>
          <a:xfrm>
            <a:off x="475792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91%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94%</a:t>
            </a:r>
          </a:p>
          <a:p>
            <a:pPr algn="l">
              <a:spcBef>
                <a:spcPts val="300"/>
              </a:spcBef>
              <a:spcAft>
                <a:spcPts val="600"/>
              </a:spcAft>
            </a:pPr>
            <a:r>
              <a:rPr sz="1400" b="0">
                <a:solidFill>
                  <a:srgbClr val="333333"/>
                </a:solidFill>
                <a:latin typeface="Calibri"/>
              </a:rPr>
              <a:t>A district the survey calls severe is placed severe or moderate</a:t>
            </a:r>
          </a:p>
        </p:txBody>
      </p:sp>
      <p:sp>
        <p:nvSpPr>
          <p:cNvPr id="15" name="Rounded Rectangle 14"/>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triangle-exclamation_blue.png"/>
          <p:cNvPicPr>
            <a:picLocks noChangeAspect="1"/>
          </p:cNvPicPr>
          <p:nvPr/>
        </p:nvPicPr>
        <p:blipFill>
          <a:blip r:embed="rId5"/>
          <a:stretch>
            <a:fillRect/>
          </a:stretch>
        </p:blipFill>
        <p:spPr>
          <a:xfrm>
            <a:off x="9284208" y="1920240"/>
            <a:ext cx="914400" cy="914400"/>
          </a:xfrm>
          <a:prstGeom prst="rect">
            <a:avLst/>
          </a:prstGeom>
        </p:spPr>
      </p:pic>
      <p:sp>
        <p:nvSpPr>
          <p:cNvPr id="17" name="TextBox 16"/>
          <p:cNvSpPr txBox="1"/>
          <p:nvPr/>
        </p:nvSpPr>
        <p:spPr>
          <a:xfrm>
            <a:off x="8217408" y="2971800"/>
            <a:ext cx="3048000" cy="457200"/>
          </a:xfrm>
          <a:prstGeom prst="rect">
            <a:avLst/>
          </a:prstGeom>
          <a:noFill/>
        </p:spPr>
        <p:txBody>
          <a:bodyPr wrap="square" lIns="45720" tIns="27432" rIns="45720" bIns="27432" anchor="t">
            <a:spAutoFit/>
          </a:bodyPr>
          <a:lstStyle/>
          <a:p>
            <a:pPr algn="ctr"/>
            <a:r>
              <a:rPr sz="2000" b="1">
                <a:solidFill>
                  <a:srgbClr val="1F4E79"/>
                </a:solidFill>
                <a:latin typeface="Calibri"/>
              </a:rPr>
              <a:t>Two or more bands wrong</a:t>
            </a:r>
          </a:p>
        </p:txBody>
      </p:sp>
      <p:sp>
        <p:nvSpPr>
          <p:cNvPr id="18" name="TextBox 17"/>
          <p:cNvSpPr txBox="1"/>
          <p:nvPr/>
        </p:nvSpPr>
        <p:spPr>
          <a:xfrm>
            <a:off x="8400288" y="3520440"/>
            <a:ext cx="2682240" cy="2286000"/>
          </a:xfrm>
          <a:prstGeom prst="rect">
            <a:avLst/>
          </a:prstGeom>
          <a:noFill/>
        </p:spPr>
        <p:txBody>
          <a:bodyPr wrap="square" lIns="45720" tIns="27432" rIns="45720" bIns="27432" anchor="t">
            <a:spAutoFit/>
          </a:bodyPr>
          <a:lstStyle/>
          <a:p>
            <a:pPr algn="l">
              <a:spcAft>
                <a:spcPts val="600"/>
              </a:spcAft>
            </a:pPr>
            <a:r>
              <a:rPr sz="1400" b="1">
                <a:solidFill>
                  <a:srgbClr val="1F4E79"/>
                </a:solidFill>
                <a:latin typeface="Calibri"/>
              </a:rPr>
              <a:t>Model:</a:t>
            </a:r>
            <a:r>
              <a:rPr sz="1400">
                <a:solidFill>
                  <a:srgbClr val="333333"/>
                </a:solidFill>
                <a:latin typeface="Calibri"/>
              </a:rPr>
              <a:t> 9%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a:t>
            </a:r>
          </a:p>
          <a:p>
            <a:pPr algn="l">
              <a:spcBef>
                <a:spcPts val="300"/>
              </a:spcBef>
              <a:spcAft>
                <a:spcPts val="600"/>
              </a:spcAft>
            </a:pPr>
            <a:r>
              <a:rPr sz="1400" b="0">
                <a:solidFill>
                  <a:srgbClr val="333333"/>
                </a:solidFill>
                <a:latin typeface="Calibri"/>
              </a:rPr>
              <a:t>The error a severity map cannot afford; in a new country the level comes from the national anchor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decisions are our models good enough for?</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27</a:t>
            </a:fld>
            <a:endParaRPr lang="en-BG"/>
          </a:p>
        </p:txBody>
      </p:sp>
      <p:sp>
        <p:nvSpPr>
          <p:cNvPr id="7" name="Rounded Rectangle 6"/>
          <p:cNvSpPr/>
          <p:nvPr/>
        </p:nvSpPr>
        <p:spPr>
          <a:xfrm>
            <a:off x="841248" y="1691640"/>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3"/>
          <a:stretch>
            <a:fillRect/>
          </a:stretch>
        </p:blipFill>
        <p:spPr>
          <a:xfrm>
            <a:off x="1069848" y="1900123"/>
            <a:ext cx="320040" cy="365760"/>
          </a:xfrm>
          <a:prstGeom prst="rect">
            <a:avLst/>
          </a:prstGeom>
        </p:spPr>
      </p:pic>
      <p:sp>
        <p:nvSpPr>
          <p:cNvPr id="9" name="TextBox 8"/>
          <p:cNvSpPr txBox="1"/>
          <p:nvPr/>
        </p:nvSpPr>
        <p:spPr>
          <a:xfrm>
            <a:off x="1618488" y="1691640"/>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Which districts to visit, assess or enrol first</a:t>
            </a:r>
          </a:p>
        </p:txBody>
      </p:sp>
      <p:sp>
        <p:nvSpPr>
          <p:cNvPr id="10" name="TextBox 9"/>
          <p:cNvSpPr txBox="1"/>
          <p:nvPr/>
        </p:nvSpPr>
        <p:spPr>
          <a:xfrm>
            <a:off x="6784848" y="1691640"/>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Needs an order, not a number: 60% of district pairs ordered as the survey does, against 56% for the regional average.</a:t>
            </a:r>
          </a:p>
        </p:txBody>
      </p:sp>
      <p:sp>
        <p:nvSpPr>
          <p:cNvPr id="11" name="Rounded Rectangle 10"/>
          <p:cNvSpPr/>
          <p:nvPr/>
        </p:nvSpPr>
        <p:spPr>
          <a:xfrm>
            <a:off x="841248" y="2547518"/>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check_green.png"/>
          <p:cNvPicPr>
            <a:picLocks noChangeAspect="1"/>
          </p:cNvPicPr>
          <p:nvPr/>
        </p:nvPicPr>
        <p:blipFill>
          <a:blip r:embed="rId3"/>
          <a:stretch>
            <a:fillRect/>
          </a:stretch>
        </p:blipFill>
        <p:spPr>
          <a:xfrm>
            <a:off x="1069848" y="2756001"/>
            <a:ext cx="320040" cy="365760"/>
          </a:xfrm>
          <a:prstGeom prst="rect">
            <a:avLst/>
          </a:prstGeom>
        </p:spPr>
      </p:pic>
      <p:sp>
        <p:nvSpPr>
          <p:cNvPr id="13" name="TextBox 12"/>
          <p:cNvSpPr txBox="1"/>
          <p:nvPr/>
        </p:nvSpPr>
        <p:spPr>
          <a:xfrm>
            <a:off x="1618488" y="2547518"/>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Where the next survey puts its clusters</a:t>
            </a:r>
          </a:p>
        </p:txBody>
      </p:sp>
      <p:sp>
        <p:nvSpPr>
          <p:cNvPr id="14" name="TextBox 13"/>
          <p:cNvSpPr txBox="1"/>
          <p:nvPr/>
        </p:nvSpPr>
        <p:spPr>
          <a:xfrm>
            <a:off x="6784848" y="2547518"/>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The ranking is the input to the anchor-and-rank design.</a:t>
            </a:r>
          </a:p>
        </p:txBody>
      </p:sp>
      <p:sp>
        <p:nvSpPr>
          <p:cNvPr id="15" name="Rounded Rectangle 14"/>
          <p:cNvSpPr/>
          <p:nvPr/>
        </p:nvSpPr>
        <p:spPr>
          <a:xfrm>
            <a:off x="841248" y="3403396"/>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heck_green.png"/>
          <p:cNvPicPr>
            <a:picLocks noChangeAspect="1"/>
          </p:cNvPicPr>
          <p:nvPr/>
        </p:nvPicPr>
        <p:blipFill>
          <a:blip r:embed="rId3"/>
          <a:stretch>
            <a:fillRect/>
          </a:stretch>
        </p:blipFill>
        <p:spPr>
          <a:xfrm>
            <a:off x="1069848" y="3611880"/>
            <a:ext cx="320040" cy="365760"/>
          </a:xfrm>
          <a:prstGeom prst="rect">
            <a:avLst/>
          </a:prstGeom>
        </p:spPr>
      </p:pic>
      <p:sp>
        <p:nvSpPr>
          <p:cNvPr id="17" name="TextBox 16"/>
          <p:cNvSpPr txBox="1"/>
          <p:nvPr/>
        </p:nvSpPr>
        <p:spPr>
          <a:xfrm>
            <a:off x="1618488" y="3403396"/>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Sequencing a program roll-out across districts</a:t>
            </a:r>
          </a:p>
        </p:txBody>
      </p:sp>
      <p:sp>
        <p:nvSpPr>
          <p:cNvPr id="18" name="TextBox 17"/>
          <p:cNvSpPr txBox="1"/>
          <p:nvPr/>
        </p:nvSpPr>
        <p:spPr>
          <a:xfrm>
            <a:off x="6784848" y="3403396"/>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Same reason; the order is what the roll-out needs.</a:t>
            </a:r>
          </a:p>
        </p:txBody>
      </p:sp>
      <p:sp>
        <p:nvSpPr>
          <p:cNvPr id="19" name="Rounded Rectangle 18"/>
          <p:cNvSpPr/>
          <p:nvPr/>
        </p:nvSpPr>
        <p:spPr>
          <a:xfrm>
            <a:off x="841248" y="4259275"/>
            <a:ext cx="10515600" cy="782726"/>
          </a:xfrm>
          <a:prstGeom prst="roundRect">
            <a:avLst>
              <a:gd name="adj" fmla="val 9345"/>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riangle-exclamation_amber.png"/>
          <p:cNvPicPr>
            <a:picLocks noChangeAspect="1"/>
          </p:cNvPicPr>
          <p:nvPr/>
        </p:nvPicPr>
        <p:blipFill>
          <a:blip r:embed="rId4"/>
          <a:stretch>
            <a:fillRect/>
          </a:stretch>
        </p:blipFill>
        <p:spPr>
          <a:xfrm>
            <a:off x="1069848" y="4467758"/>
            <a:ext cx="365760" cy="365760"/>
          </a:xfrm>
          <a:prstGeom prst="rect">
            <a:avLst/>
          </a:prstGeom>
        </p:spPr>
      </p:pic>
      <p:sp>
        <p:nvSpPr>
          <p:cNvPr id="21" name="TextBox 20"/>
          <p:cNvSpPr txBox="1"/>
          <p:nvPr/>
        </p:nvSpPr>
        <p:spPr>
          <a:xfrm>
            <a:off x="1618488" y="4259275"/>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planning prevalence for a district</a:t>
            </a:r>
          </a:p>
        </p:txBody>
      </p:sp>
      <p:sp>
        <p:nvSpPr>
          <p:cNvPr id="22" name="TextBox 21"/>
          <p:cNvSpPr txBox="1"/>
          <p:nvPr/>
        </p:nvSpPr>
        <p:spPr>
          <a:xfrm>
            <a:off x="6784848" y="4259275"/>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Only with a national anchor: 9.3 points median error at a 5% national sample.</a:t>
            </a:r>
          </a:p>
        </p:txBody>
      </p:sp>
      <p:sp>
        <p:nvSpPr>
          <p:cNvPr id="23" name="Rounded Rectangle 22"/>
          <p:cNvSpPr/>
          <p:nvPr/>
        </p:nvSpPr>
        <p:spPr>
          <a:xfrm>
            <a:off x="841248" y="5115153"/>
            <a:ext cx="10515600" cy="782726"/>
          </a:xfrm>
          <a:prstGeom prst="roundRect">
            <a:avLst>
              <a:gd name="adj" fmla="val 9345"/>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xmark_grey.png"/>
          <p:cNvPicPr>
            <a:picLocks noChangeAspect="1"/>
          </p:cNvPicPr>
          <p:nvPr/>
        </p:nvPicPr>
        <p:blipFill>
          <a:blip r:embed="rId5"/>
          <a:stretch>
            <a:fillRect/>
          </a:stretch>
        </p:blipFill>
        <p:spPr>
          <a:xfrm>
            <a:off x="1069848" y="5323636"/>
            <a:ext cx="274320" cy="365760"/>
          </a:xfrm>
          <a:prstGeom prst="rect">
            <a:avLst/>
          </a:prstGeom>
        </p:spPr>
      </p:pic>
      <p:sp>
        <p:nvSpPr>
          <p:cNvPr id="25" name="TextBox 24"/>
          <p:cNvSpPr txBox="1"/>
          <p:nvPr/>
        </p:nvSpPr>
        <p:spPr>
          <a:xfrm>
            <a:off x="1618488" y="5115153"/>
            <a:ext cx="5120640" cy="782726"/>
          </a:xfrm>
          <a:prstGeom prst="rect">
            <a:avLst/>
          </a:prstGeom>
          <a:noFill/>
        </p:spPr>
        <p:txBody>
          <a:bodyPr wrap="square" lIns="45720" tIns="27432" rIns="45720" bIns="27432" anchor="ctr">
            <a:spAutoFit/>
          </a:bodyPr>
          <a:lstStyle/>
          <a:p>
            <a:pPr algn="l"/>
            <a:r>
              <a:rPr sz="1600" b="1">
                <a:solidFill>
                  <a:srgbClr val="1F4E79"/>
                </a:solidFill>
                <a:latin typeface="Calibri"/>
              </a:rPr>
              <a:t>A district prevalence with no survey at all, or whether a program worked</a:t>
            </a:r>
          </a:p>
        </p:txBody>
      </p:sp>
      <p:sp>
        <p:nvSpPr>
          <p:cNvPr id="26" name="TextBox 25"/>
          <p:cNvSpPr txBox="1"/>
          <p:nvPr/>
        </p:nvSpPr>
        <p:spPr>
          <a:xfrm>
            <a:off x="6784848" y="5115153"/>
            <a:ext cx="4480560" cy="782726"/>
          </a:xfrm>
          <a:prstGeom prst="rect">
            <a:avLst/>
          </a:prstGeom>
          <a:noFill/>
        </p:spPr>
        <p:txBody>
          <a:bodyPr wrap="square" lIns="45720" tIns="27432" rIns="45720" bIns="27432" anchor="ctr">
            <a:spAutoFit/>
          </a:bodyPr>
          <a:lstStyle/>
          <a:p>
            <a:pPr algn="l"/>
            <a:r>
              <a:rPr sz="1500" b="0">
                <a:solidFill>
                  <a:srgbClr val="333333"/>
                </a:solidFill>
                <a:latin typeface="Calibri"/>
              </a:rPr>
              <a:t>The model has no level of its own and is validated on one point in time, not on change.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it match the survey at the regional level?</a:t>
            </a:r>
          </a:p>
        </p:txBody>
      </p:sp>
      <p:pic>
        <p:nvPicPr>
          <p:cNvPr id="3" name="Picture 1" descr="MN-proxy-full-talk-2026-09_files/figure-pptx/admin1-pairs-1.png"/>
          <p:cNvPicPr>
            <a:picLocks noGrp="1" noChangeAspect="1"/>
          </p:cNvPicPr>
          <p:nvPr/>
        </p:nvPicPr>
        <p:blipFill>
          <a:blip r:embed="rId3"/>
          <a:stretch>
            <a:fillRect/>
          </a:stretch>
        </p:blipFill>
        <p:spPr bwMode="auto">
          <a:xfrm>
            <a:off x="1450046" y="1691640"/>
            <a:ext cx="9298004"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28</a:t>
            </a:fld>
            <a:endParaRPr lang="en-BG"/>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likely is a district to be above the 20% line?</a:t>
            </a:r>
          </a:p>
        </p:txBody>
      </p:sp>
      <p:pic>
        <p:nvPicPr>
          <p:cNvPr id="3" name="Picture 1" descr="MN-proxy-full-talk-2026-09_files/figure-pptx/exceedance-map-1.png"/>
          <p:cNvPicPr>
            <a:picLocks noGrp="1" noChangeAspect="1"/>
          </p:cNvPicPr>
          <p:nvPr/>
        </p:nvPicPr>
        <p:blipFill>
          <a:blip r:embed="rId4"/>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29</a:t>
            </a:fld>
            <a:endParaRPr lang="en-BG"/>
          </a:p>
        </p:txBody>
      </p:sp>
    </p:spTree>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bad, and how sure, on one map?</a:t>
            </a:r>
          </a:p>
        </p:txBody>
      </p:sp>
      <p:pic>
        <p:nvPicPr>
          <p:cNvPr id="3" name="Picture 1" descr="MN-proxy-full-talk-2026-09_files/figure-pptx/bivariate-civ-1.png"/>
          <p:cNvPicPr>
            <a:picLocks noGrp="1" noChangeAspect="1"/>
          </p:cNvPicPr>
          <p:nvPr/>
        </p:nvPicPr>
        <p:blipFill>
          <a:blip r:embed="rId3"/>
          <a:stretch>
            <a:fillRect/>
          </a:stretch>
        </p:blipFill>
        <p:spPr bwMode="auto">
          <a:xfrm>
            <a:off x="2341720" y="1691640"/>
            <a:ext cx="751465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30</a:t>
            </a:fld>
            <a:endParaRPr lang="en-B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do the rank intervals promise, and what do they not?</a:t>
            </a:r>
          </a:p>
        </p:txBody>
      </p:sp>
      <p:pic>
        <p:nvPicPr>
          <p:cNvPr id="3" name="Picture 1" descr="MN-proxy-full-talk-2026-09_files/figure-pptx/coverage-1.png"/>
          <p:cNvPicPr>
            <a:picLocks noGrp="1" noChangeAspect="1"/>
          </p:cNvPicPr>
          <p:nvPr/>
        </p:nvPicPr>
        <p:blipFill>
          <a:blip r:embed="rId4"/>
          <a:stretch>
            <a:fillRect/>
          </a:stretch>
        </p:blipFill>
        <p:spPr bwMode="auto">
          <a:xfrm>
            <a:off x="841248" y="1691640"/>
            <a:ext cx="10515600" cy="42037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31</a:t>
            </a:fld>
            <a:endParaRPr lang="en-BG"/>
          </a:p>
        </p:txBody>
      </p:sp>
    </p:spTree>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Which predictors carry the most weight?</a:t>
            </a:r>
          </a:p>
        </p:txBody>
      </p:sp>
      <p:pic>
        <p:nvPicPr>
          <p:cNvPr id="3" name="Picture 1" descr="MN-proxy-full-talk-2026-09_files/figure-pptx/top-weights-one-1.png"/>
          <p:cNvPicPr>
            <a:picLocks noGrp="1" noChangeAspect="1"/>
          </p:cNvPicPr>
          <p:nvPr/>
        </p:nvPicPr>
        <p:blipFill>
          <a:blip r:embed="rId3"/>
          <a:stretch>
            <a:fillRect/>
          </a:stretch>
        </p:blipFill>
        <p:spPr bwMode="auto">
          <a:xfrm>
            <a:off x="2052694" y="1691640"/>
            <a:ext cx="8092707"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32</a:t>
            </a:fld>
            <a:endParaRPr lang="en-BG"/>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are the weights behind the best ranking? Malawi, women’s B12</a:t>
            </a:r>
          </a:p>
        </p:txBody>
      </p:sp>
      <p:pic>
        <p:nvPicPr>
          <p:cNvPr id="3" name="Picture 1" descr="MN-proxy-full-talk-2026-09_files/figure-pptx/vim-b12-1.png"/>
          <p:cNvPicPr>
            <a:picLocks noGrp="1" noChangeAspect="1"/>
          </p:cNvPicPr>
          <p:nvPr/>
        </p:nvPicPr>
        <p:blipFill>
          <a:blip r:embed="rId3"/>
          <a:stretch>
            <a:fillRect/>
          </a:stretch>
        </p:blipFill>
        <p:spPr bwMode="auto">
          <a:xfrm>
            <a:off x="1591484" y="1691640"/>
            <a:ext cx="9015128"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33</a:t>
            </a:fld>
            <a:endParaRPr lang="en-B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Causal driver or surrogate marker? Fish, anemia and B12 in Malawi</a:t>
            </a:r>
          </a:p>
        </p:txBody>
      </p:sp>
      <p:pic>
        <p:nvPicPr>
          <p:cNvPr id="3" name="Picture 1" descr="MN-proxy-full-talk-2026-09_files/figure-pptx/b12-surrogate-1.png"/>
          <p:cNvPicPr>
            <a:picLocks noGrp="1" noChangeAspect="1"/>
          </p:cNvPicPr>
          <p:nvPr/>
        </p:nvPicPr>
        <p:blipFill>
          <a:blip r:embed="rId3"/>
          <a:stretch>
            <a:fillRect/>
          </a:stretch>
        </p:blipFill>
        <p:spPr bwMode="auto">
          <a:xfrm>
            <a:off x="1247113" y="1691640"/>
            <a:ext cx="9703869"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34</a:t>
            </a:fld>
            <a:endParaRPr lang="en-BG"/>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What travels across borders, and what does not?</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Loss in transported Spearman (biomarker level, 22 outcome-country combinations) when each domain is dropped and the components rebuilt, mean over outcome-country combinations with a 95% interval. The load-bearing domains are Climate and weather, Soil characteristics, Anaemia and haemoglobin; removing 7 of the 21 domains costs nothing or helps.</a:t>
            </a:r>
          </a:p>
        </p:txBody>
      </p:sp>
      <p:pic>
        <p:nvPicPr>
          <p:cNvPr id="4" name="Picture 1" descr="MN-proxy-full-talk-2026-09_files/figure-pptx/ablation-1.png"/>
          <p:cNvPicPr>
            <a:picLocks noGrp="1" noChangeAspect="1"/>
          </p:cNvPicPr>
          <p:nvPr/>
        </p:nvPicPr>
        <p:blipFill>
          <a:blip r:embed="rId3"/>
          <a:stretch>
            <a:fillRect/>
          </a:stretch>
        </p:blipFill>
        <p:spPr bwMode="auto">
          <a:xfrm>
            <a:off x="6515100" y="1816100"/>
            <a:ext cx="44958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35</a:t>
            </a:fld>
            <a:endParaRPr lang="en-BG"/>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drives the transport models?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36</a:t>
            </a:fld>
            <a:endParaRPr lang="en-BG"/>
          </a:p>
        </p:txBody>
      </p:sp>
      <p:pic>
        <p:nvPicPr>
          <p:cNvPr id="7" name="Picture 6" descr="mountain-sun_blue.png"/>
          <p:cNvPicPr>
            <a:picLocks noChangeAspect="1"/>
          </p:cNvPicPr>
          <p:nvPr/>
        </p:nvPicPr>
        <p:blipFill>
          <a:blip r:embed="rId3"/>
          <a:stretch>
            <a:fillRect/>
          </a:stretch>
        </p:blipFill>
        <p:spPr>
          <a:xfrm>
            <a:off x="932688" y="1783080"/>
            <a:ext cx="640080" cy="512064"/>
          </a:xfrm>
          <a:prstGeom prst="rect">
            <a:avLst/>
          </a:prstGeom>
        </p:spPr>
      </p:pic>
      <p:sp>
        <p:nvSpPr>
          <p:cNvPr id="8" name="TextBox 7"/>
          <p:cNvSpPr txBox="1"/>
          <p:nvPr/>
        </p:nvSpPr>
        <p:spPr>
          <a:xfrm>
            <a:off x="1984248" y="1691640"/>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landscape gradient</a:t>
            </a:r>
          </a:p>
          <a:p>
            <a:pPr algn="l">
              <a:spcBef>
                <a:spcPts val="300"/>
              </a:spcBef>
            </a:pPr>
            <a:r>
              <a:rPr sz="1250" b="0">
                <a:solidFill>
                  <a:srgbClr val="333333"/>
                </a:solidFill>
                <a:latin typeface="Calibri"/>
              </a:rPr>
              <a:t>Grassland and cropland cover, the share of ruminants in the herd (top twenty in 14 of 22 held-out fits), cattle and sheep density, cereal-heavy cropping, low plant productivity: dry, grassy, pastoral, unproductive districts rank worse on every outcome.</a:t>
            </a:r>
          </a:p>
        </p:txBody>
      </p:sp>
      <p:pic>
        <p:nvPicPr>
          <p:cNvPr id="9" name="Picture 8" descr="child-reaching_blue.png"/>
          <p:cNvPicPr>
            <a:picLocks noChangeAspect="1"/>
          </p:cNvPicPr>
          <p:nvPr/>
        </p:nvPicPr>
        <p:blipFill>
          <a:blip r:embed="rId4"/>
          <a:stretch>
            <a:fillRect/>
          </a:stretch>
        </p:blipFill>
        <p:spPr>
          <a:xfrm>
            <a:off x="932688" y="2660904"/>
            <a:ext cx="384048" cy="512064"/>
          </a:xfrm>
          <a:prstGeom prst="rect">
            <a:avLst/>
          </a:prstGeom>
        </p:spPr>
      </p:pic>
      <p:sp>
        <p:nvSpPr>
          <p:cNvPr id="10" name="TextBox 9"/>
          <p:cNvSpPr txBox="1"/>
          <p:nvPr/>
        </p:nvSpPr>
        <p:spPr>
          <a:xfrm>
            <a:off x="1984248" y="2569464"/>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modeled child-growth and anemia surfaces</a:t>
            </a:r>
          </a:p>
          <a:p>
            <a:pPr algn="l">
              <a:spcBef>
                <a:spcPts val="300"/>
              </a:spcBef>
            </a:pPr>
            <a:r>
              <a:rPr sz="1250" b="0">
                <a:solidFill>
                  <a:srgbClr val="333333"/>
                </a:solidFill>
                <a:latin typeface="Calibri"/>
              </a:rPr>
              <a:t>Wasting, underweight and anemia point to worse status; overweight points the other way and behaves as a wealth proxy.</a:t>
            </a:r>
          </a:p>
        </p:txBody>
      </p:sp>
      <p:pic>
        <p:nvPicPr>
          <p:cNvPr id="11" name="Picture 10" descr="basket-shopping_blue.png"/>
          <p:cNvPicPr>
            <a:picLocks noChangeAspect="1"/>
          </p:cNvPicPr>
          <p:nvPr/>
        </p:nvPicPr>
        <p:blipFill>
          <a:blip r:embed="rId5"/>
          <a:stretch>
            <a:fillRect/>
          </a:stretch>
        </p:blipFill>
        <p:spPr>
          <a:xfrm>
            <a:off x="932688" y="3538728"/>
            <a:ext cx="576072" cy="512064"/>
          </a:xfrm>
          <a:prstGeom prst="rect">
            <a:avLst/>
          </a:prstGeom>
        </p:spPr>
      </p:pic>
      <p:sp>
        <p:nvSpPr>
          <p:cNvPr id="12" name="TextBox 11"/>
          <p:cNvSpPr txBox="1"/>
          <p:nvPr/>
        </p:nvSpPr>
        <p:spPr>
          <a:xfrm>
            <a:off x="1984248" y="3447288"/>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The food economy</a:t>
            </a:r>
          </a:p>
          <a:p>
            <a:pPr algn="l">
              <a:spcBef>
                <a:spcPts val="300"/>
              </a:spcBef>
            </a:pPr>
            <a:r>
              <a:rPr sz="1250" b="0">
                <a:solidFill>
                  <a:srgbClr val="333333"/>
                </a:solidFill>
                <a:latin typeface="Calibri"/>
              </a:rPr>
              <a:t>The local staple price relative to the national level appears in 13 fits across 5 outcomes.</a:t>
            </a:r>
          </a:p>
        </p:txBody>
      </p:sp>
      <p:pic>
        <p:nvPicPr>
          <p:cNvPr id="13" name="Picture 12" descr="road_blue.png"/>
          <p:cNvPicPr>
            <a:picLocks noChangeAspect="1"/>
          </p:cNvPicPr>
          <p:nvPr/>
        </p:nvPicPr>
        <p:blipFill>
          <a:blip r:embed="rId6"/>
          <a:stretch>
            <a:fillRect/>
          </a:stretch>
        </p:blipFill>
        <p:spPr>
          <a:xfrm>
            <a:off x="932688" y="4416552"/>
            <a:ext cx="576072" cy="512064"/>
          </a:xfrm>
          <a:prstGeom prst="rect">
            <a:avLst/>
          </a:prstGeom>
        </p:spPr>
      </p:pic>
      <p:sp>
        <p:nvSpPr>
          <p:cNvPr id="14" name="TextBox 13"/>
          <p:cNvSpPr txBox="1"/>
          <p:nvPr/>
        </p:nvSpPr>
        <p:spPr>
          <a:xfrm>
            <a:off x="1984248" y="4325112"/>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Remoteness and demography</a:t>
            </a:r>
          </a:p>
          <a:p>
            <a:pPr algn="l">
              <a:spcBef>
                <a:spcPts val="300"/>
              </a:spcBef>
            </a:pPr>
            <a:r>
              <a:rPr sz="1250" b="0">
                <a:solidFill>
                  <a:srgbClr val="333333"/>
                </a:solidFill>
                <a:latin typeface="Calibri"/>
              </a:rPr>
              <a:t>Distance to the coast and the dependency ratio, in about a third of the fits.</a:t>
            </a:r>
          </a:p>
        </p:txBody>
      </p:sp>
      <p:pic>
        <p:nvPicPr>
          <p:cNvPr id="15" name="Picture 14" descr="mosquito_blue.png"/>
          <p:cNvPicPr>
            <a:picLocks noChangeAspect="1"/>
          </p:cNvPicPr>
          <p:nvPr/>
        </p:nvPicPr>
        <p:blipFill>
          <a:blip r:embed="rId7"/>
          <a:stretch>
            <a:fillRect/>
          </a:stretch>
        </p:blipFill>
        <p:spPr>
          <a:xfrm>
            <a:off x="932688" y="5294376"/>
            <a:ext cx="640080" cy="512064"/>
          </a:xfrm>
          <a:prstGeom prst="rect">
            <a:avLst/>
          </a:prstGeom>
        </p:spPr>
      </p:pic>
      <p:sp>
        <p:nvSpPr>
          <p:cNvPr id="16" name="TextBox 15"/>
          <p:cNvSpPr txBox="1"/>
          <p:nvPr/>
        </p:nvSpPr>
        <p:spPr>
          <a:xfrm>
            <a:off x="1984248" y="5202936"/>
            <a:ext cx="9326880" cy="694944"/>
          </a:xfrm>
          <a:prstGeom prst="rect">
            <a:avLst/>
          </a:prstGeom>
          <a:noFill/>
        </p:spPr>
        <p:txBody>
          <a:bodyPr wrap="square" lIns="45720" tIns="27432" rIns="45720" bIns="27432" anchor="ctr">
            <a:spAutoFit/>
          </a:bodyPr>
          <a:lstStyle/>
          <a:p>
            <a:pPr algn="l"/>
            <a:r>
              <a:rPr sz="1700" b="1">
                <a:solidFill>
                  <a:srgbClr val="1F4E79"/>
                </a:solidFill>
                <a:latin typeface="Calibri"/>
              </a:rPr>
              <a:t>Malaria intensity, with an unexpected sign</a:t>
            </a:r>
          </a:p>
          <a:p>
            <a:pPr algn="l">
              <a:spcBef>
                <a:spcPts val="300"/>
              </a:spcBef>
            </a:pPr>
            <a:r>
              <a:rPr sz="1250" b="0">
                <a:solidFill>
                  <a:srgbClr val="333333"/>
                </a:solidFill>
                <a:latin typeface="Calibri"/>
              </a:rPr>
              <a:t>High-malaria zones are the wetter, more productive ones. Single household-survey items rarely recur.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Which associations replicate in every country?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Indicators whose district-level association with the outcome has the same sign in every country with the outcome, ranked by pooled meta-analytic z. Positive z means more deficiency.</a:t>
            </a:r>
          </a:p>
        </p:txBody>
      </p:sp>
      <p:pic>
        <p:nvPicPr>
          <p:cNvPr id="4" name="Picture 1" descr="MN-proxy-full-talk-2026-09_files/figure-pptx/signal-1.png"/>
          <p:cNvPicPr>
            <a:picLocks noGrp="1" noChangeAspect="1"/>
          </p:cNvPicPr>
          <p:nvPr/>
        </p:nvPicPr>
        <p:blipFill>
          <a:blip r:embed="rId3"/>
          <a:stretch>
            <a:fillRect/>
          </a:stretch>
        </p:blipFill>
        <p:spPr bwMode="auto">
          <a:xfrm>
            <a:off x="6184900" y="1816100"/>
            <a:ext cx="51435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37</a:t>
            </a:fld>
            <a:endParaRPr lang="en-BG"/>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How good could any model be against this survey?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The survey’s own district numbers are estimates, mostly from one cluster each. This shows how well even a perfect predictor of the true district value could match them: on average 0.48, by country. The model’s 0.28 on the same scale is 59% of that. The gap between the model and 1.0 is mostly the survey’s noise, not the model’s ignorance.</a:t>
            </a:r>
          </a:p>
        </p:txBody>
      </p:sp>
      <p:pic>
        <p:nvPicPr>
          <p:cNvPr id="4" name="Picture 1" descr="MN-proxy-full-talk-2026-09_files/figure-pptx/ceiling-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38</a:t>
            </a:fld>
            <a:endParaRPr lang="en-BG"/>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Could a small national survey plus the model replace a district survey?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Four ways to get district numbers, costed against the size of survey each needs. A small national sample, 5% of a full survey, with the model’s ranking spread across districts gives a median district error of 9.3 points. A survey designed to measure each district directly needs about 25% of its full size to do as well.</a:t>
            </a:r>
          </a:p>
        </p:txBody>
      </p:sp>
      <p:pic>
        <p:nvPicPr>
          <p:cNvPr id="4" name="Picture 1" descr="MN-proxy-full-talk-2026-09_files/figure-pptx/anchor-1.png"/>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39</a:t>
            </a:fld>
            <a:endParaRPr lang="en-BG"/>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the models can and cannot do yet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40</a:t>
            </a:fld>
            <a:endParaRPr lang="en-BG"/>
          </a:p>
        </p:txBody>
      </p:sp>
      <p:sp>
        <p:nvSpPr>
          <p:cNvPr id="7" name="Rounded Rectangle 6"/>
          <p:cNvSpPr/>
          <p:nvPr/>
        </p:nvSpPr>
        <p:spPr>
          <a:xfrm>
            <a:off x="841248" y="1691640"/>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3"/>
          <a:stretch>
            <a:fillRect/>
          </a:stretch>
        </p:blipFill>
        <p:spPr>
          <a:xfrm>
            <a:off x="1069848" y="1764792"/>
            <a:ext cx="276034" cy="315468"/>
          </a:xfrm>
          <a:prstGeom prst="rect">
            <a:avLst/>
          </a:prstGeom>
        </p:spPr>
      </p:pic>
      <p:sp>
        <p:nvSpPr>
          <p:cNvPr id="9" name="TextBox 8"/>
          <p:cNvSpPr txBox="1"/>
          <p:nvPr/>
        </p:nvSpPr>
        <p:spPr>
          <a:xfrm>
            <a:off x="1618488" y="1691640"/>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surveyed country?</a:t>
            </a:r>
          </a:p>
        </p:txBody>
      </p:sp>
      <p:sp>
        <p:nvSpPr>
          <p:cNvPr id="10" name="TextBox 9"/>
          <p:cNvSpPr txBox="1"/>
          <p:nvPr/>
        </p:nvSpPr>
        <p:spPr>
          <a:xfrm>
            <a:off x="6784848" y="1691640"/>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0.40, null 0.08.</a:t>
            </a:r>
          </a:p>
        </p:txBody>
      </p:sp>
      <p:sp>
        <p:nvSpPr>
          <p:cNvPr id="11" name="Rounded Rectangle 10"/>
          <p:cNvSpPr/>
          <p:nvPr/>
        </p:nvSpPr>
        <p:spPr>
          <a:xfrm>
            <a:off x="841248" y="222656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triangle-exclamation_amber.png"/>
          <p:cNvPicPr>
            <a:picLocks noChangeAspect="1"/>
          </p:cNvPicPr>
          <p:nvPr/>
        </p:nvPicPr>
        <p:blipFill>
          <a:blip r:embed="rId4"/>
          <a:stretch>
            <a:fillRect/>
          </a:stretch>
        </p:blipFill>
        <p:spPr>
          <a:xfrm>
            <a:off x="1069848" y="2299716"/>
            <a:ext cx="315468" cy="315468"/>
          </a:xfrm>
          <a:prstGeom prst="rect">
            <a:avLst/>
          </a:prstGeom>
        </p:spPr>
      </p:pic>
      <p:sp>
        <p:nvSpPr>
          <p:cNvPr id="13" name="TextBox 12"/>
          <p:cNvSpPr txBox="1"/>
          <p:nvPr/>
        </p:nvSpPr>
        <p:spPr>
          <a:xfrm>
            <a:off x="1618488" y="2226564"/>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Rank districts in a new country?</a:t>
            </a:r>
          </a:p>
        </p:txBody>
      </p:sp>
      <p:sp>
        <p:nvSpPr>
          <p:cNvPr id="14" name="TextBox 13"/>
          <p:cNvSpPr txBox="1"/>
          <p:nvPr/>
        </p:nvSpPr>
        <p:spPr>
          <a:xfrm>
            <a:off x="6784848" y="2226564"/>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less well: 0.30 against 0.08.</a:t>
            </a:r>
          </a:p>
        </p:txBody>
      </p:sp>
      <p:sp>
        <p:nvSpPr>
          <p:cNvPr id="15" name="Rounded Rectangle 14"/>
          <p:cNvSpPr/>
          <p:nvPr/>
        </p:nvSpPr>
        <p:spPr>
          <a:xfrm>
            <a:off x="841248" y="2761488"/>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heck_green.png"/>
          <p:cNvPicPr>
            <a:picLocks noChangeAspect="1"/>
          </p:cNvPicPr>
          <p:nvPr/>
        </p:nvPicPr>
        <p:blipFill>
          <a:blip r:embed="rId3"/>
          <a:stretch>
            <a:fillRect/>
          </a:stretch>
        </p:blipFill>
        <p:spPr>
          <a:xfrm>
            <a:off x="1069848" y="2834640"/>
            <a:ext cx="276034" cy="315468"/>
          </a:xfrm>
          <a:prstGeom prst="rect">
            <a:avLst/>
          </a:prstGeom>
        </p:spPr>
      </p:pic>
      <p:sp>
        <p:nvSpPr>
          <p:cNvPr id="17" name="TextBox 16"/>
          <p:cNvSpPr txBox="1"/>
          <p:nvPr/>
        </p:nvSpPr>
        <p:spPr>
          <a:xfrm>
            <a:off x="1618488" y="2761488"/>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Which predictors carry the signal?</a:t>
            </a:r>
          </a:p>
        </p:txBody>
      </p:sp>
      <p:sp>
        <p:nvSpPr>
          <p:cNvPr id="18" name="TextBox 17"/>
          <p:cNvSpPr txBox="1"/>
          <p:nvPr/>
        </p:nvSpPr>
        <p:spPr>
          <a:xfrm>
            <a:off x="6784848" y="2761488"/>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Satellite, climate and soil.</a:t>
            </a:r>
          </a:p>
        </p:txBody>
      </p:sp>
      <p:sp>
        <p:nvSpPr>
          <p:cNvPr id="19" name="Rounded Rectangle 18"/>
          <p:cNvSpPr/>
          <p:nvPr/>
        </p:nvSpPr>
        <p:spPr>
          <a:xfrm>
            <a:off x="841248" y="3296412"/>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xmark_grey.png"/>
          <p:cNvPicPr>
            <a:picLocks noChangeAspect="1"/>
          </p:cNvPicPr>
          <p:nvPr/>
        </p:nvPicPr>
        <p:blipFill>
          <a:blip r:embed="rId5"/>
          <a:stretch>
            <a:fillRect/>
          </a:stretch>
        </p:blipFill>
        <p:spPr>
          <a:xfrm>
            <a:off x="1069848" y="3369564"/>
            <a:ext cx="236601" cy="315468"/>
          </a:xfrm>
          <a:prstGeom prst="rect">
            <a:avLst/>
          </a:prstGeom>
        </p:spPr>
      </p:pic>
      <p:sp>
        <p:nvSpPr>
          <p:cNvPr id="21" name="TextBox 20"/>
          <p:cNvSpPr txBox="1"/>
          <p:nvPr/>
        </p:nvSpPr>
        <p:spPr>
          <a:xfrm>
            <a:off x="1618488" y="3296412"/>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Prevalence in a new country from the model alone?</a:t>
            </a:r>
          </a:p>
        </p:txBody>
      </p:sp>
      <p:sp>
        <p:nvSpPr>
          <p:cNvPr id="22" name="TextBox 21"/>
          <p:cNvSpPr txBox="1"/>
          <p:nvPr/>
        </p:nvSpPr>
        <p:spPr>
          <a:xfrm>
            <a:off x="6784848" y="3296412"/>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Not yet.</a:t>
            </a:r>
          </a:p>
        </p:txBody>
      </p:sp>
      <p:sp>
        <p:nvSpPr>
          <p:cNvPr id="23" name="Rounded Rectangle 22"/>
          <p:cNvSpPr/>
          <p:nvPr/>
        </p:nvSpPr>
        <p:spPr>
          <a:xfrm>
            <a:off x="841248" y="3831336"/>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check_green.png"/>
          <p:cNvPicPr>
            <a:picLocks noChangeAspect="1"/>
          </p:cNvPicPr>
          <p:nvPr/>
        </p:nvPicPr>
        <p:blipFill>
          <a:blip r:embed="rId3"/>
          <a:stretch>
            <a:fillRect/>
          </a:stretch>
        </p:blipFill>
        <p:spPr>
          <a:xfrm>
            <a:off x="1069848" y="3904488"/>
            <a:ext cx="276034" cy="315468"/>
          </a:xfrm>
          <a:prstGeom prst="rect">
            <a:avLst/>
          </a:prstGeom>
        </p:spPr>
      </p:pic>
      <p:sp>
        <p:nvSpPr>
          <p:cNvPr id="25" name="TextBox 24"/>
          <p:cNvSpPr txBox="1"/>
          <p:nvPr/>
        </p:nvSpPr>
        <p:spPr>
          <a:xfrm>
            <a:off x="1618488" y="3831336"/>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Prevalence with one national anchor?</a:t>
            </a:r>
          </a:p>
        </p:txBody>
      </p:sp>
      <p:sp>
        <p:nvSpPr>
          <p:cNvPr id="26" name="TextBox 25"/>
          <p:cNvSpPr txBox="1"/>
          <p:nvPr/>
        </p:nvSpPr>
        <p:spPr>
          <a:xfrm>
            <a:off x="6784848" y="3831336"/>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Yes: 9.3 points at a 5% sample.</a:t>
            </a:r>
          </a:p>
        </p:txBody>
      </p:sp>
      <p:sp>
        <p:nvSpPr>
          <p:cNvPr id="27" name="Rounded Rectangle 26"/>
          <p:cNvSpPr/>
          <p:nvPr/>
        </p:nvSpPr>
        <p:spPr>
          <a:xfrm>
            <a:off x="841248" y="4366260"/>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xmark_grey.png"/>
          <p:cNvPicPr>
            <a:picLocks noChangeAspect="1"/>
          </p:cNvPicPr>
          <p:nvPr/>
        </p:nvPicPr>
        <p:blipFill>
          <a:blip r:embed="rId5"/>
          <a:stretch>
            <a:fillRect/>
          </a:stretch>
        </p:blipFill>
        <p:spPr>
          <a:xfrm>
            <a:off x="1069848" y="4439412"/>
            <a:ext cx="236601" cy="315468"/>
          </a:xfrm>
          <a:prstGeom prst="rect">
            <a:avLst/>
          </a:prstGeom>
        </p:spPr>
      </p:pic>
      <p:sp>
        <p:nvSpPr>
          <p:cNvPr id="29" name="TextBox 28"/>
          <p:cNvSpPr txBox="1"/>
          <p:nvPr/>
        </p:nvSpPr>
        <p:spPr>
          <a:xfrm>
            <a:off x="1618488" y="4366260"/>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Replace biomarker surveys?</a:t>
            </a:r>
          </a:p>
        </p:txBody>
      </p:sp>
      <p:sp>
        <p:nvSpPr>
          <p:cNvPr id="30" name="TextBox 29"/>
          <p:cNvSpPr txBox="1"/>
          <p:nvPr/>
        </p:nvSpPr>
        <p:spPr>
          <a:xfrm>
            <a:off x="6784848" y="4366260"/>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No: the ceiling is the survey's.</a:t>
            </a:r>
          </a:p>
        </p:txBody>
      </p:sp>
      <p:sp>
        <p:nvSpPr>
          <p:cNvPr id="31" name="Rounded Rectangle 30"/>
          <p:cNvSpPr/>
          <p:nvPr/>
        </p:nvSpPr>
        <p:spPr>
          <a:xfrm>
            <a:off x="841248" y="490118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triangle-exclamation_amber.png"/>
          <p:cNvPicPr>
            <a:picLocks noChangeAspect="1"/>
          </p:cNvPicPr>
          <p:nvPr/>
        </p:nvPicPr>
        <p:blipFill>
          <a:blip r:embed="rId4"/>
          <a:stretch>
            <a:fillRect/>
          </a:stretch>
        </p:blipFill>
        <p:spPr>
          <a:xfrm>
            <a:off x="1069848" y="4974336"/>
            <a:ext cx="315468" cy="315468"/>
          </a:xfrm>
          <a:prstGeom prst="rect">
            <a:avLst/>
          </a:prstGeom>
        </p:spPr>
      </p:pic>
      <p:sp>
        <p:nvSpPr>
          <p:cNvPr id="33" name="TextBox 32"/>
          <p:cNvSpPr txBox="1"/>
          <p:nvPr/>
        </p:nvSpPr>
        <p:spPr>
          <a:xfrm>
            <a:off x="1618488" y="4901184"/>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Guide where the next survey samples?</a:t>
            </a:r>
          </a:p>
        </p:txBody>
      </p:sp>
      <p:sp>
        <p:nvSpPr>
          <p:cNvPr id="34" name="TextBox 33"/>
          <p:cNvSpPr txBox="1"/>
          <p:nvPr/>
        </p:nvSpPr>
        <p:spPr>
          <a:xfrm>
            <a:off x="6784848" y="4901184"/>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In design, not piloted.</a:t>
            </a:r>
          </a:p>
        </p:txBody>
      </p:sp>
      <p:sp>
        <p:nvSpPr>
          <p:cNvPr id="35" name="Rounded Rectangle 34"/>
          <p:cNvSpPr/>
          <p:nvPr/>
        </p:nvSpPr>
        <p:spPr>
          <a:xfrm>
            <a:off x="841248" y="5436108"/>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triangle-exclamation_amber.png"/>
          <p:cNvPicPr>
            <a:picLocks noChangeAspect="1"/>
          </p:cNvPicPr>
          <p:nvPr/>
        </p:nvPicPr>
        <p:blipFill>
          <a:blip r:embed="rId4"/>
          <a:stretch>
            <a:fillRect/>
          </a:stretch>
        </p:blipFill>
        <p:spPr>
          <a:xfrm>
            <a:off x="1069848" y="5509260"/>
            <a:ext cx="315468" cy="315468"/>
          </a:xfrm>
          <a:prstGeom prst="rect">
            <a:avLst/>
          </a:prstGeom>
        </p:spPr>
      </p:pic>
      <p:sp>
        <p:nvSpPr>
          <p:cNvPr id="37" name="TextBox 36"/>
          <p:cNvSpPr txBox="1"/>
          <p:nvPr/>
        </p:nvSpPr>
        <p:spPr>
          <a:xfrm>
            <a:off x="1618488" y="5436108"/>
            <a:ext cx="5120640" cy="461772"/>
          </a:xfrm>
          <a:prstGeom prst="rect">
            <a:avLst/>
          </a:prstGeom>
          <a:noFill/>
        </p:spPr>
        <p:txBody>
          <a:bodyPr wrap="square" lIns="45720" tIns="27432" rIns="45720" bIns="27432" anchor="ctr">
            <a:spAutoFit/>
          </a:bodyPr>
          <a:lstStyle/>
          <a:p>
            <a:pPr algn="l"/>
            <a:r>
              <a:rPr sz="1600" b="1">
                <a:solidFill>
                  <a:srgbClr val="1F4E79"/>
                </a:solidFill>
                <a:latin typeface="Calibri"/>
              </a:rPr>
              <a:t>Say how sure each map is?</a:t>
            </a:r>
          </a:p>
        </p:txBody>
      </p:sp>
      <p:sp>
        <p:nvSpPr>
          <p:cNvPr id="38" name="TextBox 37"/>
          <p:cNvSpPr txBox="1"/>
          <p:nvPr/>
        </p:nvSpPr>
        <p:spPr>
          <a:xfrm>
            <a:off x="6784848" y="5436108"/>
            <a:ext cx="4480560" cy="461772"/>
          </a:xfrm>
          <a:prstGeom prst="rect">
            <a:avLst/>
          </a:prstGeom>
          <a:noFill/>
        </p:spPr>
        <p:txBody>
          <a:bodyPr wrap="square" lIns="45720" tIns="27432" rIns="45720" bIns="27432" anchor="ctr">
            <a:spAutoFit/>
          </a:bodyPr>
          <a:lstStyle/>
          <a:p>
            <a:pPr algn="l"/>
            <a:r>
              <a:rPr sz="1500" b="0">
                <a:solidFill>
                  <a:srgbClr val="333333"/>
                </a:solidFill>
                <a:latin typeface="Calibri"/>
              </a:rPr>
              <a:t>Stable, yes; verified, no: coverage 38%, not 90%; a calibrated 90% interval is ±55% of the list. A worst-third call is right 52% of the time (chance 33%).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have we learned, and what comes next?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41</a:t>
            </a:fld>
            <a:endParaRPr lang="en-BG"/>
          </a:p>
        </p:txBody>
      </p:sp>
      <p:pic>
        <p:nvPicPr>
          <p:cNvPr id="7" name="Picture 6" descr="map-location-dot_blue.png"/>
          <p:cNvPicPr>
            <a:picLocks noChangeAspect="1"/>
          </p:cNvPicPr>
          <p:nvPr/>
        </p:nvPicPr>
        <p:blipFill>
          <a:blip r:embed="rId4"/>
          <a:stretch>
            <a:fillRect/>
          </a:stretch>
        </p:blipFill>
        <p:spPr>
          <a:xfrm>
            <a:off x="932688" y="1783080"/>
            <a:ext cx="411480" cy="365760"/>
          </a:xfrm>
          <a:prstGeom prst="rect">
            <a:avLst/>
          </a:prstGeom>
        </p:spPr>
      </p:pic>
      <p:sp>
        <p:nvSpPr>
          <p:cNvPr id="8" name="TextBox 7"/>
          <p:cNvSpPr txBox="1"/>
          <p:nvPr/>
        </p:nvSpPr>
        <p:spPr>
          <a:xfrm>
            <a:off x="1984248" y="169164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Public data can rank a country's districts by deficiency</a:t>
            </a:r>
          </a:p>
          <a:p>
            <a:pPr algn="l">
              <a:spcBef>
                <a:spcPts val="300"/>
              </a:spcBef>
            </a:pPr>
            <a:r>
              <a:rPr sz="1200" b="0">
                <a:solidFill>
                  <a:srgbClr val="333333"/>
                </a:solidFill>
                <a:latin typeface="Calibri"/>
              </a:rPr>
              <a:t>Inside a surveyed country better than the survey's own regional averages (0.40 vs 0.31); six district pairs in ten in the survey's order.</a:t>
            </a:r>
          </a:p>
        </p:txBody>
      </p:sp>
      <p:pic>
        <p:nvPicPr>
          <p:cNvPr id="9" name="Picture 8" descr="earth-africa_blue.png"/>
          <p:cNvPicPr>
            <a:picLocks noChangeAspect="1"/>
          </p:cNvPicPr>
          <p:nvPr/>
        </p:nvPicPr>
        <p:blipFill>
          <a:blip r:embed="rId5"/>
          <a:stretch>
            <a:fillRect/>
          </a:stretch>
        </p:blipFill>
        <p:spPr>
          <a:xfrm>
            <a:off x="932688" y="2514600"/>
            <a:ext cx="365760" cy="365760"/>
          </a:xfrm>
          <a:prstGeom prst="rect">
            <a:avLst/>
          </a:prstGeom>
        </p:spPr>
      </p:pic>
      <p:sp>
        <p:nvSpPr>
          <p:cNvPr id="10" name="TextBox 9"/>
          <p:cNvSpPr txBox="1"/>
          <p:nvPr/>
        </p:nvSpPr>
        <p:spPr>
          <a:xfrm>
            <a:off x="1984248" y="242316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And in a country with no survey, where nothing else can</a:t>
            </a:r>
          </a:p>
          <a:p>
            <a:pPr algn="l">
              <a:spcBef>
                <a:spcPts val="300"/>
              </a:spcBef>
            </a:pPr>
            <a:r>
              <a:rPr sz="1200" b="0">
                <a:solidFill>
                  <a:srgbClr val="333333"/>
                </a:solidFill>
                <a:latin typeface="Calibri"/>
              </a:rPr>
              <a:t>Rankings carry across borders (0.38 from climate and soil); Cote d'Ivoire has its map. Levels need one national number.</a:t>
            </a:r>
          </a:p>
        </p:txBody>
      </p:sp>
      <p:pic>
        <p:nvPicPr>
          <p:cNvPr id="11" name="Picture 10" descr="layer-group_blue.png"/>
          <p:cNvPicPr>
            <a:picLocks noChangeAspect="1"/>
          </p:cNvPicPr>
          <p:nvPr/>
        </p:nvPicPr>
        <p:blipFill>
          <a:blip r:embed="rId6"/>
          <a:stretch>
            <a:fillRect/>
          </a:stretch>
        </p:blipFill>
        <p:spPr>
          <a:xfrm>
            <a:off x="932688" y="3246120"/>
            <a:ext cx="411480" cy="365760"/>
          </a:xfrm>
          <a:prstGeom prst="rect">
            <a:avLst/>
          </a:prstGeom>
        </p:spPr>
      </p:pic>
      <p:sp>
        <p:nvSpPr>
          <p:cNvPr id="12" name="TextBox 11"/>
          <p:cNvSpPr txBox="1"/>
          <p:nvPr/>
        </p:nvSpPr>
        <p:spPr>
          <a:xfrm>
            <a:off x="1984248" y="315468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Where the survey can see districts, the model is close to the best any model could be</a:t>
            </a:r>
          </a:p>
          <a:p>
            <a:pPr algn="l">
              <a:spcBef>
                <a:spcPts val="300"/>
              </a:spcBef>
            </a:pPr>
            <a:r>
              <a:rPr sz="1200" b="0">
                <a:solidFill>
                  <a:srgbClr val="333333"/>
                </a:solidFill>
                <a:latin typeface="Calibri"/>
              </a:rPr>
              <a:t>Six outcome-country combinations at 0.64; The Gambia, with several clusters per district, 0.41 to 0.70.</a:t>
            </a:r>
          </a:p>
        </p:txBody>
      </p:sp>
      <p:pic>
        <p:nvPicPr>
          <p:cNvPr id="13" name="Picture 12" descr="shield-halved_blue.png"/>
          <p:cNvPicPr>
            <a:picLocks noChangeAspect="1"/>
          </p:cNvPicPr>
          <p:nvPr/>
        </p:nvPicPr>
        <p:blipFill>
          <a:blip r:embed="rId7"/>
          <a:stretch>
            <a:fillRect/>
          </a:stretch>
        </p:blipFill>
        <p:spPr>
          <a:xfrm>
            <a:off x="932688" y="3977640"/>
            <a:ext cx="365760" cy="365760"/>
          </a:xfrm>
          <a:prstGeom prst="rect">
            <a:avLst/>
          </a:prstGeom>
        </p:spPr>
      </p:pic>
      <p:sp>
        <p:nvSpPr>
          <p:cNvPr id="14" name="TextBox 13"/>
          <p:cNvSpPr txBox="1"/>
          <p:nvPr/>
        </p:nvSpPr>
        <p:spPr>
          <a:xfrm>
            <a:off x="1984248" y="388620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The uncertainty on every map is honest about what it is</a:t>
            </a:r>
          </a:p>
          <a:p>
            <a:pPr algn="l">
              <a:spcBef>
                <a:spcPts val="300"/>
              </a:spcBef>
            </a:pPr>
            <a:r>
              <a:rPr sz="1200" b="0">
                <a:solidFill>
                  <a:srgbClr val="333333"/>
                </a:solidFill>
                <a:latin typeface="Calibri"/>
              </a:rPr>
              <a:t>Stable under resampling, not verified: a worst-third call is right 52% of the time, chance 33%.</a:t>
            </a:r>
          </a:p>
        </p:txBody>
      </p:sp>
      <p:pic>
        <p:nvPicPr>
          <p:cNvPr id="15" name="Picture 14" descr="arrow-trend-up_blue.png"/>
          <p:cNvPicPr>
            <a:picLocks noChangeAspect="1"/>
          </p:cNvPicPr>
          <p:nvPr/>
        </p:nvPicPr>
        <p:blipFill>
          <a:blip r:embed="rId8"/>
          <a:stretch>
            <a:fillRect/>
          </a:stretch>
        </p:blipFill>
        <p:spPr>
          <a:xfrm>
            <a:off x="932688" y="4709160"/>
            <a:ext cx="411480" cy="365760"/>
          </a:xfrm>
          <a:prstGeom prst="rect">
            <a:avLst/>
          </a:prstGeom>
        </p:spPr>
      </p:pic>
      <p:sp>
        <p:nvSpPr>
          <p:cNvPr id="16" name="TextBox 15"/>
          <p:cNvSpPr txBox="1"/>
          <p:nvPr/>
        </p:nvSpPr>
        <p:spPr>
          <a:xfrm>
            <a:off x="1984248" y="461772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Every survey added improves every other country's map, and the curve has not flattened</a:t>
            </a:r>
          </a:p>
          <a:p>
            <a:pPr algn="l">
              <a:spcBef>
                <a:spcPts val="300"/>
              </a:spcBef>
            </a:pPr>
            <a:r>
              <a:rPr sz="1200" b="0">
                <a:solidFill>
                  <a:srgbClr val="333333"/>
                </a:solidFill>
                <a:latin typeface="Calibri"/>
              </a:rPr>
              <a:t>0.20 with one training survey, 0.30 with three, about +0.05 per country added. The limit on this method today is the number of biomarker surveys it can learn from, not the predictors.</a:t>
            </a:r>
          </a:p>
        </p:txBody>
      </p:sp>
      <p:pic>
        <p:nvPicPr>
          <p:cNvPr id="17" name="Picture 16" descr="flag-checkered_blue.png"/>
          <p:cNvPicPr>
            <a:picLocks noChangeAspect="1"/>
          </p:cNvPicPr>
          <p:nvPr/>
        </p:nvPicPr>
        <p:blipFill>
          <a:blip r:embed="rId9"/>
          <a:stretch>
            <a:fillRect/>
          </a:stretch>
        </p:blipFill>
        <p:spPr>
          <a:xfrm>
            <a:off x="932688" y="5440680"/>
            <a:ext cx="320040" cy="365760"/>
          </a:xfrm>
          <a:prstGeom prst="rect">
            <a:avLst/>
          </a:prstGeom>
        </p:spPr>
      </p:pic>
      <p:sp>
        <p:nvSpPr>
          <p:cNvPr id="18" name="TextBox 17"/>
          <p:cNvSpPr txBox="1"/>
          <p:nvPr/>
        </p:nvSpPr>
        <p:spPr>
          <a:xfrm>
            <a:off x="1984248" y="5349240"/>
            <a:ext cx="9326880" cy="548640"/>
          </a:xfrm>
          <a:prstGeom prst="rect">
            <a:avLst/>
          </a:prstGeom>
          <a:noFill/>
        </p:spPr>
        <p:txBody>
          <a:bodyPr wrap="square" lIns="45720" tIns="27432" rIns="45720" bIns="27432" anchor="ctr">
            <a:spAutoFit/>
          </a:bodyPr>
          <a:lstStyle/>
          <a:p>
            <a:pPr algn="l"/>
            <a:r>
              <a:rPr sz="1600" b="1">
                <a:solidFill>
                  <a:srgbClr val="1F4E79"/>
                </a:solidFill>
                <a:latin typeface="Calibri"/>
              </a:rPr>
              <a:t>So the ask is more surveys in the pool, and the fifth one is already a test</a:t>
            </a:r>
          </a:p>
          <a:p>
            <a:pPr algn="l">
              <a:spcBef>
                <a:spcPts val="300"/>
              </a:spcBef>
            </a:pPr>
            <a:r>
              <a:rPr sz="1200" b="0">
                <a:solidFill>
                  <a:srgbClr val="333333"/>
                </a:solidFill>
                <a:latin typeface="Calibri"/>
              </a:rPr>
              <a:t>Two indices were written down before any new country's data was seen. We are asking countries with a recent, planned or shelved micronutrient survey to join the panel.</a:t>
            </a:r>
          </a:p>
        </p:txBody>
      </p:sp>
    </p:spTree>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The geostatistical model estimates levels better and ranks worse</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The DHS Program’s model-based geostatistics fitted at the survey clusters (a spatial field plus covariates), scored on the same district folds. On the level it scores 0.27 against 0.38 for the index (index better in 20 of 24 outcome-country combinations); on prevalence 0.21 against 0.21.</a:t>
            </a:r>
          </a:p>
        </p:txBody>
      </p:sp>
      <p:pic>
        <p:nvPicPr>
          <p:cNvPr id="4" name="Picture 1" descr="MN-proxy-full-talk-2026-09_files/figure-pptx/geostat-1.png"/>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42</a:t>
            </a:fld>
            <a:endParaRPr lang="en-BG"/>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The twenty layers behind child iron, and how much each carries</a:t>
            </a:r>
          </a:p>
        </p:txBody>
      </p:sp>
      <p:pic>
        <p:nvPicPr>
          <p:cNvPr id="3" name="Picture 1" descr="MN-proxy-full-talk-2026-09_files/figure-pptx/twenty-iron-1.png"/>
          <p:cNvPicPr>
            <a:picLocks noGrp="1" noChangeAspect="1"/>
          </p:cNvPicPr>
          <p:nvPr/>
        </p:nvPicPr>
        <p:blipFill>
          <a:blip r:embed="rId3"/>
          <a:stretch>
            <a:fillRect/>
          </a:stretch>
        </p:blipFill>
        <p:spPr bwMode="auto">
          <a:xfrm>
            <a:off x="2483157" y="1691640"/>
            <a:ext cx="7231781"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43</a:t>
            </a:fld>
            <a:endParaRPr lang="en-BG"/>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Sparse composites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Equal-weight composites of the top 5, 10 and 20 predictors, membership chosen inside each training fold by back-projected index weight. Twenty predictors cost -0.04 in-fill and gain -0.069 across borders; five predictors cost -0.06 in-fill.</a:t>
            </a:r>
          </a:p>
        </p:txBody>
      </p:sp>
      <p:pic>
        <p:nvPicPr>
          <p:cNvPr id="4" name="Picture 1" descr="MN-proxy-full-talk-2026-09_files/figure-pptx/sparse-1.png"/>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44</a:t>
            </a:fld>
            <a:endParaRPr lang="en-BG"/>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marL="0" lvl="0" indent="0">
              <a:buNone/>
            </a:pPr>
            <a:r>
              <a:t>Add-on predictor blocks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p:txBody>
          <a:bodyPr/>
          <a:lstStyle/>
          <a:p>
            <a:pPr marL="0" lvl="0" indent="0">
              <a:buNone/>
            </a:pPr>
            <a:r>
              <a:rPr sz="1800"/>
              <a:t>Median change in Spearman when a block is added to the base vocabulary, in-fill and district transport on the biomarker level, scored under one harness with the same folds.</a:t>
            </a:r>
          </a:p>
        </p:txBody>
      </p:sp>
      <p:pic>
        <p:nvPicPr>
          <p:cNvPr id="4" name="Picture 1" descr="MN-proxy-full-talk-2026-09_files/figure-pptx/addons-1.png"/>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45</a:t>
            </a:fld>
            <a:endParaRPr lang="en-B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14409</Words>
  <Application>Microsoft Office PowerPoint</Application>
  <PresentationFormat>Widescreen</PresentationFormat>
  <Paragraphs>529</Paragraphs>
  <Slides>45</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Aptos</vt:lpstr>
      <vt:lpstr>Aptos Display</vt:lpstr>
      <vt:lpstr>Arial</vt:lpstr>
      <vt:lpstr>Calibri</vt:lpstr>
      <vt:lpstr>Office Theme</vt:lpstr>
      <vt:lpstr>Predicting Micronutrient Deficiency Prevalence in Sub-Saharan Africa Using Proxy Indicators: A Multi-country Machine Learning Framework</vt:lpstr>
      <vt:lpstr>Goals</vt:lpstr>
      <vt:lpstr>Both a big-data opportunity and a small-data problem</vt:lpstr>
      <vt:lpstr>Which surveys did we learn from?</vt:lpstr>
      <vt:lpstr>Which deficiencies do we predict?</vt:lpstr>
      <vt:lpstr>Where do we have proxy data for those causes?</vt:lpstr>
      <vt:lpstr>What do the land, climate and agriculture layers look like?</vt:lpstr>
      <vt:lpstr>What do the health, food and household layers look like?</vt:lpstr>
      <vt:lpstr>Where do the 575 predictors come from?</vt:lpstr>
      <vt:lpstr>How are the layers matched to districts in space and time?</vt:lpstr>
      <vt:lpstr>29 conceptual domains of proxy variables</vt:lpstr>
      <vt:lpstr>How is the proxy dataset built?</vt:lpstr>
      <vt:lpstr>Which algorithms did we compare?</vt:lpstr>
      <vt:lpstr>How do we choose among algorithms?</vt:lpstr>
      <vt:lpstr>How does the best-performing model work?</vt:lpstr>
      <vt:lpstr>Three levels of prediction</vt:lpstr>
      <vt:lpstr>What is held out at each level?</vt:lpstr>
      <vt:lpstr>How far off is the predicted prevalence, outcome by outcome?</vt:lpstr>
      <vt:lpstr>How far off is the predicted mean concentration, outcome by outcome?</vt:lpstr>
      <vt:lpstr>Where do the rankings work?</vt:lpstr>
      <vt:lpstr>The strongest outcome-country combinations</vt:lpstr>
      <vt:lpstr>Ghana: survey, held-out prediction, extrapolation and uncertainty</vt:lpstr>
      <vt:lpstr>How good are the models? One table, two readings</vt:lpstr>
      <vt:lpstr>What does a rank correlation of 0.40 mean on the ground?</vt:lpstr>
      <vt:lpstr>How much of what a survey can see does the model recover?</vt:lpstr>
      <vt:lpstr>Does the model put districts in the right severity band?</vt:lpstr>
      <vt:lpstr>Which decisions are our models good enough for?</vt:lpstr>
      <vt:lpstr>Does it match the survey at the regional level?</vt:lpstr>
      <vt:lpstr>How likely is a district to be above the 20% line?</vt:lpstr>
      <vt:lpstr>How bad, and how sure, on one map?</vt:lpstr>
      <vt:lpstr>What do the rank intervals promise, and what do they not?</vt:lpstr>
      <vt:lpstr>Which predictors carry the most weight?</vt:lpstr>
      <vt:lpstr>What are the weights behind the best ranking? Malawi, women’s B12</vt:lpstr>
      <vt:lpstr>Causal driver or surrogate marker? Fish, anemia and B12 in Malawi</vt:lpstr>
      <vt:lpstr>What travels across borders, and what does not?</vt:lpstr>
      <vt:lpstr>What drives the transport models?</vt:lpstr>
      <vt:lpstr>Which associations replicate in every country?</vt:lpstr>
      <vt:lpstr>How good could any model be against this survey?</vt:lpstr>
      <vt:lpstr>Could a small national survey plus the model replace a district survey?</vt:lpstr>
      <vt:lpstr>What the models can and cannot do yet</vt:lpstr>
      <vt:lpstr>What have we learned, and what comes next?</vt:lpstr>
      <vt:lpstr>The geostatistical model estimates levels better and ranks worse</vt:lpstr>
      <vt:lpstr>The twenty layers behind child iron, and how much each carries</vt:lpstr>
      <vt:lpstr>Sparse composites</vt:lpstr>
      <vt:lpstr>Add-on predictor blocks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Andrew N. Mertens (University of California, Berkeley) and Sonja Y. Hess (University of California, Davis)</dc:creator>
  <cp:keywords/>
  <cp:lastModifiedBy>Andrew Mertens</cp:lastModifiedBy>
  <cp:revision>3</cp:revision>
  <dcterms:created xsi:type="dcterms:W3CDTF">2026-09-27T14:14:13Z</dcterms:created>
  <dcterms:modified xsi:type="dcterms:W3CDTF">2026-09-27T22:23:15Z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