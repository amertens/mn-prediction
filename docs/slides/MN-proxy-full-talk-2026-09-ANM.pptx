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0_0.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2_0.xml" ContentType="application/vnd.ms-powerpoint.comments+xml"/>
  <Override PartName="/ppt/notesSlides/notesSlide3.xml" ContentType="application/vnd.openxmlformats-officedocument.presentationml.notesSlide+xml"/>
  <Override PartName="/ppt/comments/modernComment_103_0.xml" ContentType="application/vnd.ms-powerpoint.comments+xml"/>
  <Override PartName="/ppt/notesSlides/notesSlide4.xml" ContentType="application/vnd.openxmlformats-officedocument.presentationml.notesSlide+xml"/>
  <Override PartName="/ppt/comments/modernComment_104_0.xml" ContentType="application/vnd.ms-powerpoint.comments+xml"/>
  <Override PartName="/ppt/notesSlides/notesSlide5.xml" ContentType="application/vnd.openxmlformats-officedocument.presentationml.notesSlide+xml"/>
  <Override PartName="/ppt/comments/modernComment_106_0.xml" ContentType="application/vnd.ms-powerpoint.comments+xml"/>
  <Override PartName="/ppt/notesSlides/notesSlide6.xml" ContentType="application/vnd.openxmlformats-officedocument.presentationml.notesSlide+xml"/>
  <Override PartName="/ppt/comments/modernComment_107_0.xml" ContentType="application/vnd.ms-powerpoint.comments+xml"/>
  <Override PartName="/ppt/notesSlides/notesSlide7.xml" ContentType="application/vnd.openxmlformats-officedocument.presentationml.notesSlide+xml"/>
  <Override PartName="/ppt/comments/modernComment_108_0.xml" ContentType="application/vnd.ms-powerpoint.comments+xml"/>
  <Override PartName="/ppt/notesSlides/notesSlide8.xml" ContentType="application/vnd.openxmlformats-officedocument.presentationml.notesSlide+xml"/>
  <Override PartName="/ppt/comments/modernComment_10A_0.xml" ContentType="application/vnd.ms-powerpoint.comments+xml"/>
  <Override PartName="/ppt/comments/modernComment_10B_0.xml" ContentType="application/vnd.ms-powerpoint.comments+xml"/>
  <Override PartName="/ppt/notesSlides/notesSlide9.xml" ContentType="application/vnd.openxmlformats-officedocument.presentationml.notesSlide+xml"/>
  <Override PartName="/ppt/comments/modernComment_10D_0.xml" ContentType="application/vnd.ms-powerpoint.comments+xml"/>
  <Override PartName="/ppt/notesSlides/notesSlide10.xml" ContentType="application/vnd.openxmlformats-officedocument.presentationml.notesSlide+xml"/>
  <Override PartName="/ppt/comments/modernComment_10E_0.xml" ContentType="application/vnd.ms-powerpoint.comments+xml"/>
  <Override PartName="/ppt/notesSlides/notesSlide11.xml" ContentType="application/vnd.openxmlformats-officedocument.presentationml.notesSlide+xml"/>
  <Override PartName="/ppt/comments/modernComment_10F_0.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11_0.xml" ContentType="application/vnd.ms-powerpoint.comments+xml"/>
  <Override PartName="/ppt/notesSlides/notesSlide14.xml" ContentType="application/vnd.openxmlformats-officedocument.presentationml.notesSlide+xml"/>
  <Override PartName="/ppt/comments/modernComment_112_0.xml" ContentType="application/vnd.ms-powerpoint.comments+xml"/>
  <Override PartName="/ppt/notesSlides/notesSlide15.xml" ContentType="application/vnd.openxmlformats-officedocument.presentationml.notesSlide+xml"/>
  <Override PartName="/ppt/comments/modernComment_113_0.xml" ContentType="application/vnd.ms-powerpoint.comments+xml"/>
  <Override PartName="/ppt/notesSlides/notesSlide16.xml" ContentType="application/vnd.openxmlformats-officedocument.presentationml.notesSlide+xml"/>
  <Override PartName="/ppt/comments/modernComment_114_0.xml" ContentType="application/vnd.ms-powerpoint.comments+xml"/>
  <Override PartName="/ppt/notesSlides/notesSlide17.xml" ContentType="application/vnd.openxmlformats-officedocument.presentationml.notesSlide+xml"/>
  <Override PartName="/ppt/comments/modernComment_116_0.xml" ContentType="application/vnd.ms-powerpoint.comments+xml"/>
  <Override PartName="/ppt/notesSlides/notesSlide18.xml" ContentType="application/vnd.openxmlformats-officedocument.presentationml.notesSlide+xml"/>
  <Override PartName="/ppt/comments/modernComment_117_0.xml" ContentType="application/vnd.ms-powerpoint.comments+xml"/>
  <Override PartName="/ppt/notesSlides/notesSlide19.xml" ContentType="application/vnd.openxmlformats-officedocument.presentationml.notesSlide+xml"/>
  <Override PartName="/ppt/comments/modernComment_118_0.xml" ContentType="application/vnd.ms-powerpoint.comments+xml"/>
  <Override PartName="/ppt/notesSlides/notesSlide20.xml" ContentType="application/vnd.openxmlformats-officedocument.presentationml.notesSlide+xml"/>
  <Override PartName="/ppt/comments/modernComment_119_0.xml" ContentType="application/vnd.ms-powerpoint.comments+xml"/>
  <Override PartName="/ppt/notesSlides/notesSlide21.xml" ContentType="application/vnd.openxmlformats-officedocument.presentationml.notesSlide+xml"/>
  <Override PartName="/ppt/comments/modernComment_11A_0.xml" ContentType="application/vnd.ms-powerpoint.comments+xml"/>
  <Override PartName="/ppt/notesSlides/notesSlide22.xml" ContentType="application/vnd.openxmlformats-officedocument.presentationml.notesSlide+xml"/>
  <Override PartName="/ppt/comments/modernComment_11C_0.xml" ContentType="application/vnd.ms-powerpoint.comments+xml"/>
  <Override PartName="/ppt/notesSlides/notesSlide23.xml" ContentType="application/vnd.openxmlformats-officedocument.presentationml.notesSlide+xml"/>
  <Override PartName="/ppt/comments/modernComment_11D_0.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11F_0.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modernComment_121_0.xml" ContentType="application/vnd.ms-powerpoint.comments+xml"/>
  <Override PartName="/ppt/notesSlides/notesSlide28.xml" ContentType="application/vnd.openxmlformats-officedocument.presentationml.notesSlide+xml"/>
  <Override PartName="/ppt/comments/modernComment_122_0.xml" ContentType="application/vnd.ms-powerpoint.comments+xml"/>
  <Override PartName="/ppt/notesSlides/notesSlide29.xml" ContentType="application/vnd.openxmlformats-officedocument.presentationml.notesSlide+xml"/>
  <Override PartName="/ppt/comments/modernComment_123_0.xml" ContentType="application/vnd.ms-powerpoint.comments+xml"/>
  <Override PartName="/ppt/notesSlides/notesSlide30.xml" ContentType="application/vnd.openxmlformats-officedocument.presentationml.notesSlide+xml"/>
  <Override PartName="/ppt/comments/modernComment_124_0.xml" ContentType="application/vnd.ms-powerpoint.comments+xml"/>
  <Override PartName="/ppt/notesSlides/notesSlide31.xml" ContentType="application/vnd.openxmlformats-officedocument.presentationml.notesSlide+xml"/>
  <Override PartName="/ppt/comments/modernComment_125_0.xml" ContentType="application/vnd.ms-powerpoint.comment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omments/modernComment_128_0.xml" ContentType="application/vnd.ms-powerpoint.comment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omments/modernComment_12A_0.xml" ContentType="application/vnd.ms-powerpoint.comments+xml"/>
  <Override PartName="/ppt/notesSlides/notesSlide37.xml" ContentType="application/vnd.openxmlformats-officedocument.presentationml.notesSlide+xml"/>
  <Override PartName="/ppt/comments/modernComment_12B_0.xml" ContentType="application/vnd.ms-powerpoint.comments+xml"/>
  <Override PartName="/ppt/notesSlides/notesSlide38.xml" ContentType="application/vnd.openxmlformats-officedocument.presentationml.notesSlide+xml"/>
  <Override PartName="/ppt/comments/modernComment_12C_0.xml" ContentType="application/vnd.ms-powerpoint.comments+xml"/>
  <Override PartName="/ppt/notesSlides/notesSlide39.xml" ContentType="application/vnd.openxmlformats-officedocument.presentationml.notesSlide+xml"/>
  <Override PartName="/ppt/comments/modernComment_12D_0.xml" ContentType="application/vnd.ms-powerpoint.comments+xml"/>
  <Override PartName="/ppt/notesSlides/notesSlide40.xml" ContentType="application/vnd.openxmlformats-officedocument.presentationml.notesSlide+xml"/>
  <Override PartName="/ppt/comments/modernComment_12E_0.xml" ContentType="application/vnd.ms-powerpoint.comments+xml"/>
  <Override PartName="/ppt/notesSlides/notesSlide41.xml" ContentType="application/vnd.openxmlformats-officedocument.presentationml.notesSlide+xml"/>
  <Override PartName="/ppt/comments/modernComment_12F_0.xml" ContentType="application/vnd.ms-powerpoint.comment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omments/modernComment_132_0.xml" ContentType="application/vnd.ms-powerpoint.comment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omments/modernComment_136_0.xml" ContentType="application/vnd.ms-powerpoint.comments+xml"/>
  <Override PartName="/ppt/notesSlides/notesSlide48.xml" ContentType="application/vnd.openxmlformats-officedocument.presentationml.notesSlide+xml"/>
  <Override PartName="/ppt/comments/modernComment_137_0.xml" ContentType="application/vnd.ms-powerpoint.comments+xml"/>
  <Override PartName="/ppt/notesSlides/notesSlide49.xml" ContentType="application/vnd.openxmlformats-officedocument.presentationml.notesSlide+xml"/>
  <Override PartName="/ppt/comments/modernComment_138_0.xml" ContentType="application/vnd.ms-powerpoint.comments+xml"/>
  <Override PartName="/ppt/notesSlides/notesSlide50.xml" ContentType="application/vnd.openxmlformats-officedocument.presentationml.notesSlide+xml"/>
  <Override PartName="/ppt/comments/modernComment_139_0.xml" ContentType="application/vnd.ms-powerpoint.comment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omments/modernComment_13C_0.xml" ContentType="application/vnd.ms-powerpoint.comments+xml"/>
  <Override PartName="/ppt/notesSlides/notesSlide53.xml" ContentType="application/vnd.openxmlformats-officedocument.presentationml.notesSlide+xml"/>
  <Override PartName="/ppt/comments/modernComment_13D_0.xml" ContentType="application/vnd.ms-powerpoint.comments+xml"/>
  <Override PartName="/ppt/notesSlides/notesSlide54.xml" ContentType="application/vnd.openxmlformats-officedocument.presentationml.notesSlide+xml"/>
  <Override PartName="/ppt/comments/modernComment_13E_0.xml" ContentType="application/vnd.ms-powerpoint.comments+xml"/>
  <Override PartName="/ppt/notesSlides/notesSlide55.xml" ContentType="application/vnd.openxmlformats-officedocument.presentationml.notesSlide+xml"/>
  <Override PartName="/ppt/comments/modernComment_13F_0.xml" ContentType="application/vnd.ms-powerpoint.comments+xml"/>
  <Override PartName="/ppt/notesSlides/notesSlide56.xml" ContentType="application/vnd.openxmlformats-officedocument.presentationml.notesSlide+xml"/>
  <Override PartName="/ppt/comments/modernComment_140_0.xml" ContentType="application/vnd.ms-powerpoint.comments+xml"/>
  <Override PartName="/ppt/notesSlides/notesSlide57.xml" ContentType="application/vnd.openxmlformats-officedocument.presentationml.notesSlide+xml"/>
  <Override PartName="/ppt/comments/modernComment_141_0.xml" ContentType="application/vnd.ms-powerpoint.comments+xml"/>
  <Override PartName="/ppt/notesSlides/notesSlide58.xml" ContentType="application/vnd.openxmlformats-officedocument.presentationml.notesSlide+xml"/>
  <Override PartName="/ppt/comments/modernComment_143_0.xml" ContentType="application/vnd.ms-powerpoint.comments+xml"/>
  <Override PartName="/ppt/notesSlides/notesSlide59.xml" ContentType="application/vnd.openxmlformats-officedocument.presentationml.notesSlide+xml"/>
  <Override PartName="/ppt/comments/modernComment_144_0.xml" ContentType="application/vnd.ms-powerpoint.comment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omments/modernComment_146_0.xml" ContentType="application/vnd.ms-powerpoint.comments+xml"/>
  <Override PartName="/ppt/notesSlides/notesSlide62.xml" ContentType="application/vnd.openxmlformats-officedocument.presentationml.notesSlide+xml"/>
  <Override PartName="/ppt/comments/modernComment_147_0.xml" ContentType="application/vnd.ms-powerpoint.comment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omments/modernComment_14A_0.xml" ContentType="application/vnd.ms-powerpoint.comment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0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4E4CAE-E167-60D0-ADF6-DC628FC944DC}" name="Andrew Mertens" initials="AM" userId="S::amertens@BERKELEY.EDU::40cc52c3-f288-42ba-b8ef-bfc4fa2900b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4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8478" autoAdjust="0"/>
  </p:normalViewPr>
  <p:slideViewPr>
    <p:cSldViewPr snapToGrid="0">
      <p:cViewPr varScale="1">
        <p:scale>
          <a:sx n="86" d="100"/>
          <a:sy n="86" d="100"/>
        </p:scale>
        <p:origin x="15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8/10/relationships/authors" Targe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883C75BA-730D-4E89-942A-BAF3DE036466}" authorId="{014E4CAE-E167-60D0-ADF6-DC628FC944DC}" created="2026-09-17T13:17:36.173">
    <ac:deMkLst xmlns:ac="http://schemas.microsoft.com/office/drawing/2013/main/command">
      <pc:docMk xmlns:pc="http://schemas.microsoft.com/office/powerpoint/2013/main/command"/>
      <pc:sldMk xmlns:pc="http://schemas.microsoft.com/office/powerpoint/2013/main/command" cId="0" sldId="266"/>
      <ac:spMk id="2" creationId="{00000000-0000-0000-0000-000000000000}"/>
    </ac:deMkLst>
    <p188:txBody>
      <a:bodyPr/>
      <a:lstStyle/>
      <a:p>
        <a:r>
          <a:rPr lang="en-US"/>
          <a:t>Delete- all this will be said verbally, so add to speaker notes where appropriate</a:t>
        </a:r>
      </a:p>
    </p188:txBody>
  </p188:cm>
</p188:cmLst>
</file>

<file path=ppt/comments/modernComment_10B_0.xml><?xml version="1.0" encoding="utf-8"?>
<p188:cmLst xmlns:a="http://schemas.openxmlformats.org/drawingml/2006/main" xmlns:r="http://schemas.openxmlformats.org/officeDocument/2006/relationships" xmlns:p188="http://schemas.microsoft.com/office/powerpoint/2018/8/main">
  <p188:cm id="{3CC9189E-D5F5-4488-9AEE-6A514AF69DA3}" authorId="{014E4CAE-E167-60D0-ADF6-DC628FC944DC}" created="2026-09-17T13:18:19.498">
    <pc:sldMkLst xmlns:pc="http://schemas.microsoft.com/office/powerpoint/2013/main/command">
      <pc:docMk/>
      <pc:sldMk cId="0" sldId="267"/>
    </pc:sldMkLst>
    <p188:txBody>
      <a:bodyPr/>
      <a:lstStyle/>
      <a:p>
        <a:r>
          <a:rPr lang="en-US"/>
          <a:t>Hard for the audience to read- can this and the next be updated to be simpler, use less acronyms, and maybe have symbols (maybe move out of being a table)</a:t>
        </a:r>
      </a:p>
    </p188:txBody>
  </p188:cm>
</p188:cmLst>
</file>

<file path=ppt/comments/modernComment_10D_0.xml><?xml version="1.0" encoding="utf-8"?>
<p188:cmLst xmlns:a="http://schemas.openxmlformats.org/drawingml/2006/main" xmlns:r="http://schemas.openxmlformats.org/officeDocument/2006/relationships" xmlns:p188="http://schemas.microsoft.com/office/powerpoint/2018/8/main">
  <p188:cm id="{E8D545F5-EB7F-4ACC-A3F5-BE3E6B4B827B}" authorId="{014E4CAE-E167-60D0-ADF6-DC628FC944DC}" created="2026-09-17T13:19:01.079">
    <ac:txMkLst xmlns:ac="http://schemas.microsoft.com/office/drawing/2013/main/command">
      <pc:docMk xmlns:pc="http://schemas.microsoft.com/office/powerpoint/2013/main/command"/>
      <pc:sldMk xmlns:pc="http://schemas.microsoft.com/office/powerpoint/2013/main/command" cId="0" sldId="269"/>
      <ac:spMk id="3" creationId="{00000000-0000-0000-0000-000000000000}"/>
      <ac:txMk cp="0" len="222">
        <ac:context len="223" hash="435352258"/>
      </ac:txMk>
    </ac:txMkLst>
    <p188:pos x="5146288" y="226199"/>
    <p188:txBody>
      <a:bodyPr/>
      <a:lstStyle/>
      <a:p>
        <a:r>
          <a:rPr lang="en-US"/>
          <a:t>“district spine” is a weird and confusing term- make more clear</a:t>
        </a:r>
      </a:p>
    </p188:txBody>
  </p188:cm>
  <p188:cm id="{0FBA7133-3C76-4A58-916B-0E2B4529D8DE}" authorId="{014E4CAE-E167-60D0-ADF6-DC628FC944DC}" created="2026-09-17T13:19:12.791">
    <ac:deMkLst xmlns:ac="http://schemas.microsoft.com/office/drawing/2013/main/command">
      <pc:docMk xmlns:pc="http://schemas.microsoft.com/office/powerpoint/2013/main/command"/>
      <pc:sldMk xmlns:pc="http://schemas.microsoft.com/office/powerpoint/2013/main/command" cId="0" sldId="269"/>
      <ac:picMk id="4" creationId="{00000000-0000-0000-0000-000000000000}"/>
    </ac:deMkLst>
    <p188:txBody>
      <a:bodyPr/>
      <a:lstStyle/>
      <a:p>
        <a:r>
          <a:rPr lang="en-US"/>
          <a:t>Make bullet points</a:t>
        </a:r>
      </a:p>
    </p188:txBody>
  </p188:cm>
  <p188:cm id="{24A31C39-6A93-45D3-9C9D-47695C04101F}" authorId="{014E4CAE-E167-60D0-ADF6-DC628FC944DC}" created="2026-09-17T13:19:39.617">
    <ac:deMkLst xmlns:ac="http://schemas.microsoft.com/office/drawing/2013/main/command">
      <pc:docMk xmlns:pc="http://schemas.microsoft.com/office/powerpoint/2013/main/command"/>
      <pc:sldMk xmlns:pc="http://schemas.microsoft.com/office/powerpoint/2013/main/command" cId="0" sldId="269"/>
      <ac:picMk id="4" creationId="{00000000-0000-0000-0000-000000000000}"/>
    </ac:deMkLst>
    <p188:txBody>
      <a:bodyPr/>
      <a:lstStyle/>
      <a:p>
        <a:r>
          <a:rPr lang="en-US"/>
          <a:t>Simplify Y axis a bit </a:t>
        </a:r>
      </a:p>
    </p188:txBody>
  </p188:cm>
  <p188:cm id="{C47F7BE8-6BC0-4F56-BA21-19237390735C}" authorId="{014E4CAE-E167-60D0-ADF6-DC628FC944DC}" created="2026-09-17T13:19:47.750">
    <ac:txMkLst xmlns:ac="http://schemas.microsoft.com/office/drawing/2013/main/command">
      <pc:docMk xmlns:pc="http://schemas.microsoft.com/office/powerpoint/2013/main/command"/>
      <pc:sldMk xmlns:pc="http://schemas.microsoft.com/office/powerpoint/2013/main/command" cId="0" sldId="269"/>
      <ac:spMk id="2" creationId="{00000000-0000-0000-0000-000000000000}"/>
      <ac:txMk cp="0" len="50">
        <ac:context len="51" hash="1858380897"/>
      </ac:txMk>
    </ac:txMkLst>
    <p188:pos x="10350190" y="229607"/>
    <p188:txBody>
      <a:bodyPr/>
      <a:lstStyle/>
      <a:p>
        <a:r>
          <a:rPr lang="en-US"/>
          <a:t>Make question</a:t>
        </a:r>
      </a:p>
    </p188:txBody>
  </p188:cm>
</p188:cmLst>
</file>

<file path=ppt/comments/modernComment_10E_0.xml><?xml version="1.0" encoding="utf-8"?>
<p188:cmLst xmlns:a="http://schemas.openxmlformats.org/drawingml/2006/main" xmlns:r="http://schemas.openxmlformats.org/officeDocument/2006/relationships" xmlns:p188="http://schemas.microsoft.com/office/powerpoint/2018/8/main">
  <p188:cm id="{419357A7-E7F7-4B47-B3BE-38E898A40AE2}" authorId="{014E4CAE-E167-60D0-ADF6-DC628FC944DC}" created="2026-09-17T13:19:58.451">
    <ac:deMkLst xmlns:ac="http://schemas.microsoft.com/office/drawing/2013/main/command">
      <pc:docMk xmlns:pc="http://schemas.microsoft.com/office/powerpoint/2013/main/command"/>
      <pc:sldMk xmlns:pc="http://schemas.microsoft.com/office/powerpoint/2013/main/command" cId="0" sldId="270"/>
      <ac:spMk id="2" creationId="{00000000-0000-0000-0000-000000000000}"/>
    </ac:deMkLst>
    <p188:txBody>
      <a:bodyPr/>
      <a:lstStyle/>
      <a:p>
        <a:r>
          <a:rPr lang="en-US"/>
          <a:t>delete</a:t>
        </a:r>
      </a:p>
    </p188:txBody>
  </p188:cm>
</p188:cmLst>
</file>

<file path=ppt/comments/modernComment_10F_0.xml><?xml version="1.0" encoding="utf-8"?>
<p188:cmLst xmlns:a="http://schemas.openxmlformats.org/drawingml/2006/main" xmlns:r="http://schemas.openxmlformats.org/officeDocument/2006/relationships" xmlns:p188="http://schemas.microsoft.com/office/powerpoint/2018/8/main">
  <p188:cm id="{F8F9BDE7-C2F2-425A-97A7-9EFFE7817EA7}" authorId="{014E4CAE-E167-60D0-ADF6-DC628FC944DC}" created="2026-09-17T13:20:22.748">
    <ac:txMkLst xmlns:ac="http://schemas.microsoft.com/office/drawing/2013/main/command">
      <pc:docMk xmlns:pc="http://schemas.microsoft.com/office/powerpoint/2013/main/command"/>
      <pc:sldMk xmlns:pc="http://schemas.microsoft.com/office/powerpoint/2013/main/command" cId="0" sldId="271"/>
      <ac:spMk id="2" creationId="{00000000-0000-0000-0000-000000000000}"/>
      <ac:txMk cp="0" len="36">
        <ac:context len="37" hash="3989248642"/>
      </ac:txMk>
    </ac:txMkLst>
    <p188:pos x="8365273" y="534407"/>
    <p188:txBody>
      <a:bodyPr/>
      <a:lstStyle/>
      <a:p>
        <a:r>
          <a:rPr lang="en-US"/>
          <a:t>Massively simplify to a single concise slide the time and space joining</a:t>
        </a:r>
      </a:p>
    </p188:txBody>
  </p188:cm>
</p188:cmLst>
</file>

<file path=ppt/comments/modernComment_11A_0.xml><?xml version="1.0" encoding="utf-8"?>
<p188:cmLst xmlns:a="http://schemas.openxmlformats.org/drawingml/2006/main" xmlns:r="http://schemas.openxmlformats.org/officeDocument/2006/relationships" xmlns:p188="http://schemas.microsoft.com/office/powerpoint/2018/8/main">
  <p188:cm id="{25865FA1-A196-4A57-A453-F39277EB72EC}" authorId="{014E4CAE-E167-60D0-ADF6-DC628FC944DC}" created="2026-09-17T14:26:16.060">
    <ac:deMkLst xmlns:ac="http://schemas.microsoft.com/office/drawing/2013/main/command">
      <pc:docMk xmlns:pc="http://schemas.microsoft.com/office/powerpoint/2013/main/command"/>
      <pc:sldMk xmlns:pc="http://schemas.microsoft.com/office/powerpoint/2013/main/command" cId="0" sldId="282"/>
      <ac:picMk id="3" creationId="{00000000-0000-0000-0000-000000000000}"/>
    </ac:deMkLst>
    <p188:txBody>
      <a:bodyPr/>
      <a:lstStyle/>
      <a:p>
        <a:r>
          <a:rPr lang="en-US"/>
          <a:t>Remove the question marks from the subtitle.
For the first two panels, shouldn’t just Ghana be shown?</a:t>
        </a:r>
      </a:p>
    </p188:txBody>
  </p188:cm>
</p188:cmLst>
</file>

<file path=ppt/comments/modernComment_11C_0.xml><?xml version="1.0" encoding="utf-8"?>
<p188:cmLst xmlns:a="http://schemas.openxmlformats.org/drawingml/2006/main" xmlns:r="http://schemas.openxmlformats.org/officeDocument/2006/relationships" xmlns:p188="http://schemas.microsoft.com/office/powerpoint/2018/8/main">
  <p188:cm id="{0138F51E-C48C-4718-B5C2-C7B18AF476A5}" authorId="{014E4CAE-E167-60D0-ADF6-DC628FC944DC}" created="2026-09-17T14:26:50.757">
    <ac:txMkLst xmlns:ac="http://schemas.microsoft.com/office/drawing/2013/main/command">
      <pc:docMk xmlns:pc="http://schemas.microsoft.com/office/powerpoint/2013/main/command"/>
      <pc:sldMk xmlns:pc="http://schemas.microsoft.com/office/powerpoint/2013/main/command" cId="0" sldId="284"/>
      <ac:spMk id="3" creationId="{00000000-0000-0000-0000-000000000000}"/>
      <ac:txMk cp="194" len="5">
        <ac:context len="243" hash="1971678177"/>
      </ac:txMk>
    </ac:txMkLst>
    <p188:pos x="4633332" y="962180"/>
    <p188:txBody>
      <a:bodyPr/>
      <a:lstStyle/>
      <a:p>
        <a:r>
          <a:rPr lang="en-US"/>
          <a:t>Don’t call it cells, call them outcome-country combinations.</a:t>
        </a:r>
      </a:p>
    </p188:txBody>
  </p188:cm>
  <p188:cm id="{D8ED7DF2-B66C-4183-AACC-7613DF4425B5}" authorId="{014E4CAE-E167-60D0-ADF6-DC628FC944DC}" created="2026-09-17T14:27:10.988">
    <ac:txMkLst xmlns:ac="http://schemas.microsoft.com/office/drawing/2013/main/command">
      <pc:docMk xmlns:pc="http://schemas.microsoft.com/office/powerpoint/2013/main/command"/>
      <pc:sldMk xmlns:pc="http://schemas.microsoft.com/office/powerpoint/2013/main/command" cId="0" sldId="284"/>
      <ac:spMk id="3" creationId="{00000000-0000-0000-0000-000000000000}"/>
      <ac:txMk cp="100" len="4">
        <ac:context len="243" hash="1971678177"/>
      </ac:txMk>
    </ac:txMkLst>
    <p188:pos x="522249" y="716853"/>
    <p188:txBody>
      <a:bodyPr/>
      <a:lstStyle/>
      <a:p>
        <a:r>
          <a:rPr lang="en-US"/>
          <a:t>Any way of translating this into a more interpretable statement</a:t>
        </a:r>
      </a:p>
    </p188:txBody>
  </p188:cm>
  <p188:cm id="{A154D914-1249-48CE-973F-8DBB0DB873E7}" authorId="{014E4CAE-E167-60D0-ADF6-DC628FC944DC}" created="2026-09-17T14:27:22.387">
    <ac:deMkLst xmlns:ac="http://schemas.microsoft.com/office/drawing/2013/main/command">
      <pc:docMk xmlns:pc="http://schemas.microsoft.com/office/powerpoint/2013/main/command"/>
      <pc:sldMk xmlns:pc="http://schemas.microsoft.com/office/powerpoint/2013/main/command" cId="0" sldId="284"/>
      <ac:picMk id="4" creationId="{00000000-0000-0000-0000-000000000000}"/>
    </ac:deMkLst>
    <p188:txBody>
      <a:bodyPr/>
      <a:lstStyle/>
      <a:p>
        <a:r>
          <a:rPr lang="en-US"/>
          <a:t>X-axis is getting cut off</a:t>
        </a:r>
      </a:p>
    </p188:txBody>
  </p188:cm>
  <p188:cm id="{79C5195F-CE9B-419A-AB13-CA96F521F54C}" authorId="{014E4CAE-E167-60D0-ADF6-DC628FC944DC}" created="2026-09-17T14:40:57.110">
    <ac:deMkLst xmlns:ac="http://schemas.microsoft.com/office/drawing/2013/main/command">
      <pc:docMk xmlns:pc="http://schemas.microsoft.com/office/powerpoint/2013/main/command"/>
      <pc:sldMk xmlns:pc="http://schemas.microsoft.com/office/powerpoint/2013/main/command" cId="0" sldId="284"/>
      <ac:picMk id="4" creationId="{00000000-0000-0000-0000-000000000000}"/>
    </ac:deMkLst>
    <p188:txBody>
      <a:bodyPr/>
      <a:lstStyle/>
      <a:p>
        <a:r>
          <a:rPr lang="en-US"/>
          <a:t>Are there more interpretable metrics the spearman can be converted to? No worries if not</a:t>
        </a:r>
      </a:p>
    </p188:txBody>
  </p188:cm>
</p188:cmLst>
</file>

<file path=ppt/comments/modernComment_11D_0.xml><?xml version="1.0" encoding="utf-8"?>
<p188:cmLst xmlns:a="http://schemas.openxmlformats.org/drawingml/2006/main" xmlns:r="http://schemas.openxmlformats.org/officeDocument/2006/relationships" xmlns:p188="http://schemas.microsoft.com/office/powerpoint/2018/8/main">
  <p188:cm id="{BE8C29E3-1F01-4B8A-A653-BB1F73A90F81}" authorId="{014E4CAE-E167-60D0-ADF6-DC628FC944DC}" created="2026-09-17T14:46:30.183">
    <ac:deMkLst xmlns:ac="http://schemas.microsoft.com/office/drawing/2013/main/command">
      <pc:docMk xmlns:pc="http://schemas.microsoft.com/office/powerpoint/2013/main/command"/>
      <pc:sldMk xmlns:pc="http://schemas.microsoft.com/office/powerpoint/2013/main/command" cId="0" sldId="285"/>
      <ac:picMk id="3" creationId="{00000000-0000-0000-0000-000000000000}"/>
    </ac:deMkLst>
    <p188:txBody>
      <a:bodyPr/>
      <a:lstStyle/>
      <a:p>
        <a:r>
          <a:rPr lang="en-US"/>
          <a:t>Pick one outcome (Maybe women’s iron), and then show the survey, the predictions, the extrapolated predictions to unsurveyed districts, and the uncertainty estimates</a:t>
        </a:r>
      </a:p>
    </p188:txBody>
  </p188:cm>
</p188:cmLst>
</file>

<file path=ppt/comments/modernComment_11F_0.xml><?xml version="1.0" encoding="utf-8"?>
<p188:cmLst xmlns:a="http://schemas.openxmlformats.org/drawingml/2006/main" xmlns:r="http://schemas.openxmlformats.org/officeDocument/2006/relationships" xmlns:p188="http://schemas.microsoft.com/office/powerpoint/2018/8/main">
  <p188:cm id="{3AC4007D-842F-49C5-A177-6EC2F9EAED30}" authorId="{014E4CAE-E167-60D0-ADF6-DC628FC944DC}" created="2026-09-17T14:43:17.160">
    <ac:txMkLst xmlns:ac="http://schemas.microsoft.com/office/drawing/2013/main/command">
      <pc:docMk xmlns:pc="http://schemas.microsoft.com/office/powerpoint/2013/main/command"/>
      <pc:sldMk xmlns:pc="http://schemas.microsoft.com/office/powerpoint/2013/main/command" cId="0" sldId="287"/>
      <ac:spMk id="2" creationId="{00000000-0000-0000-0000-000000000000}"/>
      <ac:txMk cp="0" len="63">
        <ac:context len="64" hash="366545170"/>
      </ac:txMk>
    </ac:txMkLst>
    <p188:pos x="9800063" y="229607"/>
    <p188:txBody>
      <a:bodyPr/>
      <a:lstStyle/>
      <a:p>
        <a:r>
          <a:rPr lang="en-US"/>
          <a:t>Show plots for both</a:t>
        </a:r>
      </a:p>
    </p188:txBody>
  </p188:cm>
</p188:cmLst>
</file>

<file path=ppt/comments/modernComment_12A_0.xml><?xml version="1.0" encoding="utf-8"?>
<p188:cmLst xmlns:a="http://schemas.openxmlformats.org/drawingml/2006/main" xmlns:r="http://schemas.openxmlformats.org/officeDocument/2006/relationships" xmlns:p188="http://schemas.microsoft.com/office/powerpoint/2018/8/main">
  <p188:cm id="{32932461-9FA6-4E66-B3FF-C18D6CE58775}" authorId="{014E4CAE-E167-60D0-ADF6-DC628FC944DC}" created="2026-09-17T15:20:15.966">
    <ac:txMkLst xmlns:ac="http://schemas.microsoft.com/office/drawing/2013/main/command">
      <pc:docMk xmlns:pc="http://schemas.microsoft.com/office/powerpoint/2013/main/command"/>
      <pc:sldMk xmlns:pc="http://schemas.microsoft.com/office/powerpoint/2013/main/command" cId="0" sldId="298"/>
      <ac:spMk id="4" creationId="{00000000-0000-0000-0000-000000000000}"/>
      <ac:txMk cp="0" len="7">
        <ac:context len="384" hash="1447285246"/>
      </ac:txMk>
    </ac:txMkLst>
    <p188:pos x="875371" y="226199"/>
    <p188:txBody>
      <a:bodyPr/>
      <a:lstStyle/>
      <a:p>
        <a:r>
          <a:rPr lang="en-US"/>
          <a:t>Make this text clearer based on this:
The two sentences on the evaluation-summary slide
"Ranking. Take any two districts…" This is the exact pair count (PC-01), not the correlation. For every pair of surveyed districts in a country, the survey says which of the two is worse; the model, predicting each district with that district held out, also says which is worse. We count the share of pairs where they agree. Inside a surveyed country that's 60% (over the 24 cells). Two references make the number readable: a random ordering gets 50% by definition; and if instead of a model you used the survey's own regional averages — every district in a region gets its region's value, computed without that district's own respondents — you'd get 56%. In leave-one-country-out transport, where the model has never seen the country, it's 55%. So the honest gloss is "six pairs in ten, versus five and a half with what a ministry already has" — the correlation of 0.40 sounds like more than that, which is why the pair count is on the slide.
"Level. The average district error is 16 to 14 points…" — and I should fix the wording, because it's backwards and mixes two things. The 12.6–16.0 points (Gambia 12.6, Malawi 14.4, Ghana 16.0 — the slide says "16 to 14" because it quotes Ghana then Malawi; it should say "13 to 16") is the population-weighted mean absolute error of the in-country held-out district prevalence for child iron: how many percentage points a district's predicted prevalence is from the survey's. It's large because the index is a ranker rescaled to the training spread, not a calibrated level, and because single-cluster survey estimates are noisy on both sides of the comparison. The 9.3 points is a different estimand: the anchor-and-rank design in a new country, where a 5% nationally representative sample sets the national level and the transported climate-and-soil ranking spreads it across districts; median district error 9.3 points, which a district-representative survey only matches at about 25% of a full sample. The last clause — "read levels as planning figures, rankings as the product" — is the conclusion both numbers point to: the order is what the model is good at; a level is only available with an anchor and should be treated as a planning figure, not a measurement.
I'll change the slide text to: "Level. Inside a surveyed country the held-out district prevalence is off by 13–16 points on average (child iron); in a new country, one 5% national sample plus the ranking gives 9.3 points, a district survey matches that only at 25% of full size. Read levels as planning figures, rankings as the product."</a:t>
        </a:r>
      </a:p>
    </p188:txBody>
  </p188:cm>
</p188:cmLst>
</file>

<file path=ppt/comments/modernComment_12B_0.xml><?xml version="1.0" encoding="utf-8"?>
<p188:cmLst xmlns:a="http://schemas.openxmlformats.org/drawingml/2006/main" xmlns:r="http://schemas.openxmlformats.org/officeDocument/2006/relationships" xmlns:p188="http://schemas.microsoft.com/office/powerpoint/2018/8/main">
  <p188:cm id="{3FB6A315-24F9-4555-A452-B9BD970DB624}" authorId="{014E4CAE-E167-60D0-ADF6-DC628FC944DC}" created="2026-09-17T15:24:02.147">
    <ac:txMkLst xmlns:ac="http://schemas.microsoft.com/office/drawing/2013/main/command">
      <pc:docMk xmlns:pc="http://schemas.microsoft.com/office/powerpoint/2013/main/command"/>
      <pc:sldMk xmlns:pc="http://schemas.microsoft.com/office/powerpoint/2013/main/command" cId="0" sldId="299"/>
      <ac:spMk id="4" creationId="{00000000-0000-0000-0000-000000000000}"/>
      <ac:txMk cp="124" len="22">
        <ac:context len="230" hash="3965224849"/>
      </ac:txMk>
    </ac:txMkLst>
    <p188:pos x="4245567" y="739326"/>
    <p188:txBody>
      <a:bodyPr/>
      <a:lstStyle/>
      <a:p>
        <a:r>
          <a:rPr lang="en-US"/>
          <a:t>"a random ordering of the districts gets 50% on average; the survey's regional averages 56%</a:t>
        </a:r>
      </a:p>
    </p188:txBody>
  </p188:cm>
  <p188:cm id="{C1CD942E-00E3-4895-9AEC-85BFA8F101E6}" authorId="{014E4CAE-E167-60D0-ADF6-DC628FC944DC}" created="2026-09-17T15:25:00.433">
    <pc:sldMkLst xmlns:pc="http://schemas.microsoft.com/office/powerpoint/2013/main/command">
      <pc:docMk/>
      <pc:sldMk cId="0" sldId="299"/>
    </pc:sldMkLst>
    <p188:txBody>
      <a:bodyPr/>
      <a:lstStyle/>
      <a:p>
        <a:r>
          <a:rPr lang="en-US"/>
          <a:t>Is this the average or best model? Pick the numbers from the best model</a:t>
        </a:r>
      </a:p>
    </p188:txBody>
  </p188:cm>
</p188:cmLst>
</file>

<file path=ppt/comments/modernComment_12C_0.xml><?xml version="1.0" encoding="utf-8"?>
<p188:cmLst xmlns:a="http://schemas.openxmlformats.org/drawingml/2006/main" xmlns:r="http://schemas.openxmlformats.org/officeDocument/2006/relationships" xmlns:p188="http://schemas.microsoft.com/office/powerpoint/2018/8/main">
  <p188:cm id="{C6439EE1-63B6-40F0-989F-3892272EEC41}" authorId="{014E4CAE-E167-60D0-ADF6-DC628FC944DC}" created="2026-09-17T15:25:22.735">
    <ac:txMkLst xmlns:ac="http://schemas.microsoft.com/office/drawing/2013/main/command">
      <pc:docMk xmlns:pc="http://schemas.microsoft.com/office/powerpoint/2013/main/command"/>
      <pc:sldMk xmlns:pc="http://schemas.microsoft.com/office/powerpoint/2013/main/command" cId="0" sldId="300"/>
      <ac:spMk id="6" creationId="{00000000-0000-0000-0000-000000000000}"/>
      <ac:txMk cp="95" len="63">
        <ac:context len="160" hash="1269760718"/>
      </ac:txMk>
    </ac:txMkLst>
    <p188:pos x="8572240" y="837457"/>
    <p188:txBody>
      <a:bodyPr/>
      <a:lstStyle/>
      <a:p>
        <a:r>
          <a:rPr lang="en-US"/>
          <a:t>How do we know this? Can you concisely explain here</a:t>
        </a:r>
      </a:p>
    </p188:txBody>
  </p188:cm>
  <p188:cm id="{BAA3EF51-B725-4E19-ACCE-120190126D10}" authorId="{014E4CAE-E167-60D0-ADF6-DC628FC944DC}" created="2026-09-17T15:25:52.109">
    <ac:txMkLst xmlns:ac="http://schemas.microsoft.com/office/drawing/2013/main/command">
      <pc:docMk xmlns:pc="http://schemas.microsoft.com/office/powerpoint/2013/main/command"/>
      <pc:sldMk xmlns:pc="http://schemas.microsoft.com/office/powerpoint/2013/main/command" cId="0" sldId="300"/>
      <ac:spMk id="8" creationId="{00000000-0000-0000-0000-000000000000}"/>
      <ac:txMk cp="14" len="33">
        <ac:context len="134" hash="4018712031"/>
      </ac:txMk>
    </ac:txMkLst>
    <p188:pos x="5390425" y="534143"/>
    <p188:txBody>
      <a:bodyPr/>
      <a:lstStyle/>
      <a:p>
        <a:r>
          <a:rPr lang="en-US"/>
          <a:t>Change to “the best predictions you can use using only survey data”</a:t>
        </a:r>
      </a:p>
    </p188:txBody>
  </p188:cm>
</p188:cmLst>
</file>

<file path=ppt/comments/modernComment_12D_0.xml><?xml version="1.0" encoding="utf-8"?>
<p188:cmLst xmlns:a="http://schemas.openxmlformats.org/drawingml/2006/main" xmlns:r="http://schemas.openxmlformats.org/officeDocument/2006/relationships" xmlns:p188="http://schemas.microsoft.com/office/powerpoint/2018/8/main">
  <p188:cm id="{D9B02727-ADD2-43D6-A4D1-C129B57C3FE2}" authorId="{014E4CAE-E167-60D0-ADF6-DC628FC944DC}" created="2026-09-17T15:26:05.653">
    <ac:txMkLst xmlns:ac="http://schemas.microsoft.com/office/drawing/2013/main/command">
      <pc:docMk xmlns:pc="http://schemas.microsoft.com/office/powerpoint/2013/main/command"/>
      <pc:sldMk xmlns:pc="http://schemas.microsoft.com/office/powerpoint/2013/main/command" cId="0" sldId="301"/>
      <ac:spMk id="2" creationId="{00000000-0000-0000-0000-000000000000}"/>
      <ac:txMk cp="0" len="22">
        <ac:context len="23" hash="2672680014"/>
      </ac:txMk>
    </ac:txMkLst>
    <p188:pos x="5599771" y="534407"/>
    <p188:txBody>
      <a:bodyPr/>
      <a:lstStyle/>
      <a:p>
        <a:r>
          <a:rPr lang="en-US"/>
          <a:t>Change to a question</a:t>
        </a:r>
      </a:p>
    </p188:txBody>
  </p188:cm>
</p188:cmLst>
</file>

<file path=ppt/comments/modernComment_12E_0.xml><?xml version="1.0" encoding="utf-8"?>
<p188:cmLst xmlns:a="http://schemas.openxmlformats.org/drawingml/2006/main" xmlns:r="http://schemas.openxmlformats.org/officeDocument/2006/relationships" xmlns:p188="http://schemas.microsoft.com/office/powerpoint/2018/8/main">
  <p188:cm id="{81463922-59D3-4875-871F-A3132DCAFA98}" authorId="{014E4CAE-E167-60D0-ADF6-DC628FC944DC}" created="2026-09-17T15:26:29.032">
    <ac:txMkLst xmlns:ac="http://schemas.microsoft.com/office/drawing/2013/main/command">
      <pc:docMk xmlns:pc="http://schemas.microsoft.com/office/powerpoint/2013/main/command"/>
      <pc:sldMk xmlns:pc="http://schemas.microsoft.com/office/powerpoint/2013/main/command" cId="0" sldId="302"/>
      <ac:spMk id="2" creationId="{00000000-0000-0000-0000-000000000000}"/>
      <ac:txMk cp="0" len="38">
        <ac:context len="39" hash="43353982"/>
      </ac:txMk>
    </ac:txMkLst>
    <p188:pos x="8967439" y="534407"/>
    <p188:txBody>
      <a:bodyPr/>
      <a:lstStyle/>
      <a:p>
        <a:r>
          <a:rPr lang="en-US"/>
          <a:t>“Which decisions are our models good enough”?</a:t>
        </a:r>
      </a:p>
    </p188:txBody>
  </p188:cm>
</p188:cmLst>
</file>

<file path=ppt/comments/modernComment_12F_0.xml><?xml version="1.0" encoding="utf-8"?>
<p188:cmLst xmlns:a="http://schemas.openxmlformats.org/drawingml/2006/main" xmlns:r="http://schemas.openxmlformats.org/officeDocument/2006/relationships" xmlns:p188="http://schemas.microsoft.com/office/powerpoint/2018/8/main">
  <p188:cm id="{738067B4-3F22-49A5-A1FA-96AB84189AC3}" authorId="{014E4CAE-E167-60D0-ADF6-DC628FC944DC}" created="2026-09-17T15:27:04.529">
    <ac:deMkLst xmlns:ac="http://schemas.microsoft.com/office/drawing/2013/main/command">
      <pc:docMk xmlns:pc="http://schemas.microsoft.com/office/powerpoint/2013/main/command"/>
      <pc:sldMk xmlns:pc="http://schemas.microsoft.com/office/powerpoint/2013/main/command" cId="0" sldId="303"/>
      <ac:picMk id="3" creationId="{00000000-0000-0000-0000-000000000000}"/>
    </ac:deMkLst>
    <p188:txBody>
      <a:bodyPr/>
      <a:lstStyle/>
      <a:p>
        <a:r>
          <a:rPr lang="en-US"/>
          <a:t>Make the same updates with the district in-fill and uncertainties as in Ghana</a:t>
        </a:r>
      </a:p>
    </p188:txBody>
  </p188:cm>
</p188:cmLst>
</file>

<file path=ppt/comments/modernComment_13C_0.xml><?xml version="1.0" encoding="utf-8"?>
<p188:cmLst xmlns:a="http://schemas.openxmlformats.org/drawingml/2006/main" xmlns:r="http://schemas.openxmlformats.org/officeDocument/2006/relationships" xmlns:p188="http://schemas.microsoft.com/office/powerpoint/2018/8/main">
  <p188:cm id="{CE533CC6-60F7-48BC-B601-6A20291F0B72}" authorId="{014E4CAE-E167-60D0-ADF6-DC628FC944DC}" created="2026-09-17T15:38:09.372">
    <ac:deMkLst xmlns:ac="http://schemas.microsoft.com/office/drawing/2013/main/command">
      <pc:docMk xmlns:pc="http://schemas.microsoft.com/office/powerpoint/2013/main/command"/>
      <pc:sldMk xmlns:pc="http://schemas.microsoft.com/office/powerpoint/2013/main/command" cId="0" sldId="316"/>
      <ac:picMk id="3" creationId="{00000000-0000-0000-0000-000000000000}"/>
    </ac:deMkLst>
    <p188:txBody>
      <a:bodyPr/>
      <a:lstStyle/>
      <a:p>
        <a:r>
          <a:rPr lang="en-US"/>
          <a:t>Pick just on panel here, and make sure the y-axis labels are interpretable</a:t>
        </a:r>
      </a:p>
    </p188:txBody>
  </p188:cm>
</p188:cmLst>
</file>

<file path=ppt/comments/modernComment_13D_0.xml><?xml version="1.0" encoding="utf-8"?>
<p188:cmLst xmlns:a="http://schemas.openxmlformats.org/drawingml/2006/main" xmlns:r="http://schemas.openxmlformats.org/officeDocument/2006/relationships" xmlns:p188="http://schemas.microsoft.com/office/powerpoint/2018/8/main">
  <p188:cm id="{B3E6D9BF-5E90-4B68-94C4-B77E35434A63}" authorId="{014E4CAE-E167-60D0-ADF6-DC628FC944DC}" created="2026-09-17T15:43:39">
    <ac:deMkLst xmlns:ac="http://schemas.microsoft.com/office/drawing/2013/main/command">
      <pc:docMk xmlns:pc="http://schemas.microsoft.com/office/powerpoint/2013/main/command"/>
      <pc:sldMk xmlns:pc="http://schemas.microsoft.com/office/powerpoint/2013/main/command" cId="0" sldId="317"/>
      <ac:picMk id="3" creationId="{00000000-0000-0000-0000-000000000000}"/>
    </ac:deMkLst>
    <p188:txBody>
      <a:bodyPr/>
      <a:lstStyle/>
      <a:p>
        <a:r>
          <a:rPr lang="en-US"/>
          <a:t>Make wider and with larger y-axis text</a:t>
        </a:r>
      </a:p>
    </p188:txBody>
  </p188:cm>
</p188:cmLst>
</file>

<file path=ppt/comments/modernComment_13E_0.xml><?xml version="1.0" encoding="utf-8"?>
<p188:cmLst xmlns:a="http://schemas.openxmlformats.org/drawingml/2006/main" xmlns:r="http://schemas.openxmlformats.org/officeDocument/2006/relationships" xmlns:p188="http://schemas.microsoft.com/office/powerpoint/2018/8/main">
  <p188:cm id="{8EF530B3-2E75-4331-B9EA-F5A12F0F1FA3}" authorId="{014E4CAE-E167-60D0-ADF6-DC628FC944DC}" created="2026-09-17T15:43:53.934">
    <ac:txMkLst xmlns:ac="http://schemas.microsoft.com/office/drawing/2013/main/command">
      <pc:docMk xmlns:pc="http://schemas.microsoft.com/office/powerpoint/2013/main/command"/>
      <pc:sldMk xmlns:pc="http://schemas.microsoft.com/office/powerpoint/2013/main/command" cId="0" sldId="318"/>
      <ac:spMk id="2" creationId="{00000000-0000-0000-0000-000000000000}"/>
      <ac:txMk cp="0" len="41">
        <ac:context len="42" hash="2799902016"/>
      </ac:txMk>
    </ac:txMkLst>
    <p188:pos x="9762893" y="534407"/>
    <p188:replyLst>
      <p188:reply id="{1C6DB663-C3A0-44EA-85F4-AEA1F6BD3071}" authorId="{014E4CAE-E167-60D0-ADF6-DC628FC944DC}" created="2026-09-17T15:45:07.082">
        <p188:txBody>
          <a:bodyPr/>
          <a:lstStyle/>
          <a:p>
            <a:r>
              <a:rPr lang="en-US"/>
              <a:t>Then with a subtitle mentioning causal and surrogate drivers</a:t>
            </a:r>
          </a:p>
        </p188:txBody>
      </p188:reply>
    </p188:replyLst>
    <p188:txBody>
      <a:bodyPr/>
      <a:lstStyle/>
      <a:p>
        <a:r>
          <a:rPr lang="en-US"/>
          <a:t>Make a question</a:t>
        </a:r>
      </a:p>
    </p188:txBody>
  </p188:cm>
</p188:cmLst>
</file>

<file path=ppt/comments/modernComment_13F_0.xml><?xml version="1.0" encoding="utf-8"?>
<p188:cmLst xmlns:a="http://schemas.openxmlformats.org/drawingml/2006/main" xmlns:r="http://schemas.openxmlformats.org/officeDocument/2006/relationships" xmlns:p188="http://schemas.microsoft.com/office/powerpoint/2018/8/main">
  <p188:cm id="{8E012502-8372-42D7-A0A3-4CB912051D41}" authorId="{014E4CAE-E167-60D0-ADF6-DC628FC944DC}" created="2026-09-17T15:45:14.822">
    <ac:txMkLst xmlns:ac="http://schemas.microsoft.com/office/drawing/2013/main/command">
      <pc:docMk xmlns:pc="http://schemas.microsoft.com/office/powerpoint/2013/main/command"/>
      <pc:sldMk xmlns:pc="http://schemas.microsoft.com/office/powerpoint/2013/main/command" cId="0" sldId="319"/>
      <ac:spMk id="2" creationId="{00000000-0000-0000-0000-000000000000}"/>
      <ac:txMk cp="0" len="58">
        <ac:context len="59" hash="1276824866"/>
      </ac:txMk>
    </ac:txMkLst>
    <p188:pos x="10186639" y="229607"/>
    <p188:txBody>
      <a:bodyPr/>
      <a:lstStyle/>
      <a:p>
        <a:r>
          <a:rPr lang="en-US"/>
          <a:t>Make a question</a:t>
        </a:r>
      </a:p>
    </p188:txBody>
  </p188:cm>
</p188:cmLst>
</file>

<file path=ppt/comments/modernComment_14A_0.xml><?xml version="1.0" encoding="utf-8"?>
<p188:cmLst xmlns:a="http://schemas.openxmlformats.org/drawingml/2006/main" xmlns:r="http://schemas.openxmlformats.org/officeDocument/2006/relationships" xmlns:p188="http://schemas.microsoft.com/office/powerpoint/2018/8/main">
  <p188:cm id="{90EA21E2-26E1-444A-962A-ACC67B3F0B37}" authorId="{014E4CAE-E167-60D0-ADF6-DC628FC944DC}" created="2026-09-17T16:05:23.467">
    <ac:txMkLst xmlns:ac="http://schemas.microsoft.com/office/drawing/2013/main/command">
      <pc:docMk xmlns:pc="http://schemas.microsoft.com/office/powerpoint/2013/main/command"/>
      <pc:sldMk xmlns:pc="http://schemas.microsoft.com/office/powerpoint/2013/main/command" cId="0" sldId="330"/>
      <ac:spMk id="2" creationId="{00000000-0000-0000-0000-000000000000}"/>
      <ac:txMk cp="0" len="11">
        <ac:context len="12" hash="1503508573"/>
      </ac:txMk>
    </ac:txMkLst>
    <p188:pos x="2916044" y="534407"/>
    <p188:txBody>
      <a:bodyPr/>
      <a:lstStyle/>
      <a:p>
        <a:r>
          <a:rPr lang="en-US"/>
          <a:t>Combine the conclusion and next step slide, make less technical and more big picture from the optomistic abstract, and drop the open questions part</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69DD4581-3A7C-4852-936A-5A3E64861313}" authorId="{014E4CAE-E167-60D0-ADF6-DC628FC944DC}" created="2026-09-17T13:11:17.610">
    <pc:sldMkLst xmlns:pc="http://schemas.microsoft.com/office/powerpoint/2013/main/command">
      <pc:docMk/>
      <pc:sldMk cId="0" sldId="256"/>
    </pc:sldMkLst>
    <p188:txBody>
      <a:bodyPr/>
      <a:lstStyle/>
      <a:p>
        <a:r>
          <a:rPr lang="en-US"/>
          <a:t>Is this using the right presentation template? And the same title as the abstract? Drop the sub-title, and add Sonja Hess (UC Davis) as a co-presenter</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D6995DB7-843A-4E35-8C26-2F8E130C9A90}" authorId="{014E4CAE-E167-60D0-ADF6-DC628FC944DC}" created="2026-09-17T13:08:43.650">
    <ac:txMkLst xmlns:ac="http://schemas.microsoft.com/office/drawing/2013/main/command">
      <pc:docMk xmlns:pc="http://schemas.microsoft.com/office/powerpoint/2013/main/command"/>
      <pc:sldMk xmlns:pc="http://schemas.microsoft.com/office/powerpoint/2013/main/command" cId="0" sldId="258"/>
      <ac:spMk id="2" creationId="{00000000-0000-0000-0000-000000000000}"/>
      <ac:txMk cp="0" len="49">
        <ac:context len="50" hash="2889677588"/>
      </ac:txMk>
    </ac:txMkLst>
    <p188:pos x="9190463" y="229607"/>
    <p188:txBody>
      <a:bodyPr/>
      <a:lstStyle/>
      <a:p>
        <a:r>
          <a:rPr lang="en-US"/>
          <a:t>I prefer titles as questions that the slide answers</a:t>
        </a:r>
      </a:p>
    </p188:txBody>
  </p188:cm>
  <p188:cm id="{E9144F1D-78B3-4035-BEBD-41075D09FCB8}" authorId="{014E4CAE-E167-60D0-ADF6-DC628FC944DC}" created="2026-09-17T13:10:15.275">
    <ac:deMkLst xmlns:ac="http://schemas.microsoft.com/office/drawing/2013/main/command">
      <pc:docMk xmlns:pc="http://schemas.microsoft.com/office/powerpoint/2013/main/command"/>
      <pc:sldMk xmlns:pc="http://schemas.microsoft.com/office/powerpoint/2013/main/command" cId="0" sldId="258"/>
      <ac:picMk id="3" creationId="{00000000-0000-0000-0000-000000000000}"/>
    </ac:deMkLst>
    <p188:txBody>
      <a:bodyPr/>
      <a:lstStyle/>
      <a:p>
        <a:r>
          <a:rPr lang="en-US"/>
          <a:t>Is this true? The national surveys also get admin-1 level estimates, just not all admin 2</a:t>
        </a:r>
      </a:p>
    </p188:txBody>
  </p188:cm>
  <p188:cm id="{6FA4228B-9EE2-4D62-9789-C6941BB0957C}" authorId="{014E4CAE-E167-60D0-ADF6-DC628FC944DC}" created="2026-09-17T13:15:21.927">
    <pc:sldMkLst xmlns:pc="http://schemas.microsoft.com/office/powerpoint/2013/main/command">
      <pc:docMk/>
      <pc:sldMk cId="0" sldId="258"/>
    </pc:sldMkLst>
    <p188:txBody>
      <a:bodyPr/>
      <a:lstStyle/>
      <a:p>
        <a:r>
          <a:rPr lang="en-US"/>
          <a:t>For the whole talk, write in the speaker notes what to say for the talk, and then below, additional detail for me on what the slide shows (to help understand for questions)</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57E05200-4DE1-4938-818C-98E017984D6F}" authorId="{014E4CAE-E167-60D0-ADF6-DC628FC944DC}" created="2026-09-17T13:10:39.287">
    <ac:txMkLst xmlns:ac="http://schemas.microsoft.com/office/drawing/2013/main/command">
      <pc:docMk xmlns:pc="http://schemas.microsoft.com/office/powerpoint/2013/main/command"/>
      <pc:sldMk xmlns:pc="http://schemas.microsoft.com/office/powerpoint/2013/main/command" cId="0" sldId="259"/>
      <ac:spMk id="4" creationId="{00000000-0000-0000-0000-000000000000}"/>
      <ac:txMk cp="88" len="10">
        <ac:context len="137" hash="1512676830"/>
      </ac:txMk>
    </ac:txMkLst>
    <p188:pos x="4743654" y="739326"/>
    <p188:txBody>
      <a:bodyPr/>
      <a:lstStyle/>
      <a:p>
        <a:r>
          <a:rPr lang="en-US"/>
          <a:t>Use american, not english spelling</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AF0D55C2-689B-48CB-85ED-20947F1CB497}" authorId="{014E4CAE-E167-60D0-ADF6-DC628FC944DC}" created="2026-09-17T13:11:59.532">
    <ac:txMkLst xmlns:ac="http://schemas.microsoft.com/office/drawing/2013/main/command">
      <pc:docMk xmlns:pc="http://schemas.microsoft.com/office/powerpoint/2013/main/command"/>
      <pc:sldMk xmlns:pc="http://schemas.microsoft.com/office/powerpoint/2013/main/command" cId="0" sldId="260"/>
      <ac:spMk id="2" creationId="{00000000-0000-0000-0000-000000000000}"/>
      <ac:txMk cp="0" len="32">
        <ac:context len="33" hash="3964289221"/>
      </ac:txMk>
    </ac:txMkLst>
    <p188:pos x="7354229" y="534407"/>
    <p188:txBody>
      <a:bodyPr/>
      <a:lstStyle/>
      <a:p>
        <a:r>
          <a:rPr lang="en-US"/>
          <a:t>Rename to “Both a big data opportunity and small data problem”</a:t>
        </a:r>
      </a:p>
    </p188:txBody>
  </p188:cm>
  <p188:cm id="{3C3668E3-D754-41C8-8F31-3D76BB3C3DF7}" authorId="{014E4CAE-E167-60D0-ADF6-DC628FC944DC}" created="2026-09-17T13:12:37.722">
    <ac:deMkLst xmlns:ac="http://schemas.microsoft.com/office/drawing/2013/main/command">
      <pc:docMk xmlns:pc="http://schemas.microsoft.com/office/powerpoint/2013/main/command"/>
      <pc:sldMk xmlns:pc="http://schemas.microsoft.com/office/powerpoint/2013/main/command" cId="0" sldId="260"/>
      <ac:picMk id="7" creationId="{00000000-0000-0000-0000-000000000000}"/>
    </ac:deMkLst>
    <p188:txBody>
      <a:bodyPr/>
      <a:lstStyle/>
      <a:p>
        <a:r>
          <a:rPr lang="en-US"/>
          <a:t>Only have images by the big data and small data headers, not each of these bullet points</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A6978A33-1DC9-4E33-94D5-2E9F56F192AB}" authorId="{014E4CAE-E167-60D0-ADF6-DC628FC944DC}" created="2026-09-17T13:13:27.859">
    <pc:sldMkLst xmlns:pc="http://schemas.microsoft.com/office/powerpoint/2013/main/command">
      <pc:docMk/>
      <pc:sldMk cId="0" sldId="262"/>
    </pc:sldMkLst>
    <p188:txBody>
      <a:bodyPr/>
      <a:lstStyle/>
      <a:p>
        <a:r>
          <a:rPr lang="en-US"/>
          <a:t>Add tiny maps of each country, ideally with the admin-1 survey estimates of iron or viatmin A deficiency</a:t>
        </a:r>
      </a:p>
    </p188:txBody>
  </p188:cm>
  <p188:cm id="{77B6D30E-3415-4356-AE70-9BDD0512983E}" authorId="{014E4CAE-E167-60D0-ADF6-DC628FC944DC}" created="2026-09-17T13:14:22.318">
    <ac:txMkLst xmlns:ac="http://schemas.microsoft.com/office/drawing/2013/main/command">
      <pc:docMk xmlns:pc="http://schemas.microsoft.com/office/powerpoint/2013/main/command"/>
      <pc:sldMk xmlns:pc="http://schemas.microsoft.com/office/powerpoint/2013/main/command" cId="0" sldId="262"/>
      <ac:spMk id="6" creationId="{00000000-0000-0000-0000-000000000000}"/>
      <ac:txMk cp="80" len="27">
        <ac:context len="134" hash="2527361746"/>
      </ac:txMk>
    </ac:txMkLst>
    <p188:pos x="1898607" y="1405425"/>
    <p188:txBody>
      <a:bodyPr/>
      <a:lstStyle/>
      <a:p>
        <a:r>
          <a:rPr lang="en-US"/>
          <a:t>Say “30 districts and 70 clusters, etc.) Don’t repeat survey, fieldwork, outcomes across all columns</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96AB73B0-706C-470B-816E-36676B7BD8E7}" authorId="{014E4CAE-E167-60D0-ADF6-DC628FC944DC}" created="2026-09-17T13:16:10.358">
    <ac:txMkLst xmlns:ac="http://schemas.microsoft.com/office/drawing/2013/main/command">
      <pc:docMk xmlns:pc="http://schemas.microsoft.com/office/powerpoint/2013/main/command"/>
      <pc:sldMk xmlns:pc="http://schemas.microsoft.com/office/powerpoint/2013/main/command" cId="0" sldId="263"/>
      <ac:spMk id="6" creationId="{00000000-0000-0000-0000-000000000000}"/>
      <ac:txMk cp="119" len="22">
        <ac:context len="168" hash="2301663414"/>
      </ac:txMk>
    </ac:txMkLst>
    <p188:pos x="1526899" y="1770814"/>
    <p188:txBody>
      <a:bodyPr/>
      <a:lstStyle/>
      <a:p>
        <a:r>
          <a:rPr lang="en-US"/>
          <a:t>Is there a meat symbol for here?</a:t>
        </a:r>
      </a:p>
    </p188:txBody>
  </p188:cm>
  <p188:cm id="{90E5BDB3-43F7-47B0-BF8C-E9123E353AAF}" authorId="{014E4CAE-E167-60D0-ADF6-DC628FC944DC}" created="2026-09-17T13:16:26.398">
    <ac:txMkLst xmlns:ac="http://schemas.microsoft.com/office/drawing/2013/main/command">
      <pc:docMk xmlns:pc="http://schemas.microsoft.com/office/powerpoint/2013/main/command"/>
      <pc:sldMk xmlns:pc="http://schemas.microsoft.com/office/powerpoint/2013/main/command" cId="0" sldId="263"/>
      <ac:spMk id="6" creationId="{00000000-0000-0000-0000-000000000000}"/>
      <ac:txMk cp="119" len="22">
        <ac:context len="168" hash="2301663414"/>
      </ac:txMk>
    </ac:txMkLst>
    <p188:pos x="1526899" y="1770814"/>
    <p188:txBody>
      <a:bodyPr/>
      <a:lstStyle/>
      <a:p>
        <a:r>
          <a:rPr lang="en-US"/>
          <a:t>Drop all biomarker details in () for concision</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DD124DD1-8EE9-437E-8DA1-C6EEBC585004}" authorId="{014E4CAE-E167-60D0-ADF6-DC628FC944DC}" created="2026-09-17T13:17:11.929">
    <ac:deMkLst xmlns:ac="http://schemas.microsoft.com/office/drawing/2013/main/command">
      <pc:docMk xmlns:pc="http://schemas.microsoft.com/office/powerpoint/2013/main/command"/>
      <pc:sldMk xmlns:pc="http://schemas.microsoft.com/office/powerpoint/2013/main/command" cId="0" sldId="264"/>
      <ac:picMk id="3" creationId="{00000000-0000-0000-0000-000000000000}"/>
    </ac:deMkLst>
    <p188:txBody>
      <a:bodyPr/>
      <a:lstStyle/>
      <a:p>
        <a:r>
          <a:rPr lang="en-US"/>
          <a:t>Can this be remade, with cells colored for where we got data (so keep this slide, then the next one will highlight where we got proxy data)</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20E47FFB-26CD-496A-912C-41C844633CE6}" authorId="{014E4CAE-E167-60D0-ADF6-DC628FC944DC}" created="2026-09-17T13:21:49.561">
    <pc:sldMkLst xmlns:pc="http://schemas.microsoft.com/office/powerpoint/2013/main/command">
      <pc:docMk/>
      <pc:sldMk cId="0" sldId="273"/>
    </pc:sldMkLst>
    <p188:txBody>
      <a:bodyPr/>
      <a:lstStyle/>
      <a:p>
        <a:r>
          <a:rPr lang="en-US"/>
          <a:t>Confusing when showing 8 here- add others as a footnote, and just title “29 conceptual domains of proxy variables”</a:t>
        </a:r>
      </a:p>
    </p188:txBody>
  </p188:cm>
</p188:cmLst>
</file>

<file path=ppt/comments/modernComment_112_0.xml><?xml version="1.0" encoding="utf-8"?>
<p188:cmLst xmlns:a="http://schemas.openxmlformats.org/drawingml/2006/main" xmlns:r="http://schemas.openxmlformats.org/officeDocument/2006/relationships" xmlns:p188="http://schemas.microsoft.com/office/powerpoint/2018/8/main">
  <p188:cm id="{D5A31598-F1A4-4EC1-8AC6-1A1C7F2C70E7}" authorId="{014E4CAE-E167-60D0-ADF6-DC628FC944DC}" created="2026-09-17T13:24:28.016">
    <pc:sldMkLst xmlns:pc="http://schemas.microsoft.com/office/powerpoint/2013/main/command">
      <pc:docMk/>
      <pc:sldMk cId="0" sldId="274"/>
    </pc:sldMkLst>
    <p188:txBody>
      <a:bodyPr/>
      <a:lstStyle/>
      <a:p>
        <a:r>
          <a:rPr lang="en-US"/>
          <a:t>I think one panel should be added to each of the “what each source is” slide</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34A75182-5E5D-4E95-B75C-E79F2CC9DC67}" authorId="{014E4CAE-E167-60D0-ADF6-DC628FC944DC}" created="2026-09-17T13:24:45.584">
    <ac:txMkLst xmlns:ac="http://schemas.microsoft.com/office/drawing/2013/main/command">
      <pc:docMk xmlns:pc="http://schemas.microsoft.com/office/powerpoint/2013/main/command"/>
      <pc:sldMk xmlns:pc="http://schemas.microsoft.com/office/powerpoint/2013/main/command" cId="0" sldId="275"/>
      <ac:spMk id="2" creationId="{00000000-0000-0000-0000-000000000000}"/>
      <ac:txMk cp="0" len="54">
        <ac:context len="55" hash="4077245554"/>
      </ac:txMk>
    </ac:txMkLst>
    <p188:pos x="9361449" y="229607"/>
    <p188:txBody>
      <a:bodyPr/>
      <a:lstStyle/>
      <a:p>
        <a:r>
          <a:rPr lang="en-US"/>
          <a:t>Make questions</a:t>
        </a:r>
      </a:p>
    </p188:txBody>
  </p188:cm>
  <p188:cm id="{D473EB5C-DF15-4040-B350-645DD2D9015C}" authorId="{014E4CAE-E167-60D0-ADF6-DC628FC944DC}" created="2026-09-17T13:25:09.001">
    <ac:txMkLst xmlns:ac="http://schemas.microsoft.com/office/drawing/2013/main/command">
      <pc:docMk xmlns:pc="http://schemas.microsoft.com/office/powerpoint/2013/main/command"/>
      <pc:sldMk xmlns:pc="http://schemas.microsoft.com/office/powerpoint/2013/main/command" cId="0" sldId="275"/>
      <ac:spMk id="16" creationId="{00000000-0000-0000-0000-000000000000}"/>
      <ac:txMk cp="0" len="95">
        <ac:context len="96" hash="3671362107"/>
      </ac:txMk>
    </ac:txMkLst>
    <p188:pos x="2677333" y="202878"/>
    <p188:txBody>
      <a:bodyPr/>
      <a:lstStyle/>
      <a:p>
        <a:r>
          <a:rPr lang="en-US"/>
          <a:t>Why are these two different? (Answer in chat, not here)</a:t>
        </a:r>
      </a:p>
    </p188:txBody>
  </p188:cm>
  <p188:cm id="{180E8E0D-81AD-4475-BCA2-D3E8A43494B3}" authorId="{014E4CAE-E167-60D0-ADF6-DC628FC944DC}" created="2026-09-17T13:25:45.992">
    <ac:txMkLst xmlns:ac="http://schemas.microsoft.com/office/drawing/2013/main/command">
      <pc:docMk xmlns:pc="http://schemas.microsoft.com/office/powerpoint/2013/main/command"/>
      <pc:sldMk xmlns:pc="http://schemas.microsoft.com/office/powerpoint/2013/main/command" cId="0" sldId="275"/>
      <ac:spMk id="30" creationId="{00000000-0000-0000-0000-000000000000}"/>
      <ac:txMk cp="0" len="127">
        <ac:context len="128" hash="1630734655"/>
      </ac:txMk>
    </ac:txMkLst>
    <p188:pos x="2855753" y="200276"/>
    <p188:txBody>
      <a:bodyPr/>
      <a:lstStyle/>
      <a:p>
        <a:r>
          <a:rPr lang="en-US"/>
          <a:t>simplify</a:t>
        </a:r>
      </a:p>
    </p188:txBody>
  </p188:cm>
</p188:cmLst>
</file>

<file path=ppt/comments/modernComment_114_0.xml><?xml version="1.0" encoding="utf-8"?>
<p188:cmLst xmlns:a="http://schemas.openxmlformats.org/drawingml/2006/main" xmlns:r="http://schemas.openxmlformats.org/officeDocument/2006/relationships" xmlns:p188="http://schemas.microsoft.com/office/powerpoint/2018/8/main">
  <p188:cm id="{E55F2023-17D8-4846-9C86-2DDFDA4F7C52}" authorId="{014E4CAE-E167-60D0-ADF6-DC628FC944DC}" created="2026-09-17T13:25:57.021">
    <ac:txMkLst xmlns:ac="http://schemas.microsoft.com/office/drawing/2013/main/command">
      <pc:docMk xmlns:pc="http://schemas.microsoft.com/office/powerpoint/2013/main/command"/>
      <pc:sldMk xmlns:pc="http://schemas.microsoft.com/office/powerpoint/2013/main/command" cId="0" sldId="276"/>
      <ac:spMk id="2" creationId="{00000000-0000-0000-0000-000000000000}"/>
      <ac:txMk cp="0" len="5">
        <ac:context len="50" hash="715067419"/>
      </ac:txMk>
    </ac:txMkLst>
    <p188:pos x="1340005" y="229607"/>
    <p188:txBody>
      <a:bodyPr/>
      <a:lstStyle/>
      <a:p>
        <a:r>
          <a:rPr lang="en-US"/>
          <a:t>Drop this slide</a:t>
        </a:r>
      </a:p>
    </p188:txBody>
  </p188:cm>
</p188:cmLst>
</file>

<file path=ppt/comments/modernComment_116_0.xml><?xml version="1.0" encoding="utf-8"?>
<p188:cmLst xmlns:a="http://schemas.openxmlformats.org/drawingml/2006/main" xmlns:r="http://schemas.openxmlformats.org/officeDocument/2006/relationships" xmlns:p188="http://schemas.microsoft.com/office/powerpoint/2018/8/main">
  <p188:cm id="{1978F498-68CF-4414-B652-ADF27BD7A419}" authorId="{014E4CAE-E167-60D0-ADF6-DC628FC944DC}" created="2026-09-17T13:28:35.723">
    <ac:txMkLst xmlns:ac="http://schemas.microsoft.com/office/drawing/2013/main/command">
      <pc:docMk xmlns:pc="http://schemas.microsoft.com/office/powerpoint/2013/main/command"/>
      <pc:sldMk xmlns:pc="http://schemas.microsoft.com/office/powerpoint/2013/main/command" cId="0" sldId="278"/>
      <ac:spMk id="2" creationId="{00000000-0000-0000-0000-000000000000}"/>
      <ac:txMk cp="0" len="69">
        <ac:context len="70" hash="553289246"/>
      </ac:txMk>
    </ac:txMkLst>
    <p188:pos x="8328102" y="229607"/>
    <p188:txBody>
      <a:bodyPr/>
      <a:lstStyle/>
      <a:p>
        <a:r>
          <a:rPr lang="en-US"/>
          <a:t>Update just to explain the curent protocol and methods comparison- not the january work</a:t>
        </a:r>
      </a:p>
    </p188:txBody>
  </p188:cm>
</p188:cmLst>
</file>

<file path=ppt/comments/modernComment_117_0.xml><?xml version="1.0" encoding="utf-8"?>
<p188:cmLst xmlns:a="http://schemas.openxmlformats.org/drawingml/2006/main" xmlns:r="http://schemas.openxmlformats.org/officeDocument/2006/relationships" xmlns:p188="http://schemas.microsoft.com/office/powerpoint/2018/8/main">
  <p188:cm id="{598464A3-F6C1-4B1F-A2AA-3753AA6A65AF}" authorId="{014E4CAE-E167-60D0-ADF6-DC628FC944DC}" created="2026-09-17T13:54:13.030">
    <pc:sldMkLst xmlns:pc="http://schemas.microsoft.com/office/powerpoint/2013/main/command">
      <pc:docMk/>
      <pc:sldMk cId="0" sldId="279"/>
    </pc:sldMkLst>
    <p188:txBody>
      <a:bodyPr/>
      <a:lstStyle/>
      <a:p>
        <a:r>
          <a:rPr lang="en-US"/>
          <a:t>Keep but describe as the current approach- I want to frame the PC-reduction approach as a candidate algorithm in the SL library</a:t>
        </a:r>
      </a:p>
    </p188:txBody>
  </p188:cm>
</p188:cmLst>
</file>

<file path=ppt/comments/modernComment_118_0.xml><?xml version="1.0" encoding="utf-8"?>
<p188:cmLst xmlns:a="http://schemas.openxmlformats.org/drawingml/2006/main" xmlns:r="http://schemas.openxmlformats.org/officeDocument/2006/relationships" xmlns:p188="http://schemas.microsoft.com/office/powerpoint/2018/8/main">
  <p188:cm id="{E0BE598C-C9E7-42D9-81CF-B3E5BE413499}" authorId="{014E4CAE-E167-60D0-ADF6-DC628FC944DC}" created="2026-09-17T14:23:29.296">
    <pc:sldMkLst xmlns:pc="http://schemas.microsoft.com/office/powerpoint/2013/main/command">
      <pc:docMk/>
      <pc:sldMk cId="0" sldId="280"/>
    </pc:sldMkLst>
    <p188:txBody>
      <a:bodyPr/>
      <a:lstStyle/>
      <a:p>
        <a:r>
          <a:rPr lang="en-US"/>
          <a:t>Title it “how does the best performing model work”?</a:t>
        </a:r>
      </a:p>
    </p188:txBody>
  </p188:cm>
</p188:cmLst>
</file>

<file path=ppt/comments/modernComment_119_0.xml><?xml version="1.0" encoding="utf-8"?>
<p188:cmLst xmlns:a="http://schemas.openxmlformats.org/drawingml/2006/main" xmlns:r="http://schemas.openxmlformats.org/officeDocument/2006/relationships" xmlns:p188="http://schemas.microsoft.com/office/powerpoint/2018/8/main">
  <p188:cm id="{06ED0258-EF57-45E5-B17B-095DCC246423}" authorId="{014E4CAE-E167-60D0-ADF6-DC628FC944DC}" created="2026-09-17T14:24:30.244">
    <ac:txMkLst xmlns:ac="http://schemas.microsoft.com/office/drawing/2013/main/command">
      <pc:docMk xmlns:pc="http://schemas.microsoft.com/office/powerpoint/2013/main/command"/>
      <pc:sldMk xmlns:pc="http://schemas.microsoft.com/office/powerpoint/2013/main/command" cId="0" sldId="281"/>
      <ac:spMk id="2" creationId="{00000000-0000-0000-0000-000000000000}"/>
      <ac:txMk cp="0" len="39">
        <ac:context len="40" hash="791390139"/>
      </ac:txMk>
    </ac:txMkLst>
    <p188:pos x="9190463" y="534407"/>
    <p188:txBody>
      <a:bodyPr/>
      <a:lstStyle/>
      <a:p>
        <a:r>
          <a:rPr lang="en-US"/>
          <a:t>Rename to “Three levels of prediction” </a:t>
        </a:r>
      </a:p>
    </p188:txBody>
  </p188:cm>
  <p188:cm id="{88B7EBA8-F0BA-4111-85F7-7B9EC13F76EB}" authorId="{014E4CAE-E167-60D0-ADF6-DC628FC944DC}" created="2026-09-17T14:25:00.706">
    <ac:txMkLst xmlns:ac="http://schemas.microsoft.com/office/drawing/2013/main/command">
      <pc:docMk xmlns:pc="http://schemas.microsoft.com/office/powerpoint/2013/main/command"/>
      <pc:sldMk xmlns:pc="http://schemas.microsoft.com/office/powerpoint/2013/main/command" cId="0" sldId="281"/>
      <ac:spMk id="5" creationId="{00000000-0000-0000-0000-000000000000}"/>
      <ac:txMk cp="0" len="7">
        <ac:context len="8" hash="3803522040"/>
      </ac:txMk>
    </ac:txMkLst>
    <p188:pos x="1877419" y="202580"/>
    <p188:txBody>
      <a:bodyPr/>
      <a:lstStyle/>
      <a:p>
        <a:r>
          <a:rPr lang="en-US"/>
          <a:t>Call them “District in-fill”, “Region extrapolation”, and “Cross-country transport”</a:t>
        </a:r>
      </a:p>
    </p188:txBody>
  </p188:cm>
  <p188:cm id="{C560FEC2-FD1A-4F57-823A-960E08EB8A70}" authorId="{014E4CAE-E167-60D0-ADF6-DC628FC944DC}" created="2026-09-17T14:25:18.364">
    <ac:txMkLst xmlns:ac="http://schemas.microsoft.com/office/drawing/2013/main/command">
      <pc:docMk xmlns:pc="http://schemas.microsoft.com/office/powerpoint/2013/main/command"/>
      <pc:sldMk xmlns:pc="http://schemas.microsoft.com/office/powerpoint/2013/main/command" cId="0" sldId="281"/>
      <ac:spMk id="14" creationId="{00000000-0000-0000-0000-000000000000}"/>
      <ac:txMk cp="84" len="30">
        <ac:context len="115" hash="1807699553"/>
      </ac:txMk>
    </ac:txMkLst>
    <p188:pos x="1814229" y="1036692"/>
    <p188:txBody>
      <a:bodyPr/>
      <a:lstStyle/>
      <a:p>
        <a:r>
          <a:rPr lang="en-US"/>
          <a:t>What does this mean? Tell me in the chat</a:t>
        </a:r>
      </a:p>
    </p188:txBody>
  </p188:cm>
</p188:cmLst>
</file>

<file path=ppt/comments/modernComment_121_0.xml><?xml version="1.0" encoding="utf-8"?>
<p188:cmLst xmlns:a="http://schemas.openxmlformats.org/drawingml/2006/main" xmlns:r="http://schemas.openxmlformats.org/officeDocument/2006/relationships" xmlns:p188="http://schemas.microsoft.com/office/powerpoint/2018/8/main">
  <p188:cm id="{BDF972C2-F7F8-4E8B-8320-0C25D584A0F4}" authorId="{014E4CAE-E167-60D0-ADF6-DC628FC944DC}" created="2026-09-17T14:45:07.206">
    <ac:deMkLst xmlns:ac="http://schemas.microsoft.com/office/drawing/2013/main/command">
      <pc:docMk xmlns:pc="http://schemas.microsoft.com/office/powerpoint/2013/main/command"/>
      <pc:sldMk xmlns:pc="http://schemas.microsoft.com/office/powerpoint/2013/main/command" cId="0" sldId="289"/>
      <ac:picMk id="3" creationId="{00000000-0000-0000-0000-000000000000}"/>
    </ac:deMkLst>
    <p188:txBody>
      <a:bodyPr/>
      <a:lstStyle/>
      <a:p>
        <a:r>
          <a:rPr lang="en-US"/>
          <a:t>Remove the title and text below from the png,but place (more concisely) as editable text in the powerpoint. Also update “pinned down” to “exact”</a:t>
        </a:r>
      </a:p>
    </p188:txBody>
  </p188:cm>
</p188:cmLst>
</file>

<file path=ppt/comments/modernComment_122_0.xml><?xml version="1.0" encoding="utf-8"?>
<p188:cmLst xmlns:a="http://schemas.openxmlformats.org/drawingml/2006/main" xmlns:r="http://schemas.openxmlformats.org/officeDocument/2006/relationships" xmlns:p188="http://schemas.microsoft.com/office/powerpoint/2018/8/main">
  <p188:cm id="{621F4359-1F33-431D-BF38-25663C4ED556}" authorId="{014E4CAE-E167-60D0-ADF6-DC628FC944DC}" created="2026-09-17T14:45:22.266">
    <ac:deMkLst xmlns:ac="http://schemas.microsoft.com/office/drawing/2013/main/command">
      <pc:docMk xmlns:pc="http://schemas.microsoft.com/office/powerpoint/2013/main/command"/>
      <pc:sldMk xmlns:pc="http://schemas.microsoft.com/office/powerpoint/2013/main/command" cId="0" sldId="290"/>
      <ac:picMk id="3" creationId="{00000000-0000-0000-0000-000000000000}"/>
    </ac:deMkLst>
    <p188:txBody>
      <a:bodyPr/>
      <a:lstStyle/>
      <a:p>
        <a:r>
          <a:rPr lang="en-US"/>
          <a:t>Delete slide</a:t>
        </a:r>
      </a:p>
    </p188:txBody>
  </p188:cm>
</p188:cmLst>
</file>

<file path=ppt/comments/modernComment_123_0.xml><?xml version="1.0" encoding="utf-8"?>
<p188:cmLst xmlns:a="http://schemas.openxmlformats.org/drawingml/2006/main" xmlns:r="http://schemas.openxmlformats.org/officeDocument/2006/relationships" xmlns:p188="http://schemas.microsoft.com/office/powerpoint/2018/8/main">
  <p188:cm id="{C534E0CE-76A4-410F-AEA0-9D441ECAFFB0}" authorId="{014E4CAE-E167-60D0-ADF6-DC628FC944DC}" created="2026-09-17T14:46:54.966">
    <ac:txMkLst xmlns:ac="http://schemas.microsoft.com/office/drawing/2013/main/command">
      <pc:docMk xmlns:pc="http://schemas.microsoft.com/office/powerpoint/2013/main/command"/>
      <pc:sldMk xmlns:pc="http://schemas.microsoft.com/office/powerpoint/2013/main/command" cId="0" sldId="291"/>
      <ac:spMk id="2" creationId="{00000000-0000-0000-0000-000000000000}"/>
      <ac:txMk cp="0" len="64">
        <ac:context len="65" hash="2737690881"/>
      </ac:txMk>
    </ac:txMkLst>
    <p188:pos x="9346580" y="229607"/>
    <p188:txBody>
      <a:bodyPr/>
      <a:lstStyle/>
      <a:p>
        <a:r>
          <a:rPr lang="en-US"/>
          <a:t>Move to appendix slides at the end</a:t>
        </a:r>
      </a:p>
    </p188:txBody>
  </p188:cm>
</p188:cmLst>
</file>

<file path=ppt/comments/modernComment_124_0.xml><?xml version="1.0" encoding="utf-8"?>
<p188:cmLst xmlns:a="http://schemas.openxmlformats.org/drawingml/2006/main" xmlns:r="http://schemas.openxmlformats.org/officeDocument/2006/relationships" xmlns:p188="http://schemas.microsoft.com/office/powerpoint/2018/8/main">
  <p188:cm id="{332229E8-C1CB-47C0-9648-3BE9719A149D}" authorId="{014E4CAE-E167-60D0-ADF6-DC628FC944DC}" created="2026-09-17T14:47:30.219">
    <ac:txMkLst xmlns:ac="http://schemas.microsoft.com/office/drawing/2013/main/command">
      <pc:docMk xmlns:pc="http://schemas.microsoft.com/office/powerpoint/2013/main/command"/>
      <pc:sldMk xmlns:pc="http://schemas.microsoft.com/office/powerpoint/2013/main/command" cId="0" sldId="292"/>
      <ac:spMk id="2" creationId="{00000000-0000-0000-0000-000000000000}"/>
      <ac:txMk cp="0" len="65">
        <ac:context len="66" hash="1704162893"/>
      </ac:txMk>
    </ac:txMkLst>
    <p188:pos x="9108688" y="229607"/>
    <p188:txBody>
      <a:bodyPr/>
      <a:lstStyle/>
      <a:p>
        <a:r>
          <a:rPr lang="en-US"/>
          <a:t>Is this the average across all outcome-combinations? Show this figure for the best performing model</a:t>
        </a:r>
      </a:p>
    </p188:txBody>
  </p188:cm>
</p188:cmLst>
</file>

<file path=ppt/comments/modernComment_125_0.xml><?xml version="1.0" encoding="utf-8"?>
<p188:cmLst xmlns:a="http://schemas.openxmlformats.org/drawingml/2006/main" xmlns:r="http://schemas.openxmlformats.org/officeDocument/2006/relationships" xmlns:p188="http://schemas.microsoft.com/office/powerpoint/2018/8/main">
  <p188:cm id="{BE664836-AE30-4D39-9E90-CBC10CC8FE51}" authorId="{014E4CAE-E167-60D0-ADF6-DC628FC944DC}" created="2026-09-17T14:47:56.392">
    <ac:txMkLst xmlns:ac="http://schemas.microsoft.com/office/drawing/2013/main/command">
      <pc:docMk xmlns:pc="http://schemas.microsoft.com/office/powerpoint/2013/main/command"/>
      <pc:sldMk xmlns:pc="http://schemas.microsoft.com/office/powerpoint/2013/main/command" cId="0" sldId="293"/>
      <ac:spMk id="2" creationId="{00000000-0000-0000-0000-000000000000}"/>
      <ac:txMk cp="0" len="51">
        <ac:context len="52" hash="1417484253"/>
      </ac:txMk>
    </ac:txMkLst>
    <p188:pos x="10216376" y="229607"/>
    <p188:txBody>
      <a:bodyPr/>
      <a:lstStyle/>
      <a:p>
        <a:r>
          <a:rPr lang="en-US"/>
          <a:t>Make this a question, and move this before the agregated results</a:t>
        </a:r>
      </a:p>
    </p188:txBody>
  </p188:cm>
  <p188:cm id="{65DE5C1B-6628-405A-98B6-3277CC90309B}" authorId="{014E4CAE-E167-60D0-ADF6-DC628FC944DC}" created="2026-09-17T14:48:16.768">
    <ac:deMkLst xmlns:ac="http://schemas.microsoft.com/office/drawing/2013/main/command">
      <pc:docMk xmlns:pc="http://schemas.microsoft.com/office/powerpoint/2013/main/command"/>
      <pc:sldMk xmlns:pc="http://schemas.microsoft.com/office/powerpoint/2013/main/command" cId="0" sldId="293"/>
      <ac:picMk id="3" creationId="{00000000-0000-0000-0000-000000000000}"/>
    </ac:deMkLst>
    <p188:txBody>
      <a:bodyPr/>
      <a:lstStyle/>
      <a:p>
        <a:r>
          <a:rPr lang="en-US"/>
          <a:t>What is the best other arm (post hoc)?</a:t>
        </a:r>
      </a:p>
    </p188:txBody>
  </p188:cm>
  <p188:cm id="{09628D4E-B933-4FBE-9AD0-15E3102D936B}" authorId="{014E4CAE-E167-60D0-ADF6-DC628FC944DC}" created="2026-09-17T14:49:04.821">
    <ac:deMkLst xmlns:ac="http://schemas.microsoft.com/office/drawing/2013/main/command">
      <pc:docMk xmlns:pc="http://schemas.microsoft.com/office/powerpoint/2013/main/command"/>
      <pc:sldMk xmlns:pc="http://schemas.microsoft.com/office/powerpoint/2013/main/command" cId="0" sldId="293"/>
      <ac:picMk id="3" creationId="{00000000-0000-0000-0000-000000000000}"/>
    </ac:deMkLst>
    <p188:txBody>
      <a:bodyPr/>
      <a:lstStyle/>
      <a:p>
        <a:r>
          <a:rPr lang="en-US"/>
          <a:t>Why is there no sierra-leone in-fill?</a:t>
        </a:r>
      </a:p>
    </p188:txBody>
  </p188:cm>
  <p188:cm id="{CD91BE94-06F5-48CC-9FB3-60051A1B33B4}" authorId="{014E4CAE-E167-60D0-ADF6-DC628FC944DC}" created="2026-09-17T15:00:41.235">
    <ac:deMkLst xmlns:ac="http://schemas.microsoft.com/office/drawing/2013/main/command">
      <pc:docMk xmlns:pc="http://schemas.microsoft.com/office/powerpoint/2013/main/command"/>
      <pc:sldMk xmlns:pc="http://schemas.microsoft.com/office/powerpoint/2013/main/command" cId="0" sldId="293"/>
      <ac:picMk id="3" creationId="{00000000-0000-0000-0000-000000000000}"/>
    </ac:deMkLst>
    <p188:txBody>
      <a:bodyPr/>
      <a:lstStyle/>
      <a:p>
        <a:r>
          <a:rPr lang="en-US"/>
          <a:t>For all these plots, just show the best model as a filled point, and then the regional average (I don’t want the index and best other arm comparisons)</a:t>
        </a:r>
      </a:p>
    </p188:txBody>
  </p188:cm>
</p188:cmLst>
</file>

<file path=ppt/comments/modernComment_128_0.xml><?xml version="1.0" encoding="utf-8"?>
<p188:cmLst xmlns:a="http://schemas.openxmlformats.org/drawingml/2006/main" xmlns:r="http://schemas.openxmlformats.org/officeDocument/2006/relationships" xmlns:p188="http://schemas.microsoft.com/office/powerpoint/2018/8/main">
  <p188:cm id="{CF73C6E4-B2F5-402F-AB7B-C53C6392ED03}" authorId="{014E4CAE-E167-60D0-ADF6-DC628FC944DC}" created="2026-09-17T14:54:49.345">
    <ac:txMkLst xmlns:ac="http://schemas.microsoft.com/office/drawing/2013/main/command">
      <pc:docMk xmlns:pc="http://schemas.microsoft.com/office/powerpoint/2013/main/command"/>
      <pc:sldMk xmlns:pc="http://schemas.microsoft.com/office/powerpoint/2013/main/command" cId="0" sldId="296"/>
      <ac:spMk id="2" creationId="{00000000-0000-0000-0000-000000000000}"/>
      <ac:txMk cp="0" len="36">
        <ac:context len="37" hash="3906876561"/>
      </ac:txMk>
    </ac:txMkLst>
    <p188:pos x="8933761" y="615376"/>
    <p188:txBody>
      <a:bodyPr/>
      <a:lstStyle/>
      <a:p>
        <a:r>
          <a:rPr lang="en-US"/>
          <a:t>Just call it “Where the rankings work”</a:t>
        </a:r>
      </a:p>
    </p188:txBody>
  </p188:cm>
  <p188:cm id="{0D2D6C90-55AC-4FA0-8A0A-D8C564B4AC4D}" authorId="{014E4CAE-E167-60D0-ADF6-DC628FC944DC}" created="2026-09-17T14:58:22.063">
    <pc:sldMkLst xmlns:pc="http://schemas.microsoft.com/office/powerpoint/2013/main/command">
      <pc:docMk/>
      <pc:sldMk cId="0" sldId="296"/>
    </pc:sldMkLst>
    <p188:txBody>
      <a:bodyPr/>
      <a:lstStyle/>
      <a:p>
        <a:r>
          <a:rPr lang="en-US"/>
          <a:t>Add a concise sentence to “why not”</a:t>
        </a:r>
      </a:p>
    </p188:txBody>
  </p188:cm>
</p188:cmLst>
</file>

<file path=ppt/comments/modernComment_132_0.xml><?xml version="1.0" encoding="utf-8"?>
<p188:cmLst xmlns:a="http://schemas.openxmlformats.org/drawingml/2006/main" xmlns:r="http://schemas.openxmlformats.org/officeDocument/2006/relationships" xmlns:p188="http://schemas.microsoft.com/office/powerpoint/2018/8/main">
  <p188:cm id="{DBE52BB4-509D-4EB9-98C6-176708758695}" authorId="{014E4CAE-E167-60D0-ADF6-DC628FC944DC}" created="2026-09-17T15:27:58.857">
    <ac:txMkLst xmlns:ac="http://schemas.microsoft.com/office/drawing/2013/main/command">
      <pc:docMk xmlns:pc="http://schemas.microsoft.com/office/powerpoint/2013/main/command"/>
      <pc:sldMk xmlns:pc="http://schemas.microsoft.com/office/powerpoint/2013/main/command" cId="0" sldId="306"/>
      <ac:spMk id="2" creationId="{00000000-0000-0000-0000-000000000000}"/>
      <ac:txMk cp="17" len="41">
        <ac:context len="59" hash="3224401154"/>
      </ac:txMk>
    </ac:txMkLst>
    <p188:pos x="9242502" y="229607"/>
    <p188:txBody>
      <a:bodyPr/>
      <a:lstStyle/>
      <a:p>
        <a:r>
          <a:rPr lang="en-US"/>
          <a:t>I think you should print the ceiling/survey reliability on them</a:t>
        </a:r>
      </a:p>
    </p188:txBody>
  </p188:cm>
</p188:cmLst>
</file>

<file path=ppt/comments/modernComment_136_0.xml><?xml version="1.0" encoding="utf-8"?>
<p188:cmLst xmlns:a="http://schemas.openxmlformats.org/drawingml/2006/main" xmlns:r="http://schemas.openxmlformats.org/officeDocument/2006/relationships" xmlns:p188="http://schemas.microsoft.com/office/powerpoint/2018/8/main">
  <p188:cm id="{D801D3B0-BFDA-4570-8688-E315D8484B8A}" authorId="{014E4CAE-E167-60D0-ADF6-DC628FC944DC}" created="2026-09-17T15:36:52.058">
    <pc:sldMkLst xmlns:pc="http://schemas.microsoft.com/office/powerpoint/2013/main/command">
      <pc:docMk/>
      <pc:sldMk cId="0" sldId="310"/>
    </pc:sldMkLst>
    <p188:txBody>
      <a:bodyPr/>
      <a:lstStyle/>
      <a:p>
        <a:r>
          <a:rPr lang="en-US"/>
          <a:t>Title to question</a:t>
        </a:r>
      </a:p>
    </p188:txBody>
  </p188:cm>
</p188:cmLst>
</file>

<file path=ppt/comments/modernComment_137_0.xml><?xml version="1.0" encoding="utf-8"?>
<p188:cmLst xmlns:a="http://schemas.openxmlformats.org/drawingml/2006/main" xmlns:r="http://schemas.openxmlformats.org/officeDocument/2006/relationships" xmlns:p188="http://schemas.microsoft.com/office/powerpoint/2018/8/main">
  <p188:cm id="{26DAC9AF-DEC9-48D6-B87D-02378DC6738F}" authorId="{014E4CAE-E167-60D0-ADF6-DC628FC944DC}" created="2026-09-17T15:36:58.724">
    <ac:txMkLst xmlns:ac="http://schemas.microsoft.com/office/drawing/2013/main/command">
      <pc:docMk xmlns:pc="http://schemas.microsoft.com/office/powerpoint/2013/main/command"/>
      <pc:sldMk xmlns:pc="http://schemas.microsoft.com/office/powerpoint/2013/main/command" cId="0" sldId="311"/>
      <ac:spMk id="2" creationId="{00000000-0000-0000-0000-000000000000}"/>
      <ac:txMk cp="0" len="53">
        <ac:context len="54" hash="3620036342"/>
      </ac:txMk>
    </ac:txMkLst>
    <p188:pos x="9792629" y="229607"/>
    <p188:txBody>
      <a:bodyPr/>
      <a:lstStyle/>
      <a:p>
        <a:r>
          <a:rPr lang="en-US"/>
          <a:t>Title to question</a:t>
        </a:r>
      </a:p>
    </p188:txBody>
  </p188:cm>
</p188:cmLst>
</file>

<file path=ppt/comments/modernComment_138_0.xml><?xml version="1.0" encoding="utf-8"?>
<p188:cmLst xmlns:a="http://schemas.openxmlformats.org/drawingml/2006/main" xmlns:r="http://schemas.openxmlformats.org/officeDocument/2006/relationships" xmlns:p188="http://schemas.microsoft.com/office/powerpoint/2018/8/main">
  <p188:cm id="{A35E89F3-0E17-4C03-A752-2726F6D2344D}" authorId="{014E4CAE-E167-60D0-ADF6-DC628FC944DC}" created="2026-09-17T15:37:05.263">
    <ac:txMkLst xmlns:ac="http://schemas.microsoft.com/office/drawing/2013/main/command">
      <pc:docMk xmlns:pc="http://schemas.microsoft.com/office/powerpoint/2013/main/command"/>
      <pc:sldMk xmlns:pc="http://schemas.microsoft.com/office/powerpoint/2013/main/command" cId="0" sldId="312"/>
      <ac:spMk id="2" creationId="{00000000-0000-0000-0000-000000000000}"/>
      <ac:txMk cp="0" len="48">
        <ac:context len="49" hash="2931101761"/>
      </ac:txMk>
    </ac:txMkLst>
    <p188:pos x="8922834" y="229607"/>
    <p188:txBody>
      <a:bodyPr/>
      <a:lstStyle/>
      <a:p>
        <a:r>
          <a:rPr lang="en-US"/>
          <a:t>Title to question</a:t>
        </a:r>
      </a:p>
    </p188:txBody>
  </p188:cm>
</p188:cmLst>
</file>

<file path=ppt/comments/modernComment_139_0.xml><?xml version="1.0" encoding="utf-8"?>
<p188:cmLst xmlns:a="http://schemas.openxmlformats.org/drawingml/2006/main" xmlns:r="http://schemas.openxmlformats.org/officeDocument/2006/relationships" xmlns:p188="http://schemas.microsoft.com/office/powerpoint/2018/8/main">
  <p188:cm id="{C967C147-432D-4751-AE95-E4AB99E5097C}" authorId="{014E4CAE-E167-60D0-ADF6-DC628FC944DC}" created="2026-09-17T15:37:33.394">
    <pc:sldMkLst xmlns:pc="http://schemas.microsoft.com/office/powerpoint/2013/main/command">
      <pc:docMk/>
      <pc:sldMk cId="0" sldId="313"/>
    </pc:sldMkLst>
    <p188:txBody>
      <a:bodyPr/>
      <a:lstStyle/>
      <a:p>
        <a:r>
          <a:rPr lang="en-US"/>
          <a:t>Delete slide</a:t>
        </a:r>
      </a:p>
    </p188:txBody>
  </p188:cm>
</p188:cmLst>
</file>

<file path=ppt/comments/modernComment_140_0.xml><?xml version="1.0" encoding="utf-8"?>
<p188:cmLst xmlns:a="http://schemas.openxmlformats.org/drawingml/2006/main" xmlns:r="http://schemas.openxmlformats.org/officeDocument/2006/relationships" xmlns:p188="http://schemas.microsoft.com/office/powerpoint/2018/8/main">
  <p188:cm id="{14875127-0496-4645-9F02-3CFACD2F9A0C}" authorId="{014E4CAE-E167-60D0-ADF6-DC628FC944DC}" created="2026-09-17T15:45:34.434">
    <ac:txMkLst xmlns:ac="http://schemas.microsoft.com/office/drawing/2013/main/command">
      <pc:docMk xmlns:pc="http://schemas.microsoft.com/office/powerpoint/2013/main/command"/>
      <pc:sldMk xmlns:pc="http://schemas.microsoft.com/office/powerpoint/2013/main/command" cId="0" sldId="320"/>
      <ac:spMk id="2" creationId="{00000000-0000-0000-0000-000000000000}"/>
      <ac:txMk cp="0" len="35">
        <ac:context len="36" hash="4061088893"/>
      </ac:txMk>
    </ac:txMkLst>
    <p188:pos x="8484220" y="534407"/>
    <p188:txBody>
      <a:bodyPr/>
      <a:lstStyle/>
      <a:p>
        <a:r>
          <a:rPr lang="en-US"/>
          <a:t>“What drives the transport models” instead</a:t>
        </a:r>
      </a:p>
    </p188:txBody>
  </p188:cm>
</p188:cmLst>
</file>

<file path=ppt/comments/modernComment_141_0.xml><?xml version="1.0" encoding="utf-8"?>
<p188:cmLst xmlns:a="http://schemas.openxmlformats.org/drawingml/2006/main" xmlns:r="http://schemas.openxmlformats.org/officeDocument/2006/relationships" xmlns:p188="http://schemas.microsoft.com/office/powerpoint/2018/8/main">
  <p188:cm id="{1C8C6442-DBAD-4E56-980F-5927A3779738}" authorId="{014E4CAE-E167-60D0-ADF6-DC628FC944DC}" created="2026-09-17T15:45:56.420">
    <ac:txMkLst xmlns:ac="http://schemas.microsoft.com/office/drawing/2013/main/command">
      <pc:docMk xmlns:pc="http://schemas.microsoft.com/office/powerpoint/2013/main/command"/>
      <pc:sldMk xmlns:pc="http://schemas.microsoft.com/office/powerpoint/2013/main/command" cId="0" sldId="321"/>
      <ac:spMk id="2" creationId="{00000000-0000-0000-0000-000000000000}"/>
      <ac:txMk cp="0" len="70">
        <ac:context len="71" hash="3963329586"/>
      </ac:txMk>
    </ac:txMkLst>
    <p188:pos x="10275849" y="229607"/>
    <p188:txBody>
      <a:bodyPr/>
      <a:lstStyle/>
      <a:p>
        <a:r>
          <a:rPr lang="en-US"/>
          <a:t>Give interpretable variable labels to the plot</a:t>
        </a:r>
      </a:p>
    </p188:txBody>
  </p188:cm>
</p188:cmLst>
</file>

<file path=ppt/comments/modernComment_143_0.xml><?xml version="1.0" encoding="utf-8"?>
<p188:cmLst xmlns:a="http://schemas.openxmlformats.org/drawingml/2006/main" xmlns:r="http://schemas.openxmlformats.org/officeDocument/2006/relationships" xmlns:p188="http://schemas.microsoft.com/office/powerpoint/2018/8/main">
  <p188:cm id="{3F1D9AA0-44B9-42A4-B092-522AA4E615F4}" authorId="{014E4CAE-E167-60D0-ADF6-DC628FC944DC}" created="2026-09-17T15:46:27.766">
    <ac:deMkLst xmlns:ac="http://schemas.microsoft.com/office/drawing/2013/main/command">
      <pc:docMk xmlns:pc="http://schemas.microsoft.com/office/powerpoint/2013/main/command"/>
      <pc:sldMk xmlns:pc="http://schemas.microsoft.com/office/powerpoint/2013/main/command" cId="0" sldId="323"/>
      <ac:picMk id="4" creationId="{00000000-0000-0000-0000-000000000000}"/>
    </ac:deMkLst>
    <p188:txBody>
      <a:bodyPr/>
      <a:lstStyle/>
      <a:p>
        <a:r>
          <a:rPr lang="en-US"/>
          <a:t>Explain what this means in the text</a:t>
        </a:r>
      </a:p>
    </p188:txBody>
  </p188:cm>
  <p188:cm id="{EB65D662-C5F1-4E0D-A17E-BFA4979B2335}" authorId="{014E4CAE-E167-60D0-ADF6-DC628FC944DC}" created="2026-09-17T15:47:00.223">
    <pc:sldMkLst xmlns:pc="http://schemas.microsoft.com/office/powerpoint/2013/main/command">
      <pc:docMk/>
      <pc:sldMk cId="0" sldId="323"/>
    </pc:sldMkLst>
    <p188:txBody>
      <a:bodyPr/>
      <a:lstStyle/>
      <a:p>
        <a:r>
          <a:rPr lang="en-US"/>
          <a:t>Too technical- make simpler</a:t>
        </a:r>
      </a:p>
    </p188:txBody>
  </p188:cm>
</p188:cmLst>
</file>

<file path=ppt/comments/modernComment_144_0.xml><?xml version="1.0" encoding="utf-8"?>
<p188:cmLst xmlns:a="http://schemas.openxmlformats.org/drawingml/2006/main" xmlns:r="http://schemas.openxmlformats.org/officeDocument/2006/relationships" xmlns:p188="http://schemas.microsoft.com/office/powerpoint/2018/8/main">
  <p188:cm id="{7A88CB27-49F7-4818-908A-A7B127B645FA}" authorId="{014E4CAE-E167-60D0-ADF6-DC628FC944DC}" created="2026-09-17T15:53:04.720">
    <ac:txMkLst xmlns:ac="http://schemas.microsoft.com/office/drawing/2013/main/command">
      <pc:docMk xmlns:pc="http://schemas.microsoft.com/office/powerpoint/2013/main/command"/>
      <pc:sldMk xmlns:pc="http://schemas.microsoft.com/office/powerpoint/2013/main/command" cId="0" sldId="324"/>
      <ac:spMk id="3" creationId="{00000000-0000-0000-0000-000000000000}"/>
      <ac:txMk cp="0" len="246">
        <ac:context len="247" hash="2364428032"/>
      </ac:txMk>
    </ac:txMkLst>
    <p188:pos x="5123985" y="226199"/>
    <p188:txBody>
      <a:bodyPr/>
      <a:lstStyle/>
      <a:p>
        <a:r>
          <a:rPr lang="en-US"/>
          <a:t>Move this to the text, and make the title a question
make the text less technical/more understandable to the audience</a:t>
        </a:r>
      </a:p>
    </p188:txBody>
  </p188:cm>
</p188:cmLst>
</file>

<file path=ppt/comments/modernComment_146_0.xml><?xml version="1.0" encoding="utf-8"?>
<p188:cmLst xmlns:a="http://schemas.openxmlformats.org/drawingml/2006/main" xmlns:r="http://schemas.openxmlformats.org/officeDocument/2006/relationships" xmlns:p188="http://schemas.microsoft.com/office/powerpoint/2018/8/main">
  <p188:cm id="{489395A0-DF0F-45A6-96FB-972F2372FDC3}" authorId="{014E4CAE-E167-60D0-ADF6-DC628FC944DC}" created="2026-09-17T15:56:44.426">
    <pc:sldMkLst xmlns:pc="http://schemas.microsoft.com/office/powerpoint/2013/main/command">
      <pc:docMk/>
      <pc:sldMk cId="0" sldId="326"/>
    </pc:sldMkLst>
    <p188:txBody>
      <a:bodyPr/>
      <a:lstStyle/>
      <a:p>
        <a:r>
          <a:rPr lang="en-US"/>
          <a:t>Delete slide</a:t>
        </a:r>
      </a:p>
    </p188:txBody>
  </p188:cm>
</p188:cmLst>
</file>

<file path=ppt/comments/modernComment_147_0.xml><?xml version="1.0" encoding="utf-8"?>
<p188:cmLst xmlns:a="http://schemas.openxmlformats.org/drawingml/2006/main" xmlns:r="http://schemas.openxmlformats.org/officeDocument/2006/relationships" xmlns:p188="http://schemas.microsoft.com/office/powerpoint/2018/8/main">
  <p188:cm id="{DC33A0E5-64D2-4268-999E-D38197B3E7CD}" authorId="{014E4CAE-E167-60D0-ADF6-DC628FC944DC}" created="2026-09-17T15:56:58.085">
    <ac:deMkLst xmlns:ac="http://schemas.microsoft.com/office/drawing/2013/main/command">
      <pc:docMk xmlns:pc="http://schemas.microsoft.com/office/powerpoint/2013/main/command"/>
      <pc:sldMk xmlns:pc="http://schemas.microsoft.com/office/powerpoint/2013/main/command" cId="0" sldId="327"/>
      <ac:spMk id="2" creationId="{00000000-0000-0000-0000-000000000000}"/>
    </ac:deMkLst>
    <p188:txBody>
      <a:bodyPr/>
      <a:lstStyle/>
      <a:p>
        <a:r>
          <a:rPr lang="en-US"/>
          <a:t>Move to archive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068F7-1A27-4717-A728-A996FAEDE383}" type="datetimeFigureOut">
              <a:rPr lang="en-GB" smtClean="0"/>
              <a:t>17/09/2026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A43B92-3A2D-4964-BD32-AF28A47106C9}" type="slidenum">
              <a:rPr lang="en-GB" smtClean="0"/>
              <a:t>‹#›</a:t>
            </a:fld>
            <a:endParaRPr lang="en-GB"/>
          </a:p>
        </p:txBody>
      </p:sp>
    </p:spTree>
    <p:extLst>
      <p:ext uri="{BB962C8B-B14F-4D97-AF65-F5344CB8AC3E}">
        <p14:creationId xmlns:p14="http://schemas.microsoft.com/office/powerpoint/2010/main" val="158170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three project goals as stated in the proposal: district and national prevalence estimates from proxies, validated against biomarker surveys; the districts at greatest risk; engagement with national stakeholders throughout. The map is Ghana child iron deficiency from the 2017 survey, the worked example that recurs through the talk.</a:t>
            </a:r>
          </a:p>
        </p:txBody>
      </p:sp>
      <p:sp>
        <p:nvSpPr>
          <p:cNvPr id="4" name="Slide Number Placeholder 3"/>
          <p:cNvSpPr>
            <a:spLocks noGrp="1"/>
          </p:cNvSpPr>
          <p:nvPr>
            <p:ph type="sldNum" sz="quarter" idx="10"/>
          </p:nvPr>
        </p:nvSpPr>
        <p:spPr/>
        <p:txBody>
          <a:bodyPr/>
          <a:lstStyle/>
          <a:p>
            <a:fld id="{E2A43B92-3A2D-4964-BD32-AF28A47106C9}"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The whole talk in one image, Ghana’s child vitamin A deficiency. Left: what a </a:t>
            </a:r>
            <a:r>
              <a:rPr dirty="0" err="1"/>
              <a:t>programme</a:t>
            </a:r>
            <a:r>
              <a:rPr dirty="0"/>
              <a:t> has between surveys, one national figure applied to every district. Middle: the best the survey itself offers, an average per region. Right: what the model adds, a value for every district, including the 185 the survey never reached (the index fitted on the surveyed districts and applied to all; the median over the resampled refits of the exceedance slide). The rest of the talk is about how far the right-hand map can be trusted: as a ranking inside a surveyed country, as a ranking in a country with no survey, and as a level only with a national anchor.</a:t>
            </a:r>
          </a:p>
        </p:txBody>
      </p:sp>
      <p:sp>
        <p:nvSpPr>
          <p:cNvPr id="4" name="Slide Number Placeholder 3"/>
          <p:cNvSpPr>
            <a:spLocks noGrp="1"/>
          </p:cNvSpPr>
          <p:nvPr>
            <p:ph type="sldNum" sz="quarter" idx="10"/>
          </p:nvPr>
        </p:nvSpPr>
        <p:spPr/>
        <p:txBody>
          <a:bodyPr/>
          <a:lstStyle/>
          <a:p>
            <a:fld id="{E2A43B92-3A2D-4964-BD32-AF28A47106C9}"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Photo credit: Latter-day Saint Charities. GMS 2017 collaborators: University of Ghana, GroundWork, University of Wisconsin-Madison, KEMRI-Wellcome Trust; with UNICEF and Global Affairs Canada.</a:t>
            </a:r>
          </a:p>
        </p:txBody>
      </p:sp>
      <p:sp>
        <p:nvSpPr>
          <p:cNvPr id="4" name="Slide Number Placeholder 3"/>
          <p:cNvSpPr>
            <a:spLocks noGrp="1"/>
          </p:cNvSpPr>
          <p:nvPr>
            <p:ph type="sldNum" sz="quarter" idx="10"/>
          </p:nvPr>
        </p:nvSpPr>
        <p:spPr/>
        <p:txBody>
          <a:bodyPr/>
          <a:lstStyle/>
          <a:p>
            <a:fld id="{E2A43B92-3A2D-4964-BD32-AF28A47106C9}"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same sentence describes both halves. Big: 575 columns from 28 sources, most of them rasters at 30 m to 10 km summarised over 554 districts, four household surveys aggregated from their microdata, a satellite embedding with 64 dimensions per district. Small: the thing being predicted is measured in one biomarker survey per country per decade, at 206 surveyed districts over four countries, 24 country-outcome cells, and 14 to 87 districts per country, which is the effective sample size of every model. Everything in the protocol follows from holding both at once: predictors are reduced to domain components with nothing chosen on the outcome, the estimator has no tuned parameter, the folds are cut by district, region and country, and the reliability ceiling says how much of the survey signal is noise at district level. Likely question: why not fit at the person level. That was the January approach; a person-level classifier under district-blocked folds is a coin toss on proxies alone, and shrinking its predictions biases area means (individual-level slide in the appendix).</a:t>
            </a:r>
          </a:p>
        </p:txBody>
      </p:sp>
      <p:sp>
        <p:nvSpPr>
          <p:cNvPr id="4" name="Slide Number Placeholder 3"/>
          <p:cNvSpPr>
            <a:spLocks noGrp="1"/>
          </p:cNvSpPr>
          <p:nvPr>
            <p:ph type="sldNum" sz="quarter" idx="10"/>
          </p:nvPr>
        </p:nvSpPr>
        <p:spPr/>
        <p:txBody>
          <a:bodyPr/>
          <a:lstStyle/>
          <a:p>
            <a:fld id="{E2A43B92-3A2D-4964-BD32-AF28A47106C9}"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24 country-outcome cells, 206 surveyed districts, 323 survey clusters with GPS. Fieldwork dates were recovered for every cluster (Sierra Leone reconstructed from date of birth and age in days); ferritin, retinol and food prices are seasonal. Three surveys ran in the dry season and Malawi in the lean season. Likely question: why districts rather than regions. Districts are the programme unit; they sit below the surveys’ design resolution, so the reliability ceiling slide reports what a perfect predictor could reach.</a:t>
            </a:r>
          </a:p>
        </p:txBody>
      </p:sp>
      <p:sp>
        <p:nvSpPr>
          <p:cNvPr id="4" name="Slide Number Placeholder 3"/>
          <p:cNvSpPr>
            <a:spLocks noGrp="1"/>
          </p:cNvSpPr>
          <p:nvPr>
            <p:ph type="sldNum" sz="quarter" idx="10"/>
          </p:nvPr>
        </p:nvSpPr>
        <p:spPr/>
        <p:txBody>
          <a:bodyPr/>
          <a:lstStyle/>
          <a:p>
            <a:fld id="{E2A43B92-3A2D-4964-BD32-AF28A47106C9}"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Two targets per cell: the deficiency prevalence, and the district mean of the negated log biomarker concentration (higher means worse), which carries more signal than the dichotomy and is reported alongside it. Definitions were reconciled against the four survey reports and the 21 papers that re-analyse them on 15 September 2026 (docs/survey_report_reconciliation.md): every iron, zinc, folate and B12 national estimate now reproduces its report to the decimal, and the Gambia LGA estimates track the report at r = 0.98 to 0.99. What changed then: the iron binaries had been the surveys’ iron-deficiency-ANAEMIA columns in three countries (ferritin plus haemoglobin), Malawi’s iron flag came from a mis-specified local BRINDA that under-counted by half, pregnant women and children outside 6 to 59 months were being kept, and vitamin A had been converted to retinol-equivalents with each survey’s own RBP-to-retinol line. That conversion is now the sensitivity analysis, not the primary: the four lines were fitted in different directions on 14 to 300 specimens, and Malawi’s has R-squared 0.13, which manufactures near-zero deficiency by construction; the survey’s own re-analysis (Likoswe 2021) recommends exactly BRINDA-adjusted RBP below 0.70, the estimand used here. Call it low RBP rather than vitamin A deficiency: Ghana’s MRDR found 6.7 percent depleted and Malawi’s none. Two caveats to say if asked. Sierra Leone’s child file as supplied holds only the survey’s anaemic children (532 of 654 assayed), so its child cells are anaemic-subgroup estimates until the full file arrives. Folate is not comparable across the two assays (Malawi’s microbiologic assay reads higher than the Roche immunoassay), so its cross-border numbers are indicative only. Iodine (The Gambia, Sierra Leone) is analysed within country only; a one- or two-country outcome has no cross-border test.</a:t>
            </a:r>
          </a:p>
        </p:txBody>
      </p:sp>
      <p:sp>
        <p:nvSpPr>
          <p:cNvPr id="4" name="Slide Number Placeholder 3"/>
          <p:cNvSpPr>
            <a:spLocks noGrp="1"/>
          </p:cNvSpPr>
          <p:nvPr>
            <p:ph type="sldNum" sz="quarter" idx="10"/>
          </p:nvPr>
        </p:nvSpPr>
        <p:spPr/>
        <p:txBody>
          <a:bodyPr/>
          <a:lstStyle/>
          <a:p>
            <a:fld id="{E2A43B92-3A2D-4964-BD32-AF28A47106C9}"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Adapted from Hess et al., Ann N Y Acad Sci 2023. The framework is unchanged; the ablation slides show which of its pathways the data can see.</a:t>
            </a:r>
          </a:p>
        </p:txBody>
      </p:sp>
      <p:sp>
        <p:nvSpPr>
          <p:cNvPr id="4" name="Slide Number Placeholder 3"/>
          <p:cNvSpPr>
            <a:spLocks noGrp="1"/>
          </p:cNvSpPr>
          <p:nvPr>
            <p:ph type="sldNum" sz="quarter" idx="10"/>
          </p:nvPr>
        </p:nvSpPr>
        <p:spPr/>
        <p:txBody>
          <a:bodyPr/>
          <a:lstStyle/>
          <a:p>
            <a:fld id="{E2A43B92-3A2D-4964-BD32-AF28A47106C9}"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talk is about the right-hand side of the model: where the 575 columns come from, how each one gets from its native form to a district value, how we line them up with four surveys taken in four different years, and which of them the model leans on. The analysis deck covers what the ranking achieves; this one covers what it is made of. The leakage rule is the second bullet: a district aggregate of the same survey instance we score is excluded (docs/findings, LK-02), and where a MICS or DHS was fielded inside the biomarker survey’s own clusters those clusters are dropped from the aggregate (The Gambia 2018: 70 MICS clusters; Malawi 2015-16: 105 DHS clusters). The record behind the fourth bullet is the shared metadata file and results/tables/protocol_v2/variable_sheet.csv. One consequence of the first bullet: 42 of the 575 columns are national series with one value per country, and a value that is the same in every district cannot rank districts, so the models drop them when they are fitted.</a:t>
            </a:r>
          </a:p>
        </p:txBody>
      </p:sp>
      <p:sp>
        <p:nvSpPr>
          <p:cNvPr id="4" name="Slide Number Placeholder 3"/>
          <p:cNvSpPr>
            <a:spLocks noGrp="1"/>
          </p:cNvSpPr>
          <p:nvPr>
            <p:ph type="sldNum" sz="quarter" idx="10"/>
          </p:nvPr>
        </p:nvSpPr>
        <p:spPr/>
        <p:txBody>
          <a:bodyPr/>
          <a:lstStyle/>
          <a:p>
            <a:fld id="{E2A43B92-3A2D-4964-BD32-AF28A47106C9}" type="slidenum">
              <a:rPr lang="en-US"/>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Read the bar chart from the top. One harmonised set feeds every model: the in-country models use whatever a country has, the cross-country models the columns all four share, so the light segment (household budget survey diet items for two countries, RTFP prices for two, MIMI for Ghana, MICS items missing from one round, a few IHME surfaces) works at home and not abroad. Behind the set sits a larger extraction: about 740 columns per country in the raw files (1,968 distinct names across the four, mostly the same quantity under country-specific names), harmonised to a common vocabulary; what did not harmonise was used only in the pre-protocol models. The Earth Engine block is climate (TerraClimate at the survey year and as 30-year normals), land cover, night lights, built-up surface, vegetation and evapotranspiration, night-time land surface temperature; the satellite embedding is Google’s AlphaEarth, 64 numbers per district that summarise a year of imagery; soil is iSDA and SoilGrids, ten nutrient concentrations at two depths plus texture and pH; crops are MapSPAM’s 2010 allocation; livestock is GLW4. The health and nutrition surfaces are IHME’s modelled estimates (anaemia, child growth, WASH, education, ORS, HIV, malaria, vaccination) and the Malaria Atlas layers; ESPEN gives helminth endemicity. Prices come from WFP markets, the World Bank’s RTFP panel and FAOSTAT balances; fortification from GFDx. The public microdata blocks are new since 15 September: 30 indicators from the MICS files for all four countries and 15 diet and consumption indicators from the household budget surveys (IHS 2015/16, GLSS7, IHS4, SLIHS 2018). The DHS block is 150 district aggregates from the round paired with each survey (Ghana 2014, Malawi 2015-16, Sierra Leone 2013, The Gambia 2019-20), estimated with a cluster-level spatial model so every district has a value. Everything here is listed with its source, year and definition in results/tables/protocol_v2/variable_sheet.csv and in the dashboard’s catalogue.</a:t>
            </a:r>
          </a:p>
        </p:txBody>
      </p:sp>
      <p:sp>
        <p:nvSpPr>
          <p:cNvPr id="4" name="Slide Number Placeholder 3"/>
          <p:cNvSpPr>
            <a:spLocks noGrp="1"/>
          </p:cNvSpPr>
          <p:nvPr>
            <p:ph type="sldNum" sz="quarter" idx="10"/>
          </p:nvPr>
        </p:nvSpPr>
        <p:spPr/>
        <p:txBody>
          <a:bodyPr/>
          <a:lstStyle/>
          <a:p>
            <a:fld id="{E2A43B92-3A2D-4964-BD32-AF28A47106C9}" type="slidenum">
              <a:rPr lang="en-US"/>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Rasters are the easy case: exactextractr over the GADM polygon, weighting by WorldPop where the quantity is about people (the IHME surfaces) and by area where it is about land (climate, soil, greenness). Twelve of the IHME columns were still joined by district name until this week; the tabular files predate Ghana’s 2019 district splits and left 56 percent of Ghana empty, so they were re-extracted from the 5 km GeoTIFFs. Survey microdata with GPS goes point-in-polygon after the leakage clusters are removed, with a minimum of 30 households and 5 clusters per district before a district gets its own value; below that it takes the parent region’s value and is flagged. Ghana’s MICS 2017-18 identifies the ten old regions and Malawi’s MICS 2013-14 the 27 districts, so those blocks vary at that level only and every column carries a subnational flag saying so. National series are kept in the set for documentation and completeness, but a constant cannot rank districts; the fit-time policy removes 42 of them (FAOSTAT, most GFDx fields, WHO anaemia national estimates, VAS, FluNet).</a:t>
            </a:r>
          </a:p>
        </p:txBody>
      </p:sp>
      <p:sp>
        <p:nvSpPr>
          <p:cNvPr id="4" name="Slide Number Placeholder 3"/>
          <p:cNvSpPr>
            <a:spLocks noGrp="1"/>
          </p:cNvSpPr>
          <p:nvPr>
            <p:ph type="sldNum" sz="quarter" idx="10"/>
          </p:nvPr>
        </p:nvSpPr>
        <p:spPr/>
        <p:txBody>
          <a:bodyPr/>
          <a:lstStyle/>
          <a:p>
            <a:fld id="{E2A43B92-3A2D-4964-BD32-AF28A47106C9}" type="slidenum">
              <a:rPr lang="en-US"/>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spine is metadata/admin2_spine.csv; the helpers in R/admin2_keys.R do every join in the pipeline and a lint test (tests/testthat/test-admin2-join-lint.R) reads every script for a join on a bare Admin2 name. The p-codes came from OCHA’s COD-AB for all four countries this week, both directions, so an OCHA-coded source (IPC, ACLED, cluster surveys) joins without any matching. Fuzzy matching, where it is still needed, is Jaro-Winkler with a 0.15 cap and a review file that lists every non-exact match for a human to accept. The population defect: the dashboard’s population table had been deduplicated by district name, so Chikwawa’s TA Lundu and Nsanje’s TA Ngabu, Salima’s TA Pemba and Zomba’s TA Malemia lost one member each, two of them surveyed districts, and every population-weighted figure silently excluded them. Fixed 15 September from WorldPop density, and the population table is now asserted complete in the tests.</a:t>
            </a:r>
          </a:p>
        </p:txBody>
      </p:sp>
      <p:sp>
        <p:nvSpPr>
          <p:cNvPr id="4" name="Slide Number Placeholder 3"/>
          <p:cNvSpPr>
            <a:spLocks noGrp="1"/>
          </p:cNvSpPr>
          <p:nvPr>
            <p:ph type="sldNum" sz="quarter" idx="10"/>
          </p:nvPr>
        </p:nvSpPr>
        <p:spPr/>
        <p:txBody>
          <a:bodyPr/>
          <a:lstStyle/>
          <a:p>
            <a:fld id="{E2A43B92-3A2D-4964-BD32-AF28A47106C9}" type="slidenum">
              <a:rPr lang="en-US"/>
              <a:t>16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rules live in metadata/covariates/temporal_alignment.csv, 45 of them, one regular expression each: survey_year where an annual series exists (TerraClimate, MODIS NDVI, MAP, WorldPop density, WFP prices, RTFP windows), nearest available year where a series ends early (IHME’s child growth, education and WASH stop at 2017, anaemia and malaria at 2019), a fixed vintage where there is only one (AlphaEarth 2017, MapSPAM 2010, GLW 2015, RWI 2019), a per-country round for the household surveys, and static for soil, terrain, climate normals and zones. Climate and greenness enter as a 30-year normal plus the survey-year anomaly in standard-deviation units, which is what transports; the calendar-year series that lagged the survey by up to eight years were retired. Sierra Leone’s 2013 survey is the awkward one: AlphaEarth starts in 2017, Copernicus land cover in 2015, and the MICS round nearest it is 2017, so its gaps are the orange and red bands. Ghana’s are the DHS block: the round paired with the 2017 survey is the 2014 DHS, three years off for 140 columns. The gaps that apply everywhere are the single-vintage products: MapSPAM 2010, GLW 2015, WorldPop’s 2020 age-sex structure. The stamp is per column and per country (results/tables/predictor_alignment_2026-09-16.csv), and the audit lists everything three or more years off.</a:t>
            </a:r>
          </a:p>
        </p:txBody>
      </p:sp>
      <p:sp>
        <p:nvSpPr>
          <p:cNvPr id="4" name="Slide Number Placeholder 3"/>
          <p:cNvSpPr>
            <a:spLocks noGrp="1"/>
          </p:cNvSpPr>
          <p:nvPr>
            <p:ph type="sldNum" sz="quarter" idx="10"/>
          </p:nvPr>
        </p:nvSpPr>
        <p:spPr/>
        <p:txBody>
          <a:bodyPr/>
          <a:lstStyle/>
          <a:p>
            <a:fld id="{E2A43B92-3A2D-4964-BD32-AF28A47106C9}" type="slidenum">
              <a:rPr lang="en-US"/>
              <a:t>17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Why domains: 575 columns against 14 to 87 districts per country cannot be fitted column by column, and the columns are heavily correlated within a source. Grouping them by what they measure and taking principal components inside each group keeps most of the variance of each group, treats a source with 64 columns and a source with 3 as one construct each, and keeps the outcome out of the representation: the rotations are learned from the training districts’ predictors alone, so nothing is selected on the biomarker. The grouping is written down: each source block brings a label, and 10 override rules in metadata/covariates/domain_overrides.csv regroup columns by construct (infection and inflammation burden, immunisation, anaemia, child anthropometry, infant feeding, supplementation, water and sanitation, education, child mortality, assets), so that MAP, IHME, DHS and MICS versions of the same thing are weighed together. Two things went wrong this week and are now guarded. A domain’s first twelve characters are its key inside the model; two labels that shared them (“Food prices (RTFP)” and “Food prices and supply”) were silently merged in two analyses until a check caught it on 16 September. The other is in the exclusions, on the next slide. One more point for questions: climate alone or soil alone transports better than all domains together, the analysis deck’s climate-and-soil result.</a:t>
            </a:r>
          </a:p>
        </p:txBody>
      </p:sp>
      <p:sp>
        <p:nvSpPr>
          <p:cNvPr id="4" name="Slide Number Placeholder 3"/>
          <p:cNvSpPr>
            <a:spLocks noGrp="1"/>
          </p:cNvSpPr>
          <p:nvPr>
            <p:ph type="sldNum" sz="quarter" idx="10"/>
          </p:nvPr>
        </p:nvSpPr>
        <p:spPr/>
        <p:txBody>
          <a:bodyPr/>
          <a:lstStyle/>
          <a:p>
            <a:fld id="{E2A43B92-3A2D-4964-BD32-AF28A47106C9}" type="slidenum">
              <a:rPr lang="en-US"/>
              <a:t>18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What the predictor table looks like on the ground: eight of the 575 columns, one from each of the main domain groups, for Ghana’s 260 districts. Rainfall and soil are the physical environment; cereals and cattle the agricultural economy; anaemia and malaria the modelled health surfaces; wealth and night lights the household economy. The point to make aloud is that these are all public and all cover every district, surveyed or not, and that the north-south gradient most of them share is the gradient the index learns. The same eight maps exist for every country in the dashboard’s catalogue.</a:t>
            </a:r>
          </a:p>
        </p:txBody>
      </p:sp>
      <p:sp>
        <p:nvSpPr>
          <p:cNvPr id="4" name="Slide Number Placeholder 3"/>
          <p:cNvSpPr>
            <a:spLocks noGrp="1"/>
          </p:cNvSpPr>
          <p:nvPr>
            <p:ph type="sldNum" sz="quarter" idx="10"/>
          </p:nvPr>
        </p:nvSpPr>
        <p:spPr/>
        <p:txBody>
          <a:bodyPr/>
          <a:lstStyle/>
          <a:p>
            <a:fld id="{E2A43B92-3A2D-4964-BD32-AF28A47106C9}" type="slidenum">
              <a:rPr lang="en-US"/>
              <a:t>19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Six steps from four surveys and 28 sources to one district table. The CONSORT table on the next slide gives the column counts at each step.</a:t>
            </a:r>
          </a:p>
        </p:txBody>
      </p:sp>
      <p:sp>
        <p:nvSpPr>
          <p:cNvPr id="4" name="Slide Number Placeholder 3"/>
          <p:cNvSpPr>
            <a:spLocks noGrp="1"/>
          </p:cNvSpPr>
          <p:nvPr>
            <p:ph type="sldNum" sz="quarter" idx="10"/>
          </p:nvPr>
        </p:nvSpPr>
        <p:spPr/>
        <p:txBody>
          <a:bodyPr/>
          <a:lstStyle/>
          <a:p>
            <a:fld id="{E2A43B92-3A2D-4964-BD32-AF28A47106C9}" type="slidenum">
              <a:rPr lang="en-US"/>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One shell script runs the chain (scripts/covariates/rebuild_shared_tail.sh) and ends in an audit that fails the build on a domain-key collision, a column declared subnational that does not vary, or a join that fans out. The exclusion file has 23 rules and every rule states its evidence: a nitrogen layer whose medians differ thirtyfold between countries, an NDVI product declared available only to 2013, calendar-year series superseded by survey-year values. This week’s most instructive mistake was in the exclusions. A review labelled the soil dispersion bands and the 20-50 cm depth means “redundant” on a mechanistic argument, and the climate-and-soil result fell from 0.37 to 0.34 across districts and from 0.45 to 0.40 across regions. The bands correlate only 0.03 to 0.69 with the depth means, so the label was wrong; restoring them brought both numbers back. We now hold to one rule: nothing is added or regrouped because a score likes it, an exclusion whose stated premise fails on its own metric is reverted, and every set change is checked against the transport arms before a run. What a model can see is the last two rows: 525 columns vary within a country, of which 464 have a value in all four countries and so can be used to predict a new one. The rest are per-country data gaps: household budget diet indicators pending for Ghana and Sierra Leone, RTFP for The Gambia and Malawi only, MICS items absent from one round.</a:t>
            </a:r>
          </a:p>
        </p:txBody>
      </p:sp>
      <p:sp>
        <p:nvSpPr>
          <p:cNvPr id="4" name="Slide Number Placeholder 3"/>
          <p:cNvSpPr>
            <a:spLocks noGrp="1"/>
          </p:cNvSpPr>
          <p:nvPr>
            <p:ph type="sldNum" sz="quarter" idx="10"/>
          </p:nvPr>
        </p:nvSpPr>
        <p:spPr/>
        <p:txBody>
          <a:bodyPr/>
          <a:lstStyle/>
          <a:p>
            <a:fld id="{E2A43B92-3A2D-4964-BD32-AF28A47106C9}" type="slidenum">
              <a:rPr lang="en-US"/>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 the same folds the index scores 0.29 against 0.28 for the rank-loss ensemble, 0.27 for random forest, 0.25 for the squared-error ensemble, 0.22 for the principal-component highly adaptive ridge and 0.19 for the elastic net (mean of cell medians over the 17 cells every arm scored, prevalence, in-fill; SL-01 to SL-05, rerun on the RR-10 set). Likely question: why capacity hurts. With 14 to 87 districts per country the index has no tuned parameter, and every estimator that tunes one shrinks toward the constant under squared-error cross-validation; the weighting slide quantifies this over a family of penalties.</a:t>
            </a:r>
          </a:p>
        </p:txBody>
      </p:sp>
      <p:sp>
        <p:nvSpPr>
          <p:cNvPr id="4" name="Slide Number Placeholder 3"/>
          <p:cNvSpPr>
            <a:spLocks noGrp="1"/>
          </p:cNvSpPr>
          <p:nvPr>
            <p:ph type="sldNum" sz="quarter" idx="10"/>
          </p:nvPr>
        </p:nvSpPr>
        <p:spPr/>
        <p:txBody>
          <a:bodyPr/>
          <a:lstStyle/>
          <a:p>
            <a:fld id="{E2A43B92-3A2D-4964-BD32-AF28A47106C9}" type="slidenum">
              <a:rPr lang="en-US"/>
              <a:t>23</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January estimator, kept as the comparison arm: a SuperLearner library (mean, penalised regressions, random forest, gradient boosting, PCA-HAL, BART, geostatistical models) weighted by V-fold cross-validated performance, folds cut so that no district is split between training and validation. No penalty other than computation to add a learner: diversity, redundancy, synergy. On the same folds the index scores 0.29 against 0.28 for the rank-loss ensemble and 0.27 for random forest (17 cells, prevalence, in-fill), which is why the zero-tuning index became the headline: with 14 to 87 districts every estimator that tunes a parameter shrinks toward the constant.</a:t>
            </a:r>
          </a:p>
        </p:txBody>
      </p:sp>
      <p:sp>
        <p:nvSpPr>
          <p:cNvPr id="4" name="Slide Number Placeholder 3"/>
          <p:cNvSpPr>
            <a:spLocks noGrp="1"/>
          </p:cNvSpPr>
          <p:nvPr>
            <p:ph type="sldNum" sz="quarter" idx="10"/>
          </p:nvPr>
        </p:nvSpPr>
        <p:spPr/>
        <p:txBody>
          <a:bodyPr/>
          <a:lstStyle/>
          <a:p>
            <a:fld id="{E2A43B92-3A2D-4964-BD32-AF28A47106C9}" type="slidenum">
              <a:rPr lang="en-US"/>
              <a:t>24</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Four steps, none of which looks at a held-out district. (1) Rank-normalise every predictor within country, so a level offset between surveys cannot act as signal. (2) Take the leading principal components of each of the 29 domains, to 80% of variance and at most twelve, on the training districts. (3) Weight each component by its rank correlation with the outcome in the training fold, sign and size; nothing else is fitted. (4) Sum, and rescale to the training outcome spread. The index is the infinite-penalty limit of a ridge regression on the components (weighting slide in the appendix), and because it is linear in the rank-normalised columns every column has an exact back-projected weight, which is what the importance slides show.</a:t>
            </a:r>
          </a:p>
        </p:txBody>
      </p:sp>
      <p:sp>
        <p:nvSpPr>
          <p:cNvPr id="4" name="Slide Number Placeholder 3"/>
          <p:cNvSpPr>
            <a:spLocks noGrp="1"/>
          </p:cNvSpPr>
          <p:nvPr>
            <p:ph type="sldNum" sz="quarter" idx="10"/>
          </p:nvPr>
        </p:nvSpPr>
        <p:spPr/>
        <p:txBody>
          <a:bodyPr/>
          <a:lstStyle/>
          <a:p>
            <a:fld id="{E2A43B92-3A2D-4964-BD32-AF28A47106C9}" type="slidenum">
              <a:rPr lang="en-US"/>
              <a:t>25</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earlier leaderboard scored transport-style models against an in-fill baseline that read the held-out district’s own respondents; that comparison is withdrawn. Counts of positive cells have a fat null when a country’s outcomes are correlated: with no transport at all, 16 of 22 cells are positive at the 95th percentile of the permutation null, so the mean rank correlation is the statistic compared with its null (0.08 at district level, 0.18 at regional level).</a:t>
            </a:r>
          </a:p>
        </p:txBody>
      </p:sp>
      <p:sp>
        <p:nvSpPr>
          <p:cNvPr id="4" name="Slide Number Placeholder 3"/>
          <p:cNvSpPr>
            <a:spLocks noGrp="1"/>
          </p:cNvSpPr>
          <p:nvPr>
            <p:ph type="sldNum" sz="quarter" idx="10"/>
          </p:nvPr>
        </p:nvSpPr>
        <p:spPr/>
        <p:txBody>
          <a:bodyPr/>
          <a:lstStyle/>
          <a:p>
            <a:fld id="{E2A43B92-3A2D-4964-BD32-AF28A47106C9}" type="slidenum">
              <a:rPr lang="en-US"/>
              <a:t>26</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three estimands as pictures: the four survey countries, with the orange parts predicted from the blue ones. In-fill holds out districts one fold at a time (5-fold by district, ten draws); region extrapolation holds out a whole region; country transport holds out a whole country and trains on the other three. Each estimand has its own honest baseline on the previous slide. The MIMI deck draws the same three pictures for its household model; the difference here is that every one of our folds is cut at the district or above, never through a district’s respondents.</a:t>
            </a:r>
          </a:p>
        </p:txBody>
      </p:sp>
      <p:sp>
        <p:nvSpPr>
          <p:cNvPr id="4" name="Slide Number Placeholder 3"/>
          <p:cNvSpPr>
            <a:spLocks noGrp="1"/>
          </p:cNvSpPr>
          <p:nvPr>
            <p:ph type="sldNum" sz="quarter" idx="10"/>
          </p:nvPr>
        </p:nvSpPr>
        <p:spPr/>
        <p:txBody>
          <a:bodyPr/>
          <a:lstStyle/>
          <a:p>
            <a:fld id="{E2A43B92-3A2D-4964-BD32-AF28A47106C9}" type="slidenum">
              <a:rPr lang="en-US"/>
              <a:t>27</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Cells: 18 on the level (Sierra Leone’s cells score NA at 14 districts). On prevalence the index scores 0.28 against 0.22. The smoother with covariates fitted to its residuals scores 0.39; covariates add +0.01 over the smoother alone on the level. The penalised fits score 0.33 (domain components) and 0.32 (all columns). Likely question: why the smoother does so well. Inside a surveyed country the covariates mostly reproduce a smooth surface that neighbouring districts already provide; the value of the covariates is in unsurveyed regions and countries.</a:t>
            </a:r>
          </a:p>
        </p:txBody>
      </p:sp>
      <p:sp>
        <p:nvSpPr>
          <p:cNvPr id="4" name="Slide Number Placeholder 3"/>
          <p:cNvSpPr>
            <a:spLocks noGrp="1"/>
          </p:cNvSpPr>
          <p:nvPr>
            <p:ph type="sldNum" sz="quarter" idx="10"/>
          </p:nvPr>
        </p:nvSpPr>
        <p:spPr/>
        <p:txBody>
          <a:bodyPr/>
          <a:lstStyle/>
          <a:p>
            <a:fld id="{E2A43B92-3A2D-4964-BD32-AF28A47106C9}" type="slidenum">
              <a:rPr lang="en-US"/>
              <a:t>29</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Districts with survey data only (grey: no survey clusters). Each district’s prediction is made with that district held out (5-fold, averaged over ten draws). The model orders districts; the survey’s own estimate at a single-cluster district is itself noisy, which is what the reliability ceiling slide quantifies.</a:t>
            </a:r>
          </a:p>
        </p:txBody>
      </p:sp>
      <p:sp>
        <p:nvSpPr>
          <p:cNvPr id="4" name="Slide Number Placeholder 3"/>
          <p:cNvSpPr>
            <a:spLocks noGrp="1"/>
          </p:cNvSpPr>
          <p:nvPr>
            <p:ph type="sldNum" sz="quarter" idx="10"/>
          </p:nvPr>
        </p:nvSpPr>
        <p:spPr/>
        <p:txBody>
          <a:bodyPr/>
          <a:lstStyle/>
          <a:p>
            <a:fld id="{E2A43B92-3A2D-4964-BD32-AF28A47106C9}" type="slidenum">
              <a:rPr lang="en-US"/>
              <a:t>30</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Leaving out a whole region is where a smoother must extrapolate past the edge of its data. The index and the smoother stay close (0.39 against 0.38 on the level); the null training mean collapses. Ghana and Malawi are the countries where this estimand is well determined; The Gambia and Sierra Leone give one number per region.</a:t>
            </a:r>
          </a:p>
        </p:txBody>
      </p:sp>
      <p:sp>
        <p:nvSpPr>
          <p:cNvPr id="4" name="Slide Number Placeholder 3"/>
          <p:cNvSpPr>
            <a:spLocks noGrp="1"/>
          </p:cNvSpPr>
          <p:nvPr>
            <p:ph type="sldNum" sz="quarter" idx="10"/>
          </p:nvPr>
        </p:nvSpPr>
        <p:spPr/>
        <p:txBody>
          <a:bodyPr/>
          <a:lstStyle/>
          <a:p>
            <a:fld id="{E2A43B92-3A2D-4964-BD32-AF28A47106C9}" type="slidenum">
              <a:rPr lang="en-US"/>
              <a:t>31</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Absolute levels do not transport: raw ferritin differs several-fold between surveys, so the transported product is a ranking. Prevalence: 0.22 at district level (19 of 22 positive) and 0.27 at regional level for the full index; 0.28 at district level for climate and soil. The climate-and-soil pair was chosen on these four countries, so it enters the next country as a pre-registered prediction; honest nested selection of domains inside the training fold gives a median difference of +0.01 from the full index (better in 12 of 22). DA-03 (17 September, RR-12 set): adding the next load-bearing domains of the ablation to climate and soil (anaemia surfaces, agriculture, infection: five domains) reaches 0.41 at district level (better than climate-and-soil in 15 of 22, median +0.01, all 22 cells positive; 0.33 on prevalence), with the gain in the weak cells (women’s iron and folate in Ghana and Sierra Leone) and none in the strong ones. It is chosen on the same 22 cells, so it goes into the pre-registration as a second candidate beside climate-and-soil, not in its place; the honest nested selection still sits at 0.31 (next slide). Since 9 September the DHS-derived predictors are cluster-level spatial estimates at every district (DS-01), which changed nothing in-country and cost the full index 0.01 across borders. Likely question: what a correlation of 0.30 means for a programme. The targeting slide answers in burden captured.</a:t>
            </a:r>
          </a:p>
        </p:txBody>
      </p:sp>
      <p:sp>
        <p:nvSpPr>
          <p:cNvPr id="4" name="Slide Number Placeholder 3"/>
          <p:cNvSpPr>
            <a:spLocks noGrp="1"/>
          </p:cNvSpPr>
          <p:nvPr>
            <p:ph type="sldNum" sz="quarter" idx="10"/>
          </p:nvPr>
        </p:nvSpPr>
        <p:spPr/>
        <p:txBody>
          <a:bodyPr/>
          <a:lstStyle/>
          <a:p>
            <a:fld id="{E2A43B92-3A2D-4964-BD32-AF28A47106C9}" type="slidenum">
              <a:rPr lang="en-US"/>
              <a:t>32</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Dashed line: the 95th percentile of the permutation null. DA-03 (17 September, RR-12 set): script 25 scores fixed domain sets on the same leave-one-country-out folds as the transport slide, with the domain components oriented on the training countries only. The five-domain set (climate, soil, anaemia and haemoglobin, agriculture and land use, infection and inflammation) is the top of the ablation ranking on these cells: 0.41 at district level against 0.38 for climate and soil, positive in all 22 cells, 0.33 against 0.28 on prevalence. The gain is in the weak cells (women’s iron and folate in Ghana and Sierra Leone) and absent in the strong ones. Because the set was chosen from the ablation on these same 22 cells, it has the same status as climate-and-soil had when it was found: a description of these four countries, to be scored as a second pre-registered candidate on the fifth. The honest arm, domains chosen by an inner leave-one-country-out inside the three training countries, stays at 0.31: with two inner folds the greedy choice overfits, which is why the pre-registration route is the one that can settle this. Likely question: why not use all load-bearing domains. All eight load-bearing domains score 0.39; nothing beyond five adds.</a:t>
            </a:r>
          </a:p>
        </p:txBody>
      </p:sp>
      <p:sp>
        <p:nvSpPr>
          <p:cNvPr id="4" name="Slide Number Placeholder 3"/>
          <p:cNvSpPr>
            <a:spLocks noGrp="1"/>
          </p:cNvSpPr>
          <p:nvPr>
            <p:ph type="sldNum" sz="quarter" idx="10"/>
          </p:nvPr>
        </p:nvSpPr>
        <p:spPr/>
        <p:txBody>
          <a:bodyPr/>
          <a:lstStyle/>
          <a:p>
            <a:fld id="{E2A43B92-3A2D-4964-BD32-AF28A47106C9}" type="slidenum">
              <a:rPr lang="en-US"/>
              <a:t>33</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Cote d’Ivoire has the climate and soil layers and no biomarker survey, so it is the case the project exists for. The climate-and-soil index was fitted on the four surveyed countries and applied to its 33 districts for 6 outcomes (child and women’s iron and vitamin A, women’s folate and B12); it has never seen a Cote d’Ivoire biomarker. Left: child iron; the worst-ranked districts are the northern savanna belt (Tchologo, Bounkani, Bagoue, Poro, Hambol), the drier, poorer, more pastoral half of the country. Right: how firmly each district is placed. The training set was resampled 400 times, stratified by country, the components re-oriented and the index refitted each time, and the district re-ranked; the map shows the width of the 90 percent range of ranks, median 5 places out of 33. 10 of 33 districts have at least an 80 percent chance of being in the worst third and 20 at most 20 percent. What this uncertainty covers: how much the ranking depends on which training districts we learned from. What it does not cover: whether the model transports to Cote d’Ivoire at all, because there is no ground truth there; the external bound on that is the held-out transport accuracy of 0.38. Two guards ran first: the same code with each surveyed country held out reproduces the transport figure (0.38 over 22 cells, 21 positive), and adding Cote d’Ivoire to the column intersection costs 7 of the 101 climate-and-soil columns (the few layers the Cote d’Ivoire extraction lacks) without degrading transport (0.39, 22 positive). CV-01 (17 September): the Cote d’Ivoire database was extended from 132 to 212 columns with the open rasters the other domains need (IHME surfaces, Malaria Atlas at 2016, MapSPAM, livestock, and the 30-year climate normals that were missing), so the climate-and-soil index now runs on its full vocabulary (94 common columns, guard 0.39) and the five-domain candidate can be applied too (next slide). Rank uncertainty is now computed for all six outcomes and both candidates (civ_rank_uncertainty_all.csv). The only external check so far is the WFP/MIMI Nature Food 2026 vitamin A map, which ranks the same northern belt worst. Tables: civ_climate_soil_ranking.csv, civ_rank_uncertainty.csv, civ_transport_guards.csv.</a:t>
            </a:r>
          </a:p>
        </p:txBody>
      </p:sp>
      <p:sp>
        <p:nvSpPr>
          <p:cNvPr id="4" name="Slide Number Placeholder 3"/>
          <p:cNvSpPr>
            <a:spLocks noGrp="1"/>
          </p:cNvSpPr>
          <p:nvPr>
            <p:ph type="sldNum" sz="quarter" idx="10"/>
          </p:nvPr>
        </p:nvSpPr>
        <p:spPr/>
        <p:txBody>
          <a:bodyPr/>
          <a:lstStyle/>
          <a:p>
            <a:fld id="{E2A43B92-3A2D-4964-BD32-AF28A47106C9}" type="slidenum">
              <a:rPr lang="en-US"/>
              <a:t>34</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pre-registered climate-and-soil index and the five-domain DA-03 candidate, both fitted on the four surveyed countries and applied to Cote d’Ivoire’s 33 districts, children’s iron. Top: the median rank over 400 resampled refits; bottom: the probability of being in the worst third. The two candidates agree at Spearman 0.94 on child iron and 0.88 to 0.97 across the six outcomes; 83% of the worst fifth is the same district list on average. The five-domain set is no firmer: median 90 percent rank width 6 places against 5, and 9.0 against 9.5 districts per outcome with at least an 80 percent chance of the worst third. Its guard is 0.41 on four countries and 0.40 with Cote d’Ivoire in the vocabulary (125 of 138 columns, 22 of 22 positive). Two points to say. First, the northern savanna belt is the answer under either candidate, so the choice between them does not change what a programme would do in Cote d’Ivoire; the choice matters for the fifth SURVEYED country, where it can be scored. Second, each candidate gives nearly the same map for every outcome (mean Spearman between outcomes 0.92 and 0.90): in a country with no survey the transported ranking is a map of environmental deprivation more than of any one nutrient, which is exactly what the domain ablation said it would be. What is still not tested is transport to Cote d’Ivoire itself; that needs a biomarker survey there.</a:t>
            </a:r>
          </a:p>
        </p:txBody>
      </p:sp>
      <p:sp>
        <p:nvSpPr>
          <p:cNvPr id="4" name="Slide Number Placeholder 3"/>
          <p:cNvSpPr>
            <a:spLocks noGrp="1"/>
          </p:cNvSpPr>
          <p:nvPr>
            <p:ph type="sldNum" sz="quarter" idx="10"/>
          </p:nvPr>
        </p:nvSpPr>
        <p:spPr/>
        <p:txBody>
          <a:bodyPr/>
          <a:lstStyle/>
          <a:p>
            <a:fld id="{E2A43B92-3A2D-4964-BD32-AF28A47106C9}" type="slidenum">
              <a:rPr lang="en-US"/>
              <a:t>35</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INLA-SPDE Matern field with penalised-complexity priors, binomial on cluster counts for prevalence and Gaussian for the level, cluster predictions aggregated to districts by effective sample size; run with the first component of every covariate domain and with the DHS Program’s ten-raster list (0.28 on the level). The field alone scores 0.19. The geostatistical model has the lower absolute error on prevalence (9.2 against 10.7 percentage points) because it estimates a level and shrinks toward it. Under region extrapolation the index scores 0.36 against 0.28. The method needs measured clusters inside the country it predicts, so it has no country-transport estimand. Likely question: whether the two are complementary. Yes: the geostatistical model for a calibrated prevalence where a survey exists, the index for a ranking where none does.</a:t>
            </a:r>
          </a:p>
        </p:txBody>
      </p:sp>
      <p:sp>
        <p:nvSpPr>
          <p:cNvPr id="4" name="Slide Number Placeholder 3"/>
          <p:cNvSpPr>
            <a:spLocks noGrp="1"/>
          </p:cNvSpPr>
          <p:nvPr>
            <p:ph type="sldNum" sz="quarter" idx="10"/>
          </p:nvPr>
        </p:nvSpPr>
        <p:spPr/>
        <p:txBody>
          <a:bodyPr/>
          <a:lstStyle/>
          <a:p>
            <a:fld id="{E2A43B92-3A2D-4964-BD32-AF28A47106C9}" type="slidenum">
              <a:rPr lang="en-US"/>
              <a:t>36</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dashed line is the share a random fifth of districts would capture. The margin over the survey’s own regional averages is small per cell and concentrates where regions hold three to five districts. Under transport, burden captured is at chance: the transported product is an ordering and brings no targeting gain. Likely question: why the ceiling is only 48%. Burden is spread across districts; even the true worst fifth holds under half of it.</a:t>
            </a:r>
          </a:p>
        </p:txBody>
      </p:sp>
      <p:sp>
        <p:nvSpPr>
          <p:cNvPr id="4" name="Slide Number Placeholder 3"/>
          <p:cNvSpPr>
            <a:spLocks noGrp="1"/>
          </p:cNvSpPr>
          <p:nvPr>
            <p:ph type="sldNum" sz="quarter" idx="10"/>
          </p:nvPr>
        </p:nvSpPr>
        <p:spPr/>
        <p:txBody>
          <a:bodyPr/>
          <a:lstStyle/>
          <a:p>
            <a:fld id="{E2A43B92-3A2D-4964-BD32-AF28A47106C9}" type="slidenum">
              <a:rPr lang="en-US"/>
              <a:t>37</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The averages elsewhere in this deck hide a spread that matters: 6 of the 18 in-country cells reach a held-out Spearman of 0.5 or more on the biomarker level (mean 0.64, bold on the axis), the rest average 0.28. Rows are the country-outcome cells sorted by the index’s in-fill ranking; the filled point is the deployed model with its interval over the ten fold draws, the cross is the survey’s own regional average (the number a ministry would use), the hollow circle is the best of the other arms (spatial smoother, smoother plus covariates, elastic nets) picked on the same held-out score, so it is optimistic and shown only to say how much a different estimator could have added: little. The middle and right panels are the region and country </a:t>
            </a:r>
            <a:r>
              <a:rPr dirty="0" err="1"/>
              <a:t>estimands</a:t>
            </a:r>
            <a:r>
              <a:rPr dirty="0"/>
              <a:t> for the same cells. The weak cells are of two kinds: outcomes too rare to measure at district level (Malawi’s vitamin A cells at under 1% national prevalence: 2 cells, mean 0.26) and zinc (Malawi only, mean -0.07), where the survey’s own district estimates carry almost no signal to recover; The Gambia, with 30 large districts and several clusters in each, clears the line on 3 of its 4 outcomes and scores 0.41 on the fourth (child iron), above the other countries’ average; the next slides show the same cells on the prevalence and concentration scales, and the scatter after them puts the weak cells against their prevalence. Sierra Leone’s 14 districts are not scored in-fill.</a:t>
            </a:r>
          </a:p>
        </p:txBody>
      </p:sp>
      <p:sp>
        <p:nvSpPr>
          <p:cNvPr id="4" name="Slide Number Placeholder 3"/>
          <p:cNvSpPr>
            <a:spLocks noGrp="1"/>
          </p:cNvSpPr>
          <p:nvPr>
            <p:ph type="sldNum" sz="quarter" idx="10"/>
          </p:nvPr>
        </p:nvSpPr>
        <p:spPr/>
        <p:txBody>
          <a:bodyPr/>
          <a:lstStyle/>
          <a:p>
            <a:fld id="{E2A43B92-3A2D-4964-BD32-AF28A47106C9}" type="slidenum">
              <a:rPr lang="en-US"/>
              <a:t>38</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Same cells, same order, prevalence scale: the population-weighted mean absolute error of each district’s held-out prevalence, in percentage points. Three references: the survey’s own regional average, one national number for every district (the status quo where no sub-national estimate exists), and the best other arm chosen after the fact. Read the error against the outcome: an error of 10 points on an outcome at 40% is a different thing from 3 points on one at 4%, which is why the rare-outcome cells look accurate here and useless on the ranking slide. The index is rescaled to the training districts’ spread, so it is not built to minimise this error; the geostatistical comparator slide shows what a model that estimates a level and shrinks toward it does to absolute error. Where a level has to be defended, this slide plus the national anchor is the argument, not the ranking correlation.</a:t>
            </a:r>
          </a:p>
        </p:txBody>
      </p:sp>
      <p:sp>
        <p:nvSpPr>
          <p:cNvPr id="4" name="Slide Number Placeholder 3"/>
          <p:cNvSpPr>
            <a:spLocks noGrp="1"/>
          </p:cNvSpPr>
          <p:nvPr>
            <p:ph type="sldNum" sz="quarter" idx="10"/>
          </p:nvPr>
        </p:nvSpPr>
        <p:spPr/>
        <p:txBody>
          <a:bodyPr/>
          <a:lstStyle/>
          <a:p>
            <a:fld id="{E2A43B92-3A2D-4964-BD32-AF28A47106C9}" type="slidenum">
              <a:rPr lang="en-US"/>
              <a:t>39</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Same cells, mean concentration scale: the district mean of the log biomarker concentration (ferritin, RBP, folate, B12, zinc), predicted with the district held out, scored as root-mean-square error divided by the spread of the observed district means, so that 1.0 means no better than giving every district the national mean and anything below it is skill. The index is a ranker rescaled to the training spread, so its squared error is often at or above 1 even in cells where it ranks well; the spatial smoother, which shrinks toward neighbours, is usually the best other arm on this loss. That is the honest division of labour the geostatistical slide draws: the index for the order, a shrinking estimator for the level. Cells whose index error sits well below 1 (the strong cells in bold) are the ones where the proxies carry enough signal to predict the concentration itself, not only its order.</a:t>
            </a:r>
          </a:p>
        </p:txBody>
      </p:sp>
      <p:sp>
        <p:nvSpPr>
          <p:cNvPr id="4" name="Slide Number Placeholder 3"/>
          <p:cNvSpPr>
            <a:spLocks noGrp="1"/>
          </p:cNvSpPr>
          <p:nvPr>
            <p:ph type="sldNum" sz="quarter" idx="10"/>
          </p:nvPr>
        </p:nvSpPr>
        <p:spPr/>
        <p:txBody>
          <a:bodyPr/>
          <a:lstStyle/>
          <a:p>
            <a:fld id="{E2A43B92-3A2D-4964-BD32-AF28A47106C9}" type="slidenum">
              <a:rPr lang="en-US"/>
              <a:t>40</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Each point is a country-outcome cell: the index’s in-fill ranking accuracy against how common the deficiency is nationally. Rarity hurts at the extreme: below 1% prevalence (Malawi’s two vitamin A cells, mean 0.26) the survey finds a handful of deficient respondents per district and its district estimates are mostly zero, so no predictor can recover an order; at 2 to 4% (The Gambia’s and Ghana’s women’s vitamin A) the ranking still works. Above that, the spread is about the survey more than the nutrient: The Gambia’s 30 districts with several clusters each score 0.41 to 0.70 (3 of 4 above the line), Ghana’s and Malawi’s single-cluster districts are mixed (3 of 14). Zinc (Malawi only, -0.07) is the other failure and is not a rarity problem: serum zinc is unadjusted, drawn under fasting rules that vary by cluster, and the survey’s own district means are close to noise. Everything the deck claims about ranking rests on the cells above the dotted line: 6 of 18, iron, vitamin A where it is common, folate and B12, in three countries. Likely question: why not just report those. Because the cut is chosen on the same held-out scores, so the strong-cell mean of 0.64 is a description, not a promise; the promise for a new country is the transport slide’s pre-registered climate-and-soil index.</a:t>
            </a:r>
          </a:p>
        </p:txBody>
      </p:sp>
      <p:sp>
        <p:nvSpPr>
          <p:cNvPr id="4" name="Slide Number Placeholder 3"/>
          <p:cNvSpPr>
            <a:spLocks noGrp="1"/>
          </p:cNvSpPr>
          <p:nvPr>
            <p:ph type="sldNum" sz="quarter" idx="10"/>
          </p:nvPr>
        </p:nvSpPr>
        <p:spPr/>
        <p:txBody>
          <a:bodyPr/>
          <a:lstStyle/>
          <a:p>
            <a:fld id="{E2A43B92-3A2D-4964-BD32-AF28A47106C9}" type="slidenum">
              <a:rPr lang="en-US"/>
              <a:t>41</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four best in-country cells on the held-out ranking, from benchmarks_v2_raw.csv (in-fill, biomarker level, mean over ten draws), with the same cell’s prevalence-target ranking, its population-weighted district prevalence error in percentage points and the national prevalence. These are the cells to show a country: the model is not a uniform 0.40, it is 0.64 where the outcome is common enough to measure and close to nothing where it is not. 6 of 18 cells clear 0.5.</a:t>
            </a:r>
          </a:p>
        </p:txBody>
      </p:sp>
      <p:sp>
        <p:nvSpPr>
          <p:cNvPr id="4" name="Slide Number Placeholder 3"/>
          <p:cNvSpPr>
            <a:spLocks noGrp="1"/>
          </p:cNvSpPr>
          <p:nvPr>
            <p:ph type="sldNum" sz="quarter" idx="10"/>
          </p:nvPr>
        </p:nvSpPr>
        <p:spPr/>
        <p:txBody>
          <a:bodyPr/>
          <a:lstStyle/>
          <a:p>
            <a:fld id="{E2A43B92-3A2D-4964-BD32-AF28A47106C9}" type="slidenum">
              <a:rPr lang="en-US"/>
              <a:t>42</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MIMI deck’s evaluation summary format: the per-outcome table on the left (held-out Spearman inside a country and in a new country, biomarker level; the population-weighted district prevalence error in-fill), and on the right the two sentences a policy reader takes away, one about the order and one about the level, with the pair-count and the anchor error behind them. The four draft translation slides that follow expand these two readings; keep this one if only one fits.</a:t>
            </a:r>
          </a:p>
        </p:txBody>
      </p:sp>
      <p:sp>
        <p:nvSpPr>
          <p:cNvPr id="4" name="Slide Number Placeholder 3"/>
          <p:cNvSpPr>
            <a:spLocks noGrp="1"/>
          </p:cNvSpPr>
          <p:nvPr>
            <p:ph type="sldNum" sz="quarter" idx="10"/>
          </p:nvPr>
        </p:nvSpPr>
        <p:spPr/>
        <p:txBody>
          <a:bodyPr/>
          <a:lstStyle/>
          <a:p>
            <a:fld id="{E2A43B92-3A2D-4964-BD32-AF28A47106C9}" type="slidenum">
              <a:rPr lang="en-US"/>
              <a:t>43</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DRAFT A of four candidate translations for a policy audience; keep one or two. The three readings are all computed from the same held-out predictions (in-fill, 5-fold by district, ten draws). Pairs: counted exactly from the held-out predictions (12_nce_targeting_metrics.R, PC-01: every pair of districts, ties excluded, mean over the 24 cells): the model orders 60% of district pairs the way the survey does, the survey’s own regional averages 56%, a coin toss 50%; across borders (leave-one-country-out, 22 cells) it is 55%. A Spearman of 0.40 sounds like more than it is: at district level it is six pairs in ten. The flagged fifth: deficiency prevalence in the fifth of districts the model ranks worst averages 32.2% against 24.3% nationally (nce_targeting_summary.csv, mean over the 24 cells); a map that knew the truth would find 41.3%. Burden: the model’s worst fifth holds 22% of the deficient people, the survey’s own regional averages 20%, a perfect map 48%. The honest message is that the ranking is real but modest: it is better than the regional average a ministry would use today, and a long way from a map that knows every district, which is what the reliability ceiling explains.</a:t>
            </a:r>
          </a:p>
        </p:txBody>
      </p:sp>
      <p:sp>
        <p:nvSpPr>
          <p:cNvPr id="4" name="Slide Number Placeholder 3"/>
          <p:cNvSpPr>
            <a:spLocks noGrp="1"/>
          </p:cNvSpPr>
          <p:nvPr>
            <p:ph type="sldNum" sz="quarter" idx="10"/>
          </p:nvPr>
        </p:nvSpPr>
        <p:spPr/>
        <p:txBody>
          <a:bodyPr/>
          <a:lstStyle/>
          <a:p>
            <a:fld id="{E2A43B92-3A2D-4964-BD32-AF28A47106C9}" type="slidenum">
              <a:rPr lang="en-US"/>
              <a:t>44</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DRAFT B. The question a decision-maker actually asks is not “is 0.40 high” but “compared with what”. Two comparisons. Against the ceiling: a district estimate from the survey itself is noisy (one to three clusters per district), so even a perfect predictor of the true prevalence would correlate only 0.48 with what the survey reports; on that scale the model’s 0.28 (prevalence target) is 59% of the attainable. Against current practice: the number a ministry would use for an unsurveyed district today is its region’s average; the model beats it (0.40 against 0.31, better in 13 of 18 cells). Say plainly that the remaining gap is mostly the survey’s noise, not the model’s ignorance, and that the way to raise the ceiling is more clusters per district, which is the survey-design slide.</a:t>
            </a:r>
          </a:p>
        </p:txBody>
      </p:sp>
      <p:sp>
        <p:nvSpPr>
          <p:cNvPr id="4" name="Slide Number Placeholder 3"/>
          <p:cNvSpPr>
            <a:spLocks noGrp="1"/>
          </p:cNvSpPr>
          <p:nvPr>
            <p:ph type="sldNum" sz="quarter" idx="10"/>
          </p:nvPr>
        </p:nvSpPr>
        <p:spPr/>
        <p:txBody>
          <a:bodyPr/>
          <a:lstStyle/>
          <a:p>
            <a:fld id="{E2A43B92-3A2D-4964-BD32-AF28A47106C9}" type="slidenum">
              <a:rPr lang="en-US"/>
              <a:t>45</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DRAFT C. Policy runs on severity bands, not correlations: WHO’s vitamin A bands are under 2%, 2 to 10, 10 to 20, 20% or more. With each district held out, the model puts 64% of districts in the band the survey puts them in and 91% within one band (risk_category_accuracy.csv, mean over the vitamin A cells); the survey’s own regional averages give 66% exact and 94% within one band. Read the comparison honestly: on severity bands the survey’s own regional averages do as well as the model or slightly better, because a band is mostly a level and the regional average carries the country’s own level. The model is almost never two bands wrong (a district the survey calls severe is not called mild), and its case is not that it beats the regional average on bands but that it gives a band where there is no survey at all; in a new country the level comes from the national anchor (risk-class slide in the appendix has the transport rows). Use this slide only if the audience reads vitamin A or anaemia severity maps, and say the regional-average comparison aloud rather than letting the numbers sit.</a:t>
            </a:r>
          </a:p>
        </p:txBody>
      </p:sp>
      <p:sp>
        <p:nvSpPr>
          <p:cNvPr id="4" name="Slide Number Placeholder 3"/>
          <p:cNvSpPr>
            <a:spLocks noGrp="1"/>
          </p:cNvSpPr>
          <p:nvPr>
            <p:ph type="sldNum" sz="quarter" idx="10"/>
          </p:nvPr>
        </p:nvSpPr>
        <p:spPr/>
        <p:txBody>
          <a:bodyPr/>
          <a:lstStyle/>
          <a:p>
            <a:fld id="{E2A43B92-3A2D-4964-BD32-AF28A47106C9}" type="slidenum">
              <a:rPr lang="en-US"/>
              <a:t>46</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DRAFT D. The correlation does not tell a programme whether the model is fit for a decision; this slide says which decisions, and which not. Yes: choosing which districts to visit, assess or enrol first, and where the next survey should put its clusters, because those need an order and the order is 60% right at the pair level and better than the regional average. Yes: sequencing a roll-out across districts, for the same reason. With a national anchor only: a planning prevalence per district (9.3 points median error at a 5% national sample), because the ranking has no level of its own. No: reporting a district prevalence with no survey at all, or judging whether a programme worked, because the model is cross-sectional and validated on levels at one point in time, not on change. The decision rule to offer: use it where being roughly right about the order is enough, and pair it with a survey wherever a number has to be defended.</a:t>
            </a:r>
          </a:p>
        </p:txBody>
      </p:sp>
      <p:sp>
        <p:nvSpPr>
          <p:cNvPr id="4" name="Slide Number Placeholder 3"/>
          <p:cNvSpPr>
            <a:spLocks noGrp="1"/>
          </p:cNvSpPr>
          <p:nvPr>
            <p:ph type="sldNum" sz="quarter" idx="10"/>
          </p:nvPr>
        </p:nvSpPr>
        <p:spPr/>
        <p:txBody>
          <a:bodyPr/>
          <a:lstStyle/>
          <a:p>
            <a:fld id="{E2A43B92-3A2D-4964-BD32-AF28A47106C9}" type="slidenum">
              <a:rPr lang="en-US"/>
              <a:t>47</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Malawi’s 87 surveyed Traditional Authorities (grey: no survey clusters), the survey estimate beside the prediction made with each district held out (5-fold, ten draws). This is the protocol-v2 version of the January “what about subnational prevalence” maps: the same question, now scored under honest folds and with the index rather than the person-level ensemble. Women’s B12 is the best in-fill cell of the 24; child iron is the outcome the Ghana map shows. The model orders districts; the survey’s own estimate at a single-cluster district is itself noisy (reliability ceiling slide).</a:t>
            </a:r>
          </a:p>
        </p:txBody>
      </p:sp>
      <p:sp>
        <p:nvSpPr>
          <p:cNvPr id="4" name="Slide Number Placeholder 3"/>
          <p:cNvSpPr>
            <a:spLocks noGrp="1"/>
          </p:cNvSpPr>
          <p:nvPr>
            <p:ph type="sldNum" sz="quarter" idx="10"/>
          </p:nvPr>
        </p:nvSpPr>
        <p:spPr/>
        <p:txBody>
          <a:bodyPr/>
          <a:lstStyle/>
          <a:p>
            <a:fld id="{E2A43B92-3A2D-4964-BD32-AF28A47106C9}" type="slidenum">
              <a:rPr lang="en-US"/>
              <a:t>48</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convention borrowed from the small-area-estimation literature (hatching for direct estimates whose coefficient of variation exceeds a third; grey for no data). Every district on every map in this deck belongs to one of three grades. A: surveyed with several clusters, so the survey’s own district estimate is worth comparing with; 39 districts. B: surveyed with one cluster, the majority (80% of surveyed districts), where the survey’s district number is itself an estimate with the noise the ceiling slide quantifies; hatched wherever a survey value is drawn. C: no survey clusters, where only the model speaks; grey on survey maps, filled on model maps. The grade says what the map can be compared against, not how good the model is.</a:t>
            </a:r>
          </a:p>
        </p:txBody>
      </p:sp>
      <p:sp>
        <p:nvSpPr>
          <p:cNvPr id="4" name="Slide Number Placeholder 3"/>
          <p:cNvSpPr>
            <a:spLocks noGrp="1"/>
          </p:cNvSpPr>
          <p:nvPr>
            <p:ph type="sldNum" sz="quarter" idx="10"/>
          </p:nvPr>
        </p:nvSpPr>
        <p:spPr/>
        <p:txBody>
          <a:bodyPr/>
          <a:lstStyle/>
          <a:p>
            <a:fld id="{E2A43B92-3A2D-4964-BD32-AF28A47106C9}" type="slidenum">
              <a:rPr lang="en-US"/>
              <a:t>50</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survey’s own district map of child iron deficiency, with the reliability grades drawn on it. Hatched districts have one survey cluster: their value is a single cluster’s respondents, and the split-half ceiling says how much of the district-to-district variation on this map is noise. Unhatched districts have several clusters. Grey districts have none. When the next slides compare the model with “the survey”, this is the survey they compare with; the model’s job is to be a better estimate of the true district value than a single hatched cluster is, which the reliability-ceiling slide shows it can be in the strong cells.</a:t>
            </a:r>
          </a:p>
        </p:txBody>
      </p:sp>
      <p:sp>
        <p:nvSpPr>
          <p:cNvPr id="4" name="Slide Number Placeholder 3"/>
          <p:cNvSpPr>
            <a:spLocks noGrp="1"/>
          </p:cNvSpPr>
          <p:nvPr>
            <p:ph type="sldNum" sz="quarter" idx="10"/>
          </p:nvPr>
        </p:nvSpPr>
        <p:spPr/>
        <p:txBody>
          <a:bodyPr/>
          <a:lstStyle/>
          <a:p>
            <a:fld id="{E2A43B92-3A2D-4964-BD32-AF28A47106C9}" type="slidenum">
              <a:rPr lang="en-US"/>
              <a:t>51</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plot every geostatistical paper carries and this deck lacked: each district’s survey estimate against its prediction made with the district held out (5-fold by district, mean over ten draws; the bar is the range over the draws, which is fold-assignment variability, not sampling error). The dashed line is perfect agreement. Read three things. The cloud is tilted, not on the line: the model ranks (Spearman 0.50 in Ghana, 0.40 in The Gambia, 0.25 in Malawi) but compresses the range, because it is rescaled to the training spread and shrinks extremes, which is the MAE of 16.0 to 14.4 points. Hollow points are single-cluster districts: much of the vertical scatter around them is the survey’s noise, not the model’s. The largest circles, the districts with the most respondents, sit closest to the line.</a:t>
            </a:r>
          </a:p>
        </p:txBody>
      </p:sp>
      <p:sp>
        <p:nvSpPr>
          <p:cNvPr id="4" name="Slide Number Placeholder 3"/>
          <p:cNvSpPr>
            <a:spLocks noGrp="1"/>
          </p:cNvSpPr>
          <p:nvPr>
            <p:ph type="sldNum" sz="quarter" idx="10"/>
          </p:nvPr>
        </p:nvSpPr>
        <p:spPr/>
        <p:txBody>
          <a:bodyPr/>
          <a:lstStyle/>
          <a:p>
            <a:fld id="{E2A43B92-3A2D-4964-BD32-AF28A47106C9}" type="slidenum">
              <a:rPr lang="en-US"/>
              <a:t>52</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same held-out district predictions, and the survey, both aggregated to the regions (respondent-weighted means), child iron. This is the resolution at which the surveys were designed to be read, and the comparison a ministry statistician will make first. The regional pattern is recovered in each country; the district slide before this one shows the finer level where the survey itself becomes noisy. The MIMI and IHME decks show exactly this pair of maps as their headline validation figure.</a:t>
            </a:r>
          </a:p>
        </p:txBody>
      </p:sp>
      <p:sp>
        <p:nvSpPr>
          <p:cNvPr id="4" name="Slide Number Placeholder 3"/>
          <p:cNvSpPr>
            <a:spLocks noGrp="1"/>
          </p:cNvSpPr>
          <p:nvPr>
            <p:ph type="sldNum" sz="quarter" idx="10"/>
          </p:nvPr>
        </p:nvSpPr>
        <p:spPr/>
        <p:txBody>
          <a:bodyPr/>
          <a:lstStyle/>
          <a:p>
            <a:fld id="{E2A43B92-3A2D-4964-BD32-AF28A47106C9}" type="slidenum">
              <a:rPr lang="en-US"/>
              <a:t>53</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device IHME uses for every one of its maps, applied here: not “what is the prevalence” but “how likely is it to be above the line a programme acts on”. Ghana, child vitamin A, the index fitted on the 75 surveyed districts and applied to all 260 (in-sample for the surveyed ones), refitted on 200 stratified resamples of the training districts; the right map is the share of refits in which a district’s predicted prevalence is at or above 20 percent, the WHO severe band. 61 districts are above the line in at least 80 percent of refits, 186 below it in at least 80 percent, and 13 are undecided; 185 of the 260 have no survey clusters. The level here comes from Ghana’s own survey, so this is the in-country version; for a new country the level would come from the national anchor and the map would read as a planning figure. The caveat is the same as for the Cote d’Ivoire intervals: the refits capture how much the map depends on which training districts were drawn, not the survey’s own noise at each district.</a:t>
            </a:r>
          </a:p>
        </p:txBody>
      </p:sp>
      <p:sp>
        <p:nvSpPr>
          <p:cNvPr id="4" name="Slide Number Placeholder 3"/>
          <p:cNvSpPr>
            <a:spLocks noGrp="1"/>
          </p:cNvSpPr>
          <p:nvPr>
            <p:ph type="sldNum" sz="quarter" idx="10"/>
          </p:nvPr>
        </p:nvSpPr>
        <p:spPr/>
        <p:txBody>
          <a:bodyPr/>
          <a:lstStyle/>
          <a:p>
            <a:fld id="{E2A43B92-3A2D-4964-BD32-AF28A47106C9}" type="slidenum">
              <a:rPr lang="en-US"/>
              <a:t>54</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two Cote d’Ivoire maps folded into one, the bivariate device the geospatial-health literature recommends for policy audiences: colour hue is the ranking (purple worst third, blue middle, green best third; median over the 400 refits) and colour depth is how sure the refits are of that placement (deep = at least 80 percent of refits put it in that third; pale = under 60 percent). The legend counts districts in each cell. The reading is immediate: deep purple, act; pale purple or pale blue, survey first; deep green, lowest priority. The labelled districts are the deep-purple ones, the northern belt. As before, “sure” means stable under resampling of the training set, not verified against a Cote d’Ivoire survey.</a:t>
            </a:r>
          </a:p>
        </p:txBody>
      </p:sp>
      <p:sp>
        <p:nvSpPr>
          <p:cNvPr id="4" name="Slide Number Placeholder 3"/>
          <p:cNvSpPr>
            <a:spLocks noGrp="1"/>
          </p:cNvSpPr>
          <p:nvPr>
            <p:ph type="sldNum" sz="quarter" idx="10"/>
          </p:nvPr>
        </p:nvSpPr>
        <p:spPr/>
        <p:txBody>
          <a:bodyPr/>
          <a:lstStyle/>
          <a:p>
            <a:fld id="{E2A43B92-3A2D-4964-BD32-AF28A47106C9}" type="slidenum">
              <a:rPr lang="en-US"/>
              <a:t>55</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calibration check the Cote d’Ivoire slides needed. The 90 percent rank intervals on those maps come from resampling the training districts. If they were honest intervals for the truth, the survey’s own rank would fall inside them 90 percent of the time. Doing exactly that with each surveyed country held out (100 resamples of the other three, climate and soil, biomarker level), the survey rank falls inside the interval 38% of the time on average, 16% to 70% across the 22 country-outcome cells, with a median interval 21% of the list wide. So the intervals are far too narrow to be read as “the truth is in here”; they answer a different question, how much the ranking would move if we had learned from different districts, and the gap to 90 percent is the model error the transport correlation already reports. Say this aloud on the Cote d’Ivoire slides: the pale districts are the ones the model itself is unsure about; the deep ones are stable, not verified. A properly calibrated interval would need conformal calibration against the held-out countries, which is a next step and the honest reason we call the product a ranking.</a:t>
            </a:r>
          </a:p>
        </p:txBody>
      </p:sp>
      <p:sp>
        <p:nvSpPr>
          <p:cNvPr id="4" name="Slide Number Placeholder 3"/>
          <p:cNvSpPr>
            <a:spLocks noGrp="1"/>
          </p:cNvSpPr>
          <p:nvPr>
            <p:ph type="sldNum" sz="quarter" idx="10"/>
          </p:nvPr>
        </p:nvSpPr>
        <p:spPr/>
        <p:txBody>
          <a:bodyPr/>
          <a:lstStyle/>
          <a:p>
            <a:fld id="{E2A43B92-3A2D-4964-BD32-AF28A47106C9}" type="slidenum">
              <a:rPr lang="en-US"/>
              <a:t>56</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SHAP-style view the MIMI deck uses, which the index allows exactly rather than by approximation: the index is linear in the rank-normalised predictors, so each district’s score is a sum of per-predictor contributions beta times x. One row per predictor (the twelve largest weights of the pooled child-iron fit), one point per surveyed district in the four countries, colour = where the district sits on that predictor. A row whose red points sit to the right says “districts high on this predictor rank worse”; a row that is wide says the predictor separates districts strongly. Unlike the bar charts earlier, this shows the spread: a predictor with a modest average weight can still move a handful of districts a long way. The same figure exists for every outcome from contributions_top12.csv.</a:t>
            </a:r>
          </a:p>
        </p:txBody>
      </p:sp>
      <p:sp>
        <p:nvSpPr>
          <p:cNvPr id="4" name="Slide Number Placeholder 3"/>
          <p:cNvSpPr>
            <a:spLocks noGrp="1"/>
          </p:cNvSpPr>
          <p:nvPr>
            <p:ph type="sldNum" sz="quarter" idx="10"/>
          </p:nvPr>
        </p:nvSpPr>
        <p:spPr/>
        <p:txBody>
          <a:bodyPr/>
          <a:lstStyle/>
          <a:p>
            <a:fld id="{E2A43B92-3A2D-4964-BD32-AF28A47106C9}" type="slidenum">
              <a:rPr lang="en-US"/>
              <a:t>57</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MIMI reports its accuracy by wealth quintile and by urban and rural households; this is the district-level equivalent. Districts are split into thirds on an urbanicity composite within each country and the held-out child-iron ranking is scored inside each third (numbers in brackets are districts). Across the three countries the ranking is -0.05 in the most rural third, 0.32 in the middle and 0.20 in the most urban third. Two cautions: a third of 30 districts is ten, so The Gambia’s bars are noisy; and ranking within a stratum is a harder task than ranking the whole country, because the stratum removes the urban-rural gradient the index leans on. Read it country by country. Ghana holds up in every third (-0.05 is the three-country mean for the rural third, but Ghana alone is above 0.3 in all three). Malawi is the warning: the ranking is fine in the middle and urban thirds and collapses to below zero in the most rural third, which is where deficiency is highest, so in Malawi the index is partly separating the lakeshore towns from the uplands rather than ordering the rural districts among themselves. The Gambia’s thirds hold ten districts each and say little. The honest reading is that the model’s value is not uniform across the settlement gradient, and a programme working only in rural Malawi should not lean on it.</a:t>
            </a:r>
          </a:p>
        </p:txBody>
      </p:sp>
      <p:sp>
        <p:nvSpPr>
          <p:cNvPr id="4" name="Slide Number Placeholder 3"/>
          <p:cNvSpPr>
            <a:spLocks noGrp="1"/>
          </p:cNvSpPr>
          <p:nvPr>
            <p:ph type="sldNum" sz="quarter" idx="10"/>
          </p:nvPr>
        </p:nvSpPr>
        <p:spPr/>
        <p:txBody>
          <a:bodyPr/>
          <a:lstStyle/>
          <a:p>
            <a:fld id="{E2A43B92-3A2D-4964-BD32-AF28A47106C9}" type="slidenum">
              <a:rPr lang="en-US"/>
              <a:t>58</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training-country curve from the transport section, re-captioned as the argument it makes: with one survey to learn from the transported ranking averages 0.20, with three 0.30, and the curve has not flattened. Every biomarker survey a country runs therefore improves the map of every other country in the panel, which is the case for pooling surveys into one protocol rather than analysing each alone, and for the fifth country being worth more than its own map. Bars are the interquartile range over the subsets of training countries. This is the framing the Lancet Global Health vaccination-mapping paper uses for its country panel.</a:t>
            </a:r>
          </a:p>
        </p:txBody>
      </p:sp>
      <p:sp>
        <p:nvSpPr>
          <p:cNvPr id="4" name="Slide Number Placeholder 3"/>
          <p:cNvSpPr>
            <a:spLocks noGrp="1"/>
          </p:cNvSpPr>
          <p:nvPr>
            <p:ph type="sldNum" sz="quarter" idx="10"/>
          </p:nvPr>
        </p:nvSpPr>
        <p:spPr/>
        <p:txBody>
          <a:bodyPr/>
          <a:lstStyle/>
          <a:p>
            <a:fld id="{E2A43B92-3A2D-4964-BD32-AF28A47106C9}" type="slidenum">
              <a:rPr lang="en-US"/>
              <a:t>59</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index is linear in the rank-normalised predictors, so its component weights project back exactly onto the 575 columns (scripts 57 and 58). Shown: the ten largest weights in the pooled four-country fit on the biomarker level, coloured by data source; a star marks a sign not reproduced in every country’s own fit. No predictor carries more than 2% of the index’s variance; the satellite embedding, climate and soil together carry 39% to 54% depending on the outcome. Likely question: whether these are causes. They are not; the weights say where deficiency is. Livestock density carrying a positive sign for iron and B12 is ecological: pastoral zones are the dry, poor zones in these countries.</a:t>
            </a:r>
          </a:p>
        </p:txBody>
      </p:sp>
      <p:sp>
        <p:nvSpPr>
          <p:cNvPr id="4" name="Slide Number Placeholder 3"/>
          <p:cNvSpPr>
            <a:spLocks noGrp="1"/>
          </p:cNvSpPr>
          <p:nvPr>
            <p:ph type="sldNum" sz="quarter" idx="10"/>
          </p:nvPr>
        </p:nvSpPr>
        <p:spPr/>
        <p:txBody>
          <a:bodyPr/>
          <a:lstStyle/>
          <a:p>
            <a:fld id="{E2A43B92-3A2D-4964-BD32-AF28A47106C9}" type="slidenum">
              <a:rPr lang="en-US"/>
              <a:t>61</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Malawi, women’s B12, biomarker level: the cell with the best in-fill ranking of the 24 (Spearman 0.70; The Gambia child vitamin A is next at 0.69). The index is linear in the rank-normalised columns, so every column has a standardised weight in a fit; the twenty largest are shown. Intervals: the index was refitted on 300 bootstrap resamples of Malawi’s 87 surveyed districts, with the domain components re-oriented and the weights re-learned each time; the bar is the 5th to 95th percentile and the hollow marker the weight in the full fit. Every one of the twenty keeps its sign in at least 95 percent of refits. The level target is the negated log concentration, so a positive weight means worse status. Read the signs as district-level associations in Malawi: districts where more infants are fed meat or fish, more households ate fish last week and the wealth score is higher have better B12 status, and districts that are poorer, grassier, further from permanent water and with more pigs have worse. The diet items point the way a nutritional story would expect; the anaemia and malaria surfaces run the other way (more anaemia and malaria, better B12), which is the lakeshore and the south against the uplands, and a reminder that these are ecological associations, not effects. Script: scripts/policy_deck/09_vim_forest_example.R, which takes any country, outcome and target through environment variables. B12 is measured in three of the four surveys, so this cell does not enter the cross-country transport figures.</a:t>
            </a:r>
          </a:p>
        </p:txBody>
      </p:sp>
      <p:sp>
        <p:nvSpPr>
          <p:cNvPr id="4" name="Slide Number Placeholder 3"/>
          <p:cNvSpPr>
            <a:spLocks noGrp="1"/>
          </p:cNvSpPr>
          <p:nvPr>
            <p:ph type="sldNum" sz="quarter" idx="10"/>
          </p:nvPr>
        </p:nvSpPr>
        <p:spPr/>
        <p:txBody>
          <a:bodyPr/>
          <a:lstStyle/>
          <a:p>
            <a:fld id="{E2A43B92-3A2D-4964-BD32-AF28A47106C9}" type="slidenum">
              <a:rPr lang="en-US"/>
              <a:t>62</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story behind the forest plot on the previous slide. In Malawi the modelled anaemia and malaria surfaces carry negative weights for B12: districts with MORE anaemia and malaria have BETTER B12 status. No nutritional mechanism says that. The maps say why: the lakeshore and the southern lowlands are where malaria transmission and anaemia are highest, and they are also where households eat fish, the main dietary B12 source in the country; the uplands have less malaria, less fish and worse B12. The anaemia surface is a surrogate marker for that geography, not a cause, and it is a good one precisely because it is modelled from the same environment. Three lessons for the audience: the index finds these markers on its own, they are ecological associations and must never be read as effects, and a surrogate that works in Malawi need not work in the next country, which is why the cross-border models lean on climate and soil rather than on health surfaces (ablation slide). The second panel is the deployment fit (the index fitted on the 87 surveyed districts and applied to all 243, in-sample for the surveyed ones, as on the dashboard): it fills the grey districts and smooths the survey’s single-cluster noise, and it visibly follows the anaemia and fish geography. Each map is the within-country percentile of its variable so the four share one scale; rho is the Spearman correlation with B12 deficiency across the surveyed Traditional Authorities (negative for anaemia and for fish: more of either, less deficiency).</a:t>
            </a:r>
          </a:p>
        </p:txBody>
      </p:sp>
      <p:sp>
        <p:nvSpPr>
          <p:cNvPr id="4" name="Slide Number Placeholder 3"/>
          <p:cNvSpPr>
            <a:spLocks noGrp="1"/>
          </p:cNvSpPr>
          <p:nvPr>
            <p:ph type="sldNum" sz="quarter" idx="10"/>
          </p:nvPr>
        </p:nvSpPr>
        <p:spPr/>
        <p:txBody>
          <a:bodyPr/>
          <a:lstStyle/>
          <a:p>
            <a:fld id="{E2A43B92-3A2D-4964-BD32-AF28A47106C9}" type="slidenum">
              <a:rPr lang="en-US"/>
              <a:t>63</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Positive values mean the domain is load-bearing. Climate and soil carry most, with the anaemia surfaces, agriculture and greenness behind; the water-and-sanitation, education and infant-feeding domains sit at or below zero: removing them does not hurt a new country and in two cases helps. The DHS-derived domains are not in the headline set at all: with them in, the district transport index scores 0.28 against 0.30 without. A fixed climate-and-soil index transports at 0.38 at district level and 0.45 regionally against 0.30 and 0.28 for the full vocabulary; it was found on the same four countries it is scored on and enters the next country as a pre-registered prediction.</a:t>
            </a:r>
          </a:p>
        </p:txBody>
      </p:sp>
      <p:sp>
        <p:nvSpPr>
          <p:cNvPr id="4" name="Slide Number Placeholder 3"/>
          <p:cNvSpPr>
            <a:spLocks noGrp="1"/>
          </p:cNvSpPr>
          <p:nvPr>
            <p:ph type="sldNum" sz="quarter" idx="10"/>
          </p:nvPr>
        </p:nvSpPr>
        <p:spPr/>
        <p:txBody>
          <a:bodyPr/>
          <a:lstStyle/>
          <a:p>
            <a:fld id="{E2A43B92-3A2D-4964-BD32-AF28A47106C9}" type="slidenum">
              <a:rPr lang="en-US"/>
              <a:t>64</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results/tables/protocol_v2/index_importance_columns.csv, scope “loco”: the index fitted on three countries, projected back to columns, for each of the 22 held-out country and outcome combinations on the biomarker level; a column counts once per fit in which it is among the twenty largest standardised weights. Every column named on the slide keeps the same sign in every fit where it appears (34 of the 41 columns that recur in five or more fits are unanimous). The pattern is the one on the previous two slides seen from the other side: what a model trained elsewhere reaches for in a new country is the physical environment and the modelled nutrition surfaces built from it, not the country’s own survey items. The staple-price and malaria signs are worth saying aloud: relatively expensive staples mark market-integrated, better-off districts, and high malaria transmission marks the wet, productive lowlands where diets are more diverse; neither is a mechanism to act on.</a:t>
            </a:r>
          </a:p>
        </p:txBody>
      </p:sp>
      <p:sp>
        <p:nvSpPr>
          <p:cNvPr id="4" name="Slide Number Placeholder 3"/>
          <p:cNvSpPr>
            <a:spLocks noGrp="1"/>
          </p:cNvSpPr>
          <p:nvPr>
            <p:ph type="sldNum" sz="quarter" idx="10"/>
          </p:nvPr>
        </p:nvSpPr>
        <p:spPr/>
        <p:txBody>
          <a:bodyPr/>
          <a:lstStyle/>
          <a:p>
            <a:fld id="{E2A43B92-3A2D-4964-BD32-AF28A47106C9}" type="slidenum">
              <a:rPr lang="en-US"/>
              <a:t>65</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Legume cultivation and cattle ownership track more deficiency at district level, the reverse of the household-level dietary relationship, which is an ecological-fallacy signature: the replicated axis is rural subsistence agro-ecology, useful for deciding where to look and uninformative about what to change. No malaria burden indicator replicates; child wasting tracks women’s vitamin A deficiency in all four countries. An earlier version of these slides had the signs inverted.</a:t>
            </a:r>
          </a:p>
        </p:txBody>
      </p:sp>
      <p:sp>
        <p:nvSpPr>
          <p:cNvPr id="4" name="Slide Number Placeholder 3"/>
          <p:cNvSpPr>
            <a:spLocks noGrp="1"/>
          </p:cNvSpPr>
          <p:nvPr>
            <p:ph type="sldNum" sz="quarter" idx="10"/>
          </p:nvPr>
        </p:nvSpPr>
        <p:spPr/>
        <p:txBody>
          <a:bodyPr/>
          <a:lstStyle/>
          <a:p>
            <a:fld id="{E2A43B92-3A2D-4964-BD32-AF28A47106C9}" type="slidenum">
              <a:rPr lang="en-US"/>
              <a:t>66</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respondent-in-cluster-in-district-in-region variance model reproduces the split-half ceiling when the cluster is counted as geography, then removes the cluster term: 13% of the split-half ceiling was cluster effect. Child zinc has no district geography; what looked like geography was the cluster, and the time of the blood draw explains part of the cluster effect (ZN-02).</a:t>
            </a:r>
          </a:p>
        </p:txBody>
      </p:sp>
      <p:sp>
        <p:nvSpPr>
          <p:cNvPr id="4" name="Slide Number Placeholder 3"/>
          <p:cNvSpPr>
            <a:spLocks noGrp="1"/>
          </p:cNvSpPr>
          <p:nvPr>
            <p:ph type="sldNum" sz="quarter" idx="10"/>
          </p:nvPr>
        </p:nvSpPr>
        <p:spPr/>
        <p:txBody>
          <a:bodyPr/>
          <a:lstStyle/>
          <a:p>
            <a:fld id="{E2A43B92-3A2D-4964-BD32-AF28A47106C9}" type="slidenum">
              <a:rPr lang="en-US"/>
              <a:t>68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district survey matches the anchored ranking’s level error at about 25% of the full sample. The ranking wins on level error only: a district survey of any size captures more burden, because burden sits in populous districts that surveys measure precisely. Fitted symmetrically on a reduced survey, the model’s error degrades in step with the survey’s, so the model improves the ordering at any sample size and does not reduce the sample a survey needs.</a:t>
            </a:r>
          </a:p>
        </p:txBody>
      </p:sp>
      <p:sp>
        <p:nvSpPr>
          <p:cNvPr id="4" name="Slide Number Placeholder 3"/>
          <p:cNvSpPr>
            <a:spLocks noGrp="1"/>
          </p:cNvSpPr>
          <p:nvPr>
            <p:ph type="sldNum" sz="quarter" idx="10"/>
          </p:nvPr>
        </p:nvSpPr>
        <p:spPr/>
        <p:txBody>
          <a:bodyPr/>
          <a:lstStyle/>
          <a:p>
            <a:fld id="{E2A43B92-3A2D-4964-BD32-AF28A47106C9}" type="slidenum">
              <a:rPr lang="en-US"/>
              <a:t>69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Bars are the interquartile range over fits. Likely question: whether four countries are enough. The curve has not flattened at three training countries, which is the argument for adding surveys to the panel rather than changing the estimator.</a:t>
            </a:r>
          </a:p>
        </p:txBody>
      </p:sp>
      <p:sp>
        <p:nvSpPr>
          <p:cNvPr id="4" name="Slide Number Placeholder 3"/>
          <p:cNvSpPr>
            <a:spLocks noGrp="1"/>
          </p:cNvSpPr>
          <p:nvPr>
            <p:ph type="sldNum" sz="quarter" idx="10"/>
          </p:nvPr>
        </p:nvSpPr>
        <p:spPr/>
        <p:txBody>
          <a:bodyPr/>
          <a:lstStyle/>
          <a:p>
            <a:fld id="{E2A43B92-3A2D-4964-BD32-AF28A47106C9}" type="slidenum">
              <a:rPr lang="en-US"/>
              <a:t>70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What the evidence supports today and what it does not. Supported: with a national anchor (a small nationally representative sample, 5% of a full survey) and the transported climate-and-soil ranking, the median district error is 9.3 percentage points, which a district-representative survey only matches at about 25% of the full sample (survey design slide; anchor_and_rank.csv). That is the sample-size claim, and it holds for the LEVEL error only: a district survey of any size captures more burden in its worst fifth, because burden is what it measures directly. In design: model-assisted cluster allocation, where the ranking decides where the clusters go, oversampling the districts the model puts at the top and bottom, so that a survey of the same size resolves the districts that matter; this is designed (CLUSTER_LEVEL_DESIGN_2026-09.md) and not piloted. Not shown: that a proxy model can replace a biomarker survey. The reliability ceiling is the survey's own, and the transport correlation of 0.30 is a ranking, not a prevalence. The honest offer to a ministry is: a ranking now from public data, a national anchor to put a level on it, and a district survey designed with the ranking rather than instead of it.</a:t>
            </a:r>
          </a:p>
        </p:txBody>
      </p:sp>
      <p:sp>
        <p:nvSpPr>
          <p:cNvPr id="4" name="Slide Number Placeholder 3"/>
          <p:cNvSpPr>
            <a:spLocks noGrp="1"/>
          </p:cNvSpPr>
          <p:nvPr>
            <p:ph type="sldNum" sz="quarter" idx="10"/>
          </p:nvPr>
        </p:nvSpPr>
        <p:spPr/>
        <p:txBody>
          <a:bodyPr/>
          <a:lstStyle/>
          <a:p>
            <a:fld id="{E2A43B92-3A2D-4964-BD32-AF28A47106C9}" type="slidenum">
              <a:rPr lang="en-US"/>
              <a:t>71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dashboard was rebuilt on 13 September on the corrected protocol, so that it says exactly what this talk says, simplified on 14 September for a reader with no statistics, and refreshed on 16 September with the 570-layer predictor set that has no DHS in it. Start here now opens with a plain-language abstract (the project, the four training surveys, how the model was built and checked), then the three numbers, one card on how to use the map, and the checklist; the Ghana worked example and the audit history sit in folded panels. Removed with the rebuild: the person-level machine-learning layer (a coin toss under honest folds), the earlier area-level estimators and their intervals, the old leaderboard, the GBD placeholder and the Sierra Leone chiefdom layer. One estimator feeds every tab: the index fitted on all surveyed districts of a country and applied to every district. The chance of being in the worst fifth exists for surveyed districts in three countries; Sierra Leone’s 14 districts cannot be cross-validated. A printable brief per country comes from the same tables, and a 25-page static walkthrough of every tab (dashboard_walkthrough_2026-09-14.pdf in the Dropbox folder) is there for written comments. Open items: sharing a view by URL, faster loading (the boundary files are most of the bundle), the worst-fifth probability for unsurveyed districts, and plain-language descriptions for the predictors (75 of 570 have one; the catalogue is the worklist). Open the URL a few minutes before showing it: the free tier stops idle instances and the restart takes a minute.</a:t>
            </a:r>
          </a:p>
        </p:txBody>
      </p:sp>
      <p:sp>
        <p:nvSpPr>
          <p:cNvPr id="4" name="Slide Number Placeholder 3"/>
          <p:cNvSpPr>
            <a:spLocks noGrp="1"/>
          </p:cNvSpPr>
          <p:nvPr>
            <p:ph type="sldNum" sz="quarter" idx="10"/>
          </p:nvPr>
        </p:nvSpPr>
        <p:spPr/>
        <p:txBody>
          <a:bodyPr/>
          <a:lstStyle/>
          <a:p>
            <a:fld id="{E2A43B92-3A2D-4964-BD32-AF28A47106C9}" type="slidenum">
              <a:rPr lang="en-US"/>
              <a:t>72</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checklist agreed at the 10 September check-in, one row per question. Sources: benchmarks_v2_summary.csv (in-fill and country transport, biomarker level), transport_null_calibration.csv (95th percentile of the permutation null), nested_domain_selection.csv (fixed climate-and-soil set), index_importance_domains.csv (pooled shares of the three remotely sensed domains), anchor_and_rank.csv (AR-01, 5% fraction, climate-and-soil set, ranks from prevalence), variance_components_ceiling.csv (prevalence, admin2). Levels do not transport because the surveys differ in year, season, team and calibration (fe_transport_level_offset); the anchor supplies the level the ranking lacks. Guiding the next survey is a design result on these four surveys, not a pilot.</a:t>
            </a:r>
          </a:p>
        </p:txBody>
      </p:sp>
      <p:sp>
        <p:nvSpPr>
          <p:cNvPr id="4" name="Slide Number Placeholder 3"/>
          <p:cNvSpPr>
            <a:spLocks noGrp="1"/>
          </p:cNvSpPr>
          <p:nvPr>
            <p:ph type="sldNum" sz="quarter" idx="10"/>
          </p:nvPr>
        </p:nvSpPr>
        <p:spPr/>
        <p:txBody>
          <a:bodyPr/>
          <a:lstStyle/>
          <a:p>
            <a:fld id="{E2A43B92-3A2D-4964-BD32-AF28A47106C9}" type="slidenum">
              <a:rPr lang="en-US"/>
              <a:t>74</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Five conclusions, each with its number on the slide. The fifth is the one the per-cell slides added: the model’s accuracy tracks the survey’s district resolution more than the nutrient. The Gambia, whose 30 districts each hold several clusters, ranks 0.41 to 0.70 across its 4 outcomes, 3 of them at or above 0.5 and the fourth (child iron) still above the other countries’ average; Ghana and Malawi, with one cluster in most districts, average 0.34 with 3 of 14 cells above the line. So the ceiling slide and this one say the same thing from two sides: give the survey enough clusters per district and the proxies can recover its order; starve it and nothing can. Results in this deck are from the RR-12 re-run on the 575-column set (16 September 2026).</a:t>
            </a:r>
          </a:p>
        </p:txBody>
      </p:sp>
      <p:sp>
        <p:nvSpPr>
          <p:cNvPr id="4" name="Slide Number Placeholder 3"/>
          <p:cNvSpPr>
            <a:spLocks noGrp="1"/>
          </p:cNvSpPr>
          <p:nvPr>
            <p:ph type="sldNum" sz="quarter" idx="10"/>
          </p:nvPr>
        </p:nvSpPr>
        <p:spPr/>
        <p:txBody>
          <a:bodyPr/>
          <a:lstStyle/>
          <a:p>
            <a:fld id="{E2A43B92-3A2D-4964-BD32-AF28A47106C9}" type="slidenum">
              <a:rPr lang="en-US"/>
              <a:t>75</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Sources: docs/findings/TWO_READINGS_2026-09f.md (current abstracts), SANDBOX_LOG_2026-09.md (every experiment), PREREGISTRATION_NEW_COUNTRIES_2026-09.md, CLUSTER_LEVEL_DESIGN_2026-09.md. Every table in this deck is read at render time from results/tables. The add-on harness is scripts/protocol_v2/39_addon_feature_test.R and it has scored eleven blocks so far; the analysis deck’s forest plot of those tests is the record. Most recent blocks moved the index by less than 0.01. The household budget survey block and the MICS block are in the base set for what they add inside a country, where two of the three estimands live; they do not help across borders. The GPS request is with UNICEF; the Ghana and Sierra Leone budget-survey modules are with the research assistant. Cote d’Ivoire, the country we rank with no survey, is missing the 30-year climate normals, which cost 27 of the 101 climate-and-soil columns in its intersection without changing the transport figure; extracting them is a morning’s work.</a:t>
            </a:r>
          </a:p>
        </p:txBody>
      </p:sp>
      <p:sp>
        <p:nvSpPr>
          <p:cNvPr id="4" name="Slide Number Placeholder 3"/>
          <p:cNvSpPr>
            <a:spLocks noGrp="1"/>
          </p:cNvSpPr>
          <p:nvPr>
            <p:ph type="sldNum" sz="quarter" idx="10"/>
          </p:nvPr>
        </p:nvSpPr>
        <p:spPr/>
        <p:txBody>
          <a:bodyPr/>
          <a:lstStyle/>
          <a:p>
            <a:fld id="{E2A43B92-3A2D-4964-BD32-AF28A47106C9}" type="slidenum">
              <a:rPr lang="en-US"/>
              <a:t>76</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Tier: open means downloadable by anyone; public survey microdata means a registration with the survey programme; DHS means the DHS Program’s access agreement. Year rule names are the rule identifiers in metadata/covariates/temporal_alignment.csv. The largest gap is the worst case over the four countries; static layers have none.</a:t>
            </a:r>
          </a:p>
        </p:txBody>
      </p:sp>
      <p:sp>
        <p:nvSpPr>
          <p:cNvPr id="4" name="Slide Number Placeholder 3"/>
          <p:cNvSpPr>
            <a:spLocks noGrp="1"/>
          </p:cNvSpPr>
          <p:nvPr>
            <p:ph type="sldNum" sz="quarter" idx="10"/>
          </p:nvPr>
        </p:nvSpPr>
        <p:spPr/>
        <p:txBody>
          <a:bodyPr/>
          <a:lstStyle/>
          <a:p>
            <a:fld id="{E2A43B92-3A2D-4964-BD32-AF28A47106C9}" type="slidenum">
              <a:rPr lang="en-US"/>
              <a:t>78</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Why domains: 575 columns against 14 to 87 districts per country cannot be fitted column by column, and the columns are heavily correlated within a source. Grouping them by what they measure and taking principal components inside each group keeps most of the variance of each group, treats a source with 64 columns and a source with 3 as one construct each, and keeps the outcome out of the representation: the rotations are learned from the training districts’ predictors alone, so nothing is selected on the biomarker. The grouping is written down: each source block brings a label, and 10 override rules in metadata/covariates/domain_overrides.csv regroup columns by construct (infection and inflammation burden, immunisation, anaemia, child anthropometry, infant feeding, supplementation, water and sanitation, education, child mortality, assets), so that MAP, IHME, DHS and MICS versions of the same thing are weighed together. Two things went wrong this week and are now guarded. A domain’s first twelve characters are its key inside the model; two labels that shared them (“Food prices (RTFP)” and “Food prices and supply”) were silently merged in two analyses until a check caught it on 16 September. The other is in the exclusions, on the next slide. One more point for questions: climate alone or soil alone transports better than all domains together, the analysis deck’s climate-and-soil result.</a:t>
            </a:r>
          </a:p>
        </p:txBody>
      </p:sp>
      <p:sp>
        <p:nvSpPr>
          <p:cNvPr id="4" name="Slide Number Placeholder 3"/>
          <p:cNvSpPr>
            <a:spLocks noGrp="1"/>
          </p:cNvSpPr>
          <p:nvPr>
            <p:ph type="sldNum" sz="quarter" idx="10"/>
          </p:nvPr>
        </p:nvSpPr>
        <p:spPr/>
        <p:txBody>
          <a:bodyPr/>
          <a:lstStyle/>
          <a:p>
            <a:fld id="{E2A43B92-3A2D-4964-BD32-AF28A47106C9}" type="slidenum">
              <a:rPr lang="en-US"/>
              <a:t>79</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index_importance_top.csv, child iron, biomarker level: the twenty largest standardised weights in the pooled four-country fit, drawn as bars so their sizes can be compared. The level target is the negated log ferritin, so a bar to the right means districts with more of the layer rank worse on child iron, to the left better. The label is the share of the index’s variance the layer carries: the twenty together hold about a fifth of the index (21%), the rest is spread over the other 350 columns, which is how a weighted sum of many weak signals is meant to behave. All twenty keep their direction in every leave-one-country-out fit; the starred ones (10 of twenty) also keep it in each country’s own separate fit, the stricter test. The story is the one on the earlier slides: cereal-heavy cropping, ruminant and cattle density, cropland, distance from the coast and a high dependency ratio rank a district worse; root crops, higher plant productivity, relatively expensive staples, modelled overweight and malaria intensity rank it better, the last for the geographic reason discussed. None of the twenty requires a blood sample, and the twenty-layer equal-weight composite scores about the same as the full index for a new country.</a:t>
            </a:r>
          </a:p>
        </p:txBody>
      </p:sp>
      <p:sp>
        <p:nvSpPr>
          <p:cNvPr id="4" name="Slide Number Placeholder 3"/>
          <p:cNvSpPr>
            <a:spLocks noGrp="1"/>
          </p:cNvSpPr>
          <p:nvPr>
            <p:ph type="sldNum" sz="quarter" idx="10"/>
          </p:nvPr>
        </p:nvSpPr>
        <p:spPr/>
        <p:txBody>
          <a:bodyPr/>
          <a:lstStyle/>
          <a:p>
            <a:fld id="{E2A43B92-3A2D-4964-BD32-AF28A47106C9}" type="slidenum">
              <a:rPr lang="en-US"/>
              <a:t>80</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metadata/covariates/exclusions.csv, applied by scripts/protocol_v2/53_apply_exclusion_policy.R to the live set. Data defects are removed on evidence in the audit tables; superseded layers are replaced by a better-aligned version of the same quantity; redundant twins are removed when a pooled rank correlation reaches 0.98 with a kept column. The two soil rules that failed that standard were removed on 15 September (SX-01 in the sandbox log).</a:t>
            </a:r>
          </a:p>
        </p:txBody>
      </p:sp>
      <p:sp>
        <p:nvSpPr>
          <p:cNvPr id="4" name="Slide Number Placeholder 3"/>
          <p:cNvSpPr>
            <a:spLocks noGrp="1"/>
          </p:cNvSpPr>
          <p:nvPr>
            <p:ph type="sldNum" sz="quarter" idx="10"/>
          </p:nvPr>
        </p:nvSpPr>
        <p:spPr/>
        <p:txBody>
          <a:bodyPr/>
          <a:lstStyle/>
          <a:p>
            <a:fld id="{E2A43B92-3A2D-4964-BD32-AF28A47106C9}" type="slidenum">
              <a:rPr lang="en-US"/>
              <a:t>81</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Modelled surfaces are estimates produced by someone else’s model (IHME, MAP, the MIMI dietary inadequacy estimates); they are included by default and the protocol has a switch (V2_DROP_MODELLED=1) to score without them. Columns that do not vary within a country are the national constants dropped at fit time.</a:t>
            </a:r>
          </a:p>
        </p:txBody>
      </p:sp>
      <p:sp>
        <p:nvSpPr>
          <p:cNvPr id="4" name="Slide Number Placeholder 3"/>
          <p:cNvSpPr>
            <a:spLocks noGrp="1"/>
          </p:cNvSpPr>
          <p:nvPr>
            <p:ph type="sldNum" sz="quarter" idx="10"/>
          </p:nvPr>
        </p:nvSpPr>
        <p:spPr/>
        <p:txBody>
          <a:bodyPr/>
          <a:lstStyle/>
          <a:p>
            <a:fld id="{E2A43B92-3A2D-4964-BD32-AF28A47106C9}" type="slidenum">
              <a:rPr lang="en-US"/>
              <a:t>82</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add-on harness is scripts/protocol_v2/39_addon_feature_test.R and it has scored eleven blocks so far; the analysis deck’s forest plot of those tests is the record. Most recent blocks moved the index by less than 0.01. The household budget survey block and the MICS block are in the base set for what they add inside a country, where two of the three estimands live; they do not help across borders. The GPS request is with UNICEF; the Ghana and Sierra Leone budget-survey modules are with the research assistant. Cote d’Ivoire, the country we rank with no survey, is missing the 30-year climate normals, which cost 27 of the 101 climate-and-soil columns in its intersection without changing the transport figure; extracting them is a morning’s work.</a:t>
            </a:r>
          </a:p>
        </p:txBody>
      </p:sp>
      <p:sp>
        <p:nvSpPr>
          <p:cNvPr id="4" name="Slide Number Placeholder 3"/>
          <p:cNvSpPr>
            <a:spLocks noGrp="1"/>
          </p:cNvSpPr>
          <p:nvPr>
            <p:ph type="sldNum" sz="quarter" idx="10"/>
          </p:nvPr>
        </p:nvSpPr>
        <p:spPr/>
        <p:txBody>
          <a:bodyPr/>
          <a:lstStyle/>
          <a:p>
            <a:fld id="{E2A43B92-3A2D-4964-BD32-AF28A47106C9}" type="slidenum">
              <a:rPr lang="en-US"/>
              <a:t>83</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Predictors in the pooled top 20 of three or more of the six outcomes on the level target, with the sign in each. One gradient recurs: districts that are drier and grassier, less productive (lower net and gross primary productivity), more pastoral, poorer (less home ownership, fewer women in paid work, less schooling) and more stunted rank worse on every deficiency. Outcome-specific signals sit below it: haemoglobin C allele frequency and cattle for child iron, the modelled anaemia surfaces for women’s iron, helminth treatment coverage and the drought index for folate, elevation and coast distance for B12.</a:t>
            </a:r>
          </a:p>
        </p:txBody>
      </p:sp>
      <p:sp>
        <p:nvSpPr>
          <p:cNvPr id="4" name="Slide Number Placeholder 3"/>
          <p:cNvSpPr>
            <a:spLocks noGrp="1"/>
          </p:cNvSpPr>
          <p:nvPr>
            <p:ph type="sldNum" sz="quarter" idx="10"/>
          </p:nvPr>
        </p:nvSpPr>
        <p:spPr/>
        <p:txBody>
          <a:bodyPr/>
          <a:lstStyle/>
          <a:p>
            <a:fld id="{E2A43B92-3A2D-4964-BD32-AF28A47106C9}" type="slidenum">
              <a:rPr lang="en-US"/>
              <a:t>84</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production weights are the infinite-penalty limit of a ridge regression on the components, so the rows are points along that family plus other sources of evidence for the weights (soft thresholding, meta-analytic replication across training countries, decorrelation across domains). Same folds and cells as every other arm; five in-fill draws. The one-SE rules return the null model in some cells (18 of 22 transport cells scored for the elastic net). The twenty-predictor composite gains -0.069 across borders (better in 6 of 22) and costs -0.04 in-fill. The soft threshold gained 0.02 across borders on the direct DHS estimates and -0.002 on the smoothed ones, so that gain was a property of noisy inputs. Both gains were found among 21 arms on these cells and are pre-registered for the next country rather than adopted. Prevalence-target version in the appendix.</a:t>
            </a:r>
          </a:p>
        </p:txBody>
      </p:sp>
      <p:sp>
        <p:nvSpPr>
          <p:cNvPr id="4" name="Slide Number Placeholder 3"/>
          <p:cNvSpPr>
            <a:spLocks noGrp="1"/>
          </p:cNvSpPr>
          <p:nvPr>
            <p:ph type="sldNum" sz="quarter" idx="10"/>
          </p:nvPr>
        </p:nvSpPr>
        <p:spPr/>
        <p:txBody>
          <a:bodyPr/>
          <a:lstStyle/>
          <a:p>
            <a:fld id="{E2A43B92-3A2D-4964-BD32-AF28A47106C9}" type="slidenum">
              <a:rPr lang="en-US"/>
              <a:t>85</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Dawes’ improper linear model: direction from the training fold, equal weights, rescaled like the index; nothing is chosen on held-out districts. Weighting the ten by their index weights instead of equally changes nothing. The composite is a transport and communication tool: twenty public layers a ministry can compute. Likely question: which twenty. The next slide lists the child iron members.</a:t>
            </a:r>
          </a:p>
        </p:txBody>
      </p:sp>
      <p:sp>
        <p:nvSpPr>
          <p:cNvPr id="4" name="Slide Number Placeholder 3"/>
          <p:cNvSpPr>
            <a:spLocks noGrp="1"/>
          </p:cNvSpPr>
          <p:nvPr>
            <p:ph type="sldNum" sz="quarter" idx="10"/>
          </p:nvPr>
        </p:nvSpPr>
        <p:spPr/>
        <p:txBody>
          <a:bodyPr/>
          <a:lstStyle/>
          <a:p>
            <a:fld id="{E2A43B92-3A2D-4964-BD32-AF28A47106C9}" type="slidenum">
              <a:rPr lang="en-US"/>
              <a:t>86</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twenty columns the four-country fit would deploy for child iron, in order of weight, with the sign of the contribution (plus means more deficiency). 20 of the twenty keep their sign in every leave-one-country-out fit and 10 in every country’s own independent fit. In the benchmark the membership is re-chosen inside each training fold; this is the version fitted on all four countries. The other outcomes’ composites are in results/tables/protocol_v2/index_importance_top.csv.</a:t>
            </a:r>
          </a:p>
        </p:txBody>
      </p:sp>
      <p:sp>
        <p:nvSpPr>
          <p:cNvPr id="4" name="Slide Number Placeholder 3"/>
          <p:cNvSpPr>
            <a:spLocks noGrp="1"/>
          </p:cNvSpPr>
          <p:nvPr>
            <p:ph type="sldNum" sz="quarter" idx="10"/>
          </p:nvPr>
        </p:nvSpPr>
        <p:spPr/>
        <p:txBody>
          <a:bodyPr/>
          <a:lstStyle/>
          <a:p>
            <a:fld id="{E2A43B92-3A2D-4964-BD32-AF28A47106C9}" type="slidenum">
              <a:rPr lang="en-US"/>
              <a:t>87</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Urbanicity composite: night lights, population density, built surface, urban land cover, travel time to health care. The replicated associations (legumes, cattle, soil chemistry, night-time temperature, all toward more deficiency) describe where subsistence agriculture is, so an urban-rural gradient was the rival explanation; partialling it out moves the transported correlation by less than 0.02 and urbanicity alone does not transport.</a:t>
            </a:r>
          </a:p>
        </p:txBody>
      </p:sp>
      <p:sp>
        <p:nvSpPr>
          <p:cNvPr id="4" name="Slide Number Placeholder 3"/>
          <p:cNvSpPr>
            <a:spLocks noGrp="1"/>
          </p:cNvSpPr>
          <p:nvPr>
            <p:ph type="sldNum" sz="quarter" idx="10"/>
          </p:nvPr>
        </p:nvSpPr>
        <p:spPr/>
        <p:txBody>
          <a:bodyPr/>
          <a:lstStyle/>
          <a:p>
            <a:fld id="{E2A43B92-3A2D-4964-BD32-AF28A47106C9}" type="slidenum">
              <a:rPr lang="en-US"/>
              <a:t>88</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Bars are the interquartile range over cells. No block moves in-fill or transport by more than 0.01 at the median: the vocabulary is saturated. The fieldwork-matched temperature columns are among the most consistently associated with deficiency in the marginal scan yet improve no fold, because a covariate defined by when the survey happened cannot rank districts that have not been surveyed. Found in passing and fixed: the price columns used 2021 as The Gambia’s survey year (fieldwork was January to April 2018), and the satellite embedding had been filed under agriculture.</a:t>
            </a:r>
          </a:p>
        </p:txBody>
      </p:sp>
      <p:sp>
        <p:nvSpPr>
          <p:cNvPr id="4" name="Slide Number Placeholder 3"/>
          <p:cNvSpPr>
            <a:spLocks noGrp="1"/>
          </p:cNvSpPr>
          <p:nvPr>
            <p:ph type="sldNum" sz="quarter" idx="10"/>
          </p:nvPr>
        </p:nvSpPr>
        <p:spPr/>
        <p:txBody>
          <a:bodyPr/>
          <a:lstStyle/>
          <a:p>
            <a:fld id="{E2A43B92-3A2D-4964-BD32-AF28A47106C9}" type="slidenum">
              <a:rPr lang="en-US"/>
              <a:t>89</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323 clusters with GPS; covariates as 2 km (urban) and 5 km (rural) buffer means from rasters on disk; the same estimands with folds cut by district and region. Cluster-fitted models trail district-fitted ones on every estimand and for transport. A precision-weighted index and empirical-Bayes shrinkage of cluster outcomes recover a third to a half of the gap. A matched-vocabulary comparison attributes the remaining gap to the layers rather than the fitting unit. The cluster track is a sensitivity analysis until its vocabulary is matched layer for layer.</a:t>
            </a:r>
          </a:p>
        </p:txBody>
      </p:sp>
      <p:sp>
        <p:nvSpPr>
          <p:cNvPr id="4" name="Slide Number Placeholder 3"/>
          <p:cNvSpPr>
            <a:spLocks noGrp="1"/>
          </p:cNvSpPr>
          <p:nvPr>
            <p:ph type="sldNum" sz="quarter" idx="10"/>
          </p:nvPr>
        </p:nvSpPr>
        <p:spPr/>
        <p:txBody>
          <a:bodyPr/>
          <a:lstStyle/>
          <a:p>
            <a:fld id="{E2A43B92-3A2D-4964-BD32-AF28A47106C9}" type="slidenum">
              <a:rPr lang="en-US"/>
              <a:t>90</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Out-of-fold predictions averaged over ten draws; transport rows use the held-out country’s own national prevalence as the anchor (AR-01 design), the only honest way to put a transported ranking on the prevalence scale. The January deck’s child vitamin A cell was 44 and 75 percent (exact, within one) for the full model from the old leaderboard. For iron and the other outcomes only the 20 percent threshold has a WHO source; the two-class accuracies are in results/tables/protocol_v2/risk_category_accuracy_summary.csv.</a:t>
            </a:r>
          </a:p>
        </p:txBody>
      </p:sp>
      <p:sp>
        <p:nvSpPr>
          <p:cNvPr id="4" name="Slide Number Placeholder 3"/>
          <p:cNvSpPr>
            <a:spLocks noGrp="1"/>
          </p:cNvSpPr>
          <p:nvPr>
            <p:ph type="sldNum" sz="quarter" idx="10"/>
          </p:nvPr>
        </p:nvSpPr>
        <p:spPr/>
        <p:txBody>
          <a:bodyPr/>
          <a:lstStyle/>
          <a:p>
            <a:fld id="{E2A43B92-3A2D-4964-BD32-AF28A47106C9}" type="slidenum">
              <a:rPr lang="en-US"/>
              <a:t>91</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LSMS block scored here is Ghana’s GLSS7 as a svyby object: 134 region-level household expenditure and asset means, broadcast to districts through the 16-to-10 region crosswalk, so the block varies only across ten regions. It does not improve any Ghana cell beyond noise and cannot be scored across borders. The household budget surveys now enter the base set another way, as diet and consumption indicators computed from the microdata for all four countries (GLSS7 for Ghana, again at the region); that block is part of the base vocabulary this slide compares against. FluNet reports for Ghana and Sierra Leone only and is a national weekly count, constant within a country; it contributes nothing by construction.</a:t>
            </a:r>
          </a:p>
        </p:txBody>
      </p:sp>
      <p:sp>
        <p:nvSpPr>
          <p:cNvPr id="4" name="Slide Number Placeholder 3"/>
          <p:cNvSpPr>
            <a:spLocks noGrp="1"/>
          </p:cNvSpPr>
          <p:nvPr>
            <p:ph type="sldNum" sz="quarter" idx="10"/>
          </p:nvPr>
        </p:nvSpPr>
        <p:spPr/>
        <p:txBody>
          <a:bodyPr/>
          <a:lstStyle/>
          <a:p>
            <a:fld id="{E2A43B92-3A2D-4964-BD32-AF28A47106C9}" type="slidenum">
              <a:rPr lang="en-US"/>
              <a:t>92</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Library: mean, elastic net, random forest; survey weights; inner folds blocked by district; outer 5-fold by district so no district’s respondents are split across training and test. Survey variables: up to 80 respondent columns with 70 percent coverage after removing biomarkers, adjustments, identifiers, weights, dates and locations. Proxies: the district’s domain components joined to each respondent. Person-level skill exists for iron only (survey-variable AUC up to 0.78 in Ghana and Malawi); vitamin A, folate and B12 show none. The January figure (Brier skill 20 to 60 percent) came from folds not blocked by district and a survey set that included biomarker-adjacent variables. Aggregating a person-level classifier biases area means, so this remains a sensitivity analysis. Rerun on the RR-10 set on 10 September.</a:t>
            </a:r>
          </a:p>
        </p:txBody>
      </p:sp>
      <p:sp>
        <p:nvSpPr>
          <p:cNvPr id="4" name="Slide Number Placeholder 3"/>
          <p:cNvSpPr>
            <a:spLocks noGrp="1"/>
          </p:cNvSpPr>
          <p:nvPr>
            <p:ph type="sldNum" sz="quarter" idx="10"/>
          </p:nvPr>
        </p:nvSpPr>
        <p:spPr/>
        <p:txBody>
          <a:bodyPr/>
          <a:lstStyle/>
          <a:p>
            <a:fld id="{E2A43B92-3A2D-4964-BD32-AF28A47106C9}" type="slidenum">
              <a:rPr lang="en-US"/>
              <a:t>93</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January deck’s national-level track (WHO VMNIS and BRINDA outcomes, FAOSTAT and policy predictors) lives in a separate sub-pipeline last run in April 2026. It is not part of the current protocol and has not been re-audited; the table is its last output for the four survey countries. It is the only track with time series and fortification policy indicators and is a candidate for a rerun under the corrected protocol.</a:t>
            </a:r>
          </a:p>
        </p:txBody>
      </p:sp>
      <p:sp>
        <p:nvSpPr>
          <p:cNvPr id="4" name="Slide Number Placeholder 3"/>
          <p:cNvSpPr>
            <a:spLocks noGrp="1"/>
          </p:cNvSpPr>
          <p:nvPr>
            <p:ph type="sldNum" sz="quarter" idx="10"/>
          </p:nvPr>
        </p:nvSpPr>
        <p:spPr/>
        <p:txBody>
          <a:bodyPr/>
          <a:lstStyle/>
          <a:p>
            <a:fld id="{E2A43B92-3A2D-4964-BD32-AF28A47106C9}" type="slidenum">
              <a:rPr lang="en-US"/>
              <a:t>94</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Urinary iodine is measured in The Gambia (continuous, with household salt iodine) and in Sierra Leone (six WHO categories, non-lactating women); it left the modelling outcomes because a one- or two-country outcome has no leave-one-country-out test. Targets: district prevalence of urinary iodine concentration below 100 micrograms per litre and, for The Gambia, the district median. In-fill needs at least 15 districts, so it runs for The Gambia only; leave-one-region-out runs in both. Whether district salt iodisation tracks district iodine status is in results/tables/protocol_v2/iodine_in_country.csv (rows analysis = descriptive).</a:t>
            </a:r>
          </a:p>
        </p:txBody>
      </p:sp>
      <p:sp>
        <p:nvSpPr>
          <p:cNvPr id="4" name="Slide Number Placeholder 3"/>
          <p:cNvSpPr>
            <a:spLocks noGrp="1"/>
          </p:cNvSpPr>
          <p:nvPr>
            <p:ph type="sldNum" sz="quarter" idx="10"/>
          </p:nvPr>
        </p:nvSpPr>
        <p:spPr/>
        <p:txBody>
          <a:bodyPr/>
          <a:lstStyle/>
          <a:p>
            <a:fld id="{E2A43B92-3A2D-4964-BD32-AF28A47106C9}" type="slidenum">
              <a:rPr lang="en-US"/>
              <a:t>95</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Prevalence target, same arms and folds as the biomarker-level figure. Mean Spearman over cells with a 95% interval across cells.</a:t>
            </a:r>
          </a:p>
        </p:txBody>
      </p:sp>
      <p:sp>
        <p:nvSpPr>
          <p:cNvPr id="4" name="Slide Number Placeholder 3"/>
          <p:cNvSpPr>
            <a:spLocks noGrp="1"/>
          </p:cNvSpPr>
          <p:nvPr>
            <p:ph type="sldNum" sz="quarter" idx="10"/>
          </p:nvPr>
        </p:nvSpPr>
        <p:spPr/>
        <p:txBody>
          <a:bodyPr/>
          <a:lstStyle/>
          <a:p>
            <a:fld id="{E2A43B92-3A2D-4964-BD32-AF28A47106C9}" type="slidenum">
              <a:rPr lang="en-US"/>
              <a:t>96</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In-fill, prevalence. The geostatistical model estimates a level and shrinks uncertain districts toward the mean, which lowers absolute error; the index ranks and is rescaled to the training outcome’s spread, which does not. If the deliverable is a prevalence figure for a named district, the geostatistical model is the right tool; if it is a ranking, the index is.</a:t>
            </a:r>
          </a:p>
        </p:txBody>
      </p:sp>
      <p:sp>
        <p:nvSpPr>
          <p:cNvPr id="4" name="Slide Number Placeholder 3"/>
          <p:cNvSpPr>
            <a:spLocks noGrp="1"/>
          </p:cNvSpPr>
          <p:nvPr>
            <p:ph type="sldNum" sz="quarter" idx="10"/>
          </p:nvPr>
        </p:nvSpPr>
        <p:spPr/>
        <p:txBody>
          <a:bodyPr/>
          <a:lstStyle/>
          <a:p>
            <a:fld id="{E2A43B92-3A2D-4964-BD32-AF28A47106C9}" type="slidenum">
              <a:rPr lang="en-US"/>
              <a:t>97</a:t>
            </a:fld>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individual-level SuperLearner remains a sensitivity analysis because shrinking a noisy individual classifier biases area means; it was removed from the dashboard on 13 September, which now shows only the protocol’s index (amertens.shinyapps.io/micronutrient-burden).</a:t>
            </a:r>
          </a:p>
        </p:txBody>
      </p:sp>
      <p:sp>
        <p:nvSpPr>
          <p:cNvPr id="4" name="Slide Number Placeholder 3"/>
          <p:cNvSpPr>
            <a:spLocks noGrp="1"/>
          </p:cNvSpPr>
          <p:nvPr>
            <p:ph type="sldNum" sz="quarter" idx="10"/>
          </p:nvPr>
        </p:nvSpPr>
        <p:spPr/>
        <p:txBody>
          <a:bodyPr/>
          <a:lstStyle/>
          <a:p>
            <a:fld id="{E2A43B92-3A2D-4964-BD32-AF28A47106C9}" type="slidenum">
              <a:rPr lang="en-US"/>
              <a:t>98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7" name="TextBox 6">
            <a:extLst>
              <a:ext uri="{FF2B5EF4-FFF2-40B4-BE49-F238E27FC236}">
                <a16:creationId xmlns:a16="http://schemas.microsoft.com/office/drawing/2014/main" id="{DBB63C27-DD85-8476-375D-EB16F5A6ADB0}"/>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84469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E1C6CC3-8F74-EDBB-C900-31606B76182B}"/>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76138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9A3B38-64E1-431E-BEA9-6580D124E61C}"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7FA9F931-E5AE-F452-FEFF-7D5D0E3B6E23}"/>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7926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9A3B38-64E1-431E-BEA9-6580D124E61C}"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6792EBD8-CFBD-9CA6-B371-55CFC4AF9CA6}"/>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417712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9A3B38-64E1-431E-BEA9-6580D124E61C}" type="datetimeFigureOut">
              <a:rPr lang="en-GB" smtClean="0"/>
              <a:t>17/09/2026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558A8C7-06A4-4826-B9D4-6AFEE114A5DB}" type="slidenum">
              <a:rPr lang="en-GB" smtClean="0"/>
              <a:t>‹#›</a:t>
            </a:fld>
            <a:endParaRPr lang="en-GB"/>
          </a:p>
        </p:txBody>
      </p:sp>
      <p:sp>
        <p:nvSpPr>
          <p:cNvPr id="10" name="TextBox 9">
            <a:extLst>
              <a:ext uri="{FF2B5EF4-FFF2-40B4-BE49-F238E27FC236}">
                <a16:creationId xmlns:a16="http://schemas.microsoft.com/office/drawing/2014/main" id="{B9BEB713-6C4A-8232-ACDD-6FA7B502F31D}"/>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08707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9A3B38-64E1-431E-BEA9-6580D124E61C}" type="datetimeFigureOut">
              <a:rPr lang="en-GB" smtClean="0"/>
              <a:t>17/09/2026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558A8C7-06A4-4826-B9D4-6AFEE114A5DB}" type="slidenum">
              <a:rPr lang="en-GB" smtClean="0"/>
              <a:t>‹#›</a:t>
            </a:fld>
            <a:endParaRPr lang="en-GB"/>
          </a:p>
        </p:txBody>
      </p:sp>
      <p:sp>
        <p:nvSpPr>
          <p:cNvPr id="6" name="TextBox 5">
            <a:extLst>
              <a:ext uri="{FF2B5EF4-FFF2-40B4-BE49-F238E27FC236}">
                <a16:creationId xmlns:a16="http://schemas.microsoft.com/office/drawing/2014/main" id="{EDB3E47D-A329-EFAE-BBAF-0D11D0605DC9}"/>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0963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A3B38-64E1-431E-BEA9-6580D124E61C}" type="datetimeFigureOut">
              <a:rPr lang="en-GB" smtClean="0"/>
              <a:t>17/09/2026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558A8C7-06A4-4826-B9D4-6AFEE114A5DB}" type="slidenum">
              <a:rPr lang="en-GB" smtClean="0"/>
              <a:t>‹#›</a:t>
            </a:fld>
            <a:endParaRPr lang="en-GB"/>
          </a:p>
        </p:txBody>
      </p:sp>
      <p:sp>
        <p:nvSpPr>
          <p:cNvPr id="5" name="TextBox 4">
            <a:extLst>
              <a:ext uri="{FF2B5EF4-FFF2-40B4-BE49-F238E27FC236}">
                <a16:creationId xmlns:a16="http://schemas.microsoft.com/office/drawing/2014/main" id="{B1477A53-470A-CC57-81B5-B7AEF3704FA4}"/>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932842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0FEBA640-1EAD-1558-1817-2B531018C357}"/>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14940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Tree>
    <p:extLst>
      <p:ext uri="{BB962C8B-B14F-4D97-AF65-F5344CB8AC3E}">
        <p14:creationId xmlns:p14="http://schemas.microsoft.com/office/powerpoint/2010/main" val="2356787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EC4FC9C3-F78F-EDAD-63EB-2DBDD24DFA28}"/>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77154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22A0341-EDCF-508D-A7A9-B7A8B8B805AF}"/>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291448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9A3B38-64E1-431E-BEA9-6580D124E61C}" type="datetimeFigureOut">
              <a:rPr lang="en-GB" smtClean="0"/>
              <a:t>17/09/2026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58A8C7-06A4-4826-B9D4-6AFEE114A5DB}" type="slidenum">
              <a:rPr lang="en-GB" smtClean="0"/>
              <a:t>‹#›</a:t>
            </a:fld>
            <a:endParaRPr lang="en-GB"/>
          </a:p>
        </p:txBody>
      </p:sp>
      <p:pic>
        <p:nvPicPr>
          <p:cNvPr id="7" name="Image 9">
            <a:extLst>
              <a:ext uri="{FF2B5EF4-FFF2-40B4-BE49-F238E27FC236}">
                <a16:creationId xmlns:a16="http://schemas.microsoft.com/office/drawing/2014/main" id="{C0C6644B-E5FD-0AA4-EE55-11FB45AB938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45200"/>
            <a:ext cx="12192000" cy="812800"/>
          </a:xfrm>
          <a:prstGeom prst="rect">
            <a:avLst/>
          </a:prstGeom>
        </p:spPr>
      </p:pic>
    </p:spTree>
    <p:extLst>
      <p:ext uri="{BB962C8B-B14F-4D97-AF65-F5344CB8AC3E}">
        <p14:creationId xmlns:p14="http://schemas.microsoft.com/office/powerpoint/2010/main" val="317556575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0_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microsoft.com/office/2018/10/relationships/comments" Target="../comments/modernComment_104_0.xml"/><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microsoft.com/office/2018/10/relationships/comments" Target="../comments/modernComment_107_0.xml"/><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A_0.xml"/><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microsoft.com/office/2018/10/relationships/comments" Target="../comments/modernComment_10B_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D_0.xm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0E_0.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F_0.xm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37.png"/><Relationship Id="rId3" Type="http://schemas.microsoft.com/office/2018/10/relationships/comments" Target="../comments/modernComment_111_0.xml"/><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15.png"/><Relationship Id="rId9"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12_0.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18/10/relationships/comments" Target="../comments/modernComment_113_0.xml"/><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15.png"/><Relationship Id="rId4" Type="http://schemas.openxmlformats.org/officeDocument/2006/relationships/image" Target="../media/image42.png"/><Relationship Id="rId9"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14_0.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49.png"/><Relationship Id="rId3" Type="http://schemas.microsoft.com/office/2018/10/relationships/comments" Target="../comments/modernComment_116_0.xml"/><Relationship Id="rId7"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24.xml.rels><?xml version="1.0" encoding="UTF-8" standalone="yes"?>
<Relationships xmlns="http://schemas.openxmlformats.org/package/2006/relationships"><Relationship Id="rId8" Type="http://schemas.openxmlformats.org/officeDocument/2006/relationships/image" Target="../media/image57.png"/><Relationship Id="rId3" Type="http://schemas.microsoft.com/office/2018/10/relationships/comments" Target="../comments/modernComment_117_0.xml"/><Relationship Id="rId7"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118_0.xml"/><Relationship Id="rId7"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11.png"/><Relationship Id="rId4" Type="http://schemas.openxmlformats.org/officeDocument/2006/relationships/image" Target="../media/image58.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119_0.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11A_0.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11C_0.xml"/><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63.png"/></Relationships>
</file>

<file path=ppt/slides/_rels/slide30.xml.rels><?xml version="1.0" encoding="UTF-8" standalone="yes"?>
<Relationships xmlns="http://schemas.openxmlformats.org/package/2006/relationships"><Relationship Id="rId3" Type="http://schemas.microsoft.com/office/2018/10/relationships/comments" Target="../comments/modernComment_11D_0.xm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microsoft.com/office/2018/10/relationships/comments" Target="../comments/modernComment_11F_0.xml"/><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microsoft.com/office/2018/10/relationships/comments" Target="../comments/modernComment_121_0.xm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3" Type="http://schemas.microsoft.com/office/2018/10/relationships/comments" Target="../comments/modernComment_122_0.xm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3" Type="http://schemas.microsoft.com/office/2018/10/relationships/comments" Target="../comments/modernComment_123_0.xml"/><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3" Type="http://schemas.microsoft.com/office/2018/10/relationships/comments" Target="../comments/modernComment_124_0.xml"/><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3" Type="http://schemas.microsoft.com/office/2018/10/relationships/comments" Target="../comments/modernComment_125_0.xm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3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microsoft.com/office/2018/10/relationships/comments" Target="../comments/modernComment_128_0.xm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18/10/relationships/comments" Target="../comments/modernComment_12A_0.xml"/><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microsoft.com/office/2018/10/relationships/comments" Target="../comments/modernComment_12B_0.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77.png"/><Relationship Id="rId4" Type="http://schemas.openxmlformats.org/officeDocument/2006/relationships/image" Target="../media/image76.png"/></Relationships>
</file>

<file path=ppt/slides/_rels/slide45.xml.rels><?xml version="1.0" encoding="UTF-8" standalone="yes"?>
<Relationships xmlns="http://schemas.openxmlformats.org/package/2006/relationships"><Relationship Id="rId3" Type="http://schemas.microsoft.com/office/2018/10/relationships/comments" Target="../comments/modernComment_12C_0.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46.xml.rels><?xml version="1.0" encoding="UTF-8" standalone="yes"?>
<Relationships xmlns="http://schemas.openxmlformats.org/package/2006/relationships"><Relationship Id="rId3" Type="http://schemas.microsoft.com/office/2018/10/relationships/comments" Target="../comments/modernComment_12D_0.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12.png"/></Relationships>
</file>

<file path=ppt/slides/_rels/slide47.xml.rels><?xml version="1.0" encoding="UTF-8" standalone="yes"?>
<Relationships xmlns="http://schemas.openxmlformats.org/package/2006/relationships"><Relationship Id="rId3" Type="http://schemas.microsoft.com/office/2018/10/relationships/comments" Target="../comments/modernComment_12E_0.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48.xml.rels><?xml version="1.0" encoding="UTF-8" standalone="yes"?>
<Relationships xmlns="http://schemas.openxmlformats.org/package/2006/relationships"><Relationship Id="rId3" Type="http://schemas.microsoft.com/office/2018/10/relationships/comments" Target="../comments/modernComment_12F_0.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1.png"/></Relationships>
</file>

<file path=ppt/slides/_rels/slide51.xml.rels><?xml version="1.0" encoding="UTF-8" standalone="yes"?>
<Relationships xmlns="http://schemas.openxmlformats.org/package/2006/relationships"><Relationship Id="rId3" Type="http://schemas.microsoft.com/office/2018/10/relationships/comments" Target="../comments/modernComment_132_0.xm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5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microsoft.com/office/2018/10/relationships/comments" Target="../comments/modernComment_136_0.xm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56.xml.rels><?xml version="1.0" encoding="UTF-8" standalone="yes"?>
<Relationships xmlns="http://schemas.openxmlformats.org/package/2006/relationships"><Relationship Id="rId3" Type="http://schemas.microsoft.com/office/2018/10/relationships/comments" Target="../comments/modernComment_137_0.xm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57.xml.rels><?xml version="1.0" encoding="UTF-8" standalone="yes"?>
<Relationships xmlns="http://schemas.openxmlformats.org/package/2006/relationships"><Relationship Id="rId3" Type="http://schemas.microsoft.com/office/2018/10/relationships/comments" Target="../comments/modernComment_138_0.xml"/><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58.xml.rels><?xml version="1.0" encoding="UTF-8" standalone="yes"?>
<Relationships xmlns="http://schemas.openxmlformats.org/package/2006/relationships"><Relationship Id="rId3" Type="http://schemas.microsoft.com/office/2018/10/relationships/comments" Target="../comments/modernComment_139_0.xm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5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microsoft.com/office/2018/10/relationships/comments" Target="../comments/modernComment_13C_0.xm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62.xml.rels><?xml version="1.0" encoding="UTF-8" standalone="yes"?>
<Relationships xmlns="http://schemas.openxmlformats.org/package/2006/relationships"><Relationship Id="rId3" Type="http://schemas.microsoft.com/office/2018/10/relationships/comments" Target="../comments/modernComment_13D_0.xml"/><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63.xml.rels><?xml version="1.0" encoding="UTF-8" standalone="yes"?>
<Relationships xmlns="http://schemas.openxmlformats.org/package/2006/relationships"><Relationship Id="rId3" Type="http://schemas.microsoft.com/office/2018/10/relationships/comments" Target="../comments/modernComment_13E_0.xml"/><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64.xml.rels><?xml version="1.0" encoding="UTF-8" standalone="yes"?>
<Relationships xmlns="http://schemas.openxmlformats.org/package/2006/relationships"><Relationship Id="rId3" Type="http://schemas.microsoft.com/office/2018/10/relationships/comments" Target="../comments/modernComment_13F_0.xml"/><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101.png"/></Relationships>
</file>

<file path=ppt/slides/_rels/slide65.xml.rels><?xml version="1.0" encoding="UTF-8" standalone="yes"?>
<Relationships xmlns="http://schemas.openxmlformats.org/package/2006/relationships"><Relationship Id="rId8" Type="http://schemas.openxmlformats.org/officeDocument/2006/relationships/image" Target="../media/image105.png"/><Relationship Id="rId3" Type="http://schemas.microsoft.com/office/2018/10/relationships/comments" Target="../comments/modernComment_140_0.xml"/><Relationship Id="rId7" Type="http://schemas.openxmlformats.org/officeDocument/2006/relationships/image" Target="../media/image104.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103.png"/><Relationship Id="rId4" Type="http://schemas.openxmlformats.org/officeDocument/2006/relationships/image" Target="../media/image102.png"/></Relationships>
</file>

<file path=ppt/slides/_rels/slide66.xml.rels><?xml version="1.0" encoding="UTF-8" standalone="yes"?>
<Relationships xmlns="http://schemas.openxmlformats.org/package/2006/relationships"><Relationship Id="rId3" Type="http://schemas.microsoft.com/office/2018/10/relationships/comments" Target="../comments/modernComment_141_0.xml"/><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10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microsoft.com/office/2018/10/relationships/comments" Target="../comments/modernComment_143_0.xml"/><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107.png"/></Relationships>
</file>

<file path=ppt/slides/_rels/slide69.xml.rels><?xml version="1.0" encoding="UTF-8" standalone="yes"?>
<Relationships xmlns="http://schemas.openxmlformats.org/package/2006/relationships"><Relationship Id="rId3" Type="http://schemas.microsoft.com/office/2018/10/relationships/comments" Target="../comments/modernComment_144_0.xml"/><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108.png"/></Relationships>
</file>

<file path=ppt/slides/_rels/slide7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microsoft.com/office/2018/10/relationships/comments" Target="../comments/modernComment_146_0.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72.xml.rels><?xml version="1.0" encoding="UTF-8" standalone="yes"?>
<Relationships xmlns="http://schemas.openxmlformats.org/package/2006/relationships"><Relationship Id="rId8" Type="http://schemas.openxmlformats.org/officeDocument/2006/relationships/image" Target="../media/image113.png"/><Relationship Id="rId3" Type="http://schemas.microsoft.com/office/2018/10/relationships/comments" Target="../comments/modernComment_147_0.xml"/><Relationship Id="rId7" Type="http://schemas.openxmlformats.org/officeDocument/2006/relationships/image" Target="../media/image112.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5.png"/><Relationship Id="rId4" Type="http://schemas.openxmlformats.org/officeDocument/2006/relationships/image" Target="../media/image11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75.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4A_0.xml"/><Relationship Id="rId7" Type="http://schemas.openxmlformats.org/officeDocument/2006/relationships/image" Target="../media/image114.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61.png"/><Relationship Id="rId4" Type="http://schemas.openxmlformats.org/officeDocument/2006/relationships/image" Target="../media/image5.png"/><Relationship Id="rId9" Type="http://schemas.openxmlformats.org/officeDocument/2006/relationships/image" Target="../media/image11.png"/></Relationships>
</file>

<file path=ppt/slides/_rels/slide76.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18.png"/><Relationship Id="rId5" Type="http://schemas.openxmlformats.org/officeDocument/2006/relationships/image" Target="../media/image117.png"/><Relationship Id="rId10" Type="http://schemas.openxmlformats.org/officeDocument/2006/relationships/image" Target="../media/image121.png"/><Relationship Id="rId4" Type="http://schemas.openxmlformats.org/officeDocument/2006/relationships/image" Target="../media/image116.png"/><Relationship Id="rId9" Type="http://schemas.openxmlformats.org/officeDocument/2006/relationships/image" Target="../media/image12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marL="0" lvl="0" indent="0">
              <a:buNone/>
            </a:pPr>
            <a:r>
              <a:t>Predicting vitamin and mineral deficiencies from public data</a:t>
            </a:r>
          </a:p>
        </p:txBody>
      </p:sp>
      <p:sp>
        <p:nvSpPr>
          <p:cNvPr id="3" name="Subtitle 2"/>
          <p:cNvSpPr>
            <a:spLocks noGrp="1"/>
          </p:cNvSpPr>
          <p:nvPr>
            <p:ph type="subTitle" idx="1"/>
          </p:nvPr>
        </p:nvSpPr>
        <p:spPr>
          <a:xfrm>
            <a:off x="1524000" y="3602038"/>
            <a:ext cx="9144000" cy="1188720"/>
          </a:xfrm>
        </p:spPr>
        <p:txBody>
          <a:bodyPr/>
          <a:lstStyle/>
          <a:p>
            <a:pPr marL="0" lvl="0" indent="0">
              <a:buNone/>
            </a:pPr>
            <a:r>
              <a:rPr sz="1800"/>
              <a:t>Four biomarker surveys, hundreds of public proxies, one evaluation protocol</a:t>
            </a:r>
            <a:br/>
            <a:br/>
            <a:r>
              <a:rPr sz="1800"/>
              <a:t>Andrew N. Mertens, University of California, Berkeley</a:t>
            </a:r>
          </a:p>
        </p:txBody>
      </p:sp>
      <p:pic>
        <p:nvPicPr>
          <p:cNvPr id="4" name="Picture 3" descr="logo_ucberkeley.png"/>
          <p:cNvPicPr>
            <a:picLocks noChangeAspect="1"/>
          </p:cNvPicPr>
          <p:nvPr/>
        </p:nvPicPr>
        <p:blipFill>
          <a:blip r:embed="rId3"/>
          <a:stretch>
            <a:fillRect/>
          </a:stretch>
        </p:blipFill>
        <p:spPr>
          <a:xfrm>
            <a:off x="2167128" y="4983480"/>
            <a:ext cx="2116765" cy="502920"/>
          </a:xfrm>
          <a:prstGeom prst="rect">
            <a:avLst/>
          </a:prstGeom>
        </p:spPr>
      </p:pic>
      <p:pic>
        <p:nvPicPr>
          <p:cNvPr id="5" name="Picture 4" descr="logo_ucdavis.png"/>
          <p:cNvPicPr>
            <a:picLocks noChangeAspect="1"/>
          </p:cNvPicPr>
          <p:nvPr/>
        </p:nvPicPr>
        <p:blipFill>
          <a:blip r:embed="rId4"/>
          <a:stretch>
            <a:fillRect/>
          </a:stretch>
        </p:blipFill>
        <p:spPr>
          <a:xfrm>
            <a:off x="5184648" y="5045562"/>
            <a:ext cx="2194560" cy="378756"/>
          </a:xfrm>
          <a:prstGeom prst="rect">
            <a:avLst/>
          </a:prstGeom>
        </p:spPr>
      </p:pic>
      <p:pic>
        <p:nvPicPr>
          <p:cNvPr id="6" name="Picture 5" descr="logo_mnforum.png"/>
          <p:cNvPicPr>
            <a:picLocks noChangeAspect="1"/>
          </p:cNvPicPr>
          <p:nvPr/>
        </p:nvPicPr>
        <p:blipFill>
          <a:blip r:embed="rId5"/>
          <a:stretch>
            <a:fillRect/>
          </a:stretch>
        </p:blipFill>
        <p:spPr>
          <a:xfrm>
            <a:off x="8202168" y="4983480"/>
            <a:ext cx="1233439" cy="502920"/>
          </a:xfrm>
          <a:prstGeom prst="rect">
            <a:avLst/>
          </a:prstGeom>
        </p:spPr>
      </p:pic>
      <p:sp>
        <p:nvSpPr>
          <p:cNvPr id="7" name="TextBox 6"/>
          <p:cNvSpPr txBox="1"/>
          <p:nvPr/>
        </p:nvSpPr>
        <p:spPr>
          <a:xfrm>
            <a:off x="841248" y="5577840"/>
            <a:ext cx="10515600" cy="365760"/>
          </a:xfrm>
          <a:prstGeom prst="rect">
            <a:avLst/>
          </a:prstGeom>
          <a:noFill/>
        </p:spPr>
        <p:txBody>
          <a:bodyPr wrap="square" lIns="45720" tIns="27432" rIns="45720" bIns="27432" anchor="t">
            <a:spAutoFit/>
          </a:bodyPr>
          <a:lstStyle/>
          <a:p>
            <a:pPr algn="ctr"/>
            <a:r>
              <a:rPr sz="1200" b="0">
                <a:solidFill>
                  <a:srgbClr val="666666"/>
                </a:solidFill>
                <a:latin typeface="Calibri"/>
              </a:rPr>
              <a:t>We are grateful for the funding support of the Gates Foundation.</a:t>
            </a:r>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Goals</a:t>
            </a:r>
          </a:p>
        </p:txBody>
      </p:sp>
      <p:pic>
        <p:nvPicPr>
          <p:cNvPr id="3" name="Picture 2" descr="map-location-dot_blue.png"/>
          <p:cNvPicPr>
            <a:picLocks noChangeAspect="1"/>
          </p:cNvPicPr>
          <p:nvPr/>
        </p:nvPicPr>
        <p:blipFill>
          <a:blip r:embed="rId3"/>
          <a:stretch>
            <a:fillRect/>
          </a:stretch>
        </p:blipFill>
        <p:spPr>
          <a:xfrm>
            <a:off x="932688" y="1920240"/>
            <a:ext cx="925830" cy="822960"/>
          </a:xfrm>
          <a:prstGeom prst="rect">
            <a:avLst/>
          </a:prstGeom>
        </p:spPr>
      </p:pic>
      <p:sp>
        <p:nvSpPr>
          <p:cNvPr id="4" name="TextBox 3"/>
          <p:cNvSpPr txBox="1"/>
          <p:nvPr/>
        </p:nvSpPr>
        <p:spPr>
          <a:xfrm>
            <a:off x="1984248" y="1691640"/>
            <a:ext cx="6995160" cy="1280160"/>
          </a:xfrm>
          <a:prstGeom prst="rect">
            <a:avLst/>
          </a:prstGeom>
          <a:noFill/>
        </p:spPr>
        <p:txBody>
          <a:bodyPr wrap="square" lIns="45720" tIns="27432" rIns="45720" bIns="27432" anchor="ctr">
            <a:spAutoFit/>
          </a:bodyPr>
          <a:lstStyle/>
          <a:p>
            <a:pPr algn="l"/>
            <a:r>
              <a:rPr sz="2000" b="1">
                <a:solidFill>
                  <a:srgbClr val="1F4E79"/>
                </a:solidFill>
                <a:latin typeface="Calibri"/>
              </a:rPr>
              <a:t>Estimate deficiency prevalence, nationally and by district</a:t>
            </a:r>
          </a:p>
          <a:p>
            <a:pPr algn="l">
              <a:spcBef>
                <a:spcPts val="300"/>
              </a:spcBef>
            </a:pPr>
            <a:r>
              <a:rPr sz="1400" b="0">
                <a:solidFill>
                  <a:srgbClr val="333333"/>
                </a:solidFill>
                <a:latin typeface="Calibri"/>
              </a:rPr>
              <a:t>From a wide range of proxy indicators, validated against the prevalence measured by biomarker assessment in national surveys.</a:t>
            </a:r>
          </a:p>
        </p:txBody>
      </p:sp>
      <p:pic>
        <p:nvPicPr>
          <p:cNvPr id="5" name="Picture 4" descr="ranking-star_blue.png"/>
          <p:cNvPicPr>
            <a:picLocks noChangeAspect="1"/>
          </p:cNvPicPr>
          <p:nvPr/>
        </p:nvPicPr>
        <p:blipFill>
          <a:blip r:embed="rId4"/>
          <a:stretch>
            <a:fillRect/>
          </a:stretch>
        </p:blipFill>
        <p:spPr>
          <a:xfrm>
            <a:off x="932688" y="3383280"/>
            <a:ext cx="1028700" cy="822960"/>
          </a:xfrm>
          <a:prstGeom prst="rect">
            <a:avLst/>
          </a:prstGeom>
        </p:spPr>
      </p:pic>
      <p:sp>
        <p:nvSpPr>
          <p:cNvPr id="6" name="TextBox 5"/>
          <p:cNvSpPr txBox="1"/>
          <p:nvPr/>
        </p:nvSpPr>
        <p:spPr>
          <a:xfrm>
            <a:off x="1984248" y="3154680"/>
            <a:ext cx="6995160" cy="1280160"/>
          </a:xfrm>
          <a:prstGeom prst="rect">
            <a:avLst/>
          </a:prstGeom>
          <a:noFill/>
        </p:spPr>
        <p:txBody>
          <a:bodyPr wrap="square" lIns="45720" tIns="27432" rIns="45720" bIns="27432" anchor="ctr">
            <a:spAutoFit/>
          </a:bodyPr>
          <a:lstStyle/>
          <a:p>
            <a:pPr algn="l"/>
            <a:r>
              <a:rPr sz="2000" b="1">
                <a:solidFill>
                  <a:srgbClr val="1F4E79"/>
                </a:solidFill>
                <a:latin typeface="Calibri"/>
              </a:rPr>
              <a:t>Identify the subnational regions at greatest risk</a:t>
            </a:r>
          </a:p>
          <a:p>
            <a:pPr algn="l">
              <a:spcBef>
                <a:spcPts val="300"/>
              </a:spcBef>
            </a:pPr>
            <a:r>
              <a:rPr sz="1400" b="0">
                <a:solidFill>
                  <a:srgbClr val="333333"/>
                </a:solidFill>
                <a:latin typeface="Calibri"/>
              </a:rPr>
              <a:t>A ranking a programme can act on, and a level once anchored to a national number.</a:t>
            </a:r>
          </a:p>
        </p:txBody>
      </p:sp>
      <p:pic>
        <p:nvPicPr>
          <p:cNvPr id="7" name="Picture 6" descr="handshake_blue.png"/>
          <p:cNvPicPr>
            <a:picLocks noChangeAspect="1"/>
          </p:cNvPicPr>
          <p:nvPr/>
        </p:nvPicPr>
        <p:blipFill>
          <a:blip r:embed="rId5"/>
          <a:stretch>
            <a:fillRect/>
          </a:stretch>
        </p:blipFill>
        <p:spPr>
          <a:xfrm>
            <a:off x="932688" y="4846320"/>
            <a:ext cx="1028700" cy="822960"/>
          </a:xfrm>
          <a:prstGeom prst="rect">
            <a:avLst/>
          </a:prstGeom>
        </p:spPr>
      </p:pic>
      <p:sp>
        <p:nvSpPr>
          <p:cNvPr id="8" name="TextBox 7"/>
          <p:cNvSpPr txBox="1"/>
          <p:nvPr/>
        </p:nvSpPr>
        <p:spPr>
          <a:xfrm>
            <a:off x="1984248" y="4617720"/>
            <a:ext cx="6995160" cy="1280160"/>
          </a:xfrm>
          <a:prstGeom prst="rect">
            <a:avLst/>
          </a:prstGeom>
          <a:noFill/>
        </p:spPr>
        <p:txBody>
          <a:bodyPr wrap="square" lIns="45720" tIns="27432" rIns="45720" bIns="27432" anchor="ctr">
            <a:spAutoFit/>
          </a:bodyPr>
          <a:lstStyle/>
          <a:p>
            <a:pPr algn="l"/>
            <a:r>
              <a:rPr sz="2000" b="1">
                <a:solidFill>
                  <a:srgbClr val="1F4E79"/>
                </a:solidFill>
                <a:latin typeface="Calibri"/>
              </a:rPr>
              <a:t>Engage national stakeholders throughout</a:t>
            </a:r>
          </a:p>
          <a:p>
            <a:pPr algn="l">
              <a:spcBef>
                <a:spcPts val="300"/>
              </a:spcBef>
            </a:pPr>
            <a:r>
              <a:rPr sz="1400" b="0">
                <a:solidFill>
                  <a:srgbClr val="333333"/>
                </a:solidFill>
                <a:latin typeface="Calibri"/>
              </a:rPr>
              <a:t>Ghana as the worked example; the dashboard and country briefs as the shared product.</a:t>
            </a:r>
          </a:p>
        </p:txBody>
      </p:sp>
      <p:pic>
        <p:nvPicPr>
          <p:cNvPr id="9" name="Picture 8" descr="goals_ghana_map.png"/>
          <p:cNvPicPr>
            <a:picLocks noChangeAspect="1"/>
          </p:cNvPicPr>
          <p:nvPr/>
        </p:nvPicPr>
        <p:blipFill>
          <a:blip r:embed="rId6"/>
          <a:stretch>
            <a:fillRect/>
          </a:stretch>
        </p:blipFill>
        <p:spPr>
          <a:xfrm>
            <a:off x="9345168" y="1783080"/>
            <a:ext cx="2011680" cy="28064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What a country has today, and what the model adds</a:t>
            </a:r>
          </a:p>
        </p:txBody>
      </p:sp>
      <p:pic>
        <p:nvPicPr>
          <p:cNvPr id="3" name="Picture 1" descr="MN-proxy-full-talk-2026-09_files/figure-pptx/before-after-1.png"/>
          <p:cNvPicPr>
            <a:picLocks noGrp="1" noChangeAspect="1"/>
          </p:cNvPicPr>
          <p:nvPr/>
        </p:nvPicPr>
        <p:blipFill>
          <a:blip r:embed="rId4"/>
          <a:stretch>
            <a:fillRect/>
          </a:stretch>
        </p:blipFill>
        <p:spPr bwMode="auto">
          <a:xfrm>
            <a:off x="947026" y="1691640"/>
            <a:ext cx="10304043"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Surveys are rare; the proxies are everywhere</a:t>
            </a:r>
          </a:p>
        </p:txBody>
      </p:sp>
      <p:pic>
        <p:nvPicPr>
          <p:cNvPr id="3" name="Picture 2" descr="vial_blue.png"/>
          <p:cNvPicPr>
            <a:picLocks noChangeAspect="1"/>
          </p:cNvPicPr>
          <p:nvPr/>
        </p:nvPicPr>
        <p:blipFill>
          <a:blip r:embed="rId4"/>
          <a:stretch>
            <a:fillRect/>
          </a:stretch>
        </p:blipFill>
        <p:spPr>
          <a:xfrm>
            <a:off x="932688" y="1920240"/>
            <a:ext cx="822960" cy="822960"/>
          </a:xfrm>
          <a:prstGeom prst="rect">
            <a:avLst/>
          </a:prstGeom>
        </p:spPr>
      </p:pic>
      <p:sp>
        <p:nvSpPr>
          <p:cNvPr id="4" name="TextBox 3"/>
          <p:cNvSpPr txBox="1"/>
          <p:nvPr/>
        </p:nvSpPr>
        <p:spPr>
          <a:xfrm>
            <a:off x="1984248" y="1691640"/>
            <a:ext cx="5074920" cy="1280160"/>
          </a:xfrm>
          <a:prstGeom prst="rect">
            <a:avLst/>
          </a:prstGeom>
          <a:noFill/>
        </p:spPr>
        <p:txBody>
          <a:bodyPr wrap="square" lIns="45720" tIns="27432" rIns="45720" bIns="27432" anchor="ctr">
            <a:spAutoFit/>
          </a:bodyPr>
          <a:lstStyle/>
          <a:p>
            <a:pPr algn="l"/>
            <a:r>
              <a:rPr sz="2000" b="1" dirty="0">
                <a:solidFill>
                  <a:srgbClr val="1F4E79"/>
                </a:solidFill>
                <a:latin typeface="Calibri"/>
              </a:rPr>
              <a:t>Biomarker surveys are rare and costly</a:t>
            </a:r>
          </a:p>
          <a:p>
            <a:pPr algn="l">
              <a:spcBef>
                <a:spcPts val="300"/>
              </a:spcBef>
            </a:pPr>
            <a:r>
              <a:rPr sz="1400" b="0" dirty="0">
                <a:solidFill>
                  <a:srgbClr val="333333"/>
                </a:solidFill>
                <a:latin typeface="Calibri"/>
              </a:rPr>
              <a:t>About one national survey per country and decade; </a:t>
            </a:r>
            <a:r>
              <a:rPr sz="1400" b="0" dirty="0" err="1">
                <a:solidFill>
                  <a:srgbClr val="333333"/>
                </a:solidFill>
                <a:latin typeface="Calibri"/>
              </a:rPr>
              <a:t>programmes</a:t>
            </a:r>
            <a:r>
              <a:rPr sz="1400" b="0" dirty="0">
                <a:solidFill>
                  <a:srgbClr val="333333"/>
                </a:solidFill>
                <a:latin typeface="Calibri"/>
              </a:rPr>
              <a:t> need district estimates between them.</a:t>
            </a:r>
          </a:p>
        </p:txBody>
      </p:sp>
      <p:pic>
        <p:nvPicPr>
          <p:cNvPr id="5" name="Picture 4" descr="layer-group_blue.png"/>
          <p:cNvPicPr>
            <a:picLocks noChangeAspect="1"/>
          </p:cNvPicPr>
          <p:nvPr/>
        </p:nvPicPr>
        <p:blipFill>
          <a:blip r:embed="rId5"/>
          <a:stretch>
            <a:fillRect/>
          </a:stretch>
        </p:blipFill>
        <p:spPr>
          <a:xfrm>
            <a:off x="932688" y="3383280"/>
            <a:ext cx="925830" cy="822960"/>
          </a:xfrm>
          <a:prstGeom prst="rect">
            <a:avLst/>
          </a:prstGeom>
        </p:spPr>
      </p:pic>
      <p:sp>
        <p:nvSpPr>
          <p:cNvPr id="6" name="TextBox 5"/>
          <p:cNvSpPr txBox="1"/>
          <p:nvPr/>
        </p:nvSpPr>
        <p:spPr>
          <a:xfrm>
            <a:off x="1984248" y="3154680"/>
            <a:ext cx="5074920" cy="1280160"/>
          </a:xfrm>
          <a:prstGeom prst="rect">
            <a:avLst/>
          </a:prstGeom>
          <a:noFill/>
        </p:spPr>
        <p:txBody>
          <a:bodyPr wrap="square" lIns="45720" tIns="27432" rIns="45720" bIns="27432" anchor="ctr">
            <a:spAutoFit/>
          </a:bodyPr>
          <a:lstStyle/>
          <a:p>
            <a:pPr algn="l"/>
            <a:r>
              <a:rPr sz="2000" b="1">
                <a:solidFill>
                  <a:srgbClr val="1F4E79"/>
                </a:solidFill>
                <a:latin typeface="Calibri"/>
              </a:rPr>
              <a:t>575 district-level proxies</a:t>
            </a:r>
          </a:p>
          <a:p>
            <a:pPr algn="l">
              <a:spcBef>
                <a:spcPts val="300"/>
              </a:spcBef>
            </a:pPr>
            <a:r>
              <a:rPr sz="1400" b="0">
                <a:solidFill>
                  <a:srgbClr val="333333"/>
                </a:solidFill>
                <a:latin typeface="Calibri"/>
              </a:rPr>
              <a:t>Open gridded layers and public survey microdata, linked to four national biomarker surveys.</a:t>
            </a:r>
          </a:p>
        </p:txBody>
      </p:sp>
      <p:pic>
        <p:nvPicPr>
          <p:cNvPr id="7" name="Picture 6" descr="bullseye_blue.png"/>
          <p:cNvPicPr>
            <a:picLocks noChangeAspect="1"/>
          </p:cNvPicPr>
          <p:nvPr/>
        </p:nvPicPr>
        <p:blipFill>
          <a:blip r:embed="rId6"/>
          <a:stretch>
            <a:fillRect/>
          </a:stretch>
        </p:blipFill>
        <p:spPr>
          <a:xfrm>
            <a:off x="932688" y="4846320"/>
            <a:ext cx="822960" cy="822960"/>
          </a:xfrm>
          <a:prstGeom prst="rect">
            <a:avLst/>
          </a:prstGeom>
        </p:spPr>
      </p:pic>
      <p:sp>
        <p:nvSpPr>
          <p:cNvPr id="8" name="TextBox 7"/>
          <p:cNvSpPr txBox="1"/>
          <p:nvPr/>
        </p:nvSpPr>
        <p:spPr>
          <a:xfrm>
            <a:off x="1984248" y="4617720"/>
            <a:ext cx="5074920" cy="1280160"/>
          </a:xfrm>
          <a:prstGeom prst="rect">
            <a:avLst/>
          </a:prstGeom>
          <a:noFill/>
        </p:spPr>
        <p:txBody>
          <a:bodyPr wrap="square" lIns="45720" tIns="27432" rIns="45720" bIns="27432" anchor="ctr">
            <a:spAutoFit/>
          </a:bodyPr>
          <a:lstStyle/>
          <a:p>
            <a:pPr algn="l"/>
            <a:r>
              <a:rPr sz="2000" b="1">
                <a:solidFill>
                  <a:srgbClr val="1F4E79"/>
                </a:solidFill>
                <a:latin typeface="Calibri"/>
              </a:rPr>
              <a:t>Predict deficiency by district</a:t>
            </a:r>
          </a:p>
          <a:p>
            <a:pPr algn="l">
              <a:spcBef>
                <a:spcPts val="300"/>
              </a:spcBef>
            </a:pPr>
            <a:r>
              <a:rPr sz="1400" b="0">
                <a:solidFill>
                  <a:srgbClr val="333333"/>
                </a:solidFill>
                <a:latin typeface="Calibri"/>
              </a:rPr>
              <a:t>Iron, vitamin A, folate, B12 and zinc, in surveyed and unsurveyed districts.</a:t>
            </a:r>
          </a:p>
        </p:txBody>
      </p:sp>
      <p:pic>
        <p:nvPicPr>
          <p:cNvPr id="9" name="Picture 8" descr="old_s02_intro_photo_1.png"/>
          <p:cNvPicPr>
            <a:picLocks noChangeAspect="1"/>
          </p:cNvPicPr>
          <p:nvPr/>
        </p:nvPicPr>
        <p:blipFill>
          <a:blip r:embed="rId7"/>
          <a:stretch>
            <a:fillRect/>
          </a:stretch>
        </p:blipFill>
        <p:spPr>
          <a:xfrm>
            <a:off x="7424928" y="1783080"/>
            <a:ext cx="3931920" cy="294894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Big data and small data, at once</a:t>
            </a:r>
          </a:p>
        </p:txBody>
      </p:sp>
      <p:sp>
        <p:nvSpPr>
          <p:cNvPr id="3" name="Rounded Rectangle 2"/>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database_white.png"/>
          <p:cNvPicPr>
            <a:picLocks noChangeAspect="1"/>
          </p:cNvPicPr>
          <p:nvPr/>
        </p:nvPicPr>
        <p:blipFill>
          <a:blip r:embed="rId4"/>
          <a:stretch>
            <a:fillRect/>
          </a:stretch>
        </p:blipFill>
        <p:spPr>
          <a:xfrm>
            <a:off x="1024128" y="1810512"/>
            <a:ext cx="352044" cy="402336"/>
          </a:xfrm>
          <a:prstGeom prst="rect">
            <a:avLst/>
          </a:prstGeom>
        </p:spPr>
      </p:pic>
      <p:sp>
        <p:nvSpPr>
          <p:cNvPr id="6" name="TextBox 5"/>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Big data: the predictors</a:t>
            </a:r>
          </a:p>
        </p:txBody>
      </p:sp>
      <p:pic>
        <p:nvPicPr>
          <p:cNvPr id="7" name="Picture 6" descr="satellite_blue.png"/>
          <p:cNvPicPr>
            <a:picLocks noChangeAspect="1"/>
          </p:cNvPicPr>
          <p:nvPr/>
        </p:nvPicPr>
        <p:blipFill>
          <a:blip r:embed="rId5"/>
          <a:stretch>
            <a:fillRect/>
          </a:stretch>
        </p:blipFill>
        <p:spPr>
          <a:xfrm>
            <a:off x="1069848" y="2735580"/>
            <a:ext cx="502920" cy="502920"/>
          </a:xfrm>
          <a:prstGeom prst="rect">
            <a:avLst/>
          </a:prstGeom>
        </p:spPr>
      </p:pic>
      <p:sp>
        <p:nvSpPr>
          <p:cNvPr id="8" name="TextBox 7"/>
          <p:cNvSpPr txBox="1"/>
          <p:nvPr/>
        </p:nvSpPr>
        <p:spPr>
          <a:xfrm>
            <a:off x="1755648" y="242316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575 columns from 28 sources</a:t>
            </a:r>
          </a:p>
          <a:p>
            <a:pPr algn="l">
              <a:spcBef>
                <a:spcPts val="300"/>
              </a:spcBef>
            </a:pPr>
            <a:r>
              <a:rPr sz="1250" b="0">
                <a:solidFill>
                  <a:srgbClr val="333333"/>
                </a:solidFill>
                <a:latin typeface="Calibri"/>
              </a:rPr>
              <a:t>Rasters at 30 m to 10 km summarised over 554 districts; a 64-dimension satellite embedding; four household surveys aggregated from microdata.</a:t>
            </a:r>
          </a:p>
        </p:txBody>
      </p:sp>
      <p:pic>
        <p:nvPicPr>
          <p:cNvPr id="9" name="Picture 8" descr="layer-group_blue.png"/>
          <p:cNvPicPr>
            <a:picLocks noChangeAspect="1"/>
          </p:cNvPicPr>
          <p:nvPr/>
        </p:nvPicPr>
        <p:blipFill>
          <a:blip r:embed="rId6"/>
          <a:stretch>
            <a:fillRect/>
          </a:stretch>
        </p:blipFill>
        <p:spPr>
          <a:xfrm>
            <a:off x="1069848" y="3863340"/>
            <a:ext cx="565785" cy="502920"/>
          </a:xfrm>
          <a:prstGeom prst="rect">
            <a:avLst/>
          </a:prstGeom>
        </p:spPr>
      </p:pic>
      <p:sp>
        <p:nvSpPr>
          <p:cNvPr id="10" name="TextBox 9"/>
          <p:cNvSpPr txBox="1"/>
          <p:nvPr/>
        </p:nvSpPr>
        <p:spPr>
          <a:xfrm>
            <a:off x="1755648" y="355092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Reduced to 29 domains</a:t>
            </a:r>
          </a:p>
          <a:p>
            <a:pPr algn="l">
              <a:spcBef>
                <a:spcPts val="300"/>
              </a:spcBef>
            </a:pPr>
            <a:r>
              <a:rPr sz="1250" b="0">
                <a:solidFill>
                  <a:srgbClr val="333333"/>
                </a:solidFill>
                <a:latin typeface="Calibri"/>
              </a:rPr>
              <a:t>Leading principal components per domain, learned on training districts only; nothing chosen on the outcome.</a:t>
            </a:r>
          </a:p>
        </p:txBody>
      </p:sp>
      <p:pic>
        <p:nvPicPr>
          <p:cNvPr id="11" name="Picture 10" descr="lock-open_blue.png"/>
          <p:cNvPicPr>
            <a:picLocks noChangeAspect="1"/>
          </p:cNvPicPr>
          <p:nvPr/>
        </p:nvPicPr>
        <p:blipFill>
          <a:blip r:embed="rId7"/>
          <a:stretch>
            <a:fillRect/>
          </a:stretch>
        </p:blipFill>
        <p:spPr>
          <a:xfrm>
            <a:off x="1069848" y="4991100"/>
            <a:ext cx="565785" cy="502920"/>
          </a:xfrm>
          <a:prstGeom prst="rect">
            <a:avLst/>
          </a:prstGeom>
        </p:spPr>
      </p:pic>
      <p:sp>
        <p:nvSpPr>
          <p:cNvPr id="12" name="TextBox 11"/>
          <p:cNvSpPr txBox="1"/>
          <p:nvPr/>
        </p:nvSpPr>
        <p:spPr>
          <a:xfrm>
            <a:off x="1755648" y="467868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All of it public</a:t>
            </a:r>
          </a:p>
          <a:p>
            <a:pPr algn="l">
              <a:spcBef>
                <a:spcPts val="300"/>
              </a:spcBef>
            </a:pPr>
            <a:r>
              <a:rPr sz="1250" b="0">
                <a:solidFill>
                  <a:srgbClr val="333333"/>
                </a:solidFill>
                <a:latin typeface="Calibri"/>
              </a:rPr>
              <a:t>The headline set has no DHS in it; a country without a recent DHS can rebuild it.</a:t>
            </a:r>
          </a:p>
        </p:txBody>
      </p:sp>
      <p:sp>
        <p:nvSpPr>
          <p:cNvPr id="13" name="Rounded Rectangle 12"/>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vial_white.png"/>
          <p:cNvPicPr>
            <a:picLocks noChangeAspect="1"/>
          </p:cNvPicPr>
          <p:nvPr/>
        </p:nvPicPr>
        <p:blipFill>
          <a:blip r:embed="rId8"/>
          <a:stretch>
            <a:fillRect/>
          </a:stretch>
        </p:blipFill>
        <p:spPr>
          <a:xfrm>
            <a:off x="6510528" y="1810512"/>
            <a:ext cx="402336" cy="402336"/>
          </a:xfrm>
          <a:prstGeom prst="rect">
            <a:avLst/>
          </a:prstGeom>
        </p:spPr>
      </p:pic>
      <p:sp>
        <p:nvSpPr>
          <p:cNvPr id="16" name="TextBox 15"/>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Small data: the outcome</a:t>
            </a:r>
          </a:p>
        </p:txBody>
      </p:sp>
      <p:pic>
        <p:nvPicPr>
          <p:cNvPr id="17" name="Picture 16" descr="calendar_blue.png"/>
          <p:cNvPicPr>
            <a:picLocks noChangeAspect="1"/>
          </p:cNvPicPr>
          <p:nvPr/>
        </p:nvPicPr>
        <p:blipFill>
          <a:blip r:embed="rId9"/>
          <a:stretch>
            <a:fillRect/>
          </a:stretch>
        </p:blipFill>
        <p:spPr>
          <a:xfrm>
            <a:off x="6556248" y="2735580"/>
            <a:ext cx="440055" cy="502920"/>
          </a:xfrm>
          <a:prstGeom prst="rect">
            <a:avLst/>
          </a:prstGeom>
        </p:spPr>
      </p:pic>
      <p:sp>
        <p:nvSpPr>
          <p:cNvPr id="18" name="TextBox 17"/>
          <p:cNvSpPr txBox="1"/>
          <p:nvPr/>
        </p:nvSpPr>
        <p:spPr>
          <a:xfrm>
            <a:off x="7242048" y="242316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One biomarker survey per country per decade</a:t>
            </a:r>
          </a:p>
          <a:p>
            <a:pPr algn="l">
              <a:spcBef>
                <a:spcPts val="300"/>
              </a:spcBef>
            </a:pPr>
            <a:r>
              <a:rPr sz="1250" b="0">
                <a:solidFill>
                  <a:srgbClr val="333333"/>
                </a:solidFill>
                <a:latin typeface="Calibri"/>
              </a:rPr>
              <a:t>Four surveys, 24 country-outcome cells, 206 surveyed districts in all.</a:t>
            </a:r>
          </a:p>
        </p:txBody>
      </p:sp>
      <p:pic>
        <p:nvPicPr>
          <p:cNvPr id="19" name="Picture 18" descr="map_blue.png"/>
          <p:cNvPicPr>
            <a:picLocks noChangeAspect="1"/>
          </p:cNvPicPr>
          <p:nvPr/>
        </p:nvPicPr>
        <p:blipFill>
          <a:blip r:embed="rId10"/>
          <a:stretch>
            <a:fillRect/>
          </a:stretch>
        </p:blipFill>
        <p:spPr>
          <a:xfrm>
            <a:off x="6556248" y="3863340"/>
            <a:ext cx="565785" cy="502920"/>
          </a:xfrm>
          <a:prstGeom prst="rect">
            <a:avLst/>
          </a:prstGeom>
        </p:spPr>
      </p:pic>
      <p:sp>
        <p:nvSpPr>
          <p:cNvPr id="20" name="TextBox 19"/>
          <p:cNvSpPr txBox="1"/>
          <p:nvPr/>
        </p:nvSpPr>
        <p:spPr>
          <a:xfrm>
            <a:off x="7242048" y="355092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14 to 87 districts per country</a:t>
            </a:r>
          </a:p>
          <a:p>
            <a:pPr algn="l">
              <a:spcBef>
                <a:spcPts val="300"/>
              </a:spcBef>
            </a:pPr>
            <a:r>
              <a:rPr sz="1250" b="0">
                <a:solidFill>
                  <a:srgbClr val="333333"/>
                </a:solidFill>
                <a:latin typeface="Calibri"/>
              </a:rPr>
              <a:t>The effective sample size of every model; a tuned estimator shrinks to the constant, so the index tunes nothing.</a:t>
            </a:r>
          </a:p>
        </p:txBody>
      </p:sp>
      <p:pic>
        <p:nvPicPr>
          <p:cNvPr id="21" name="Picture 20" descr="shield-halved_blue.png"/>
          <p:cNvPicPr>
            <a:picLocks noChangeAspect="1"/>
          </p:cNvPicPr>
          <p:nvPr/>
        </p:nvPicPr>
        <p:blipFill>
          <a:blip r:embed="rId11"/>
          <a:stretch>
            <a:fillRect/>
          </a:stretch>
        </p:blipFill>
        <p:spPr>
          <a:xfrm>
            <a:off x="6556248" y="4991100"/>
            <a:ext cx="502920" cy="502920"/>
          </a:xfrm>
          <a:prstGeom prst="rect">
            <a:avLst/>
          </a:prstGeom>
        </p:spPr>
      </p:pic>
      <p:sp>
        <p:nvSpPr>
          <p:cNvPr id="22" name="TextBox 21"/>
          <p:cNvSpPr txBox="1"/>
          <p:nvPr/>
        </p:nvSpPr>
        <p:spPr>
          <a:xfrm>
            <a:off x="7242048" y="4678680"/>
            <a:ext cx="3977640" cy="1127760"/>
          </a:xfrm>
          <a:prstGeom prst="rect">
            <a:avLst/>
          </a:prstGeom>
          <a:noFill/>
        </p:spPr>
        <p:txBody>
          <a:bodyPr wrap="square" lIns="45720" tIns="27432" rIns="45720" bIns="27432" anchor="ctr">
            <a:spAutoFit/>
          </a:bodyPr>
          <a:lstStyle/>
          <a:p>
            <a:pPr algn="l"/>
            <a:r>
              <a:rPr sz="1600" b="1">
                <a:solidFill>
                  <a:srgbClr val="1F4E79"/>
                </a:solidFill>
                <a:latin typeface="Calibri"/>
              </a:rPr>
              <a:t>Honest folds and a reliability ceiling</a:t>
            </a:r>
          </a:p>
          <a:p>
            <a:pPr algn="l">
              <a:spcBef>
                <a:spcPts val="300"/>
              </a:spcBef>
            </a:pPr>
            <a:r>
              <a:rPr sz="1250" b="0">
                <a:solidFill>
                  <a:srgbClr val="333333"/>
                </a:solidFill>
                <a:latin typeface="Calibri"/>
              </a:rPr>
              <a:t>Folds cut by district, region and country; the survey's own district noise sets the ceiling any model can reach.</a:t>
            </a:r>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Surveys and outcomes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Four surveys, one protocol</a:t>
            </a:r>
          </a:p>
        </p:txBody>
      </p:sp>
      <p:sp>
        <p:nvSpPr>
          <p:cNvPr id="3" name="Rounded Rectangle 2"/>
          <p:cNvSpPr/>
          <p:nvPr/>
        </p:nvSpPr>
        <p:spPr>
          <a:xfrm>
            <a:off x="8412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lipboard-list_blue.png"/>
          <p:cNvPicPr>
            <a:picLocks noChangeAspect="1"/>
          </p:cNvPicPr>
          <p:nvPr/>
        </p:nvPicPr>
        <p:blipFill>
          <a:blip r:embed="rId4"/>
          <a:stretch>
            <a:fillRect/>
          </a:stretch>
        </p:blipFill>
        <p:spPr>
          <a:xfrm>
            <a:off x="1704213" y="1920240"/>
            <a:ext cx="548640" cy="731520"/>
          </a:xfrm>
          <a:prstGeom prst="rect">
            <a:avLst/>
          </a:prstGeom>
        </p:spPr>
      </p:pic>
      <p:sp>
        <p:nvSpPr>
          <p:cNvPr id="5" name="TextBox 4"/>
          <p:cNvSpPr txBox="1"/>
          <p:nvPr/>
        </p:nvSpPr>
        <p:spPr>
          <a:xfrm>
            <a:off x="932688" y="2788920"/>
            <a:ext cx="2274570" cy="457200"/>
          </a:xfrm>
          <a:prstGeom prst="rect">
            <a:avLst/>
          </a:prstGeom>
          <a:noFill/>
        </p:spPr>
        <p:txBody>
          <a:bodyPr wrap="square" lIns="45720" tIns="27432" rIns="45720" bIns="27432" anchor="t">
            <a:spAutoFit/>
          </a:bodyPr>
          <a:lstStyle/>
          <a:p>
            <a:pPr algn="ctr"/>
            <a:r>
              <a:rPr sz="1800" b="1">
                <a:solidFill>
                  <a:srgbClr val="1F4E79"/>
                </a:solidFill>
                <a:latin typeface="Calibri"/>
              </a:rPr>
              <a:t>The Gambia</a:t>
            </a:r>
          </a:p>
        </p:txBody>
      </p:sp>
      <p:sp>
        <p:nvSpPr>
          <p:cNvPr id="6" name="TextBox 5"/>
          <p:cNvSpPr txBox="1"/>
          <p:nvPr/>
        </p:nvSpPr>
        <p:spPr>
          <a:xfrm>
            <a:off x="978408" y="3337560"/>
            <a:ext cx="2183130" cy="2468880"/>
          </a:xfrm>
          <a:prstGeom prst="rect">
            <a:avLst/>
          </a:prstGeom>
          <a:noFill/>
        </p:spPr>
        <p:txBody>
          <a:bodyPr wrap="square" lIns="45720" tIns="27432" rIns="45720" bIns="27432" anchor="t">
            <a:spAutoFit/>
          </a:bodyPr>
          <a:lstStyle/>
          <a:p>
            <a:pPr algn="l">
              <a:spcAft>
                <a:spcPts val="400"/>
              </a:spcAft>
            </a:pPr>
            <a:r>
              <a:rPr sz="1400" b="1" dirty="0">
                <a:solidFill>
                  <a:srgbClr val="1F4E79"/>
                </a:solidFill>
                <a:latin typeface="Calibri"/>
              </a:rPr>
              <a:t>Survey:</a:t>
            </a:r>
            <a:r>
              <a:rPr sz="1400" dirty="0">
                <a:solidFill>
                  <a:srgbClr val="333333"/>
                </a:solidFill>
                <a:latin typeface="Calibri"/>
              </a:rPr>
              <a:t> Gambia Micronutrient Survey 2018 (GMNS)</a:t>
            </a:r>
          </a:p>
          <a:p>
            <a:pPr algn="l">
              <a:spcBef>
                <a:spcPts val="300"/>
              </a:spcBef>
              <a:spcAft>
                <a:spcPts val="400"/>
              </a:spcAft>
            </a:pPr>
            <a:r>
              <a:rPr sz="1400" b="1" dirty="0">
                <a:solidFill>
                  <a:srgbClr val="1F4E79"/>
                </a:solidFill>
                <a:latin typeface="Calibri"/>
              </a:rPr>
              <a:t>Fieldwork:</a:t>
            </a:r>
            <a:r>
              <a:rPr sz="1400" dirty="0">
                <a:solidFill>
                  <a:srgbClr val="333333"/>
                </a:solidFill>
                <a:latin typeface="Calibri"/>
              </a:rPr>
              <a:t> Jan 2018 to Apr 2018</a:t>
            </a:r>
          </a:p>
          <a:p>
            <a:pPr algn="l">
              <a:spcBef>
                <a:spcPts val="300"/>
              </a:spcBef>
              <a:spcAft>
                <a:spcPts val="400"/>
              </a:spcAft>
            </a:pPr>
            <a:r>
              <a:rPr sz="1400" b="1" dirty="0">
                <a:solidFill>
                  <a:srgbClr val="1F4E79"/>
                </a:solidFill>
                <a:latin typeface="Calibri"/>
              </a:rPr>
              <a:t>Districts:</a:t>
            </a:r>
            <a:r>
              <a:rPr sz="1400" dirty="0">
                <a:solidFill>
                  <a:srgbClr val="333333"/>
                </a:solidFill>
                <a:latin typeface="Calibri"/>
              </a:rPr>
              <a:t> 30; clusters: 70</a:t>
            </a:r>
          </a:p>
          <a:p>
            <a:pPr algn="l">
              <a:spcBef>
                <a:spcPts val="300"/>
              </a:spcBef>
              <a:spcAft>
                <a:spcPts val="400"/>
              </a:spcAft>
            </a:pPr>
            <a:r>
              <a:rPr sz="1400" b="1" dirty="0">
                <a:solidFill>
                  <a:srgbClr val="1F4E79"/>
                </a:solidFill>
                <a:latin typeface="Calibri"/>
              </a:rPr>
              <a:t>Outcomes:</a:t>
            </a:r>
            <a:r>
              <a:rPr sz="1400" dirty="0">
                <a:solidFill>
                  <a:srgbClr val="333333"/>
                </a:solidFill>
                <a:latin typeface="Calibri"/>
              </a:rPr>
              <a:t> vitamin A, iron</a:t>
            </a:r>
          </a:p>
        </p:txBody>
      </p:sp>
      <p:sp>
        <p:nvSpPr>
          <p:cNvPr id="7" name="Rounded Rectangle 6"/>
          <p:cNvSpPr/>
          <p:nvPr/>
        </p:nvSpPr>
        <p:spPr>
          <a:xfrm>
            <a:off x="35272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lipboard-list_blue.png"/>
          <p:cNvPicPr>
            <a:picLocks noChangeAspect="1"/>
          </p:cNvPicPr>
          <p:nvPr/>
        </p:nvPicPr>
        <p:blipFill>
          <a:blip r:embed="rId4"/>
          <a:stretch>
            <a:fillRect/>
          </a:stretch>
        </p:blipFill>
        <p:spPr>
          <a:xfrm>
            <a:off x="4390263" y="1920240"/>
            <a:ext cx="548640" cy="731520"/>
          </a:xfrm>
          <a:prstGeom prst="rect">
            <a:avLst/>
          </a:prstGeom>
        </p:spPr>
      </p:pic>
      <p:sp>
        <p:nvSpPr>
          <p:cNvPr id="9" name="TextBox 8"/>
          <p:cNvSpPr txBox="1"/>
          <p:nvPr/>
        </p:nvSpPr>
        <p:spPr>
          <a:xfrm>
            <a:off x="3618738" y="2788920"/>
            <a:ext cx="2274570" cy="457200"/>
          </a:xfrm>
          <a:prstGeom prst="rect">
            <a:avLst/>
          </a:prstGeom>
          <a:noFill/>
        </p:spPr>
        <p:txBody>
          <a:bodyPr wrap="square" lIns="45720" tIns="27432" rIns="45720" bIns="27432" anchor="t">
            <a:spAutoFit/>
          </a:bodyPr>
          <a:lstStyle/>
          <a:p>
            <a:pPr algn="ctr"/>
            <a:r>
              <a:rPr sz="1800" b="1">
                <a:solidFill>
                  <a:srgbClr val="1F4E79"/>
                </a:solidFill>
                <a:latin typeface="Calibri"/>
              </a:rPr>
              <a:t>Ghana</a:t>
            </a:r>
          </a:p>
        </p:txBody>
      </p:sp>
      <p:sp>
        <p:nvSpPr>
          <p:cNvPr id="10" name="TextBox 9"/>
          <p:cNvSpPr txBox="1"/>
          <p:nvPr/>
        </p:nvSpPr>
        <p:spPr>
          <a:xfrm>
            <a:off x="3664458" y="3337560"/>
            <a:ext cx="2183130" cy="2468880"/>
          </a:xfrm>
          <a:prstGeom prst="rect">
            <a:avLst/>
          </a:prstGeom>
          <a:noFill/>
        </p:spPr>
        <p:txBody>
          <a:bodyPr wrap="square" lIns="45720" tIns="27432" rIns="45720" bIns="27432" anchor="t">
            <a:spAutoFit/>
          </a:bodyPr>
          <a:lstStyle/>
          <a:p>
            <a:pPr algn="l">
              <a:spcAft>
                <a:spcPts val="400"/>
              </a:spcAft>
            </a:pPr>
            <a:r>
              <a:rPr sz="1400" b="1">
                <a:solidFill>
                  <a:srgbClr val="1F4E79"/>
                </a:solidFill>
                <a:latin typeface="Calibri"/>
              </a:rPr>
              <a:t>Survey:</a:t>
            </a:r>
            <a:r>
              <a:rPr sz="1400">
                <a:solidFill>
                  <a:srgbClr val="333333"/>
                </a:solidFill>
                <a:latin typeface="Calibri"/>
              </a:rPr>
              <a:t> Ghana Micronutrient Survey 2017 (GMS)</a:t>
            </a:r>
          </a:p>
          <a:p>
            <a:pPr algn="l">
              <a:spcBef>
                <a:spcPts val="300"/>
              </a:spcBef>
              <a:spcAft>
                <a:spcPts val="400"/>
              </a:spcAft>
            </a:pPr>
            <a:r>
              <a:rPr sz="1400" b="1">
                <a:solidFill>
                  <a:srgbClr val="1F4E79"/>
                </a:solidFill>
                <a:latin typeface="Calibri"/>
              </a:rPr>
              <a:t>Fieldwork:</a:t>
            </a:r>
            <a:r>
              <a:rPr sz="1400">
                <a:solidFill>
                  <a:srgbClr val="333333"/>
                </a:solidFill>
                <a:latin typeface="Calibri"/>
              </a:rPr>
              <a:t> Apr 2017 to Jun 2017</a:t>
            </a:r>
          </a:p>
          <a:p>
            <a:pPr algn="l">
              <a:spcBef>
                <a:spcPts val="300"/>
              </a:spcBef>
              <a:spcAft>
                <a:spcPts val="400"/>
              </a:spcAft>
            </a:pPr>
            <a:r>
              <a:rPr sz="1400" b="1">
                <a:solidFill>
                  <a:srgbClr val="1F4E79"/>
                </a:solidFill>
                <a:latin typeface="Calibri"/>
              </a:rPr>
              <a:t>Districts:</a:t>
            </a:r>
            <a:r>
              <a:rPr sz="1400">
                <a:solidFill>
                  <a:srgbClr val="333333"/>
                </a:solidFill>
                <a:latin typeface="Calibri"/>
              </a:rPr>
              <a:t> 75; clusters: 90</a:t>
            </a:r>
          </a:p>
          <a:p>
            <a:pPr algn="l">
              <a:spcBef>
                <a:spcPts val="300"/>
              </a:spcBef>
              <a:spcAft>
                <a:spcPts val="400"/>
              </a:spcAft>
            </a:pPr>
            <a:r>
              <a:rPr sz="1400" b="1">
                <a:solidFill>
                  <a:srgbClr val="1F4E79"/>
                </a:solidFill>
                <a:latin typeface="Calibri"/>
              </a:rPr>
              <a:t>Outcomes:</a:t>
            </a:r>
            <a:r>
              <a:rPr sz="1400">
                <a:solidFill>
                  <a:srgbClr val="333333"/>
                </a:solidFill>
                <a:latin typeface="Calibri"/>
              </a:rPr>
              <a:t> vitamin A, iron, folate, b12</a:t>
            </a:r>
          </a:p>
        </p:txBody>
      </p:sp>
      <p:sp>
        <p:nvSpPr>
          <p:cNvPr id="11" name="Rounded Rectangle 10"/>
          <p:cNvSpPr/>
          <p:nvPr/>
        </p:nvSpPr>
        <p:spPr>
          <a:xfrm>
            <a:off x="62133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lipboard-list_blue.png"/>
          <p:cNvPicPr>
            <a:picLocks noChangeAspect="1"/>
          </p:cNvPicPr>
          <p:nvPr/>
        </p:nvPicPr>
        <p:blipFill>
          <a:blip r:embed="rId4"/>
          <a:stretch>
            <a:fillRect/>
          </a:stretch>
        </p:blipFill>
        <p:spPr>
          <a:xfrm>
            <a:off x="7076313" y="1920240"/>
            <a:ext cx="548640" cy="731520"/>
          </a:xfrm>
          <a:prstGeom prst="rect">
            <a:avLst/>
          </a:prstGeom>
        </p:spPr>
      </p:pic>
      <p:sp>
        <p:nvSpPr>
          <p:cNvPr id="13" name="TextBox 12"/>
          <p:cNvSpPr txBox="1"/>
          <p:nvPr/>
        </p:nvSpPr>
        <p:spPr>
          <a:xfrm>
            <a:off x="6304788" y="2788920"/>
            <a:ext cx="2274570" cy="457200"/>
          </a:xfrm>
          <a:prstGeom prst="rect">
            <a:avLst/>
          </a:prstGeom>
          <a:noFill/>
        </p:spPr>
        <p:txBody>
          <a:bodyPr wrap="square" lIns="45720" tIns="27432" rIns="45720" bIns="27432" anchor="t">
            <a:spAutoFit/>
          </a:bodyPr>
          <a:lstStyle/>
          <a:p>
            <a:pPr algn="ctr"/>
            <a:r>
              <a:rPr sz="1800" b="1">
                <a:solidFill>
                  <a:srgbClr val="1F4E79"/>
                </a:solidFill>
                <a:latin typeface="Calibri"/>
              </a:rPr>
              <a:t>Malawi</a:t>
            </a:r>
          </a:p>
        </p:txBody>
      </p:sp>
      <p:sp>
        <p:nvSpPr>
          <p:cNvPr id="14" name="TextBox 13"/>
          <p:cNvSpPr txBox="1"/>
          <p:nvPr/>
        </p:nvSpPr>
        <p:spPr>
          <a:xfrm>
            <a:off x="6350508" y="3337560"/>
            <a:ext cx="2183130" cy="2468880"/>
          </a:xfrm>
          <a:prstGeom prst="rect">
            <a:avLst/>
          </a:prstGeom>
          <a:noFill/>
        </p:spPr>
        <p:txBody>
          <a:bodyPr wrap="square" lIns="45720" tIns="27432" rIns="45720" bIns="27432" anchor="t">
            <a:spAutoFit/>
          </a:bodyPr>
          <a:lstStyle/>
          <a:p>
            <a:pPr algn="l">
              <a:spcAft>
                <a:spcPts val="400"/>
              </a:spcAft>
            </a:pPr>
            <a:r>
              <a:rPr sz="1400" b="1">
                <a:solidFill>
                  <a:srgbClr val="1F4E79"/>
                </a:solidFill>
                <a:latin typeface="Calibri"/>
              </a:rPr>
              <a:t>Survey:</a:t>
            </a:r>
            <a:r>
              <a:rPr sz="1400">
                <a:solidFill>
                  <a:srgbClr val="333333"/>
                </a:solidFill>
                <a:latin typeface="Calibri"/>
              </a:rPr>
              <a:t> Malawi Micronutrient Survey 2015-16 (MNS)</a:t>
            </a:r>
          </a:p>
          <a:p>
            <a:pPr algn="l">
              <a:spcBef>
                <a:spcPts val="300"/>
              </a:spcBef>
              <a:spcAft>
                <a:spcPts val="400"/>
              </a:spcAft>
            </a:pPr>
            <a:r>
              <a:rPr sz="1400" b="1">
                <a:solidFill>
                  <a:srgbClr val="1F4E79"/>
                </a:solidFill>
                <a:latin typeface="Calibri"/>
              </a:rPr>
              <a:t>Fieldwork:</a:t>
            </a:r>
            <a:r>
              <a:rPr sz="1400">
                <a:solidFill>
                  <a:srgbClr val="333333"/>
                </a:solidFill>
                <a:latin typeface="Calibri"/>
              </a:rPr>
              <a:t> Dec 2015 to Feb 2016</a:t>
            </a:r>
          </a:p>
          <a:p>
            <a:pPr algn="l">
              <a:spcBef>
                <a:spcPts val="300"/>
              </a:spcBef>
              <a:spcAft>
                <a:spcPts val="400"/>
              </a:spcAft>
            </a:pPr>
            <a:r>
              <a:rPr sz="1400" b="1">
                <a:solidFill>
                  <a:srgbClr val="1F4E79"/>
                </a:solidFill>
                <a:latin typeface="Calibri"/>
              </a:rPr>
              <a:t>Districts:</a:t>
            </a:r>
            <a:r>
              <a:rPr sz="1400">
                <a:solidFill>
                  <a:srgbClr val="333333"/>
                </a:solidFill>
                <a:latin typeface="Calibri"/>
              </a:rPr>
              <a:t> 87; clusters: 103</a:t>
            </a:r>
          </a:p>
          <a:p>
            <a:pPr algn="l">
              <a:spcBef>
                <a:spcPts val="300"/>
              </a:spcBef>
              <a:spcAft>
                <a:spcPts val="400"/>
              </a:spcAft>
            </a:pPr>
            <a:r>
              <a:rPr sz="1400" b="1">
                <a:solidFill>
                  <a:srgbClr val="1F4E79"/>
                </a:solidFill>
                <a:latin typeface="Calibri"/>
              </a:rPr>
              <a:t>Outcomes:</a:t>
            </a:r>
            <a:r>
              <a:rPr sz="1400">
                <a:solidFill>
                  <a:srgbClr val="333333"/>
                </a:solidFill>
                <a:latin typeface="Calibri"/>
              </a:rPr>
              <a:t> vitamin A, iron, folate, b12, zinc</a:t>
            </a:r>
          </a:p>
        </p:txBody>
      </p:sp>
      <p:sp>
        <p:nvSpPr>
          <p:cNvPr id="15" name="Rounded Rectangle 14"/>
          <p:cNvSpPr/>
          <p:nvPr/>
        </p:nvSpPr>
        <p:spPr>
          <a:xfrm>
            <a:off x="88993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clipboard-list_blue.png"/>
          <p:cNvPicPr>
            <a:picLocks noChangeAspect="1"/>
          </p:cNvPicPr>
          <p:nvPr/>
        </p:nvPicPr>
        <p:blipFill>
          <a:blip r:embed="rId4"/>
          <a:stretch>
            <a:fillRect/>
          </a:stretch>
        </p:blipFill>
        <p:spPr>
          <a:xfrm>
            <a:off x="9762363" y="1920240"/>
            <a:ext cx="548640" cy="731520"/>
          </a:xfrm>
          <a:prstGeom prst="rect">
            <a:avLst/>
          </a:prstGeom>
        </p:spPr>
      </p:pic>
      <p:sp>
        <p:nvSpPr>
          <p:cNvPr id="17" name="TextBox 16"/>
          <p:cNvSpPr txBox="1"/>
          <p:nvPr/>
        </p:nvSpPr>
        <p:spPr>
          <a:xfrm>
            <a:off x="8990838" y="2788920"/>
            <a:ext cx="2274570" cy="457200"/>
          </a:xfrm>
          <a:prstGeom prst="rect">
            <a:avLst/>
          </a:prstGeom>
          <a:noFill/>
        </p:spPr>
        <p:txBody>
          <a:bodyPr wrap="square" lIns="45720" tIns="27432" rIns="45720" bIns="27432" anchor="t">
            <a:spAutoFit/>
          </a:bodyPr>
          <a:lstStyle/>
          <a:p>
            <a:pPr algn="ctr"/>
            <a:r>
              <a:rPr sz="1800" b="1">
                <a:solidFill>
                  <a:srgbClr val="1F4E79"/>
                </a:solidFill>
                <a:latin typeface="Calibri"/>
              </a:rPr>
              <a:t>Sierra Leone</a:t>
            </a:r>
          </a:p>
        </p:txBody>
      </p:sp>
      <p:sp>
        <p:nvSpPr>
          <p:cNvPr id="18" name="TextBox 17"/>
          <p:cNvSpPr txBox="1"/>
          <p:nvPr/>
        </p:nvSpPr>
        <p:spPr>
          <a:xfrm>
            <a:off x="9036558" y="3337560"/>
            <a:ext cx="2183130" cy="2468880"/>
          </a:xfrm>
          <a:prstGeom prst="rect">
            <a:avLst/>
          </a:prstGeom>
          <a:noFill/>
        </p:spPr>
        <p:txBody>
          <a:bodyPr wrap="square" lIns="45720" tIns="27432" rIns="45720" bIns="27432" anchor="t">
            <a:spAutoFit/>
          </a:bodyPr>
          <a:lstStyle/>
          <a:p>
            <a:pPr algn="l">
              <a:spcAft>
                <a:spcPts val="400"/>
              </a:spcAft>
            </a:pPr>
            <a:r>
              <a:rPr sz="1400" b="1">
                <a:solidFill>
                  <a:srgbClr val="1F4E79"/>
                </a:solidFill>
                <a:latin typeface="Calibri"/>
              </a:rPr>
              <a:t>Survey:</a:t>
            </a:r>
            <a:r>
              <a:rPr sz="1400">
                <a:solidFill>
                  <a:srgbClr val="333333"/>
                </a:solidFill>
                <a:latin typeface="Calibri"/>
              </a:rPr>
              <a:t> Sierra Leone Micronutrient Survey 2013 (SLMS)</a:t>
            </a:r>
          </a:p>
          <a:p>
            <a:pPr algn="l">
              <a:spcBef>
                <a:spcPts val="300"/>
              </a:spcBef>
              <a:spcAft>
                <a:spcPts val="400"/>
              </a:spcAft>
            </a:pPr>
            <a:r>
              <a:rPr sz="1400" b="1">
                <a:solidFill>
                  <a:srgbClr val="1F4E79"/>
                </a:solidFill>
                <a:latin typeface="Calibri"/>
              </a:rPr>
              <a:t>Fieldwork:</a:t>
            </a:r>
            <a:r>
              <a:rPr sz="1400">
                <a:solidFill>
                  <a:srgbClr val="333333"/>
                </a:solidFill>
                <a:latin typeface="Calibri"/>
              </a:rPr>
              <a:t> Oct 2013 to Dec 2013</a:t>
            </a:r>
          </a:p>
          <a:p>
            <a:pPr algn="l">
              <a:spcBef>
                <a:spcPts val="300"/>
              </a:spcBef>
              <a:spcAft>
                <a:spcPts val="400"/>
              </a:spcAft>
            </a:pPr>
            <a:r>
              <a:rPr sz="1400" b="1">
                <a:solidFill>
                  <a:srgbClr val="1F4E79"/>
                </a:solidFill>
                <a:latin typeface="Calibri"/>
              </a:rPr>
              <a:t>Districts:</a:t>
            </a:r>
            <a:r>
              <a:rPr sz="1400">
                <a:solidFill>
                  <a:srgbClr val="333333"/>
                </a:solidFill>
                <a:latin typeface="Calibri"/>
              </a:rPr>
              <a:t> 14; clusters: 60</a:t>
            </a:r>
          </a:p>
          <a:p>
            <a:pPr algn="l">
              <a:spcBef>
                <a:spcPts val="300"/>
              </a:spcBef>
              <a:spcAft>
                <a:spcPts val="400"/>
              </a:spcAft>
            </a:pPr>
            <a:r>
              <a:rPr sz="1400" b="1">
                <a:solidFill>
                  <a:srgbClr val="1F4E79"/>
                </a:solidFill>
                <a:latin typeface="Calibri"/>
              </a:rPr>
              <a:t>Outcomes:</a:t>
            </a:r>
            <a:r>
              <a:rPr sz="1400">
                <a:solidFill>
                  <a:srgbClr val="333333"/>
                </a:solidFill>
                <a:latin typeface="Calibri"/>
              </a:rPr>
              <a:t> vitamin A, iron, folate, b12</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Five deficiencies, one definition each</a:t>
            </a:r>
          </a:p>
        </p:txBody>
      </p:sp>
      <p:sp>
        <p:nvSpPr>
          <p:cNvPr id="3" name="Rounded Rectangle 2"/>
          <p:cNvSpPr/>
          <p:nvPr/>
        </p:nvSpPr>
        <p:spPr>
          <a:xfrm>
            <a:off x="84124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droplet_blue.png"/>
          <p:cNvPicPr>
            <a:picLocks noChangeAspect="1"/>
          </p:cNvPicPr>
          <p:nvPr/>
        </p:nvPicPr>
        <p:blipFill>
          <a:blip r:embed="rId4"/>
          <a:stretch>
            <a:fillRect/>
          </a:stretch>
        </p:blipFill>
        <p:spPr>
          <a:xfrm>
            <a:off x="1458468" y="1920240"/>
            <a:ext cx="514350" cy="685800"/>
          </a:xfrm>
          <a:prstGeom prst="rect">
            <a:avLst/>
          </a:prstGeom>
        </p:spPr>
      </p:pic>
      <p:sp>
        <p:nvSpPr>
          <p:cNvPr id="5" name="TextBox 4"/>
          <p:cNvSpPr txBox="1"/>
          <p:nvPr/>
        </p:nvSpPr>
        <p:spPr>
          <a:xfrm>
            <a:off x="93268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Iron</a:t>
            </a:r>
          </a:p>
        </p:txBody>
      </p:sp>
      <p:sp>
        <p:nvSpPr>
          <p:cNvPr id="6" name="TextBox 5"/>
          <p:cNvSpPr txBox="1"/>
          <p:nvPr/>
        </p:nvSpPr>
        <p:spPr>
          <a:xfrm>
            <a:off x="978408" y="3291840"/>
            <a:ext cx="1645920" cy="2514600"/>
          </a:xfrm>
          <a:prstGeom prst="rect">
            <a:avLst/>
          </a:prstGeom>
          <a:noFill/>
        </p:spPr>
        <p:txBody>
          <a:bodyPr wrap="square" lIns="45720" tIns="27432" rIns="45720" bIns="27432" anchor="t">
            <a:spAutoFit/>
          </a:bodyPr>
          <a:lstStyle/>
          <a:p>
            <a:pPr algn="l">
              <a:spcAft>
                <a:spcPts val="400"/>
              </a:spcAft>
            </a:pPr>
            <a:r>
              <a:rPr sz="1300" b="1" dirty="0">
                <a:solidFill>
                  <a:srgbClr val="1F4E79"/>
                </a:solidFill>
                <a:latin typeface="Calibri"/>
              </a:rPr>
              <a:t>Who:</a:t>
            </a:r>
            <a:r>
              <a:rPr sz="1300" dirty="0">
                <a:solidFill>
                  <a:srgbClr val="333333"/>
                </a:solidFill>
                <a:latin typeface="Calibri"/>
              </a:rPr>
              <a:t> children 6-59 </a:t>
            </a:r>
            <a:r>
              <a:rPr sz="1300" dirty="0" err="1">
                <a:solidFill>
                  <a:srgbClr val="333333"/>
                </a:solidFill>
                <a:latin typeface="Calibri"/>
              </a:rPr>
              <a:t>mo</a:t>
            </a:r>
            <a:r>
              <a:rPr sz="1300" dirty="0">
                <a:solidFill>
                  <a:srgbClr val="333333"/>
                </a:solidFill>
                <a:latin typeface="Calibri"/>
              </a:rPr>
              <a:t>; non-pregnant women 15-49 y</a:t>
            </a:r>
          </a:p>
          <a:p>
            <a:pPr algn="l">
              <a:spcBef>
                <a:spcPts val="300"/>
              </a:spcBef>
              <a:spcAft>
                <a:spcPts val="400"/>
              </a:spcAft>
            </a:pPr>
            <a:r>
              <a:rPr sz="1300" b="1" dirty="0">
                <a:solidFill>
                  <a:srgbClr val="1F4E79"/>
                </a:solidFill>
                <a:latin typeface="Calibri"/>
              </a:rPr>
              <a:t>Where:</a:t>
            </a:r>
            <a:r>
              <a:rPr sz="1300" dirty="0">
                <a:solidFill>
                  <a:srgbClr val="333333"/>
                </a:solidFill>
                <a:latin typeface="Calibri"/>
              </a:rPr>
              <a:t> all four countries</a:t>
            </a:r>
          </a:p>
          <a:p>
            <a:pPr algn="l">
              <a:spcBef>
                <a:spcPts val="300"/>
              </a:spcBef>
              <a:spcAft>
                <a:spcPts val="400"/>
              </a:spcAft>
            </a:pPr>
            <a:r>
              <a:rPr sz="1300" b="1" dirty="0">
                <a:solidFill>
                  <a:srgbClr val="1F4E79"/>
                </a:solidFill>
                <a:latin typeface="Calibri"/>
              </a:rPr>
              <a:t>Biomarker:</a:t>
            </a:r>
            <a:r>
              <a:rPr sz="1300" dirty="0">
                <a:solidFill>
                  <a:srgbClr val="333333"/>
                </a:solidFill>
                <a:latin typeface="Calibri"/>
              </a:rPr>
              <a:t> ferritin, inflammation-adjusted (survey flag; not IDA)</a:t>
            </a:r>
          </a:p>
          <a:p>
            <a:pPr algn="l">
              <a:spcBef>
                <a:spcPts val="300"/>
              </a:spcBef>
              <a:spcAft>
                <a:spcPts val="400"/>
              </a:spcAft>
            </a:pPr>
            <a:r>
              <a:rPr sz="1300" b="1" dirty="0">
                <a:solidFill>
                  <a:srgbClr val="1F4E79"/>
                </a:solidFill>
                <a:latin typeface="Calibri"/>
              </a:rPr>
              <a:t>Cut-off:</a:t>
            </a:r>
            <a:r>
              <a:rPr sz="1300" dirty="0">
                <a:solidFill>
                  <a:srgbClr val="333333"/>
                </a:solidFill>
                <a:latin typeface="Calibri"/>
              </a:rPr>
              <a:t> &lt; 12 / &lt; 15 ug/L</a:t>
            </a:r>
          </a:p>
        </p:txBody>
      </p:sp>
      <p:sp>
        <p:nvSpPr>
          <p:cNvPr id="7" name="Rounded Rectangle 6"/>
          <p:cNvSpPr/>
          <p:nvPr/>
        </p:nvSpPr>
        <p:spPr>
          <a:xfrm>
            <a:off x="299008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arrot_blue.png"/>
          <p:cNvPicPr>
            <a:picLocks noChangeAspect="1"/>
          </p:cNvPicPr>
          <p:nvPr/>
        </p:nvPicPr>
        <p:blipFill>
          <a:blip r:embed="rId5"/>
          <a:stretch>
            <a:fillRect/>
          </a:stretch>
        </p:blipFill>
        <p:spPr>
          <a:xfrm>
            <a:off x="3607308" y="1920240"/>
            <a:ext cx="685800" cy="685800"/>
          </a:xfrm>
          <a:prstGeom prst="rect">
            <a:avLst/>
          </a:prstGeom>
        </p:spPr>
      </p:pic>
      <p:sp>
        <p:nvSpPr>
          <p:cNvPr id="9" name="TextBox 8"/>
          <p:cNvSpPr txBox="1"/>
          <p:nvPr/>
        </p:nvSpPr>
        <p:spPr>
          <a:xfrm>
            <a:off x="308152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Vitamin A</a:t>
            </a:r>
          </a:p>
        </p:txBody>
      </p:sp>
      <p:sp>
        <p:nvSpPr>
          <p:cNvPr id="10" name="TextBox 9"/>
          <p:cNvSpPr txBox="1"/>
          <p:nvPr/>
        </p:nvSpPr>
        <p:spPr>
          <a:xfrm>
            <a:off x="312724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children 6-59 mo; non-pregnant women 15-49 y</a:t>
            </a:r>
          </a:p>
          <a:p>
            <a:pPr algn="l">
              <a:spcBef>
                <a:spcPts val="300"/>
              </a:spcBef>
              <a:spcAft>
                <a:spcPts val="400"/>
              </a:spcAft>
            </a:pPr>
            <a:r>
              <a:rPr sz="1300" b="1">
                <a:solidFill>
                  <a:srgbClr val="1F4E79"/>
                </a:solidFill>
                <a:latin typeface="Calibri"/>
              </a:rPr>
              <a:t>Where:</a:t>
            </a:r>
            <a:r>
              <a:rPr sz="1300">
                <a:solidFill>
                  <a:srgbClr val="333333"/>
                </a:solidFill>
                <a:latin typeface="Calibri"/>
              </a:rPr>
              <a:t> all four countries</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retinol-binding protein, one BRINDA adjustment for all</a:t>
            </a:r>
          </a:p>
          <a:p>
            <a:pPr algn="l">
              <a:spcBef>
                <a:spcPts val="300"/>
              </a:spcBef>
              <a:spcAft>
                <a:spcPts val="400"/>
              </a:spcAft>
            </a:pPr>
            <a:r>
              <a:rPr sz="1300" b="1">
                <a:solidFill>
                  <a:srgbClr val="1F4E79"/>
                </a:solidFill>
                <a:latin typeface="Calibri"/>
              </a:rPr>
              <a:t>Cut-off:</a:t>
            </a:r>
            <a:r>
              <a:rPr sz="1300">
                <a:solidFill>
                  <a:srgbClr val="333333"/>
                </a:solidFill>
                <a:latin typeface="Calibri"/>
              </a:rPr>
              <a:t> &lt; 0.70 umol/L RBP</a:t>
            </a:r>
          </a:p>
        </p:txBody>
      </p:sp>
      <p:sp>
        <p:nvSpPr>
          <p:cNvPr id="11" name="Rounded Rectangle 10"/>
          <p:cNvSpPr/>
          <p:nvPr/>
        </p:nvSpPr>
        <p:spPr>
          <a:xfrm>
            <a:off x="513892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leaf_blue.png"/>
          <p:cNvPicPr>
            <a:picLocks noChangeAspect="1"/>
          </p:cNvPicPr>
          <p:nvPr/>
        </p:nvPicPr>
        <p:blipFill>
          <a:blip r:embed="rId6"/>
          <a:stretch>
            <a:fillRect/>
          </a:stretch>
        </p:blipFill>
        <p:spPr>
          <a:xfrm>
            <a:off x="5756148" y="1920240"/>
            <a:ext cx="685800" cy="685800"/>
          </a:xfrm>
          <a:prstGeom prst="rect">
            <a:avLst/>
          </a:prstGeom>
        </p:spPr>
      </p:pic>
      <p:sp>
        <p:nvSpPr>
          <p:cNvPr id="13" name="TextBox 12"/>
          <p:cNvSpPr txBox="1"/>
          <p:nvPr/>
        </p:nvSpPr>
        <p:spPr>
          <a:xfrm>
            <a:off x="523036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Folate</a:t>
            </a:r>
          </a:p>
        </p:txBody>
      </p:sp>
      <p:sp>
        <p:nvSpPr>
          <p:cNvPr id="14" name="TextBox 13"/>
          <p:cNvSpPr txBox="1"/>
          <p:nvPr/>
        </p:nvSpPr>
        <p:spPr>
          <a:xfrm>
            <a:off x="5276088" y="3291840"/>
            <a:ext cx="1645920" cy="2514600"/>
          </a:xfrm>
          <a:prstGeom prst="rect">
            <a:avLst/>
          </a:prstGeom>
          <a:noFill/>
        </p:spPr>
        <p:txBody>
          <a:bodyPr wrap="square" lIns="45720" tIns="27432" rIns="45720" bIns="27432" anchor="t">
            <a:spAutoFit/>
          </a:bodyPr>
          <a:lstStyle/>
          <a:p>
            <a:pPr algn="l">
              <a:spcAft>
                <a:spcPts val="400"/>
              </a:spcAft>
            </a:pPr>
            <a:r>
              <a:rPr sz="1300" b="1" dirty="0">
                <a:solidFill>
                  <a:srgbClr val="1F4E79"/>
                </a:solidFill>
                <a:latin typeface="Calibri"/>
              </a:rPr>
              <a:t>Who:</a:t>
            </a:r>
            <a:r>
              <a:rPr sz="1300" dirty="0">
                <a:solidFill>
                  <a:srgbClr val="333333"/>
                </a:solidFill>
                <a:latin typeface="Calibri"/>
              </a:rPr>
              <a:t> non-pregnant women 15-49 y</a:t>
            </a:r>
          </a:p>
          <a:p>
            <a:pPr algn="l">
              <a:spcBef>
                <a:spcPts val="300"/>
              </a:spcBef>
              <a:spcAft>
                <a:spcPts val="400"/>
              </a:spcAft>
            </a:pPr>
            <a:r>
              <a:rPr sz="1300" b="1" dirty="0">
                <a:solidFill>
                  <a:srgbClr val="1F4E79"/>
                </a:solidFill>
                <a:latin typeface="Calibri"/>
              </a:rPr>
              <a:t>Where:</a:t>
            </a:r>
            <a:r>
              <a:rPr sz="1300" dirty="0">
                <a:solidFill>
                  <a:srgbClr val="333333"/>
                </a:solidFill>
                <a:latin typeface="Calibri"/>
              </a:rPr>
              <a:t> Ghana, Sierra Leone, Malawi</a:t>
            </a:r>
          </a:p>
          <a:p>
            <a:pPr algn="l">
              <a:spcBef>
                <a:spcPts val="300"/>
              </a:spcBef>
              <a:spcAft>
                <a:spcPts val="400"/>
              </a:spcAft>
            </a:pPr>
            <a:r>
              <a:rPr sz="1300" b="1" dirty="0">
                <a:solidFill>
                  <a:srgbClr val="1F4E79"/>
                </a:solidFill>
                <a:latin typeface="Calibri"/>
              </a:rPr>
              <a:t>Biomarker:</a:t>
            </a:r>
            <a:r>
              <a:rPr sz="1300" dirty="0">
                <a:solidFill>
                  <a:srgbClr val="333333"/>
                </a:solidFill>
                <a:latin typeface="Calibri"/>
              </a:rPr>
              <a:t> serum folate (immunoassay GH, SL; microbiologic MW)</a:t>
            </a:r>
          </a:p>
          <a:p>
            <a:pPr algn="l">
              <a:spcBef>
                <a:spcPts val="300"/>
              </a:spcBef>
              <a:spcAft>
                <a:spcPts val="400"/>
              </a:spcAft>
            </a:pPr>
            <a:r>
              <a:rPr sz="1300" b="1" dirty="0">
                <a:solidFill>
                  <a:srgbClr val="1F4E79"/>
                </a:solidFill>
                <a:latin typeface="Calibri"/>
              </a:rPr>
              <a:t>Cut-off:</a:t>
            </a:r>
            <a:r>
              <a:rPr sz="1300" dirty="0">
                <a:solidFill>
                  <a:srgbClr val="333333"/>
                </a:solidFill>
                <a:latin typeface="Calibri"/>
              </a:rPr>
              <a:t> &lt; 10 nmol/L</a:t>
            </a:r>
          </a:p>
        </p:txBody>
      </p:sp>
      <p:sp>
        <p:nvSpPr>
          <p:cNvPr id="15" name="Rounded Rectangle 14"/>
          <p:cNvSpPr/>
          <p:nvPr/>
        </p:nvSpPr>
        <p:spPr>
          <a:xfrm>
            <a:off x="728776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egg_blue.png"/>
          <p:cNvPicPr>
            <a:picLocks noChangeAspect="1"/>
          </p:cNvPicPr>
          <p:nvPr/>
        </p:nvPicPr>
        <p:blipFill>
          <a:blip r:embed="rId7"/>
          <a:stretch>
            <a:fillRect/>
          </a:stretch>
        </p:blipFill>
        <p:spPr>
          <a:xfrm>
            <a:off x="7904988" y="1920240"/>
            <a:ext cx="514350" cy="685800"/>
          </a:xfrm>
          <a:prstGeom prst="rect">
            <a:avLst/>
          </a:prstGeom>
        </p:spPr>
      </p:pic>
      <p:sp>
        <p:nvSpPr>
          <p:cNvPr id="17" name="TextBox 16"/>
          <p:cNvSpPr txBox="1"/>
          <p:nvPr/>
        </p:nvSpPr>
        <p:spPr>
          <a:xfrm>
            <a:off x="737920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B12</a:t>
            </a:r>
          </a:p>
        </p:txBody>
      </p:sp>
      <p:sp>
        <p:nvSpPr>
          <p:cNvPr id="18" name="TextBox 17"/>
          <p:cNvSpPr txBox="1"/>
          <p:nvPr/>
        </p:nvSpPr>
        <p:spPr>
          <a:xfrm>
            <a:off x="742492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non-pregnant women 15-49 y</a:t>
            </a:r>
          </a:p>
          <a:p>
            <a:pPr algn="l">
              <a:spcBef>
                <a:spcPts val="300"/>
              </a:spcBef>
              <a:spcAft>
                <a:spcPts val="400"/>
              </a:spcAft>
            </a:pPr>
            <a:r>
              <a:rPr sz="1300" b="1">
                <a:solidFill>
                  <a:srgbClr val="1F4E79"/>
                </a:solidFill>
                <a:latin typeface="Calibri"/>
              </a:rPr>
              <a:t>Where:</a:t>
            </a:r>
            <a:r>
              <a:rPr sz="1300">
                <a:solidFill>
                  <a:srgbClr val="333333"/>
                </a:solidFill>
                <a:latin typeface="Calibri"/>
              </a:rPr>
              <a:t> Ghana, Sierra Leone, Malawi</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B12</a:t>
            </a:r>
          </a:p>
          <a:p>
            <a:pPr algn="l">
              <a:spcBef>
                <a:spcPts val="300"/>
              </a:spcBef>
              <a:spcAft>
                <a:spcPts val="400"/>
              </a:spcAft>
            </a:pPr>
            <a:r>
              <a:rPr sz="1300" b="1">
                <a:solidFill>
                  <a:srgbClr val="1F4E79"/>
                </a:solidFill>
                <a:latin typeface="Calibri"/>
              </a:rPr>
              <a:t>Cut-off:</a:t>
            </a:r>
            <a:r>
              <a:rPr sz="1300">
                <a:solidFill>
                  <a:srgbClr val="333333"/>
                </a:solidFill>
                <a:latin typeface="Calibri"/>
              </a:rPr>
              <a:t> &lt; 148-150 pmol/L</a:t>
            </a:r>
          </a:p>
        </p:txBody>
      </p:sp>
      <p:sp>
        <p:nvSpPr>
          <p:cNvPr id="19" name="Rounded Rectangle 18"/>
          <p:cNvSpPr/>
          <p:nvPr/>
        </p:nvSpPr>
        <p:spPr>
          <a:xfrm>
            <a:off x="943660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wheat-awn_blue.png"/>
          <p:cNvPicPr>
            <a:picLocks noChangeAspect="1"/>
          </p:cNvPicPr>
          <p:nvPr/>
        </p:nvPicPr>
        <p:blipFill>
          <a:blip r:embed="rId8"/>
          <a:stretch>
            <a:fillRect/>
          </a:stretch>
        </p:blipFill>
        <p:spPr>
          <a:xfrm>
            <a:off x="10053828" y="1920240"/>
            <a:ext cx="685800" cy="685800"/>
          </a:xfrm>
          <a:prstGeom prst="rect">
            <a:avLst/>
          </a:prstGeom>
        </p:spPr>
      </p:pic>
      <p:sp>
        <p:nvSpPr>
          <p:cNvPr id="21" name="TextBox 20"/>
          <p:cNvSpPr txBox="1"/>
          <p:nvPr/>
        </p:nvSpPr>
        <p:spPr>
          <a:xfrm>
            <a:off x="952804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Zinc</a:t>
            </a:r>
          </a:p>
        </p:txBody>
      </p:sp>
      <p:sp>
        <p:nvSpPr>
          <p:cNvPr id="22" name="TextBox 21"/>
          <p:cNvSpPr txBox="1"/>
          <p:nvPr/>
        </p:nvSpPr>
        <p:spPr>
          <a:xfrm>
            <a:off x="957376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children 6-59 mo;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Malawi only</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zinc, IZiNCG flag, unadjusted</a:t>
            </a:r>
          </a:p>
          <a:p>
            <a:pPr algn="l">
              <a:spcBef>
                <a:spcPts val="300"/>
              </a:spcBef>
              <a:spcAft>
                <a:spcPts val="400"/>
              </a:spcAft>
            </a:pPr>
            <a:r>
              <a:rPr sz="1300" b="1">
                <a:solidFill>
                  <a:srgbClr val="1F4E79"/>
                </a:solidFill>
                <a:latin typeface="Calibri"/>
              </a:rPr>
              <a:t>Cut-off:</a:t>
            </a:r>
            <a:r>
              <a:rPr sz="1300">
                <a:solidFill>
                  <a:srgbClr val="333333"/>
                </a:solidFill>
                <a:latin typeface="Calibri"/>
              </a:rPr>
              <a:t> IZiNCG, by draw time</a:t>
            </a: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Conceptual framework: iron deficiency</a:t>
            </a:r>
          </a:p>
        </p:txBody>
      </p:sp>
      <p:pic>
        <p:nvPicPr>
          <p:cNvPr id="3" name="Picture 1" descr="img/old_s06_framework_1.png"/>
          <p:cNvPicPr>
            <a:picLocks noGrp="1" noChangeAspect="1"/>
          </p:cNvPicPr>
          <p:nvPr/>
        </p:nvPicPr>
        <p:blipFill>
          <a:blip r:embed="rId4"/>
          <a:stretch>
            <a:fillRect/>
          </a:stretch>
        </p:blipFill>
        <p:spPr bwMode="auto">
          <a:xfrm>
            <a:off x="3294888" y="1691640"/>
            <a:ext cx="5608320"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The proxy dataset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What a proxy has to be</a:t>
            </a:r>
          </a:p>
        </p:txBody>
      </p:sp>
      <p:pic>
        <p:nvPicPr>
          <p:cNvPr id="3" name="Picture 2" descr="globe_blue.png"/>
          <p:cNvPicPr>
            <a:picLocks noChangeAspect="1"/>
          </p:cNvPicPr>
          <p:nvPr/>
        </p:nvPicPr>
        <p:blipFill>
          <a:blip r:embed="rId4"/>
          <a:stretch>
            <a:fillRect/>
          </a:stretch>
        </p:blipFill>
        <p:spPr>
          <a:xfrm>
            <a:off x="932688" y="1783080"/>
            <a:ext cx="731520" cy="731520"/>
          </a:xfrm>
          <a:prstGeom prst="rect">
            <a:avLst/>
          </a:prstGeom>
        </p:spPr>
      </p:pic>
      <p:sp>
        <p:nvSpPr>
          <p:cNvPr id="4" name="TextBox 3"/>
          <p:cNvSpPr txBox="1"/>
          <p:nvPr/>
        </p:nvSpPr>
        <p:spPr>
          <a:xfrm>
            <a:off x="1984248" y="169164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Available everywhere</a:t>
            </a:r>
          </a:p>
          <a:p>
            <a:pPr algn="l">
              <a:spcBef>
                <a:spcPts val="300"/>
              </a:spcBef>
            </a:pPr>
            <a:r>
              <a:rPr sz="1400" b="0">
                <a:solidFill>
                  <a:srgbClr val="333333"/>
                </a:solidFill>
                <a:latin typeface="Calibri"/>
              </a:rPr>
              <a:t>For every district of every country, surveyed or not, from a source anyone can reach.</a:t>
            </a:r>
          </a:p>
        </p:txBody>
      </p:sp>
      <p:pic>
        <p:nvPicPr>
          <p:cNvPr id="5" name="Picture 4" descr="scissors_blue.png"/>
          <p:cNvPicPr>
            <a:picLocks noChangeAspect="1"/>
          </p:cNvPicPr>
          <p:nvPr/>
        </p:nvPicPr>
        <p:blipFill>
          <a:blip r:embed="rId5"/>
          <a:stretch>
            <a:fillRect/>
          </a:stretch>
        </p:blipFill>
        <p:spPr>
          <a:xfrm>
            <a:off x="932688" y="2880360"/>
            <a:ext cx="731520" cy="731520"/>
          </a:xfrm>
          <a:prstGeom prst="rect">
            <a:avLst/>
          </a:prstGeom>
        </p:spPr>
      </p:pic>
      <p:sp>
        <p:nvSpPr>
          <p:cNvPr id="6" name="TextBox 5"/>
          <p:cNvSpPr txBox="1"/>
          <p:nvPr/>
        </p:nvSpPr>
        <p:spPr>
          <a:xfrm>
            <a:off x="1984248" y="278892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Independent of the outcome</a:t>
            </a:r>
          </a:p>
          <a:p>
            <a:pPr algn="l">
              <a:spcBef>
                <a:spcPts val="300"/>
              </a:spcBef>
            </a:pPr>
            <a:r>
              <a:rPr sz="1400" b="0">
                <a:solidFill>
                  <a:srgbClr val="333333"/>
                </a:solidFill>
                <a:latin typeface="Calibri"/>
              </a:rPr>
              <a:t>Nothing from the biomarker survey we score against enters the predictors.</a:t>
            </a:r>
          </a:p>
        </p:txBody>
      </p:sp>
      <p:pic>
        <p:nvPicPr>
          <p:cNvPr id="7" name="Picture 6" descr="calendar-check_blue.png"/>
          <p:cNvPicPr>
            <a:picLocks noChangeAspect="1"/>
          </p:cNvPicPr>
          <p:nvPr/>
        </p:nvPicPr>
        <p:blipFill>
          <a:blip r:embed="rId6"/>
          <a:stretch>
            <a:fillRect/>
          </a:stretch>
        </p:blipFill>
        <p:spPr>
          <a:xfrm>
            <a:off x="932688" y="3977640"/>
            <a:ext cx="640080" cy="731520"/>
          </a:xfrm>
          <a:prstGeom prst="rect">
            <a:avLst/>
          </a:prstGeom>
        </p:spPr>
      </p:pic>
      <p:sp>
        <p:nvSpPr>
          <p:cNvPr id="8" name="TextBox 7"/>
          <p:cNvSpPr txBox="1"/>
          <p:nvPr/>
        </p:nvSpPr>
        <p:spPr>
          <a:xfrm>
            <a:off x="1984248" y="388620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Placed in time</a:t>
            </a:r>
          </a:p>
          <a:p>
            <a:pPr algn="l">
              <a:spcBef>
                <a:spcPts val="300"/>
              </a:spcBef>
            </a:pPr>
            <a:r>
              <a:rPr sz="1400" b="0">
                <a:solidFill>
                  <a:srgbClr val="333333"/>
                </a:solidFill>
                <a:latin typeface="Calibri"/>
              </a:rPr>
              <a:t>At the survey year, or as close as the source allows, with the gap recorded.</a:t>
            </a:r>
          </a:p>
        </p:txBody>
      </p:sp>
      <p:pic>
        <p:nvPicPr>
          <p:cNvPr id="9" name="Picture 8" descr="file-lines_blue.png"/>
          <p:cNvPicPr>
            <a:picLocks noChangeAspect="1"/>
          </p:cNvPicPr>
          <p:nvPr/>
        </p:nvPicPr>
        <p:blipFill>
          <a:blip r:embed="rId7"/>
          <a:stretch>
            <a:fillRect/>
          </a:stretch>
        </p:blipFill>
        <p:spPr>
          <a:xfrm>
            <a:off x="932688" y="5074920"/>
            <a:ext cx="548640" cy="731520"/>
          </a:xfrm>
          <a:prstGeom prst="rect">
            <a:avLst/>
          </a:prstGeom>
        </p:spPr>
      </p:pic>
      <p:sp>
        <p:nvSpPr>
          <p:cNvPr id="10" name="TextBox 9"/>
          <p:cNvSpPr txBox="1"/>
          <p:nvPr/>
        </p:nvSpPr>
        <p:spPr>
          <a:xfrm>
            <a:off x="1984248" y="4983480"/>
            <a:ext cx="9326880" cy="914400"/>
          </a:xfrm>
          <a:prstGeom prst="rect">
            <a:avLst/>
          </a:prstGeom>
          <a:noFill/>
        </p:spPr>
        <p:txBody>
          <a:bodyPr wrap="square" lIns="45720" tIns="27432" rIns="45720" bIns="27432" anchor="ctr">
            <a:spAutoFit/>
          </a:bodyPr>
          <a:lstStyle/>
          <a:p>
            <a:pPr algn="l"/>
            <a:r>
              <a:rPr sz="2000" b="1">
                <a:solidFill>
                  <a:srgbClr val="1F4E79"/>
                </a:solidFill>
                <a:latin typeface="Calibri"/>
              </a:rPr>
              <a:t>Recorded</a:t>
            </a:r>
          </a:p>
          <a:p>
            <a:pPr algn="l">
              <a:spcBef>
                <a:spcPts val="300"/>
              </a:spcBef>
            </a:pPr>
            <a:r>
              <a:rPr sz="1400" b="0">
                <a:solidFill>
                  <a:srgbClr val="333333"/>
                </a:solidFill>
                <a:latin typeface="Calibri"/>
              </a:rPr>
              <a:t>Every column carries its source, the year used, how it was aggregated, and a definition.</a:t>
            </a:r>
          </a:p>
        </p:txBody>
      </p:sp>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each source is (1 of 2): land, climate, agriculture</a:t>
            </a:r>
          </a:p>
        </p:txBody>
      </p:sp>
      <p:graphicFrame>
        <p:nvGraphicFramePr>
          <p:cNvPr id="6" name="Content Placeholder 5"/>
          <p:cNvGraphicFramePr>
            <a:graphicFrameLocks noGrp="1"/>
          </p:cNvGraphicFramePr>
          <p:nvPr>
            <p:ph idx="1"/>
          </p:nvPr>
        </p:nvGraphicFramePr>
        <p:xfrm>
          <a:off x="838200" y="1816100"/>
          <a:ext cx="10515600" cy="292608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7594600">
                  <a:extLst>
                    <a:ext uri="{9D8B030D-6E8A-4147-A177-3AD203B41FA5}">
                      <a16:colId xmlns:a16="http://schemas.microsoft.com/office/drawing/2014/main" val="20001"/>
                    </a:ext>
                  </a:extLst>
                </a:gridCol>
              </a:tblGrid>
              <a:tr h="0">
                <a:tc>
                  <a:txBody>
                    <a:bodyPr/>
                    <a:lstStyle/>
                    <a:p>
                      <a:pPr marL="0" lvl="0" indent="0" algn="l">
                        <a:buNone/>
                      </a:pPr>
                      <a:r>
                        <a:rPr sz="1000"/>
                        <a:t>Source</a:t>
                      </a:r>
                    </a:p>
                  </a:txBody>
                  <a:tcPr/>
                </a:tc>
                <a:tc>
                  <a:txBody>
                    <a:bodyPr/>
                    <a:lstStyle/>
                    <a:p>
                      <a:pPr marL="0" lvl="0" indent="0" algn="l">
                        <a:buNone/>
                      </a:pPr>
                      <a:r>
                        <a:rPr sz="1000"/>
                        <a:t>What it is</a:t>
                      </a:r>
                    </a:p>
                  </a:txBody>
                  <a:tcPr/>
                </a:tc>
                <a:extLst>
                  <a:ext uri="{0D108BD9-81ED-4DB2-BD59-A6C34878D82A}">
                    <a16:rowId xmlns:a16="http://schemas.microsoft.com/office/drawing/2014/main" val="10000"/>
                  </a:ext>
                </a:extLst>
              </a:tr>
              <a:tr h="0">
                <a:tc>
                  <a:txBody>
                    <a:bodyPr/>
                    <a:lstStyle/>
                    <a:p>
                      <a:pPr marL="0" lvl="0" indent="0" algn="l">
                        <a:buNone/>
                      </a:pPr>
                      <a:r>
                        <a:rPr sz="1000"/>
                        <a:t>Earth Engine: TerraClimate</a:t>
                      </a:r>
                    </a:p>
                  </a:txBody>
                  <a:tcPr/>
                </a:tc>
                <a:tc>
                  <a:txBody>
                    <a:bodyPr/>
                    <a:lstStyle/>
                    <a:p>
                      <a:pPr marL="0" lvl="0" indent="0" algn="l">
                        <a:buNone/>
                      </a:pPr>
                      <a:r>
                        <a:rPr sz="1000"/>
                        <a:t>Monthly climate (rain, temperature, evapotranspiration, soil moisture), 4 km; survey year and 1991-2020 normals</a:t>
                      </a:r>
                    </a:p>
                  </a:txBody>
                  <a:tcPr/>
                </a:tc>
                <a:extLst>
                  <a:ext uri="{0D108BD9-81ED-4DB2-BD59-A6C34878D82A}">
                    <a16:rowId xmlns:a16="http://schemas.microsoft.com/office/drawing/2014/main" val="10001"/>
                  </a:ext>
                </a:extLst>
              </a:tr>
              <a:tr h="0">
                <a:tc>
                  <a:txBody>
                    <a:bodyPr/>
                    <a:lstStyle/>
                    <a:p>
                      <a:pPr marL="0" lvl="0" indent="0" algn="l">
                        <a:buNone/>
                      </a:pPr>
                      <a:r>
                        <a:rPr sz="1000"/>
                        <a:t>Earth Engine: MODIS</a:t>
                      </a:r>
                    </a:p>
                  </a:txBody>
                  <a:tcPr/>
                </a:tc>
                <a:tc>
                  <a:txBody>
                    <a:bodyPr/>
                    <a:lstStyle/>
                    <a:p>
                      <a:pPr marL="0" lvl="0" indent="0" algn="l">
                        <a:buNone/>
                      </a:pPr>
                      <a:r>
                        <a:rPr sz="1000"/>
                        <a:t>Land-surface temperature (1 km), NDVI and EVI (250 m) at the survey year, plus climatology and anomaly</a:t>
                      </a:r>
                    </a:p>
                  </a:txBody>
                  <a:tcPr/>
                </a:tc>
                <a:extLst>
                  <a:ext uri="{0D108BD9-81ED-4DB2-BD59-A6C34878D82A}">
                    <a16:rowId xmlns:a16="http://schemas.microsoft.com/office/drawing/2014/main" val="10002"/>
                  </a:ext>
                </a:extLst>
              </a:tr>
              <a:tr h="0">
                <a:tc>
                  <a:txBody>
                    <a:bodyPr/>
                    <a:lstStyle/>
                    <a:p>
                      <a:pPr marL="0" lvl="0" indent="0" algn="l">
                        <a:buNone/>
                      </a:pPr>
                      <a:r>
                        <a:rPr sz="1000"/>
                        <a:t>Earth Engine: land cover, lights, built-up</a:t>
                      </a:r>
                    </a:p>
                  </a:txBody>
                  <a:tcPr/>
                </a:tc>
                <a:tc>
                  <a:txBody>
                    <a:bodyPr/>
                    <a:lstStyle/>
                    <a:p>
                      <a:pPr marL="0" lvl="0" indent="0" algn="l">
                        <a:buNone/>
                      </a:pPr>
                      <a:r>
                        <a:rPr sz="1000"/>
                        <a:t>Copernicus land-cover fractions, night lights, GHSL built-up surface, human modification</a:t>
                      </a:r>
                    </a:p>
                  </a:txBody>
                  <a:tcPr/>
                </a:tc>
                <a:extLst>
                  <a:ext uri="{0D108BD9-81ED-4DB2-BD59-A6C34878D82A}">
                    <a16:rowId xmlns:a16="http://schemas.microsoft.com/office/drawing/2014/main" val="10003"/>
                  </a:ext>
                </a:extLst>
              </a:tr>
              <a:tr h="0">
                <a:tc>
                  <a:txBody>
                    <a:bodyPr/>
                    <a:lstStyle/>
                    <a:p>
                      <a:pPr marL="0" lvl="0" indent="0" algn="l">
                        <a:buNone/>
                      </a:pPr>
                      <a:r>
                        <a:rPr sz="1000"/>
                        <a:t>Earth Engine: productivity</a:t>
                      </a:r>
                    </a:p>
                  </a:txBody>
                  <a:tcPr/>
                </a:tc>
                <a:tc>
                  <a:txBody>
                    <a:bodyPr/>
                    <a:lstStyle/>
                    <a:p>
                      <a:pPr marL="0" lvl="0" indent="0" algn="l">
                        <a:buNone/>
                      </a:pPr>
                      <a:r>
                        <a:rPr sz="1000"/>
                        <a:t>MODIS NPP and GPP, WaPOR evapotranspiration, leaf area, grassland cover</a:t>
                      </a:r>
                    </a:p>
                  </a:txBody>
                  <a:tcPr/>
                </a:tc>
                <a:extLst>
                  <a:ext uri="{0D108BD9-81ED-4DB2-BD59-A6C34878D82A}">
                    <a16:rowId xmlns:a16="http://schemas.microsoft.com/office/drawing/2014/main" val="10004"/>
                  </a:ext>
                </a:extLst>
              </a:tr>
              <a:tr h="0">
                <a:tc>
                  <a:txBody>
                    <a:bodyPr/>
                    <a:lstStyle/>
                    <a:p>
                      <a:pPr marL="0" lvl="0" indent="0" algn="l">
                        <a:buNone/>
                      </a:pPr>
                      <a:r>
                        <a:rPr sz="1000"/>
                        <a:t>AlphaEarth</a:t>
                      </a:r>
                    </a:p>
                  </a:txBody>
                  <a:tcPr/>
                </a:tc>
                <a:tc>
                  <a:txBody>
                    <a:bodyPr/>
                    <a:lstStyle/>
                    <a:p>
                      <a:pPr marL="0" lvl="0" indent="0" algn="l">
                        <a:buNone/>
                      </a:pPr>
                      <a:r>
                        <a:rPr sz="1000"/>
                        <a:t>Google’s 64-number satellite embedding of a year of imagery, 10 m, 2017</a:t>
                      </a:r>
                    </a:p>
                  </a:txBody>
                  <a:tcPr/>
                </a:tc>
                <a:extLst>
                  <a:ext uri="{0D108BD9-81ED-4DB2-BD59-A6C34878D82A}">
                    <a16:rowId xmlns:a16="http://schemas.microsoft.com/office/drawing/2014/main" val="10005"/>
                  </a:ext>
                </a:extLst>
              </a:tr>
              <a:tr h="0">
                <a:tc>
                  <a:txBody>
                    <a:bodyPr/>
                    <a:lstStyle/>
                    <a:p>
                      <a:pPr marL="0" lvl="0" indent="0" algn="l">
                        <a:buNone/>
                      </a:pPr>
                      <a:r>
                        <a:rPr sz="1000"/>
                        <a:t>SoilGrids / iSDA</a:t>
                      </a:r>
                    </a:p>
                  </a:txBody>
                  <a:tcPr/>
                </a:tc>
                <a:tc>
                  <a:txBody>
                    <a:bodyPr/>
                    <a:lstStyle/>
                    <a:p>
                      <a:pPr marL="0" lvl="0" indent="0" algn="l">
                        <a:buNone/>
                      </a:pPr>
                      <a:r>
                        <a:rPr sz="1000"/>
                        <a:t>Soil nutrients at two depths, pH, texture, organic carbon (iSDA 30 m, SoilGrids 250 m)</a:t>
                      </a:r>
                    </a:p>
                  </a:txBody>
                  <a:tcPr/>
                </a:tc>
                <a:extLst>
                  <a:ext uri="{0D108BD9-81ED-4DB2-BD59-A6C34878D82A}">
                    <a16:rowId xmlns:a16="http://schemas.microsoft.com/office/drawing/2014/main" val="10006"/>
                  </a:ext>
                </a:extLst>
              </a:tr>
              <a:tr h="0">
                <a:tc>
                  <a:txBody>
                    <a:bodyPr/>
                    <a:lstStyle/>
                    <a:p>
                      <a:pPr marL="0" lvl="0" indent="0" algn="l">
                        <a:buNone/>
                      </a:pPr>
                      <a:r>
                        <a:rPr sz="1000"/>
                        <a:t>Koppen / AEZ</a:t>
                      </a:r>
                    </a:p>
                  </a:txBody>
                  <a:tcPr/>
                </a:tc>
                <a:tc>
                  <a:txBody>
                    <a:bodyPr/>
                    <a:lstStyle/>
                    <a:p>
                      <a:pPr marL="0" lvl="0" indent="0" algn="l">
                        <a:buNone/>
                      </a:pPr>
                      <a:r>
                        <a:rPr sz="1000"/>
                        <a:t>Climate classes and agro-ecological zones: class shares and purity</a:t>
                      </a:r>
                    </a:p>
                  </a:txBody>
                  <a:tcPr/>
                </a:tc>
                <a:extLst>
                  <a:ext uri="{0D108BD9-81ED-4DB2-BD59-A6C34878D82A}">
                    <a16:rowId xmlns:a16="http://schemas.microsoft.com/office/drawing/2014/main" val="10007"/>
                  </a:ext>
                </a:extLst>
              </a:tr>
              <a:tr h="0">
                <a:tc>
                  <a:txBody>
                    <a:bodyPr/>
                    <a:lstStyle/>
                    <a:p>
                      <a:pPr marL="0" lvl="0" indent="0" algn="l">
                        <a:buNone/>
                      </a:pPr>
                      <a:r>
                        <a:rPr sz="1000"/>
                        <a:t>JRC Surface Water / LSIB</a:t>
                      </a:r>
                    </a:p>
                  </a:txBody>
                  <a:tcPr/>
                </a:tc>
                <a:tc>
                  <a:txBody>
                    <a:bodyPr/>
                    <a:lstStyle/>
                    <a:p>
                      <a:pPr marL="0" lvl="0" indent="0" algn="l">
                        <a:buNone/>
                      </a:pPr>
                      <a:r>
                        <a:rPr sz="1000"/>
                        <a:t>Distance to permanent and seasonal water and to the coast</a:t>
                      </a:r>
                    </a:p>
                  </a:txBody>
                  <a:tcPr/>
                </a:tc>
                <a:extLst>
                  <a:ext uri="{0D108BD9-81ED-4DB2-BD59-A6C34878D82A}">
                    <a16:rowId xmlns:a16="http://schemas.microsoft.com/office/drawing/2014/main" val="10008"/>
                  </a:ext>
                </a:extLst>
              </a:tr>
              <a:tr h="0">
                <a:tc>
                  <a:txBody>
                    <a:bodyPr/>
                    <a:lstStyle/>
                    <a:p>
                      <a:pPr marL="0" lvl="0" indent="0" algn="l">
                        <a:buNone/>
                      </a:pPr>
                      <a:r>
                        <a:rPr sz="1000"/>
                        <a:t>MapSPAM</a:t>
                      </a:r>
                    </a:p>
                  </a:txBody>
                  <a:tcPr/>
                </a:tc>
                <a:tc>
                  <a:txBody>
                    <a:bodyPr/>
                    <a:lstStyle/>
                    <a:p>
                      <a:pPr marL="0" lvl="0" indent="0" algn="l">
                        <a:buNone/>
                      </a:pPr>
                      <a:r>
                        <a:rPr sz="1000"/>
                        <a:t>Crop area and production by crop, 10 km, 2010</a:t>
                      </a:r>
                    </a:p>
                  </a:txBody>
                  <a:tcPr/>
                </a:tc>
                <a:extLst>
                  <a:ext uri="{0D108BD9-81ED-4DB2-BD59-A6C34878D82A}">
                    <a16:rowId xmlns:a16="http://schemas.microsoft.com/office/drawing/2014/main" val="10009"/>
                  </a:ext>
                </a:extLst>
              </a:tr>
              <a:tr h="0">
                <a:tc>
                  <a:txBody>
                    <a:bodyPr/>
                    <a:lstStyle/>
                    <a:p>
                      <a:pPr marL="0" lvl="0" indent="0" algn="l">
                        <a:buNone/>
                      </a:pPr>
                      <a:r>
                        <a:rPr sz="1000"/>
                        <a:t>Gridded Livestock of the World</a:t>
                      </a:r>
                    </a:p>
                  </a:txBody>
                  <a:tcPr/>
                </a:tc>
                <a:tc>
                  <a:txBody>
                    <a:bodyPr/>
                    <a:lstStyle/>
                    <a:p>
                      <a:pPr marL="0" lvl="0" indent="0" algn="l">
                        <a:buNone/>
                      </a:pPr>
                      <a:r>
                        <a:rPr sz="1000"/>
                        <a:t>Cattle, sheep, goats, pigs and poultry per km2, 10 km, 2015</a:t>
                      </a:r>
                    </a:p>
                  </a:txBody>
                  <a:tcPr/>
                </a:tc>
                <a:extLst>
                  <a:ext uri="{0D108BD9-81ED-4DB2-BD59-A6C34878D82A}">
                    <a16:rowId xmlns:a16="http://schemas.microsoft.com/office/drawing/2014/main" val="10010"/>
                  </a:ext>
                </a:extLst>
              </a:tr>
              <a:tr h="0">
                <a:tc>
                  <a:txBody>
                    <a:bodyPr/>
                    <a:lstStyle/>
                    <a:p>
                      <a:pPr marL="0" lvl="0" indent="0" algn="l">
                        <a:buNone/>
                      </a:pPr>
                      <a:r>
                        <a:rPr sz="1000"/>
                        <a:t>WorldPop / GHSL / GPW / RWI</a:t>
                      </a:r>
                    </a:p>
                  </a:txBody>
                  <a:tcPr/>
                </a:tc>
                <a:tc>
                  <a:txBody>
                    <a:bodyPr/>
                    <a:lstStyle/>
                    <a:p>
                      <a:pPr marL="0" lvl="0" indent="0" algn="l">
                        <a:buNone/>
                      </a:pPr>
                      <a:r>
                        <a:rPr sz="1000"/>
                        <a:t>Population, age-sex structure and density; Meta’s relative wealth index</a:t>
                      </a:r>
                    </a:p>
                  </a:txBody>
                  <a:tcPr/>
                </a:tc>
                <a:extLst>
                  <a:ext uri="{0D108BD9-81ED-4DB2-BD59-A6C34878D82A}">
                    <a16:rowId xmlns:a16="http://schemas.microsoft.com/office/drawing/2014/main" val="10011"/>
                  </a:ext>
                </a:extLst>
              </a:tr>
            </a:tbl>
          </a:graphicData>
        </a:graphic>
      </p:graphicFrame>
    </p:spTree>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each source is (2 of 2): health, food, households</a:t>
            </a:r>
          </a:p>
        </p:txBody>
      </p:sp>
      <p:graphicFrame>
        <p:nvGraphicFramePr>
          <p:cNvPr id="6" name="Content Placeholder 5"/>
          <p:cNvGraphicFramePr>
            <a:graphicFrameLocks noGrp="1"/>
          </p:cNvGraphicFramePr>
          <p:nvPr>
            <p:ph idx="1"/>
          </p:nvPr>
        </p:nvGraphicFramePr>
        <p:xfrm>
          <a:off x="838200" y="1816100"/>
          <a:ext cx="10515600" cy="3169920"/>
        </p:xfrm>
        <a:graphic>
          <a:graphicData uri="http://schemas.openxmlformats.org/drawingml/2006/table">
            <a:tbl>
              <a:tblPr firstRow="1" bandRow="1">
                <a:tableStyleId>{5C22544A-7EE6-4342-B048-85BDC9FD1C3A}</a:tableStyleId>
              </a:tblPr>
              <a:tblGrid>
                <a:gridCol w="2336800">
                  <a:extLst>
                    <a:ext uri="{9D8B030D-6E8A-4147-A177-3AD203B41FA5}">
                      <a16:colId xmlns:a16="http://schemas.microsoft.com/office/drawing/2014/main" val="20000"/>
                    </a:ext>
                  </a:extLst>
                </a:gridCol>
                <a:gridCol w="8178800">
                  <a:extLst>
                    <a:ext uri="{9D8B030D-6E8A-4147-A177-3AD203B41FA5}">
                      <a16:colId xmlns:a16="http://schemas.microsoft.com/office/drawing/2014/main" val="20001"/>
                    </a:ext>
                  </a:extLst>
                </a:gridCol>
              </a:tblGrid>
              <a:tr h="0">
                <a:tc>
                  <a:txBody>
                    <a:bodyPr/>
                    <a:lstStyle/>
                    <a:p>
                      <a:pPr marL="0" lvl="0" indent="0" algn="l">
                        <a:buNone/>
                      </a:pPr>
                      <a:r>
                        <a:rPr sz="1000"/>
                        <a:t>Source</a:t>
                      </a:r>
                    </a:p>
                  </a:txBody>
                  <a:tcPr/>
                </a:tc>
                <a:tc>
                  <a:txBody>
                    <a:bodyPr/>
                    <a:lstStyle/>
                    <a:p>
                      <a:pPr marL="0" lvl="0" indent="0" algn="l">
                        <a:buNone/>
                      </a:pPr>
                      <a:r>
                        <a:rPr sz="1000"/>
                        <a:t>What it is</a:t>
                      </a:r>
                    </a:p>
                  </a:txBody>
                  <a:tcPr/>
                </a:tc>
                <a:extLst>
                  <a:ext uri="{0D108BD9-81ED-4DB2-BD59-A6C34878D82A}">
                    <a16:rowId xmlns:a16="http://schemas.microsoft.com/office/drawing/2014/main" val="10000"/>
                  </a:ext>
                </a:extLst>
              </a:tr>
              <a:tr h="0">
                <a:tc>
                  <a:txBody>
                    <a:bodyPr/>
                    <a:lstStyle/>
                    <a:p>
                      <a:pPr marL="0" lvl="0" indent="0" algn="l">
                        <a:buNone/>
                      </a:pPr>
                      <a:r>
                        <a:rPr sz="1000"/>
                        <a:t>IHME modelled surfaces</a:t>
                      </a:r>
                    </a:p>
                  </a:txBody>
                  <a:tcPr/>
                </a:tc>
                <a:tc>
                  <a:txBody>
                    <a:bodyPr/>
                    <a:lstStyle/>
                    <a:p>
                      <a:pPr marL="0" lvl="0" indent="0" algn="l">
                        <a:buNone/>
                      </a:pPr>
                      <a:r>
                        <a:rPr sz="1000"/>
                        <a:t>5 km modelled surfaces: child growth, anaemia, WASH, education, ORS, HIV, malaria, measles vaccination</a:t>
                      </a:r>
                    </a:p>
                  </a:txBody>
                  <a:tcPr/>
                </a:tc>
                <a:extLst>
                  <a:ext uri="{0D108BD9-81ED-4DB2-BD59-A6C34878D82A}">
                    <a16:rowId xmlns:a16="http://schemas.microsoft.com/office/drawing/2014/main" val="10001"/>
                  </a:ext>
                </a:extLst>
              </a:tr>
              <a:tr h="0">
                <a:tc>
                  <a:txBody>
                    <a:bodyPr/>
                    <a:lstStyle/>
                    <a:p>
                      <a:pPr marL="0" lvl="0" indent="0" algn="l">
                        <a:buNone/>
                      </a:pPr>
                      <a:r>
                        <a:rPr sz="1000"/>
                        <a:t>Malaria Atlas Project</a:t>
                      </a:r>
                    </a:p>
                  </a:txBody>
                  <a:tcPr/>
                </a:tc>
                <a:tc>
                  <a:txBody>
                    <a:bodyPr/>
                    <a:lstStyle/>
                    <a:p>
                      <a:pPr marL="0" lvl="0" indent="0" algn="l">
                        <a:buNone/>
                      </a:pPr>
                      <a:r>
                        <a:rPr sz="1000"/>
                        <a:t>Parasite rate, incidence, mortality, net use and spraying, 5 km, at the survey year</a:t>
                      </a:r>
                    </a:p>
                  </a:txBody>
                  <a:tcPr/>
                </a:tc>
                <a:extLst>
                  <a:ext uri="{0D108BD9-81ED-4DB2-BD59-A6C34878D82A}">
                    <a16:rowId xmlns:a16="http://schemas.microsoft.com/office/drawing/2014/main" val="10002"/>
                  </a:ext>
                </a:extLst>
              </a:tr>
              <a:tr h="0">
                <a:tc>
                  <a:txBody>
                    <a:bodyPr/>
                    <a:lstStyle/>
                    <a:p>
                      <a:pPr marL="0" lvl="0" indent="0" algn="l">
                        <a:buNone/>
                      </a:pPr>
                      <a:r>
                        <a:rPr sz="1000"/>
                        <a:t>WHO ESPEN</a:t>
                      </a:r>
                    </a:p>
                  </a:txBody>
                  <a:tcPr/>
                </a:tc>
                <a:tc>
                  <a:txBody>
                    <a:bodyPr/>
                    <a:lstStyle/>
                    <a:p>
                      <a:pPr marL="0" lvl="0" indent="0" algn="l">
                        <a:buNone/>
                      </a:pPr>
                      <a:r>
                        <a:rPr sz="1000"/>
                        <a:t>Helminth endemicity and mass-treatment coverage by implementation unit</a:t>
                      </a:r>
                    </a:p>
                  </a:txBody>
                  <a:tcPr/>
                </a:tc>
                <a:extLst>
                  <a:ext uri="{0D108BD9-81ED-4DB2-BD59-A6C34878D82A}">
                    <a16:rowId xmlns:a16="http://schemas.microsoft.com/office/drawing/2014/main" val="10003"/>
                  </a:ext>
                </a:extLst>
              </a:tr>
              <a:tr h="0">
                <a:tc>
                  <a:txBody>
                    <a:bodyPr/>
                    <a:lstStyle/>
                    <a:p>
                      <a:pPr marL="0" lvl="0" indent="0" algn="l">
                        <a:buNone/>
                      </a:pPr>
                      <a:r>
                        <a:rPr sz="1000"/>
                        <a:t>WHO anaemia; UNICEF VAS; WHO FluNet</a:t>
                      </a:r>
                    </a:p>
                  </a:txBody>
                  <a:tcPr/>
                </a:tc>
                <a:tc>
                  <a:txBody>
                    <a:bodyPr/>
                    <a:lstStyle/>
                    <a:p>
                      <a:pPr marL="0" lvl="0" indent="0" algn="l">
                        <a:buNone/>
                      </a:pPr>
                      <a:r>
                        <a:rPr sz="1000"/>
                        <a:t>National series: anaemia prevalence, vitamin A supplementation, influenza counts</a:t>
                      </a:r>
                    </a:p>
                  </a:txBody>
                  <a:tcPr/>
                </a:tc>
                <a:extLst>
                  <a:ext uri="{0D108BD9-81ED-4DB2-BD59-A6C34878D82A}">
                    <a16:rowId xmlns:a16="http://schemas.microsoft.com/office/drawing/2014/main" val="10004"/>
                  </a:ext>
                </a:extLst>
              </a:tr>
              <a:tr h="0">
                <a:tc>
                  <a:txBody>
                    <a:bodyPr/>
                    <a:lstStyle/>
                    <a:p>
                      <a:pPr marL="0" lvl="0" indent="0" algn="l">
                        <a:buNone/>
                      </a:pPr>
                      <a:r>
                        <a:rPr sz="1000"/>
                        <a:t>WFP market prices; World Bank RTFP</a:t>
                      </a:r>
                    </a:p>
                  </a:txBody>
                  <a:tcPr/>
                </a:tc>
                <a:tc>
                  <a:txBody>
                    <a:bodyPr/>
                    <a:lstStyle/>
                    <a:p>
                      <a:pPr marL="0" lvl="0" indent="0" algn="l">
                        <a:buNone/>
                      </a:pPr>
                      <a:r>
                        <a:rPr sz="1000"/>
                        <a:t>Monthly market food prices, distance-weighted to districts over the survey year (RTFP: Gambia, Malawi)</a:t>
                      </a:r>
                    </a:p>
                  </a:txBody>
                  <a:tcPr/>
                </a:tc>
                <a:extLst>
                  <a:ext uri="{0D108BD9-81ED-4DB2-BD59-A6C34878D82A}">
                    <a16:rowId xmlns:a16="http://schemas.microsoft.com/office/drawing/2014/main" val="10005"/>
                  </a:ext>
                </a:extLst>
              </a:tr>
              <a:tr h="0">
                <a:tc>
                  <a:txBody>
                    <a:bodyPr/>
                    <a:lstStyle/>
                    <a:p>
                      <a:pPr marL="0" lvl="0" indent="0" algn="l">
                        <a:buNone/>
                      </a:pPr>
                      <a:r>
                        <a:rPr sz="1000"/>
                        <a:t>FAOSTAT; HFID</a:t>
                      </a:r>
                    </a:p>
                  </a:txBody>
                  <a:tcPr/>
                </a:tc>
                <a:tc>
                  <a:txBody>
                    <a:bodyPr/>
                    <a:lstStyle/>
                    <a:p>
                      <a:pPr marL="0" lvl="0" indent="0" algn="l">
                        <a:buNone/>
                      </a:pPr>
                      <a:r>
                        <a:rPr sz="1000"/>
                        <a:t>National food balance sheets; FEWS NET / IPC food-security phases and indicators</a:t>
                      </a:r>
                    </a:p>
                  </a:txBody>
                  <a:tcPr/>
                </a:tc>
                <a:extLst>
                  <a:ext uri="{0D108BD9-81ED-4DB2-BD59-A6C34878D82A}">
                    <a16:rowId xmlns:a16="http://schemas.microsoft.com/office/drawing/2014/main" val="10006"/>
                  </a:ext>
                </a:extLst>
              </a:tr>
              <a:tr h="0">
                <a:tc>
                  <a:txBody>
                    <a:bodyPr/>
                    <a:lstStyle/>
                    <a:p>
                      <a:pPr marL="0" lvl="0" indent="0" algn="l">
                        <a:buNone/>
                      </a:pPr>
                      <a:r>
                        <a:rPr sz="1000"/>
                        <a:t>GFDx</a:t>
                      </a:r>
                    </a:p>
                  </a:txBody>
                  <a:tcPr/>
                </a:tc>
                <a:tc>
                  <a:txBody>
                    <a:bodyPr/>
                    <a:lstStyle/>
                    <a:p>
                      <a:pPr marL="0" lvl="0" indent="0" algn="l">
                        <a:buNone/>
                      </a:pPr>
                      <a:r>
                        <a:rPr sz="1000"/>
                        <a:t>Fortification standards and coverage by food vehicle, mostly national</a:t>
                      </a:r>
                    </a:p>
                  </a:txBody>
                  <a:tcPr/>
                </a:tc>
                <a:extLst>
                  <a:ext uri="{0D108BD9-81ED-4DB2-BD59-A6C34878D82A}">
                    <a16:rowId xmlns:a16="http://schemas.microsoft.com/office/drawing/2014/main" val="10007"/>
                  </a:ext>
                </a:extLst>
              </a:tr>
              <a:tr h="0">
                <a:tc>
                  <a:txBody>
                    <a:bodyPr/>
                    <a:lstStyle/>
                    <a:p>
                      <a:pPr marL="0" lvl="0" indent="0" algn="l">
                        <a:buNone/>
                      </a:pPr>
                      <a:r>
                        <a:rPr sz="1000"/>
                        <a:t>MIMI (Tang et al. 2026)</a:t>
                      </a:r>
                    </a:p>
                  </a:txBody>
                  <a:tcPr/>
                </a:tc>
                <a:tc>
                  <a:txBody>
                    <a:bodyPr/>
                    <a:lstStyle/>
                    <a:p>
                      <a:pPr marL="0" lvl="0" indent="0" algn="l">
                        <a:buNone/>
                      </a:pPr>
                      <a:r>
                        <a:rPr sz="1000"/>
                        <a:t>Modelled dietary micronutrient inadequacy from GLSS7, Ghana regions</a:t>
                      </a:r>
                    </a:p>
                  </a:txBody>
                  <a:tcPr/>
                </a:tc>
                <a:extLst>
                  <a:ext uri="{0D108BD9-81ED-4DB2-BD59-A6C34878D82A}">
                    <a16:rowId xmlns:a16="http://schemas.microsoft.com/office/drawing/2014/main" val="10008"/>
                  </a:ext>
                </a:extLst>
              </a:tr>
              <a:tr h="0">
                <a:tc>
                  <a:txBody>
                    <a:bodyPr/>
                    <a:lstStyle/>
                    <a:p>
                      <a:pPr marL="0" lvl="0" indent="0" algn="l">
                        <a:buNone/>
                      </a:pPr>
                      <a:r>
                        <a:rPr sz="1000"/>
                        <a:t>DHS</a:t>
                      </a:r>
                    </a:p>
                  </a:txBody>
                  <a:tcPr/>
                </a:tc>
                <a:tc>
                  <a:txBody>
                    <a:bodyPr/>
                    <a:lstStyle/>
                    <a:p>
                      <a:pPr marL="0" lvl="0" indent="0" algn="l">
                        <a:buNone/>
                      </a:pPr>
                      <a:r>
                        <a:rPr sz="1000"/>
                        <a:t>150 district indicators from the paired round, cluster spatial model</a:t>
                      </a:r>
                    </a:p>
                  </a:txBody>
                  <a:tcPr/>
                </a:tc>
                <a:extLst>
                  <a:ext uri="{0D108BD9-81ED-4DB2-BD59-A6C34878D82A}">
                    <a16:rowId xmlns:a16="http://schemas.microsoft.com/office/drawing/2014/main" val="10009"/>
                  </a:ext>
                </a:extLst>
              </a:tr>
              <a:tr h="0">
                <a:tc>
                  <a:txBody>
                    <a:bodyPr/>
                    <a:lstStyle/>
                    <a:p>
                      <a:pPr marL="0" lvl="0" indent="0" algn="l">
                        <a:buNone/>
                      </a:pPr>
                      <a:r>
                        <a:rPr sz="1000"/>
                        <a:t>MICS microdata; MICS via WHO HEAT</a:t>
                      </a:r>
                    </a:p>
                  </a:txBody>
                  <a:tcPr/>
                </a:tc>
                <a:tc>
                  <a:txBody>
                    <a:bodyPr/>
                    <a:lstStyle/>
                    <a:p>
                      <a:pPr marL="0" lvl="0" indent="0" algn="l">
                        <a:buNone/>
                      </a:pPr>
                      <a:r>
                        <a:rPr sz="1000"/>
                        <a:t>30 indicators from the public microdata (WASH, wealth, education, child feeding, health); 19 regional indicators via WHO HEAT</a:t>
                      </a:r>
                    </a:p>
                  </a:txBody>
                  <a:tcPr/>
                </a:tc>
                <a:extLst>
                  <a:ext uri="{0D108BD9-81ED-4DB2-BD59-A6C34878D82A}">
                    <a16:rowId xmlns:a16="http://schemas.microsoft.com/office/drawing/2014/main" val="10010"/>
                  </a:ext>
                </a:extLst>
              </a:tr>
              <a:tr h="0">
                <a:tc>
                  <a:txBody>
                    <a:bodyPr/>
                    <a:lstStyle/>
                    <a:p>
                      <a:pPr marL="0" lvl="0" indent="0" algn="l">
                        <a:buNone/>
                      </a:pPr>
                      <a:r>
                        <a:rPr sz="1000"/>
                        <a:t>Household budget surveys (HCES)</a:t>
                      </a:r>
                    </a:p>
                  </a:txBody>
                  <a:tcPr/>
                </a:tc>
                <a:tc>
                  <a:txBody>
                    <a:bodyPr/>
                    <a:lstStyle/>
                    <a:p>
                      <a:pPr marL="0" lvl="0" indent="0" algn="l">
                        <a:buNone/>
                      </a:pPr>
                      <a:r>
                        <a:rPr sz="1000"/>
                        <a:t>Food share, own production, consumption level, 7-day food groups (IHS, GLSS7, IHS4, SLIHS)</a:t>
                      </a:r>
                    </a:p>
                  </a:txBody>
                  <a:tcPr/>
                </a:tc>
                <a:extLst>
                  <a:ext uri="{0D108BD9-81ED-4DB2-BD59-A6C34878D82A}">
                    <a16:rowId xmlns:a16="http://schemas.microsoft.com/office/drawing/2014/main" val="10011"/>
                  </a:ext>
                </a:extLst>
              </a:tr>
              <a:tr h="0">
                <a:tc>
                  <a:txBody>
                    <a:bodyPr/>
                    <a:lstStyle/>
                    <a:p>
                      <a:pPr marL="0" lvl="0" indent="0" algn="l">
                        <a:buNone/>
                      </a:pPr>
                      <a:r>
                        <a:rPr sz="1000"/>
                        <a:t>Global Data Lab</a:t>
                      </a:r>
                    </a:p>
                  </a:txBody>
                  <a:tcPr/>
                </a:tc>
                <a:tc>
                  <a:txBody>
                    <a:bodyPr/>
                    <a:lstStyle/>
                    <a:p>
                      <a:pPr marL="0" lvl="0" indent="0" algn="l">
                        <a:buNone/>
                      </a:pPr>
                      <a:r>
                        <a:rPr sz="1000"/>
                        <a:t>Subnational human development index</a:t>
                      </a:r>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575 columns from 28 sources, on one district spine</a:t>
            </a:r>
          </a:p>
        </p:txBody>
      </p:sp>
      <p:sp>
        <p:nvSpPr>
          <p:cNvPr id="3" name="Content Placeholder 2"/>
          <p:cNvSpPr>
            <a:spLocks noGrp="1"/>
          </p:cNvSpPr>
          <p:nvPr>
            <p:ph sz="half" idx="1"/>
          </p:nvPr>
        </p:nvSpPr>
        <p:spPr/>
        <p:txBody>
          <a:bodyPr/>
          <a:lstStyle/>
          <a:p>
            <a:pPr marL="0" lvl="0" indent="0">
              <a:buNone/>
            </a:pPr>
            <a:r>
              <a:rPr sz="1800" dirty="0"/>
              <a:t>575 columns from 28 sources, </a:t>
            </a:r>
            <a:r>
              <a:rPr sz="1800" dirty="0" err="1"/>
              <a:t>harmonised</a:t>
            </a:r>
            <a:r>
              <a:rPr sz="1800" dirty="0"/>
              <a:t> onto one district spine. 518 exist in all four countries and can serve a model for a new country; the other 57 exist in one to three and are used inside the countries that have them.</a:t>
            </a:r>
          </a:p>
        </p:txBody>
      </p:sp>
      <p:pic>
        <p:nvPicPr>
          <p:cNvPr id="4" name="Picture 1" descr="MN-proxy-full-talk-2026-09_files/figure-pptx/sources-1.png"/>
          <p:cNvPicPr>
            <a:picLocks noGrp="1" noChangeAspect="1"/>
          </p:cNvPicPr>
          <p:nvPr/>
        </p:nvPicPr>
        <p:blipFill>
          <a:blip r:embed="rId4"/>
          <a:stretch>
            <a:fillRect/>
          </a:stretch>
        </p:blipFill>
        <p:spPr bwMode="auto">
          <a:xfrm>
            <a:off x="6273800" y="1816100"/>
            <a:ext cx="4991100" cy="434340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Three kinds of data, three ways to a district value</a:t>
            </a:r>
          </a:p>
        </p:txBody>
      </p:sp>
      <p:graphicFrame>
        <p:nvGraphicFramePr>
          <p:cNvPr id="6" name="Content Placeholder 5"/>
          <p:cNvGraphicFramePr>
            <a:graphicFrameLocks noGrp="1"/>
          </p:cNvGraphicFramePr>
          <p:nvPr>
            <p:ph idx="1"/>
          </p:nvPr>
        </p:nvGraphicFramePr>
        <p:xfrm>
          <a:off x="838200" y="1816100"/>
          <a:ext cx="10515600" cy="1828800"/>
        </p:xfrm>
        <a:graphic>
          <a:graphicData uri="http://schemas.openxmlformats.org/drawingml/2006/table">
            <a:tbl>
              <a:tblPr firstRow="1" bandRow="1">
                <a:tableStyleId>{5C22544A-7EE6-4342-B048-85BDC9FD1C3A}</a:tableStyleId>
              </a:tblPr>
              <a:tblGrid>
                <a:gridCol w="1498600">
                  <a:extLst>
                    <a:ext uri="{9D8B030D-6E8A-4147-A177-3AD203B41FA5}">
                      <a16:colId xmlns:a16="http://schemas.microsoft.com/office/drawing/2014/main" val="20000"/>
                    </a:ext>
                  </a:extLst>
                </a:gridCol>
                <a:gridCol w="2247900">
                  <a:extLst>
                    <a:ext uri="{9D8B030D-6E8A-4147-A177-3AD203B41FA5}">
                      <a16:colId xmlns:a16="http://schemas.microsoft.com/office/drawing/2014/main" val="20001"/>
                    </a:ext>
                  </a:extLst>
                </a:gridCol>
                <a:gridCol w="4584700">
                  <a:extLst>
                    <a:ext uri="{9D8B030D-6E8A-4147-A177-3AD203B41FA5}">
                      <a16:colId xmlns:a16="http://schemas.microsoft.com/office/drawing/2014/main" val="20002"/>
                    </a:ext>
                  </a:extLst>
                </a:gridCol>
                <a:gridCol w="2184400">
                  <a:extLst>
                    <a:ext uri="{9D8B030D-6E8A-4147-A177-3AD203B41FA5}">
                      <a16:colId xmlns:a16="http://schemas.microsoft.com/office/drawing/2014/main" val="20003"/>
                    </a:ext>
                  </a:extLst>
                </a:gridCol>
              </a:tblGrid>
              <a:tr h="0">
                <a:tc>
                  <a:txBody>
                    <a:bodyPr/>
                    <a:lstStyle/>
                    <a:p>
                      <a:pPr marL="0" lvl="0" indent="0" algn="l">
                        <a:buNone/>
                      </a:pPr>
                      <a:r>
                        <a:rPr sz="1000"/>
                        <a:t>Native form</a:t>
                      </a:r>
                    </a:p>
                  </a:txBody>
                  <a:tcPr/>
                </a:tc>
                <a:tc>
                  <a:txBody>
                    <a:bodyPr/>
                    <a:lstStyle/>
                    <a:p>
                      <a:pPr marL="0" lvl="0" indent="0" algn="l">
                        <a:buNone/>
                      </a:pPr>
                      <a:r>
                        <a:rPr sz="1000"/>
                        <a:t>Examples</a:t>
                      </a:r>
                    </a:p>
                  </a:txBody>
                  <a:tcPr/>
                </a:tc>
                <a:tc>
                  <a:txBody>
                    <a:bodyPr/>
                    <a:lstStyle/>
                    <a:p>
                      <a:pPr marL="0" lvl="0" indent="0" algn="l">
                        <a:buNone/>
                      </a:pPr>
                      <a:r>
                        <a:rPr sz="1000"/>
                        <a:t>To a district</a:t>
                      </a:r>
                    </a:p>
                  </a:txBody>
                  <a:tcPr/>
                </a:tc>
                <a:tc>
                  <a:txBody>
                    <a:bodyPr/>
                    <a:lstStyle/>
                    <a:p>
                      <a:pPr marL="0" lvl="0" indent="0" algn="l">
                        <a:buNone/>
                      </a:pPr>
                      <a:r>
                        <a:rPr sz="1000"/>
                        <a:t>Time</a:t>
                      </a:r>
                    </a:p>
                  </a:txBody>
                  <a:tcPr/>
                </a:tc>
                <a:extLst>
                  <a:ext uri="{0D108BD9-81ED-4DB2-BD59-A6C34878D82A}">
                    <a16:rowId xmlns:a16="http://schemas.microsoft.com/office/drawing/2014/main" val="10000"/>
                  </a:ext>
                </a:extLst>
              </a:tr>
              <a:tr h="0">
                <a:tc>
                  <a:txBody>
                    <a:bodyPr/>
                    <a:lstStyle/>
                    <a:p>
                      <a:pPr marL="0" lvl="0" indent="0" algn="l">
                        <a:buNone/>
                      </a:pPr>
                      <a:r>
                        <a:rPr sz="1000"/>
                        <a:t>Gridded raster (30 m to 10 km)</a:t>
                      </a:r>
                    </a:p>
                  </a:txBody>
                  <a:tcPr/>
                </a:tc>
                <a:tc>
                  <a:txBody>
                    <a:bodyPr/>
                    <a:lstStyle/>
                    <a:p>
                      <a:pPr marL="0" lvl="0" indent="0" algn="l">
                        <a:buNone/>
                      </a:pPr>
                      <a:r>
                        <a:rPr sz="1000"/>
                        <a:t>Climate, soil, satellite, IHME and MAP surfaces, population</a:t>
                      </a:r>
                    </a:p>
                  </a:txBody>
                  <a:tcPr/>
                </a:tc>
                <a:tc>
                  <a:txBody>
                    <a:bodyPr/>
                    <a:lstStyle/>
                    <a:p>
                      <a:pPr marL="0" lvl="0" indent="0" algn="l">
                        <a:buNone/>
                      </a:pPr>
                      <a:r>
                        <a:rPr sz="1000"/>
                        <a:t>Zonal mean over the district polygon, area- or population-weighted</a:t>
                      </a:r>
                    </a:p>
                  </a:txBody>
                  <a:tcPr/>
                </a:tc>
                <a:tc>
                  <a:txBody>
                    <a:bodyPr/>
                    <a:lstStyle/>
                    <a:p>
                      <a:pPr marL="0" lvl="0" indent="0" algn="l">
                        <a:buNone/>
                      </a:pPr>
                      <a:r>
                        <a:rPr sz="1000"/>
                        <a:t>Survey year, nearest year, or 30-year normal plus anomaly</a:t>
                      </a:r>
                    </a:p>
                  </a:txBody>
                  <a:tcPr/>
                </a:tc>
                <a:extLst>
                  <a:ext uri="{0D108BD9-81ED-4DB2-BD59-A6C34878D82A}">
                    <a16:rowId xmlns:a16="http://schemas.microsoft.com/office/drawing/2014/main" val="10001"/>
                  </a:ext>
                </a:extLst>
              </a:tr>
              <a:tr h="0">
                <a:tc>
                  <a:txBody>
                    <a:bodyPr/>
                    <a:lstStyle/>
                    <a:p>
                      <a:pPr marL="0" lvl="0" indent="0" algn="l">
                        <a:buNone/>
                      </a:pPr>
                      <a:r>
                        <a:rPr sz="1000"/>
                        <a:t>Survey with GPS clusters</a:t>
                      </a:r>
                    </a:p>
                  </a:txBody>
                  <a:tcPr/>
                </a:tc>
                <a:tc>
                  <a:txBody>
                    <a:bodyPr/>
                    <a:lstStyle/>
                    <a:p>
                      <a:pPr marL="0" lvl="0" indent="0" algn="l">
                        <a:buNone/>
                      </a:pPr>
                      <a:r>
                        <a:rPr sz="1000"/>
                        <a:t>DHS; MICS 2018 in The Gambia, 2017 in Sierra Leone</a:t>
                      </a:r>
                    </a:p>
                  </a:txBody>
                  <a:tcPr/>
                </a:tc>
                <a:tc>
                  <a:txBody>
                    <a:bodyPr/>
                    <a:lstStyle/>
                    <a:p>
                      <a:pPr marL="0" lvl="0" indent="0" algn="l">
                        <a:buNone/>
                      </a:pPr>
                      <a:r>
                        <a:rPr sz="1000"/>
                        <a:t>DHS: cluster spatial model (BYM2) so every district has a value; MICS: clusters inside the polygon, minimum 30 households</a:t>
                      </a:r>
                    </a:p>
                  </a:txBody>
                  <a:tcPr/>
                </a:tc>
                <a:tc>
                  <a:txBody>
                    <a:bodyPr/>
                    <a:lstStyle/>
                    <a:p>
                      <a:pPr marL="0" lvl="0" indent="0" algn="l">
                        <a:buNone/>
                      </a:pPr>
                      <a:r>
                        <a:rPr sz="1000"/>
                        <a:t>The round paired with the biomarker survey</a:t>
                      </a:r>
                    </a:p>
                  </a:txBody>
                  <a:tcPr/>
                </a:tc>
                <a:extLst>
                  <a:ext uri="{0D108BD9-81ED-4DB2-BD59-A6C34878D82A}">
                    <a16:rowId xmlns:a16="http://schemas.microsoft.com/office/drawing/2014/main" val="10002"/>
                  </a:ext>
                </a:extLst>
              </a:tr>
              <a:tr h="0">
                <a:tc>
                  <a:txBody>
                    <a:bodyPr/>
                    <a:lstStyle/>
                    <a:p>
                      <a:pPr marL="0" lvl="0" indent="0" algn="l">
                        <a:buNone/>
                      </a:pPr>
                      <a:r>
                        <a:rPr sz="1000"/>
                        <a:t>Survey identified to region or district</a:t>
                      </a:r>
                    </a:p>
                  </a:txBody>
                  <a:tcPr/>
                </a:tc>
                <a:tc>
                  <a:txBody>
                    <a:bodyPr/>
                    <a:lstStyle/>
                    <a:p>
                      <a:pPr marL="0" lvl="0" indent="0" algn="l">
                        <a:buNone/>
                      </a:pPr>
                      <a:r>
                        <a:rPr sz="1000"/>
                        <a:t>MICS in Ghana and Malawi; household budget surveys</a:t>
                      </a:r>
                    </a:p>
                  </a:txBody>
                  <a:tcPr/>
                </a:tc>
                <a:tc>
                  <a:txBody>
                    <a:bodyPr/>
                    <a:lstStyle/>
                    <a:p>
                      <a:pPr marL="0" lvl="0" indent="0" algn="l">
                        <a:buNone/>
                      </a:pPr>
                      <a:r>
                        <a:rPr sz="1000"/>
                        <a:t>Value of the smallest survey unit that contains the district, flagged as the parent’s value</a:t>
                      </a:r>
                    </a:p>
                  </a:txBody>
                  <a:tcPr/>
                </a:tc>
                <a:tc>
                  <a:txBody>
                    <a:bodyPr/>
                    <a:lstStyle/>
                    <a:p>
                      <a:pPr marL="0" lvl="0" indent="0" algn="l">
                        <a:buNone/>
                      </a:pPr>
                      <a:r>
                        <a:rPr sz="1000"/>
                        <a:t>The round nearest the survey</a:t>
                      </a:r>
                    </a:p>
                  </a:txBody>
                  <a:tcPr/>
                </a:tc>
                <a:extLst>
                  <a:ext uri="{0D108BD9-81ED-4DB2-BD59-A6C34878D82A}">
                    <a16:rowId xmlns:a16="http://schemas.microsoft.com/office/drawing/2014/main" val="10003"/>
                  </a:ext>
                </a:extLst>
              </a:tr>
              <a:tr h="0">
                <a:tc>
                  <a:txBody>
                    <a:bodyPr/>
                    <a:lstStyle/>
                    <a:p>
                      <a:pPr marL="0" lvl="0" indent="0" algn="l">
                        <a:buNone/>
                      </a:pPr>
                      <a:r>
                        <a:rPr sz="1000"/>
                        <a:t>National series</a:t>
                      </a:r>
                    </a:p>
                  </a:txBody>
                  <a:tcPr/>
                </a:tc>
                <a:tc>
                  <a:txBody>
                    <a:bodyPr/>
                    <a:lstStyle/>
                    <a:p>
                      <a:pPr marL="0" lvl="0" indent="0" algn="l">
                        <a:buNone/>
                      </a:pPr>
                      <a:r>
                        <a:rPr sz="1000"/>
                        <a:t>FAOSTAT balances, GFDx programme fields, FluNet</a:t>
                      </a:r>
                    </a:p>
                  </a:txBody>
                  <a:tcPr/>
                </a:tc>
                <a:tc>
                  <a:txBody>
                    <a:bodyPr/>
                    <a:lstStyle/>
                    <a:p>
                      <a:pPr marL="0" lvl="0" indent="0" algn="l">
                        <a:buNone/>
                      </a:pPr>
                      <a:r>
                        <a:rPr sz="1000"/>
                        <a:t>Constant within a country; dropped when the model is fitted</a:t>
                      </a:r>
                    </a:p>
                  </a:txBody>
                  <a:tcPr/>
                </a:tc>
                <a:tc>
                  <a:txBody>
                    <a:bodyPr/>
                    <a:lstStyle/>
                    <a:p>
                      <a:pPr marL="0" lvl="0" indent="0" algn="l">
                        <a:buNone/>
                      </a:pPr>
                      <a:r>
                        <a:rPr sz="1000"/>
                        <a:t>Survey year</a:t>
                      </a:r>
                    </a:p>
                  </a:txBody>
                  <a:tcPr/>
                </a:tc>
                <a:extLst>
                  <a:ext uri="{0D108BD9-81ED-4DB2-BD59-A6C34878D82A}">
                    <a16:rowId xmlns:a16="http://schemas.microsoft.com/office/drawing/2014/main" val="10004"/>
                  </a:ext>
                </a:extLst>
              </a:tr>
            </a:tbl>
          </a:graphicData>
        </a:graphic>
      </p:graphicFrame>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Every join is by code, never by name</a:t>
            </a:r>
          </a:p>
        </p:txBody>
      </p:sp>
      <p:sp>
        <p:nvSpPr>
          <p:cNvPr id="3" name="Content Placeholder 2"/>
          <p:cNvSpPr>
            <a:spLocks noGrp="1"/>
          </p:cNvSpPr>
          <p:nvPr>
            <p:ph sz="half" idx="1"/>
          </p:nvPr>
        </p:nvSpPr>
        <p:spPr/>
        <p:txBody>
          <a:bodyPr/>
          <a:lstStyle/>
          <a:p>
            <a:pPr lvl="0"/>
            <a:r>
              <a:rPr sz="1800"/>
              <a:t>554 districts on GADM 4.1: Gambia 37, Ghana 260, Malawi 243, Sierra Leone 14.</a:t>
            </a:r>
          </a:p>
          <a:p>
            <a:pPr lvl="0"/>
            <a:r>
              <a:rPr sz="1800"/>
              <a:t>Every unit carries its GADM code, HASC code and the OCHA p-code, so a join is by code where the source has one.</a:t>
            </a:r>
          </a:p>
          <a:p>
            <a:pPr lvl="0"/>
            <a:r>
              <a:rPr sz="1800"/>
              <a:t>Names are matched only as a last resort, through a reviewed alias table with a distance cap, and always on the region-district pair: Malawi has four Traditional Authority names that occur in two districts.</a:t>
            </a:r>
          </a:p>
          <a:p>
            <a:pPr lvl="0"/>
            <a:r>
              <a:rPr sz="1800"/>
              <a:t>A join that fans out or drops a unit fails the build. The population table had been missing one of each same-name pair for months; the test found it.</a:t>
            </a:r>
          </a:p>
        </p:txBody>
      </p:sp>
      <p:sp>
        <p:nvSpPr>
          <p:cNvPr id="4" name="Content Placeholder 3"/>
          <p:cNvSpPr>
            <a:spLocks noGrp="1"/>
          </p:cNvSpPr>
          <p:nvPr>
            <p:ph sz="half" idx="2"/>
          </p:nvPr>
        </p:nvSpPr>
        <p:spPr/>
        <p:txBody>
          <a:bodyPr/>
          <a:lstStyle/>
          <a:p>
            <a:pPr lvl="0"/>
            <a:r>
              <a:rPr sz="1800"/>
              <a:t>Ghana: 260 districts on the 2019 boundaries; sources on the 2012 boundaries (216) or the ten old regions are mapped with a crosswalk, never by name.</a:t>
            </a:r>
          </a:p>
          <a:p>
            <a:pPr lvl="0"/>
            <a:r>
              <a:rPr sz="1800"/>
              <a:t>Malawi: 243 Traditional Authorities; sources at district level (28) are broadcast down and flagged.</a:t>
            </a:r>
          </a:p>
          <a:p>
            <a:pPr lvl="0"/>
            <a:r>
              <a:rPr sz="1800"/>
              <a:t>The Gambia: 37 districts; Sierra Leone: 14 districts. With so few units, a fallback to the parent region changes more of the map.</a:t>
            </a:r>
          </a:p>
          <a:p>
            <a:pPr lvl="0"/>
            <a:r>
              <a:rPr sz="1800"/>
              <a:t>Survey clusters are linked to the same polygons for the cluster-level analyses and buffered for raster extraction.</a:t>
            </a:r>
          </a:p>
        </p:txBody>
      </p:sp>
    </p:spTree>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Every layer sits at the survey year, and the gap is recorded</a:t>
            </a:r>
          </a:p>
        </p:txBody>
      </p:sp>
      <p:sp>
        <p:nvSpPr>
          <p:cNvPr id="3" name="Content Placeholder 2"/>
          <p:cNvSpPr>
            <a:spLocks noGrp="1"/>
          </p:cNvSpPr>
          <p:nvPr>
            <p:ph sz="half" idx="1"/>
          </p:nvPr>
        </p:nvSpPr>
        <p:spPr/>
        <p:txBody>
          <a:bodyPr/>
          <a:lstStyle/>
          <a:p>
            <a:pPr marL="0" lvl="0" indent="0">
              <a:buNone/>
            </a:pPr>
            <a:r>
              <a:rPr sz="1800"/>
              <a:t>Surveys: The Gambia 2018, Ghana 2017, Malawi 2016, Sierra Leone 2013. Each column is placed by a written rule and stamped with the year used and the gap. 136 columns sit on the survey year in every country and 78 are static layers. 305 are three or more years off in at least one country: the DHS round paired with Ghana’s 2017 survey is from 2014, Sierra Leone’s 2013 survey predates the satellite embedding and its nearest MICS by four years, and MapSPAM’s 2010 crop map is the oldest layer everywhere.</a:t>
            </a:r>
          </a:p>
        </p:txBody>
      </p:sp>
      <p:pic>
        <p:nvPicPr>
          <p:cNvPr id="4" name="Picture 1" descr="MN-proxy-full-talk-2026-09_files/figure-pptx/time-1.png"/>
          <p:cNvPicPr>
            <a:picLocks noGrp="1" noChangeAspect="1"/>
          </p:cNvPicPr>
          <p:nvPr/>
        </p:nvPicPr>
        <p:blipFill>
          <a:blip r:embed="rId3"/>
          <a:stretch>
            <a:fillRect/>
          </a:stretch>
        </p:blipFill>
        <p:spPr bwMode="auto">
          <a:xfrm>
            <a:off x="6172200" y="2146300"/>
            <a:ext cx="5181600" cy="3683000"/>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29 domains, each entered as its leading components</a:t>
            </a:r>
          </a:p>
        </p:txBody>
      </p:sp>
      <p:sp>
        <p:nvSpPr>
          <p:cNvPr id="3" name="Rounded Rectangle 2"/>
          <p:cNvSpPr/>
          <p:nvPr/>
        </p:nvSpPr>
        <p:spPr>
          <a:xfrm>
            <a:off x="841248" y="16916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satellite_blue.png"/>
          <p:cNvPicPr>
            <a:picLocks noChangeAspect="1"/>
          </p:cNvPicPr>
          <p:nvPr/>
        </p:nvPicPr>
        <p:blipFill>
          <a:blip r:embed="rId4"/>
          <a:stretch>
            <a:fillRect/>
          </a:stretch>
        </p:blipFill>
        <p:spPr>
          <a:xfrm>
            <a:off x="978408" y="1891665"/>
            <a:ext cx="548640" cy="548640"/>
          </a:xfrm>
          <a:prstGeom prst="rect">
            <a:avLst/>
          </a:prstGeom>
        </p:spPr>
      </p:pic>
      <p:sp>
        <p:nvSpPr>
          <p:cNvPr id="5" name="TextBox 4"/>
          <p:cNvSpPr txBox="1"/>
          <p:nvPr/>
        </p:nvSpPr>
        <p:spPr>
          <a:xfrm>
            <a:off x="1664208" y="169164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Environment from satellite  (144)</a:t>
            </a:r>
          </a:p>
          <a:p>
            <a:pPr algn="l">
              <a:spcBef>
                <a:spcPts val="300"/>
              </a:spcBef>
            </a:pPr>
            <a:r>
              <a:rPr sz="1150" b="0">
                <a:solidFill>
                  <a:srgbClr val="333333"/>
                </a:solidFill>
                <a:latin typeface="Calibri"/>
              </a:rPr>
              <a:t>AlphaEarth embedding; temperature, rainfall, drought index; NDVI and productivity; distance to water and coast</a:t>
            </a:r>
          </a:p>
        </p:txBody>
      </p:sp>
      <p:sp>
        <p:nvSpPr>
          <p:cNvPr id="6" name="Rounded Rectangle 5"/>
          <p:cNvSpPr/>
          <p:nvPr/>
        </p:nvSpPr>
        <p:spPr>
          <a:xfrm>
            <a:off x="6259068" y="16916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mound_blue.png"/>
          <p:cNvPicPr>
            <a:picLocks noChangeAspect="1"/>
          </p:cNvPicPr>
          <p:nvPr/>
        </p:nvPicPr>
        <p:blipFill>
          <a:blip r:embed="rId5"/>
          <a:stretch>
            <a:fillRect/>
          </a:stretch>
        </p:blipFill>
        <p:spPr>
          <a:xfrm>
            <a:off x="6396228" y="1891665"/>
            <a:ext cx="617220" cy="548640"/>
          </a:xfrm>
          <a:prstGeom prst="rect">
            <a:avLst/>
          </a:prstGeom>
        </p:spPr>
      </p:pic>
      <p:sp>
        <p:nvSpPr>
          <p:cNvPr id="8" name="TextBox 7"/>
          <p:cNvSpPr txBox="1"/>
          <p:nvPr/>
        </p:nvSpPr>
        <p:spPr>
          <a:xfrm>
            <a:off x="7082028" y="169164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Soil  (45)</a:t>
            </a:r>
          </a:p>
          <a:p>
            <a:pPr algn="l">
              <a:spcBef>
                <a:spcPts val="300"/>
              </a:spcBef>
            </a:pPr>
            <a:r>
              <a:rPr sz="1150" b="0">
                <a:solidFill>
                  <a:srgbClr val="333333"/>
                </a:solidFill>
                <a:latin typeface="Calibri"/>
              </a:rPr>
              <a:t>SoilGrids and iSDA: pH, organic carbon, texture, nutrient availability</a:t>
            </a:r>
          </a:p>
        </p:txBody>
      </p:sp>
      <p:sp>
        <p:nvSpPr>
          <p:cNvPr id="9" name="Rounded Rectangle 8"/>
          <p:cNvSpPr/>
          <p:nvPr/>
        </p:nvSpPr>
        <p:spPr>
          <a:xfrm>
            <a:off x="841248" y="27774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tractor_blue.png"/>
          <p:cNvPicPr>
            <a:picLocks noChangeAspect="1"/>
          </p:cNvPicPr>
          <p:nvPr/>
        </p:nvPicPr>
        <p:blipFill>
          <a:blip r:embed="rId6"/>
          <a:stretch>
            <a:fillRect/>
          </a:stretch>
        </p:blipFill>
        <p:spPr>
          <a:xfrm>
            <a:off x="978408" y="2977515"/>
            <a:ext cx="685800" cy="548640"/>
          </a:xfrm>
          <a:prstGeom prst="rect">
            <a:avLst/>
          </a:prstGeom>
        </p:spPr>
      </p:pic>
      <p:sp>
        <p:nvSpPr>
          <p:cNvPr id="11" name="TextBox 10"/>
          <p:cNvSpPr txBox="1"/>
          <p:nvPr/>
        </p:nvSpPr>
        <p:spPr>
          <a:xfrm>
            <a:off x="1664208" y="277749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Agriculture and livestock  (37)</a:t>
            </a:r>
          </a:p>
          <a:p>
            <a:pPr algn="l">
              <a:spcBef>
                <a:spcPts val="300"/>
              </a:spcBef>
            </a:pPr>
            <a:r>
              <a:rPr sz="1150" b="0">
                <a:solidFill>
                  <a:srgbClr val="333333"/>
                </a:solidFill>
                <a:latin typeface="Calibri"/>
              </a:rPr>
              <a:t>MapSPAM crop mix and cropland; cattle, goat and poultry density</a:t>
            </a:r>
          </a:p>
        </p:txBody>
      </p:sp>
      <p:sp>
        <p:nvSpPr>
          <p:cNvPr id="12" name="Rounded Rectangle 11"/>
          <p:cNvSpPr/>
          <p:nvPr/>
        </p:nvSpPr>
        <p:spPr>
          <a:xfrm>
            <a:off x="6259068" y="27774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basket-shopping_blue.png"/>
          <p:cNvPicPr>
            <a:picLocks noChangeAspect="1"/>
          </p:cNvPicPr>
          <p:nvPr/>
        </p:nvPicPr>
        <p:blipFill>
          <a:blip r:embed="rId7"/>
          <a:stretch>
            <a:fillRect/>
          </a:stretch>
        </p:blipFill>
        <p:spPr>
          <a:xfrm>
            <a:off x="6396228" y="2977515"/>
            <a:ext cx="617220" cy="548640"/>
          </a:xfrm>
          <a:prstGeom prst="rect">
            <a:avLst/>
          </a:prstGeom>
        </p:spPr>
      </p:pic>
      <p:sp>
        <p:nvSpPr>
          <p:cNvPr id="14" name="TextBox 13"/>
          <p:cNvSpPr txBox="1"/>
          <p:nvPr/>
        </p:nvSpPr>
        <p:spPr>
          <a:xfrm>
            <a:off x="7082028" y="277749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Food, prices and diet  (83)</a:t>
            </a:r>
          </a:p>
          <a:p>
            <a:pPr algn="l">
              <a:spcBef>
                <a:spcPts val="300"/>
              </a:spcBef>
            </a:pPr>
            <a:r>
              <a:rPr sz="1150" b="0">
                <a:solidFill>
                  <a:srgbClr val="333333"/>
                </a:solidFill>
                <a:latin typeface="Calibri"/>
              </a:rPr>
              <a:t>WFP and World Bank prices; budget-survey diets; fortification and supplementation coverage</a:t>
            </a:r>
          </a:p>
        </p:txBody>
      </p:sp>
      <p:sp>
        <p:nvSpPr>
          <p:cNvPr id="15" name="Rounded Rectangle 14"/>
          <p:cNvSpPr/>
          <p:nvPr/>
        </p:nvSpPr>
        <p:spPr>
          <a:xfrm>
            <a:off x="841248" y="38633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virus_blue.png"/>
          <p:cNvPicPr>
            <a:picLocks noChangeAspect="1"/>
          </p:cNvPicPr>
          <p:nvPr/>
        </p:nvPicPr>
        <p:blipFill>
          <a:blip r:embed="rId8"/>
          <a:stretch>
            <a:fillRect/>
          </a:stretch>
        </p:blipFill>
        <p:spPr>
          <a:xfrm>
            <a:off x="978408" y="4063365"/>
            <a:ext cx="548640" cy="548640"/>
          </a:xfrm>
          <a:prstGeom prst="rect">
            <a:avLst/>
          </a:prstGeom>
        </p:spPr>
      </p:pic>
      <p:sp>
        <p:nvSpPr>
          <p:cNvPr id="17" name="TextBox 16"/>
          <p:cNvSpPr txBox="1"/>
          <p:nvPr/>
        </p:nvSpPr>
        <p:spPr>
          <a:xfrm>
            <a:off x="1664208" y="386334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Infection and disease  (84)</a:t>
            </a:r>
          </a:p>
          <a:p>
            <a:pPr algn="l">
              <a:spcBef>
                <a:spcPts val="300"/>
              </a:spcBef>
            </a:pPr>
            <a:r>
              <a:rPr sz="1150" b="0">
                <a:solidFill>
                  <a:srgbClr val="333333"/>
                </a:solidFill>
                <a:latin typeface="Calibri"/>
              </a:rPr>
              <a:t>Malaria, helminths, inflammation; child morbidity and mortality; immunisation coverage</a:t>
            </a:r>
          </a:p>
        </p:txBody>
      </p:sp>
      <p:sp>
        <p:nvSpPr>
          <p:cNvPr id="18" name="Rounded Rectangle 17"/>
          <p:cNvSpPr/>
          <p:nvPr/>
        </p:nvSpPr>
        <p:spPr>
          <a:xfrm>
            <a:off x="6259068" y="386334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child_blue.png"/>
          <p:cNvPicPr>
            <a:picLocks noChangeAspect="1"/>
          </p:cNvPicPr>
          <p:nvPr/>
        </p:nvPicPr>
        <p:blipFill>
          <a:blip r:embed="rId9"/>
          <a:stretch>
            <a:fillRect/>
          </a:stretch>
        </p:blipFill>
        <p:spPr>
          <a:xfrm>
            <a:off x="6396228" y="4063365"/>
            <a:ext cx="342900" cy="548640"/>
          </a:xfrm>
          <a:prstGeom prst="rect">
            <a:avLst/>
          </a:prstGeom>
        </p:spPr>
      </p:pic>
      <p:sp>
        <p:nvSpPr>
          <p:cNvPr id="20" name="TextBox 19"/>
          <p:cNvSpPr txBox="1"/>
          <p:nvPr/>
        </p:nvSpPr>
        <p:spPr>
          <a:xfrm>
            <a:off x="7082028" y="386334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Nutrition status  (64)</a:t>
            </a:r>
          </a:p>
          <a:p>
            <a:pPr algn="l">
              <a:spcBef>
                <a:spcPts val="300"/>
              </a:spcBef>
            </a:pPr>
            <a:r>
              <a:rPr sz="1150" b="0">
                <a:solidFill>
                  <a:srgbClr val="333333"/>
                </a:solidFill>
                <a:latin typeface="Calibri"/>
              </a:rPr>
              <a:t>Stunting and wasting; anaemia surfaces; infant and young child feeding</a:t>
            </a:r>
          </a:p>
        </p:txBody>
      </p:sp>
      <p:sp>
        <p:nvSpPr>
          <p:cNvPr id="21" name="Rounded Rectangle 20"/>
          <p:cNvSpPr/>
          <p:nvPr/>
        </p:nvSpPr>
        <p:spPr>
          <a:xfrm>
            <a:off x="841248" y="49491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house-chimney_blue.png"/>
          <p:cNvPicPr>
            <a:picLocks noChangeAspect="1"/>
          </p:cNvPicPr>
          <p:nvPr/>
        </p:nvPicPr>
        <p:blipFill>
          <a:blip r:embed="rId10"/>
          <a:stretch>
            <a:fillRect/>
          </a:stretch>
        </p:blipFill>
        <p:spPr>
          <a:xfrm>
            <a:off x="978408" y="5149215"/>
            <a:ext cx="617220" cy="548640"/>
          </a:xfrm>
          <a:prstGeom prst="rect">
            <a:avLst/>
          </a:prstGeom>
        </p:spPr>
      </p:pic>
      <p:sp>
        <p:nvSpPr>
          <p:cNvPr id="23" name="TextBox 22"/>
          <p:cNvSpPr txBox="1"/>
          <p:nvPr/>
        </p:nvSpPr>
        <p:spPr>
          <a:xfrm>
            <a:off x="1664208" y="494919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Households and economy  (90)</a:t>
            </a:r>
          </a:p>
          <a:p>
            <a:pPr algn="l">
              <a:spcBef>
                <a:spcPts val="300"/>
              </a:spcBef>
            </a:pPr>
            <a:r>
              <a:rPr sz="1150" b="0">
                <a:solidFill>
                  <a:srgbClr val="333333"/>
                </a:solidFill>
                <a:latin typeface="Calibri"/>
              </a:rPr>
              <a:t>Assets, schooling, employment; water and sanitation; fertility; access to care</a:t>
            </a:r>
          </a:p>
        </p:txBody>
      </p:sp>
      <p:sp>
        <p:nvSpPr>
          <p:cNvPr id="24" name="Rounded Rectangle 23"/>
          <p:cNvSpPr/>
          <p:nvPr/>
        </p:nvSpPr>
        <p:spPr>
          <a:xfrm>
            <a:off x="6259068" y="4949190"/>
            <a:ext cx="5097780" cy="948690"/>
          </a:xfrm>
          <a:prstGeom prst="roundRect">
            <a:avLst>
              <a:gd name="adj" fmla="val 963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city_blue.png"/>
          <p:cNvPicPr>
            <a:picLocks noChangeAspect="1"/>
          </p:cNvPicPr>
          <p:nvPr/>
        </p:nvPicPr>
        <p:blipFill>
          <a:blip r:embed="rId11"/>
          <a:stretch>
            <a:fillRect/>
          </a:stretch>
        </p:blipFill>
        <p:spPr>
          <a:xfrm>
            <a:off x="6396228" y="5149215"/>
            <a:ext cx="685800" cy="548640"/>
          </a:xfrm>
          <a:prstGeom prst="rect">
            <a:avLst/>
          </a:prstGeom>
        </p:spPr>
      </p:pic>
      <p:sp>
        <p:nvSpPr>
          <p:cNvPr id="26" name="TextBox 25"/>
          <p:cNvSpPr txBox="1"/>
          <p:nvPr/>
        </p:nvSpPr>
        <p:spPr>
          <a:xfrm>
            <a:off x="7082028" y="4949190"/>
            <a:ext cx="4183380" cy="948690"/>
          </a:xfrm>
          <a:prstGeom prst="rect">
            <a:avLst/>
          </a:prstGeom>
          <a:noFill/>
        </p:spPr>
        <p:txBody>
          <a:bodyPr wrap="square" lIns="45720" tIns="27432" rIns="45720" bIns="27432" anchor="ctr">
            <a:spAutoFit/>
          </a:bodyPr>
          <a:lstStyle/>
          <a:p>
            <a:pPr algn="l"/>
            <a:r>
              <a:rPr sz="1500" b="1">
                <a:solidFill>
                  <a:srgbClr val="1F4E79"/>
                </a:solidFill>
                <a:latin typeface="Calibri"/>
              </a:rPr>
              <a:t>Settlement, access and security  (28)</a:t>
            </a:r>
          </a:p>
          <a:p>
            <a:pPr algn="l">
              <a:spcBef>
                <a:spcPts val="300"/>
              </a:spcBef>
            </a:pPr>
            <a:r>
              <a:rPr sz="1150" b="0">
                <a:solidFill>
                  <a:srgbClr val="333333"/>
                </a:solidFill>
                <a:latin typeface="Calibri"/>
              </a:rPr>
              <a:t>Night lights, population density, travel time, built-up area; conflict events</a:t>
            </a:r>
          </a:p>
        </p:txBody>
      </p:sp>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The predictors on the map: eight of the 575, Ghana</a:t>
            </a:r>
          </a:p>
        </p:txBody>
      </p:sp>
      <p:pic>
        <p:nvPicPr>
          <p:cNvPr id="3" name="Picture 1" descr="MN-proxy-full-talk-2026-09_files/figure-pptx/ghana-predictor-maps-1.png"/>
          <p:cNvPicPr>
            <a:picLocks noGrp="1" noChangeAspect="1"/>
          </p:cNvPicPr>
          <p:nvPr/>
        </p:nvPicPr>
        <p:blipFill>
          <a:blip r:embed="rId4"/>
          <a:stretch>
            <a:fillRect/>
          </a:stretch>
        </p:blipFill>
        <p:spPr bwMode="auto">
          <a:xfrm>
            <a:off x="1591484" y="1691640"/>
            <a:ext cx="9015128"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From four surveys and 28 sources to one district table</a:t>
            </a:r>
          </a:p>
        </p:txBody>
      </p:sp>
      <p:sp>
        <p:nvSpPr>
          <p:cNvPr id="3" name="Rounded Rectangle 2"/>
          <p:cNvSpPr/>
          <p:nvPr/>
        </p:nvSpPr>
        <p:spPr>
          <a:xfrm>
            <a:off x="84124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vials_blue.png"/>
          <p:cNvPicPr>
            <a:picLocks noChangeAspect="1"/>
          </p:cNvPicPr>
          <p:nvPr/>
        </p:nvPicPr>
        <p:blipFill>
          <a:blip r:embed="rId4"/>
          <a:stretch>
            <a:fillRect/>
          </a:stretch>
        </p:blipFill>
        <p:spPr>
          <a:xfrm>
            <a:off x="1024128" y="1856232"/>
            <a:ext cx="566928" cy="566928"/>
          </a:xfrm>
          <a:prstGeom prst="rect">
            <a:avLst/>
          </a:prstGeom>
        </p:spPr>
      </p:pic>
      <p:sp>
        <p:nvSpPr>
          <p:cNvPr id="5" name="TextBox 4"/>
          <p:cNvSpPr txBox="1"/>
          <p:nvPr/>
        </p:nvSpPr>
        <p:spPr>
          <a:xfrm>
            <a:off x="1709928" y="180136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1. Clean and merge the surveys</a:t>
            </a:r>
          </a:p>
        </p:txBody>
      </p:sp>
      <p:sp>
        <p:nvSpPr>
          <p:cNvPr id="6" name="TextBox 5"/>
          <p:cNvSpPr txBox="1"/>
          <p:nvPr/>
        </p:nvSpPr>
        <p:spPr>
          <a:xfrm>
            <a:off x="1024128" y="253288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Four national micronutrient surveys; one uniform outcome definition per nutrient across countries.</a:t>
            </a:r>
          </a:p>
        </p:txBody>
      </p:sp>
      <p:sp>
        <p:nvSpPr>
          <p:cNvPr id="7" name="Chevron 6"/>
          <p:cNvSpPr/>
          <p:nvPr/>
        </p:nvSpPr>
        <p:spPr>
          <a:xfrm>
            <a:off x="4139184" y="252831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1408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satellite_blue.png"/>
          <p:cNvPicPr>
            <a:picLocks noChangeAspect="1"/>
          </p:cNvPicPr>
          <p:nvPr/>
        </p:nvPicPr>
        <p:blipFill>
          <a:blip r:embed="rId5"/>
          <a:stretch>
            <a:fillRect/>
          </a:stretch>
        </p:blipFill>
        <p:spPr>
          <a:xfrm>
            <a:off x="4696968" y="1856232"/>
            <a:ext cx="566928" cy="566928"/>
          </a:xfrm>
          <a:prstGeom prst="rect">
            <a:avLst/>
          </a:prstGeom>
        </p:spPr>
      </p:pic>
      <p:sp>
        <p:nvSpPr>
          <p:cNvPr id="10" name="TextBox 9"/>
          <p:cNvSpPr txBox="1"/>
          <p:nvPr/>
        </p:nvSpPr>
        <p:spPr>
          <a:xfrm>
            <a:off x="5382768" y="180136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2. Link gridded layers</a:t>
            </a:r>
          </a:p>
        </p:txBody>
      </p:sp>
      <p:sp>
        <p:nvSpPr>
          <p:cNvPr id="11" name="TextBox 10"/>
          <p:cNvSpPr txBox="1"/>
          <p:nvPr/>
        </p:nvSpPr>
        <p:spPr>
          <a:xfrm>
            <a:off x="4696968" y="253288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Zonal means to districts; buffer means to survey clusters.</a:t>
            </a:r>
          </a:p>
        </p:txBody>
      </p:sp>
      <p:sp>
        <p:nvSpPr>
          <p:cNvPr id="12" name="Chevron 11"/>
          <p:cNvSpPr/>
          <p:nvPr/>
        </p:nvSpPr>
        <p:spPr>
          <a:xfrm>
            <a:off x="7812024" y="252831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8692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people-roof_blue.png"/>
          <p:cNvPicPr>
            <a:picLocks noChangeAspect="1"/>
          </p:cNvPicPr>
          <p:nvPr/>
        </p:nvPicPr>
        <p:blipFill>
          <a:blip r:embed="rId6"/>
          <a:stretch>
            <a:fillRect/>
          </a:stretch>
        </p:blipFill>
        <p:spPr>
          <a:xfrm>
            <a:off x="8369808" y="1856232"/>
            <a:ext cx="708660" cy="566928"/>
          </a:xfrm>
          <a:prstGeom prst="rect">
            <a:avLst/>
          </a:prstGeom>
        </p:spPr>
      </p:pic>
      <p:sp>
        <p:nvSpPr>
          <p:cNvPr id="15" name="TextBox 14"/>
          <p:cNvSpPr txBox="1"/>
          <p:nvPr/>
        </p:nvSpPr>
        <p:spPr>
          <a:xfrm>
            <a:off x="9055608" y="180136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3. Aggregate household surveys</a:t>
            </a:r>
          </a:p>
        </p:txBody>
      </p:sp>
      <p:sp>
        <p:nvSpPr>
          <p:cNvPr id="16" name="TextBox 15"/>
          <p:cNvSpPr txBox="1"/>
          <p:nvPr/>
        </p:nvSpPr>
        <p:spPr>
          <a:xfrm>
            <a:off x="8369808" y="2532888"/>
            <a:ext cx="2849880" cy="1051560"/>
          </a:xfrm>
          <a:prstGeom prst="rect">
            <a:avLst/>
          </a:prstGeom>
          <a:noFill/>
        </p:spPr>
        <p:txBody>
          <a:bodyPr wrap="square" lIns="45720" tIns="27432" rIns="45720" bIns="27432" anchor="t">
            <a:spAutoFit/>
          </a:bodyPr>
          <a:lstStyle/>
          <a:p>
            <a:pPr algn="l"/>
            <a:r>
              <a:rPr sz="1300" b="0" dirty="0">
                <a:solidFill>
                  <a:srgbClr val="333333"/>
                </a:solidFill>
                <a:latin typeface="Calibri"/>
              </a:rPr>
              <a:t>DHS through a cluster-level spatial model; MICS and budget surveys from their public microdata.</a:t>
            </a:r>
          </a:p>
        </p:txBody>
      </p:sp>
      <p:sp>
        <p:nvSpPr>
          <p:cNvPr id="17" name="Rounded Rectangle 16"/>
          <p:cNvSpPr/>
          <p:nvPr/>
        </p:nvSpPr>
        <p:spPr>
          <a:xfrm>
            <a:off x="84124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alendar-check_blue.png"/>
          <p:cNvPicPr>
            <a:picLocks noChangeAspect="1"/>
          </p:cNvPicPr>
          <p:nvPr/>
        </p:nvPicPr>
        <p:blipFill>
          <a:blip r:embed="rId7"/>
          <a:stretch>
            <a:fillRect/>
          </a:stretch>
        </p:blipFill>
        <p:spPr>
          <a:xfrm>
            <a:off x="1024128" y="4096512"/>
            <a:ext cx="496062" cy="566928"/>
          </a:xfrm>
          <a:prstGeom prst="rect">
            <a:avLst/>
          </a:prstGeom>
        </p:spPr>
      </p:pic>
      <p:sp>
        <p:nvSpPr>
          <p:cNvPr id="19" name="TextBox 18"/>
          <p:cNvSpPr txBox="1"/>
          <p:nvPr/>
        </p:nvSpPr>
        <p:spPr>
          <a:xfrm>
            <a:off x="1709928" y="404164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4. Align in time</a:t>
            </a:r>
          </a:p>
        </p:txBody>
      </p:sp>
      <p:sp>
        <p:nvSpPr>
          <p:cNvPr id="20" name="TextBox 19"/>
          <p:cNvSpPr txBox="1"/>
          <p:nvPr/>
        </p:nvSpPr>
        <p:spPr>
          <a:xfrm>
            <a:off x="1024128" y="477316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Every layer at the survey year or the nearest; climate as a 30-year normal plus the survey-year anomaly.</a:t>
            </a:r>
          </a:p>
        </p:txBody>
      </p:sp>
      <p:sp>
        <p:nvSpPr>
          <p:cNvPr id="21" name="Chevron 20"/>
          <p:cNvSpPr/>
          <p:nvPr/>
        </p:nvSpPr>
        <p:spPr>
          <a:xfrm>
            <a:off x="4139184" y="476859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51408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lock-open_blue.png"/>
          <p:cNvPicPr>
            <a:picLocks noChangeAspect="1"/>
          </p:cNvPicPr>
          <p:nvPr/>
        </p:nvPicPr>
        <p:blipFill>
          <a:blip r:embed="rId8"/>
          <a:stretch>
            <a:fillRect/>
          </a:stretch>
        </p:blipFill>
        <p:spPr>
          <a:xfrm>
            <a:off x="4696968" y="4096512"/>
            <a:ext cx="637794" cy="566928"/>
          </a:xfrm>
          <a:prstGeom prst="rect">
            <a:avLst/>
          </a:prstGeom>
        </p:spPr>
      </p:pic>
      <p:sp>
        <p:nvSpPr>
          <p:cNvPr id="24" name="TextBox 23"/>
          <p:cNvSpPr txBox="1"/>
          <p:nvPr/>
        </p:nvSpPr>
        <p:spPr>
          <a:xfrm>
            <a:off x="5382768" y="404164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5. Open data only</a:t>
            </a:r>
          </a:p>
        </p:txBody>
      </p:sp>
      <p:sp>
        <p:nvSpPr>
          <p:cNvPr id="25" name="TextBox 24"/>
          <p:cNvSpPr txBox="1"/>
          <p:nvPr/>
        </p:nvSpPr>
        <p:spPr>
          <a:xfrm>
            <a:off x="4696968" y="4773168"/>
            <a:ext cx="2849880" cy="1051560"/>
          </a:xfrm>
          <a:prstGeom prst="rect">
            <a:avLst/>
          </a:prstGeom>
          <a:noFill/>
        </p:spPr>
        <p:txBody>
          <a:bodyPr wrap="square" lIns="45720" tIns="27432" rIns="45720" bIns="27432" anchor="t">
            <a:spAutoFit/>
          </a:bodyPr>
          <a:lstStyle/>
          <a:p>
            <a:pPr algn="l"/>
            <a:r>
              <a:rPr sz="1300" b="0" dirty="0">
                <a:solidFill>
                  <a:srgbClr val="333333"/>
                </a:solidFill>
                <a:latin typeface="Calibri"/>
              </a:rPr>
              <a:t>Headline models use open layers and public microdata; the DHS aggregates are a sensitivity arm.</a:t>
            </a:r>
          </a:p>
        </p:txBody>
      </p:sp>
      <p:sp>
        <p:nvSpPr>
          <p:cNvPr id="26" name="Chevron 25"/>
          <p:cNvSpPr/>
          <p:nvPr/>
        </p:nvSpPr>
        <p:spPr>
          <a:xfrm>
            <a:off x="7812024" y="476859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18692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sliders_blue.png"/>
          <p:cNvPicPr>
            <a:picLocks noChangeAspect="1"/>
          </p:cNvPicPr>
          <p:nvPr/>
        </p:nvPicPr>
        <p:blipFill>
          <a:blip r:embed="rId9"/>
          <a:stretch>
            <a:fillRect/>
          </a:stretch>
        </p:blipFill>
        <p:spPr>
          <a:xfrm>
            <a:off x="8369808" y="4096512"/>
            <a:ext cx="566928" cy="566928"/>
          </a:xfrm>
          <a:prstGeom prst="rect">
            <a:avLst/>
          </a:prstGeom>
        </p:spPr>
      </p:pic>
      <p:sp>
        <p:nvSpPr>
          <p:cNvPr id="29" name="TextBox 28"/>
          <p:cNvSpPr txBox="1"/>
          <p:nvPr/>
        </p:nvSpPr>
        <p:spPr>
          <a:xfrm>
            <a:off x="9055608" y="404164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6. Rank-normalise and reduce</a:t>
            </a:r>
          </a:p>
        </p:txBody>
      </p:sp>
      <p:sp>
        <p:nvSpPr>
          <p:cNvPr id="30" name="TextBox 29"/>
          <p:cNvSpPr txBox="1"/>
          <p:nvPr/>
        </p:nvSpPr>
        <p:spPr>
          <a:xfrm>
            <a:off x="8369808" y="4773168"/>
            <a:ext cx="2849880" cy="1051560"/>
          </a:xfrm>
          <a:prstGeom prst="rect">
            <a:avLst/>
          </a:prstGeom>
          <a:noFill/>
        </p:spPr>
        <p:txBody>
          <a:bodyPr wrap="square" lIns="45720" tIns="27432" rIns="45720" bIns="27432" anchor="t">
            <a:spAutoFit/>
          </a:bodyPr>
          <a:lstStyle/>
          <a:p>
            <a:pPr algn="l"/>
            <a:r>
              <a:rPr sz="1300" b="0" dirty="0">
                <a:solidFill>
                  <a:srgbClr val="333333"/>
                </a:solidFill>
                <a:latin typeface="Calibri"/>
              </a:rPr>
              <a:t>Within country, so level offsets cannot act as signal; 29 domains to their leading components, nothing selected on the outcome.</a:t>
            </a:r>
          </a:p>
        </p:txBody>
      </p:sp>
    </p:spTree>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Every column kept or dropped has a written reason</a:t>
            </a:r>
          </a:p>
        </p:txBody>
      </p:sp>
      <p:graphicFrame>
        <p:nvGraphicFramePr>
          <p:cNvPr id="6" name="Content Placeholder 5"/>
          <p:cNvGraphicFramePr>
            <a:graphicFrameLocks noGrp="1"/>
          </p:cNvGraphicFramePr>
          <p:nvPr>
            <p:ph idx="1"/>
          </p:nvPr>
        </p:nvGraphicFramePr>
        <p:xfrm>
          <a:off x="838200" y="1816100"/>
          <a:ext cx="10515600" cy="1828800"/>
        </p:xfrm>
        <a:graphic>
          <a:graphicData uri="http://schemas.openxmlformats.org/drawingml/2006/table">
            <a:tbl>
              <a:tblPr firstRow="1" bandRow="1">
                <a:tableStyleId>{5C22544A-7EE6-4342-B048-85BDC9FD1C3A}</a:tableStyleId>
              </a:tblPr>
              <a:tblGrid>
                <a:gridCol w="1473200">
                  <a:extLst>
                    <a:ext uri="{9D8B030D-6E8A-4147-A177-3AD203B41FA5}">
                      <a16:colId xmlns:a16="http://schemas.microsoft.com/office/drawing/2014/main" val="20000"/>
                    </a:ext>
                  </a:extLst>
                </a:gridCol>
                <a:gridCol w="83439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tblGrid>
              <a:tr h="0">
                <a:tc>
                  <a:txBody>
                    <a:bodyPr/>
                    <a:lstStyle/>
                    <a:p>
                      <a:pPr marL="0" lvl="0" indent="0" algn="l">
                        <a:buNone/>
                      </a:pPr>
                      <a:r>
                        <a:rPr sz="1000"/>
                        <a:t>Step</a:t>
                      </a:r>
                    </a:p>
                  </a:txBody>
                  <a:tcPr/>
                </a:tc>
                <a:tc>
                  <a:txBody>
                    <a:bodyPr/>
                    <a:lstStyle/>
                    <a:p>
                      <a:pPr marL="0" lvl="0" indent="0" algn="l">
                        <a:buNone/>
                      </a:pPr>
                      <a:r>
                        <a:rPr sz="1000"/>
                        <a:t>What happens</a:t>
                      </a:r>
                    </a:p>
                  </a:txBody>
                  <a:tcPr/>
                </a:tc>
                <a:tc>
                  <a:txBody>
                    <a:bodyPr/>
                    <a:lstStyle/>
                    <a:p>
                      <a:pPr marL="0" lvl="0" indent="0" algn="l">
                        <a:buNone/>
                      </a:pPr>
                      <a:r>
                        <a:rPr sz="1000"/>
                        <a:t>Columns</a:t>
                      </a:r>
                    </a:p>
                  </a:txBody>
                  <a:tcPr/>
                </a:tc>
                <a:extLst>
                  <a:ext uri="{0D108BD9-81ED-4DB2-BD59-A6C34878D82A}">
                    <a16:rowId xmlns:a16="http://schemas.microsoft.com/office/drawing/2014/main" val="10000"/>
                  </a:ext>
                </a:extLst>
              </a:tr>
              <a:tr h="0">
                <a:tc>
                  <a:txBody>
                    <a:bodyPr/>
                    <a:lstStyle/>
                    <a:p>
                      <a:pPr marL="0" lvl="0" indent="0" algn="l">
                        <a:buNone/>
                      </a:pPr>
                      <a:r>
                        <a:rPr sz="1000"/>
                        <a:t>Assemble</a:t>
                      </a:r>
                    </a:p>
                  </a:txBody>
                  <a:tcPr/>
                </a:tc>
                <a:tc>
                  <a:txBody>
                    <a:bodyPr/>
                    <a:lstStyle/>
                    <a:p>
                      <a:pPr marL="0" lvl="0" indent="0" algn="l">
                        <a:buNone/>
                      </a:pPr>
                      <a:r>
                        <a:rPr sz="1000"/>
                        <a:t>Base extraction on the spine, food environment, extra sources, add-back sources</a:t>
                      </a:r>
                    </a:p>
                  </a:txBody>
                  <a:tcPr/>
                </a:tc>
                <a:tc>
                  <a:txBody>
                    <a:bodyPr/>
                    <a:lstStyle/>
                    <a:p>
                      <a:endParaRPr/>
                    </a:p>
                  </a:txBody>
                  <a:tcPr/>
                </a:tc>
                <a:extLst>
                  <a:ext uri="{0D108BD9-81ED-4DB2-BD59-A6C34878D82A}">
                    <a16:rowId xmlns:a16="http://schemas.microsoft.com/office/drawing/2014/main" val="10001"/>
                  </a:ext>
                </a:extLst>
              </a:tr>
              <a:tr h="0">
                <a:tc>
                  <a:txBody>
                    <a:bodyPr/>
                    <a:lstStyle/>
                    <a:p>
                      <a:pPr marL="0" lvl="0" indent="0" algn="l">
                        <a:buNone/>
                      </a:pPr>
                      <a:r>
                        <a:rPr sz="1000"/>
                        <a:t>Append blocks</a:t>
                      </a:r>
                    </a:p>
                  </a:txBody>
                  <a:tcPr/>
                </a:tc>
                <a:tc>
                  <a:txBody>
                    <a:bodyPr/>
                    <a:lstStyle/>
                    <a:p>
                      <a:pPr marL="0" lvl="0" indent="0" algn="l">
                        <a:buNone/>
                      </a:pPr>
                      <a:r>
                        <a:rPr sz="1000"/>
                        <a:t>Household budget surveys, MICS microdata, RTFP prices, MODIS NDVI, climate normals</a:t>
                      </a:r>
                    </a:p>
                  </a:txBody>
                  <a:tcPr/>
                </a:tc>
                <a:tc>
                  <a:txBody>
                    <a:bodyPr/>
                    <a:lstStyle/>
                    <a:p>
                      <a:pPr marL="0" lvl="0" indent="0" algn="l">
                        <a:buNone/>
                      </a:pPr>
                      <a:r>
                        <a:rPr sz="1000"/>
                        <a:t>614</a:t>
                      </a:r>
                    </a:p>
                  </a:txBody>
                  <a:tcPr/>
                </a:tc>
                <a:extLst>
                  <a:ext uri="{0D108BD9-81ED-4DB2-BD59-A6C34878D82A}">
                    <a16:rowId xmlns:a16="http://schemas.microsoft.com/office/drawing/2014/main" val="10002"/>
                  </a:ext>
                </a:extLst>
              </a:tr>
              <a:tr h="0">
                <a:tc>
                  <a:txBody>
                    <a:bodyPr/>
                    <a:lstStyle/>
                    <a:p>
                      <a:pPr marL="0" lvl="0" indent="0" algn="l">
                        <a:buNone/>
                      </a:pPr>
                      <a:r>
                        <a:rPr sz="1000"/>
                        <a:t>Exclude</a:t>
                      </a:r>
                    </a:p>
                  </a:txBody>
                  <a:tcPr/>
                </a:tc>
                <a:tc>
                  <a:txBody>
                    <a:bodyPr/>
                    <a:lstStyle/>
                    <a:p>
                      <a:pPr marL="0" lvl="0" indent="0" algn="l">
                        <a:buNone/>
                      </a:pPr>
                      <a:r>
                        <a:rPr sz="1000"/>
                        <a:t>Rules with a written reason: data defects, superseded layers, redundant twins</a:t>
                      </a:r>
                    </a:p>
                  </a:txBody>
                  <a:tcPr/>
                </a:tc>
                <a:tc>
                  <a:txBody>
                    <a:bodyPr/>
                    <a:lstStyle/>
                    <a:p>
                      <a:pPr marL="0" lvl="0" indent="0" algn="l">
                        <a:buNone/>
                      </a:pPr>
                      <a:r>
                        <a:rPr sz="1000"/>
                        <a:t>575</a:t>
                      </a:r>
                    </a:p>
                  </a:txBody>
                  <a:tcPr/>
                </a:tc>
                <a:extLst>
                  <a:ext uri="{0D108BD9-81ED-4DB2-BD59-A6C34878D82A}">
                    <a16:rowId xmlns:a16="http://schemas.microsoft.com/office/drawing/2014/main" val="10003"/>
                  </a:ext>
                </a:extLst>
              </a:tr>
              <a:tr h="0">
                <a:tc>
                  <a:txBody>
                    <a:bodyPr/>
                    <a:lstStyle/>
                    <a:p>
                      <a:pPr marL="0" lvl="0" indent="0" algn="l">
                        <a:buNone/>
                      </a:pPr>
                      <a:r>
                        <a:rPr sz="1000"/>
                        <a:t>Stamp</a:t>
                      </a:r>
                    </a:p>
                  </a:txBody>
                  <a:tcPr/>
                </a:tc>
                <a:tc>
                  <a:txBody>
                    <a:bodyPr/>
                    <a:lstStyle/>
                    <a:p>
                      <a:pPr marL="0" lvl="0" indent="0" algn="l">
                        <a:buNone/>
                      </a:pPr>
                      <a:r>
                        <a:rPr sz="1000"/>
                        <a:t>Access tier, within-country variation, alignment rule, year used and gap, modelled-surface flag</a:t>
                      </a:r>
                    </a:p>
                  </a:txBody>
                  <a:tcPr/>
                </a:tc>
                <a:tc>
                  <a:txBody>
                    <a:bodyPr/>
                    <a:lstStyle/>
                    <a:p>
                      <a:pPr marL="0" lvl="0" indent="0" algn="l">
                        <a:buNone/>
                      </a:pPr>
                      <a:r>
                        <a:rPr sz="1000"/>
                        <a:t>575</a:t>
                      </a:r>
                    </a:p>
                  </a:txBody>
                  <a:tcPr/>
                </a:tc>
                <a:extLst>
                  <a:ext uri="{0D108BD9-81ED-4DB2-BD59-A6C34878D82A}">
                    <a16:rowId xmlns:a16="http://schemas.microsoft.com/office/drawing/2014/main" val="10004"/>
                  </a:ext>
                </a:extLst>
              </a:tr>
              <a:tr h="0">
                <a:tc>
                  <a:txBody>
                    <a:bodyPr/>
                    <a:lstStyle/>
                    <a:p>
                      <a:pPr marL="0" lvl="0" indent="0" algn="l">
                        <a:buNone/>
                      </a:pPr>
                      <a:r>
                        <a:rPr sz="1000"/>
                        <a:t>Fit-time policy</a:t>
                      </a:r>
                    </a:p>
                  </a:txBody>
                  <a:tcPr/>
                </a:tc>
                <a:tc>
                  <a:txBody>
                    <a:bodyPr/>
                    <a:lstStyle/>
                    <a:p>
                      <a:pPr marL="0" lvl="0" indent="0" algn="l">
                        <a:buNone/>
                      </a:pPr>
                      <a:r>
                        <a:rPr sz="1000"/>
                        <a:t>Drop national constants and leakage columns</a:t>
                      </a:r>
                    </a:p>
                  </a:txBody>
                  <a:tcPr/>
                </a:tc>
                <a:tc>
                  <a:txBody>
                    <a:bodyPr/>
                    <a:lstStyle/>
                    <a:p>
                      <a:pPr marL="0" lvl="0" indent="0" algn="l">
                        <a:buNone/>
                      </a:pPr>
                      <a:r>
                        <a:rPr sz="1000"/>
                        <a:t>525</a:t>
                      </a:r>
                    </a:p>
                  </a:txBody>
                  <a:tcPr/>
                </a:tc>
                <a:extLst>
                  <a:ext uri="{0D108BD9-81ED-4DB2-BD59-A6C34878D82A}">
                    <a16:rowId xmlns:a16="http://schemas.microsoft.com/office/drawing/2014/main" val="10005"/>
                  </a:ext>
                </a:extLst>
              </a:tr>
              <a:tr h="0">
                <a:tc>
                  <a:txBody>
                    <a:bodyPr/>
                    <a:lstStyle/>
                    <a:p>
                      <a:pPr marL="0" lvl="0" indent="0" algn="l">
                        <a:buNone/>
                      </a:pPr>
                      <a:r>
                        <a:rPr sz="1000"/>
                        <a:t>Transport matrix</a:t>
                      </a:r>
                    </a:p>
                  </a:txBody>
                  <a:tcPr/>
                </a:tc>
                <a:tc>
                  <a:txBody>
                    <a:bodyPr/>
                    <a:lstStyle/>
                    <a:p>
                      <a:pPr marL="0" lvl="0" indent="0" algn="l">
                        <a:buNone/>
                      </a:pPr>
                      <a:r>
                        <a:rPr sz="1000"/>
                        <a:t>Per country: coverage of at least 70% and some variation; then the four-country intersection</a:t>
                      </a:r>
                    </a:p>
                  </a:txBody>
                  <a:tcPr/>
                </a:tc>
                <a:tc>
                  <a:txBody>
                    <a:bodyPr/>
                    <a:lstStyle/>
                    <a:p>
                      <a:pPr marL="0" lvl="0" indent="0" algn="l">
                        <a:buNone/>
                      </a:pPr>
                      <a:r>
                        <a:rPr sz="1000"/>
                        <a:t>464</a:t>
                      </a:r>
                    </a:p>
                  </a:txBody>
                  <a:tcPr/>
                </a:tc>
                <a:extLst>
                  <a:ext uri="{0D108BD9-81ED-4DB2-BD59-A6C34878D82A}">
                    <a16:rowId xmlns:a16="http://schemas.microsoft.com/office/drawing/2014/main" val="10006"/>
                  </a:ext>
                </a:extLst>
              </a:tr>
            </a:tbl>
          </a:graphicData>
        </a:graphic>
      </p:graphicFrame>
    </p:spTree>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Models and protocol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The corrected protocol replaced the ensemble with a zero-tuning index</a:t>
            </a:r>
          </a:p>
        </p:txBody>
      </p:sp>
      <p:sp>
        <p:nvSpPr>
          <p:cNvPr id="3" name="Rounded Rectangle 2"/>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clock-rotate-left_white.png"/>
          <p:cNvPicPr>
            <a:picLocks noChangeAspect="1"/>
          </p:cNvPicPr>
          <p:nvPr/>
        </p:nvPicPr>
        <p:blipFill>
          <a:blip r:embed="rId4"/>
          <a:stretch>
            <a:fillRect/>
          </a:stretch>
        </p:blipFill>
        <p:spPr>
          <a:xfrm>
            <a:off x="1024128" y="1810512"/>
            <a:ext cx="402336" cy="402336"/>
          </a:xfrm>
          <a:prstGeom prst="rect">
            <a:avLst/>
          </a:prstGeom>
        </p:spPr>
      </p:pic>
      <p:sp>
        <p:nvSpPr>
          <p:cNvPr id="6" name="TextBox 5"/>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January: spatial ensemble learning</a:t>
            </a:r>
          </a:p>
        </p:txBody>
      </p:sp>
      <p:pic>
        <p:nvPicPr>
          <p:cNvPr id="7" name="Picture 6" descr="diagram-project_blue.png"/>
          <p:cNvPicPr>
            <a:picLocks noChangeAspect="1"/>
          </p:cNvPicPr>
          <p:nvPr/>
        </p:nvPicPr>
        <p:blipFill>
          <a:blip r:embed="rId5"/>
          <a:stretch>
            <a:fillRect/>
          </a:stretch>
        </p:blipFill>
        <p:spPr>
          <a:xfrm>
            <a:off x="1069848" y="2735580"/>
            <a:ext cx="565785" cy="502920"/>
          </a:xfrm>
          <a:prstGeom prst="rect">
            <a:avLst/>
          </a:prstGeom>
        </p:spPr>
      </p:pic>
      <p:sp>
        <p:nvSpPr>
          <p:cNvPr id="8" name="TextBox 7"/>
          <p:cNvSpPr txBox="1"/>
          <p:nvPr/>
        </p:nvSpPr>
        <p:spPr>
          <a:xfrm>
            <a:off x="17556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SuperLearner library</a:t>
            </a:r>
          </a:p>
          <a:p>
            <a:pPr algn="l">
              <a:spcBef>
                <a:spcPts val="300"/>
              </a:spcBef>
            </a:pPr>
            <a:r>
              <a:rPr sz="1200" b="0">
                <a:solidFill>
                  <a:srgbClr val="333333"/>
                </a:solidFill>
                <a:latin typeface="Calibri"/>
              </a:rPr>
              <a:t>Weighted by cross-validated performance.</a:t>
            </a:r>
          </a:p>
        </p:txBody>
      </p:sp>
      <p:pic>
        <p:nvPicPr>
          <p:cNvPr id="9" name="Picture 8" descr="filter_blue.png"/>
          <p:cNvPicPr>
            <a:picLocks noChangeAspect="1"/>
          </p:cNvPicPr>
          <p:nvPr/>
        </p:nvPicPr>
        <p:blipFill>
          <a:blip r:embed="rId6"/>
          <a:stretch>
            <a:fillRect/>
          </a:stretch>
        </p:blipFill>
        <p:spPr>
          <a:xfrm>
            <a:off x="1069848" y="3863340"/>
            <a:ext cx="502920" cy="502920"/>
          </a:xfrm>
          <a:prstGeom prst="rect">
            <a:avLst/>
          </a:prstGeom>
        </p:spPr>
      </p:pic>
      <p:sp>
        <p:nvSpPr>
          <p:cNvPr id="10" name="TextBox 9"/>
          <p:cNvSpPr txBox="1"/>
          <p:nvPr/>
        </p:nvSpPr>
        <p:spPr>
          <a:xfrm>
            <a:off x="17556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Prescreening</a:t>
            </a:r>
          </a:p>
          <a:p>
            <a:pPr algn="l">
              <a:spcBef>
                <a:spcPts val="300"/>
              </a:spcBef>
            </a:pPr>
            <a:r>
              <a:rPr sz="1200" b="0">
                <a:solidFill>
                  <a:srgbClr val="333333"/>
                </a:solidFill>
                <a:latin typeface="Calibri"/>
              </a:rPr>
              <a:t>From thousands of predictors to 10 to 100 per model.</a:t>
            </a:r>
          </a:p>
        </p:txBody>
      </p:sp>
      <p:pic>
        <p:nvPicPr>
          <p:cNvPr id="11" name="Picture 10" descr="chart-bar_blue.png"/>
          <p:cNvPicPr>
            <a:picLocks noChangeAspect="1"/>
          </p:cNvPicPr>
          <p:nvPr/>
        </p:nvPicPr>
        <p:blipFill>
          <a:blip r:embed="rId7"/>
          <a:stretch>
            <a:fillRect/>
          </a:stretch>
        </p:blipFill>
        <p:spPr>
          <a:xfrm>
            <a:off x="1069848" y="4991100"/>
            <a:ext cx="502920" cy="502920"/>
          </a:xfrm>
          <a:prstGeom prst="rect">
            <a:avLst/>
          </a:prstGeom>
        </p:spPr>
      </p:pic>
      <p:sp>
        <p:nvSpPr>
          <p:cNvPr id="12" name="TextBox 11"/>
          <p:cNvSpPr txBox="1"/>
          <p:nvPr/>
        </p:nvSpPr>
        <p:spPr>
          <a:xfrm>
            <a:off x="17556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Importance</a:t>
            </a:r>
          </a:p>
          <a:p>
            <a:pPr algn="l">
              <a:spcBef>
                <a:spcPts val="300"/>
              </a:spcBef>
            </a:pPr>
            <a:r>
              <a:rPr sz="1200" b="0">
                <a:solidFill>
                  <a:srgbClr val="333333"/>
                </a:solidFill>
                <a:latin typeface="Calibri"/>
              </a:rPr>
              <a:t>Change in mean squared error.</a:t>
            </a:r>
          </a:p>
        </p:txBody>
      </p:sp>
      <p:sp>
        <p:nvSpPr>
          <p:cNvPr id="13" name="Rounded Rectangle 12"/>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check-double_white.png"/>
          <p:cNvPicPr>
            <a:picLocks noChangeAspect="1"/>
          </p:cNvPicPr>
          <p:nvPr/>
        </p:nvPicPr>
        <p:blipFill>
          <a:blip r:embed="rId8"/>
          <a:stretch>
            <a:fillRect/>
          </a:stretch>
        </p:blipFill>
        <p:spPr>
          <a:xfrm>
            <a:off x="6510528" y="1810512"/>
            <a:ext cx="352044" cy="402336"/>
          </a:xfrm>
          <a:prstGeom prst="rect">
            <a:avLst/>
          </a:prstGeom>
        </p:spPr>
      </p:pic>
      <p:sp>
        <p:nvSpPr>
          <p:cNvPr id="16" name="TextBox 15"/>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Current: the corrected protocol</a:t>
            </a:r>
          </a:p>
        </p:txBody>
      </p:sp>
      <p:pic>
        <p:nvPicPr>
          <p:cNvPr id="17" name="Picture 16" descr="scale-balanced_blue.png"/>
          <p:cNvPicPr>
            <a:picLocks noChangeAspect="1"/>
          </p:cNvPicPr>
          <p:nvPr/>
        </p:nvPicPr>
        <p:blipFill>
          <a:blip r:embed="rId9"/>
          <a:stretch>
            <a:fillRect/>
          </a:stretch>
        </p:blipFill>
        <p:spPr>
          <a:xfrm>
            <a:off x="6556248" y="2735580"/>
            <a:ext cx="628650" cy="502920"/>
          </a:xfrm>
          <a:prstGeom prst="rect">
            <a:avLst/>
          </a:prstGeom>
        </p:spPr>
      </p:pic>
      <p:sp>
        <p:nvSpPr>
          <p:cNvPr id="18" name="TextBox 17"/>
          <p:cNvSpPr txBox="1"/>
          <p:nvPr/>
        </p:nvSpPr>
        <p:spPr>
          <a:xfrm>
            <a:off x="72420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Zero-tuning index</a:t>
            </a:r>
          </a:p>
          <a:p>
            <a:pPr algn="l">
              <a:spcBef>
                <a:spcPts val="300"/>
              </a:spcBef>
            </a:pPr>
            <a:r>
              <a:rPr sz="1200" b="0">
                <a:solidFill>
                  <a:srgbClr val="333333"/>
                </a:solidFill>
                <a:latin typeface="Calibri"/>
              </a:rPr>
              <a:t>Domain principal components weighted by their training-fold rank correlation with the outcome.</a:t>
            </a:r>
          </a:p>
        </p:txBody>
      </p:sp>
      <p:pic>
        <p:nvPicPr>
          <p:cNvPr id="19" name="Picture 18" descr="code-compare_blue.png"/>
          <p:cNvPicPr>
            <a:picLocks noChangeAspect="1"/>
          </p:cNvPicPr>
          <p:nvPr/>
        </p:nvPicPr>
        <p:blipFill>
          <a:blip r:embed="rId10"/>
          <a:stretch>
            <a:fillRect/>
          </a:stretch>
        </p:blipFill>
        <p:spPr>
          <a:xfrm>
            <a:off x="6556248" y="3863340"/>
            <a:ext cx="502920" cy="502920"/>
          </a:xfrm>
          <a:prstGeom prst="rect">
            <a:avLst/>
          </a:prstGeom>
        </p:spPr>
      </p:pic>
      <p:sp>
        <p:nvSpPr>
          <p:cNvPr id="20" name="TextBox 19"/>
          <p:cNvSpPr txBox="1"/>
          <p:nvPr/>
        </p:nvSpPr>
        <p:spPr>
          <a:xfrm>
            <a:off x="72420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SuperLearner retained as a comparison</a:t>
            </a:r>
          </a:p>
          <a:p>
            <a:pPr algn="l">
              <a:spcBef>
                <a:spcPts val="300"/>
              </a:spcBef>
            </a:pPr>
            <a:r>
              <a:rPr sz="1200" b="0">
                <a:solidFill>
                  <a:srgbClr val="333333"/>
                </a:solidFill>
                <a:latin typeface="Calibri"/>
              </a:rPr>
              <a:t>Same folds: index 0.29 against 0.28 for the rank-loss ensemble and 0.27 for random forest.</a:t>
            </a:r>
          </a:p>
        </p:txBody>
      </p:sp>
      <p:pic>
        <p:nvPicPr>
          <p:cNvPr id="21" name="Picture 20" descr="lock_blue.png"/>
          <p:cNvPicPr>
            <a:picLocks noChangeAspect="1"/>
          </p:cNvPicPr>
          <p:nvPr/>
        </p:nvPicPr>
        <p:blipFill>
          <a:blip r:embed="rId11"/>
          <a:stretch>
            <a:fillRect/>
          </a:stretch>
        </p:blipFill>
        <p:spPr>
          <a:xfrm>
            <a:off x="6556248" y="4991100"/>
            <a:ext cx="440055" cy="502920"/>
          </a:xfrm>
          <a:prstGeom prst="rect">
            <a:avLst/>
          </a:prstGeom>
        </p:spPr>
      </p:pic>
      <p:sp>
        <p:nvSpPr>
          <p:cNvPr id="22" name="TextBox 21"/>
          <p:cNvSpPr txBox="1"/>
          <p:nvPr/>
        </p:nvSpPr>
        <p:spPr>
          <a:xfrm>
            <a:off x="72420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Nothing chosen on held-out districts</a:t>
            </a:r>
          </a:p>
          <a:p>
            <a:pPr algn="l">
              <a:spcBef>
                <a:spcPts val="300"/>
              </a:spcBef>
            </a:pPr>
            <a:r>
              <a:rPr sz="1200" b="0">
                <a:solidFill>
                  <a:srgbClr val="333333"/>
                </a:solidFill>
                <a:latin typeface="Calibri"/>
              </a:rPr>
              <a:t>Honest folds by district, region and country.</a:t>
            </a:r>
          </a:p>
        </p:txBody>
      </p:sp>
    </p:spTree>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an ensemble weighted by cross-validation</a:t>
            </a:r>
          </a:p>
        </p:txBody>
      </p:sp>
      <p:pic>
        <p:nvPicPr>
          <p:cNvPr id="3" name="Picture 2" descr="people-group_blue.png"/>
          <p:cNvPicPr>
            <a:picLocks noChangeAspect="1"/>
          </p:cNvPicPr>
          <p:nvPr/>
        </p:nvPicPr>
        <p:blipFill>
          <a:blip r:embed="rId4"/>
          <a:stretch>
            <a:fillRect/>
          </a:stretch>
        </p:blipFill>
        <p:spPr>
          <a:xfrm>
            <a:off x="932688" y="1783080"/>
            <a:ext cx="914400" cy="731520"/>
          </a:xfrm>
          <a:prstGeom prst="rect">
            <a:avLst/>
          </a:prstGeom>
        </p:spPr>
      </p:pic>
      <p:sp>
        <p:nvSpPr>
          <p:cNvPr id="4" name="TextBox 3"/>
          <p:cNvSpPr txBox="1"/>
          <p:nvPr/>
        </p:nvSpPr>
        <p:spPr>
          <a:xfrm>
            <a:off x="1984248" y="169164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A competition of algorithms</a:t>
            </a:r>
          </a:p>
          <a:p>
            <a:pPr algn="l">
              <a:spcBef>
                <a:spcPts val="300"/>
              </a:spcBef>
            </a:pPr>
            <a:r>
              <a:rPr sz="1400" b="0">
                <a:solidFill>
                  <a:srgbClr val="333333"/>
                </a:solidFill>
                <a:latin typeface="Calibri"/>
              </a:rPr>
              <a:t>Simple regressions and more complex machine learning models side by side, to allow interactions and nonlinear associations.</a:t>
            </a:r>
          </a:p>
        </p:txBody>
      </p:sp>
      <p:pic>
        <p:nvPicPr>
          <p:cNvPr id="5" name="Picture 4" descr="trophy_blue.png"/>
          <p:cNvPicPr>
            <a:picLocks noChangeAspect="1"/>
          </p:cNvPicPr>
          <p:nvPr/>
        </p:nvPicPr>
        <p:blipFill>
          <a:blip r:embed="rId5"/>
          <a:stretch>
            <a:fillRect/>
          </a:stretch>
        </p:blipFill>
        <p:spPr>
          <a:xfrm>
            <a:off x="932688" y="2880360"/>
            <a:ext cx="822960" cy="731520"/>
          </a:xfrm>
          <a:prstGeom prst="rect">
            <a:avLst/>
          </a:prstGeom>
        </p:spPr>
      </p:pic>
      <p:sp>
        <p:nvSpPr>
          <p:cNvPr id="6" name="TextBox 5"/>
          <p:cNvSpPr txBox="1"/>
          <p:nvPr/>
        </p:nvSpPr>
        <p:spPr>
          <a:xfrm>
            <a:off x="1984248" y="278892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The best team wins</a:t>
            </a:r>
          </a:p>
          <a:p>
            <a:pPr algn="l">
              <a:spcBef>
                <a:spcPts val="300"/>
              </a:spcBef>
            </a:pPr>
            <a:r>
              <a:rPr sz="1400" b="0">
                <a:solidFill>
                  <a:srgbClr val="333333"/>
                </a:solidFill>
                <a:latin typeface="Calibri"/>
              </a:rPr>
              <a:t>A weighted combination of algorithms; the weights come from performance on data the algorithms did not see.</a:t>
            </a:r>
          </a:p>
        </p:txBody>
      </p:sp>
      <p:pic>
        <p:nvPicPr>
          <p:cNvPr id="7" name="Picture 6" descr="shuffle_blue.png"/>
          <p:cNvPicPr>
            <a:picLocks noChangeAspect="1"/>
          </p:cNvPicPr>
          <p:nvPr/>
        </p:nvPicPr>
        <p:blipFill>
          <a:blip r:embed="rId6"/>
          <a:stretch>
            <a:fillRect/>
          </a:stretch>
        </p:blipFill>
        <p:spPr>
          <a:xfrm>
            <a:off x="932688" y="3977640"/>
            <a:ext cx="731520" cy="731520"/>
          </a:xfrm>
          <a:prstGeom prst="rect">
            <a:avLst/>
          </a:prstGeom>
        </p:spPr>
      </p:pic>
      <p:sp>
        <p:nvSpPr>
          <p:cNvPr id="8" name="TextBox 7"/>
          <p:cNvSpPr txBox="1"/>
          <p:nvPr/>
        </p:nvSpPr>
        <p:spPr>
          <a:xfrm>
            <a:off x="1984248" y="388620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V-fold cross-validation</a:t>
            </a:r>
          </a:p>
          <a:p>
            <a:pPr algn="l">
              <a:spcBef>
                <a:spcPts val="300"/>
              </a:spcBef>
            </a:pPr>
            <a:r>
              <a:rPr sz="1400" b="0">
                <a:solidFill>
                  <a:srgbClr val="333333"/>
                </a:solidFill>
                <a:latin typeface="Calibri"/>
              </a:rPr>
              <a:t>Internal data splits by district, so that no district is in both training and validation; guards against overfitting.</a:t>
            </a:r>
          </a:p>
        </p:txBody>
      </p:sp>
      <p:pic>
        <p:nvPicPr>
          <p:cNvPr id="9" name="Picture 8" descr="book-open_blue.png"/>
          <p:cNvPicPr>
            <a:picLocks noChangeAspect="1"/>
          </p:cNvPicPr>
          <p:nvPr/>
        </p:nvPicPr>
        <p:blipFill>
          <a:blip r:embed="rId7"/>
          <a:stretch>
            <a:fillRect/>
          </a:stretch>
        </p:blipFill>
        <p:spPr>
          <a:xfrm>
            <a:off x="932688" y="5074920"/>
            <a:ext cx="822960" cy="731520"/>
          </a:xfrm>
          <a:prstGeom prst="rect">
            <a:avLst/>
          </a:prstGeom>
        </p:spPr>
      </p:pic>
      <p:sp>
        <p:nvSpPr>
          <p:cNvPr id="10" name="TextBox 9"/>
          <p:cNvSpPr txBox="1"/>
          <p:nvPr/>
        </p:nvSpPr>
        <p:spPr>
          <a:xfrm>
            <a:off x="1984248" y="498348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The library</a:t>
            </a:r>
          </a:p>
          <a:p>
            <a:pPr algn="l">
              <a:spcBef>
                <a:spcPts val="300"/>
              </a:spcBef>
            </a:pPr>
            <a:r>
              <a:rPr sz="1400" b="0">
                <a:solidFill>
                  <a:srgbClr val="333333"/>
                </a:solidFill>
                <a:latin typeface="Calibri"/>
              </a:rPr>
              <a:t>Simple mean, penalised regressions, random forest, gradient boosting, PCA-HAL, Bayesian additive trees, Bayesian geostatistical models.</a:t>
            </a:r>
          </a:p>
        </p:txBody>
      </p:sp>
      <p:pic>
        <p:nvPicPr>
          <p:cNvPr id="11" name="Picture 10" descr="ensemble_vfold.png"/>
          <p:cNvPicPr>
            <a:picLocks noChangeAspect="1"/>
          </p:cNvPicPr>
          <p:nvPr/>
        </p:nvPicPr>
        <p:blipFill>
          <a:blip r:embed="rId8"/>
          <a:stretch>
            <a:fillRect/>
          </a:stretch>
        </p:blipFill>
        <p:spPr>
          <a:xfrm>
            <a:off x="9162288" y="1783080"/>
            <a:ext cx="2194560" cy="353234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How the zero-tuning index works</a:t>
            </a:r>
          </a:p>
        </p:txBody>
      </p:sp>
      <p:sp>
        <p:nvSpPr>
          <p:cNvPr id="3" name="Rounded Rectangle 2"/>
          <p:cNvSpPr/>
          <p:nvPr/>
        </p:nvSpPr>
        <p:spPr>
          <a:xfrm>
            <a:off x="84124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arrow-down-wide-short_blue.png"/>
          <p:cNvPicPr>
            <a:picLocks noChangeAspect="1"/>
          </p:cNvPicPr>
          <p:nvPr/>
        </p:nvPicPr>
        <p:blipFill>
          <a:blip r:embed="rId4"/>
          <a:stretch>
            <a:fillRect/>
          </a:stretch>
        </p:blipFill>
        <p:spPr>
          <a:xfrm>
            <a:off x="1692783" y="1874520"/>
            <a:ext cx="617220" cy="548640"/>
          </a:xfrm>
          <a:prstGeom prst="rect">
            <a:avLst/>
          </a:prstGeom>
        </p:spPr>
      </p:pic>
      <p:sp>
        <p:nvSpPr>
          <p:cNvPr id="5" name="TextBox 4"/>
          <p:cNvSpPr txBox="1"/>
          <p:nvPr/>
        </p:nvSpPr>
        <p:spPr>
          <a:xfrm>
            <a:off x="95097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1. Rank-normalise within country</a:t>
            </a:r>
          </a:p>
        </p:txBody>
      </p:sp>
      <p:sp>
        <p:nvSpPr>
          <p:cNvPr id="6" name="TextBox 5"/>
          <p:cNvSpPr txBox="1"/>
          <p:nvPr/>
        </p:nvSpPr>
        <p:spPr>
          <a:xfrm>
            <a:off x="97840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Every predictor becomes a within-country rank, so a level offset between surveys cannot act as signal.</a:t>
            </a:r>
          </a:p>
        </p:txBody>
      </p:sp>
      <p:sp>
        <p:nvSpPr>
          <p:cNvPr id="7" name="Chevron 6"/>
          <p:cNvSpPr/>
          <p:nvPr/>
        </p:nvSpPr>
        <p:spPr>
          <a:xfrm>
            <a:off x="322097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59587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layer-group_blue.png"/>
          <p:cNvPicPr>
            <a:picLocks noChangeAspect="1"/>
          </p:cNvPicPr>
          <p:nvPr/>
        </p:nvPicPr>
        <p:blipFill>
          <a:blip r:embed="rId5"/>
          <a:stretch>
            <a:fillRect/>
          </a:stretch>
        </p:blipFill>
        <p:spPr>
          <a:xfrm>
            <a:off x="4447413" y="1874520"/>
            <a:ext cx="617220" cy="548640"/>
          </a:xfrm>
          <a:prstGeom prst="rect">
            <a:avLst/>
          </a:prstGeom>
        </p:spPr>
      </p:pic>
      <p:sp>
        <p:nvSpPr>
          <p:cNvPr id="10" name="TextBox 9"/>
          <p:cNvSpPr txBox="1"/>
          <p:nvPr/>
        </p:nvSpPr>
        <p:spPr>
          <a:xfrm>
            <a:off x="370560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2. Domain components</a:t>
            </a:r>
          </a:p>
        </p:txBody>
      </p:sp>
      <p:sp>
        <p:nvSpPr>
          <p:cNvPr id="11" name="TextBox 10"/>
          <p:cNvSpPr txBox="1"/>
          <p:nvPr/>
        </p:nvSpPr>
        <p:spPr>
          <a:xfrm>
            <a:off x="373303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Leading principal components of each of the 29 domains, to 80% of variance, learned on the training districts only.</a:t>
            </a:r>
          </a:p>
        </p:txBody>
      </p:sp>
      <p:sp>
        <p:nvSpPr>
          <p:cNvPr id="12" name="Chevron 11"/>
          <p:cNvSpPr/>
          <p:nvPr/>
        </p:nvSpPr>
        <p:spPr>
          <a:xfrm>
            <a:off x="597560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5050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scale-balanced_blue.png"/>
          <p:cNvPicPr>
            <a:picLocks noChangeAspect="1"/>
          </p:cNvPicPr>
          <p:nvPr/>
        </p:nvPicPr>
        <p:blipFill>
          <a:blip r:embed="rId6"/>
          <a:stretch>
            <a:fillRect/>
          </a:stretch>
        </p:blipFill>
        <p:spPr>
          <a:xfrm>
            <a:off x="7202043" y="1874520"/>
            <a:ext cx="685800" cy="548640"/>
          </a:xfrm>
          <a:prstGeom prst="rect">
            <a:avLst/>
          </a:prstGeom>
        </p:spPr>
      </p:pic>
      <p:sp>
        <p:nvSpPr>
          <p:cNvPr id="15" name="TextBox 14"/>
          <p:cNvSpPr txBox="1"/>
          <p:nvPr/>
        </p:nvSpPr>
        <p:spPr>
          <a:xfrm>
            <a:off x="646023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3. Weight by rank correlation</a:t>
            </a:r>
          </a:p>
        </p:txBody>
      </p:sp>
      <p:sp>
        <p:nvSpPr>
          <p:cNvPr id="16" name="TextBox 15"/>
          <p:cNvSpPr txBox="1"/>
          <p:nvPr/>
        </p:nvSpPr>
        <p:spPr>
          <a:xfrm>
            <a:off x="648766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Each component is weighted by its Spearman correlation with the outcome in the training fold; sign and size, nothing else is fitted.</a:t>
            </a:r>
          </a:p>
        </p:txBody>
      </p:sp>
      <p:sp>
        <p:nvSpPr>
          <p:cNvPr id="17" name="Chevron 16"/>
          <p:cNvSpPr/>
          <p:nvPr/>
        </p:nvSpPr>
        <p:spPr>
          <a:xfrm>
            <a:off x="873023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10513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plus_blue.png"/>
          <p:cNvPicPr>
            <a:picLocks noChangeAspect="1"/>
          </p:cNvPicPr>
          <p:nvPr/>
        </p:nvPicPr>
        <p:blipFill>
          <a:blip r:embed="rId7"/>
          <a:stretch>
            <a:fillRect/>
          </a:stretch>
        </p:blipFill>
        <p:spPr>
          <a:xfrm>
            <a:off x="9956673" y="1874520"/>
            <a:ext cx="480060" cy="548640"/>
          </a:xfrm>
          <a:prstGeom prst="rect">
            <a:avLst/>
          </a:prstGeom>
        </p:spPr>
      </p:pic>
      <p:sp>
        <p:nvSpPr>
          <p:cNvPr id="20" name="TextBox 19"/>
          <p:cNvSpPr txBox="1"/>
          <p:nvPr/>
        </p:nvSpPr>
        <p:spPr>
          <a:xfrm>
            <a:off x="921486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4. Sum and rescale</a:t>
            </a:r>
          </a:p>
        </p:txBody>
      </p:sp>
      <p:sp>
        <p:nvSpPr>
          <p:cNvPr id="21" name="TextBox 20"/>
          <p:cNvSpPr txBox="1"/>
          <p:nvPr/>
        </p:nvSpPr>
        <p:spPr>
          <a:xfrm>
            <a:off x="924229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The weighted sum, rescaled to the training outcome's spread; the infinite-penalty limit of a ridge regression on the components.</a:t>
            </a:r>
          </a:p>
        </p:txBody>
      </p:sp>
    </p:spTree>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Three questions, three honest baselines</a:t>
            </a:r>
          </a:p>
        </p:txBody>
      </p:sp>
      <p:sp>
        <p:nvSpPr>
          <p:cNvPr id="3" name="Rounded Rectangle 2"/>
          <p:cNvSpPr/>
          <p:nvPr/>
        </p:nvSpPr>
        <p:spPr>
          <a:xfrm>
            <a:off x="84124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map-location-dot_blue.png"/>
          <p:cNvPicPr>
            <a:picLocks noChangeAspect="1"/>
          </p:cNvPicPr>
          <p:nvPr/>
        </p:nvPicPr>
        <p:blipFill>
          <a:blip r:embed="rId4"/>
          <a:stretch>
            <a:fillRect/>
          </a:stretch>
        </p:blipFill>
        <p:spPr>
          <a:xfrm>
            <a:off x="1999488" y="1920240"/>
            <a:ext cx="1028700" cy="914400"/>
          </a:xfrm>
          <a:prstGeom prst="rect">
            <a:avLst/>
          </a:prstGeom>
        </p:spPr>
      </p:pic>
      <p:sp>
        <p:nvSpPr>
          <p:cNvPr id="5" name="TextBox 4"/>
          <p:cNvSpPr txBox="1"/>
          <p:nvPr/>
        </p:nvSpPr>
        <p:spPr>
          <a:xfrm>
            <a:off x="932688" y="2971800"/>
            <a:ext cx="3048000" cy="457200"/>
          </a:xfrm>
          <a:prstGeom prst="rect">
            <a:avLst/>
          </a:prstGeom>
          <a:noFill/>
        </p:spPr>
        <p:txBody>
          <a:bodyPr wrap="square" lIns="45720" tIns="27432" rIns="45720" bIns="27432" anchor="t">
            <a:spAutoFit/>
          </a:bodyPr>
          <a:lstStyle/>
          <a:p>
            <a:pPr algn="ctr"/>
            <a:r>
              <a:rPr sz="2000" b="1" dirty="0">
                <a:solidFill>
                  <a:srgbClr val="1F4E79"/>
                </a:solidFill>
                <a:latin typeface="Calibri"/>
              </a:rPr>
              <a:t>In-fill</a:t>
            </a:r>
          </a:p>
        </p:txBody>
      </p:sp>
      <p:sp>
        <p:nvSpPr>
          <p:cNvPr id="6" name="TextBox 5"/>
          <p:cNvSpPr txBox="1"/>
          <p:nvPr/>
        </p:nvSpPr>
        <p:spPr>
          <a:xfrm>
            <a:off x="111556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Question:</a:t>
            </a:r>
            <a:r>
              <a:rPr sz="1400">
                <a:solidFill>
                  <a:srgbClr val="333333"/>
                </a:solidFill>
                <a:latin typeface="Calibri"/>
              </a:rPr>
              <a:t> an unsurveyed district in a surveyed region</a:t>
            </a:r>
          </a:p>
          <a:p>
            <a:pPr algn="l">
              <a:spcBef>
                <a:spcPts val="300"/>
              </a:spcBef>
              <a:spcAft>
                <a:spcPts val="600"/>
              </a:spcAft>
            </a:pPr>
            <a:r>
              <a:rPr sz="1400" b="1">
                <a:solidFill>
                  <a:srgbClr val="1F4E79"/>
                </a:solidFill>
                <a:latin typeface="Calibri"/>
              </a:rPr>
              <a:t>Folds:</a:t>
            </a:r>
            <a:r>
              <a:rPr sz="1400">
                <a:solidFill>
                  <a:srgbClr val="333333"/>
                </a:solidFill>
                <a:latin typeface="Calibri"/>
              </a:rPr>
              <a:t> 5-fold by district, 10 draws</a:t>
            </a:r>
          </a:p>
          <a:p>
            <a:pPr algn="l">
              <a:spcBef>
                <a:spcPts val="300"/>
              </a:spcBef>
              <a:spcAft>
                <a:spcPts val="600"/>
              </a:spcAft>
            </a:pPr>
            <a:r>
              <a:rPr sz="1400" b="1">
                <a:solidFill>
                  <a:srgbClr val="1F4E79"/>
                </a:solidFill>
                <a:latin typeface="Calibri"/>
              </a:rPr>
              <a:t>Baseline:</a:t>
            </a:r>
            <a:r>
              <a:rPr sz="1400">
                <a:solidFill>
                  <a:srgbClr val="333333"/>
                </a:solidFill>
                <a:latin typeface="Calibri"/>
              </a:rPr>
              <a:t> jackknifed regional mean; spatial smoother</a:t>
            </a:r>
          </a:p>
        </p:txBody>
      </p:sp>
      <p:sp>
        <p:nvSpPr>
          <p:cNvPr id="7" name="Rounded Rectangle 6"/>
          <p:cNvSpPr/>
          <p:nvPr/>
        </p:nvSpPr>
        <p:spPr>
          <a:xfrm>
            <a:off x="448360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draw-polygon_blue.png"/>
          <p:cNvPicPr>
            <a:picLocks noChangeAspect="1"/>
          </p:cNvPicPr>
          <p:nvPr/>
        </p:nvPicPr>
        <p:blipFill>
          <a:blip r:embed="rId5"/>
          <a:stretch>
            <a:fillRect/>
          </a:stretch>
        </p:blipFill>
        <p:spPr>
          <a:xfrm>
            <a:off x="5641848" y="1920240"/>
            <a:ext cx="800100" cy="914400"/>
          </a:xfrm>
          <a:prstGeom prst="rect">
            <a:avLst/>
          </a:prstGeom>
        </p:spPr>
      </p:pic>
      <p:sp>
        <p:nvSpPr>
          <p:cNvPr id="9" name="TextBox 8"/>
          <p:cNvSpPr txBox="1"/>
          <p:nvPr/>
        </p:nvSpPr>
        <p:spPr>
          <a:xfrm>
            <a:off x="457504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Region extrapolation</a:t>
            </a:r>
          </a:p>
        </p:txBody>
      </p:sp>
      <p:sp>
        <p:nvSpPr>
          <p:cNvPr id="10" name="TextBox 9"/>
          <p:cNvSpPr txBox="1"/>
          <p:nvPr/>
        </p:nvSpPr>
        <p:spPr>
          <a:xfrm>
            <a:off x="475792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Question:</a:t>
            </a:r>
            <a:r>
              <a:rPr sz="1400">
                <a:solidFill>
                  <a:srgbClr val="333333"/>
                </a:solidFill>
                <a:latin typeface="Calibri"/>
              </a:rPr>
              <a:t> a whole unsurveyed region</a:t>
            </a:r>
          </a:p>
          <a:p>
            <a:pPr algn="l">
              <a:spcBef>
                <a:spcPts val="300"/>
              </a:spcBef>
              <a:spcAft>
                <a:spcPts val="600"/>
              </a:spcAft>
            </a:pPr>
            <a:r>
              <a:rPr sz="1400" b="1">
                <a:solidFill>
                  <a:srgbClr val="1F4E79"/>
                </a:solidFill>
                <a:latin typeface="Calibri"/>
              </a:rPr>
              <a:t>Folds:</a:t>
            </a:r>
            <a:r>
              <a:rPr sz="1400">
                <a:solidFill>
                  <a:srgbClr val="333333"/>
                </a:solidFill>
                <a:latin typeface="Calibri"/>
              </a:rPr>
              <a:t> leave-one-region-out</a:t>
            </a:r>
          </a:p>
          <a:p>
            <a:pPr algn="l">
              <a:spcBef>
                <a:spcPts val="300"/>
              </a:spcBef>
              <a:spcAft>
                <a:spcPts val="600"/>
              </a:spcAft>
            </a:pPr>
            <a:r>
              <a:rPr sz="1400" b="1">
                <a:solidFill>
                  <a:srgbClr val="1F4E79"/>
                </a:solidFill>
                <a:latin typeface="Calibri"/>
              </a:rPr>
              <a:t>Baseline:</a:t>
            </a:r>
            <a:r>
              <a:rPr sz="1400">
                <a:solidFill>
                  <a:srgbClr val="333333"/>
                </a:solidFill>
                <a:latin typeface="Calibri"/>
              </a:rPr>
              <a:t> spatial smoother</a:t>
            </a:r>
          </a:p>
        </p:txBody>
      </p:sp>
      <p:sp>
        <p:nvSpPr>
          <p:cNvPr id="11" name="Rounded Rectangle 10"/>
          <p:cNvSpPr/>
          <p:nvPr/>
        </p:nvSpPr>
        <p:spPr>
          <a:xfrm>
            <a:off x="812596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earth-africa_blue.png"/>
          <p:cNvPicPr>
            <a:picLocks noChangeAspect="1"/>
          </p:cNvPicPr>
          <p:nvPr/>
        </p:nvPicPr>
        <p:blipFill>
          <a:blip r:embed="rId6"/>
          <a:stretch>
            <a:fillRect/>
          </a:stretch>
        </p:blipFill>
        <p:spPr>
          <a:xfrm>
            <a:off x="9284208" y="1920240"/>
            <a:ext cx="914400" cy="914400"/>
          </a:xfrm>
          <a:prstGeom prst="rect">
            <a:avLst/>
          </a:prstGeom>
        </p:spPr>
      </p:pic>
      <p:sp>
        <p:nvSpPr>
          <p:cNvPr id="13" name="TextBox 12"/>
          <p:cNvSpPr txBox="1"/>
          <p:nvPr/>
        </p:nvSpPr>
        <p:spPr>
          <a:xfrm>
            <a:off x="821740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Country transport</a:t>
            </a:r>
          </a:p>
        </p:txBody>
      </p:sp>
      <p:sp>
        <p:nvSpPr>
          <p:cNvPr id="14" name="TextBox 13"/>
          <p:cNvSpPr txBox="1"/>
          <p:nvPr/>
        </p:nvSpPr>
        <p:spPr>
          <a:xfrm>
            <a:off x="8400288" y="3520440"/>
            <a:ext cx="2682240" cy="2286000"/>
          </a:xfrm>
          <a:prstGeom prst="rect">
            <a:avLst/>
          </a:prstGeom>
          <a:noFill/>
        </p:spPr>
        <p:txBody>
          <a:bodyPr wrap="square" lIns="45720" tIns="27432" rIns="45720" bIns="27432" anchor="t">
            <a:spAutoFit/>
          </a:bodyPr>
          <a:lstStyle/>
          <a:p>
            <a:pPr algn="l">
              <a:spcAft>
                <a:spcPts val="600"/>
              </a:spcAft>
            </a:pPr>
            <a:r>
              <a:rPr sz="1400" b="1" dirty="0">
                <a:solidFill>
                  <a:srgbClr val="1F4E79"/>
                </a:solidFill>
                <a:latin typeface="Calibri"/>
              </a:rPr>
              <a:t>Question:</a:t>
            </a:r>
            <a:r>
              <a:rPr sz="1400" dirty="0">
                <a:solidFill>
                  <a:srgbClr val="333333"/>
                </a:solidFill>
                <a:latin typeface="Calibri"/>
              </a:rPr>
              <a:t> a country with no biomarker survey</a:t>
            </a:r>
          </a:p>
          <a:p>
            <a:pPr algn="l">
              <a:spcBef>
                <a:spcPts val="300"/>
              </a:spcBef>
              <a:spcAft>
                <a:spcPts val="600"/>
              </a:spcAft>
            </a:pPr>
            <a:r>
              <a:rPr sz="1400" b="1" dirty="0">
                <a:solidFill>
                  <a:srgbClr val="1F4E79"/>
                </a:solidFill>
                <a:latin typeface="Calibri"/>
              </a:rPr>
              <a:t>Folds:</a:t>
            </a:r>
            <a:r>
              <a:rPr sz="1400" dirty="0">
                <a:solidFill>
                  <a:srgbClr val="333333"/>
                </a:solidFill>
                <a:latin typeface="Calibri"/>
              </a:rPr>
              <a:t> leave-one-country-out</a:t>
            </a:r>
          </a:p>
          <a:p>
            <a:pPr algn="l">
              <a:spcBef>
                <a:spcPts val="300"/>
              </a:spcBef>
              <a:spcAft>
                <a:spcPts val="600"/>
              </a:spcAft>
            </a:pPr>
            <a:r>
              <a:rPr sz="1400" b="1" dirty="0">
                <a:solidFill>
                  <a:srgbClr val="1F4E79"/>
                </a:solidFill>
                <a:latin typeface="Calibri"/>
              </a:rPr>
              <a:t>Baseline:</a:t>
            </a:r>
            <a:r>
              <a:rPr sz="1400" dirty="0">
                <a:solidFill>
                  <a:srgbClr val="333333"/>
                </a:solidFill>
                <a:latin typeface="Calibri"/>
              </a:rPr>
              <a:t> country-block permutation null</a:t>
            </a:r>
          </a:p>
        </p:txBody>
      </p:sp>
    </p:spTree>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Three questions, three ways to hold data out</a:t>
            </a:r>
          </a:p>
        </p:txBody>
      </p:sp>
      <p:pic>
        <p:nvPicPr>
          <p:cNvPr id="3" name="Picture 1" descr="MN-proxy-full-talk-2026-09_files/figure-pptx/silhouettes-1.png"/>
          <p:cNvPicPr>
            <a:picLocks noGrp="1" noChangeAspect="1"/>
          </p:cNvPicPr>
          <p:nvPr/>
        </p:nvPicPr>
        <p:blipFill>
          <a:blip r:embed="rId4"/>
          <a:stretch>
            <a:fillRect/>
          </a:stretch>
        </p:blipFill>
        <p:spPr bwMode="auto">
          <a:xfrm>
            <a:off x="841248" y="1691640"/>
            <a:ext cx="10515600" cy="402590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Results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Inside a surveyed country the index ranks districts at 0.40</a:t>
            </a:r>
          </a:p>
        </p:txBody>
      </p:sp>
      <p:sp>
        <p:nvSpPr>
          <p:cNvPr id="3" name="Content Placeholder 2"/>
          <p:cNvSpPr>
            <a:spLocks noGrp="1"/>
          </p:cNvSpPr>
          <p:nvPr>
            <p:ph sz="half" idx="1"/>
          </p:nvPr>
        </p:nvSpPr>
        <p:spPr/>
        <p:txBody>
          <a:bodyPr/>
          <a:lstStyle/>
          <a:p>
            <a:pPr marL="0" lvl="0" indent="0">
              <a:buNone/>
            </a:pPr>
            <a:r>
              <a:rPr sz="1800" dirty="0"/>
              <a:t>Mean Spearman correlation over the scored cells with a 95% interval across cells. The index reaches 0.40 on the biomarker level against 0.31 for the jackknifed regional mean (better in 13 of 18 cells) and 0.39 for the covariate-free smoother.</a:t>
            </a:r>
          </a:p>
        </p:txBody>
      </p:sp>
      <p:pic>
        <p:nvPicPr>
          <p:cNvPr id="4" name="Picture 1" descr="MN-proxy-full-talk-2026-09_files/figure-pptx/infill-1.png"/>
          <p:cNvPicPr>
            <a:picLocks noGrp="1" noChangeAspect="1"/>
          </p:cNvPicPr>
          <p:nvPr/>
        </p:nvPicPr>
        <p:blipFill>
          <a:blip r:embed="rId4"/>
          <a:stretch>
            <a:fillRect/>
          </a:stretch>
        </p:blipFill>
        <p:spPr bwMode="auto">
          <a:xfrm>
            <a:off x="6172200" y="1937834"/>
            <a:ext cx="5181600" cy="411480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Ghana: survey and held-out prediction</a:t>
            </a:r>
          </a:p>
        </p:txBody>
      </p:sp>
      <p:pic>
        <p:nvPicPr>
          <p:cNvPr id="3" name="Picture 1" descr="MN-proxy-full-talk-2026-09_files/figure-pptx/ghana-maps-1.png"/>
          <p:cNvPicPr>
            <a:picLocks noGrp="1" noChangeAspect="1"/>
          </p:cNvPicPr>
          <p:nvPr/>
        </p:nvPicPr>
        <p:blipFill>
          <a:blip r:embed="rId4"/>
          <a:stretch>
            <a:fillRect/>
          </a:stretch>
        </p:blipFill>
        <p:spPr bwMode="auto">
          <a:xfrm>
            <a:off x="1966602" y="1691640"/>
            <a:ext cx="8264892"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whole unsurveyed region: the ranking holds at 0.39</a:t>
            </a:r>
          </a:p>
        </p:txBody>
      </p:sp>
      <p:sp>
        <p:nvSpPr>
          <p:cNvPr id="3" name="Content Placeholder 2"/>
          <p:cNvSpPr>
            <a:spLocks noGrp="1"/>
          </p:cNvSpPr>
          <p:nvPr>
            <p:ph sz="half" idx="1"/>
          </p:nvPr>
        </p:nvSpPr>
        <p:spPr/>
        <p:txBody>
          <a:bodyPr/>
          <a:lstStyle/>
          <a:p>
            <a:pPr marL="0" lvl="0" indent="0">
              <a:buNone/>
            </a:pPr>
            <a:r>
              <a:rPr sz="1800"/>
              <a:t>Leave-one-region-out, mean over cells with a 95% interval. The index scores 0.39 on the level and 0.26 on prevalence; the penalised fits fall to 0.07 and -0.05 on prevalence.</a:t>
            </a:r>
          </a:p>
        </p:txBody>
      </p:sp>
      <p:pic>
        <p:nvPicPr>
          <p:cNvPr id="4" name="Picture 1" descr="MN-proxy-full-talk-2026-09_files/figure-pptx/region-1.png"/>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 country with no survey: rankings carry at 0.30, levels do not</a:t>
            </a:r>
          </a:p>
        </p:txBody>
      </p:sp>
      <p:sp>
        <p:nvSpPr>
          <p:cNvPr id="3" name="Content Placeholder 2"/>
          <p:cNvSpPr>
            <a:spLocks noGrp="1"/>
          </p:cNvSpPr>
          <p:nvPr>
            <p:ph sz="half" idx="1"/>
          </p:nvPr>
        </p:nvSpPr>
        <p:spPr/>
        <p:txBody>
          <a:bodyPr/>
          <a:lstStyle/>
          <a:p>
            <a:pPr marL="0" lvl="0" indent="0">
              <a:buNone/>
            </a:pPr>
            <a:r>
              <a:rPr sz="1800"/>
              <a:t>Leave-one-country-out, 22 cells. The full index scores 0.30 at district level (positive in 18 of 22) and 0.28 at regional level; the climate-and-soil index scores 0.38 and 0.45. Dashed lines are the 95th percentile of the permutation null.</a:t>
            </a:r>
          </a:p>
        </p:txBody>
      </p:sp>
      <p:pic>
        <p:nvPicPr>
          <p:cNvPr id="4" name="Picture 1" descr="MN-proxy-full-talk-2026-09_files/figure-pptx/transport-1.png"/>
          <p:cNvPicPr>
            <a:picLocks noGrp="1" noChangeAspect="1"/>
          </p:cNvPicPr>
          <p:nvPr/>
        </p:nvPicPr>
        <p:blipFill>
          <a:blip r:embed="rId4"/>
          <a:stretch>
            <a:fillRect/>
          </a:stretch>
        </p:blipFill>
        <p:spPr bwMode="auto">
          <a:xfrm>
            <a:off x="6172200" y="1930400"/>
            <a:ext cx="5181600" cy="411480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Adding domains to climate and soil</a:t>
            </a:r>
          </a:p>
        </p:txBody>
      </p:sp>
      <p:sp>
        <p:nvSpPr>
          <p:cNvPr id="3" name="Content Placeholder 2"/>
          <p:cNvSpPr>
            <a:spLocks noGrp="1"/>
          </p:cNvSpPr>
          <p:nvPr>
            <p:ph sz="half" idx="1"/>
          </p:nvPr>
        </p:nvSpPr>
        <p:spPr/>
        <p:txBody>
          <a:bodyPr/>
          <a:lstStyle/>
          <a:p>
            <a:pPr marL="0" lvl="0" indent="0">
              <a:buNone/>
            </a:pPr>
            <a:r>
              <a:rPr sz="1800"/>
              <a:t>Leave-one-country-out, 22 cells, mean with a 95% interval across cells. Climate and soil alone: 0.38. Adding the next load-bearing domains of the ablation (anaemia surfaces, agriculture, infection) reaches 0.41 (better in 15 of 22, median +0.01). Chosen on these same cells, so a candidate for the next country, not a replacement. Honest nested selection: 0.31.</a:t>
            </a:r>
          </a:p>
        </p:txBody>
      </p:sp>
      <p:pic>
        <p:nvPicPr>
          <p:cNvPr id="4" name="Picture 1" descr="MN-proxy-full-talk-2026-09_files/figure-pptx/cs-domains-1.png"/>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Cote d’Ivoire: a ranking for a country with no survey</a:t>
            </a:r>
          </a:p>
        </p:txBody>
      </p:sp>
      <p:pic>
        <p:nvPicPr>
          <p:cNvPr id="3" name="Picture 1" descr="../../results/figures/policy_deck/fig10_civ_ranking.png"/>
          <p:cNvPicPr>
            <a:picLocks noGrp="1" noChangeAspect="1"/>
          </p:cNvPicPr>
          <p:nvPr/>
        </p:nvPicPr>
        <p:blipFill>
          <a:blip r:embed="rId4"/>
          <a:stretch>
            <a:fillRect/>
          </a:stretch>
        </p:blipFill>
        <p:spPr bwMode="auto">
          <a:xfrm>
            <a:off x="2089591" y="1691640"/>
            <a:ext cx="8018913"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Cote d’Ivoire: the two candidates agree</a:t>
            </a:r>
          </a:p>
        </p:txBody>
      </p:sp>
      <p:pic>
        <p:nvPicPr>
          <p:cNvPr id="3" name="Picture 1" descr="../../results/figures/policy_deck/fig13_civ_candidates.png"/>
          <p:cNvPicPr>
            <a:picLocks noGrp="1" noChangeAspect="1"/>
          </p:cNvPicPr>
          <p:nvPr/>
        </p:nvPicPr>
        <p:blipFill>
          <a:blip r:embed="rId4"/>
          <a:stretch>
            <a:fillRect/>
          </a:stretch>
        </p:blipFill>
        <p:spPr bwMode="auto">
          <a:xfrm>
            <a:off x="3411728" y="1691640"/>
            <a:ext cx="5374640"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The geostatistical model estimates levels better and ranks worse</a:t>
            </a:r>
          </a:p>
        </p:txBody>
      </p:sp>
      <p:sp>
        <p:nvSpPr>
          <p:cNvPr id="3" name="Content Placeholder 2"/>
          <p:cNvSpPr>
            <a:spLocks noGrp="1"/>
          </p:cNvSpPr>
          <p:nvPr>
            <p:ph sz="half" idx="1"/>
          </p:nvPr>
        </p:nvSpPr>
        <p:spPr/>
        <p:txBody>
          <a:bodyPr/>
          <a:lstStyle/>
          <a:p>
            <a:pPr marL="0" lvl="0" indent="0">
              <a:buNone/>
            </a:pPr>
            <a:r>
              <a:rPr sz="1800"/>
              <a:t>The DHS Program’s model-based geostatistics fitted at the survey clusters (a spatial field plus covariates), scored on the same district folds. On the level it scores 0.27 against 0.38 for the index (index better in 20 of 24 cells); on prevalence 0.21 against 0.21.</a:t>
            </a:r>
          </a:p>
        </p:txBody>
      </p:sp>
      <p:pic>
        <p:nvPicPr>
          <p:cNvPr id="4" name="Picture 1" descr="MN-proxy-full-talk-2026-09_files/figure-pptx/geostat-1.png"/>
          <p:cNvPicPr>
            <a:picLocks noGrp="1" noChangeAspect="1"/>
          </p:cNvPicPr>
          <p:nvPr/>
        </p:nvPicPr>
        <p:blipFill>
          <a:blip r:embed="rId4"/>
          <a:stretch>
            <a:fillRect/>
          </a:stretch>
        </p:blipFill>
        <p:spPr bwMode="auto">
          <a:xfrm>
            <a:off x="6172200" y="1930400"/>
            <a:ext cx="5181600" cy="411480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The worst-ranked fifth holds 22% of the burden; a perfect map 48%</a:t>
            </a:r>
          </a:p>
        </p:txBody>
      </p:sp>
      <p:sp>
        <p:nvSpPr>
          <p:cNvPr id="3" name="Content Placeholder 2"/>
          <p:cNvSpPr>
            <a:spLocks noGrp="1"/>
          </p:cNvSpPr>
          <p:nvPr>
            <p:ph sz="half" idx="1"/>
          </p:nvPr>
        </p:nvSpPr>
        <p:spPr/>
        <p:txBody>
          <a:bodyPr/>
          <a:lstStyle/>
          <a:p>
            <a:pPr marL="0" lvl="0" indent="0">
              <a:buNone/>
            </a:pPr>
            <a:r>
              <a:rPr sz="1800"/>
              <a:t>Share of the national deficiency burden in the fifth of districts each method ranks worst, in-fill, mean over cells with a 95% interval. The index reaches 22%, the jackknifed regional mean 20%, no information 14% and perfect knowledge 48%.</a:t>
            </a:r>
          </a:p>
        </p:txBody>
      </p:sp>
      <p:pic>
        <p:nvPicPr>
          <p:cNvPr id="4" name="Picture 1" descr="MN-proxy-full-talk-2026-09_files/figure-pptx/burden-1.png"/>
          <p:cNvPicPr>
            <a:picLocks noGrp="1" noChangeAspect="1"/>
          </p:cNvPicPr>
          <p:nvPr/>
        </p:nvPicPr>
        <p:blipFill>
          <a:blip r:embed="rId4"/>
          <a:stretch>
            <a:fillRect/>
          </a:stretch>
        </p:blipFill>
        <p:spPr bwMode="auto">
          <a:xfrm>
            <a:off x="6172200" y="2108200"/>
            <a:ext cx="5181600" cy="374650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6 of 18 cells rank above 0.5; the rest average 0.28</a:t>
            </a:r>
          </a:p>
        </p:txBody>
      </p:sp>
      <p:pic>
        <p:nvPicPr>
          <p:cNvPr id="3" name="Picture 1" descr="MN-proxy-full-talk-2026-09_files/figure-pptx/cells-rank-1.png"/>
          <p:cNvPicPr>
            <a:picLocks noGrp="1" noChangeAspect="1"/>
          </p:cNvPicPr>
          <p:nvPr/>
        </p:nvPicPr>
        <p:blipFill>
          <a:blip r:embed="rId4"/>
          <a:stretch>
            <a:fillRect/>
          </a:stretch>
        </p:blipFill>
        <p:spPr bwMode="auto">
          <a:xfrm>
            <a:off x="1720623" y="1691640"/>
            <a:ext cx="8756850"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Prevalence error, cell by cell</a:t>
            </a:r>
          </a:p>
        </p:txBody>
      </p:sp>
      <p:pic>
        <p:nvPicPr>
          <p:cNvPr id="3" name="Picture 1" descr="MN-proxy-full-talk-2026-09_files/figure-pptx/cells-prev-1.png"/>
          <p:cNvPicPr>
            <a:picLocks noGrp="1" noChangeAspect="1"/>
          </p:cNvPicPr>
          <p:nvPr/>
        </p:nvPicPr>
        <p:blipFill>
          <a:blip r:embed="rId3"/>
          <a:stretch>
            <a:fillRect/>
          </a:stretch>
        </p:blipFill>
        <p:spPr bwMode="auto">
          <a:xfrm>
            <a:off x="1812865" y="1691640"/>
            <a:ext cx="8572366" cy="4206240"/>
          </a:xfrm>
          <a:prstGeom prst="rect">
            <a:avLst/>
          </a:prstGeom>
          <a:noFill/>
          <a:ln w="9525">
            <a:noFill/>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Concentration error, cell by cell</a:t>
            </a:r>
          </a:p>
        </p:txBody>
      </p:sp>
      <p:pic>
        <p:nvPicPr>
          <p:cNvPr id="3" name="Picture 1" descr="MN-proxy-full-talk-2026-09_files/figure-pptx/cells-level-1.png"/>
          <p:cNvPicPr>
            <a:picLocks noGrp="1" noChangeAspect="1"/>
          </p:cNvPicPr>
          <p:nvPr/>
        </p:nvPicPr>
        <p:blipFill>
          <a:blip r:embed="rId3"/>
          <a:stretch>
            <a:fillRect/>
          </a:stretch>
        </p:blipFill>
        <p:spPr bwMode="auto">
          <a:xfrm>
            <a:off x="1812865" y="1691640"/>
            <a:ext cx="8572366" cy="4206240"/>
          </a:xfrm>
          <a:prstGeom prst="rect">
            <a:avLst/>
          </a:prstGeom>
          <a:noFill/>
          <a:ln w="9525">
            <a:noFill/>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Where the ranking works, and why not</a:t>
            </a:r>
          </a:p>
        </p:txBody>
      </p:sp>
      <p:pic>
        <p:nvPicPr>
          <p:cNvPr id="3" name="Picture 1" descr="MN-proxy-full-talk-2026-09_files/figure-pptx/cells-scatter-1.png"/>
          <p:cNvPicPr>
            <a:picLocks noGrp="1" noChangeAspect="1"/>
          </p:cNvPicPr>
          <p:nvPr/>
        </p:nvPicPr>
        <p:blipFill>
          <a:blip r:embed="rId4"/>
          <a:stretch>
            <a:fillRect/>
          </a:stretch>
        </p:blipFill>
        <p:spPr bwMode="auto">
          <a:xfrm>
            <a:off x="1966602" y="1691640"/>
            <a:ext cx="8264892"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The strong cells</a:t>
            </a:r>
          </a:p>
        </p:txBody>
      </p:sp>
      <p:sp>
        <p:nvSpPr>
          <p:cNvPr id="3" name="Rounded Rectangle 2"/>
          <p:cNvSpPr/>
          <p:nvPr/>
        </p:nvSpPr>
        <p:spPr>
          <a:xfrm>
            <a:off x="8412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ranking-star_blue.png"/>
          <p:cNvPicPr>
            <a:picLocks noChangeAspect="1"/>
          </p:cNvPicPr>
          <p:nvPr/>
        </p:nvPicPr>
        <p:blipFill>
          <a:blip r:embed="rId3"/>
          <a:stretch>
            <a:fillRect/>
          </a:stretch>
        </p:blipFill>
        <p:spPr>
          <a:xfrm>
            <a:off x="1727073" y="1920240"/>
            <a:ext cx="857250" cy="685800"/>
          </a:xfrm>
          <a:prstGeom prst="rect">
            <a:avLst/>
          </a:prstGeom>
        </p:spPr>
      </p:pic>
      <p:sp>
        <p:nvSpPr>
          <p:cNvPr id="5" name="TextBox 4"/>
          <p:cNvSpPr txBox="1"/>
          <p:nvPr/>
        </p:nvSpPr>
        <p:spPr>
          <a:xfrm>
            <a:off x="932688" y="2743200"/>
            <a:ext cx="2274570" cy="457200"/>
          </a:xfrm>
          <a:prstGeom prst="rect">
            <a:avLst/>
          </a:prstGeom>
          <a:noFill/>
        </p:spPr>
        <p:txBody>
          <a:bodyPr wrap="square" lIns="45720" tIns="27432" rIns="45720" bIns="27432" anchor="t">
            <a:spAutoFit/>
          </a:bodyPr>
          <a:lstStyle/>
          <a:p>
            <a:pPr algn="ctr"/>
            <a:r>
              <a:rPr sz="1700" b="1">
                <a:solidFill>
                  <a:srgbClr val="1F4E79"/>
                </a:solidFill>
                <a:latin typeface="Calibri"/>
              </a:rPr>
              <a:t>Malawi: women's B12</a:t>
            </a:r>
          </a:p>
        </p:txBody>
      </p:sp>
      <p:sp>
        <p:nvSpPr>
          <p:cNvPr id="6" name="TextBox 5"/>
          <p:cNvSpPr txBox="1"/>
          <p:nvPr/>
        </p:nvSpPr>
        <p:spPr>
          <a:xfrm>
            <a:off x="978408" y="3291840"/>
            <a:ext cx="218313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Ranking, held out:</a:t>
            </a:r>
            <a:r>
              <a:rPr sz="1300">
                <a:solidFill>
                  <a:srgbClr val="333333"/>
                </a:solidFill>
                <a:latin typeface="Calibri"/>
              </a:rPr>
              <a:t> 0.70 (prevalence target 0.57)</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10.6 points</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10%</a:t>
            </a:r>
          </a:p>
        </p:txBody>
      </p:sp>
      <p:sp>
        <p:nvSpPr>
          <p:cNvPr id="7" name="Rounded Rectangle 6"/>
          <p:cNvSpPr/>
          <p:nvPr/>
        </p:nvSpPr>
        <p:spPr>
          <a:xfrm>
            <a:off x="35272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ranking-star_blue.png"/>
          <p:cNvPicPr>
            <a:picLocks noChangeAspect="1"/>
          </p:cNvPicPr>
          <p:nvPr/>
        </p:nvPicPr>
        <p:blipFill>
          <a:blip r:embed="rId3"/>
          <a:stretch>
            <a:fillRect/>
          </a:stretch>
        </p:blipFill>
        <p:spPr>
          <a:xfrm>
            <a:off x="4413123" y="1920240"/>
            <a:ext cx="857250" cy="685800"/>
          </a:xfrm>
          <a:prstGeom prst="rect">
            <a:avLst/>
          </a:prstGeom>
        </p:spPr>
      </p:pic>
      <p:sp>
        <p:nvSpPr>
          <p:cNvPr id="9" name="TextBox 8"/>
          <p:cNvSpPr txBox="1"/>
          <p:nvPr/>
        </p:nvSpPr>
        <p:spPr>
          <a:xfrm>
            <a:off x="3618738" y="2743200"/>
            <a:ext cx="2274570" cy="457200"/>
          </a:xfrm>
          <a:prstGeom prst="rect">
            <a:avLst/>
          </a:prstGeom>
          <a:noFill/>
        </p:spPr>
        <p:txBody>
          <a:bodyPr wrap="square" lIns="45720" tIns="27432" rIns="45720" bIns="27432" anchor="t">
            <a:spAutoFit/>
          </a:bodyPr>
          <a:lstStyle/>
          <a:p>
            <a:pPr algn="ctr"/>
            <a:r>
              <a:rPr sz="1700" b="1">
                <a:solidFill>
                  <a:srgbClr val="1F4E79"/>
                </a:solidFill>
                <a:latin typeface="Calibri"/>
              </a:rPr>
              <a:t>The Gambia: women's vitamin A</a:t>
            </a:r>
          </a:p>
        </p:txBody>
      </p:sp>
      <p:sp>
        <p:nvSpPr>
          <p:cNvPr id="10" name="TextBox 9"/>
          <p:cNvSpPr txBox="1"/>
          <p:nvPr/>
        </p:nvSpPr>
        <p:spPr>
          <a:xfrm>
            <a:off x="3664458" y="3291840"/>
            <a:ext cx="218313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Ranking, held out:</a:t>
            </a:r>
            <a:r>
              <a:rPr sz="1300">
                <a:solidFill>
                  <a:srgbClr val="333333"/>
                </a:solidFill>
                <a:latin typeface="Calibri"/>
              </a:rPr>
              <a:t> 0.70 (prevalence target 0.43)</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2.4 points</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2%</a:t>
            </a:r>
          </a:p>
        </p:txBody>
      </p:sp>
      <p:sp>
        <p:nvSpPr>
          <p:cNvPr id="11" name="Rounded Rectangle 10"/>
          <p:cNvSpPr/>
          <p:nvPr/>
        </p:nvSpPr>
        <p:spPr>
          <a:xfrm>
            <a:off x="62133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ranking-star_blue.png"/>
          <p:cNvPicPr>
            <a:picLocks noChangeAspect="1"/>
          </p:cNvPicPr>
          <p:nvPr/>
        </p:nvPicPr>
        <p:blipFill>
          <a:blip r:embed="rId3"/>
          <a:stretch>
            <a:fillRect/>
          </a:stretch>
        </p:blipFill>
        <p:spPr>
          <a:xfrm>
            <a:off x="7099173" y="1920240"/>
            <a:ext cx="857250" cy="685800"/>
          </a:xfrm>
          <a:prstGeom prst="rect">
            <a:avLst/>
          </a:prstGeom>
        </p:spPr>
      </p:pic>
      <p:sp>
        <p:nvSpPr>
          <p:cNvPr id="13" name="TextBox 12"/>
          <p:cNvSpPr txBox="1"/>
          <p:nvPr/>
        </p:nvSpPr>
        <p:spPr>
          <a:xfrm>
            <a:off x="6304788" y="2743200"/>
            <a:ext cx="2274570" cy="457200"/>
          </a:xfrm>
          <a:prstGeom prst="rect">
            <a:avLst/>
          </a:prstGeom>
          <a:noFill/>
        </p:spPr>
        <p:txBody>
          <a:bodyPr wrap="square" lIns="45720" tIns="27432" rIns="45720" bIns="27432" anchor="t">
            <a:spAutoFit/>
          </a:bodyPr>
          <a:lstStyle/>
          <a:p>
            <a:pPr algn="ctr"/>
            <a:r>
              <a:rPr sz="1700" b="1">
                <a:solidFill>
                  <a:srgbClr val="1F4E79"/>
                </a:solidFill>
                <a:latin typeface="Calibri"/>
              </a:rPr>
              <a:t>The Gambia: child vitamin A</a:t>
            </a:r>
          </a:p>
        </p:txBody>
      </p:sp>
      <p:sp>
        <p:nvSpPr>
          <p:cNvPr id="14" name="TextBox 13"/>
          <p:cNvSpPr txBox="1"/>
          <p:nvPr/>
        </p:nvSpPr>
        <p:spPr>
          <a:xfrm>
            <a:off x="6350508" y="3291840"/>
            <a:ext cx="218313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Ranking, held out:</a:t>
            </a:r>
            <a:r>
              <a:rPr sz="1300">
                <a:solidFill>
                  <a:srgbClr val="333333"/>
                </a:solidFill>
                <a:latin typeface="Calibri"/>
              </a:rPr>
              <a:t> 0.69 (prevalence target 0.58)</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10.3 points</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16%</a:t>
            </a:r>
          </a:p>
        </p:txBody>
      </p:sp>
      <p:sp>
        <p:nvSpPr>
          <p:cNvPr id="15" name="Rounded Rectangle 14"/>
          <p:cNvSpPr/>
          <p:nvPr/>
        </p:nvSpPr>
        <p:spPr>
          <a:xfrm>
            <a:off x="88993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ranking-star_blue.png"/>
          <p:cNvPicPr>
            <a:picLocks noChangeAspect="1"/>
          </p:cNvPicPr>
          <p:nvPr/>
        </p:nvPicPr>
        <p:blipFill>
          <a:blip r:embed="rId3"/>
          <a:stretch>
            <a:fillRect/>
          </a:stretch>
        </p:blipFill>
        <p:spPr>
          <a:xfrm>
            <a:off x="9785223" y="1920240"/>
            <a:ext cx="857250" cy="685800"/>
          </a:xfrm>
          <a:prstGeom prst="rect">
            <a:avLst/>
          </a:prstGeom>
        </p:spPr>
      </p:pic>
      <p:sp>
        <p:nvSpPr>
          <p:cNvPr id="17" name="TextBox 16"/>
          <p:cNvSpPr txBox="1"/>
          <p:nvPr/>
        </p:nvSpPr>
        <p:spPr>
          <a:xfrm>
            <a:off x="8990838" y="2743200"/>
            <a:ext cx="2274570" cy="457200"/>
          </a:xfrm>
          <a:prstGeom prst="rect">
            <a:avLst/>
          </a:prstGeom>
          <a:noFill/>
        </p:spPr>
        <p:txBody>
          <a:bodyPr wrap="square" lIns="45720" tIns="27432" rIns="45720" bIns="27432" anchor="t">
            <a:spAutoFit/>
          </a:bodyPr>
          <a:lstStyle/>
          <a:p>
            <a:pPr algn="ctr"/>
            <a:r>
              <a:rPr sz="1700" b="1">
                <a:solidFill>
                  <a:srgbClr val="1F4E79"/>
                </a:solidFill>
                <a:latin typeface="Calibri"/>
              </a:rPr>
              <a:t>The Gambia: women's iron</a:t>
            </a:r>
          </a:p>
        </p:txBody>
      </p:sp>
      <p:sp>
        <p:nvSpPr>
          <p:cNvPr id="18" name="TextBox 17"/>
          <p:cNvSpPr txBox="1"/>
          <p:nvPr/>
        </p:nvSpPr>
        <p:spPr>
          <a:xfrm>
            <a:off x="9036558" y="3291840"/>
            <a:ext cx="218313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Ranking, held out:</a:t>
            </a:r>
            <a:r>
              <a:rPr sz="1300">
                <a:solidFill>
                  <a:srgbClr val="333333"/>
                </a:solidFill>
                <a:latin typeface="Calibri"/>
              </a:rPr>
              <a:t> 0.68 (prevalence target 0.74)</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9.7 points</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Evaluation summary: one table, two readings</a:t>
            </a:r>
          </a:p>
        </p:txBody>
      </p:sp>
      <p:graphicFrame>
        <p:nvGraphicFramePr>
          <p:cNvPr id="6" name="Content Placeholder 5"/>
          <p:cNvGraphicFramePr>
            <a:graphicFrameLocks noGrp="1"/>
          </p:cNvGraphicFramePr>
          <p:nvPr>
            <p:ph idx="1"/>
          </p:nvPr>
        </p:nvGraphicFramePr>
        <p:xfrm>
          <a:off x="838200" y="1816100"/>
          <a:ext cx="5181600" cy="219456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0000"/>
                    </a:ext>
                  </a:extLst>
                </a:gridCol>
                <a:gridCol w="11557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435100">
                  <a:extLst>
                    <a:ext uri="{9D8B030D-6E8A-4147-A177-3AD203B41FA5}">
                      <a16:colId xmlns:a16="http://schemas.microsoft.com/office/drawing/2014/main" val="20003"/>
                    </a:ext>
                  </a:extLst>
                </a:gridCol>
              </a:tblGrid>
              <a:tr h="0">
                <a:tc>
                  <a:txBody>
                    <a:bodyPr/>
                    <a:lstStyle/>
                    <a:p>
                      <a:pPr marL="0" lvl="0" indent="0" algn="l">
                        <a:buNone/>
                      </a:pPr>
                      <a:r>
                        <a:rPr sz="1000"/>
                        <a:t>Outcome</a:t>
                      </a:r>
                    </a:p>
                  </a:txBody>
                  <a:tcPr/>
                </a:tc>
                <a:tc>
                  <a:txBody>
                    <a:bodyPr/>
                    <a:lstStyle/>
                    <a:p>
                      <a:pPr marL="0" lvl="0" indent="0" algn="r">
                        <a:buNone/>
                      </a:pPr>
                      <a:r>
                        <a:rPr sz="1000"/>
                        <a:t>In-fill ranking</a:t>
                      </a:r>
                    </a:p>
                  </a:txBody>
                  <a:tcPr/>
                </a:tc>
                <a:tc>
                  <a:txBody>
                    <a:bodyPr/>
                    <a:lstStyle/>
                    <a:p>
                      <a:pPr marL="0" lvl="0" indent="0" algn="r">
                        <a:buNone/>
                      </a:pPr>
                      <a:r>
                        <a:rPr sz="1000"/>
                        <a:t>Transport ranking</a:t>
                      </a:r>
                    </a:p>
                  </a:txBody>
                  <a:tcPr/>
                </a:tc>
                <a:tc>
                  <a:txBody>
                    <a:bodyPr/>
                    <a:lstStyle/>
                    <a:p>
                      <a:pPr marL="0" lvl="0" indent="0" algn="r">
                        <a:buNone/>
                      </a:pPr>
                      <a:r>
                        <a:rPr sz="1000"/>
                        <a:t>District error (pp)</a:t>
                      </a:r>
                    </a:p>
                  </a:txBody>
                  <a:tcPr/>
                </a:tc>
                <a:extLst>
                  <a:ext uri="{0D108BD9-81ED-4DB2-BD59-A6C34878D82A}">
                    <a16:rowId xmlns:a16="http://schemas.microsoft.com/office/drawing/2014/main" val="10000"/>
                  </a:ext>
                </a:extLst>
              </a:tr>
              <a:tr h="0">
                <a:tc>
                  <a:txBody>
                    <a:bodyPr/>
                    <a:lstStyle/>
                    <a:p>
                      <a:pPr marL="0" lvl="0" indent="0" algn="l">
                        <a:buNone/>
                      </a:pPr>
                      <a:r>
                        <a:rPr sz="1000"/>
                        <a:t>Women’s B12</a:t>
                      </a:r>
                    </a:p>
                  </a:txBody>
                  <a:tcPr/>
                </a:tc>
                <a:tc>
                  <a:txBody>
                    <a:bodyPr/>
                    <a:lstStyle/>
                    <a:p>
                      <a:pPr marL="0" lvl="0" indent="0" algn="r">
                        <a:buNone/>
                      </a:pPr>
                      <a:r>
                        <a:rPr sz="1000"/>
                        <a:t>0.63</a:t>
                      </a:r>
                    </a:p>
                  </a:txBody>
                  <a:tcPr/>
                </a:tc>
                <a:tc>
                  <a:txBody>
                    <a:bodyPr/>
                    <a:lstStyle/>
                    <a:p>
                      <a:pPr marL="0" lvl="0" indent="0" algn="r">
                        <a:buNone/>
                      </a:pPr>
                      <a:r>
                        <a:rPr sz="1000"/>
                        <a:t>0.53</a:t>
                      </a:r>
                    </a:p>
                  </a:txBody>
                  <a:tcPr/>
                </a:tc>
                <a:tc>
                  <a:txBody>
                    <a:bodyPr/>
                    <a:lstStyle/>
                    <a:p>
                      <a:pPr marL="0" lvl="0" indent="0" algn="r">
                        <a:buNone/>
                      </a:pPr>
                      <a:r>
                        <a:rPr sz="1000"/>
                        <a:t>10.1</a:t>
                      </a:r>
                    </a:p>
                  </a:txBody>
                  <a:tcPr/>
                </a:tc>
                <a:extLst>
                  <a:ext uri="{0D108BD9-81ED-4DB2-BD59-A6C34878D82A}">
                    <a16:rowId xmlns:a16="http://schemas.microsoft.com/office/drawing/2014/main" val="10001"/>
                  </a:ext>
                </a:extLst>
              </a:tr>
              <a:tr h="0">
                <a:tc>
                  <a:txBody>
                    <a:bodyPr/>
                    <a:lstStyle/>
                    <a:p>
                      <a:pPr marL="0" lvl="0" indent="0" algn="l">
                        <a:buNone/>
                      </a:pPr>
                      <a:r>
                        <a:rPr sz="1000"/>
                        <a:t>Women’s vitamin A</a:t>
                      </a:r>
                    </a:p>
                  </a:txBody>
                  <a:tcPr/>
                </a:tc>
                <a:tc>
                  <a:txBody>
                    <a:bodyPr/>
                    <a:lstStyle/>
                    <a:p>
                      <a:pPr marL="0" lvl="0" indent="0" algn="r">
                        <a:buNone/>
                      </a:pPr>
                      <a:r>
                        <a:rPr sz="1000"/>
                        <a:t>0.49</a:t>
                      </a:r>
                    </a:p>
                  </a:txBody>
                  <a:tcPr/>
                </a:tc>
                <a:tc>
                  <a:txBody>
                    <a:bodyPr/>
                    <a:lstStyle/>
                    <a:p>
                      <a:pPr marL="0" lvl="0" indent="0" algn="r">
                        <a:buNone/>
                      </a:pPr>
                      <a:r>
                        <a:rPr sz="1000"/>
                        <a:t>0.32</a:t>
                      </a:r>
                    </a:p>
                  </a:txBody>
                  <a:tcPr/>
                </a:tc>
                <a:tc>
                  <a:txBody>
                    <a:bodyPr/>
                    <a:lstStyle/>
                    <a:p>
                      <a:pPr marL="0" lvl="0" indent="0" algn="r">
                        <a:buNone/>
                      </a:pPr>
                      <a:r>
                        <a:rPr sz="1000"/>
                        <a:t>2.5</a:t>
                      </a:r>
                    </a:p>
                  </a:txBody>
                  <a:tcPr/>
                </a:tc>
                <a:extLst>
                  <a:ext uri="{0D108BD9-81ED-4DB2-BD59-A6C34878D82A}">
                    <a16:rowId xmlns:a16="http://schemas.microsoft.com/office/drawing/2014/main" val="10002"/>
                  </a:ext>
                </a:extLst>
              </a:tr>
              <a:tr h="0">
                <a:tc>
                  <a:txBody>
                    <a:bodyPr/>
                    <a:lstStyle/>
                    <a:p>
                      <a:pPr marL="0" lvl="0" indent="0" algn="l">
                        <a:buNone/>
                      </a:pPr>
                      <a:r>
                        <a:rPr sz="1000"/>
                        <a:t>Women’s iron</a:t>
                      </a:r>
                    </a:p>
                  </a:txBody>
                  <a:tcPr/>
                </a:tc>
                <a:tc>
                  <a:txBody>
                    <a:bodyPr/>
                    <a:lstStyle/>
                    <a:p>
                      <a:pPr marL="0" lvl="0" indent="0" algn="r">
                        <a:buNone/>
                      </a:pPr>
                      <a:r>
                        <a:rPr sz="1000"/>
                        <a:t>0.44</a:t>
                      </a:r>
                    </a:p>
                  </a:txBody>
                  <a:tcPr/>
                </a:tc>
                <a:tc>
                  <a:txBody>
                    <a:bodyPr/>
                    <a:lstStyle/>
                    <a:p>
                      <a:pPr marL="0" lvl="0" indent="0" algn="r">
                        <a:buNone/>
                      </a:pPr>
                      <a:r>
                        <a:rPr sz="1000"/>
                        <a:t>0.28</a:t>
                      </a:r>
                    </a:p>
                  </a:txBody>
                  <a:tcPr/>
                </a:tc>
                <a:tc>
                  <a:txBody>
                    <a:bodyPr/>
                    <a:lstStyle/>
                    <a:p>
                      <a:pPr marL="0" lvl="0" indent="0" algn="r">
                        <a:buNone/>
                      </a:pPr>
                      <a:r>
                        <a:rPr sz="1000"/>
                        <a:t>14.1</a:t>
                      </a:r>
                    </a:p>
                  </a:txBody>
                  <a:tcPr/>
                </a:tc>
                <a:extLst>
                  <a:ext uri="{0D108BD9-81ED-4DB2-BD59-A6C34878D82A}">
                    <a16:rowId xmlns:a16="http://schemas.microsoft.com/office/drawing/2014/main" val="10003"/>
                  </a:ext>
                </a:extLst>
              </a:tr>
              <a:tr h="0">
                <a:tc>
                  <a:txBody>
                    <a:bodyPr/>
                    <a:lstStyle/>
                    <a:p>
                      <a:pPr marL="0" lvl="0" indent="0" algn="l">
                        <a:buNone/>
                      </a:pPr>
                      <a:r>
                        <a:rPr sz="1000"/>
                        <a:t>Child iron</a:t>
                      </a:r>
                    </a:p>
                  </a:txBody>
                  <a:tcPr/>
                </a:tc>
                <a:tc>
                  <a:txBody>
                    <a:bodyPr/>
                    <a:lstStyle/>
                    <a:p>
                      <a:pPr marL="0" lvl="0" indent="0" algn="r">
                        <a:buNone/>
                      </a:pPr>
                      <a:r>
                        <a:rPr sz="1000"/>
                        <a:t>0.43</a:t>
                      </a:r>
                    </a:p>
                  </a:txBody>
                  <a:tcPr/>
                </a:tc>
                <a:tc>
                  <a:txBody>
                    <a:bodyPr/>
                    <a:lstStyle/>
                    <a:p>
                      <a:pPr marL="0" lvl="0" indent="0" algn="r">
                        <a:buNone/>
                      </a:pPr>
                      <a:r>
                        <a:rPr sz="1000"/>
                        <a:t>0.28</a:t>
                      </a:r>
                    </a:p>
                  </a:txBody>
                  <a:tcPr/>
                </a:tc>
                <a:tc>
                  <a:txBody>
                    <a:bodyPr/>
                    <a:lstStyle/>
                    <a:p>
                      <a:pPr marL="0" lvl="0" indent="0" algn="r">
                        <a:buNone/>
                      </a:pPr>
                      <a:r>
                        <a:rPr sz="1000"/>
                        <a:t>14.8</a:t>
                      </a:r>
                    </a:p>
                  </a:txBody>
                  <a:tcPr/>
                </a:tc>
                <a:extLst>
                  <a:ext uri="{0D108BD9-81ED-4DB2-BD59-A6C34878D82A}">
                    <a16:rowId xmlns:a16="http://schemas.microsoft.com/office/drawing/2014/main" val="10004"/>
                  </a:ext>
                </a:extLst>
              </a:tr>
              <a:tr h="0">
                <a:tc>
                  <a:txBody>
                    <a:bodyPr/>
                    <a:lstStyle/>
                    <a:p>
                      <a:pPr marL="0" lvl="0" indent="0" algn="l">
                        <a:buNone/>
                      </a:pPr>
                      <a:r>
                        <a:rPr sz="1000"/>
                        <a:t>Child vitamin A</a:t>
                      </a:r>
                    </a:p>
                  </a:txBody>
                  <a:tcPr/>
                </a:tc>
                <a:tc>
                  <a:txBody>
                    <a:bodyPr/>
                    <a:lstStyle/>
                    <a:p>
                      <a:pPr marL="0" lvl="0" indent="0" algn="r">
                        <a:buNone/>
                      </a:pPr>
                      <a:r>
                        <a:rPr sz="1000"/>
                        <a:t>0.40</a:t>
                      </a:r>
                    </a:p>
                  </a:txBody>
                  <a:tcPr/>
                </a:tc>
                <a:tc>
                  <a:txBody>
                    <a:bodyPr/>
                    <a:lstStyle/>
                    <a:p>
                      <a:pPr marL="0" lvl="0" indent="0" algn="r">
                        <a:buNone/>
                      </a:pPr>
                      <a:r>
                        <a:rPr sz="1000"/>
                        <a:t>0.32</a:t>
                      </a:r>
                    </a:p>
                  </a:txBody>
                  <a:tcPr/>
                </a:tc>
                <a:tc>
                  <a:txBody>
                    <a:bodyPr/>
                    <a:lstStyle/>
                    <a:p>
                      <a:pPr marL="0" lvl="0" indent="0" algn="r">
                        <a:buNone/>
                      </a:pPr>
                      <a:r>
                        <a:rPr sz="1000"/>
                        <a:t>10.8</a:t>
                      </a:r>
                    </a:p>
                  </a:txBody>
                  <a:tcPr/>
                </a:tc>
                <a:extLst>
                  <a:ext uri="{0D108BD9-81ED-4DB2-BD59-A6C34878D82A}">
                    <a16:rowId xmlns:a16="http://schemas.microsoft.com/office/drawing/2014/main" val="10005"/>
                  </a:ext>
                </a:extLst>
              </a:tr>
              <a:tr h="0">
                <a:tc>
                  <a:txBody>
                    <a:bodyPr/>
                    <a:lstStyle/>
                    <a:p>
                      <a:pPr marL="0" lvl="0" indent="0" algn="l">
                        <a:buNone/>
                      </a:pPr>
                      <a:r>
                        <a:rPr sz="1000"/>
                        <a:t>Women’s folate</a:t>
                      </a:r>
                    </a:p>
                  </a:txBody>
                  <a:tcPr/>
                </a:tc>
                <a:tc>
                  <a:txBody>
                    <a:bodyPr/>
                    <a:lstStyle/>
                    <a:p>
                      <a:pPr marL="0" lvl="0" indent="0" algn="r">
                        <a:buNone/>
                      </a:pPr>
                      <a:r>
                        <a:rPr sz="1000"/>
                        <a:t>0.40</a:t>
                      </a:r>
                    </a:p>
                  </a:txBody>
                  <a:tcPr/>
                </a:tc>
                <a:tc>
                  <a:txBody>
                    <a:bodyPr/>
                    <a:lstStyle/>
                    <a:p>
                      <a:pPr marL="0" lvl="0" indent="0" algn="r">
                        <a:buNone/>
                      </a:pPr>
                      <a:r>
                        <a:rPr sz="1000"/>
                        <a:t>0.07</a:t>
                      </a:r>
                    </a:p>
                  </a:txBody>
                  <a:tcPr/>
                </a:tc>
                <a:tc>
                  <a:txBody>
                    <a:bodyPr/>
                    <a:lstStyle/>
                    <a:p>
                      <a:pPr marL="0" lvl="0" indent="0" algn="r">
                        <a:buNone/>
                      </a:pPr>
                      <a:r>
                        <a:rPr sz="1000"/>
                        <a:t>24.8</a:t>
                      </a:r>
                    </a:p>
                  </a:txBody>
                  <a:tcPr/>
                </a:tc>
                <a:extLst>
                  <a:ext uri="{0D108BD9-81ED-4DB2-BD59-A6C34878D82A}">
                    <a16:rowId xmlns:a16="http://schemas.microsoft.com/office/drawing/2014/main" val="10006"/>
                  </a:ext>
                </a:extLst>
              </a:tr>
              <a:tr h="0">
                <a:tc>
                  <a:txBody>
                    <a:bodyPr/>
                    <a:lstStyle/>
                    <a:p>
                      <a:pPr marL="0" lvl="0" indent="0" algn="l">
                        <a:buNone/>
                      </a:pPr>
                      <a:r>
                        <a:rPr sz="1000"/>
                        <a:t>Women’s zinc</a:t>
                      </a:r>
                    </a:p>
                  </a:txBody>
                  <a:tcPr/>
                </a:tc>
                <a:tc>
                  <a:txBody>
                    <a:bodyPr/>
                    <a:lstStyle/>
                    <a:p>
                      <a:pPr marL="0" lvl="0" indent="0" algn="r">
                        <a:buNone/>
                      </a:pPr>
                      <a:r>
                        <a:rPr sz="1000"/>
                        <a:t>-0.03</a:t>
                      </a:r>
                    </a:p>
                  </a:txBody>
                  <a:tcPr/>
                </a:tc>
                <a:tc>
                  <a:txBody>
                    <a:bodyPr/>
                    <a:lstStyle/>
                    <a:p>
                      <a:pPr marL="0" lvl="0" indent="0" algn="r">
                        <a:buNone/>
                      </a:pPr>
                      <a:r>
                        <a:rPr sz="1000"/>
                        <a:t>NA</a:t>
                      </a:r>
                    </a:p>
                  </a:txBody>
                  <a:tcPr/>
                </a:tc>
                <a:tc>
                  <a:txBody>
                    <a:bodyPr/>
                    <a:lstStyle/>
                    <a:p>
                      <a:pPr marL="0" lvl="0" indent="0" algn="r">
                        <a:buNone/>
                      </a:pPr>
                      <a:r>
                        <a:rPr sz="1000"/>
                        <a:t>31.6</a:t>
                      </a:r>
                    </a:p>
                  </a:txBody>
                  <a:tcPr/>
                </a:tc>
                <a:extLst>
                  <a:ext uri="{0D108BD9-81ED-4DB2-BD59-A6C34878D82A}">
                    <a16:rowId xmlns:a16="http://schemas.microsoft.com/office/drawing/2014/main" val="10007"/>
                  </a:ext>
                </a:extLst>
              </a:tr>
              <a:tr h="0">
                <a:tc>
                  <a:txBody>
                    <a:bodyPr/>
                    <a:lstStyle/>
                    <a:p>
                      <a:pPr marL="0" lvl="0" indent="0" algn="l">
                        <a:buNone/>
                      </a:pPr>
                      <a:r>
                        <a:rPr sz="1000"/>
                        <a:t>Child zinc</a:t>
                      </a:r>
                    </a:p>
                  </a:txBody>
                  <a:tcPr/>
                </a:tc>
                <a:tc>
                  <a:txBody>
                    <a:bodyPr/>
                    <a:lstStyle/>
                    <a:p>
                      <a:pPr marL="0" lvl="0" indent="0" algn="r">
                        <a:buNone/>
                      </a:pPr>
                      <a:r>
                        <a:rPr sz="1000"/>
                        <a:t>-0.11</a:t>
                      </a:r>
                    </a:p>
                  </a:txBody>
                  <a:tcPr/>
                </a:tc>
                <a:tc>
                  <a:txBody>
                    <a:bodyPr/>
                    <a:lstStyle/>
                    <a:p>
                      <a:pPr marL="0" lvl="0" indent="0" algn="r">
                        <a:buNone/>
                      </a:pPr>
                      <a:r>
                        <a:rPr sz="1000"/>
                        <a:t>NA</a:t>
                      </a:r>
                    </a:p>
                  </a:txBody>
                  <a:tcPr/>
                </a:tc>
                <a:tc>
                  <a:txBody>
                    <a:bodyPr/>
                    <a:lstStyle/>
                    <a:p>
                      <a:pPr marL="0" lvl="0" indent="0" algn="r">
                        <a:buNone/>
                      </a:pPr>
                      <a:r>
                        <a:rPr sz="1000"/>
                        <a:t>28.5</a:t>
                      </a:r>
                    </a:p>
                  </a:txBody>
                  <a:tcPr/>
                </a:tc>
                <a:extLst>
                  <a:ext uri="{0D108BD9-81ED-4DB2-BD59-A6C34878D82A}">
                    <a16:rowId xmlns:a16="http://schemas.microsoft.com/office/drawing/2014/main" val="10008"/>
                  </a:ext>
                </a:extLst>
              </a:tr>
            </a:tbl>
          </a:graphicData>
        </a:graphic>
      </p:graphicFrame>
      <p:sp>
        <p:nvSpPr>
          <p:cNvPr id="4" name="Content Placeholder 3"/>
          <p:cNvSpPr>
            <a:spLocks noGrp="1"/>
          </p:cNvSpPr>
          <p:nvPr>
            <p:ph sz="half" idx="2"/>
          </p:nvPr>
        </p:nvSpPr>
        <p:spPr/>
        <p:txBody>
          <a:bodyPr/>
          <a:lstStyle/>
          <a:p>
            <a:pPr marL="0" lvl="0" indent="0">
              <a:buNone/>
            </a:pPr>
            <a:r>
              <a:rPr sz="1800" b="1" dirty="0"/>
              <a:t>Ranking.</a:t>
            </a:r>
            <a:r>
              <a:rPr sz="1800" dirty="0"/>
              <a:t> Take any two districts: the model orders them the way the survey does 60% of the time inside a surveyed country (a coin toss 50%, the survey’s regional averages 56%), and 55% in a country it has never seen.</a:t>
            </a:r>
          </a:p>
          <a:p>
            <a:pPr marL="0" lvl="0" indent="0">
              <a:buNone/>
            </a:pPr>
            <a:r>
              <a:rPr sz="1800" b="1" dirty="0"/>
              <a:t>Level.</a:t>
            </a:r>
            <a:r>
              <a:rPr sz="1800" dirty="0"/>
              <a:t> The average district error is 16 to 14 points; with one national anchor a new country gets 9.3 points. Read levels as planning figures, rankings as the product.</a:t>
            </a:r>
          </a:p>
        </p:txBody>
      </p:sp>
    </p:spTree>
  </p:cSld>
  <p:clrMapOvr>
    <a:masterClrMapping/>
  </p:clrMapOvr>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What a correlation of 0.40 means on the ground</a:t>
            </a:r>
          </a:p>
        </p:txBody>
      </p:sp>
      <p:pic>
        <p:nvPicPr>
          <p:cNvPr id="3" name="Picture 2" descr="right-left_blue.png"/>
          <p:cNvPicPr>
            <a:picLocks noChangeAspect="1"/>
          </p:cNvPicPr>
          <p:nvPr/>
        </p:nvPicPr>
        <p:blipFill>
          <a:blip r:embed="rId4"/>
          <a:stretch>
            <a:fillRect/>
          </a:stretch>
        </p:blipFill>
        <p:spPr>
          <a:xfrm>
            <a:off x="932688" y="1920240"/>
            <a:ext cx="822960" cy="822960"/>
          </a:xfrm>
          <a:prstGeom prst="rect">
            <a:avLst/>
          </a:prstGeom>
        </p:spPr>
      </p:pic>
      <p:sp>
        <p:nvSpPr>
          <p:cNvPr id="4" name="TextBox 3"/>
          <p:cNvSpPr txBox="1"/>
          <p:nvPr/>
        </p:nvSpPr>
        <p:spPr>
          <a:xfrm>
            <a:off x="1984248" y="1691640"/>
            <a:ext cx="9326880" cy="1280160"/>
          </a:xfrm>
          <a:prstGeom prst="rect">
            <a:avLst/>
          </a:prstGeom>
          <a:noFill/>
        </p:spPr>
        <p:txBody>
          <a:bodyPr wrap="square" lIns="45720" tIns="27432" rIns="45720" bIns="27432" anchor="ctr">
            <a:spAutoFit/>
          </a:bodyPr>
          <a:lstStyle/>
          <a:p>
            <a:pPr algn="l"/>
            <a:r>
              <a:rPr sz="2000" b="1" dirty="0">
                <a:solidFill>
                  <a:srgbClr val="1F4E79"/>
                </a:solidFill>
                <a:latin typeface="Calibri"/>
              </a:rPr>
              <a:t>Take any two districts: the model orders them the way the survey does 60% of the time</a:t>
            </a:r>
          </a:p>
          <a:p>
            <a:pPr algn="l">
              <a:spcBef>
                <a:spcPts val="300"/>
              </a:spcBef>
            </a:pPr>
            <a:r>
              <a:rPr sz="1400" b="0" dirty="0">
                <a:solidFill>
                  <a:srgbClr val="333333"/>
                </a:solidFill>
                <a:latin typeface="Calibri"/>
              </a:rPr>
              <a:t>Counted over every pair of districts. A coin toss gets 50%, the survey's own regional averages 56%; in a country the model has never seen, 55%.</a:t>
            </a:r>
          </a:p>
        </p:txBody>
      </p:sp>
      <p:pic>
        <p:nvPicPr>
          <p:cNvPr id="5" name="Picture 4" descr="flag_blue.png"/>
          <p:cNvPicPr>
            <a:picLocks noChangeAspect="1"/>
          </p:cNvPicPr>
          <p:nvPr/>
        </p:nvPicPr>
        <p:blipFill>
          <a:blip r:embed="rId5"/>
          <a:stretch>
            <a:fillRect/>
          </a:stretch>
        </p:blipFill>
        <p:spPr>
          <a:xfrm>
            <a:off x="932688" y="3383280"/>
            <a:ext cx="720090" cy="822960"/>
          </a:xfrm>
          <a:prstGeom prst="rect">
            <a:avLst/>
          </a:prstGeom>
        </p:spPr>
      </p:pic>
      <p:sp>
        <p:nvSpPr>
          <p:cNvPr id="6" name="TextBox 5"/>
          <p:cNvSpPr txBox="1"/>
          <p:nvPr/>
        </p:nvSpPr>
        <p:spPr>
          <a:xfrm>
            <a:off x="1984248" y="3154680"/>
            <a:ext cx="9326880" cy="1280160"/>
          </a:xfrm>
          <a:prstGeom prst="rect">
            <a:avLst/>
          </a:prstGeom>
          <a:noFill/>
        </p:spPr>
        <p:txBody>
          <a:bodyPr wrap="square" lIns="45720" tIns="27432" rIns="45720" bIns="27432" anchor="ctr">
            <a:spAutoFit/>
          </a:bodyPr>
          <a:lstStyle/>
          <a:p>
            <a:pPr algn="l"/>
            <a:r>
              <a:rPr sz="2000" b="1" dirty="0">
                <a:solidFill>
                  <a:srgbClr val="1F4E79"/>
                </a:solidFill>
                <a:latin typeface="Calibri"/>
              </a:rPr>
              <a:t>In the fifth of districts it flags, deficiency runs at 32% against 24% nationally</a:t>
            </a:r>
          </a:p>
          <a:p>
            <a:pPr algn="l">
              <a:spcBef>
                <a:spcPts val="300"/>
              </a:spcBef>
            </a:pPr>
            <a:r>
              <a:rPr sz="1400" b="0" dirty="0">
                <a:solidFill>
                  <a:srgbClr val="333333"/>
                </a:solidFill>
                <a:latin typeface="Calibri"/>
              </a:rPr>
              <a:t>A map that knew every district would find 41% in its worst fifth.</a:t>
            </a:r>
          </a:p>
        </p:txBody>
      </p:sp>
      <p:pic>
        <p:nvPicPr>
          <p:cNvPr id="7" name="Picture 6" descr="people-group_blue.png"/>
          <p:cNvPicPr>
            <a:picLocks noChangeAspect="1"/>
          </p:cNvPicPr>
          <p:nvPr/>
        </p:nvPicPr>
        <p:blipFill>
          <a:blip r:embed="rId6"/>
          <a:stretch>
            <a:fillRect/>
          </a:stretch>
        </p:blipFill>
        <p:spPr>
          <a:xfrm>
            <a:off x="932688" y="4846320"/>
            <a:ext cx="1028700" cy="822960"/>
          </a:xfrm>
          <a:prstGeom prst="rect">
            <a:avLst/>
          </a:prstGeom>
        </p:spPr>
      </p:pic>
      <p:sp>
        <p:nvSpPr>
          <p:cNvPr id="8" name="TextBox 7"/>
          <p:cNvSpPr txBox="1"/>
          <p:nvPr/>
        </p:nvSpPr>
        <p:spPr>
          <a:xfrm>
            <a:off x="1984248" y="461772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That fifth holds 22% of the deficient people</a:t>
            </a:r>
          </a:p>
          <a:p>
            <a:pPr algn="l">
              <a:spcBef>
                <a:spcPts val="300"/>
              </a:spcBef>
            </a:pPr>
            <a:r>
              <a:rPr sz="1400" b="0">
                <a:solidFill>
                  <a:srgbClr val="333333"/>
                </a:solidFill>
                <a:latin typeface="Calibri"/>
              </a:rPr>
              <a:t>The survey's own regional averages capture 20%; a perfect map 48%. Real, modest, and better than today's number.</a:t>
            </a:r>
          </a:p>
        </p:txBody>
      </p:sp>
    </p:spTree>
  </p:cSld>
  <p:clrMapOvr>
    <a:masterClrMapping/>
  </p:clrMapOvr>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How much of what a survey can see does the model recover?</a:t>
            </a:r>
          </a:p>
        </p:txBody>
      </p:sp>
      <p:pic>
        <p:nvPicPr>
          <p:cNvPr id="3" name="Picture 2" descr="wave-square_blue.png"/>
          <p:cNvPicPr>
            <a:picLocks noChangeAspect="1"/>
          </p:cNvPicPr>
          <p:nvPr/>
        </p:nvPicPr>
        <p:blipFill>
          <a:blip r:embed="rId4"/>
          <a:stretch>
            <a:fillRect/>
          </a:stretch>
        </p:blipFill>
        <p:spPr>
          <a:xfrm>
            <a:off x="932688" y="1920240"/>
            <a:ext cx="1028700" cy="822960"/>
          </a:xfrm>
          <a:prstGeom prst="rect">
            <a:avLst/>
          </a:prstGeom>
        </p:spPr>
      </p:pic>
      <p:sp>
        <p:nvSpPr>
          <p:cNvPr id="4" name="TextBox 3"/>
          <p:cNvSpPr txBox="1"/>
          <p:nvPr/>
        </p:nvSpPr>
        <p:spPr>
          <a:xfrm>
            <a:off x="1984248" y="169164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The survey itself is noisy at district level: a perfect predictor would score only 0.48</a:t>
            </a:r>
          </a:p>
          <a:p>
            <a:pPr algn="l">
              <a:spcBef>
                <a:spcPts val="300"/>
              </a:spcBef>
            </a:pPr>
            <a:r>
              <a:rPr sz="1400" b="0">
                <a:solidFill>
                  <a:srgbClr val="333333"/>
                </a:solidFill>
                <a:latin typeface="Calibri"/>
              </a:rPr>
              <a:t>One to three clusters per district; the survey's district estimate is an estimate too.</a:t>
            </a:r>
          </a:p>
        </p:txBody>
      </p:sp>
      <p:pic>
        <p:nvPicPr>
          <p:cNvPr id="5" name="Picture 4" descr="gauge-high_blue.png"/>
          <p:cNvPicPr>
            <a:picLocks noChangeAspect="1"/>
          </p:cNvPicPr>
          <p:nvPr/>
        </p:nvPicPr>
        <p:blipFill>
          <a:blip r:embed="rId5"/>
          <a:stretch>
            <a:fillRect/>
          </a:stretch>
        </p:blipFill>
        <p:spPr>
          <a:xfrm>
            <a:off x="932688" y="3383280"/>
            <a:ext cx="822960" cy="822960"/>
          </a:xfrm>
          <a:prstGeom prst="rect">
            <a:avLst/>
          </a:prstGeom>
        </p:spPr>
      </p:pic>
      <p:sp>
        <p:nvSpPr>
          <p:cNvPr id="6" name="TextBox 5"/>
          <p:cNvSpPr txBox="1"/>
          <p:nvPr/>
        </p:nvSpPr>
        <p:spPr>
          <a:xfrm>
            <a:off x="1984248" y="3154680"/>
            <a:ext cx="9326880" cy="1280160"/>
          </a:xfrm>
          <a:prstGeom prst="rect">
            <a:avLst/>
          </a:prstGeom>
          <a:noFill/>
        </p:spPr>
        <p:txBody>
          <a:bodyPr wrap="square" lIns="45720" tIns="27432" rIns="45720" bIns="27432" anchor="ctr">
            <a:spAutoFit/>
          </a:bodyPr>
          <a:lstStyle/>
          <a:p>
            <a:pPr algn="l"/>
            <a:r>
              <a:rPr sz="2000" b="1" dirty="0">
                <a:solidFill>
                  <a:srgbClr val="1F4E79"/>
                </a:solidFill>
                <a:latin typeface="Calibri"/>
              </a:rPr>
              <a:t>The model reaches 59% of that ceiling</a:t>
            </a:r>
          </a:p>
          <a:p>
            <a:pPr algn="l">
              <a:spcBef>
                <a:spcPts val="300"/>
              </a:spcBef>
            </a:pPr>
            <a:r>
              <a:rPr sz="1400" b="0" dirty="0">
                <a:solidFill>
                  <a:srgbClr val="333333"/>
                </a:solidFill>
                <a:latin typeface="Calibri"/>
              </a:rPr>
              <a:t>0.28 on the prevalence target against a ceiling of 0.48. The gap is mostly the survey's noise, not the model's ignorance.</a:t>
            </a:r>
          </a:p>
        </p:txBody>
      </p:sp>
      <p:pic>
        <p:nvPicPr>
          <p:cNvPr id="7" name="Picture 6" descr="building-columns_blue.png"/>
          <p:cNvPicPr>
            <a:picLocks noChangeAspect="1"/>
          </p:cNvPicPr>
          <p:nvPr/>
        </p:nvPicPr>
        <p:blipFill>
          <a:blip r:embed="rId6"/>
          <a:stretch>
            <a:fillRect/>
          </a:stretch>
        </p:blipFill>
        <p:spPr>
          <a:xfrm>
            <a:off x="932688" y="4846320"/>
            <a:ext cx="822960" cy="822960"/>
          </a:xfrm>
          <a:prstGeom prst="rect">
            <a:avLst/>
          </a:prstGeom>
        </p:spPr>
      </p:pic>
      <p:sp>
        <p:nvSpPr>
          <p:cNvPr id="8" name="TextBox 7"/>
          <p:cNvSpPr txBox="1"/>
          <p:nvPr/>
        </p:nvSpPr>
        <p:spPr>
          <a:xfrm>
            <a:off x="1984248" y="4617720"/>
            <a:ext cx="9326880" cy="1280160"/>
          </a:xfrm>
          <a:prstGeom prst="rect">
            <a:avLst/>
          </a:prstGeom>
          <a:noFill/>
        </p:spPr>
        <p:txBody>
          <a:bodyPr wrap="square" lIns="45720" tIns="27432" rIns="45720" bIns="27432" anchor="ctr">
            <a:spAutoFit/>
          </a:bodyPr>
          <a:lstStyle/>
          <a:p>
            <a:pPr algn="l"/>
            <a:r>
              <a:rPr sz="2000" b="1" dirty="0">
                <a:solidFill>
                  <a:srgbClr val="1F4E79"/>
                </a:solidFill>
                <a:latin typeface="Calibri"/>
              </a:rPr>
              <a:t>And beats the number a ministry would use today</a:t>
            </a:r>
          </a:p>
          <a:p>
            <a:pPr algn="l">
              <a:spcBef>
                <a:spcPts val="300"/>
              </a:spcBef>
            </a:pPr>
            <a:r>
              <a:rPr sz="1400" b="0" dirty="0">
                <a:solidFill>
                  <a:srgbClr val="333333"/>
                </a:solidFill>
                <a:latin typeface="Calibri"/>
              </a:rPr>
              <a:t>The region's average, 0.31; the model 0.40, better in 13 of 18 country-outcome cells.</a:t>
            </a:r>
          </a:p>
        </p:txBody>
      </p:sp>
    </p:spTree>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Right band, wrong band</a:t>
            </a:r>
          </a:p>
        </p:txBody>
      </p:sp>
      <p:sp>
        <p:nvSpPr>
          <p:cNvPr id="3" name="Rounded Rectangle 2"/>
          <p:cNvSpPr/>
          <p:nvPr/>
        </p:nvSpPr>
        <p:spPr>
          <a:xfrm>
            <a:off x="84124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bullseye_blue.png"/>
          <p:cNvPicPr>
            <a:picLocks noChangeAspect="1"/>
          </p:cNvPicPr>
          <p:nvPr/>
        </p:nvPicPr>
        <p:blipFill>
          <a:blip r:embed="rId4"/>
          <a:stretch>
            <a:fillRect/>
          </a:stretch>
        </p:blipFill>
        <p:spPr>
          <a:xfrm>
            <a:off x="1999488" y="1920240"/>
            <a:ext cx="914400" cy="914400"/>
          </a:xfrm>
          <a:prstGeom prst="rect">
            <a:avLst/>
          </a:prstGeom>
        </p:spPr>
      </p:pic>
      <p:sp>
        <p:nvSpPr>
          <p:cNvPr id="5" name="TextBox 4"/>
          <p:cNvSpPr txBox="1"/>
          <p:nvPr/>
        </p:nvSpPr>
        <p:spPr>
          <a:xfrm>
            <a:off x="93268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Exact WHO band</a:t>
            </a:r>
          </a:p>
        </p:txBody>
      </p:sp>
      <p:sp>
        <p:nvSpPr>
          <p:cNvPr id="6" name="TextBox 5"/>
          <p:cNvSpPr txBox="1"/>
          <p:nvPr/>
        </p:nvSpPr>
        <p:spPr>
          <a:xfrm>
            <a:off x="111556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Model:</a:t>
            </a:r>
            <a:r>
              <a:rPr sz="1400">
                <a:solidFill>
                  <a:srgbClr val="333333"/>
                </a:solidFill>
                <a:latin typeface="Calibri"/>
              </a:rPr>
              <a:t> 64%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66%</a:t>
            </a:r>
          </a:p>
          <a:p>
            <a:pPr algn="l">
              <a:spcBef>
                <a:spcPts val="300"/>
              </a:spcBef>
              <a:spcAft>
                <a:spcPts val="600"/>
              </a:spcAft>
            </a:pPr>
            <a:r>
              <a:rPr sz="1400" b="1">
                <a:solidFill>
                  <a:srgbClr val="1F4E79"/>
                </a:solidFill>
                <a:latin typeface="Calibri"/>
              </a:rPr>
              <a:t>Bands:</a:t>
            </a:r>
            <a:r>
              <a:rPr sz="1400">
                <a:solidFill>
                  <a:srgbClr val="333333"/>
                </a:solidFill>
                <a:latin typeface="Calibri"/>
              </a:rPr>
              <a:t> under 2%, 2 to 10, 10 to 20, 20% or more (vitamin A); each district held out</a:t>
            </a:r>
          </a:p>
        </p:txBody>
      </p:sp>
      <p:sp>
        <p:nvSpPr>
          <p:cNvPr id="7" name="Rounded Rectangle 6"/>
          <p:cNvSpPr/>
          <p:nvPr/>
        </p:nvSpPr>
        <p:spPr>
          <a:xfrm>
            <a:off x="448360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ircle-half-stroke_blue.png"/>
          <p:cNvPicPr>
            <a:picLocks noChangeAspect="1"/>
          </p:cNvPicPr>
          <p:nvPr/>
        </p:nvPicPr>
        <p:blipFill>
          <a:blip r:embed="rId5"/>
          <a:stretch>
            <a:fillRect/>
          </a:stretch>
        </p:blipFill>
        <p:spPr>
          <a:xfrm>
            <a:off x="5641848" y="1920240"/>
            <a:ext cx="914400" cy="914400"/>
          </a:xfrm>
          <a:prstGeom prst="rect">
            <a:avLst/>
          </a:prstGeom>
        </p:spPr>
      </p:pic>
      <p:sp>
        <p:nvSpPr>
          <p:cNvPr id="9" name="TextBox 8"/>
          <p:cNvSpPr txBox="1"/>
          <p:nvPr/>
        </p:nvSpPr>
        <p:spPr>
          <a:xfrm>
            <a:off x="457504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Within one band</a:t>
            </a:r>
          </a:p>
        </p:txBody>
      </p:sp>
      <p:sp>
        <p:nvSpPr>
          <p:cNvPr id="10" name="TextBox 9"/>
          <p:cNvSpPr txBox="1"/>
          <p:nvPr/>
        </p:nvSpPr>
        <p:spPr>
          <a:xfrm>
            <a:off x="475792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Model:</a:t>
            </a:r>
            <a:r>
              <a:rPr sz="1400">
                <a:solidFill>
                  <a:srgbClr val="333333"/>
                </a:solidFill>
                <a:latin typeface="Calibri"/>
              </a:rPr>
              <a:t> 91%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94%</a:t>
            </a:r>
          </a:p>
          <a:p>
            <a:pPr algn="l">
              <a:spcBef>
                <a:spcPts val="300"/>
              </a:spcBef>
              <a:spcAft>
                <a:spcPts val="600"/>
              </a:spcAft>
            </a:pPr>
            <a:r>
              <a:rPr sz="1400" b="0">
                <a:solidFill>
                  <a:srgbClr val="333333"/>
                </a:solidFill>
                <a:latin typeface="Calibri"/>
              </a:rPr>
              <a:t>A district the survey calls severe is placed severe or moderate</a:t>
            </a:r>
          </a:p>
        </p:txBody>
      </p:sp>
      <p:sp>
        <p:nvSpPr>
          <p:cNvPr id="11" name="Rounded Rectangle 10"/>
          <p:cNvSpPr/>
          <p:nvPr/>
        </p:nvSpPr>
        <p:spPr>
          <a:xfrm>
            <a:off x="812596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triangle-exclamation_blue.png"/>
          <p:cNvPicPr>
            <a:picLocks noChangeAspect="1"/>
          </p:cNvPicPr>
          <p:nvPr/>
        </p:nvPicPr>
        <p:blipFill>
          <a:blip r:embed="rId6"/>
          <a:stretch>
            <a:fillRect/>
          </a:stretch>
        </p:blipFill>
        <p:spPr>
          <a:xfrm>
            <a:off x="9284208" y="1920240"/>
            <a:ext cx="914400" cy="914400"/>
          </a:xfrm>
          <a:prstGeom prst="rect">
            <a:avLst/>
          </a:prstGeom>
        </p:spPr>
      </p:pic>
      <p:sp>
        <p:nvSpPr>
          <p:cNvPr id="13" name="TextBox 12"/>
          <p:cNvSpPr txBox="1"/>
          <p:nvPr/>
        </p:nvSpPr>
        <p:spPr>
          <a:xfrm>
            <a:off x="821740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Two or more bands wrong</a:t>
            </a:r>
          </a:p>
        </p:txBody>
      </p:sp>
      <p:sp>
        <p:nvSpPr>
          <p:cNvPr id="14" name="TextBox 13"/>
          <p:cNvSpPr txBox="1"/>
          <p:nvPr/>
        </p:nvSpPr>
        <p:spPr>
          <a:xfrm>
            <a:off x="840028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Model:</a:t>
            </a:r>
            <a:r>
              <a:rPr sz="1400">
                <a:solidFill>
                  <a:srgbClr val="333333"/>
                </a:solidFill>
                <a:latin typeface="Calibri"/>
              </a:rPr>
              <a:t> 9%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6%</a:t>
            </a:r>
          </a:p>
          <a:p>
            <a:pPr algn="l">
              <a:spcBef>
                <a:spcPts val="300"/>
              </a:spcBef>
              <a:spcAft>
                <a:spcPts val="600"/>
              </a:spcAft>
            </a:pPr>
            <a:r>
              <a:rPr sz="1400" b="0">
                <a:solidFill>
                  <a:srgbClr val="333333"/>
                </a:solidFill>
                <a:latin typeface="Calibri"/>
              </a:rPr>
              <a:t>The error a severity map cannot afford; in a new country the level comes from the national anchor</a:t>
            </a:r>
          </a:p>
        </p:txBody>
      </p:sp>
    </p:spTree>
  </p:cSld>
  <p:clrMapOvr>
    <a:masterClrMapping/>
  </p:clrMapOvr>
  <p:extLst>
    <p:ext uri="{6950BFC3-D8DA-4A85-94F7-54DA5524770B}">
      <p188:commentRel xmlns:p188="http://schemas.microsoft.com/office/powerpoint/2018/8/main" r:id="rId3"/>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Which decisions can the ranking carry?</a:t>
            </a:r>
          </a:p>
        </p:txBody>
      </p:sp>
      <p:sp>
        <p:nvSpPr>
          <p:cNvPr id="3" name="Rounded Rectangle 2"/>
          <p:cNvSpPr/>
          <p:nvPr/>
        </p:nvSpPr>
        <p:spPr>
          <a:xfrm>
            <a:off x="841248" y="1691640"/>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heck_green.png"/>
          <p:cNvPicPr>
            <a:picLocks noChangeAspect="1"/>
          </p:cNvPicPr>
          <p:nvPr/>
        </p:nvPicPr>
        <p:blipFill>
          <a:blip r:embed="rId4"/>
          <a:stretch>
            <a:fillRect/>
          </a:stretch>
        </p:blipFill>
        <p:spPr>
          <a:xfrm>
            <a:off x="1069848" y="1900123"/>
            <a:ext cx="320040" cy="365760"/>
          </a:xfrm>
          <a:prstGeom prst="rect">
            <a:avLst/>
          </a:prstGeom>
        </p:spPr>
      </p:pic>
      <p:sp>
        <p:nvSpPr>
          <p:cNvPr id="5" name="TextBox 4"/>
          <p:cNvSpPr txBox="1"/>
          <p:nvPr/>
        </p:nvSpPr>
        <p:spPr>
          <a:xfrm>
            <a:off x="1618488" y="1691640"/>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Which districts to visit, assess or enrol first</a:t>
            </a:r>
          </a:p>
        </p:txBody>
      </p:sp>
      <p:sp>
        <p:nvSpPr>
          <p:cNvPr id="6" name="TextBox 5"/>
          <p:cNvSpPr txBox="1"/>
          <p:nvPr/>
        </p:nvSpPr>
        <p:spPr>
          <a:xfrm>
            <a:off x="6784848" y="1691640"/>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Needs an order, not a number: 60% of district pairs ordered as the survey does, against 56% for the regional average.</a:t>
            </a:r>
          </a:p>
        </p:txBody>
      </p:sp>
      <p:sp>
        <p:nvSpPr>
          <p:cNvPr id="7" name="Rounded Rectangle 6"/>
          <p:cNvSpPr/>
          <p:nvPr/>
        </p:nvSpPr>
        <p:spPr>
          <a:xfrm>
            <a:off x="841248" y="2547518"/>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eck_green.png"/>
          <p:cNvPicPr>
            <a:picLocks noChangeAspect="1"/>
          </p:cNvPicPr>
          <p:nvPr/>
        </p:nvPicPr>
        <p:blipFill>
          <a:blip r:embed="rId4"/>
          <a:stretch>
            <a:fillRect/>
          </a:stretch>
        </p:blipFill>
        <p:spPr>
          <a:xfrm>
            <a:off x="1069848" y="2756001"/>
            <a:ext cx="320040" cy="365760"/>
          </a:xfrm>
          <a:prstGeom prst="rect">
            <a:avLst/>
          </a:prstGeom>
        </p:spPr>
      </p:pic>
      <p:sp>
        <p:nvSpPr>
          <p:cNvPr id="9" name="TextBox 8"/>
          <p:cNvSpPr txBox="1"/>
          <p:nvPr/>
        </p:nvSpPr>
        <p:spPr>
          <a:xfrm>
            <a:off x="1618488" y="2547518"/>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Where the next survey puts its clusters</a:t>
            </a:r>
          </a:p>
        </p:txBody>
      </p:sp>
      <p:sp>
        <p:nvSpPr>
          <p:cNvPr id="10" name="TextBox 9"/>
          <p:cNvSpPr txBox="1"/>
          <p:nvPr/>
        </p:nvSpPr>
        <p:spPr>
          <a:xfrm>
            <a:off x="6784848" y="2547518"/>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The ranking is the input to the anchor-and-rank design.</a:t>
            </a:r>
          </a:p>
        </p:txBody>
      </p:sp>
      <p:sp>
        <p:nvSpPr>
          <p:cNvPr id="11" name="Rounded Rectangle 10"/>
          <p:cNvSpPr/>
          <p:nvPr/>
        </p:nvSpPr>
        <p:spPr>
          <a:xfrm>
            <a:off x="841248" y="3403396"/>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heck_green.png"/>
          <p:cNvPicPr>
            <a:picLocks noChangeAspect="1"/>
          </p:cNvPicPr>
          <p:nvPr/>
        </p:nvPicPr>
        <p:blipFill>
          <a:blip r:embed="rId4"/>
          <a:stretch>
            <a:fillRect/>
          </a:stretch>
        </p:blipFill>
        <p:spPr>
          <a:xfrm>
            <a:off x="1069848" y="3611880"/>
            <a:ext cx="320040" cy="365760"/>
          </a:xfrm>
          <a:prstGeom prst="rect">
            <a:avLst/>
          </a:prstGeom>
        </p:spPr>
      </p:pic>
      <p:sp>
        <p:nvSpPr>
          <p:cNvPr id="13" name="TextBox 12"/>
          <p:cNvSpPr txBox="1"/>
          <p:nvPr/>
        </p:nvSpPr>
        <p:spPr>
          <a:xfrm>
            <a:off x="1618488" y="3403396"/>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Sequencing a programme roll-out across districts</a:t>
            </a:r>
          </a:p>
        </p:txBody>
      </p:sp>
      <p:sp>
        <p:nvSpPr>
          <p:cNvPr id="14" name="TextBox 13"/>
          <p:cNvSpPr txBox="1"/>
          <p:nvPr/>
        </p:nvSpPr>
        <p:spPr>
          <a:xfrm>
            <a:off x="6784848" y="3403396"/>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Same reason; the order is what the roll-out needs.</a:t>
            </a:r>
          </a:p>
        </p:txBody>
      </p:sp>
      <p:sp>
        <p:nvSpPr>
          <p:cNvPr id="15" name="Rounded Rectangle 14"/>
          <p:cNvSpPr/>
          <p:nvPr/>
        </p:nvSpPr>
        <p:spPr>
          <a:xfrm>
            <a:off x="841248" y="4259275"/>
            <a:ext cx="10515600" cy="782726"/>
          </a:xfrm>
          <a:prstGeom prst="roundRect">
            <a:avLst>
              <a:gd name="adj" fmla="val 9345"/>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triangle-exclamation_amber.png"/>
          <p:cNvPicPr>
            <a:picLocks noChangeAspect="1"/>
          </p:cNvPicPr>
          <p:nvPr/>
        </p:nvPicPr>
        <p:blipFill>
          <a:blip r:embed="rId5"/>
          <a:stretch>
            <a:fillRect/>
          </a:stretch>
        </p:blipFill>
        <p:spPr>
          <a:xfrm>
            <a:off x="1069848" y="4467758"/>
            <a:ext cx="365760" cy="365760"/>
          </a:xfrm>
          <a:prstGeom prst="rect">
            <a:avLst/>
          </a:prstGeom>
        </p:spPr>
      </p:pic>
      <p:sp>
        <p:nvSpPr>
          <p:cNvPr id="17" name="TextBox 16"/>
          <p:cNvSpPr txBox="1"/>
          <p:nvPr/>
        </p:nvSpPr>
        <p:spPr>
          <a:xfrm>
            <a:off x="1618488" y="4259275"/>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A planning prevalence for a district</a:t>
            </a:r>
          </a:p>
        </p:txBody>
      </p:sp>
      <p:sp>
        <p:nvSpPr>
          <p:cNvPr id="18" name="TextBox 17"/>
          <p:cNvSpPr txBox="1"/>
          <p:nvPr/>
        </p:nvSpPr>
        <p:spPr>
          <a:xfrm>
            <a:off x="6784848" y="4259275"/>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Only with a national anchor: 9.3 points median error at a 5% national sample.</a:t>
            </a:r>
          </a:p>
        </p:txBody>
      </p:sp>
      <p:sp>
        <p:nvSpPr>
          <p:cNvPr id="19" name="Rounded Rectangle 18"/>
          <p:cNvSpPr/>
          <p:nvPr/>
        </p:nvSpPr>
        <p:spPr>
          <a:xfrm>
            <a:off x="841248" y="5115153"/>
            <a:ext cx="10515600" cy="782726"/>
          </a:xfrm>
          <a:prstGeom prst="roundRect">
            <a:avLst>
              <a:gd name="adj" fmla="val 9345"/>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xmark_grey.png"/>
          <p:cNvPicPr>
            <a:picLocks noChangeAspect="1"/>
          </p:cNvPicPr>
          <p:nvPr/>
        </p:nvPicPr>
        <p:blipFill>
          <a:blip r:embed="rId6"/>
          <a:stretch>
            <a:fillRect/>
          </a:stretch>
        </p:blipFill>
        <p:spPr>
          <a:xfrm>
            <a:off x="1069848" y="5323636"/>
            <a:ext cx="274320" cy="365760"/>
          </a:xfrm>
          <a:prstGeom prst="rect">
            <a:avLst/>
          </a:prstGeom>
        </p:spPr>
      </p:pic>
      <p:sp>
        <p:nvSpPr>
          <p:cNvPr id="21" name="TextBox 20"/>
          <p:cNvSpPr txBox="1"/>
          <p:nvPr/>
        </p:nvSpPr>
        <p:spPr>
          <a:xfrm>
            <a:off x="1618488" y="5115153"/>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A district prevalence with no survey at all, or whether a programme worked</a:t>
            </a:r>
          </a:p>
        </p:txBody>
      </p:sp>
      <p:sp>
        <p:nvSpPr>
          <p:cNvPr id="22" name="TextBox 21"/>
          <p:cNvSpPr txBox="1"/>
          <p:nvPr/>
        </p:nvSpPr>
        <p:spPr>
          <a:xfrm>
            <a:off x="6784848" y="5115153"/>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The model has no level of its own and is validated on one point in time, not on change.</a:t>
            </a:r>
          </a:p>
        </p:txBody>
      </p:sp>
    </p:spTree>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Malawi: survey and held-out prediction</a:t>
            </a:r>
          </a:p>
        </p:txBody>
      </p:sp>
      <p:pic>
        <p:nvPicPr>
          <p:cNvPr id="3" name="Picture 1" descr="MN-proxy-full-talk-2026-09_files/figure-pptx/malawi-maps-1.png"/>
          <p:cNvPicPr>
            <a:picLocks noGrp="1" noChangeAspect="1"/>
          </p:cNvPicPr>
          <p:nvPr/>
        </p:nvPicPr>
        <p:blipFill>
          <a:blip r:embed="rId4"/>
          <a:stretch>
            <a:fillRect/>
          </a:stretch>
        </p:blipFill>
        <p:spPr bwMode="auto">
          <a:xfrm>
            <a:off x="1966602" y="1691640"/>
            <a:ext cx="8264892"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Seeing the results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How to read every map in this deck</a:t>
            </a:r>
          </a:p>
        </p:txBody>
      </p:sp>
      <p:sp>
        <p:nvSpPr>
          <p:cNvPr id="3" name="Rounded Rectangle 2"/>
          <p:cNvSpPr/>
          <p:nvPr/>
        </p:nvSpPr>
        <p:spPr>
          <a:xfrm>
            <a:off x="84124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ircle-check_blue.png"/>
          <p:cNvPicPr>
            <a:picLocks noChangeAspect="1"/>
          </p:cNvPicPr>
          <p:nvPr/>
        </p:nvPicPr>
        <p:blipFill>
          <a:blip r:embed="rId3"/>
          <a:stretch>
            <a:fillRect/>
          </a:stretch>
        </p:blipFill>
        <p:spPr>
          <a:xfrm>
            <a:off x="1999488" y="1920240"/>
            <a:ext cx="914400" cy="914400"/>
          </a:xfrm>
          <a:prstGeom prst="rect">
            <a:avLst/>
          </a:prstGeom>
        </p:spPr>
      </p:pic>
      <p:sp>
        <p:nvSpPr>
          <p:cNvPr id="5" name="TextBox 4"/>
          <p:cNvSpPr txBox="1"/>
          <p:nvPr/>
        </p:nvSpPr>
        <p:spPr>
          <a:xfrm>
            <a:off x="93268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Grade A: several clusters</a:t>
            </a:r>
          </a:p>
        </p:txBody>
      </p:sp>
      <p:sp>
        <p:nvSpPr>
          <p:cNvPr id="6" name="TextBox 5"/>
          <p:cNvSpPr txBox="1"/>
          <p:nvPr/>
        </p:nvSpPr>
        <p:spPr>
          <a:xfrm>
            <a:off x="111556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What:</a:t>
            </a:r>
            <a:r>
              <a:rPr sz="1400">
                <a:solidFill>
                  <a:srgbClr val="333333"/>
                </a:solidFill>
                <a:latin typeface="Calibri"/>
              </a:rPr>
              <a:t> surveyed districts with more than one survey cluster (39 districts)</a:t>
            </a:r>
          </a:p>
          <a:p>
            <a:pPr algn="l">
              <a:spcBef>
                <a:spcPts val="300"/>
              </a:spcBef>
              <a:spcAft>
                <a:spcPts val="600"/>
              </a:spcAft>
            </a:pPr>
            <a:r>
              <a:rPr sz="1400" b="1">
                <a:solidFill>
                  <a:srgbClr val="1F4E79"/>
                </a:solidFill>
                <a:latin typeface="Calibri"/>
              </a:rPr>
              <a:t>On the map:</a:t>
            </a:r>
            <a:r>
              <a:rPr sz="1400">
                <a:solidFill>
                  <a:srgbClr val="333333"/>
                </a:solidFill>
                <a:latin typeface="Calibri"/>
              </a:rPr>
              <a:t> solid fill</a:t>
            </a:r>
          </a:p>
          <a:p>
            <a:pPr algn="l">
              <a:spcBef>
                <a:spcPts val="300"/>
              </a:spcBef>
              <a:spcAft>
                <a:spcPts val="600"/>
              </a:spcAft>
            </a:pPr>
            <a:r>
              <a:rPr sz="1400" b="1">
                <a:solidFill>
                  <a:srgbClr val="1F4E79"/>
                </a:solidFill>
                <a:latin typeface="Calibri"/>
              </a:rPr>
              <a:t>Read:</a:t>
            </a:r>
            <a:r>
              <a:rPr sz="1400">
                <a:solidFill>
                  <a:srgbClr val="333333"/>
                </a:solidFill>
                <a:latin typeface="Calibri"/>
              </a:rPr>
              <a:t> the survey's own district value is worth comparing with</a:t>
            </a:r>
          </a:p>
        </p:txBody>
      </p:sp>
      <p:sp>
        <p:nvSpPr>
          <p:cNvPr id="7" name="Rounded Rectangle 6"/>
          <p:cNvSpPr/>
          <p:nvPr/>
        </p:nvSpPr>
        <p:spPr>
          <a:xfrm>
            <a:off x="448360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ircle-half-stroke_blue.png"/>
          <p:cNvPicPr>
            <a:picLocks noChangeAspect="1"/>
          </p:cNvPicPr>
          <p:nvPr/>
        </p:nvPicPr>
        <p:blipFill>
          <a:blip r:embed="rId4"/>
          <a:stretch>
            <a:fillRect/>
          </a:stretch>
        </p:blipFill>
        <p:spPr>
          <a:xfrm>
            <a:off x="5641848" y="1920240"/>
            <a:ext cx="914400" cy="914400"/>
          </a:xfrm>
          <a:prstGeom prst="rect">
            <a:avLst/>
          </a:prstGeom>
        </p:spPr>
      </p:pic>
      <p:sp>
        <p:nvSpPr>
          <p:cNvPr id="9" name="TextBox 8"/>
          <p:cNvSpPr txBox="1"/>
          <p:nvPr/>
        </p:nvSpPr>
        <p:spPr>
          <a:xfrm>
            <a:off x="457504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Grade B: one cluster</a:t>
            </a:r>
          </a:p>
        </p:txBody>
      </p:sp>
      <p:sp>
        <p:nvSpPr>
          <p:cNvPr id="10" name="TextBox 9"/>
          <p:cNvSpPr txBox="1"/>
          <p:nvPr/>
        </p:nvSpPr>
        <p:spPr>
          <a:xfrm>
            <a:off x="475792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What:</a:t>
            </a:r>
            <a:r>
              <a:rPr sz="1400">
                <a:solidFill>
                  <a:srgbClr val="333333"/>
                </a:solidFill>
                <a:latin typeface="Calibri"/>
              </a:rPr>
              <a:t> surveyed districts with a single cluster (80% of surveyed districts)</a:t>
            </a:r>
          </a:p>
          <a:p>
            <a:pPr algn="l">
              <a:spcBef>
                <a:spcPts val="300"/>
              </a:spcBef>
              <a:spcAft>
                <a:spcPts val="600"/>
              </a:spcAft>
            </a:pPr>
            <a:r>
              <a:rPr sz="1400" b="1">
                <a:solidFill>
                  <a:srgbClr val="1F4E79"/>
                </a:solidFill>
                <a:latin typeface="Calibri"/>
              </a:rPr>
              <a:t>On the map:</a:t>
            </a:r>
            <a:r>
              <a:rPr sz="1400">
                <a:solidFill>
                  <a:srgbClr val="333333"/>
                </a:solidFill>
                <a:latin typeface="Calibri"/>
              </a:rPr>
              <a:t> hatched</a:t>
            </a:r>
          </a:p>
          <a:p>
            <a:pPr algn="l">
              <a:spcBef>
                <a:spcPts val="300"/>
              </a:spcBef>
              <a:spcAft>
                <a:spcPts val="600"/>
              </a:spcAft>
            </a:pPr>
            <a:r>
              <a:rPr sz="1400" b="1">
                <a:solidFill>
                  <a:srgbClr val="1F4E79"/>
                </a:solidFill>
                <a:latin typeface="Calibri"/>
              </a:rPr>
              <a:t>Read:</a:t>
            </a:r>
            <a:r>
              <a:rPr sz="1400">
                <a:solidFill>
                  <a:srgbClr val="333333"/>
                </a:solidFill>
                <a:latin typeface="Calibri"/>
              </a:rPr>
              <a:t> the survey's district value is itself a noisy estimate; the ceiling slide says how noisy</a:t>
            </a:r>
          </a:p>
        </p:txBody>
      </p:sp>
      <p:sp>
        <p:nvSpPr>
          <p:cNvPr id="11" name="Rounded Rectangle 10"/>
          <p:cNvSpPr/>
          <p:nvPr/>
        </p:nvSpPr>
        <p:spPr>
          <a:xfrm>
            <a:off x="812596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ircle-question_blue.png"/>
          <p:cNvPicPr>
            <a:picLocks noChangeAspect="1"/>
          </p:cNvPicPr>
          <p:nvPr/>
        </p:nvPicPr>
        <p:blipFill>
          <a:blip r:embed="rId5"/>
          <a:stretch>
            <a:fillRect/>
          </a:stretch>
        </p:blipFill>
        <p:spPr>
          <a:xfrm>
            <a:off x="9284208" y="1920240"/>
            <a:ext cx="914400" cy="914400"/>
          </a:xfrm>
          <a:prstGeom prst="rect">
            <a:avLst/>
          </a:prstGeom>
        </p:spPr>
      </p:pic>
      <p:sp>
        <p:nvSpPr>
          <p:cNvPr id="13" name="TextBox 12"/>
          <p:cNvSpPr txBox="1"/>
          <p:nvPr/>
        </p:nvSpPr>
        <p:spPr>
          <a:xfrm>
            <a:off x="821740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Grade C: no survey</a:t>
            </a:r>
          </a:p>
        </p:txBody>
      </p:sp>
      <p:sp>
        <p:nvSpPr>
          <p:cNvPr id="14" name="TextBox 13"/>
          <p:cNvSpPr txBox="1"/>
          <p:nvPr/>
        </p:nvSpPr>
        <p:spPr>
          <a:xfrm>
            <a:off x="840028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What:</a:t>
            </a:r>
            <a:r>
              <a:rPr sz="1400">
                <a:solidFill>
                  <a:srgbClr val="333333"/>
                </a:solidFill>
                <a:latin typeface="Calibri"/>
              </a:rPr>
              <a:t> districts the survey never reached, and every district of a country with no survey</a:t>
            </a:r>
          </a:p>
          <a:p>
            <a:pPr algn="l">
              <a:spcBef>
                <a:spcPts val="300"/>
              </a:spcBef>
              <a:spcAft>
                <a:spcPts val="600"/>
              </a:spcAft>
            </a:pPr>
            <a:r>
              <a:rPr sz="1400" b="1">
                <a:solidFill>
                  <a:srgbClr val="1F4E79"/>
                </a:solidFill>
                <a:latin typeface="Calibri"/>
              </a:rPr>
              <a:t>On the map:</a:t>
            </a:r>
            <a:r>
              <a:rPr sz="1400">
                <a:solidFill>
                  <a:srgbClr val="333333"/>
                </a:solidFill>
                <a:latin typeface="Calibri"/>
              </a:rPr>
              <a:t> grey on survey maps, filled on model maps</a:t>
            </a:r>
          </a:p>
          <a:p>
            <a:pPr algn="l">
              <a:spcBef>
                <a:spcPts val="300"/>
              </a:spcBef>
              <a:spcAft>
                <a:spcPts val="600"/>
              </a:spcAft>
            </a:pPr>
            <a:r>
              <a:rPr sz="1400" b="1">
                <a:solidFill>
                  <a:srgbClr val="1F4E79"/>
                </a:solidFill>
                <a:latin typeface="Calibri"/>
              </a:rPr>
              <a:t>Read:</a:t>
            </a:r>
            <a:r>
              <a:rPr sz="1400">
                <a:solidFill>
                  <a:srgbClr val="333333"/>
                </a:solidFill>
                <a:latin typeface="Calibri"/>
              </a:rPr>
              <a:t> only the model speaks; its intervals say how stable it is, not how right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Two survey maps, with the survey’s own reliability on them</a:t>
            </a:r>
          </a:p>
        </p:txBody>
      </p:sp>
      <p:pic>
        <p:nvPicPr>
          <p:cNvPr id="3" name="Picture 1" descr="MN-proxy-full-talk-2026-09_files/figure-pptx/hatched-maps-1.png"/>
          <p:cNvPicPr>
            <a:picLocks noGrp="1" noChangeAspect="1"/>
          </p:cNvPicPr>
          <p:nvPr/>
        </p:nvPicPr>
        <p:blipFill>
          <a:blip r:embed="rId4"/>
          <a:stretch>
            <a:fillRect/>
          </a:stretch>
        </p:blipFill>
        <p:spPr bwMode="auto">
          <a:xfrm>
            <a:off x="1812865" y="1691640"/>
            <a:ext cx="8572366"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Does the model track the survey, district by district?</a:t>
            </a:r>
          </a:p>
        </p:txBody>
      </p:sp>
      <p:pic>
        <p:nvPicPr>
          <p:cNvPr id="3" name="Picture 1" descr="MN-proxy-full-talk-2026-09_files/figure-pptx/pred-obs-1.png"/>
          <p:cNvPicPr>
            <a:picLocks noGrp="1" noChangeAspect="1"/>
          </p:cNvPicPr>
          <p:nvPr/>
        </p:nvPicPr>
        <p:blipFill>
          <a:blip r:embed="rId3"/>
          <a:stretch>
            <a:fillRect/>
          </a:stretch>
        </p:blipFill>
        <p:spPr bwMode="auto">
          <a:xfrm>
            <a:off x="841248" y="1691640"/>
            <a:ext cx="10515600" cy="4203700"/>
          </a:xfrm>
          <a:prstGeom prst="rect">
            <a:avLst/>
          </a:prstGeom>
          <a:noFill/>
          <a:ln w="9525">
            <a:noFill/>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Actual against predicted at the regional level</a:t>
            </a:r>
          </a:p>
        </p:txBody>
      </p:sp>
      <p:pic>
        <p:nvPicPr>
          <p:cNvPr id="3" name="Picture 1" descr="MN-proxy-full-talk-2026-09_files/figure-pptx/admin1-pairs-1.png"/>
          <p:cNvPicPr>
            <a:picLocks noGrp="1" noChangeAspect="1"/>
          </p:cNvPicPr>
          <p:nvPr/>
        </p:nvPicPr>
        <p:blipFill>
          <a:blip r:embed="rId3"/>
          <a:stretch>
            <a:fillRect/>
          </a:stretch>
        </p:blipFill>
        <p:spPr bwMode="auto">
          <a:xfrm>
            <a:off x="1450046" y="1691640"/>
            <a:ext cx="9298004" cy="4206240"/>
          </a:xfrm>
          <a:prstGeom prst="rect">
            <a:avLst/>
          </a:prstGeom>
          <a:noFill/>
          <a:ln w="9525">
            <a:noFill/>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Ghana, child vitamin A: the chance a district is above 20%</a:t>
            </a:r>
          </a:p>
        </p:txBody>
      </p:sp>
      <p:pic>
        <p:nvPicPr>
          <p:cNvPr id="3" name="Picture 1" descr="MN-proxy-full-talk-2026-09_files/figure-pptx/exceedance-map-1.png"/>
          <p:cNvPicPr>
            <a:picLocks noGrp="1" noChangeAspect="1"/>
          </p:cNvPicPr>
          <p:nvPr/>
        </p:nvPicPr>
        <p:blipFill>
          <a:blip r:embed="rId3"/>
          <a:stretch>
            <a:fillRect/>
          </a:stretch>
        </p:blipFill>
        <p:spPr bwMode="auto">
          <a:xfrm>
            <a:off x="1812865" y="1691640"/>
            <a:ext cx="8572366" cy="4206240"/>
          </a:xfrm>
          <a:prstGeom prst="rect">
            <a:avLst/>
          </a:prstGeom>
          <a:noFill/>
          <a:ln w="9525">
            <a:noFill/>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Cote d’Ivoire: how bad and how sure, on one map</a:t>
            </a:r>
          </a:p>
        </p:txBody>
      </p:sp>
      <p:pic>
        <p:nvPicPr>
          <p:cNvPr id="3" name="Picture 1" descr="MN-proxy-full-talk-2026-09_files/figure-pptx/bivariate-civ-1.png"/>
          <p:cNvPicPr>
            <a:picLocks noGrp="1" noChangeAspect="1"/>
          </p:cNvPicPr>
          <p:nvPr/>
        </p:nvPicPr>
        <p:blipFill>
          <a:blip r:embed="rId4"/>
          <a:stretch>
            <a:fillRect/>
          </a:stretch>
        </p:blipFill>
        <p:spPr bwMode="auto">
          <a:xfrm>
            <a:off x="2341720" y="1691640"/>
            <a:ext cx="7514656"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What the rank intervals promise, and what they do not</a:t>
            </a:r>
          </a:p>
        </p:txBody>
      </p:sp>
      <p:pic>
        <p:nvPicPr>
          <p:cNvPr id="3" name="Picture 1" descr="MN-proxy-full-talk-2026-09_files/figure-pptx/coverage-1.png"/>
          <p:cNvPicPr>
            <a:picLocks noGrp="1" noChangeAspect="1"/>
          </p:cNvPicPr>
          <p:nvPr/>
        </p:nvPicPr>
        <p:blipFill>
          <a:blip r:embed="rId4"/>
          <a:stretch>
            <a:fillRect/>
          </a:stretch>
        </p:blipFill>
        <p:spPr bwMode="auto">
          <a:xfrm>
            <a:off x="1277861" y="1691640"/>
            <a:ext cx="9642374"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What moves each district, predictor by predictor</a:t>
            </a:r>
          </a:p>
        </p:txBody>
      </p:sp>
      <p:pic>
        <p:nvPicPr>
          <p:cNvPr id="3" name="Picture 1" descr="MN-proxy-full-talk-2026-09_files/figure-pptx/beeswarm-1.png"/>
          <p:cNvPicPr>
            <a:picLocks noGrp="1" noChangeAspect="1"/>
          </p:cNvPicPr>
          <p:nvPr/>
        </p:nvPicPr>
        <p:blipFill>
          <a:blip r:embed="rId4"/>
          <a:stretch>
            <a:fillRect/>
          </a:stretch>
        </p:blipFill>
        <p:spPr bwMode="auto">
          <a:xfrm>
            <a:off x="1782117" y="1691640"/>
            <a:ext cx="8633861"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Does the ranking work where the poor live?</a:t>
            </a:r>
          </a:p>
        </p:txBody>
      </p:sp>
      <p:pic>
        <p:nvPicPr>
          <p:cNvPr id="3" name="Picture 1" descr="MN-proxy-full-talk-2026-09_files/figure-pptx/urbanicity-strata-1.png"/>
          <p:cNvPicPr>
            <a:picLocks noGrp="1" noChangeAspect="1"/>
          </p:cNvPicPr>
          <p:nvPr/>
        </p:nvPicPr>
        <p:blipFill>
          <a:blip r:embed="rId4"/>
          <a:stretch>
            <a:fillRect/>
          </a:stretch>
        </p:blipFill>
        <p:spPr bwMode="auto">
          <a:xfrm>
            <a:off x="841248" y="1691640"/>
            <a:ext cx="10515600" cy="420370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Each survey added improves every other map</a:t>
            </a:r>
          </a:p>
        </p:txBody>
      </p:sp>
      <p:pic>
        <p:nvPicPr>
          <p:cNvPr id="3" name="Picture 1" descr="MN-proxy-full-talk-2026-09_files/figure-pptx/curve-argument-1.png"/>
          <p:cNvPicPr>
            <a:picLocks noGrp="1" noChangeAspect="1"/>
          </p:cNvPicPr>
          <p:nvPr/>
        </p:nvPicPr>
        <p:blipFill>
          <a:blip r:embed="rId3"/>
          <a:stretch>
            <a:fillRect/>
          </a:stretch>
        </p:blipFill>
        <p:spPr bwMode="auto">
          <a:xfrm>
            <a:off x="3325635" y="1691640"/>
            <a:ext cx="5546825" cy="4206240"/>
          </a:xfrm>
          <a:prstGeom prst="rect">
            <a:avLst/>
          </a:prstGeom>
          <a:noFill/>
          <a:ln w="9525">
            <a:noFill/>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What carries the signal</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 single predictor carries more than 2% of the index</a:t>
            </a:r>
          </a:p>
        </p:txBody>
      </p:sp>
      <p:pic>
        <p:nvPicPr>
          <p:cNvPr id="3" name="Picture 1" descr="../../results/figures/protocol_v2/index_importance_top10_level.png"/>
          <p:cNvPicPr>
            <a:picLocks noGrp="1" noChangeAspect="1"/>
          </p:cNvPicPr>
          <p:nvPr/>
        </p:nvPicPr>
        <p:blipFill>
          <a:blip r:embed="rId4"/>
          <a:stretch>
            <a:fillRect/>
          </a:stretch>
        </p:blipFill>
        <p:spPr bwMode="auto">
          <a:xfrm>
            <a:off x="2882873" y="1691640"/>
            <a:ext cx="6432349"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Malawi, women’s B12: the weights behind the best ranking</a:t>
            </a:r>
          </a:p>
        </p:txBody>
      </p:sp>
      <p:pic>
        <p:nvPicPr>
          <p:cNvPr id="3" name="Picture 1" descr="../../results/figures/policy_deck/fig12_vim_forest_Malawi_women_b12_plain.png"/>
          <p:cNvPicPr>
            <a:picLocks noGrp="1" noChangeAspect="1"/>
          </p:cNvPicPr>
          <p:nvPr/>
        </p:nvPicPr>
        <p:blipFill>
          <a:blip r:embed="rId4"/>
          <a:stretch>
            <a:fillRect/>
          </a:stretch>
        </p:blipFill>
        <p:spPr bwMode="auto">
          <a:xfrm>
            <a:off x="2686090" y="1691640"/>
            <a:ext cx="6825915"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 surrogate marker: </a:t>
            </a:r>
            <a:r>
              <a:rPr dirty="0" err="1"/>
              <a:t>anaemia</a:t>
            </a:r>
            <a:r>
              <a:rPr dirty="0"/>
              <a:t>, fish and B12</a:t>
            </a:r>
          </a:p>
        </p:txBody>
      </p:sp>
      <p:pic>
        <p:nvPicPr>
          <p:cNvPr id="3" name="Picture 1" descr="MN-proxy-full-talk-2026-09_files/figure-pptx/b12-surrogate-1.png"/>
          <p:cNvPicPr>
            <a:picLocks noGrp="1" noChangeAspect="1"/>
          </p:cNvPicPr>
          <p:nvPr/>
        </p:nvPicPr>
        <p:blipFill>
          <a:blip r:embed="rId4"/>
          <a:stretch>
            <a:fillRect/>
          </a:stretch>
        </p:blipFill>
        <p:spPr bwMode="auto">
          <a:xfrm>
            <a:off x="1247113" y="1691640"/>
            <a:ext cx="9703869" cy="420624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Climate and soil carry across borders; survey items do not</a:t>
            </a:r>
          </a:p>
        </p:txBody>
      </p:sp>
      <p:sp>
        <p:nvSpPr>
          <p:cNvPr id="3" name="Content Placeholder 2"/>
          <p:cNvSpPr>
            <a:spLocks noGrp="1"/>
          </p:cNvSpPr>
          <p:nvPr>
            <p:ph sz="half" idx="1"/>
          </p:nvPr>
        </p:nvSpPr>
        <p:spPr/>
        <p:txBody>
          <a:bodyPr/>
          <a:lstStyle/>
          <a:p>
            <a:pPr marL="0" lvl="0" indent="0">
              <a:buNone/>
            </a:pPr>
            <a:r>
              <a:rPr sz="1800"/>
              <a:t>Loss in transported Spearman (biomarker level, 22 cells) when each domain is dropped and the components rebuilt, mean over cells with a 95% interval. The load-bearing domains are Climate and weather, Soil characteristics, Anaemia and haemoglobin; removing 7 of the 21 domains costs nothing or helps.</a:t>
            </a:r>
          </a:p>
        </p:txBody>
      </p:sp>
      <p:pic>
        <p:nvPicPr>
          <p:cNvPr id="4" name="Picture 1" descr="MN-proxy-full-talk-2026-09_files/figure-pptx/ablation-1.png"/>
          <p:cNvPicPr>
            <a:picLocks noGrp="1" noChangeAspect="1"/>
          </p:cNvPicPr>
          <p:nvPr/>
        </p:nvPicPr>
        <p:blipFill>
          <a:blip r:embed="rId4"/>
          <a:stretch>
            <a:fillRect/>
          </a:stretch>
        </p:blipFill>
        <p:spPr bwMode="auto">
          <a:xfrm>
            <a:off x="6515100" y="1816100"/>
            <a:ext cx="4495800" cy="434340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What the transport models reach for</a:t>
            </a:r>
          </a:p>
        </p:txBody>
      </p:sp>
      <p:pic>
        <p:nvPicPr>
          <p:cNvPr id="3" name="Picture 2" descr="mountain-sun_blue.png"/>
          <p:cNvPicPr>
            <a:picLocks noChangeAspect="1"/>
          </p:cNvPicPr>
          <p:nvPr/>
        </p:nvPicPr>
        <p:blipFill>
          <a:blip r:embed="rId4"/>
          <a:stretch>
            <a:fillRect/>
          </a:stretch>
        </p:blipFill>
        <p:spPr>
          <a:xfrm>
            <a:off x="932688" y="1783080"/>
            <a:ext cx="640080" cy="512064"/>
          </a:xfrm>
          <a:prstGeom prst="rect">
            <a:avLst/>
          </a:prstGeom>
        </p:spPr>
      </p:pic>
      <p:sp>
        <p:nvSpPr>
          <p:cNvPr id="4" name="TextBox 3"/>
          <p:cNvSpPr txBox="1"/>
          <p:nvPr/>
        </p:nvSpPr>
        <p:spPr>
          <a:xfrm>
            <a:off x="1984248" y="1691640"/>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landscape gradient</a:t>
            </a:r>
          </a:p>
          <a:p>
            <a:pPr algn="l">
              <a:spcBef>
                <a:spcPts val="300"/>
              </a:spcBef>
            </a:pPr>
            <a:r>
              <a:rPr sz="1250" b="0">
                <a:solidFill>
                  <a:srgbClr val="333333"/>
                </a:solidFill>
                <a:latin typeface="Calibri"/>
              </a:rPr>
              <a:t>Grassland and cropland cover, the share of ruminants in the herd (top twenty in 14 of 22 held-out fits), cattle and sheep density, cereal-heavy cropping, low plant productivity: dry, grassy, pastoral, unproductive districts rank worse on every outcome.</a:t>
            </a:r>
          </a:p>
        </p:txBody>
      </p:sp>
      <p:pic>
        <p:nvPicPr>
          <p:cNvPr id="5" name="Picture 4" descr="child-reaching_blue.png"/>
          <p:cNvPicPr>
            <a:picLocks noChangeAspect="1"/>
          </p:cNvPicPr>
          <p:nvPr/>
        </p:nvPicPr>
        <p:blipFill>
          <a:blip r:embed="rId5"/>
          <a:stretch>
            <a:fillRect/>
          </a:stretch>
        </p:blipFill>
        <p:spPr>
          <a:xfrm>
            <a:off x="932688" y="2660904"/>
            <a:ext cx="384048" cy="512064"/>
          </a:xfrm>
          <a:prstGeom prst="rect">
            <a:avLst/>
          </a:prstGeom>
        </p:spPr>
      </p:pic>
      <p:sp>
        <p:nvSpPr>
          <p:cNvPr id="6" name="TextBox 5"/>
          <p:cNvSpPr txBox="1"/>
          <p:nvPr/>
        </p:nvSpPr>
        <p:spPr>
          <a:xfrm>
            <a:off x="1984248" y="2569464"/>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modelled child-growth and anaemia surfaces</a:t>
            </a:r>
          </a:p>
          <a:p>
            <a:pPr algn="l">
              <a:spcBef>
                <a:spcPts val="300"/>
              </a:spcBef>
            </a:pPr>
            <a:r>
              <a:rPr sz="1250" b="0">
                <a:solidFill>
                  <a:srgbClr val="333333"/>
                </a:solidFill>
                <a:latin typeface="Calibri"/>
              </a:rPr>
              <a:t>Wasting, underweight and anaemia point to worse status; overweight points the other way and behaves as a wealth proxy.</a:t>
            </a:r>
          </a:p>
        </p:txBody>
      </p:sp>
      <p:pic>
        <p:nvPicPr>
          <p:cNvPr id="7" name="Picture 6" descr="basket-shopping_blue.png"/>
          <p:cNvPicPr>
            <a:picLocks noChangeAspect="1"/>
          </p:cNvPicPr>
          <p:nvPr/>
        </p:nvPicPr>
        <p:blipFill>
          <a:blip r:embed="rId6"/>
          <a:stretch>
            <a:fillRect/>
          </a:stretch>
        </p:blipFill>
        <p:spPr>
          <a:xfrm>
            <a:off x="932688" y="3538728"/>
            <a:ext cx="576072" cy="512064"/>
          </a:xfrm>
          <a:prstGeom prst="rect">
            <a:avLst/>
          </a:prstGeom>
        </p:spPr>
      </p:pic>
      <p:sp>
        <p:nvSpPr>
          <p:cNvPr id="8" name="TextBox 7"/>
          <p:cNvSpPr txBox="1"/>
          <p:nvPr/>
        </p:nvSpPr>
        <p:spPr>
          <a:xfrm>
            <a:off x="1984248" y="3447288"/>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food economy</a:t>
            </a:r>
          </a:p>
          <a:p>
            <a:pPr algn="l">
              <a:spcBef>
                <a:spcPts val="300"/>
              </a:spcBef>
            </a:pPr>
            <a:r>
              <a:rPr sz="1250" b="0">
                <a:solidFill>
                  <a:srgbClr val="333333"/>
                </a:solidFill>
                <a:latin typeface="Calibri"/>
              </a:rPr>
              <a:t>The local staple price relative to the national level appears in 13 fits across 5 outcomes.</a:t>
            </a:r>
          </a:p>
        </p:txBody>
      </p:sp>
      <p:pic>
        <p:nvPicPr>
          <p:cNvPr id="9" name="Picture 8" descr="road_blue.png"/>
          <p:cNvPicPr>
            <a:picLocks noChangeAspect="1"/>
          </p:cNvPicPr>
          <p:nvPr/>
        </p:nvPicPr>
        <p:blipFill>
          <a:blip r:embed="rId7"/>
          <a:stretch>
            <a:fillRect/>
          </a:stretch>
        </p:blipFill>
        <p:spPr>
          <a:xfrm>
            <a:off x="932688" y="4416552"/>
            <a:ext cx="576072" cy="512064"/>
          </a:xfrm>
          <a:prstGeom prst="rect">
            <a:avLst/>
          </a:prstGeom>
        </p:spPr>
      </p:pic>
      <p:sp>
        <p:nvSpPr>
          <p:cNvPr id="10" name="TextBox 9"/>
          <p:cNvSpPr txBox="1"/>
          <p:nvPr/>
        </p:nvSpPr>
        <p:spPr>
          <a:xfrm>
            <a:off x="1984248" y="4325112"/>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Remoteness and demography</a:t>
            </a:r>
          </a:p>
          <a:p>
            <a:pPr algn="l">
              <a:spcBef>
                <a:spcPts val="300"/>
              </a:spcBef>
            </a:pPr>
            <a:r>
              <a:rPr sz="1250" b="0">
                <a:solidFill>
                  <a:srgbClr val="333333"/>
                </a:solidFill>
                <a:latin typeface="Calibri"/>
              </a:rPr>
              <a:t>Distance to the coast and the dependency ratio, in about a third of the fits.</a:t>
            </a:r>
          </a:p>
        </p:txBody>
      </p:sp>
      <p:pic>
        <p:nvPicPr>
          <p:cNvPr id="11" name="Picture 10" descr="mosquito_blue.png"/>
          <p:cNvPicPr>
            <a:picLocks noChangeAspect="1"/>
          </p:cNvPicPr>
          <p:nvPr/>
        </p:nvPicPr>
        <p:blipFill>
          <a:blip r:embed="rId8"/>
          <a:stretch>
            <a:fillRect/>
          </a:stretch>
        </p:blipFill>
        <p:spPr>
          <a:xfrm>
            <a:off x="932688" y="5294376"/>
            <a:ext cx="640080" cy="512064"/>
          </a:xfrm>
          <a:prstGeom prst="rect">
            <a:avLst/>
          </a:prstGeom>
        </p:spPr>
      </p:pic>
      <p:sp>
        <p:nvSpPr>
          <p:cNvPr id="12" name="TextBox 11"/>
          <p:cNvSpPr txBox="1"/>
          <p:nvPr/>
        </p:nvSpPr>
        <p:spPr>
          <a:xfrm>
            <a:off x="1984248" y="5202936"/>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Malaria intensity, with an unexpected sign</a:t>
            </a:r>
          </a:p>
          <a:p>
            <a:pPr algn="l">
              <a:spcBef>
                <a:spcPts val="300"/>
              </a:spcBef>
            </a:pPr>
            <a:r>
              <a:rPr sz="1250" b="0">
                <a:solidFill>
                  <a:srgbClr val="333333"/>
                </a:solidFill>
                <a:latin typeface="Calibri"/>
              </a:rPr>
              <a:t>High-malaria zones are the wetter, more productive ones. Single household-survey items rarely recur.</a:t>
            </a:r>
          </a:p>
        </p:txBody>
      </p:sp>
    </p:spTree>
  </p:cSld>
  <p:clrMapOvr>
    <a:masterClrMapping/>
  </p:clrMapOvr>
  <p:extLst>
    <p:ext uri="{6950BFC3-D8DA-4A85-94F7-54DA5524770B}">
      <p188:commentRel xmlns:p188="http://schemas.microsoft.com/office/powerpoint/2018/8/main" r:id="rId3"/>
    </p:ext>
  </p:extLs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Drier, grassier, poorer, more pastoral districts rank worse everywhere</a:t>
            </a:r>
          </a:p>
        </p:txBody>
      </p:sp>
      <p:sp>
        <p:nvSpPr>
          <p:cNvPr id="3" name="Content Placeholder 2"/>
          <p:cNvSpPr>
            <a:spLocks noGrp="1"/>
          </p:cNvSpPr>
          <p:nvPr>
            <p:ph sz="half" idx="1"/>
          </p:nvPr>
        </p:nvSpPr>
        <p:spPr/>
        <p:txBody>
          <a:bodyPr/>
          <a:lstStyle/>
          <a:p>
            <a:pPr marL="0" lvl="0" indent="0">
              <a:buNone/>
            </a:pPr>
            <a:r>
              <a:rPr sz="1800"/>
              <a:t>Indicators whose district-level association with the outcome has the same sign in every country with the outcome, ranked by pooled meta-analytic z. Positive z means more deficiency.</a:t>
            </a:r>
          </a:p>
        </p:txBody>
      </p:sp>
      <p:pic>
        <p:nvPicPr>
          <p:cNvPr id="4" name="Picture 1" descr="MN-proxy-full-talk-2026-09_files/figure-pptx/signal-1.png"/>
          <p:cNvPicPr>
            <a:picLocks noGrp="1" noChangeAspect="1"/>
          </p:cNvPicPr>
          <p:nvPr/>
        </p:nvPicPr>
        <p:blipFill>
          <a:blip r:embed="rId4"/>
          <a:stretch>
            <a:fillRect/>
          </a:stretch>
        </p:blipFill>
        <p:spPr bwMode="auto">
          <a:xfrm>
            <a:off x="6337300" y="1816100"/>
            <a:ext cx="4838700" cy="434340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Limits and survey design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Even a perfect predictor would score only 0.48 against this survey</a:t>
            </a:r>
          </a:p>
        </p:txBody>
      </p:sp>
      <p:sp>
        <p:nvSpPr>
          <p:cNvPr id="3" name="Content Placeholder 2"/>
          <p:cNvSpPr>
            <a:spLocks noGrp="1"/>
          </p:cNvSpPr>
          <p:nvPr>
            <p:ph sz="half" idx="1"/>
          </p:nvPr>
        </p:nvSpPr>
        <p:spPr/>
        <p:txBody>
          <a:bodyPr/>
          <a:lstStyle/>
          <a:p>
            <a:pPr marL="0" lvl="0" indent="0">
              <a:buNone/>
            </a:pPr>
            <a:r>
              <a:rPr sz="1800" dirty="0"/>
              <a:t>The correlation a perfect predictor of the true district prevalence could reach, given the survey’s sampling noise, by country. The honest ceiling averages 0.48 against a split-half ceiling of 0.54; the index reaches its ceiling in 0 of 21 cells.</a:t>
            </a:r>
          </a:p>
        </p:txBody>
      </p:sp>
      <p:pic>
        <p:nvPicPr>
          <p:cNvPr id="4" name="Picture 1" descr="MN-proxy-full-talk-2026-09_files/figure-pptx/ceiling-1.png"/>
          <p:cNvPicPr>
            <a:picLocks noGrp="1" noChangeAspect="1"/>
          </p:cNvPicPr>
          <p:nvPr/>
        </p:nvPicPr>
        <p:blipFill>
          <a:blip r:embed="rId4"/>
          <a:stretch>
            <a:fillRect/>
          </a:stretch>
        </p:blipFill>
        <p:spPr bwMode="auto">
          <a:xfrm>
            <a:off x="6172200" y="2108200"/>
            <a:ext cx="5181600" cy="374650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 5% national sample plus the ranking matches a 25% district survey</a:t>
            </a:r>
          </a:p>
        </p:txBody>
      </p:sp>
      <p:sp>
        <p:nvSpPr>
          <p:cNvPr id="3" name="Content Placeholder 2"/>
          <p:cNvSpPr>
            <a:spLocks noGrp="1"/>
          </p:cNvSpPr>
          <p:nvPr>
            <p:ph sz="half" idx="1"/>
          </p:nvPr>
        </p:nvSpPr>
        <p:spPr/>
        <p:txBody>
          <a:bodyPr/>
          <a:lstStyle/>
          <a:p>
            <a:pPr marL="0" lvl="0" indent="0">
              <a:buNone/>
            </a:pPr>
            <a:r>
              <a:rPr sz="1800" dirty="0"/>
              <a:t>Median district error in percentage points against the share of a full survey sampled, four designs, 22 cells. At 5% of the sample a national anchor plus the transported ranking gives 9.3 points, a regional survey 11.7 and a district survey 17.3.</a:t>
            </a:r>
          </a:p>
        </p:txBody>
      </p:sp>
      <p:pic>
        <p:nvPicPr>
          <p:cNvPr id="4" name="Picture 1" descr="MN-proxy-full-talk-2026-09_files/figure-pptx/anchor-1.png"/>
          <p:cNvPicPr>
            <a:picLocks noGrp="1" noChangeAspect="1"/>
          </p:cNvPicPr>
          <p:nvPr/>
        </p:nvPicPr>
        <p:blipFill>
          <a:blip r:embed="rId4"/>
          <a:stretch>
            <a:fillRect/>
          </a:stretch>
        </p:blipFill>
        <p:spPr bwMode="auto">
          <a:xfrm>
            <a:off x="6172200" y="2019300"/>
            <a:ext cx="5181600" cy="3937000"/>
          </a:xfrm>
          <a:prstGeom prst="rect">
            <a:avLst/>
          </a:prstGeom>
          <a:noFill/>
          <a:ln w="9525">
            <a:noFill/>
            <a:headEnd/>
            <a:tailEnd/>
          </a:ln>
        </p:spPr>
      </p:pic>
    </p:spTree>
  </p:cSld>
  <p:clrMapOvr>
    <a:masterClrMapping/>
  </p:clrMapOvr>
  <p:extLst>
    <p:ext uri="{6950BFC3-D8DA-4A85-94F7-54DA5524770B}">
      <p188:commentRel xmlns:p188="http://schemas.microsoft.com/office/powerpoint/2018/8/main" r:id="rId3"/>
    </p:ext>
  </p:extLs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curve has not flattened: each survey added helps every map</a:t>
            </a:r>
          </a:p>
        </p:txBody>
      </p:sp>
      <p:sp>
        <p:nvSpPr>
          <p:cNvPr id="3" name="Content Placeholder 2"/>
          <p:cNvSpPr>
            <a:spLocks noGrp="1"/>
          </p:cNvSpPr>
          <p:nvPr>
            <p:ph sz="half" idx="1"/>
          </p:nvPr>
        </p:nvSpPr>
        <p:spPr/>
        <p:txBody>
          <a:bodyPr/>
          <a:lstStyle/>
          <a:p>
            <a:pPr marL="0" lvl="0" indent="0">
              <a:buNone/>
            </a:pPr>
            <a:r>
              <a:rPr sz="1800"/>
              <a:t>Every subset of training countries scored on each held-out country. The full vocabulary gains about 0.05 per added training country on the level; the climate-and-soil index starts higher and is positive in 95% of single-country fits.</a:t>
            </a:r>
          </a:p>
        </p:txBody>
      </p:sp>
      <p:pic>
        <p:nvPicPr>
          <p:cNvPr id="4" name="Picture 1" descr="MN-proxy-full-talk-2026-09_files/figure-pptx/curve-1.png"/>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Can the model direct and shrink surveys?</a:t>
            </a:r>
          </a:p>
        </p:txBody>
      </p:sp>
      <p:sp>
        <p:nvSpPr>
          <p:cNvPr id="3" name="Rounded Rectangle 2"/>
          <p:cNvSpPr/>
          <p:nvPr/>
        </p:nvSpPr>
        <p:spPr>
          <a:xfrm>
            <a:off x="841248" y="1691640"/>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heck_green.png"/>
          <p:cNvPicPr>
            <a:picLocks noChangeAspect="1"/>
          </p:cNvPicPr>
          <p:nvPr/>
        </p:nvPicPr>
        <p:blipFill>
          <a:blip r:embed="rId4"/>
          <a:stretch>
            <a:fillRect/>
          </a:stretch>
        </p:blipFill>
        <p:spPr>
          <a:xfrm>
            <a:off x="1069848" y="1900123"/>
            <a:ext cx="320040" cy="365760"/>
          </a:xfrm>
          <a:prstGeom prst="rect">
            <a:avLst/>
          </a:prstGeom>
        </p:spPr>
      </p:pic>
      <p:sp>
        <p:nvSpPr>
          <p:cNvPr id="5" name="TextBox 4"/>
          <p:cNvSpPr txBox="1"/>
          <p:nvPr/>
        </p:nvSpPr>
        <p:spPr>
          <a:xfrm>
            <a:off x="1618488" y="1691640"/>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A ranking now, from public data alone</a:t>
            </a:r>
          </a:p>
        </p:txBody>
      </p:sp>
      <p:sp>
        <p:nvSpPr>
          <p:cNvPr id="6" name="TextBox 5"/>
          <p:cNvSpPr txBox="1"/>
          <p:nvPr/>
        </p:nvSpPr>
        <p:spPr>
          <a:xfrm>
            <a:off x="6784848" y="1691640"/>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Transported Spearman 0.30 at district level (0.38 from climate and soil); a ranking, not a prevalence.</a:t>
            </a:r>
          </a:p>
        </p:txBody>
      </p:sp>
      <p:sp>
        <p:nvSpPr>
          <p:cNvPr id="7" name="Rounded Rectangle 6"/>
          <p:cNvSpPr/>
          <p:nvPr/>
        </p:nvSpPr>
        <p:spPr>
          <a:xfrm>
            <a:off x="841248" y="2547518"/>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eck_green.png"/>
          <p:cNvPicPr>
            <a:picLocks noChangeAspect="1"/>
          </p:cNvPicPr>
          <p:nvPr/>
        </p:nvPicPr>
        <p:blipFill>
          <a:blip r:embed="rId4"/>
          <a:stretch>
            <a:fillRect/>
          </a:stretch>
        </p:blipFill>
        <p:spPr>
          <a:xfrm>
            <a:off x="1069848" y="2756001"/>
            <a:ext cx="320040" cy="365760"/>
          </a:xfrm>
          <a:prstGeom prst="rect">
            <a:avLst/>
          </a:prstGeom>
        </p:spPr>
      </p:pic>
      <p:sp>
        <p:nvSpPr>
          <p:cNvPr id="9" name="TextBox 8"/>
          <p:cNvSpPr txBox="1"/>
          <p:nvPr/>
        </p:nvSpPr>
        <p:spPr>
          <a:xfrm>
            <a:off x="1618488" y="2547518"/>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A national anchor puts a level on it</a:t>
            </a:r>
          </a:p>
        </p:txBody>
      </p:sp>
      <p:sp>
        <p:nvSpPr>
          <p:cNvPr id="10" name="TextBox 9"/>
          <p:cNvSpPr txBox="1"/>
          <p:nvPr/>
        </p:nvSpPr>
        <p:spPr>
          <a:xfrm>
            <a:off x="6784848" y="2547518"/>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A 5% national sample plus the ranking: median district error 9.3 points.</a:t>
            </a:r>
          </a:p>
        </p:txBody>
      </p:sp>
      <p:sp>
        <p:nvSpPr>
          <p:cNvPr id="11" name="Rounded Rectangle 10"/>
          <p:cNvSpPr/>
          <p:nvPr/>
        </p:nvSpPr>
        <p:spPr>
          <a:xfrm>
            <a:off x="841248" y="3403396"/>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heck_green.png"/>
          <p:cNvPicPr>
            <a:picLocks noChangeAspect="1"/>
          </p:cNvPicPr>
          <p:nvPr/>
        </p:nvPicPr>
        <p:blipFill>
          <a:blip r:embed="rId4"/>
          <a:stretch>
            <a:fillRect/>
          </a:stretch>
        </p:blipFill>
        <p:spPr>
          <a:xfrm>
            <a:off x="1069848" y="3611880"/>
            <a:ext cx="320040" cy="365760"/>
          </a:xfrm>
          <a:prstGeom prst="rect">
            <a:avLst/>
          </a:prstGeom>
        </p:spPr>
      </p:pic>
      <p:sp>
        <p:nvSpPr>
          <p:cNvPr id="13" name="TextBox 12"/>
          <p:cNvSpPr txBox="1"/>
          <p:nvPr/>
        </p:nvSpPr>
        <p:spPr>
          <a:xfrm>
            <a:off x="1618488" y="3403396"/>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A district survey matches that only at 25% of the full sample</a:t>
            </a:r>
          </a:p>
        </p:txBody>
      </p:sp>
      <p:sp>
        <p:nvSpPr>
          <p:cNvPr id="14" name="TextBox 13"/>
          <p:cNvSpPr txBox="1"/>
          <p:nvPr/>
        </p:nvSpPr>
        <p:spPr>
          <a:xfrm>
            <a:off x="6784848" y="3403396"/>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On level error; a district survey of any size still captures more burden in its worst fifth.</a:t>
            </a:r>
          </a:p>
        </p:txBody>
      </p:sp>
      <p:sp>
        <p:nvSpPr>
          <p:cNvPr id="15" name="Rounded Rectangle 14"/>
          <p:cNvSpPr/>
          <p:nvPr/>
        </p:nvSpPr>
        <p:spPr>
          <a:xfrm>
            <a:off x="841248" y="4259275"/>
            <a:ext cx="10515600" cy="782726"/>
          </a:xfrm>
          <a:prstGeom prst="roundRect">
            <a:avLst>
              <a:gd name="adj" fmla="val 9345"/>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triangle-exclamation_amber.png"/>
          <p:cNvPicPr>
            <a:picLocks noChangeAspect="1"/>
          </p:cNvPicPr>
          <p:nvPr/>
        </p:nvPicPr>
        <p:blipFill>
          <a:blip r:embed="rId5"/>
          <a:stretch>
            <a:fillRect/>
          </a:stretch>
        </p:blipFill>
        <p:spPr>
          <a:xfrm>
            <a:off x="1069848" y="4467758"/>
            <a:ext cx="365760" cy="365760"/>
          </a:xfrm>
          <a:prstGeom prst="rect">
            <a:avLst/>
          </a:prstGeom>
        </p:spPr>
      </p:pic>
      <p:sp>
        <p:nvSpPr>
          <p:cNvPr id="17" name="TextBox 16"/>
          <p:cNvSpPr txBox="1"/>
          <p:nvPr/>
        </p:nvSpPr>
        <p:spPr>
          <a:xfrm>
            <a:off x="1618488" y="4259275"/>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Direct where the clusters go</a:t>
            </a:r>
          </a:p>
        </p:txBody>
      </p:sp>
      <p:sp>
        <p:nvSpPr>
          <p:cNvPr id="18" name="TextBox 17"/>
          <p:cNvSpPr txBox="1"/>
          <p:nvPr/>
        </p:nvSpPr>
        <p:spPr>
          <a:xfrm>
            <a:off x="6784848" y="4259275"/>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Model-assisted allocation: oversample the districts the ranking puts at the top and bottom. Designed, not piloted.</a:t>
            </a:r>
          </a:p>
        </p:txBody>
      </p:sp>
      <p:sp>
        <p:nvSpPr>
          <p:cNvPr id="19" name="Rounded Rectangle 18"/>
          <p:cNvSpPr/>
          <p:nvPr/>
        </p:nvSpPr>
        <p:spPr>
          <a:xfrm>
            <a:off x="841248" y="5115153"/>
            <a:ext cx="10515600" cy="782726"/>
          </a:xfrm>
          <a:prstGeom prst="roundRect">
            <a:avLst>
              <a:gd name="adj" fmla="val 9345"/>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xmark_grey.png"/>
          <p:cNvPicPr>
            <a:picLocks noChangeAspect="1"/>
          </p:cNvPicPr>
          <p:nvPr/>
        </p:nvPicPr>
        <p:blipFill>
          <a:blip r:embed="rId6"/>
          <a:stretch>
            <a:fillRect/>
          </a:stretch>
        </p:blipFill>
        <p:spPr>
          <a:xfrm>
            <a:off x="1069848" y="5323636"/>
            <a:ext cx="274320" cy="365760"/>
          </a:xfrm>
          <a:prstGeom prst="rect">
            <a:avLst/>
          </a:prstGeom>
        </p:spPr>
      </p:pic>
      <p:sp>
        <p:nvSpPr>
          <p:cNvPr id="21" name="TextBox 20"/>
          <p:cNvSpPr txBox="1"/>
          <p:nvPr/>
        </p:nvSpPr>
        <p:spPr>
          <a:xfrm>
            <a:off x="1618488" y="5115153"/>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Replace the biomarker survey</a:t>
            </a:r>
          </a:p>
        </p:txBody>
      </p:sp>
      <p:sp>
        <p:nvSpPr>
          <p:cNvPr id="22" name="TextBox 21"/>
          <p:cNvSpPr txBox="1"/>
          <p:nvPr/>
        </p:nvSpPr>
        <p:spPr>
          <a:xfrm>
            <a:off x="6784848" y="5115153"/>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The ceiling is the survey's own; the offer is a survey designed with the ranking, not instead of it.</a:t>
            </a:r>
          </a:p>
        </p:txBody>
      </p:sp>
    </p:spTree>
  </p:cSld>
  <p:clrMapOvr>
    <a:masterClrMapping/>
  </p:clrMapOvr>
  <p:extLst>
    <p:ext uri="{6950BFC3-D8DA-4A85-94F7-54DA5524770B}">
      <p188:commentRel xmlns:p188="http://schemas.microsoft.com/office/powerpoint/2018/8/main" r:id="rId3"/>
    </p:ext>
  </p:extLs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The dashboard</a:t>
            </a:r>
          </a:p>
        </p:txBody>
      </p:sp>
      <p:pic>
        <p:nvPicPr>
          <p:cNvPr id="3" name="Picture 2" descr="link_blue.png"/>
          <p:cNvPicPr>
            <a:picLocks noChangeAspect="1"/>
          </p:cNvPicPr>
          <p:nvPr/>
        </p:nvPicPr>
        <p:blipFill>
          <a:blip r:embed="rId4"/>
          <a:stretch>
            <a:fillRect/>
          </a:stretch>
        </p:blipFill>
        <p:spPr>
          <a:xfrm>
            <a:off x="932688" y="1783080"/>
            <a:ext cx="914400" cy="731520"/>
          </a:xfrm>
          <a:prstGeom prst="rect">
            <a:avLst/>
          </a:prstGeom>
        </p:spPr>
      </p:pic>
      <p:sp>
        <p:nvSpPr>
          <p:cNvPr id="4" name="TextBox 3"/>
          <p:cNvSpPr txBox="1"/>
          <p:nvPr/>
        </p:nvSpPr>
        <p:spPr>
          <a:xfrm>
            <a:off x="1984248" y="1691640"/>
            <a:ext cx="3520440" cy="914400"/>
          </a:xfrm>
          <a:prstGeom prst="rect">
            <a:avLst/>
          </a:prstGeom>
          <a:noFill/>
        </p:spPr>
        <p:txBody>
          <a:bodyPr wrap="square" lIns="45720" tIns="27432" rIns="45720" bIns="27432" anchor="ctr">
            <a:spAutoFit/>
          </a:bodyPr>
          <a:lstStyle/>
          <a:p>
            <a:pPr algn="l"/>
            <a:r>
              <a:rPr sz="1500" b="1">
                <a:solidFill>
                  <a:srgbClr val="1F4E79"/>
                </a:solidFill>
                <a:latin typeface="Calibri"/>
              </a:rPr>
              <a:t>amertens.shinyapps.io/micronutrient-burden</a:t>
            </a:r>
          </a:p>
          <a:p>
            <a:pPr algn="l">
              <a:spcBef>
                <a:spcPts val="300"/>
              </a:spcBef>
            </a:pPr>
            <a:r>
              <a:rPr sz="1150" b="0">
                <a:solidFill>
                  <a:srgbClr val="333333"/>
                </a:solidFill>
                <a:latin typeface="Calibri"/>
              </a:rPr>
              <a:t>Every number in this talk, for every district; one estimator behind every tab.</a:t>
            </a:r>
          </a:p>
        </p:txBody>
      </p:sp>
      <p:pic>
        <p:nvPicPr>
          <p:cNvPr id="5" name="Picture 4" descr="map-location-dot_blue.png"/>
          <p:cNvPicPr>
            <a:picLocks noChangeAspect="1"/>
          </p:cNvPicPr>
          <p:nvPr/>
        </p:nvPicPr>
        <p:blipFill>
          <a:blip r:embed="rId5"/>
          <a:stretch>
            <a:fillRect/>
          </a:stretch>
        </p:blipFill>
        <p:spPr>
          <a:xfrm>
            <a:off x="932688" y="2880360"/>
            <a:ext cx="822960" cy="731520"/>
          </a:xfrm>
          <a:prstGeom prst="rect">
            <a:avLst/>
          </a:prstGeom>
        </p:spPr>
      </p:pic>
      <p:sp>
        <p:nvSpPr>
          <p:cNvPr id="6" name="TextBox 5"/>
          <p:cNvSpPr txBox="1"/>
          <p:nvPr/>
        </p:nvSpPr>
        <p:spPr>
          <a:xfrm>
            <a:off x="1984248" y="2788920"/>
            <a:ext cx="3520440" cy="914400"/>
          </a:xfrm>
          <a:prstGeom prst="rect">
            <a:avLst/>
          </a:prstGeom>
          <a:noFill/>
        </p:spPr>
        <p:txBody>
          <a:bodyPr wrap="square" lIns="45720" tIns="27432" rIns="45720" bIns="27432" anchor="ctr">
            <a:spAutoFit/>
          </a:bodyPr>
          <a:lstStyle/>
          <a:p>
            <a:pPr algn="l"/>
            <a:r>
              <a:rPr sz="1500" b="1">
                <a:solidFill>
                  <a:srgbClr val="1F4E79"/>
                </a:solidFill>
                <a:latin typeface="Calibri"/>
              </a:rPr>
              <a:t>Where is deficiency?</a:t>
            </a:r>
          </a:p>
          <a:p>
            <a:pPr algn="l">
              <a:spcBef>
                <a:spcPts val="300"/>
              </a:spcBef>
            </a:pPr>
            <a:r>
              <a:rPr sz="1150" b="0">
                <a:solidFill>
                  <a:srgbClr val="333333"/>
                </a:solidFill>
                <a:latin typeface="Calibri"/>
              </a:rPr>
              <a:t>A priority score for every district, how sure the model is, a planning prevalence; click a district for what drives it.</a:t>
            </a:r>
          </a:p>
        </p:txBody>
      </p:sp>
      <p:pic>
        <p:nvPicPr>
          <p:cNvPr id="7" name="Picture 6" descr="magnifying-glass-chart_blue.png"/>
          <p:cNvPicPr>
            <a:picLocks noChangeAspect="1"/>
          </p:cNvPicPr>
          <p:nvPr/>
        </p:nvPicPr>
        <p:blipFill>
          <a:blip r:embed="rId6"/>
          <a:stretch>
            <a:fillRect/>
          </a:stretch>
        </p:blipFill>
        <p:spPr>
          <a:xfrm>
            <a:off x="932688" y="3977640"/>
            <a:ext cx="731520" cy="731520"/>
          </a:xfrm>
          <a:prstGeom prst="rect">
            <a:avLst/>
          </a:prstGeom>
        </p:spPr>
      </p:pic>
      <p:sp>
        <p:nvSpPr>
          <p:cNvPr id="8" name="TextBox 7"/>
          <p:cNvSpPr txBox="1"/>
          <p:nvPr/>
        </p:nvSpPr>
        <p:spPr>
          <a:xfrm>
            <a:off x="1984248" y="3886200"/>
            <a:ext cx="3520440" cy="914400"/>
          </a:xfrm>
          <a:prstGeom prst="rect">
            <a:avLst/>
          </a:prstGeom>
          <a:noFill/>
        </p:spPr>
        <p:txBody>
          <a:bodyPr wrap="square" lIns="45720" tIns="27432" rIns="45720" bIns="27432" anchor="ctr">
            <a:spAutoFit/>
          </a:bodyPr>
          <a:lstStyle/>
          <a:p>
            <a:pPr algn="l"/>
            <a:r>
              <a:rPr sz="1500" b="1">
                <a:solidFill>
                  <a:srgbClr val="1F4E79"/>
                </a:solidFill>
                <a:latin typeface="Calibri"/>
              </a:rPr>
              <a:t>What drives it? Can we trust it?</a:t>
            </a:r>
          </a:p>
          <a:p>
            <a:pPr algn="l">
              <a:spcBef>
                <a:spcPts val="300"/>
              </a:spcBef>
            </a:pPr>
            <a:r>
              <a:rPr sz="1150" b="0">
                <a:solidFill>
                  <a:srgbClr val="333333"/>
                </a:solidFill>
                <a:latin typeface="Calibri"/>
              </a:rPr>
              <a:t>Leading predictors, what travels across borders, the catalogue of 575 predictors; the three tests and the ceiling.</a:t>
            </a:r>
          </a:p>
        </p:txBody>
      </p:sp>
      <p:pic>
        <p:nvPicPr>
          <p:cNvPr id="9" name="Picture 8" descr="clipboard-check_blue.png"/>
          <p:cNvPicPr>
            <a:picLocks noChangeAspect="1"/>
          </p:cNvPicPr>
          <p:nvPr/>
        </p:nvPicPr>
        <p:blipFill>
          <a:blip r:embed="rId7"/>
          <a:stretch>
            <a:fillRect/>
          </a:stretch>
        </p:blipFill>
        <p:spPr>
          <a:xfrm>
            <a:off x="932688" y="5074920"/>
            <a:ext cx="548640" cy="731520"/>
          </a:xfrm>
          <a:prstGeom prst="rect">
            <a:avLst/>
          </a:prstGeom>
        </p:spPr>
      </p:pic>
      <p:sp>
        <p:nvSpPr>
          <p:cNvPr id="10" name="TextBox 9"/>
          <p:cNvSpPr txBox="1"/>
          <p:nvPr/>
        </p:nvSpPr>
        <p:spPr>
          <a:xfrm>
            <a:off x="1984248" y="4983480"/>
            <a:ext cx="3520440" cy="914400"/>
          </a:xfrm>
          <a:prstGeom prst="rect">
            <a:avLst/>
          </a:prstGeom>
          <a:noFill/>
        </p:spPr>
        <p:txBody>
          <a:bodyPr wrap="square" lIns="45720" tIns="27432" rIns="45720" bIns="27432" anchor="ctr">
            <a:spAutoFit/>
          </a:bodyPr>
          <a:lstStyle/>
          <a:p>
            <a:pPr algn="l"/>
            <a:r>
              <a:rPr sz="1500" b="1">
                <a:solidFill>
                  <a:srgbClr val="1F4E79"/>
                </a:solidFill>
                <a:latin typeface="Calibri"/>
              </a:rPr>
              <a:t>Plan a survey</a:t>
            </a:r>
          </a:p>
          <a:p>
            <a:pPr algn="l">
              <a:spcBef>
                <a:spcPts val="300"/>
              </a:spcBef>
            </a:pPr>
            <a:r>
              <a:rPr sz="1150" b="0">
                <a:solidFill>
                  <a:srgbClr val="333333"/>
                </a:solidFill>
                <a:latin typeface="Calibri"/>
              </a:rPr>
              <a:t>The anchor-and-rank design; a printable brief per country.</a:t>
            </a:r>
          </a:p>
        </p:txBody>
      </p:sp>
      <p:pic>
        <p:nvPicPr>
          <p:cNvPr id="11" name="Picture 10" descr="dashboard_map.png"/>
          <p:cNvPicPr>
            <a:picLocks noChangeAspect="1"/>
          </p:cNvPicPr>
          <p:nvPr/>
        </p:nvPicPr>
        <p:blipFill>
          <a:blip r:embed="rId8"/>
          <a:stretch>
            <a:fillRect/>
          </a:stretch>
        </p:blipFill>
        <p:spPr>
          <a:xfrm>
            <a:off x="5870448" y="1783080"/>
            <a:ext cx="5486400" cy="308610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Closing</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the models can and cannot do yet</a:t>
            </a:r>
          </a:p>
        </p:txBody>
      </p:sp>
      <p:sp>
        <p:nvSpPr>
          <p:cNvPr id="3" name="Rounded Rectangle 2"/>
          <p:cNvSpPr/>
          <p:nvPr/>
        </p:nvSpPr>
        <p:spPr>
          <a:xfrm>
            <a:off x="841248" y="1691640"/>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heck_green.png"/>
          <p:cNvPicPr>
            <a:picLocks noChangeAspect="1"/>
          </p:cNvPicPr>
          <p:nvPr/>
        </p:nvPicPr>
        <p:blipFill>
          <a:blip r:embed="rId3"/>
          <a:stretch>
            <a:fillRect/>
          </a:stretch>
        </p:blipFill>
        <p:spPr>
          <a:xfrm>
            <a:off x="1069848" y="1764792"/>
            <a:ext cx="276034" cy="315468"/>
          </a:xfrm>
          <a:prstGeom prst="rect">
            <a:avLst/>
          </a:prstGeom>
        </p:spPr>
      </p:pic>
      <p:sp>
        <p:nvSpPr>
          <p:cNvPr id="5" name="TextBox 4"/>
          <p:cNvSpPr txBox="1"/>
          <p:nvPr/>
        </p:nvSpPr>
        <p:spPr>
          <a:xfrm>
            <a:off x="1618488" y="1691640"/>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Rank districts in a surveyed country?</a:t>
            </a:r>
          </a:p>
        </p:txBody>
      </p:sp>
      <p:sp>
        <p:nvSpPr>
          <p:cNvPr id="6" name="TextBox 5"/>
          <p:cNvSpPr txBox="1"/>
          <p:nvPr/>
        </p:nvSpPr>
        <p:spPr>
          <a:xfrm>
            <a:off x="6784848" y="1691640"/>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Yes: 0.40, null 0.08.</a:t>
            </a:r>
          </a:p>
        </p:txBody>
      </p:sp>
      <p:sp>
        <p:nvSpPr>
          <p:cNvPr id="7" name="Rounded Rectangle 6"/>
          <p:cNvSpPr/>
          <p:nvPr/>
        </p:nvSpPr>
        <p:spPr>
          <a:xfrm>
            <a:off x="841248" y="2226564"/>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triangle-exclamation_amber.png"/>
          <p:cNvPicPr>
            <a:picLocks noChangeAspect="1"/>
          </p:cNvPicPr>
          <p:nvPr/>
        </p:nvPicPr>
        <p:blipFill>
          <a:blip r:embed="rId4"/>
          <a:stretch>
            <a:fillRect/>
          </a:stretch>
        </p:blipFill>
        <p:spPr>
          <a:xfrm>
            <a:off x="1069848" y="2299716"/>
            <a:ext cx="315468" cy="315468"/>
          </a:xfrm>
          <a:prstGeom prst="rect">
            <a:avLst/>
          </a:prstGeom>
        </p:spPr>
      </p:pic>
      <p:sp>
        <p:nvSpPr>
          <p:cNvPr id="9" name="TextBox 8"/>
          <p:cNvSpPr txBox="1"/>
          <p:nvPr/>
        </p:nvSpPr>
        <p:spPr>
          <a:xfrm>
            <a:off x="1618488" y="2226564"/>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Rank districts in a new country?</a:t>
            </a:r>
          </a:p>
        </p:txBody>
      </p:sp>
      <p:sp>
        <p:nvSpPr>
          <p:cNvPr id="10" name="TextBox 9"/>
          <p:cNvSpPr txBox="1"/>
          <p:nvPr/>
        </p:nvSpPr>
        <p:spPr>
          <a:xfrm>
            <a:off x="6784848" y="2226564"/>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Yes, less well: 0.30 against 0.08.</a:t>
            </a:r>
          </a:p>
        </p:txBody>
      </p:sp>
      <p:sp>
        <p:nvSpPr>
          <p:cNvPr id="11" name="Rounded Rectangle 10"/>
          <p:cNvSpPr/>
          <p:nvPr/>
        </p:nvSpPr>
        <p:spPr>
          <a:xfrm>
            <a:off x="841248" y="2761488"/>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heck_green.png"/>
          <p:cNvPicPr>
            <a:picLocks noChangeAspect="1"/>
          </p:cNvPicPr>
          <p:nvPr/>
        </p:nvPicPr>
        <p:blipFill>
          <a:blip r:embed="rId3"/>
          <a:stretch>
            <a:fillRect/>
          </a:stretch>
        </p:blipFill>
        <p:spPr>
          <a:xfrm>
            <a:off x="1069848" y="2834640"/>
            <a:ext cx="276034" cy="315468"/>
          </a:xfrm>
          <a:prstGeom prst="rect">
            <a:avLst/>
          </a:prstGeom>
        </p:spPr>
      </p:pic>
      <p:sp>
        <p:nvSpPr>
          <p:cNvPr id="13" name="TextBox 12"/>
          <p:cNvSpPr txBox="1"/>
          <p:nvPr/>
        </p:nvSpPr>
        <p:spPr>
          <a:xfrm>
            <a:off x="1618488" y="2761488"/>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Which predictors carry the signal?</a:t>
            </a:r>
          </a:p>
        </p:txBody>
      </p:sp>
      <p:sp>
        <p:nvSpPr>
          <p:cNvPr id="14" name="TextBox 13"/>
          <p:cNvSpPr txBox="1"/>
          <p:nvPr/>
        </p:nvSpPr>
        <p:spPr>
          <a:xfrm>
            <a:off x="6784848" y="2761488"/>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Satellite, climate and soil.</a:t>
            </a:r>
          </a:p>
        </p:txBody>
      </p:sp>
      <p:sp>
        <p:nvSpPr>
          <p:cNvPr id="15" name="Rounded Rectangle 14"/>
          <p:cNvSpPr/>
          <p:nvPr/>
        </p:nvSpPr>
        <p:spPr>
          <a:xfrm>
            <a:off x="841248" y="3296412"/>
            <a:ext cx="10515600" cy="461772"/>
          </a:xfrm>
          <a:prstGeom prst="roundRect">
            <a:avLst>
              <a:gd name="adj" fmla="val 15841"/>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xmark_grey.png"/>
          <p:cNvPicPr>
            <a:picLocks noChangeAspect="1"/>
          </p:cNvPicPr>
          <p:nvPr/>
        </p:nvPicPr>
        <p:blipFill>
          <a:blip r:embed="rId5"/>
          <a:stretch>
            <a:fillRect/>
          </a:stretch>
        </p:blipFill>
        <p:spPr>
          <a:xfrm>
            <a:off x="1069848" y="3369564"/>
            <a:ext cx="236601" cy="315468"/>
          </a:xfrm>
          <a:prstGeom prst="rect">
            <a:avLst/>
          </a:prstGeom>
        </p:spPr>
      </p:pic>
      <p:sp>
        <p:nvSpPr>
          <p:cNvPr id="17" name="TextBox 16"/>
          <p:cNvSpPr txBox="1"/>
          <p:nvPr/>
        </p:nvSpPr>
        <p:spPr>
          <a:xfrm>
            <a:off x="1618488" y="3296412"/>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Prevalence in a new country from the model alone?</a:t>
            </a:r>
          </a:p>
        </p:txBody>
      </p:sp>
      <p:sp>
        <p:nvSpPr>
          <p:cNvPr id="18" name="TextBox 17"/>
          <p:cNvSpPr txBox="1"/>
          <p:nvPr/>
        </p:nvSpPr>
        <p:spPr>
          <a:xfrm>
            <a:off x="6784848" y="3296412"/>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Not yet.</a:t>
            </a:r>
          </a:p>
        </p:txBody>
      </p:sp>
      <p:sp>
        <p:nvSpPr>
          <p:cNvPr id="19" name="Rounded Rectangle 18"/>
          <p:cNvSpPr/>
          <p:nvPr/>
        </p:nvSpPr>
        <p:spPr>
          <a:xfrm>
            <a:off x="841248" y="3831336"/>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check_green.png"/>
          <p:cNvPicPr>
            <a:picLocks noChangeAspect="1"/>
          </p:cNvPicPr>
          <p:nvPr/>
        </p:nvPicPr>
        <p:blipFill>
          <a:blip r:embed="rId3"/>
          <a:stretch>
            <a:fillRect/>
          </a:stretch>
        </p:blipFill>
        <p:spPr>
          <a:xfrm>
            <a:off x="1069848" y="3904488"/>
            <a:ext cx="276034" cy="315468"/>
          </a:xfrm>
          <a:prstGeom prst="rect">
            <a:avLst/>
          </a:prstGeom>
        </p:spPr>
      </p:pic>
      <p:sp>
        <p:nvSpPr>
          <p:cNvPr id="21" name="TextBox 20"/>
          <p:cNvSpPr txBox="1"/>
          <p:nvPr/>
        </p:nvSpPr>
        <p:spPr>
          <a:xfrm>
            <a:off x="1618488" y="3831336"/>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Prevalence with one national anchor?</a:t>
            </a:r>
          </a:p>
        </p:txBody>
      </p:sp>
      <p:sp>
        <p:nvSpPr>
          <p:cNvPr id="22" name="TextBox 21"/>
          <p:cNvSpPr txBox="1"/>
          <p:nvPr/>
        </p:nvSpPr>
        <p:spPr>
          <a:xfrm>
            <a:off x="6784848" y="3831336"/>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Yes: 9.3 points at a 5% sample.</a:t>
            </a:r>
          </a:p>
        </p:txBody>
      </p:sp>
      <p:sp>
        <p:nvSpPr>
          <p:cNvPr id="23" name="Rounded Rectangle 22"/>
          <p:cNvSpPr/>
          <p:nvPr/>
        </p:nvSpPr>
        <p:spPr>
          <a:xfrm>
            <a:off x="841248" y="4366260"/>
            <a:ext cx="10515600" cy="461772"/>
          </a:xfrm>
          <a:prstGeom prst="roundRect">
            <a:avLst>
              <a:gd name="adj" fmla="val 15841"/>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xmark_grey.png"/>
          <p:cNvPicPr>
            <a:picLocks noChangeAspect="1"/>
          </p:cNvPicPr>
          <p:nvPr/>
        </p:nvPicPr>
        <p:blipFill>
          <a:blip r:embed="rId5"/>
          <a:stretch>
            <a:fillRect/>
          </a:stretch>
        </p:blipFill>
        <p:spPr>
          <a:xfrm>
            <a:off x="1069848" y="4439412"/>
            <a:ext cx="236601" cy="315468"/>
          </a:xfrm>
          <a:prstGeom prst="rect">
            <a:avLst/>
          </a:prstGeom>
        </p:spPr>
      </p:pic>
      <p:sp>
        <p:nvSpPr>
          <p:cNvPr id="25" name="TextBox 24"/>
          <p:cNvSpPr txBox="1"/>
          <p:nvPr/>
        </p:nvSpPr>
        <p:spPr>
          <a:xfrm>
            <a:off x="1618488" y="4366260"/>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Replace biomarker surveys?</a:t>
            </a:r>
          </a:p>
        </p:txBody>
      </p:sp>
      <p:sp>
        <p:nvSpPr>
          <p:cNvPr id="26" name="TextBox 25"/>
          <p:cNvSpPr txBox="1"/>
          <p:nvPr/>
        </p:nvSpPr>
        <p:spPr>
          <a:xfrm>
            <a:off x="6784848" y="4366260"/>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No: the ceiling is the survey's.</a:t>
            </a:r>
          </a:p>
        </p:txBody>
      </p:sp>
      <p:sp>
        <p:nvSpPr>
          <p:cNvPr id="27" name="Rounded Rectangle 26"/>
          <p:cNvSpPr/>
          <p:nvPr/>
        </p:nvSpPr>
        <p:spPr>
          <a:xfrm>
            <a:off x="841248" y="4901184"/>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triangle-exclamation_amber.png"/>
          <p:cNvPicPr>
            <a:picLocks noChangeAspect="1"/>
          </p:cNvPicPr>
          <p:nvPr/>
        </p:nvPicPr>
        <p:blipFill>
          <a:blip r:embed="rId4"/>
          <a:stretch>
            <a:fillRect/>
          </a:stretch>
        </p:blipFill>
        <p:spPr>
          <a:xfrm>
            <a:off x="1069848" y="4974336"/>
            <a:ext cx="315468" cy="315468"/>
          </a:xfrm>
          <a:prstGeom prst="rect">
            <a:avLst/>
          </a:prstGeom>
        </p:spPr>
      </p:pic>
      <p:sp>
        <p:nvSpPr>
          <p:cNvPr id="29" name="TextBox 28"/>
          <p:cNvSpPr txBox="1"/>
          <p:nvPr/>
        </p:nvSpPr>
        <p:spPr>
          <a:xfrm>
            <a:off x="1618488" y="4901184"/>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Guide where the next survey samples?</a:t>
            </a:r>
          </a:p>
        </p:txBody>
      </p:sp>
      <p:sp>
        <p:nvSpPr>
          <p:cNvPr id="30" name="TextBox 29"/>
          <p:cNvSpPr txBox="1"/>
          <p:nvPr/>
        </p:nvSpPr>
        <p:spPr>
          <a:xfrm>
            <a:off x="6784848" y="4901184"/>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In design, not piloted.</a:t>
            </a:r>
          </a:p>
        </p:txBody>
      </p:sp>
      <p:sp>
        <p:nvSpPr>
          <p:cNvPr id="31" name="Rounded Rectangle 30"/>
          <p:cNvSpPr/>
          <p:nvPr/>
        </p:nvSpPr>
        <p:spPr>
          <a:xfrm>
            <a:off x="841248" y="5436108"/>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Picture 31" descr="triangle-exclamation_amber.png"/>
          <p:cNvPicPr>
            <a:picLocks noChangeAspect="1"/>
          </p:cNvPicPr>
          <p:nvPr/>
        </p:nvPicPr>
        <p:blipFill>
          <a:blip r:embed="rId4"/>
          <a:stretch>
            <a:fillRect/>
          </a:stretch>
        </p:blipFill>
        <p:spPr>
          <a:xfrm>
            <a:off x="1069848" y="5509260"/>
            <a:ext cx="315468" cy="315468"/>
          </a:xfrm>
          <a:prstGeom prst="rect">
            <a:avLst/>
          </a:prstGeom>
        </p:spPr>
      </p:pic>
      <p:sp>
        <p:nvSpPr>
          <p:cNvPr id="33" name="TextBox 32"/>
          <p:cNvSpPr txBox="1"/>
          <p:nvPr/>
        </p:nvSpPr>
        <p:spPr>
          <a:xfrm>
            <a:off x="1618488" y="5436108"/>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Say how sure each map is?</a:t>
            </a:r>
          </a:p>
        </p:txBody>
      </p:sp>
      <p:sp>
        <p:nvSpPr>
          <p:cNvPr id="34" name="TextBox 33"/>
          <p:cNvSpPr txBox="1"/>
          <p:nvPr/>
        </p:nvSpPr>
        <p:spPr>
          <a:xfrm>
            <a:off x="6784848" y="5436108"/>
            <a:ext cx="4480560" cy="461772"/>
          </a:xfrm>
          <a:prstGeom prst="rect">
            <a:avLst/>
          </a:prstGeom>
          <a:noFill/>
        </p:spPr>
        <p:txBody>
          <a:bodyPr wrap="square" lIns="45720" tIns="27432" rIns="45720" bIns="27432" anchor="ctr">
            <a:spAutoFit/>
          </a:bodyPr>
          <a:lstStyle/>
          <a:p>
            <a:pPr algn="l"/>
            <a:r>
              <a:rPr sz="1500" b="0" dirty="0">
                <a:solidFill>
                  <a:srgbClr val="333333"/>
                </a:solidFill>
                <a:latin typeface="Calibri"/>
              </a:rPr>
              <a:t>Stable, yes; verified, no: the intervals cover the truth 38% of the time, not 90%.</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Conclusions</a:t>
            </a:r>
          </a:p>
        </p:txBody>
      </p:sp>
      <p:pic>
        <p:nvPicPr>
          <p:cNvPr id="3" name="Picture 2" descr="map-location-dot_blue.png"/>
          <p:cNvPicPr>
            <a:picLocks noChangeAspect="1"/>
          </p:cNvPicPr>
          <p:nvPr/>
        </p:nvPicPr>
        <p:blipFill>
          <a:blip r:embed="rId4"/>
          <a:stretch>
            <a:fillRect/>
          </a:stretch>
        </p:blipFill>
        <p:spPr>
          <a:xfrm>
            <a:off x="932688" y="1783080"/>
            <a:ext cx="411480" cy="365760"/>
          </a:xfrm>
          <a:prstGeom prst="rect">
            <a:avLst/>
          </a:prstGeom>
        </p:spPr>
      </p:pic>
      <p:sp>
        <p:nvSpPr>
          <p:cNvPr id="4" name="TextBox 3"/>
          <p:cNvSpPr txBox="1"/>
          <p:nvPr/>
        </p:nvSpPr>
        <p:spPr>
          <a:xfrm>
            <a:off x="1984248" y="1691640"/>
            <a:ext cx="9326880" cy="548640"/>
          </a:xfrm>
          <a:prstGeom prst="rect">
            <a:avLst/>
          </a:prstGeom>
          <a:noFill/>
        </p:spPr>
        <p:txBody>
          <a:bodyPr wrap="square" lIns="45720" tIns="27432" rIns="45720" bIns="27432" anchor="ctr">
            <a:spAutoFit/>
          </a:bodyPr>
          <a:lstStyle/>
          <a:p>
            <a:pPr algn="l"/>
            <a:r>
              <a:rPr sz="1700" b="1">
                <a:solidFill>
                  <a:srgbClr val="1F4E79"/>
                </a:solidFill>
                <a:latin typeface="Calibri"/>
              </a:rPr>
              <a:t>In-fill: the index ranks districts (0.40)</a:t>
            </a:r>
          </a:p>
          <a:p>
            <a:pPr algn="l">
              <a:spcBef>
                <a:spcPts val="300"/>
              </a:spcBef>
            </a:pPr>
            <a:r>
              <a:rPr sz="1250" b="0">
                <a:solidFill>
                  <a:srgbClr val="333333"/>
                </a:solidFill>
                <a:latin typeface="Calibri"/>
              </a:rPr>
              <a:t>Against 0.31 for the survey's own regional averages and 0.39 for a covariate-free smoother.</a:t>
            </a:r>
          </a:p>
        </p:txBody>
      </p:sp>
      <p:pic>
        <p:nvPicPr>
          <p:cNvPr id="5" name="Picture 4" descr="earth-africa_blue.png"/>
          <p:cNvPicPr>
            <a:picLocks noChangeAspect="1"/>
          </p:cNvPicPr>
          <p:nvPr/>
        </p:nvPicPr>
        <p:blipFill>
          <a:blip r:embed="rId5"/>
          <a:stretch>
            <a:fillRect/>
          </a:stretch>
        </p:blipFill>
        <p:spPr>
          <a:xfrm>
            <a:off x="932688" y="2514600"/>
            <a:ext cx="365760" cy="365760"/>
          </a:xfrm>
          <a:prstGeom prst="rect">
            <a:avLst/>
          </a:prstGeom>
        </p:spPr>
      </p:pic>
      <p:sp>
        <p:nvSpPr>
          <p:cNvPr id="6" name="TextBox 5"/>
          <p:cNvSpPr txBox="1"/>
          <p:nvPr/>
        </p:nvSpPr>
        <p:spPr>
          <a:xfrm>
            <a:off x="1984248" y="2423160"/>
            <a:ext cx="9326880" cy="548640"/>
          </a:xfrm>
          <a:prstGeom prst="rect">
            <a:avLst/>
          </a:prstGeom>
          <a:noFill/>
        </p:spPr>
        <p:txBody>
          <a:bodyPr wrap="square" lIns="45720" tIns="27432" rIns="45720" bIns="27432" anchor="ctr">
            <a:spAutoFit/>
          </a:bodyPr>
          <a:lstStyle/>
          <a:p>
            <a:pPr algn="l"/>
            <a:r>
              <a:rPr sz="1700" b="1">
                <a:solidFill>
                  <a:srgbClr val="1F4E79"/>
                </a:solidFill>
                <a:latin typeface="Calibri"/>
              </a:rPr>
              <a:t>Transport: rankings carry (0.30), levels do not</a:t>
            </a:r>
          </a:p>
          <a:p>
            <a:pPr algn="l">
              <a:spcBef>
                <a:spcPts val="300"/>
              </a:spcBef>
            </a:pPr>
            <a:r>
              <a:rPr sz="1250" b="0">
                <a:solidFill>
                  <a:srgbClr val="333333"/>
                </a:solidFill>
                <a:latin typeface="Calibri"/>
              </a:rPr>
              <a:t>0.38 from climate and soil alone; permutation null 0.08.</a:t>
            </a:r>
          </a:p>
        </p:txBody>
      </p:sp>
      <p:pic>
        <p:nvPicPr>
          <p:cNvPr id="7" name="Picture 6" descr="satellite_blue.png"/>
          <p:cNvPicPr>
            <a:picLocks noChangeAspect="1"/>
          </p:cNvPicPr>
          <p:nvPr/>
        </p:nvPicPr>
        <p:blipFill>
          <a:blip r:embed="rId6"/>
          <a:stretch>
            <a:fillRect/>
          </a:stretch>
        </p:blipFill>
        <p:spPr>
          <a:xfrm>
            <a:off x="932688" y="3246120"/>
            <a:ext cx="365760" cy="365760"/>
          </a:xfrm>
          <a:prstGeom prst="rect">
            <a:avLst/>
          </a:prstGeom>
        </p:spPr>
      </p:pic>
      <p:sp>
        <p:nvSpPr>
          <p:cNvPr id="8" name="TextBox 7"/>
          <p:cNvSpPr txBox="1"/>
          <p:nvPr/>
        </p:nvSpPr>
        <p:spPr>
          <a:xfrm>
            <a:off x="1984248" y="3154680"/>
            <a:ext cx="9326880" cy="548640"/>
          </a:xfrm>
          <a:prstGeom prst="rect">
            <a:avLst/>
          </a:prstGeom>
          <a:noFill/>
        </p:spPr>
        <p:txBody>
          <a:bodyPr wrap="square" lIns="45720" tIns="27432" rIns="45720" bIns="27432" anchor="ctr">
            <a:spAutoFit/>
          </a:bodyPr>
          <a:lstStyle/>
          <a:p>
            <a:pPr algn="l"/>
            <a:r>
              <a:rPr sz="1700" b="1">
                <a:solidFill>
                  <a:srgbClr val="1F4E79"/>
                </a:solidFill>
                <a:latin typeface="Calibri"/>
              </a:rPr>
              <a:t>Across borders, lean on the environment</a:t>
            </a:r>
          </a:p>
          <a:p>
            <a:pPr algn="l">
              <a:spcBef>
                <a:spcPts val="300"/>
              </a:spcBef>
            </a:pPr>
            <a:r>
              <a:rPr sz="1250" b="0">
                <a:solidFill>
                  <a:srgbClr val="333333"/>
                </a:solidFill>
                <a:latin typeface="Calibri"/>
              </a:rPr>
              <a:t>Survey-derived inputs help inside a country and hold a new country back; health surfaces are surrogate markers, not mechanisms.</a:t>
            </a:r>
          </a:p>
        </p:txBody>
      </p:sp>
      <p:pic>
        <p:nvPicPr>
          <p:cNvPr id="9" name="Picture 8" descr="anchor_blue.png"/>
          <p:cNvPicPr>
            <a:picLocks noChangeAspect="1"/>
          </p:cNvPicPr>
          <p:nvPr/>
        </p:nvPicPr>
        <p:blipFill>
          <a:blip r:embed="rId7"/>
          <a:stretch>
            <a:fillRect/>
          </a:stretch>
        </p:blipFill>
        <p:spPr>
          <a:xfrm>
            <a:off x="932688" y="3977640"/>
            <a:ext cx="411480" cy="365760"/>
          </a:xfrm>
          <a:prstGeom prst="rect">
            <a:avLst/>
          </a:prstGeom>
        </p:spPr>
      </p:pic>
      <p:sp>
        <p:nvSpPr>
          <p:cNvPr id="10" name="TextBox 9"/>
          <p:cNvSpPr txBox="1"/>
          <p:nvPr/>
        </p:nvSpPr>
        <p:spPr>
          <a:xfrm>
            <a:off x="1984248" y="3886200"/>
            <a:ext cx="9326880" cy="548640"/>
          </a:xfrm>
          <a:prstGeom prst="rect">
            <a:avLst/>
          </a:prstGeom>
          <a:noFill/>
        </p:spPr>
        <p:txBody>
          <a:bodyPr wrap="square" lIns="45720" tIns="27432" rIns="45720" bIns="27432" anchor="ctr">
            <a:spAutoFit/>
          </a:bodyPr>
          <a:lstStyle/>
          <a:p>
            <a:pPr algn="l"/>
            <a:r>
              <a:rPr sz="1700" b="1">
                <a:solidFill>
                  <a:srgbClr val="1F4E79"/>
                </a:solidFill>
                <a:latin typeface="Calibri"/>
              </a:rPr>
              <a:t>A national anchor puts levels on the ranking</a:t>
            </a:r>
          </a:p>
          <a:p>
            <a:pPr algn="l">
              <a:spcBef>
                <a:spcPts val="300"/>
              </a:spcBef>
            </a:pPr>
            <a:r>
              <a:rPr sz="1250" b="0">
                <a:solidFill>
                  <a:srgbClr val="333333"/>
                </a:solidFill>
                <a:latin typeface="Calibri"/>
              </a:rPr>
              <a:t>District error 9.3 points at 5% of a full sample, matched by a district survey at 25%.</a:t>
            </a:r>
          </a:p>
        </p:txBody>
      </p:sp>
      <p:pic>
        <p:nvPicPr>
          <p:cNvPr id="11" name="Picture 10" descr="shield-halved_blue.png"/>
          <p:cNvPicPr>
            <a:picLocks noChangeAspect="1"/>
          </p:cNvPicPr>
          <p:nvPr/>
        </p:nvPicPr>
        <p:blipFill>
          <a:blip r:embed="rId8"/>
          <a:stretch>
            <a:fillRect/>
          </a:stretch>
        </p:blipFill>
        <p:spPr>
          <a:xfrm>
            <a:off x="932688" y="4709160"/>
            <a:ext cx="365760" cy="365760"/>
          </a:xfrm>
          <a:prstGeom prst="rect">
            <a:avLst/>
          </a:prstGeom>
        </p:spPr>
      </p:pic>
      <p:sp>
        <p:nvSpPr>
          <p:cNvPr id="12" name="TextBox 11"/>
          <p:cNvSpPr txBox="1"/>
          <p:nvPr/>
        </p:nvSpPr>
        <p:spPr>
          <a:xfrm>
            <a:off x="1984248" y="4617720"/>
            <a:ext cx="9326880" cy="548640"/>
          </a:xfrm>
          <a:prstGeom prst="rect">
            <a:avLst/>
          </a:prstGeom>
          <a:noFill/>
        </p:spPr>
        <p:txBody>
          <a:bodyPr wrap="square" lIns="45720" tIns="27432" rIns="45720" bIns="27432" anchor="ctr">
            <a:spAutoFit/>
          </a:bodyPr>
          <a:lstStyle/>
          <a:p>
            <a:pPr algn="l"/>
            <a:r>
              <a:rPr sz="1700" b="1">
                <a:solidFill>
                  <a:srgbClr val="1F4E79"/>
                </a:solidFill>
                <a:latin typeface="Calibri"/>
              </a:rPr>
              <a:t>Uncertainty is on every model map, and it is checked: the intervals mean stable, not verified</a:t>
            </a:r>
          </a:p>
          <a:p>
            <a:pPr algn="l">
              <a:spcBef>
                <a:spcPts val="300"/>
              </a:spcBef>
            </a:pPr>
            <a:r>
              <a:rPr sz="1250" b="0">
                <a:solidFill>
                  <a:srgbClr val="333333"/>
                </a:solidFill>
                <a:latin typeface="Calibri"/>
              </a:rPr>
              <a:t>Resampling intervals cover the survey's rank 38% of the time against a nominal 90%; the gap is the transport error. A calibrated interval is the next methods step.</a:t>
            </a:r>
          </a:p>
        </p:txBody>
      </p:sp>
      <p:pic>
        <p:nvPicPr>
          <p:cNvPr id="13" name="Picture 12" descr="layer-group_blue.png"/>
          <p:cNvPicPr>
            <a:picLocks noChangeAspect="1"/>
          </p:cNvPicPr>
          <p:nvPr/>
        </p:nvPicPr>
        <p:blipFill>
          <a:blip r:embed="rId9"/>
          <a:stretch>
            <a:fillRect/>
          </a:stretch>
        </p:blipFill>
        <p:spPr>
          <a:xfrm>
            <a:off x="932688" y="5440680"/>
            <a:ext cx="411480" cy="365760"/>
          </a:xfrm>
          <a:prstGeom prst="rect">
            <a:avLst/>
          </a:prstGeom>
        </p:spPr>
      </p:pic>
      <p:sp>
        <p:nvSpPr>
          <p:cNvPr id="14" name="TextBox 13"/>
          <p:cNvSpPr txBox="1"/>
          <p:nvPr/>
        </p:nvSpPr>
        <p:spPr>
          <a:xfrm>
            <a:off x="1984248" y="5349240"/>
            <a:ext cx="9326880" cy="548640"/>
          </a:xfrm>
          <a:prstGeom prst="rect">
            <a:avLst/>
          </a:prstGeom>
          <a:noFill/>
        </p:spPr>
        <p:txBody>
          <a:bodyPr wrap="square" lIns="45720" tIns="27432" rIns="45720" bIns="27432" anchor="ctr">
            <a:spAutoFit/>
          </a:bodyPr>
          <a:lstStyle/>
          <a:p>
            <a:pPr algn="l"/>
            <a:r>
              <a:rPr sz="1700" b="1">
                <a:solidFill>
                  <a:srgbClr val="1F4E79"/>
                </a:solidFill>
                <a:latin typeface="Calibri"/>
              </a:rPr>
              <a:t>Where the survey resolves districts, so does the model: The Gambia 0.41 to 0.70</a:t>
            </a:r>
          </a:p>
          <a:p>
            <a:pPr algn="l">
              <a:spcBef>
                <a:spcPts val="300"/>
              </a:spcBef>
            </a:pPr>
            <a:r>
              <a:rPr sz="1250" b="0">
                <a:solidFill>
                  <a:srgbClr val="333333"/>
                </a:solidFill>
                <a:latin typeface="Calibri"/>
              </a:rPr>
              <a:t>Several clusters per district; 3 of 4 outcomes above 0.5. Ghana's and Malawi's single-cluster districts average 0.34 (3 of 14).</a:t>
            </a:r>
          </a:p>
        </p:txBody>
      </p:sp>
    </p:spTree>
  </p:cSld>
  <p:clrMapOvr>
    <a:masterClrMapping/>
  </p:clrMapOvr>
  <p:extLst>
    <p:ext uri="{6950BFC3-D8DA-4A85-94F7-54DA5524770B}">
      <p188:commentRel xmlns:p188="http://schemas.microsoft.com/office/powerpoint/2018/8/main" r:id="rId3"/>
    </p:ext>
  </p:extLs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Next steps</a:t>
            </a:r>
          </a:p>
        </p:txBody>
      </p:sp>
      <p:sp>
        <p:nvSpPr>
          <p:cNvPr id="3" name="Rounded Rectangle 2"/>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list-check_white.png"/>
          <p:cNvPicPr>
            <a:picLocks noChangeAspect="1"/>
          </p:cNvPicPr>
          <p:nvPr/>
        </p:nvPicPr>
        <p:blipFill>
          <a:blip r:embed="rId3"/>
          <a:stretch>
            <a:fillRect/>
          </a:stretch>
        </p:blipFill>
        <p:spPr>
          <a:xfrm>
            <a:off x="1024128" y="1810512"/>
            <a:ext cx="402336" cy="402336"/>
          </a:xfrm>
          <a:prstGeom prst="rect">
            <a:avLst/>
          </a:prstGeom>
        </p:spPr>
      </p:pic>
      <p:sp>
        <p:nvSpPr>
          <p:cNvPr id="6" name="TextBox 5"/>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Planned</a:t>
            </a:r>
          </a:p>
        </p:txBody>
      </p:sp>
      <p:pic>
        <p:nvPicPr>
          <p:cNvPr id="7" name="Picture 6" descr="flag-checkered_blue.png"/>
          <p:cNvPicPr>
            <a:picLocks noChangeAspect="1"/>
          </p:cNvPicPr>
          <p:nvPr/>
        </p:nvPicPr>
        <p:blipFill>
          <a:blip r:embed="rId4"/>
          <a:stretch>
            <a:fillRect/>
          </a:stretch>
        </p:blipFill>
        <p:spPr>
          <a:xfrm>
            <a:off x="1069848" y="2735580"/>
            <a:ext cx="440055" cy="502920"/>
          </a:xfrm>
          <a:prstGeom prst="rect">
            <a:avLst/>
          </a:prstGeom>
        </p:spPr>
      </p:pic>
      <p:sp>
        <p:nvSpPr>
          <p:cNvPr id="8" name="TextBox 7"/>
          <p:cNvSpPr txBox="1"/>
          <p:nvPr/>
        </p:nvSpPr>
        <p:spPr>
          <a:xfrm>
            <a:off x="17556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Score the pre-registered predictions</a:t>
            </a:r>
          </a:p>
          <a:p>
            <a:pPr algn="l">
              <a:spcBef>
                <a:spcPts val="300"/>
              </a:spcBef>
            </a:pPr>
            <a:r>
              <a:rPr sz="1200" b="0">
                <a:solidFill>
                  <a:srgbClr val="333333"/>
                </a:solidFill>
                <a:latin typeface="Calibri"/>
              </a:rPr>
              <a:t>On the next countries added to the panel; each survey added improves every other country's map.</a:t>
            </a:r>
          </a:p>
        </p:txBody>
      </p:sp>
      <p:pic>
        <p:nvPicPr>
          <p:cNvPr id="9" name="Picture 8" descr="location-crosshairs_blue.png"/>
          <p:cNvPicPr>
            <a:picLocks noChangeAspect="1"/>
          </p:cNvPicPr>
          <p:nvPr/>
        </p:nvPicPr>
        <p:blipFill>
          <a:blip r:embed="rId5"/>
          <a:stretch>
            <a:fillRect/>
          </a:stretch>
        </p:blipFill>
        <p:spPr>
          <a:xfrm>
            <a:off x="1069848" y="3863340"/>
            <a:ext cx="502920" cy="502920"/>
          </a:xfrm>
          <a:prstGeom prst="rect">
            <a:avLst/>
          </a:prstGeom>
        </p:spPr>
      </p:pic>
      <p:sp>
        <p:nvSpPr>
          <p:cNvPr id="10" name="TextBox 9"/>
          <p:cNvSpPr txBox="1"/>
          <p:nvPr/>
        </p:nvSpPr>
        <p:spPr>
          <a:xfrm>
            <a:off x="17556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Pilot the survey design</a:t>
            </a:r>
          </a:p>
          <a:p>
            <a:pPr algn="l">
              <a:spcBef>
                <a:spcPts val="300"/>
              </a:spcBef>
            </a:pPr>
            <a:r>
              <a:rPr sz="1200" b="0">
                <a:solidFill>
                  <a:srgbClr val="333333"/>
                </a:solidFill>
                <a:latin typeface="Calibri"/>
              </a:rPr>
              <a:t>Sample nationally, rank with the model, compare with a district survey in one country.</a:t>
            </a:r>
          </a:p>
        </p:txBody>
      </p:sp>
      <p:pic>
        <p:nvPicPr>
          <p:cNvPr id="11" name="Picture 10" descr="rotate_blue.png"/>
          <p:cNvPicPr>
            <a:picLocks noChangeAspect="1"/>
          </p:cNvPicPr>
          <p:nvPr/>
        </p:nvPicPr>
        <p:blipFill>
          <a:blip r:embed="rId6"/>
          <a:stretch>
            <a:fillRect/>
          </a:stretch>
        </p:blipFill>
        <p:spPr>
          <a:xfrm>
            <a:off x="1069848" y="4991100"/>
            <a:ext cx="502920" cy="502920"/>
          </a:xfrm>
          <a:prstGeom prst="rect">
            <a:avLst/>
          </a:prstGeom>
        </p:spPr>
      </p:pic>
      <p:sp>
        <p:nvSpPr>
          <p:cNvPr id="12" name="TextBox 11"/>
          <p:cNvSpPr txBox="1"/>
          <p:nvPr/>
        </p:nvSpPr>
        <p:spPr>
          <a:xfrm>
            <a:off x="17556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Rerun the national track; finish the product</a:t>
            </a:r>
          </a:p>
          <a:p>
            <a:pPr algn="l">
              <a:spcBef>
                <a:spcPts val="300"/>
              </a:spcBef>
            </a:pPr>
            <a:r>
              <a:rPr sz="1200" b="0">
                <a:solidFill>
                  <a:srgbClr val="333333"/>
                </a:solidFill>
                <a:latin typeface="Calibri"/>
              </a:rPr>
              <a:t>Shareable dashboard views, the geostatistical prevalence where a survey exists, plain-language predictor descriptions.</a:t>
            </a:r>
          </a:p>
        </p:txBody>
      </p:sp>
      <p:sp>
        <p:nvSpPr>
          <p:cNvPr id="13" name="Rounded Rectangle 12"/>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circle-question_white.png"/>
          <p:cNvPicPr>
            <a:picLocks noChangeAspect="1"/>
          </p:cNvPicPr>
          <p:nvPr/>
        </p:nvPicPr>
        <p:blipFill>
          <a:blip r:embed="rId7"/>
          <a:stretch>
            <a:fillRect/>
          </a:stretch>
        </p:blipFill>
        <p:spPr>
          <a:xfrm>
            <a:off x="6510528" y="1810512"/>
            <a:ext cx="402336" cy="402336"/>
          </a:xfrm>
          <a:prstGeom prst="rect">
            <a:avLst/>
          </a:prstGeom>
        </p:spPr>
      </p:pic>
      <p:sp>
        <p:nvSpPr>
          <p:cNvPr id="16" name="TextBox 15"/>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Open questions</a:t>
            </a:r>
          </a:p>
        </p:txBody>
      </p:sp>
      <p:pic>
        <p:nvPicPr>
          <p:cNvPr id="17" name="Picture 16" descr="gauge-high_blue.png"/>
          <p:cNvPicPr>
            <a:picLocks noChangeAspect="1"/>
          </p:cNvPicPr>
          <p:nvPr/>
        </p:nvPicPr>
        <p:blipFill>
          <a:blip r:embed="rId8"/>
          <a:stretch>
            <a:fillRect/>
          </a:stretch>
        </p:blipFill>
        <p:spPr>
          <a:xfrm>
            <a:off x="6556248" y="2735580"/>
            <a:ext cx="502920" cy="502920"/>
          </a:xfrm>
          <a:prstGeom prst="rect">
            <a:avLst/>
          </a:prstGeom>
        </p:spPr>
      </p:pic>
      <p:sp>
        <p:nvSpPr>
          <p:cNvPr id="18" name="TextBox 17"/>
          <p:cNvSpPr txBox="1"/>
          <p:nvPr/>
        </p:nvSpPr>
        <p:spPr>
          <a:xfrm>
            <a:off x="72420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What rank correlation is sufficient to act on?</a:t>
            </a:r>
          </a:p>
        </p:txBody>
      </p:sp>
      <p:pic>
        <p:nvPicPr>
          <p:cNvPr id="19" name="Picture 18" descr="coins_blue.png"/>
          <p:cNvPicPr>
            <a:picLocks noChangeAspect="1"/>
          </p:cNvPicPr>
          <p:nvPr/>
        </p:nvPicPr>
        <p:blipFill>
          <a:blip r:embed="rId9"/>
          <a:stretch>
            <a:fillRect/>
          </a:stretch>
        </p:blipFill>
        <p:spPr>
          <a:xfrm>
            <a:off x="6556248" y="3863340"/>
            <a:ext cx="502920" cy="502920"/>
          </a:xfrm>
          <a:prstGeom prst="rect">
            <a:avLst/>
          </a:prstGeom>
        </p:spPr>
      </p:pic>
      <p:sp>
        <p:nvSpPr>
          <p:cNvPr id="20" name="TextBox 19"/>
          <p:cNvSpPr txBox="1"/>
          <p:nvPr/>
        </p:nvSpPr>
        <p:spPr>
          <a:xfrm>
            <a:off x="72420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Which national number is the cheapest honest anchor?</a:t>
            </a:r>
          </a:p>
        </p:txBody>
      </p:sp>
      <p:pic>
        <p:nvPicPr>
          <p:cNvPr id="21" name="Picture 20" descr="ruler_blue.png"/>
          <p:cNvPicPr>
            <a:picLocks noChangeAspect="1"/>
          </p:cNvPicPr>
          <p:nvPr/>
        </p:nvPicPr>
        <p:blipFill>
          <a:blip r:embed="rId10"/>
          <a:stretch>
            <a:fillRect/>
          </a:stretch>
        </p:blipFill>
        <p:spPr>
          <a:xfrm>
            <a:off x="6556248" y="4991100"/>
            <a:ext cx="502920" cy="502920"/>
          </a:xfrm>
          <a:prstGeom prst="rect">
            <a:avLst/>
          </a:prstGeom>
        </p:spPr>
      </p:pic>
      <p:sp>
        <p:nvSpPr>
          <p:cNvPr id="22" name="TextBox 21"/>
          <p:cNvSpPr txBox="1"/>
          <p:nvPr/>
        </p:nvSpPr>
        <p:spPr>
          <a:xfrm>
            <a:off x="72420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Without new biomarker surveys, what benchmarks the models?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Appendix</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Sources, tiers and alignment</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14986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gridCol w="3822700">
                  <a:extLst>
                    <a:ext uri="{9D8B030D-6E8A-4147-A177-3AD203B41FA5}">
                      <a16:colId xmlns:a16="http://schemas.microsoft.com/office/drawing/2014/main" val="20004"/>
                    </a:ext>
                  </a:extLst>
                </a:gridCol>
                <a:gridCol w="1257300">
                  <a:extLst>
                    <a:ext uri="{9D8B030D-6E8A-4147-A177-3AD203B41FA5}">
                      <a16:colId xmlns:a16="http://schemas.microsoft.com/office/drawing/2014/main" val="20005"/>
                    </a:ext>
                  </a:extLst>
                </a:gridCol>
              </a:tblGrid>
              <a:tr h="0">
                <a:tc>
                  <a:txBody>
                    <a:bodyPr/>
                    <a:lstStyle/>
                    <a:p>
                      <a:pPr marL="0" lvl="0" indent="0" algn="l">
                        <a:buNone/>
                      </a:pPr>
                      <a:r>
                        <a:rPr sz="1000"/>
                        <a:t>Source</a:t>
                      </a:r>
                    </a:p>
                  </a:txBody>
                  <a:tcPr/>
                </a:tc>
                <a:tc>
                  <a:txBody>
                    <a:bodyPr/>
                    <a:lstStyle/>
                    <a:p>
                      <a:pPr marL="0" lvl="0" indent="0" algn="r">
                        <a:buNone/>
                      </a:pPr>
                      <a:r>
                        <a:rPr sz="1000"/>
                        <a:t>Columns</a:t>
                      </a:r>
                    </a:p>
                  </a:txBody>
                  <a:tcPr/>
                </a:tc>
                <a:tc>
                  <a:txBody>
                    <a:bodyPr/>
                    <a:lstStyle/>
                    <a:p>
                      <a:pPr marL="0" lvl="0" indent="0" algn="l">
                        <a:buNone/>
                      </a:pPr>
                      <a:r>
                        <a:rPr sz="1000"/>
                        <a:t>Tier</a:t>
                      </a:r>
                    </a:p>
                  </a:txBody>
                  <a:tcPr/>
                </a:tc>
                <a:tc>
                  <a:txBody>
                    <a:bodyPr/>
                    <a:lstStyle/>
                    <a:p>
                      <a:pPr marL="0" lvl="0" indent="0" algn="r">
                        <a:buNone/>
                      </a:pPr>
                      <a:r>
                        <a:rPr sz="1000"/>
                        <a:t>Domains</a:t>
                      </a:r>
                    </a:p>
                  </a:txBody>
                  <a:tcPr/>
                </a:tc>
                <a:tc>
                  <a:txBody>
                    <a:bodyPr/>
                    <a:lstStyle/>
                    <a:p>
                      <a:pPr marL="0" lvl="0" indent="0" algn="l">
                        <a:buNone/>
                      </a:pPr>
                      <a:r>
                        <a:rPr sz="1000"/>
                        <a:t>Year rule</a:t>
                      </a:r>
                    </a:p>
                  </a:txBody>
                  <a:tcPr/>
                </a:tc>
                <a:tc>
                  <a:txBody>
                    <a:bodyPr/>
                    <a:lstStyle/>
                    <a:p>
                      <a:pPr marL="0" lvl="0" indent="0" algn="l">
                        <a:buNone/>
                      </a:pPr>
                      <a:r>
                        <a:rPr sz="1000"/>
                        <a:t>Largest gap (years)</a:t>
                      </a:r>
                    </a:p>
                  </a:txBody>
                  <a:tcPr/>
                </a:tc>
                <a:extLst>
                  <a:ext uri="{0D108BD9-81ED-4DB2-BD59-A6C34878D82A}">
                    <a16:rowId xmlns:a16="http://schemas.microsoft.com/office/drawing/2014/main" val="10000"/>
                  </a:ext>
                </a:extLst>
              </a:tr>
              <a:tr h="0">
                <a:tc>
                  <a:txBody>
                    <a:bodyPr/>
                    <a:lstStyle/>
                    <a:p>
                      <a:pPr marL="0" lvl="0" indent="0" algn="l">
                        <a:buNone/>
                      </a:pPr>
                      <a:r>
                        <a:rPr sz="1000"/>
                        <a:t>DHS indicators</a:t>
                      </a:r>
                    </a:p>
                  </a:txBody>
                  <a:tcPr/>
                </a:tc>
                <a:tc>
                  <a:txBody>
                    <a:bodyPr/>
                    <a:lstStyle/>
                    <a:p>
                      <a:pPr marL="0" lvl="0" indent="0" algn="r">
                        <a:buNone/>
                      </a:pPr>
                      <a:r>
                        <a:rPr sz="1000"/>
                        <a:t>150</a:t>
                      </a:r>
                    </a:p>
                  </a:txBody>
                  <a:tcPr/>
                </a:tc>
                <a:tc>
                  <a:txBody>
                    <a:bodyPr/>
                    <a:lstStyle/>
                    <a:p>
                      <a:pPr marL="0" lvl="0" indent="0" algn="l">
                        <a:buNone/>
                      </a:pPr>
                      <a:r>
                        <a:rPr sz="1000"/>
                        <a:t>DHS (access agreement)</a:t>
                      </a:r>
                    </a:p>
                  </a:txBody>
                  <a:tcPr/>
                </a:tc>
                <a:tc>
                  <a:txBody>
                    <a:bodyPr/>
                    <a:lstStyle/>
                    <a:p>
                      <a:pPr marL="0" lvl="0" indent="0" algn="r">
                        <a:buNone/>
                      </a:pPr>
                      <a:r>
                        <a:rPr sz="1000"/>
                        <a:t>16</a:t>
                      </a:r>
                    </a:p>
                  </a:txBody>
                  <a:tcPr/>
                </a:tc>
                <a:tc>
                  <a:txBody>
                    <a:bodyPr/>
                    <a:lstStyle/>
                    <a:p>
                      <a:pPr marL="0" lvl="0" indent="0" algn="l">
                        <a:buNone/>
                      </a:pPr>
                      <a:r>
                        <a:rPr sz="1000"/>
                        <a:t>dhs_round</a:t>
                      </a:r>
                    </a:p>
                  </a:txBody>
                  <a:tcPr/>
                </a:tc>
                <a:tc>
                  <a:txBody>
                    <a:bodyPr/>
                    <a:lstStyle/>
                    <a:p>
                      <a:pPr marL="0" lvl="0" indent="0" algn="l">
                        <a:buNone/>
                      </a:pPr>
                      <a:r>
                        <a:rPr sz="1000"/>
                        <a:t>3</a:t>
                      </a:r>
                    </a:p>
                  </a:txBody>
                  <a:tcPr/>
                </a:tc>
                <a:extLst>
                  <a:ext uri="{0D108BD9-81ED-4DB2-BD59-A6C34878D82A}">
                    <a16:rowId xmlns:a16="http://schemas.microsoft.com/office/drawing/2014/main" val="10001"/>
                  </a:ext>
                </a:extLst>
              </a:tr>
              <a:tr h="0">
                <a:tc>
                  <a:txBody>
                    <a:bodyPr/>
                    <a:lstStyle/>
                    <a:p>
                      <a:pPr marL="0" lvl="0" indent="0" algn="l">
                        <a:buNone/>
                      </a:pPr>
                      <a:r>
                        <a:rPr sz="1000"/>
                        <a:t>Earth Engine: climate, land, built environment</a:t>
                      </a:r>
                    </a:p>
                  </a:txBody>
                  <a:tcPr/>
                </a:tc>
                <a:tc>
                  <a:txBody>
                    <a:bodyPr/>
                    <a:lstStyle/>
                    <a:p>
                      <a:pPr marL="0" lvl="0" indent="0" algn="r">
                        <a:buNone/>
                      </a:pPr>
                      <a:r>
                        <a:rPr sz="1000"/>
                        <a:t>80</a:t>
                      </a:r>
                    </a:p>
                  </a:txBody>
                  <a:tcPr/>
                </a:tc>
                <a:tc>
                  <a:txBody>
                    <a:bodyPr/>
                    <a:lstStyle/>
                    <a:p>
                      <a:pPr marL="0" lvl="0" indent="0" algn="l">
                        <a:buNone/>
                      </a:pPr>
                      <a:r>
                        <a:rPr sz="1000"/>
                        <a:t>Open data</a:t>
                      </a:r>
                    </a:p>
                  </a:txBody>
                  <a:tcPr/>
                </a:tc>
                <a:tc>
                  <a:txBody>
                    <a:bodyPr/>
                    <a:lstStyle/>
                    <a:p>
                      <a:pPr marL="0" lvl="0" indent="0" algn="r">
                        <a:buNone/>
                      </a:pPr>
                      <a:r>
                        <a:rPr sz="1000"/>
                        <a:t>4</a:t>
                      </a:r>
                    </a:p>
                  </a:txBody>
                  <a:tcPr/>
                </a:tc>
                <a:tc>
                  <a:txBody>
                    <a:bodyPr/>
                    <a:lstStyle/>
                    <a:p>
                      <a:pPr marL="0" lvl="0" indent="0" algn="l">
                        <a:buNone/>
                      </a:pPr>
                      <a:r>
                        <a:rPr sz="1000"/>
                        <a:t>access_2019, ccnl_2013, clim_anomaly, clim_normals, gee_t…</a:t>
                      </a:r>
                    </a:p>
                  </a:txBody>
                  <a:tcPr/>
                </a:tc>
                <a:tc>
                  <a:txBody>
                    <a:bodyPr/>
                    <a:lstStyle/>
                    <a:p>
                      <a:pPr marL="0" lvl="0" indent="0" algn="l">
                        <a:buNone/>
                      </a:pPr>
                      <a:r>
                        <a:rPr sz="1000"/>
                        <a:t>6</a:t>
                      </a:r>
                    </a:p>
                  </a:txBody>
                  <a:tcPr/>
                </a:tc>
                <a:extLst>
                  <a:ext uri="{0D108BD9-81ED-4DB2-BD59-A6C34878D82A}">
                    <a16:rowId xmlns:a16="http://schemas.microsoft.com/office/drawing/2014/main" val="10002"/>
                  </a:ext>
                </a:extLst>
              </a:tr>
              <a:tr h="0">
                <a:tc>
                  <a:txBody>
                    <a:bodyPr/>
                    <a:lstStyle/>
                    <a:p>
                      <a:pPr marL="0" lvl="0" indent="0" algn="l">
                        <a:buNone/>
                      </a:pPr>
                      <a:r>
                        <a:rPr sz="1000"/>
                        <a:t>AlphaEarth satellite embedding</a:t>
                      </a:r>
                    </a:p>
                  </a:txBody>
                  <a:tcPr/>
                </a:tc>
                <a:tc>
                  <a:txBody>
                    <a:bodyPr/>
                    <a:lstStyle/>
                    <a:p>
                      <a:pPr marL="0" lvl="0" indent="0" algn="r">
                        <a:buNone/>
                      </a:pPr>
                      <a:r>
                        <a:rPr sz="1000"/>
                        <a:t>64</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alphaearth_2017</a:t>
                      </a:r>
                    </a:p>
                  </a:txBody>
                  <a:tcPr/>
                </a:tc>
                <a:tc>
                  <a:txBody>
                    <a:bodyPr/>
                    <a:lstStyle/>
                    <a:p>
                      <a:pPr marL="0" lvl="0" indent="0" algn="l">
                        <a:buNone/>
                      </a:pPr>
                      <a:r>
                        <a:rPr sz="1000"/>
                        <a:t>4</a:t>
                      </a:r>
                    </a:p>
                  </a:txBody>
                  <a:tcPr/>
                </a:tc>
                <a:extLst>
                  <a:ext uri="{0D108BD9-81ED-4DB2-BD59-A6C34878D82A}">
                    <a16:rowId xmlns:a16="http://schemas.microsoft.com/office/drawing/2014/main" val="10003"/>
                  </a:ext>
                </a:extLst>
              </a:tr>
              <a:tr h="0">
                <a:tc>
                  <a:txBody>
                    <a:bodyPr/>
                    <a:lstStyle/>
                    <a:p>
                      <a:pPr marL="0" lvl="0" indent="0" algn="l">
                        <a:buNone/>
                      </a:pPr>
                      <a:r>
                        <a:rPr sz="1000"/>
                        <a:t>SoilGrids / iSDA soil</a:t>
                      </a:r>
                    </a:p>
                  </a:txBody>
                  <a:tcPr/>
                </a:tc>
                <a:tc>
                  <a:txBody>
                    <a:bodyPr/>
                    <a:lstStyle/>
                    <a:p>
                      <a:pPr marL="0" lvl="0" indent="0" algn="r">
                        <a:buNone/>
                      </a:pPr>
                      <a:r>
                        <a:rPr sz="1000"/>
                        <a:t>45</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soil_static</a:t>
                      </a:r>
                    </a:p>
                  </a:txBody>
                  <a:tcPr/>
                </a:tc>
                <a:tc>
                  <a:txBody>
                    <a:bodyPr/>
                    <a:lstStyle/>
                    <a:p>
                      <a:pPr marL="0" lvl="0" indent="0" algn="l">
                        <a:buNone/>
                      </a:pPr>
                      <a:r>
                        <a:rPr sz="1000"/>
                        <a:t>static</a:t>
                      </a:r>
                    </a:p>
                  </a:txBody>
                  <a:tcPr/>
                </a:tc>
                <a:extLst>
                  <a:ext uri="{0D108BD9-81ED-4DB2-BD59-A6C34878D82A}">
                    <a16:rowId xmlns:a16="http://schemas.microsoft.com/office/drawing/2014/main" val="10004"/>
                  </a:ext>
                </a:extLst>
              </a:tr>
              <a:tr h="0">
                <a:tc>
                  <a:txBody>
                    <a:bodyPr/>
                    <a:lstStyle/>
                    <a:p>
                      <a:pPr marL="0" lvl="0" indent="0" algn="l">
                        <a:buNone/>
                      </a:pPr>
                      <a:r>
                        <a:rPr sz="1000"/>
                        <a:t>IHME modelled surfaces</a:t>
                      </a:r>
                    </a:p>
                  </a:txBody>
                  <a:tcPr/>
                </a:tc>
                <a:tc>
                  <a:txBody>
                    <a:bodyPr/>
                    <a:lstStyle/>
                    <a:p>
                      <a:pPr marL="0" lvl="0" indent="0" algn="r">
                        <a:buNone/>
                      </a:pPr>
                      <a:r>
                        <a:rPr sz="1000"/>
                        <a:t>34</a:t>
                      </a:r>
                    </a:p>
                  </a:txBody>
                  <a:tcPr/>
                </a:tc>
                <a:tc>
                  <a:txBody>
                    <a:bodyPr/>
                    <a:lstStyle/>
                    <a:p>
                      <a:pPr marL="0" lvl="0" indent="0" algn="l">
                        <a:buNone/>
                      </a:pPr>
                      <a:r>
                        <a:rPr sz="1000"/>
                        <a:t>Open data</a:t>
                      </a:r>
                    </a:p>
                  </a:txBody>
                  <a:tcPr/>
                </a:tc>
                <a:tc>
                  <a:txBody>
                    <a:bodyPr/>
                    <a:lstStyle/>
                    <a:p>
                      <a:pPr marL="0" lvl="0" indent="0" algn="r">
                        <a:buNone/>
                      </a:pPr>
                      <a:r>
                        <a:rPr sz="1000"/>
                        <a:t>7</a:t>
                      </a:r>
                    </a:p>
                  </a:txBody>
                  <a:tcPr/>
                </a:tc>
                <a:tc>
                  <a:txBody>
                    <a:bodyPr/>
                    <a:lstStyle/>
                    <a:p>
                      <a:pPr marL="0" lvl="0" indent="0" algn="l">
                        <a:buNone/>
                      </a:pPr>
                      <a:r>
                        <a:rPr sz="1000"/>
                        <a:t>ihme_to_2017, ihme_to_2018, ihme_to_2019</a:t>
                      </a:r>
                    </a:p>
                  </a:txBody>
                  <a:tcPr/>
                </a:tc>
                <a:tc>
                  <a:txBody>
                    <a:bodyPr/>
                    <a:lstStyle/>
                    <a:p>
                      <a:pPr marL="0" lvl="0" indent="0" algn="l">
                        <a:buNone/>
                      </a:pPr>
                      <a:r>
                        <a:rPr sz="1000"/>
                        <a:t>1</a:t>
                      </a:r>
                    </a:p>
                  </a:txBody>
                  <a:tcPr/>
                </a:tc>
                <a:extLst>
                  <a:ext uri="{0D108BD9-81ED-4DB2-BD59-A6C34878D82A}">
                    <a16:rowId xmlns:a16="http://schemas.microsoft.com/office/drawing/2014/main" val="10005"/>
                  </a:ext>
                </a:extLst>
              </a:tr>
              <a:tr h="0">
                <a:tc>
                  <a:txBody>
                    <a:bodyPr/>
                    <a:lstStyle/>
                    <a:p>
                      <a:pPr marL="0" lvl="0" indent="0" algn="l">
                        <a:buNone/>
                      </a:pPr>
                      <a:r>
                        <a:rPr sz="1000"/>
                        <a:t>MICS microdata</a:t>
                      </a:r>
                    </a:p>
                  </a:txBody>
                  <a:tcPr/>
                </a:tc>
                <a:tc>
                  <a:txBody>
                    <a:bodyPr/>
                    <a:lstStyle/>
                    <a:p>
                      <a:pPr marL="0" lvl="0" indent="0" algn="r">
                        <a:buNone/>
                      </a:pPr>
                      <a:r>
                        <a:rPr sz="1000"/>
                        <a:t>30</a:t>
                      </a:r>
                    </a:p>
                  </a:txBody>
                  <a:tcPr/>
                </a:tc>
                <a:tc>
                  <a:txBody>
                    <a:bodyPr/>
                    <a:lstStyle/>
                    <a:p>
                      <a:pPr marL="0" lvl="0" indent="0" algn="l">
                        <a:buNone/>
                      </a:pPr>
                      <a:r>
                        <a:rPr sz="1000"/>
                        <a:t>Public survey microdata</a:t>
                      </a:r>
                    </a:p>
                  </a:txBody>
                  <a:tcPr/>
                </a:tc>
                <a:tc>
                  <a:txBody>
                    <a:bodyPr/>
                    <a:lstStyle/>
                    <a:p>
                      <a:pPr marL="0" lvl="0" indent="0" algn="r">
                        <a:buNone/>
                      </a:pPr>
                      <a:r>
                        <a:rPr sz="1000"/>
                        <a:t>7</a:t>
                      </a:r>
                    </a:p>
                  </a:txBody>
                  <a:tcPr/>
                </a:tc>
                <a:tc>
                  <a:txBody>
                    <a:bodyPr/>
                    <a:lstStyle/>
                    <a:p>
                      <a:pPr marL="0" lvl="0" indent="0" algn="l">
                        <a:buNone/>
                      </a:pPr>
                      <a:r>
                        <a:rPr sz="1000"/>
                        <a:t>mics_microdata</a:t>
                      </a:r>
                    </a:p>
                  </a:txBody>
                  <a:tcPr/>
                </a:tc>
                <a:tc>
                  <a:txBody>
                    <a:bodyPr/>
                    <a:lstStyle/>
                    <a:p>
                      <a:pPr marL="0" lvl="0" indent="0" algn="l">
                        <a:buNone/>
                      </a:pPr>
                      <a:r>
                        <a:rPr sz="1000"/>
                        <a:t>4</a:t>
                      </a:r>
                    </a:p>
                  </a:txBody>
                  <a:tcPr/>
                </a:tc>
                <a:extLst>
                  <a:ext uri="{0D108BD9-81ED-4DB2-BD59-A6C34878D82A}">
                    <a16:rowId xmlns:a16="http://schemas.microsoft.com/office/drawing/2014/main" val="10006"/>
                  </a:ext>
                </a:extLst>
              </a:tr>
              <a:tr h="0">
                <a:tc>
                  <a:txBody>
                    <a:bodyPr/>
                    <a:lstStyle/>
                    <a:p>
                      <a:pPr marL="0" lvl="0" indent="0" algn="l">
                        <a:buNone/>
                      </a:pPr>
                      <a:r>
                        <a:rPr sz="1000"/>
                        <a:t>GFDx fortification</a:t>
                      </a:r>
                    </a:p>
                  </a:txBody>
                  <a:tcPr/>
                </a:tc>
                <a:tc>
                  <a:txBody>
                    <a:bodyPr/>
                    <a:lstStyle/>
                    <a:p>
                      <a:pPr marL="0" lvl="0" indent="0" algn="r">
                        <a:buNone/>
                      </a:pPr>
                      <a:r>
                        <a:rPr sz="1000"/>
                        <a:t>27</a:t>
                      </a:r>
                    </a:p>
                  </a:txBody>
                  <a:tcPr/>
                </a:tc>
                <a:tc>
                  <a:txBody>
                    <a:bodyPr/>
                    <a:lstStyle/>
                    <a:p>
                      <a:pPr marL="0" lvl="0" indent="0" algn="l">
                        <a:buNone/>
                      </a:pPr>
                      <a:r>
                        <a:rPr sz="1000"/>
                        <a:t>Open data</a:t>
                      </a:r>
                    </a:p>
                  </a:txBody>
                  <a:tcPr/>
                </a:tc>
                <a:tc>
                  <a:txBody>
                    <a:bodyPr/>
                    <a:lstStyle/>
                    <a:p>
                      <a:pPr marL="0" lvl="0" indent="0" algn="r">
                        <a:buNone/>
                      </a:pPr>
                      <a:r>
                        <a:rPr sz="1000"/>
                        <a:t>3</a:t>
                      </a:r>
                    </a:p>
                  </a:txBody>
                  <a:tcPr/>
                </a:tc>
                <a:tc>
                  <a:txBody>
                    <a:bodyPr/>
                    <a:lstStyle/>
                    <a:p>
                      <a:pPr marL="0" lvl="0" indent="0" algn="l">
                        <a:buNone/>
                      </a:pPr>
                      <a:r>
                        <a:rPr sz="1000"/>
                        <a:t>gfdx_ntd_2015, gfdx_survey_year, gfdx_who_anaemia_2011, g…</a:t>
                      </a:r>
                    </a:p>
                  </a:txBody>
                  <a:tcPr/>
                </a:tc>
                <a:tc>
                  <a:txBody>
                    <a:bodyPr/>
                    <a:lstStyle/>
                    <a:p>
                      <a:pPr marL="0" lvl="0" indent="0" algn="l">
                        <a:buNone/>
                      </a:pPr>
                      <a:r>
                        <a:rPr sz="1000"/>
                        <a:t>6</a:t>
                      </a:r>
                    </a:p>
                  </a:txBody>
                  <a:tcPr/>
                </a:tc>
                <a:extLst>
                  <a:ext uri="{0D108BD9-81ED-4DB2-BD59-A6C34878D82A}">
                    <a16:rowId xmlns:a16="http://schemas.microsoft.com/office/drawing/2014/main" val="10007"/>
                  </a:ext>
                </a:extLst>
              </a:tr>
              <a:tr h="0">
                <a:tc>
                  <a:txBody>
                    <a:bodyPr/>
                    <a:lstStyle/>
                    <a:p>
                      <a:pPr marL="0" lvl="0" indent="0" algn="l">
                        <a:buNone/>
                      </a:pPr>
                      <a:r>
                        <a:rPr sz="1000"/>
                        <a:t>MICS via WHO HEAT</a:t>
                      </a:r>
                    </a:p>
                  </a:txBody>
                  <a:tcPr/>
                </a:tc>
                <a:tc>
                  <a:txBody>
                    <a:bodyPr/>
                    <a:lstStyle/>
                    <a:p>
                      <a:pPr marL="0" lvl="0" indent="0" algn="r">
                        <a:buNone/>
                      </a:pPr>
                      <a:r>
                        <a:rPr sz="1000"/>
                        <a:t>19</a:t>
                      </a:r>
                    </a:p>
                  </a:txBody>
                  <a:tcPr/>
                </a:tc>
                <a:tc>
                  <a:txBody>
                    <a:bodyPr/>
                    <a:lstStyle/>
                    <a:p>
                      <a:pPr marL="0" lvl="0" indent="0" algn="l">
                        <a:buNone/>
                      </a:pPr>
                      <a:r>
                        <a:rPr sz="1000"/>
                        <a:t>Public survey microdata</a:t>
                      </a:r>
                    </a:p>
                  </a:txBody>
                  <a:tcPr/>
                </a:tc>
                <a:tc>
                  <a:txBody>
                    <a:bodyPr/>
                    <a:lstStyle/>
                    <a:p>
                      <a:pPr marL="0" lvl="0" indent="0" algn="r">
                        <a:buNone/>
                      </a:pPr>
                      <a:r>
                        <a:rPr sz="1000"/>
                        <a:t>1</a:t>
                      </a:r>
                    </a:p>
                  </a:txBody>
                  <a:tcPr/>
                </a:tc>
                <a:tc>
                  <a:txBody>
                    <a:bodyPr/>
                    <a:lstStyle/>
                    <a:p>
                      <a:pPr marL="0" lvl="0" indent="0" algn="l">
                        <a:buNone/>
                      </a:pPr>
                      <a:r>
                        <a:rPr sz="1000"/>
                        <a:t>mics_heat_round</a:t>
                      </a:r>
                    </a:p>
                  </a:txBody>
                  <a:tcPr/>
                </a:tc>
                <a:tc>
                  <a:txBody>
                    <a:bodyPr/>
                    <a:lstStyle/>
                    <a:p>
                      <a:pPr marL="0" lvl="0" indent="0" algn="l">
                        <a:buNone/>
                      </a:pPr>
                      <a:r>
                        <a:rPr sz="1000"/>
                        <a:t>3</a:t>
                      </a:r>
                    </a:p>
                  </a:txBody>
                  <a:tcPr/>
                </a:tc>
                <a:extLst>
                  <a:ext uri="{0D108BD9-81ED-4DB2-BD59-A6C34878D82A}">
                    <a16:rowId xmlns:a16="http://schemas.microsoft.com/office/drawing/2014/main" val="10008"/>
                  </a:ext>
                </a:extLst>
              </a:tr>
              <a:tr h="0">
                <a:tc>
                  <a:txBody>
                    <a:bodyPr/>
                    <a:lstStyle/>
                    <a:p>
                      <a:pPr marL="0" lvl="0" indent="0" algn="l">
                        <a:buNone/>
                      </a:pPr>
                      <a:r>
                        <a:rPr sz="1000"/>
                        <a:t>WorldPop / GHS / RWI</a:t>
                      </a:r>
                    </a:p>
                  </a:txBody>
                  <a:tcPr/>
                </a:tc>
                <a:tc>
                  <a:txBody>
                    <a:bodyPr/>
                    <a:lstStyle/>
                    <a:p>
                      <a:pPr marL="0" lvl="0" indent="0" algn="r">
                        <a:buNone/>
                      </a:pPr>
                      <a:r>
                        <a:rPr sz="1000"/>
                        <a:t>18</a:t>
                      </a:r>
                    </a:p>
                  </a:txBody>
                  <a:tcPr/>
                </a:tc>
                <a:tc>
                  <a:txBody>
                    <a:bodyPr/>
                    <a:lstStyle/>
                    <a:p>
                      <a:pPr marL="0" lvl="0" indent="0" algn="l">
                        <a:buNone/>
                      </a:pPr>
                      <a:r>
                        <a:rPr sz="1000"/>
                        <a:t>Open data</a:t>
                      </a:r>
                    </a:p>
                  </a:txBody>
                  <a:tcPr/>
                </a:tc>
                <a:tc>
                  <a:txBody>
                    <a:bodyPr/>
                    <a:lstStyle/>
                    <a:p>
                      <a:pPr marL="0" lvl="0" indent="0" algn="r">
                        <a:buNone/>
                      </a:pPr>
                      <a:r>
                        <a:rPr sz="1000"/>
                        <a:t>4</a:t>
                      </a:r>
                    </a:p>
                  </a:txBody>
                  <a:tcPr/>
                </a:tc>
                <a:tc>
                  <a:txBody>
                    <a:bodyPr/>
                    <a:lstStyle/>
                    <a:p>
                      <a:pPr marL="0" lvl="0" indent="0" algn="l">
                        <a:buNone/>
                      </a:pPr>
                      <a:r>
                        <a:rPr sz="1000"/>
                        <a:t>acled_36m, ghsl_epoch, rwi_2019, wpop_2020, wpop_density_sy</a:t>
                      </a:r>
                    </a:p>
                  </a:txBody>
                  <a:tcPr/>
                </a:tc>
                <a:tc>
                  <a:txBody>
                    <a:bodyPr/>
                    <a:lstStyle/>
                    <a:p>
                      <a:pPr marL="0" lvl="0" indent="0" algn="l">
                        <a:buNone/>
                      </a:pPr>
                      <a:r>
                        <a:rPr sz="1000"/>
                        <a:t>7</a:t>
                      </a:r>
                    </a:p>
                  </a:txBody>
                  <a:tcPr/>
                </a:tc>
                <a:extLst>
                  <a:ext uri="{0D108BD9-81ED-4DB2-BD59-A6C34878D82A}">
                    <a16:rowId xmlns:a16="http://schemas.microsoft.com/office/drawing/2014/main" val="10009"/>
                  </a:ext>
                </a:extLst>
              </a:tr>
              <a:tr h="0">
                <a:tc>
                  <a:txBody>
                    <a:bodyPr/>
                    <a:lstStyle/>
                    <a:p>
                      <a:pPr marL="0" lvl="0" indent="0" algn="l">
                        <a:buNone/>
                      </a:pPr>
                      <a:r>
                        <a:rPr sz="1000"/>
                        <a:t>Household budget surveys (HCES)</a:t>
                      </a:r>
                    </a:p>
                  </a:txBody>
                  <a:tcPr/>
                </a:tc>
                <a:tc>
                  <a:txBody>
                    <a:bodyPr/>
                    <a:lstStyle/>
                    <a:p>
                      <a:pPr marL="0" lvl="0" indent="0" algn="r">
                        <a:buNone/>
                      </a:pPr>
                      <a:r>
                        <a:rPr sz="1000"/>
                        <a:t>15</a:t>
                      </a:r>
                    </a:p>
                  </a:txBody>
                  <a:tcPr/>
                </a:tc>
                <a:tc>
                  <a:txBody>
                    <a:bodyPr/>
                    <a:lstStyle/>
                    <a:p>
                      <a:pPr marL="0" lvl="0" indent="0" algn="l">
                        <a:buNone/>
                      </a:pPr>
                      <a:r>
                        <a:rPr sz="1000"/>
                        <a:t>Public survey microdata</a:t>
                      </a:r>
                    </a:p>
                  </a:txBody>
                  <a:tcPr/>
                </a:tc>
                <a:tc>
                  <a:txBody>
                    <a:bodyPr/>
                    <a:lstStyle/>
                    <a:p>
                      <a:pPr marL="0" lvl="0" indent="0" algn="r">
                        <a:buNone/>
                      </a:pPr>
                      <a:r>
                        <a:rPr sz="1000"/>
                        <a:t>1</a:t>
                      </a:r>
                    </a:p>
                  </a:txBody>
                  <a:tcPr/>
                </a:tc>
                <a:tc>
                  <a:txBody>
                    <a:bodyPr/>
                    <a:lstStyle/>
                    <a:p>
                      <a:pPr marL="0" lvl="0" indent="0" algn="l">
                        <a:buNone/>
                      </a:pPr>
                      <a:r>
                        <a:rPr sz="1000"/>
                        <a:t>hces_year</a:t>
                      </a:r>
                    </a:p>
                  </a:txBody>
                  <a:tcPr/>
                </a:tc>
                <a:tc>
                  <a:txBody>
                    <a:bodyPr/>
                    <a:lstStyle/>
                    <a:p>
                      <a:pPr marL="0" lvl="0" indent="0" algn="l">
                        <a:buNone/>
                      </a:pPr>
                      <a:r>
                        <a:rPr sz="1000"/>
                        <a:t>3</a:t>
                      </a:r>
                    </a:p>
                  </a:txBody>
                  <a:tcPr/>
                </a:tc>
                <a:extLst>
                  <a:ext uri="{0D108BD9-81ED-4DB2-BD59-A6C34878D82A}">
                    <a16:rowId xmlns:a16="http://schemas.microsoft.com/office/drawing/2014/main" val="10010"/>
                  </a:ext>
                </a:extLst>
              </a:tr>
              <a:tr h="0">
                <a:tc>
                  <a:txBody>
                    <a:bodyPr/>
                    <a:lstStyle/>
                    <a:p>
                      <a:pPr marL="0" lvl="0" indent="0" algn="l">
                        <a:buNone/>
                      </a:pPr>
                      <a:r>
                        <a:rPr sz="1000"/>
                        <a:t>MapSPAM crops</a:t>
                      </a:r>
                    </a:p>
                  </a:txBody>
                  <a:tcPr/>
                </a:tc>
                <a:tc>
                  <a:txBody>
                    <a:bodyPr/>
                    <a:lstStyle/>
                    <a:p>
                      <a:pPr marL="0" lvl="0" indent="0" algn="r">
                        <a:buNone/>
                      </a:pPr>
                      <a:r>
                        <a:rPr sz="1000"/>
                        <a:t>12</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spam_2010</a:t>
                      </a:r>
                    </a:p>
                  </a:txBody>
                  <a:tcPr/>
                </a:tc>
                <a:tc>
                  <a:txBody>
                    <a:bodyPr/>
                    <a:lstStyle/>
                    <a:p>
                      <a:pPr marL="0" lvl="0" indent="0" algn="l">
                        <a:buNone/>
                      </a:pPr>
                      <a:r>
                        <a:rPr sz="1000"/>
                        <a:t>8</a:t>
                      </a:r>
                    </a:p>
                  </a:txBody>
                  <a:tcPr/>
                </a:tc>
                <a:extLst>
                  <a:ext uri="{0D108BD9-81ED-4DB2-BD59-A6C34878D82A}">
                    <a16:rowId xmlns:a16="http://schemas.microsoft.com/office/drawing/2014/main" val="10011"/>
                  </a:ext>
                </a:extLst>
              </a:tr>
              <a:tr h="0">
                <a:tc>
                  <a:txBody>
                    <a:bodyPr/>
                    <a:lstStyle/>
                    <a:p>
                      <a:pPr marL="0" lvl="0" indent="0" algn="l">
                        <a:buNone/>
                      </a:pPr>
                      <a:r>
                        <a:rPr sz="1000"/>
                        <a:t>Malaria Atlas Project</a:t>
                      </a:r>
                    </a:p>
                  </a:txBody>
                  <a:tcPr/>
                </a:tc>
                <a:tc>
                  <a:txBody>
                    <a:bodyPr/>
                    <a:lstStyle/>
                    <a:p>
                      <a:pPr marL="0" lvl="0" indent="0" algn="r">
                        <a:buNone/>
                      </a:pPr>
                      <a:r>
                        <a:rPr sz="1000"/>
                        <a:t>11</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map_blood_2012, map_survey_year</a:t>
                      </a:r>
                    </a:p>
                  </a:txBody>
                  <a:tcPr/>
                </a:tc>
                <a:tc>
                  <a:txBody>
                    <a:bodyPr/>
                    <a:lstStyle/>
                    <a:p>
                      <a:pPr marL="0" lvl="0" indent="0" algn="l">
                        <a:buNone/>
                      </a:pPr>
                      <a:r>
                        <a:rPr sz="1000"/>
                        <a:t>6</a:t>
                      </a:r>
                    </a:p>
                  </a:txBody>
                  <a:tcPr/>
                </a:tc>
                <a:extLst>
                  <a:ext uri="{0D108BD9-81ED-4DB2-BD59-A6C34878D82A}">
                    <a16:rowId xmlns:a16="http://schemas.microsoft.com/office/drawing/2014/main" val="10012"/>
                  </a:ext>
                </a:extLst>
              </a:tr>
              <a:tr h="0">
                <a:tc>
                  <a:txBody>
                    <a:bodyPr/>
                    <a:lstStyle/>
                    <a:p>
                      <a:pPr marL="0" lvl="0" indent="0" algn="l">
                        <a:buNone/>
                      </a:pPr>
                      <a:r>
                        <a:rPr sz="1000"/>
                        <a:t>Koppen / agro-ecological zones</a:t>
                      </a:r>
                    </a:p>
                  </a:txBody>
                  <a:tcPr/>
                </a:tc>
                <a:tc>
                  <a:txBody>
                    <a:bodyPr/>
                    <a:lstStyle/>
                    <a:p>
                      <a:pPr marL="0" lvl="0" indent="0" algn="r">
                        <a:buNone/>
                      </a:pPr>
                      <a:r>
                        <a:rPr sz="1000"/>
                        <a:t>9</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aez_static, koppen_static</a:t>
                      </a:r>
                    </a:p>
                  </a:txBody>
                  <a:tcPr/>
                </a:tc>
                <a:tc>
                  <a:txBody>
                    <a:bodyPr/>
                    <a:lstStyle/>
                    <a:p>
                      <a:pPr marL="0" lvl="0" indent="0" algn="l">
                        <a:buNone/>
                      </a:pPr>
                      <a:r>
                        <a:rPr sz="1000"/>
                        <a:t>static</a:t>
                      </a:r>
                    </a:p>
                  </a:txBody>
                  <a:tcPr/>
                </a:tc>
                <a:extLst>
                  <a:ext uri="{0D108BD9-81ED-4DB2-BD59-A6C34878D82A}">
                    <a16:rowId xmlns:a16="http://schemas.microsoft.com/office/drawing/2014/main" val="10013"/>
                  </a:ext>
                </a:extLst>
              </a:tr>
              <a:tr h="0">
                <a:tc>
                  <a:txBody>
                    <a:bodyPr/>
                    <a:lstStyle/>
                    <a:p>
                      <a:pPr marL="0" lvl="0" indent="0" algn="l">
                        <a:buNone/>
                      </a:pPr>
                      <a:r>
                        <a:rPr sz="1000"/>
                        <a:t>WFP market prices</a:t>
                      </a:r>
                    </a:p>
                  </a:txBody>
                  <a:tcPr/>
                </a:tc>
                <a:tc>
                  <a:txBody>
                    <a:bodyPr/>
                    <a:lstStyle/>
                    <a:p>
                      <a:pPr marL="0" lvl="0" indent="0" algn="r">
                        <a:buNone/>
                      </a:pPr>
                      <a:r>
                        <a:rPr sz="1000"/>
                        <a:t>9</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fprice_window</a:t>
                      </a:r>
                    </a:p>
                  </a:txBody>
                  <a:tcPr/>
                </a:tc>
                <a:tc>
                  <a:txBody>
                    <a:bodyPr/>
                    <a:lstStyle/>
                    <a:p>
                      <a:pPr marL="0" lvl="0" indent="0" algn="l">
                        <a:buNone/>
                      </a:pPr>
                      <a:r>
                        <a:rPr sz="1000"/>
                        <a:t>0</a:t>
                      </a:r>
                    </a:p>
                  </a:txBody>
                  <a:tcPr/>
                </a:tc>
                <a:extLst>
                  <a:ext uri="{0D108BD9-81ED-4DB2-BD59-A6C34878D82A}">
                    <a16:rowId xmlns:a16="http://schemas.microsoft.com/office/drawing/2014/main" val="10014"/>
                  </a:ext>
                </a:extLst>
              </a:tr>
              <a:tr h="0">
                <a:tc>
                  <a:txBody>
                    <a:bodyPr/>
                    <a:lstStyle/>
                    <a:p>
                      <a:pPr marL="0" lvl="0" indent="0" algn="l">
                        <a:buNone/>
                      </a:pPr>
                      <a:r>
                        <a:rPr sz="1000"/>
                        <a:t>FAOSTAT food balance (national)</a:t>
                      </a:r>
                    </a:p>
                  </a:txBody>
                  <a:tcPr/>
                </a:tc>
                <a:tc>
                  <a:txBody>
                    <a:bodyPr/>
                    <a:lstStyle/>
                    <a:p>
                      <a:pPr marL="0" lvl="0" indent="0" algn="r">
                        <a:buNone/>
                      </a:pPr>
                      <a:r>
                        <a:rPr sz="1000"/>
                        <a:t>8</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fao_supply</a:t>
                      </a:r>
                    </a:p>
                  </a:txBody>
                  <a:tcPr/>
                </a:tc>
                <a:tc>
                  <a:txBody>
                    <a:bodyPr/>
                    <a:lstStyle/>
                    <a:p>
                      <a:pPr marL="0" lvl="0" indent="0" algn="l">
                        <a:buNone/>
                      </a:pPr>
                      <a:r>
                        <a:rPr sz="1000"/>
                        <a:t>0</a:t>
                      </a:r>
                    </a:p>
                  </a:txBody>
                  <a:tcPr/>
                </a:tc>
                <a:extLst>
                  <a:ext uri="{0D108BD9-81ED-4DB2-BD59-A6C34878D82A}">
                    <a16:rowId xmlns:a16="http://schemas.microsoft.com/office/drawing/2014/main" val="10015"/>
                  </a:ext>
                </a:extLst>
              </a:tr>
              <a:tr h="0">
                <a:tc>
                  <a:txBody>
                    <a:bodyPr/>
                    <a:lstStyle/>
                    <a:p>
                      <a:pPr marL="0" lvl="0" indent="0" algn="l">
                        <a:buNone/>
                      </a:pPr>
                      <a:r>
                        <a:rPr sz="1000"/>
                        <a:t>Gridded Livestock of the World</a:t>
                      </a:r>
                    </a:p>
                  </a:txBody>
                  <a:tcPr/>
                </a:tc>
                <a:tc>
                  <a:txBody>
                    <a:bodyPr/>
                    <a:lstStyle/>
                    <a:p>
                      <a:pPr marL="0" lvl="0" indent="0" algn="r">
                        <a:buNone/>
                      </a:pPr>
                      <a:r>
                        <a:rPr sz="1000"/>
                        <a:t>8</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glw4</a:t>
                      </a:r>
                    </a:p>
                  </a:txBody>
                  <a:tcPr/>
                </a:tc>
                <a:tc>
                  <a:txBody>
                    <a:bodyPr/>
                    <a:lstStyle/>
                    <a:p>
                      <a:pPr marL="0" lvl="0" indent="0" algn="l">
                        <a:buNone/>
                      </a:pPr>
                      <a:r>
                        <a:rPr sz="1000"/>
                        <a:t>3</a:t>
                      </a:r>
                    </a:p>
                  </a:txBody>
                  <a:tcPr/>
                </a:tc>
                <a:extLst>
                  <a:ext uri="{0D108BD9-81ED-4DB2-BD59-A6C34878D82A}">
                    <a16:rowId xmlns:a16="http://schemas.microsoft.com/office/drawing/2014/main" val="10016"/>
                  </a:ext>
                </a:extLst>
              </a:tr>
              <a:tr h="0">
                <a:tc>
                  <a:txBody>
                    <a:bodyPr/>
                    <a:lstStyle/>
                    <a:p>
                      <a:pPr marL="0" lvl="0" indent="0" algn="l">
                        <a:buNone/>
                      </a:pPr>
                      <a:r>
                        <a:rPr sz="1000"/>
                        <a:t>Earth Engine: water and coast distance</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water_static</a:t>
                      </a:r>
                    </a:p>
                  </a:txBody>
                  <a:tcPr/>
                </a:tc>
                <a:tc>
                  <a:txBody>
                    <a:bodyPr/>
                    <a:lstStyle/>
                    <a:p>
                      <a:pPr marL="0" lvl="0" indent="0" algn="l">
                        <a:buNone/>
                      </a:pPr>
                      <a:r>
                        <a:rPr sz="1000"/>
                        <a:t>static</a:t>
                      </a:r>
                    </a:p>
                  </a:txBody>
                  <a:tcPr/>
                </a:tc>
                <a:extLst>
                  <a:ext uri="{0D108BD9-81ED-4DB2-BD59-A6C34878D82A}">
                    <a16:rowId xmlns:a16="http://schemas.microsoft.com/office/drawing/2014/main" val="10017"/>
                  </a:ext>
                </a:extLst>
              </a:tr>
              <a:tr h="0">
                <a:tc>
                  <a:txBody>
                    <a:bodyPr/>
                    <a:lstStyle/>
                    <a:p>
                      <a:pPr marL="0" lvl="0" indent="0" algn="l">
                        <a:buNone/>
                      </a:pPr>
                      <a:r>
                        <a:rPr sz="1000"/>
                        <a:t>MIMI dietary inadequacy (Ghana)</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mimi_glss7</a:t>
                      </a:r>
                    </a:p>
                  </a:txBody>
                  <a:tcPr/>
                </a:tc>
                <a:tc>
                  <a:txBody>
                    <a:bodyPr/>
                    <a:lstStyle/>
                    <a:p>
                      <a:pPr marL="0" lvl="0" indent="0" algn="l">
                        <a:buNone/>
                      </a:pPr>
                      <a:r>
                        <a:rPr sz="1000"/>
                        <a:t>1</a:t>
                      </a:r>
                    </a:p>
                  </a:txBody>
                  <a:tcPr/>
                </a:tc>
                <a:extLst>
                  <a:ext uri="{0D108BD9-81ED-4DB2-BD59-A6C34878D82A}">
                    <a16:rowId xmlns:a16="http://schemas.microsoft.com/office/drawing/2014/main" val="10018"/>
                  </a:ext>
                </a:extLst>
              </a:tr>
              <a:tr h="0">
                <a:tc>
                  <a:txBody>
                    <a:bodyPr/>
                    <a:lstStyle/>
                    <a:p>
                      <a:pPr marL="0" lvl="0" indent="0" algn="l">
                        <a:buNone/>
                      </a:pPr>
                      <a:r>
                        <a:rPr sz="1000"/>
                        <a:t>WHO ESPEN helminths</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espen_mda, espen_nearest</a:t>
                      </a:r>
                    </a:p>
                  </a:txBody>
                  <a:tcPr/>
                </a:tc>
                <a:tc>
                  <a:txBody>
                    <a:bodyPr/>
                    <a:lstStyle/>
                    <a:p>
                      <a:pPr marL="0" lvl="0" indent="0" algn="l">
                        <a:buNone/>
                      </a:pPr>
                      <a:r>
                        <a:rPr sz="1000"/>
                        <a:t>3</a:t>
                      </a:r>
                    </a:p>
                  </a:txBody>
                  <a:tcPr/>
                </a:tc>
                <a:extLst>
                  <a:ext uri="{0D108BD9-81ED-4DB2-BD59-A6C34878D82A}">
                    <a16:rowId xmlns:a16="http://schemas.microsoft.com/office/drawing/2014/main" val="10019"/>
                  </a:ext>
                </a:extLst>
              </a:tr>
              <a:tr h="0">
                <a:tc>
                  <a:txBody>
                    <a:bodyPr/>
                    <a:lstStyle/>
                    <a:p>
                      <a:pPr marL="0" lvl="0" indent="0" algn="l">
                        <a:buNone/>
                      </a:pPr>
                      <a:r>
                        <a:rPr sz="1000"/>
                        <a:t>World Bank RTFP prices</a:t>
                      </a:r>
                    </a:p>
                  </a:txBody>
                  <a:tcPr/>
                </a:tc>
                <a:tc>
                  <a:txBody>
                    <a:bodyPr/>
                    <a:lstStyle/>
                    <a:p>
                      <a:pPr marL="0" lvl="0" indent="0" algn="r">
                        <a:buNone/>
                      </a:pPr>
                      <a:r>
                        <a:rPr sz="1000"/>
                        <a:t>6</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rtfp_window</a:t>
                      </a:r>
                    </a:p>
                  </a:txBody>
                  <a:tcPr/>
                </a:tc>
                <a:tc>
                  <a:txBody>
                    <a:bodyPr/>
                    <a:lstStyle/>
                    <a:p>
                      <a:pPr marL="0" lvl="0" indent="0" algn="l">
                        <a:buNone/>
                      </a:pPr>
                      <a:r>
                        <a:rPr sz="1000"/>
                        <a:t>0</a:t>
                      </a:r>
                    </a:p>
                  </a:txBody>
                  <a:tcPr/>
                </a:tc>
                <a:extLst>
                  <a:ext uri="{0D108BD9-81ED-4DB2-BD59-A6C34878D82A}">
                    <a16:rowId xmlns:a16="http://schemas.microsoft.com/office/drawing/2014/main" val="10020"/>
                  </a:ext>
                </a:extLst>
              </a:tr>
              <a:tr h="0">
                <a:tc>
                  <a:txBody>
                    <a:bodyPr/>
                    <a:lstStyle/>
                    <a:p>
                      <a:pPr marL="0" lvl="0" indent="0" algn="l">
                        <a:buNone/>
                      </a:pPr>
                      <a:r>
                        <a:rPr sz="1000"/>
                        <a:t>WHO anaemia estimates</a:t>
                      </a:r>
                    </a:p>
                  </a:txBody>
                  <a:tcPr/>
                </a:tc>
                <a:tc>
                  <a:txBody>
                    <a:bodyPr/>
                    <a:lstStyle/>
                    <a:p>
                      <a:pPr marL="0" lvl="0" indent="0" algn="r">
                        <a:buNone/>
                      </a:pPr>
                      <a:r>
                        <a:rPr sz="1000"/>
                        <a:t>5</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who_anaemia_sy</a:t>
                      </a:r>
                    </a:p>
                  </a:txBody>
                  <a:tcPr/>
                </a:tc>
                <a:tc>
                  <a:txBody>
                    <a:bodyPr/>
                    <a:lstStyle/>
                    <a:p>
                      <a:pPr marL="0" lvl="0" indent="0" algn="l">
                        <a:buNone/>
                      </a:pPr>
                      <a:r>
                        <a:rPr sz="1000"/>
                        <a:t>0</a:t>
                      </a:r>
                    </a:p>
                  </a:txBody>
                  <a:tcPr/>
                </a:tc>
                <a:extLst>
                  <a:ext uri="{0D108BD9-81ED-4DB2-BD59-A6C34878D82A}">
                    <a16:rowId xmlns:a16="http://schemas.microsoft.com/office/drawing/2014/main" val="10021"/>
                  </a:ext>
                </a:extLst>
              </a:tr>
              <a:tr h="0">
                <a:tc>
                  <a:txBody>
                    <a:bodyPr/>
                    <a:lstStyle/>
                    <a:p>
                      <a:pPr marL="0" lvl="0" indent="0" algn="l">
                        <a:buNone/>
                      </a:pPr>
                      <a:r>
                        <a:rPr sz="1000"/>
                        <a:t>HFID food security</a:t>
                      </a:r>
                    </a:p>
                  </a:txBody>
                  <a:tcPr/>
                </a:tc>
                <a:tc>
                  <a:txBody>
                    <a:bodyPr/>
                    <a:lstStyle/>
                    <a:p>
                      <a:pPr marL="0" lvl="0" indent="0" algn="r">
                        <a:buNone/>
                      </a:pPr>
                      <a:r>
                        <a:rPr sz="1000"/>
                        <a:t>4</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fsec_window</a:t>
                      </a:r>
                    </a:p>
                  </a:txBody>
                  <a:tcPr/>
                </a:tc>
                <a:tc>
                  <a:txBody>
                    <a:bodyPr/>
                    <a:lstStyle/>
                    <a:p>
                      <a:pPr marL="0" lvl="0" indent="0" algn="l">
                        <a:buNone/>
                      </a:pPr>
                      <a:r>
                        <a:rPr sz="1000"/>
                        <a:t>0</a:t>
                      </a:r>
                    </a:p>
                  </a:txBody>
                  <a:tcPr/>
                </a:tc>
                <a:extLst>
                  <a:ext uri="{0D108BD9-81ED-4DB2-BD59-A6C34878D82A}">
                    <a16:rowId xmlns:a16="http://schemas.microsoft.com/office/drawing/2014/main" val="10022"/>
                  </a:ext>
                </a:extLst>
              </a:tr>
              <a:tr h="0">
                <a:tc>
                  <a:txBody>
                    <a:bodyPr/>
                    <a:lstStyle/>
                    <a:p>
                      <a:pPr marL="0" lvl="0" indent="0" algn="l">
                        <a:buNone/>
                      </a:pPr>
                      <a:r>
                        <a:rPr sz="1000"/>
                        <a:t>Global Data Lab HDI</a:t>
                      </a:r>
                    </a:p>
                  </a:txBody>
                  <a:tcPr/>
                </a:tc>
                <a:tc>
                  <a:txBody>
                    <a:bodyPr/>
                    <a:lstStyle/>
                    <a:p>
                      <a:pPr marL="0" lvl="0" indent="0" algn="r">
                        <a:buNone/>
                      </a:pPr>
                      <a:r>
                        <a:rPr sz="1000"/>
                        <a:t>2</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gdl_sy</a:t>
                      </a:r>
                    </a:p>
                  </a:txBody>
                  <a:tcPr/>
                </a:tc>
                <a:tc>
                  <a:txBody>
                    <a:bodyPr/>
                    <a:lstStyle/>
                    <a:p>
                      <a:pPr marL="0" lvl="0" indent="0" algn="l">
                        <a:buNone/>
                      </a:pPr>
                      <a:r>
                        <a:rPr sz="1000"/>
                        <a:t>0</a:t>
                      </a:r>
                    </a:p>
                  </a:txBody>
                  <a:tcPr/>
                </a:tc>
                <a:extLst>
                  <a:ext uri="{0D108BD9-81ED-4DB2-BD59-A6C34878D82A}">
                    <a16:rowId xmlns:a16="http://schemas.microsoft.com/office/drawing/2014/main" val="10023"/>
                  </a:ext>
                </a:extLst>
              </a:tr>
              <a:tr h="0">
                <a:tc>
                  <a:txBody>
                    <a:bodyPr/>
                    <a:lstStyle/>
                    <a:p>
                      <a:pPr marL="0" lvl="0" indent="0" algn="l">
                        <a:buNone/>
                      </a:pPr>
                      <a:r>
                        <a:rPr sz="1000"/>
                        <a:t>UNICEF vitamin A supplementation</a:t>
                      </a:r>
                    </a:p>
                  </a:txBody>
                  <a:tcPr/>
                </a:tc>
                <a:tc>
                  <a:txBody>
                    <a:bodyPr/>
                    <a:lstStyle/>
                    <a:p>
                      <a:pPr marL="0" lvl="0" indent="0" algn="r">
                        <a:buNone/>
                      </a:pPr>
                      <a:r>
                        <a:rPr sz="1000"/>
                        <a:t>1</a:t>
                      </a:r>
                    </a:p>
                  </a:txBody>
                  <a:tcPr/>
                </a:tc>
                <a:tc>
                  <a:txBody>
                    <a:bodyPr/>
                    <a:lstStyle/>
                    <a:p>
                      <a:pPr marL="0" lvl="0" indent="0" algn="l">
                        <a:buNone/>
                      </a:pPr>
                      <a:r>
                        <a:rPr sz="1000"/>
                        <a:t>Open data</a:t>
                      </a:r>
                    </a:p>
                  </a:txBody>
                  <a:tcPr/>
                </a:tc>
                <a:tc>
                  <a:txBody>
                    <a:bodyPr/>
                    <a:lstStyle/>
                    <a:p>
                      <a:pPr marL="0" lvl="0" indent="0" algn="r">
                        <a:buNone/>
                      </a:pPr>
                      <a:r>
                        <a:rPr sz="1000"/>
                        <a:t>1</a:t>
                      </a:r>
                    </a:p>
                  </a:txBody>
                  <a:tcPr/>
                </a:tc>
                <a:tc>
                  <a:txBody>
                    <a:bodyPr/>
                    <a:lstStyle/>
                    <a:p>
                      <a:pPr marL="0" lvl="0" indent="0" algn="l">
                        <a:buNone/>
                      </a:pPr>
                      <a:r>
                        <a:rPr sz="1000"/>
                        <a:t>vas_sy</a:t>
                      </a:r>
                    </a:p>
                  </a:txBody>
                  <a:tcPr/>
                </a:tc>
                <a:tc>
                  <a:txBody>
                    <a:bodyPr/>
                    <a:lstStyle/>
                    <a:p>
                      <a:pPr marL="0" lvl="0" indent="0" algn="l">
                        <a:buNone/>
                      </a:pPr>
                      <a:r>
                        <a:rPr sz="1000"/>
                        <a:t>0</a:t>
                      </a:r>
                    </a:p>
                  </a:txBody>
                  <a:tcPr/>
                </a:tc>
                <a:extLst>
                  <a:ext uri="{0D108BD9-81ED-4DB2-BD59-A6C34878D82A}">
                    <a16:rowId xmlns:a16="http://schemas.microsoft.com/office/drawing/2014/main" val="10024"/>
                  </a:ext>
                </a:extLst>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From columns to domains</a:t>
            </a:r>
          </a:p>
        </p:txBody>
      </p:sp>
      <p:sp>
        <p:nvSpPr>
          <p:cNvPr id="3" name="Content Placeholder 2"/>
          <p:cNvSpPr>
            <a:spLocks noGrp="1"/>
          </p:cNvSpPr>
          <p:nvPr>
            <p:ph sz="half" idx="1"/>
          </p:nvPr>
        </p:nvSpPr>
        <p:spPr/>
        <p:txBody>
          <a:bodyPr/>
          <a:lstStyle/>
          <a:p>
            <a:pPr marL="0" lvl="0" indent="0">
              <a:buNone/>
            </a:pPr>
            <a:r>
              <a:rPr sz="1800"/>
              <a:t>29 domains. A domain groups columns by what they measure, whatever the source: the MAP, IHME and survey malaria columns sit in one group. Each domain enters the model as its leading principal components, to 80% of variance and at most twelve, learned on the training districts only.</a:t>
            </a:r>
          </a:p>
        </p:txBody>
      </p:sp>
      <p:pic>
        <p:nvPicPr>
          <p:cNvPr id="4" name="Picture 1" descr="MN-proxy-full-talk-2026-09_files/figure-pptx/domains-1.png"/>
          <p:cNvPicPr>
            <a:picLocks noGrp="1" noChangeAspect="1"/>
          </p:cNvPicPr>
          <p:nvPr/>
        </p:nvPicPr>
        <p:blipFill>
          <a:blip r:embed="rId3"/>
          <a:stretch>
            <a:fillRect/>
          </a:stretch>
        </p:blipFill>
        <p:spPr bwMode="auto">
          <a:xfrm>
            <a:off x="6362700" y="1816100"/>
            <a:ext cx="4813300" cy="4343400"/>
          </a:xfrm>
          <a:prstGeom prst="rect">
            <a:avLst/>
          </a:prstGeom>
          <a:noFill/>
          <a:ln w="9525">
            <a:noFill/>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twenty layers behind child iron, and how much each carries</a:t>
            </a:r>
          </a:p>
        </p:txBody>
      </p:sp>
      <p:pic>
        <p:nvPicPr>
          <p:cNvPr id="3" name="Picture 1" descr="MN-proxy-full-talk-2026-09_files/figure-pptx/twenty-iron-1.png"/>
          <p:cNvPicPr>
            <a:picLocks noGrp="1" noChangeAspect="1"/>
          </p:cNvPicPr>
          <p:nvPr/>
        </p:nvPicPr>
        <p:blipFill>
          <a:blip r:embed="rId3"/>
          <a:stretch>
            <a:fillRect/>
          </a:stretch>
        </p:blipFill>
        <p:spPr bwMode="auto">
          <a:xfrm>
            <a:off x="2483157" y="1691640"/>
            <a:ext cx="7231781" cy="4206240"/>
          </a:xfrm>
          <a:prstGeom prst="rect">
            <a:avLst/>
          </a:prstGeom>
          <a:noFill/>
          <a:ln w="9525">
            <a:noFill/>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Exclusions, with their reasons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58039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4152900">
                  <a:extLst>
                    <a:ext uri="{9D8B030D-6E8A-4147-A177-3AD203B41FA5}">
                      <a16:colId xmlns:a16="http://schemas.microsoft.com/office/drawing/2014/main" val="20002"/>
                    </a:ext>
                  </a:extLst>
                </a:gridCol>
              </a:tblGrid>
              <a:tr h="0">
                <a:tc>
                  <a:txBody>
                    <a:bodyPr/>
                    <a:lstStyle/>
                    <a:p>
                      <a:pPr marL="0" lvl="0" indent="0" algn="l">
                        <a:buNone/>
                      </a:pPr>
                      <a:r>
                        <a:rPr sz="1000"/>
                        <a:t>Rule</a:t>
                      </a:r>
                    </a:p>
                  </a:txBody>
                  <a:tcPr/>
                </a:tc>
                <a:tc>
                  <a:txBody>
                    <a:bodyPr/>
                    <a:lstStyle/>
                    <a:p>
                      <a:pPr marL="0" lvl="0" indent="0" algn="l">
                        <a:buNone/>
                      </a:pPr>
                      <a:r>
                        <a:rPr sz="1000"/>
                        <a:t>Policy</a:t>
                      </a:r>
                    </a:p>
                  </a:txBody>
                  <a:tcPr/>
                </a:tc>
                <a:tc>
                  <a:txBody>
                    <a:bodyPr/>
                    <a:lstStyle/>
                    <a:p>
                      <a:pPr marL="0" lvl="0" indent="0" algn="l">
                        <a:buNone/>
                      </a:pPr>
                      <a:r>
                        <a:rPr sz="1000"/>
                        <a:t>Reason</a:t>
                      </a:r>
                    </a:p>
                  </a:txBody>
                  <a:tcPr/>
                </a:tc>
                <a:extLst>
                  <a:ext uri="{0D108BD9-81ED-4DB2-BD59-A6C34878D82A}">
                    <a16:rowId xmlns:a16="http://schemas.microsoft.com/office/drawing/2014/main" val="10000"/>
                  </a:ext>
                </a:extLst>
              </a:tr>
              <a:tr h="0">
                <a:tc>
                  <a:txBody>
                    <a:bodyPr/>
                    <a:lstStyle/>
                    <a:p>
                      <a:pPr marL="0" lvl="0" indent="0" algn="l">
                        <a:buNone/>
                      </a:pPr>
                      <a:r>
                        <a:rPr sz="1000"/>
                        <a:t>^soil_nitrogen_</a:t>
                      </a:r>
                    </a:p>
                  </a:txBody>
                  <a:tcPr/>
                </a:tc>
                <a:tc>
                  <a:txBody>
                    <a:bodyPr/>
                    <a:lstStyle/>
                    <a:p>
                      <a:pPr marL="0" lvl="0" indent="0" algn="l">
                        <a:buNone/>
                      </a:pPr>
                      <a:r>
                        <a:rPr sz="1000"/>
                        <a:t>data_defect</a:t>
                      </a:r>
                    </a:p>
                  </a:txBody>
                  <a:tcPr/>
                </a:tc>
                <a:tc>
                  <a:txBody>
                    <a:bodyPr/>
                    <a:lstStyle/>
                    <a:p>
                      <a:pPr marL="0" lvl="0" indent="0" algn="l">
                        <a:buNone/>
                      </a:pPr>
                      <a:r>
                        <a:rPr sz="1000"/>
                        <a:t>Cross-country values are irreconcilable by any constant factor: medians 742 (Gambia) 1090 (Malawi) 2455 (Ta…</a:t>
                      </a:r>
                    </a:p>
                  </a:txBody>
                  <a:tcPr/>
                </a:tc>
                <a:extLst>
                  <a:ext uri="{0D108BD9-81ED-4DB2-BD59-A6C34878D82A}">
                    <a16:rowId xmlns:a16="http://schemas.microsoft.com/office/drawing/2014/main" val="10001"/>
                  </a:ext>
                </a:extLst>
              </a:tr>
              <a:tr h="0">
                <a:tc>
                  <a:txBody>
                    <a:bodyPr/>
                    <a:lstStyle/>
                    <a:p>
                      <a:pPr marL="0" lvl="0" indent="0" algn="l">
                        <a:buNone/>
                      </a:pPr>
                      <a:r>
                        <a:rPr sz="1000"/>
                        <a:t>^soil_totalcarbon_stdev_</a:t>
                      </a:r>
                    </a:p>
                  </a:txBody>
                  <a:tcPr/>
                </a:tc>
                <a:tc>
                  <a:txBody>
                    <a:bodyPr/>
                    <a:lstStyle/>
                    <a:p>
                      <a:pPr marL="0" lvl="0" indent="0" algn="l">
                        <a:buNone/>
                      </a:pPr>
                      <a:r>
                        <a:rPr sz="1000"/>
                        <a:t>data_defect</a:t>
                      </a:r>
                    </a:p>
                  </a:txBody>
                  <a:tcPr/>
                </a:tc>
                <a:tc>
                  <a:txBody>
                    <a:bodyPr/>
                    <a:lstStyle/>
                    <a:p>
                      <a:pPr marL="0" lvl="0" indent="0" algn="l">
                        <a:buNone/>
                      </a:pPr>
                      <a:r>
                        <a:rPr sz="1000"/>
                        <a:t>Dispersion columns diverge &gt;100x across countries while the matching depth MEANS agree; the stdev bands are…</a:t>
                      </a:r>
                    </a:p>
                  </a:txBody>
                  <a:tcPr/>
                </a:tc>
                <a:extLst>
                  <a:ext uri="{0D108BD9-81ED-4DB2-BD59-A6C34878D82A}">
                    <a16:rowId xmlns:a16="http://schemas.microsoft.com/office/drawing/2014/main" val="10002"/>
                  </a:ext>
                </a:extLst>
              </a:tr>
              <a:tr h="0">
                <a:tc>
                  <a:txBody>
                    <a:bodyPr/>
                    <a:lstStyle/>
                    <a:p>
                      <a:pPr marL="0" lvl="0" indent="0" algn="l">
                        <a:buNone/>
                      </a:pPr>
                      <a:r>
                        <a:rPr sz="1000"/>
                        <a:t>^ndvi_y2010$</a:t>
                      </a:r>
                    </a:p>
                  </a:txBody>
                  <a:tcPr/>
                </a:tc>
                <a:tc>
                  <a:txBody>
                    <a:bodyPr/>
                    <a:lstStyle/>
                    <a:p>
                      <a:pPr marL="0" lvl="0" indent="0" algn="l">
                        <a:buNone/>
                      </a:pPr>
                      <a:r>
                        <a:rPr sz="1000"/>
                        <a:t>data_defect</a:t>
                      </a:r>
                    </a:p>
                  </a:txBody>
                  <a:tcPr/>
                </a:tc>
                <a:tc>
                  <a:txBody>
                    <a:bodyPr/>
                    <a:lstStyle/>
                    <a:p>
                      <a:pPr marL="0" lvl="0" indent="0" algn="l">
                        <a:buNone/>
                      </a:pPr>
                      <a:r>
                        <a:rPr sz="1000"/>
                        <a:t>Tanzania median 5.4e-05 against 0.22-0.26 elsewhere while every other year agrees - a defective 2010 slice …</a:t>
                      </a:r>
                    </a:p>
                  </a:txBody>
                  <a:tcPr/>
                </a:tc>
                <a:extLst>
                  <a:ext uri="{0D108BD9-81ED-4DB2-BD59-A6C34878D82A}">
                    <a16:rowId xmlns:a16="http://schemas.microsoft.com/office/drawing/2014/main" val="10003"/>
                  </a:ext>
                </a:extLst>
              </a:tr>
              <a:tr h="0">
                <a:tc>
                  <a:txBody>
                    <a:bodyPr/>
                    <a:lstStyle/>
                    <a:p>
                      <a:pPr marL="0" lvl="0" indent="0" algn="l">
                        <a:buNone/>
                      </a:pPr>
                      <a:r>
                        <a:rPr sz="1000"/>
                        <a:t>^ndvi_y(2019|2020|2021|2022)$</a:t>
                      </a:r>
                    </a:p>
                  </a:txBody>
                  <a:tcPr/>
                </a:tc>
                <a:tc>
                  <a:txBody>
                    <a:bodyPr/>
                    <a:lstStyle/>
                    <a:p>
                      <a:pPr marL="0" lvl="0" indent="0" algn="l">
                        <a:buNone/>
                      </a:pPr>
                      <a:r>
                        <a:rPr sz="1000"/>
                        <a:t>data_defect</a:t>
                      </a:r>
                    </a:p>
                  </a:txBody>
                  <a:tcPr/>
                </a:tc>
                <a:tc>
                  <a:txBody>
                    <a:bodyPr/>
                    <a:lstStyle/>
                    <a:p>
                      <a:pPr marL="0" lvl="0" indent="0" algn="l">
                        <a:buNone/>
                      </a:pPr>
                      <a:r>
                        <a:rPr sz="1000"/>
                        <a:t>NDVI collapses country-dependently after 2018 (2021 medians 0.008 Malawi / 0.018 Gambia / 0.25 Sierra Leone…</a:t>
                      </a:r>
                    </a:p>
                  </a:txBody>
                  <a:tcPr/>
                </a:tc>
                <a:extLst>
                  <a:ext uri="{0D108BD9-81ED-4DB2-BD59-A6C34878D82A}">
                    <a16:rowId xmlns:a16="http://schemas.microsoft.com/office/drawing/2014/main" val="10004"/>
                  </a:ext>
                </a:extLst>
              </a:tr>
              <a:tr h="0">
                <a:tc>
                  <a:txBody>
                    <a:bodyPr/>
                    <a:lstStyle/>
                    <a:p>
                      <a:pPr marL="0" lvl="0" indent="0" algn="l">
                        <a:buNone/>
                      </a:pPr>
                      <a:r>
                        <a:rPr sz="1000"/>
                        <a:t>^(lcover_(snow|moss)</a:t>
                      </a:r>
                      <a:r>
                        <a:rPr sz="1000" i="1"/>
                        <a:t>frac</a:t>
                      </a:r>
                      <a:r>
                        <a:rPr sz="1000"/>
                        <a:t>|tclim_swe_)</a:t>
                      </a:r>
                    </a:p>
                  </a:txBody>
                  <a:tcPr/>
                </a:tc>
                <a:tc>
                  <a:txBody>
                    <a:bodyPr/>
                    <a:lstStyle/>
                    <a:p>
                      <a:pPr marL="0" lvl="0" indent="0" algn="l">
                        <a:buNone/>
                      </a:pPr>
                      <a:r>
                        <a:rPr sz="1000"/>
                        <a:t>data_defect</a:t>
                      </a:r>
                    </a:p>
                  </a:txBody>
                  <a:tcPr/>
                </a:tc>
                <a:tc>
                  <a:txBody>
                    <a:bodyPr/>
                    <a:lstStyle/>
                    <a:p>
                      <a:pPr marL="0" lvl="0" indent="0" algn="l">
                        <a:buNone/>
                      </a:pPr>
                      <a:r>
                        <a:rPr sz="1000"/>
                        <a:t>Identically zero in every district of every country: these are snow cover, moss cover and snow water equiva…</a:t>
                      </a:r>
                    </a:p>
                  </a:txBody>
                  <a:tcPr/>
                </a:tc>
                <a:extLst>
                  <a:ext uri="{0D108BD9-81ED-4DB2-BD59-A6C34878D82A}">
                    <a16:rowId xmlns:a16="http://schemas.microsoft.com/office/drawing/2014/main" val="10005"/>
                  </a:ext>
                </a:extLst>
              </a:tr>
              <a:tr h="0">
                <a:tc>
                  <a:txBody>
                    <a:bodyPr/>
                    <a:lstStyle/>
                    <a:p>
                      <a:pPr marL="0" lvl="0" indent="0" algn="l">
                        <a:buNone/>
                      </a:pPr>
                      <a:r>
                        <a:rPr sz="1000"/>
                        <a:t>^dhs_c_ort_diarrhea$</a:t>
                      </a:r>
                    </a:p>
                  </a:txBody>
                  <a:tcPr/>
                </a:tc>
                <a:tc>
                  <a:txBody>
                    <a:bodyPr/>
                    <a:lstStyle/>
                    <a:p>
                      <a:pPr marL="0" lvl="0" indent="0" algn="l">
                        <a:buNone/>
                      </a:pPr>
                      <a:r>
                        <a:rPr sz="1000"/>
                        <a:t>data_defect</a:t>
                      </a:r>
                    </a:p>
                  </a:txBody>
                  <a:tcPr/>
                </a:tc>
                <a:tc>
                  <a:txBody>
                    <a:bodyPr/>
                    <a:lstStyle/>
                    <a:p>
                      <a:pPr marL="0" lvl="0" indent="0" algn="l">
                        <a:buNone/>
                      </a:pPr>
                      <a:r>
                        <a:rPr sz="1000"/>
                        <a:t>Identically zero in every district - the indicator did not populate in these DHS rounds. A constant cannot …</a:t>
                      </a:r>
                    </a:p>
                  </a:txBody>
                  <a:tcPr/>
                </a:tc>
                <a:extLst>
                  <a:ext uri="{0D108BD9-81ED-4DB2-BD59-A6C34878D82A}">
                    <a16:rowId xmlns:a16="http://schemas.microsoft.com/office/drawing/2014/main" val="10006"/>
                  </a:ext>
                </a:extLst>
              </a:tr>
              <a:tr h="0">
                <a:tc>
                  <a:txBody>
                    <a:bodyPr/>
                    <a:lstStyle/>
                    <a:p>
                      <a:pPr marL="0" lvl="0" indent="0" algn="l">
                        <a:buNone/>
                      </a:pPr>
                      <a:r>
                        <a:rPr sz="1000"/>
                        <a:t>^dhs_w_barrier_transport$</a:t>
                      </a:r>
                    </a:p>
                  </a:txBody>
                  <a:tcPr/>
                </a:tc>
                <a:tc>
                  <a:txBody>
                    <a:bodyPr/>
                    <a:lstStyle/>
                    <a:p>
                      <a:pPr marL="0" lvl="0" indent="0" algn="l">
                        <a:buNone/>
                      </a:pPr>
                      <a:r>
                        <a:rPr sz="1000"/>
                        <a:t>data_defect</a:t>
                      </a:r>
                    </a:p>
                  </a:txBody>
                  <a:tcPr/>
                </a:tc>
                <a:tc>
                  <a:txBody>
                    <a:bodyPr/>
                    <a:lstStyle/>
                    <a:p>
                      <a:pPr marL="0" lvl="0" indent="0" algn="l">
                        <a:buNone/>
                      </a:pPr>
                      <a:r>
                        <a:rPr sz="1000"/>
                        <a:t>All-NA in every district of every country (the transport-barrier item did not populate in these DHS rounds)…</a:t>
                      </a:r>
                    </a:p>
                  </a:txBody>
                  <a:tcPr/>
                </a:tc>
                <a:extLst>
                  <a:ext uri="{0D108BD9-81ED-4DB2-BD59-A6C34878D82A}">
                    <a16:rowId xmlns:a16="http://schemas.microsoft.com/office/drawing/2014/main" val="10007"/>
                  </a:ext>
                </a:extLst>
              </a:tr>
              <a:tr h="0">
                <a:tc>
                  <a:txBody>
                    <a:bodyPr/>
                    <a:lstStyle/>
                    <a:p>
                      <a:pPr marL="0" lvl="0" indent="0" algn="l">
                        <a:buNone/>
                      </a:pPr>
                      <a:r>
                        <a:rPr sz="1000"/>
                        <a:t>^ndvi_y20(1[1-8])$</a:t>
                      </a:r>
                    </a:p>
                  </a:txBody>
                  <a:tcPr/>
                </a:tc>
                <a:tc>
                  <a:txBody>
                    <a:bodyPr/>
                    <a:lstStyle/>
                    <a:p>
                      <a:pPr marL="0" lvl="0" indent="0" algn="l">
                        <a:buNone/>
                      </a:pPr>
                      <a:r>
                        <a:rPr sz="1000"/>
                        <a:t>superseded</a:t>
                      </a:r>
                    </a:p>
                  </a:txBody>
                  <a:tcPr/>
                </a:tc>
                <a:tc>
                  <a:txBody>
                    <a:bodyPr/>
                    <a:lstStyle/>
                    <a:p>
                      <a:pPr marL="0" lvl="0" indent="0" algn="l">
                        <a:buNone/>
                      </a:pPr>
                      <a:r>
                        <a:rPr sz="1000"/>
                        <a:t>Superseded (NV-01, 2026-09-15) by MOD13Q1 NDVI at the survey year (ndvi_modis_t0/win/peak/amp/clim/anom): t…</a:t>
                      </a:r>
                    </a:p>
                  </a:txBody>
                  <a:tcPr/>
                </a:tc>
                <a:extLst>
                  <a:ext uri="{0D108BD9-81ED-4DB2-BD59-A6C34878D82A}">
                    <a16:rowId xmlns:a16="http://schemas.microsoft.com/office/drawing/2014/main" val="10008"/>
                  </a:ext>
                </a:extLst>
              </a:tr>
              <a:tr h="0">
                <a:tc>
                  <a:txBody>
                    <a:bodyPr/>
                    <a:lstStyle/>
                    <a:p>
                      <a:pPr marL="0" lvl="0" indent="0" algn="l">
                        <a:buNone/>
                      </a:pPr>
                      <a:r>
                        <a:rPr sz="1000"/>
                        <a:t>^precip_y20(1[0-9])$</a:t>
                      </a:r>
                    </a:p>
                  </a:txBody>
                  <a:tcPr/>
                </a:tc>
                <a:tc>
                  <a:txBody>
                    <a:bodyPr/>
                    <a:lstStyle/>
                    <a:p>
                      <a:pPr marL="0" lvl="0" indent="0" algn="l">
                        <a:buNone/>
                      </a:pPr>
                      <a:r>
                        <a:rPr sz="1000"/>
                        <a:t>superseded</a:t>
                      </a:r>
                    </a:p>
                  </a:txBody>
                  <a:tcPr/>
                </a:tc>
                <a:tc>
                  <a:txBody>
                    <a:bodyPr/>
                    <a:lstStyle/>
                    <a:p>
                      <a:pPr marL="0" lvl="0" indent="0" algn="l">
                        <a:buNone/>
                      </a:pPr>
                      <a:r>
                        <a:rPr sz="1000"/>
                        <a:t>Superseded (2026-09-15): TRMM 3B43 annual precipitation at a calendar year 2010-2019 lags the survey by up …</a:t>
                      </a:r>
                    </a:p>
                  </a:txBody>
                  <a:tcPr/>
                </a:tc>
                <a:extLst>
                  <a:ext uri="{0D108BD9-81ED-4DB2-BD59-A6C34878D82A}">
                    <a16:rowId xmlns:a16="http://schemas.microsoft.com/office/drawing/2014/main" val="10009"/>
                  </a:ext>
                </a:extLst>
              </a:tr>
              <a:tr h="0">
                <a:tc>
                  <a:txBody>
                    <a:bodyPr/>
                    <a:lstStyle/>
                    <a:p>
                      <a:pPr marL="0" lvl="0" indent="0" algn="l">
                        <a:buNone/>
                      </a:pPr>
                      <a:r>
                        <a:rPr sz="1000"/>
                        <a:t>^popdens_y(2010|2015|2020)$</a:t>
                      </a:r>
                    </a:p>
                  </a:txBody>
                  <a:tcPr/>
                </a:tc>
                <a:tc>
                  <a:txBody>
                    <a:bodyPr/>
                    <a:lstStyle/>
                    <a:p>
                      <a:pPr marL="0" lvl="0" indent="0" algn="l">
                        <a:buNone/>
                      </a:pPr>
                      <a:r>
                        <a:rPr sz="1000"/>
                        <a:t>superseded</a:t>
                      </a:r>
                    </a:p>
                  </a:txBody>
                  <a:tcPr/>
                </a:tc>
                <a:tc>
                  <a:txBody>
                    <a:bodyPr/>
                    <a:lstStyle/>
                    <a:p>
                      <a:pPr marL="0" lvl="0" indent="0" algn="l">
                        <a:buNone/>
                      </a:pPr>
                      <a:r>
                        <a:rPr sz="1000"/>
                        <a:t>Superseded (2026-09-15): GPW v4.11 density at fixed epochs (up to 8 years from the survey); wpop_log_densit…</a:t>
                      </a:r>
                    </a:p>
                  </a:txBody>
                  <a:tcPr/>
                </a:tc>
                <a:extLst>
                  <a:ext uri="{0D108BD9-81ED-4DB2-BD59-A6C34878D82A}">
                    <a16:rowId xmlns:a16="http://schemas.microsoft.com/office/drawing/2014/main" val="10010"/>
                  </a:ext>
                </a:extLst>
              </a:tr>
              <a:tr h="0">
                <a:tc>
                  <a:txBody>
                    <a:bodyPr/>
                    <a:lstStyle/>
                    <a:p>
                      <a:pPr marL="0" lvl="0" indent="0" algn="l">
                        <a:buNone/>
                      </a:pPr>
                      <a:r>
                        <a:rPr sz="1000"/>
                        <a:t>^gpw2010_</a:t>
                      </a:r>
                    </a:p>
                  </a:txBody>
                  <a:tcPr/>
                </a:tc>
                <a:tc>
                  <a:txBody>
                    <a:bodyPr/>
                    <a:lstStyle/>
                    <a:p>
                      <a:pPr marL="0" lvl="0" indent="0" algn="l">
                        <a:buNone/>
                      </a:pPr>
                      <a:r>
                        <a:rPr sz="1000"/>
                        <a:t>superseded</a:t>
                      </a:r>
                    </a:p>
                  </a:txBody>
                  <a:tcPr/>
                </a:tc>
                <a:tc>
                  <a:txBody>
                    <a:bodyPr/>
                    <a:lstStyle/>
                    <a:p>
                      <a:pPr marL="0" lvl="0" indent="0" algn="l">
                        <a:buNone/>
                      </a:pPr>
                      <a:r>
                        <a:rPr sz="1000"/>
                        <a:t>Superseded (2026-09-15): GPW 2010 age-sex shares are 3-8 years from the surveys; the WorldPop 2020 shares (…</a:t>
                      </a:r>
                    </a:p>
                  </a:txBody>
                  <a:tcPr/>
                </a:tc>
                <a:extLst>
                  <a:ext uri="{0D108BD9-81ED-4DB2-BD59-A6C34878D82A}">
                    <a16:rowId xmlns:a16="http://schemas.microsoft.com/office/drawing/2014/main" val="10011"/>
                  </a:ext>
                </a:extLst>
              </a:tr>
              <a:tr h="0">
                <a:tc>
                  <a:txBody>
                    <a:bodyPr/>
                    <a:lstStyle/>
                    <a:p>
                      <a:pPr marL="0" lvl="0" indent="0" algn="l">
                        <a:buNone/>
                      </a:pPr>
                      <a:r>
                        <a:rPr sz="1000"/>
                        <a:t>^ihme_proportionofpopulationachievingyearseducation$</a:t>
                      </a:r>
                    </a:p>
                  </a:txBody>
                  <a:tcPr/>
                </a:tc>
                <a:tc>
                  <a:txBody>
                    <a:bodyPr/>
                    <a:lstStyle/>
                    <a:p>
                      <a:pPr marL="0" lvl="0" indent="0" algn="l">
                        <a:buNone/>
                      </a:pPr>
                      <a:r>
                        <a:rPr sz="1000"/>
                        <a:t>data_defect</a:t>
                      </a:r>
                    </a:p>
                  </a:txBody>
                  <a:tcPr/>
                </a:tc>
                <a:tc>
                  <a:txBody>
                    <a:bodyPr/>
                    <a:lstStyle/>
                    <a:p>
                      <a:pPr marL="0" lvl="0" indent="0" algn="l">
                        <a:buNone/>
                      </a:pPr>
                      <a:r>
                        <a:rPr sz="1000"/>
                        <a:t>Data defect (2026-09-15): script 08’s key normaliser dropped the digits from three IHME education categorie…</a:t>
                      </a:r>
                    </a:p>
                  </a:txBody>
                  <a:tcPr/>
                </a:tc>
                <a:extLst>
                  <a:ext uri="{0D108BD9-81ED-4DB2-BD59-A6C34878D82A}">
                    <a16:rowId xmlns:a16="http://schemas.microsoft.com/office/drawing/2014/main" val="10012"/>
                  </a:ext>
                </a:extLst>
              </a:tr>
              <a:tr h="0">
                <a:tc>
                  <a:txBody>
                    <a:bodyPr/>
                    <a:lstStyle/>
                    <a:p>
                      <a:pPr marL="0" lvl="0" indent="0" algn="l">
                        <a:buNone/>
                      </a:pPr>
                      <a:r>
                        <a:rPr sz="1000"/>
                        <a:t>^dhs_(FP_CUSA_W_MOD|FP_NADA_W_UNT|AN_ANEM_W_ANY|CN_NUTS_C_WH2|CN_ANMC_C_ANY|CN_NUTS_C_HA2|AN_NUTS_W_THN|RH_ANCN_W_N4P)$</a:t>
                      </a:r>
                    </a:p>
                  </a:txBody>
                  <a:tcPr/>
                </a:tc>
                <a:tc>
                  <a:txBody>
                    <a:bodyPr/>
                    <a:lstStyle/>
                    <a:p>
                      <a:pPr marL="0" lvl="0" indent="0" algn="l">
                        <a:buNone/>
                      </a:pPr>
                      <a:r>
                        <a:rPr sz="1000"/>
                        <a:t>redundant</a:t>
                      </a:r>
                    </a:p>
                  </a:txBody>
                  <a:tcPr/>
                </a:tc>
                <a:tc>
                  <a:txBody>
                    <a:bodyPr/>
                    <a:lstStyle/>
                    <a:p>
                      <a:pPr marL="0" lvl="0" indent="0" algn="l">
                        <a:buNone/>
                      </a:pPr>
                      <a:r>
                        <a:rPr sz="1000"/>
                        <a:t>Redundant (RV-01, 2026-09-15): STATcompiler-style DHS indicators that duplicate the custom recode indicator…</a:t>
                      </a:r>
                    </a:p>
                  </a:txBody>
                  <a:tcPr/>
                </a:tc>
                <a:extLst>
                  <a:ext uri="{0D108BD9-81ED-4DB2-BD59-A6C34878D82A}">
                    <a16:rowId xmlns:a16="http://schemas.microsoft.com/office/drawing/2014/main" val="10013"/>
                  </a:ext>
                </a:extLst>
              </a:tr>
              <a:tr h="0">
                <a:tc>
                  <a:txBody>
                    <a:bodyPr/>
                    <a:lstStyle/>
                    <a:p>
                      <a:pPr marL="0" lvl="0" indent="0" algn="l">
                        <a:buNone/>
                      </a:pPr>
                      <a:r>
                        <a:rPr sz="1000"/>
                        <a:t>^dhs_w_primary_edu$</a:t>
                      </a:r>
                    </a:p>
                  </a:txBody>
                  <a:tcPr/>
                </a:tc>
                <a:tc>
                  <a:txBody>
                    <a:bodyPr/>
                    <a:lstStyle/>
                    <a:p>
                      <a:pPr marL="0" lvl="0" indent="0" algn="l">
                        <a:buNone/>
                      </a:pPr>
                      <a:r>
                        <a:rPr sz="1000"/>
                        <a:t>redundant</a:t>
                      </a:r>
                    </a:p>
                  </a:txBody>
                  <a:tcPr/>
                </a:tc>
                <a:tc>
                  <a:txBody>
                    <a:bodyPr/>
                    <a:lstStyle/>
                    <a:p>
                      <a:pPr marL="0" lvl="0" indent="0" algn="l">
                        <a:buNone/>
                      </a:pPr>
                      <a:r>
                        <a:rPr sz="1000"/>
                        <a:t>Redundant (RV-01): r = -1.000 with dhs_w_no_education (its complement).</a:t>
                      </a:r>
                    </a:p>
                  </a:txBody>
                  <a:tcPr/>
                </a:tc>
                <a:extLst>
                  <a:ext uri="{0D108BD9-81ED-4DB2-BD59-A6C34878D82A}">
                    <a16:rowId xmlns:a16="http://schemas.microsoft.com/office/drawing/2014/main" val="10014"/>
                  </a:ext>
                </a:extLst>
              </a:tr>
              <a:tr h="0">
                <a:tc>
                  <a:txBody>
                    <a:bodyPr/>
                    <a:lstStyle/>
                    <a:p>
                      <a:pPr marL="0" lvl="0" indent="0" algn="l">
                        <a:buNone/>
                      </a:pPr>
                      <a:r>
                        <a:rPr sz="1000"/>
                        <a:t>^dhs_w_iron_supplement$</a:t>
                      </a:r>
                    </a:p>
                  </a:txBody>
                  <a:tcPr/>
                </a:tc>
                <a:tc>
                  <a:txBody>
                    <a:bodyPr/>
                    <a:lstStyle/>
                    <a:p>
                      <a:pPr marL="0" lvl="0" indent="0" algn="l">
                        <a:buNone/>
                      </a:pPr>
                      <a:r>
                        <a:rPr sz="1000"/>
                        <a:t>redundant</a:t>
                      </a:r>
                    </a:p>
                  </a:txBody>
                  <a:tcPr/>
                </a:tc>
                <a:tc>
                  <a:txBody>
                    <a:bodyPr/>
                    <a:lstStyle/>
                    <a:p>
                      <a:pPr marL="0" lvl="0" indent="0" algn="l">
                        <a:buNone/>
                      </a:pPr>
                      <a:r>
                        <a:rPr sz="1000"/>
                        <a:t>Redundant (RV-01): r = 1.000 with dhs_w_iron_pregnancy.</a:t>
                      </a:r>
                    </a:p>
                  </a:txBody>
                  <a:tcPr/>
                </a:tc>
                <a:extLst>
                  <a:ext uri="{0D108BD9-81ED-4DB2-BD59-A6C34878D82A}">
                    <a16:rowId xmlns:a16="http://schemas.microsoft.com/office/drawing/2014/main" val="10015"/>
                  </a:ext>
                </a:extLst>
              </a:tr>
              <a:tr h="0">
                <a:tc>
                  <a:txBody>
                    <a:bodyPr/>
                    <a:lstStyle/>
                    <a:p>
                      <a:pPr marL="0" lvl="0" indent="0" algn="l">
                        <a:buNone/>
                      </a:pPr>
                      <a:r>
                        <a:rPr sz="1000"/>
                        <a:t>^dhs_c_vita_rich_food$</a:t>
                      </a:r>
                    </a:p>
                  </a:txBody>
                  <a:tcPr/>
                </a:tc>
                <a:tc>
                  <a:txBody>
                    <a:bodyPr/>
                    <a:lstStyle/>
                    <a:p>
                      <a:pPr marL="0" lvl="0" indent="0" algn="l">
                        <a:buNone/>
                      </a:pPr>
                      <a:r>
                        <a:rPr sz="1000"/>
                        <a:t>redundant</a:t>
                      </a:r>
                    </a:p>
                  </a:txBody>
                  <a:tcPr/>
                </a:tc>
                <a:tc>
                  <a:txBody>
                    <a:bodyPr/>
                    <a:lstStyle/>
                    <a:p>
                      <a:pPr marL="0" lvl="0" indent="0" algn="l">
                        <a:buNone/>
                      </a:pPr>
                      <a:r>
                        <a:rPr sz="1000"/>
                        <a:t>Redundant (RV-01): r = 1.000 with dhs_c_fg_vitA_fruitveg.</a:t>
                      </a:r>
                    </a:p>
                  </a:txBody>
                  <a:tcPr/>
                </a:tc>
                <a:extLst>
                  <a:ext uri="{0D108BD9-81ED-4DB2-BD59-A6C34878D82A}">
                    <a16:rowId xmlns:a16="http://schemas.microsoft.com/office/drawing/2014/main" val="10016"/>
                  </a:ext>
                </a:extLst>
              </a:tr>
              <a:tr h="0">
                <a:tc>
                  <a:txBody>
                    <a:bodyPr/>
                    <a:lstStyle/>
                    <a:p>
                      <a:pPr marL="0" lvl="0" indent="0" algn="l">
                        <a:buNone/>
                      </a:pPr>
                      <a:r>
                        <a:rPr sz="1000"/>
                        <a:t>^espen_(sth|sch)_prev_mid_base$</a:t>
                      </a:r>
                    </a:p>
                  </a:txBody>
                  <a:tcPr/>
                </a:tc>
                <a:tc>
                  <a:txBody>
                    <a:bodyPr/>
                    <a:lstStyle/>
                    <a:p>
                      <a:pPr marL="0" lvl="0" indent="0" algn="l">
                        <a:buNone/>
                      </a:pPr>
                      <a:r>
                        <a:rPr sz="1000"/>
                        <a:t>redundant</a:t>
                      </a:r>
                    </a:p>
                  </a:txBody>
                  <a:tcPr/>
                </a:tc>
                <a:tc>
                  <a:txBody>
                    <a:bodyPr/>
                    <a:lstStyle/>
                    <a:p>
                      <a:pPr marL="0" lvl="0" indent="0" algn="l">
                        <a:buNone/>
                      </a:pPr>
                      <a:r>
                        <a:rPr sz="1000"/>
                        <a:t>Redundant (RV-01): the earliest ESPEN year is the year nearest every survey, so _base equals _prev_mid (r &gt;…</a:t>
                      </a:r>
                    </a:p>
                  </a:txBody>
                  <a:tcPr/>
                </a:tc>
                <a:extLst>
                  <a:ext uri="{0D108BD9-81ED-4DB2-BD59-A6C34878D82A}">
                    <a16:rowId xmlns:a16="http://schemas.microsoft.com/office/drawing/2014/main" val="10017"/>
                  </a:ext>
                </a:extLst>
              </a:tr>
              <a:tr h="0">
                <a:tc>
                  <a:txBody>
                    <a:bodyPr/>
                    <a:lstStyle/>
                    <a:p>
                      <a:pPr marL="0" lvl="0" indent="0" algn="l">
                        <a:buNone/>
                      </a:pPr>
                      <a:r>
                        <a:rPr sz="1000"/>
                        <a:t>^(map_sy_pf_incidence_rate|ihme_malaria_incidence_rate)$</a:t>
                      </a:r>
                    </a:p>
                  </a:txBody>
                  <a:tcPr/>
                </a:tc>
                <a:tc>
                  <a:txBody>
                    <a:bodyPr/>
                    <a:lstStyle/>
                    <a:p>
                      <a:pPr marL="0" lvl="0" indent="0" algn="l">
                        <a:buNone/>
                      </a:pPr>
                      <a:r>
                        <a:rPr sz="1000"/>
                        <a:t>redundant</a:t>
                      </a:r>
                    </a:p>
                  </a:txBody>
                  <a:tcPr/>
                </a:tc>
                <a:tc>
                  <a:txBody>
                    <a:bodyPr/>
                    <a:lstStyle/>
                    <a:p>
                      <a:pPr marL="0" lvl="0" indent="0" algn="l">
                        <a:buNone/>
                      </a:pPr>
                      <a:r>
                        <a:rPr sz="1000"/>
                        <a:t>Redundant (RV-01): incidence is a deterministic function of the parasite rate in both products (r 0.998-0.9…</a:t>
                      </a:r>
                    </a:p>
                  </a:txBody>
                  <a:tcPr/>
                </a:tc>
                <a:extLst>
                  <a:ext uri="{0D108BD9-81ED-4DB2-BD59-A6C34878D82A}">
                    <a16:rowId xmlns:a16="http://schemas.microsoft.com/office/drawing/2014/main" val="10018"/>
                  </a:ext>
                </a:extLst>
              </a:tr>
              <a:tr h="0">
                <a:tc>
                  <a:txBody>
                    <a:bodyPr/>
                    <a:lstStyle/>
                    <a:p>
                      <a:pPr marL="0" lvl="0" indent="0" algn="l">
                        <a:buNone/>
                      </a:pPr>
                      <a:r>
                        <a:rPr sz="1000"/>
                        <a:t>^wpop_log_density$</a:t>
                      </a:r>
                    </a:p>
                  </a:txBody>
                  <a:tcPr/>
                </a:tc>
                <a:tc>
                  <a:txBody>
                    <a:bodyPr/>
                    <a:lstStyle/>
                    <a:p>
                      <a:pPr marL="0" lvl="0" indent="0" algn="l">
                        <a:buNone/>
                      </a:pPr>
                      <a:r>
                        <a:rPr sz="1000"/>
                        <a:t>superseded</a:t>
                      </a:r>
                    </a:p>
                  </a:txBody>
                  <a:tcPr/>
                </a:tc>
                <a:tc>
                  <a:txBody>
                    <a:bodyPr/>
                    <a:lstStyle/>
                    <a:p>
                      <a:pPr marL="0" lvl="0" indent="0" algn="l">
                        <a:buNone/>
                      </a:pPr>
                      <a:r>
                        <a:rPr sz="1000"/>
                        <a:t>Superseded (RV-01): 2020-vintage WorldPop density; r = 0.999 with wpop_log_density_survey_year, which is at…</a:t>
                      </a:r>
                    </a:p>
                  </a:txBody>
                  <a:tcPr/>
                </a:tc>
                <a:extLst>
                  <a:ext uri="{0D108BD9-81ED-4DB2-BD59-A6C34878D82A}">
                    <a16:rowId xmlns:a16="http://schemas.microsoft.com/office/drawing/2014/main" val="10019"/>
                  </a:ext>
                </a:extLst>
              </a:tr>
              <a:tr h="0">
                <a:tc>
                  <a:txBody>
                    <a:bodyPr/>
                    <a:lstStyle/>
                    <a:p>
                      <a:pPr marL="0" lvl="0" indent="0" algn="l">
                        <a:buNone/>
                      </a:pPr>
                      <a:r>
                        <a:rPr sz="1000"/>
                        <a:t>^wsf$</a:t>
                      </a:r>
                    </a:p>
                  </a:txBody>
                  <a:tcPr/>
                </a:tc>
                <a:tc>
                  <a:txBody>
                    <a:bodyPr/>
                    <a:lstStyle/>
                    <a:p>
                      <a:pPr marL="0" lvl="0" indent="0" algn="l">
                        <a:buNone/>
                      </a:pPr>
                      <a:r>
                        <a:rPr sz="1000"/>
                        <a:t>redundant</a:t>
                      </a:r>
                    </a:p>
                  </a:txBody>
                  <a:tcPr/>
                </a:tc>
                <a:tc>
                  <a:txBody>
                    <a:bodyPr/>
                    <a:lstStyle/>
                    <a:p>
                      <a:pPr marL="0" lvl="0" indent="0" algn="l">
                        <a:buNone/>
                      </a:pPr>
                      <a:r>
                        <a:rPr sz="1000"/>
                        <a:t>Redundant (RV-01): World Settlement Footprint 2015 has r = 0.992 with lcover_urban_frac_t0, which is at the…</a:t>
                      </a:r>
                    </a:p>
                  </a:txBody>
                  <a:tcPr/>
                </a:tc>
                <a:extLst>
                  <a:ext uri="{0D108BD9-81ED-4DB2-BD59-A6C34878D82A}">
                    <a16:rowId xmlns:a16="http://schemas.microsoft.com/office/drawing/2014/main" val="10020"/>
                  </a:ext>
                </a:extLst>
              </a:tr>
              <a:tr h="0">
                <a:tc>
                  <a:txBody>
                    <a:bodyPr/>
                    <a:lstStyle/>
                    <a:p>
                      <a:pPr marL="0" lvl="0" indent="0" algn="l">
                        <a:buNone/>
                      </a:pPr>
                      <a:r>
                        <a:rPr sz="1000"/>
                        <a:t>^mics_heat_vhib_sy$</a:t>
                      </a:r>
                    </a:p>
                  </a:txBody>
                  <a:tcPr/>
                </a:tc>
                <a:tc>
                  <a:txBody>
                    <a:bodyPr/>
                    <a:lstStyle/>
                    <a:p>
                      <a:pPr marL="0" lvl="0" indent="0" algn="l">
                        <a:buNone/>
                      </a:pPr>
                      <a:r>
                        <a:rPr sz="1000"/>
                        <a:t>redundant</a:t>
                      </a:r>
                    </a:p>
                  </a:txBody>
                  <a:tcPr/>
                </a:tc>
                <a:tc>
                  <a:txBody>
                    <a:bodyPr/>
                    <a:lstStyle/>
                    <a:p>
                      <a:pPr marL="0" lvl="0" indent="0" algn="l">
                        <a:buNone/>
                      </a:pPr>
                      <a:r>
                        <a:rPr sz="1000"/>
                        <a:t>Redundant (RV-01): Hib is given as the pentavalent vaccine, r = 0.990 with mics_heat_vdpt_sy.</a:t>
                      </a:r>
                    </a:p>
                  </a:txBody>
                  <a:tcPr/>
                </a:tc>
                <a:extLst>
                  <a:ext uri="{0D108BD9-81ED-4DB2-BD59-A6C34878D82A}">
                    <a16:rowId xmlns:a16="http://schemas.microsoft.com/office/drawing/2014/main" val="10021"/>
                  </a:ext>
                </a:extLst>
              </a:tr>
              <a:tr h="0">
                <a:tc>
                  <a:txBody>
                    <a:bodyPr/>
                    <a:lstStyle/>
                    <a:p>
                      <a:pPr marL="0" lvl="0" indent="0" algn="l">
                        <a:buNone/>
                      </a:pPr>
                      <a:r>
                        <a:rPr sz="1000"/>
                        <a:t>^rtfp_dist_market_km$</a:t>
                      </a:r>
                    </a:p>
                  </a:txBody>
                  <a:tcPr/>
                </a:tc>
                <a:tc>
                  <a:txBody>
                    <a:bodyPr/>
                    <a:lstStyle/>
                    <a:p>
                      <a:pPr marL="0" lvl="0" indent="0" algn="l">
                        <a:buNone/>
                      </a:pPr>
                      <a:r>
                        <a:rPr sz="1000"/>
                        <a:t>redundant</a:t>
                      </a:r>
                    </a:p>
                  </a:txBody>
                  <a:tcPr/>
                </a:tc>
                <a:tc>
                  <a:txBody>
                    <a:bodyPr/>
                    <a:lstStyle/>
                    <a:p>
                      <a:pPr marL="0" lvl="0" indent="0" algn="l">
                        <a:buNone/>
                      </a:pPr>
                      <a:r>
                        <a:rPr sz="1000"/>
                        <a:t>Redundant (RV-01): r = 0.984 with fprice_dist_nearest_market_km (the same WFP markets), which covers all fo…</a:t>
                      </a:r>
                    </a:p>
                  </a:txBody>
                  <a:tcPr/>
                </a:tc>
                <a:extLst>
                  <a:ext uri="{0D108BD9-81ED-4DB2-BD59-A6C34878D82A}">
                    <a16:rowId xmlns:a16="http://schemas.microsoft.com/office/drawing/2014/main" val="10022"/>
                  </a:ext>
                </a:extLst>
              </a:tr>
              <a:tr h="0">
                <a:tc>
                  <a:txBody>
                    <a:bodyPr/>
                    <a:lstStyle/>
                    <a:p>
                      <a:pPr marL="0" lvl="0" indent="0" algn="l">
                        <a:buNone/>
                      </a:pPr>
                      <a:r>
                        <a:rPr sz="1000"/>
                        <a:t>^flunet_</a:t>
                      </a:r>
                    </a:p>
                  </a:txBody>
                  <a:tcPr/>
                </a:tc>
                <a:tc>
                  <a:txBody>
                    <a:bodyPr/>
                    <a:lstStyle/>
                    <a:p>
                      <a:pPr marL="0" lvl="0" indent="0" algn="l">
                        <a:buNone/>
                      </a:pPr>
                      <a:r>
                        <a:rPr sz="1000"/>
                        <a:t>national_track</a:t>
                      </a:r>
                    </a:p>
                  </a:txBody>
                  <a:tcPr/>
                </a:tc>
                <a:tc>
                  <a:txBody>
                    <a:bodyPr/>
                    <a:lstStyle/>
                    <a:p>
                      <a:pPr marL="0" lvl="0" indent="0" algn="l">
                        <a:buNone/>
                      </a:pPr>
                      <a:r>
                        <a:rPr sz="1000"/>
                        <a:t>National track only (2026-09-16): the three FluNet indicators are national constants in the district set (d…</a:t>
                      </a:r>
                    </a:p>
                  </a:txBody>
                  <a:tcPr/>
                </a:tc>
                <a:extLst>
                  <a:ext uri="{0D108BD9-81ED-4DB2-BD59-A6C34878D82A}">
                    <a16:rowId xmlns:a16="http://schemas.microsoft.com/office/drawing/2014/main" val="10023"/>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Predictor set by domain and tier</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4254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1473200">
                  <a:extLst>
                    <a:ext uri="{9D8B030D-6E8A-4147-A177-3AD203B41FA5}">
                      <a16:colId xmlns:a16="http://schemas.microsoft.com/office/drawing/2014/main" val="20003"/>
                    </a:ext>
                  </a:extLst>
                </a:gridCol>
                <a:gridCol w="342900">
                  <a:extLst>
                    <a:ext uri="{9D8B030D-6E8A-4147-A177-3AD203B41FA5}">
                      <a16:colId xmlns:a16="http://schemas.microsoft.com/office/drawing/2014/main" val="20004"/>
                    </a:ext>
                  </a:extLst>
                </a:gridCol>
                <a:gridCol w="1739900">
                  <a:extLst>
                    <a:ext uri="{9D8B030D-6E8A-4147-A177-3AD203B41FA5}">
                      <a16:colId xmlns:a16="http://schemas.microsoft.com/office/drawing/2014/main" val="20005"/>
                    </a:ext>
                  </a:extLst>
                </a:gridCol>
                <a:gridCol w="1562100">
                  <a:extLst>
                    <a:ext uri="{9D8B030D-6E8A-4147-A177-3AD203B41FA5}">
                      <a16:colId xmlns:a16="http://schemas.microsoft.com/office/drawing/2014/main" val="20006"/>
                    </a:ext>
                  </a:extLst>
                </a:gridCol>
              </a:tblGrid>
              <a:tr h="0">
                <a:tc>
                  <a:txBody>
                    <a:bodyPr/>
                    <a:lstStyle/>
                    <a:p>
                      <a:pPr marL="0" lvl="0" indent="0" algn="l">
                        <a:buNone/>
                      </a:pPr>
                      <a:r>
                        <a:rPr sz="1000"/>
                        <a:t>Domain</a:t>
                      </a:r>
                    </a:p>
                  </a:txBody>
                  <a:tcPr/>
                </a:tc>
                <a:tc>
                  <a:txBody>
                    <a:bodyPr/>
                    <a:lstStyle/>
                    <a:p>
                      <a:pPr marL="0" lvl="0" indent="0" algn="r">
                        <a:buNone/>
                      </a:pPr>
                      <a:r>
                        <a:rPr sz="1000"/>
                        <a:t>Columns</a:t>
                      </a:r>
                    </a:p>
                  </a:txBody>
                  <a:tcPr/>
                </a:tc>
                <a:tc>
                  <a:txBody>
                    <a:bodyPr/>
                    <a:lstStyle/>
                    <a:p>
                      <a:pPr marL="0" lvl="0" indent="0" algn="r">
                        <a:buNone/>
                      </a:pPr>
                      <a:r>
                        <a:rPr sz="1000"/>
                        <a:t>Open</a:t>
                      </a:r>
                    </a:p>
                  </a:txBody>
                  <a:tcPr/>
                </a:tc>
                <a:tc>
                  <a:txBody>
                    <a:bodyPr/>
                    <a:lstStyle/>
                    <a:p>
                      <a:pPr marL="0" lvl="0" indent="0" algn="r">
                        <a:buNone/>
                      </a:pPr>
                      <a:r>
                        <a:rPr sz="1000"/>
                        <a:t>Public microdata</a:t>
                      </a:r>
                    </a:p>
                  </a:txBody>
                  <a:tcPr/>
                </a:tc>
                <a:tc>
                  <a:txBody>
                    <a:bodyPr/>
                    <a:lstStyle/>
                    <a:p>
                      <a:pPr marL="0" lvl="0" indent="0" algn="r">
                        <a:buNone/>
                      </a:pPr>
                      <a:r>
                        <a:rPr sz="1000"/>
                        <a:t>DHS</a:t>
                      </a:r>
                    </a:p>
                  </a:txBody>
                  <a:tcPr/>
                </a:tc>
                <a:tc>
                  <a:txBody>
                    <a:bodyPr/>
                    <a:lstStyle/>
                    <a:p>
                      <a:pPr marL="0" lvl="0" indent="0" algn="r">
                        <a:buNone/>
                      </a:pPr>
                      <a:r>
                        <a:rPr sz="1000"/>
                        <a:t>Vary within country</a:t>
                      </a:r>
                    </a:p>
                  </a:txBody>
                  <a:tcPr/>
                </a:tc>
                <a:tc>
                  <a:txBody>
                    <a:bodyPr/>
                    <a:lstStyle/>
                    <a:p>
                      <a:pPr marL="0" lvl="0" indent="0" algn="r">
                        <a:buNone/>
                      </a:pPr>
                      <a:r>
                        <a:rPr sz="1000"/>
                        <a:t>Modelled surfaces</a:t>
                      </a:r>
                    </a:p>
                  </a:txBody>
                  <a:tcPr/>
                </a:tc>
                <a:extLst>
                  <a:ext uri="{0D108BD9-81ED-4DB2-BD59-A6C34878D82A}">
                    <a16:rowId xmlns:a16="http://schemas.microsoft.com/office/drawing/2014/main" val="10000"/>
                  </a:ext>
                </a:extLst>
              </a:tr>
              <a:tr h="0">
                <a:tc>
                  <a:txBody>
                    <a:bodyPr/>
                    <a:lstStyle/>
                    <a:p>
                      <a:pPr marL="0" lvl="0" indent="0" algn="l">
                        <a:buNone/>
                      </a:pPr>
                      <a:r>
                        <a:rPr sz="1000"/>
                        <a:t>Satellite embedding</a:t>
                      </a:r>
                    </a:p>
                  </a:txBody>
                  <a:tcPr/>
                </a:tc>
                <a:tc>
                  <a:txBody>
                    <a:bodyPr/>
                    <a:lstStyle/>
                    <a:p>
                      <a:pPr marL="0" lvl="0" indent="0" algn="r">
                        <a:buNone/>
                      </a:pPr>
                      <a:r>
                        <a:rPr sz="1000"/>
                        <a:t>64</a:t>
                      </a:r>
                    </a:p>
                  </a:txBody>
                  <a:tcPr/>
                </a:tc>
                <a:tc>
                  <a:txBody>
                    <a:bodyPr/>
                    <a:lstStyle/>
                    <a:p>
                      <a:pPr marL="0" lvl="0" indent="0" algn="r">
                        <a:buNone/>
                      </a:pPr>
                      <a:r>
                        <a:rPr sz="1000"/>
                        <a:t>64</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64</a:t>
                      </a:r>
                    </a:p>
                  </a:txBody>
                  <a:tcPr/>
                </a:tc>
                <a:tc>
                  <a:txBody>
                    <a:bodyPr/>
                    <a:lstStyle/>
                    <a:p>
                      <a:pPr marL="0" lvl="0" indent="0" algn="r">
                        <a:buNone/>
                      </a:pPr>
                      <a:r>
                        <a:rPr sz="1000"/>
                        <a:t>0</a:t>
                      </a:r>
                    </a:p>
                  </a:txBody>
                  <a:tcPr/>
                </a:tc>
                <a:extLst>
                  <a:ext uri="{0D108BD9-81ED-4DB2-BD59-A6C34878D82A}">
                    <a16:rowId xmlns:a16="http://schemas.microsoft.com/office/drawing/2014/main" val="10001"/>
                  </a:ext>
                </a:extLst>
              </a:tr>
              <a:tr h="0">
                <a:tc>
                  <a:txBody>
                    <a:bodyPr/>
                    <a:lstStyle/>
                    <a:p>
                      <a:pPr marL="0" lvl="0" indent="0" algn="l">
                        <a:buNone/>
                      </a:pPr>
                      <a:r>
                        <a:rPr sz="1000"/>
                        <a:t>Climate and weather</a:t>
                      </a:r>
                    </a:p>
                  </a:txBody>
                  <a:tcPr/>
                </a:tc>
                <a:tc>
                  <a:txBody>
                    <a:bodyPr/>
                    <a:lstStyle/>
                    <a:p>
                      <a:pPr marL="0" lvl="0" indent="0" algn="r">
                        <a:buNone/>
                      </a:pPr>
                      <a:r>
                        <a:rPr sz="1000"/>
                        <a:t>60</a:t>
                      </a:r>
                    </a:p>
                  </a:txBody>
                  <a:tcPr/>
                </a:tc>
                <a:tc>
                  <a:txBody>
                    <a:bodyPr/>
                    <a:lstStyle/>
                    <a:p>
                      <a:pPr marL="0" lvl="0" indent="0" algn="r">
                        <a:buNone/>
                      </a:pPr>
                      <a:r>
                        <a:rPr sz="1000"/>
                        <a:t>60</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60</a:t>
                      </a:r>
                    </a:p>
                  </a:txBody>
                  <a:tcPr/>
                </a:tc>
                <a:tc>
                  <a:txBody>
                    <a:bodyPr/>
                    <a:lstStyle/>
                    <a:p>
                      <a:pPr marL="0" lvl="0" indent="0" algn="r">
                        <a:buNone/>
                      </a:pPr>
                      <a:r>
                        <a:rPr sz="1000"/>
                        <a:t>0</a:t>
                      </a:r>
                    </a:p>
                  </a:txBody>
                  <a:tcPr/>
                </a:tc>
                <a:extLst>
                  <a:ext uri="{0D108BD9-81ED-4DB2-BD59-A6C34878D82A}">
                    <a16:rowId xmlns:a16="http://schemas.microsoft.com/office/drawing/2014/main" val="10002"/>
                  </a:ext>
                </a:extLst>
              </a:tr>
              <a:tr h="0">
                <a:tc>
                  <a:txBody>
                    <a:bodyPr/>
                    <a:lstStyle/>
                    <a:p>
                      <a:pPr marL="0" lvl="0" indent="0" algn="l">
                        <a:buNone/>
                      </a:pPr>
                      <a:r>
                        <a:rPr sz="1000"/>
                        <a:t>Soil characteristics</a:t>
                      </a:r>
                    </a:p>
                  </a:txBody>
                  <a:tcPr/>
                </a:tc>
                <a:tc>
                  <a:txBody>
                    <a:bodyPr/>
                    <a:lstStyle/>
                    <a:p>
                      <a:pPr marL="0" lvl="0" indent="0" algn="r">
                        <a:buNone/>
                      </a:pPr>
                      <a:r>
                        <a:rPr sz="1000"/>
                        <a:t>45</a:t>
                      </a:r>
                    </a:p>
                  </a:txBody>
                  <a:tcPr/>
                </a:tc>
                <a:tc>
                  <a:txBody>
                    <a:bodyPr/>
                    <a:lstStyle/>
                    <a:p>
                      <a:pPr marL="0" lvl="0" indent="0" algn="r">
                        <a:buNone/>
                      </a:pPr>
                      <a:r>
                        <a:rPr sz="1000"/>
                        <a:t>45</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45</a:t>
                      </a:r>
                    </a:p>
                  </a:txBody>
                  <a:tcPr/>
                </a:tc>
                <a:tc>
                  <a:txBody>
                    <a:bodyPr/>
                    <a:lstStyle/>
                    <a:p>
                      <a:pPr marL="0" lvl="0" indent="0" algn="r">
                        <a:buNone/>
                      </a:pPr>
                      <a:r>
                        <a:rPr sz="1000"/>
                        <a:t>0</a:t>
                      </a:r>
                    </a:p>
                  </a:txBody>
                  <a:tcPr/>
                </a:tc>
                <a:extLst>
                  <a:ext uri="{0D108BD9-81ED-4DB2-BD59-A6C34878D82A}">
                    <a16:rowId xmlns:a16="http://schemas.microsoft.com/office/drawing/2014/main" val="10003"/>
                  </a:ext>
                </a:extLst>
              </a:tr>
              <a:tr h="0">
                <a:tc>
                  <a:txBody>
                    <a:bodyPr/>
                    <a:lstStyle/>
                    <a:p>
                      <a:pPr marL="0" lvl="0" indent="0" algn="l">
                        <a:buNone/>
                      </a:pPr>
                      <a:r>
                        <a:rPr sz="1000"/>
                        <a:t>Infection and inflammation burden</a:t>
                      </a:r>
                    </a:p>
                  </a:txBody>
                  <a:tcPr/>
                </a:tc>
                <a:tc>
                  <a:txBody>
                    <a:bodyPr/>
                    <a:lstStyle/>
                    <a:p>
                      <a:pPr marL="0" lvl="0" indent="0" algn="r">
                        <a:buNone/>
                      </a:pPr>
                      <a:r>
                        <a:rPr sz="1000"/>
                        <a:t>39</a:t>
                      </a:r>
                    </a:p>
                  </a:txBody>
                  <a:tcPr/>
                </a:tc>
                <a:tc>
                  <a:txBody>
                    <a:bodyPr/>
                    <a:lstStyle/>
                    <a:p>
                      <a:pPr marL="0" lvl="0" indent="0" algn="r">
                        <a:buNone/>
                      </a:pPr>
                      <a:r>
                        <a:rPr sz="1000"/>
                        <a:t>27</a:t>
                      </a:r>
                    </a:p>
                  </a:txBody>
                  <a:tcPr/>
                </a:tc>
                <a:tc>
                  <a:txBody>
                    <a:bodyPr/>
                    <a:lstStyle/>
                    <a:p>
                      <a:pPr marL="0" lvl="0" indent="0" algn="r">
                        <a:buNone/>
                      </a:pPr>
                      <a:r>
                        <a:rPr sz="1000"/>
                        <a:t>4</a:t>
                      </a:r>
                    </a:p>
                  </a:txBody>
                  <a:tcPr/>
                </a:tc>
                <a:tc>
                  <a:txBody>
                    <a:bodyPr/>
                    <a:lstStyle/>
                    <a:p>
                      <a:pPr marL="0" lvl="0" indent="0" algn="r">
                        <a:buNone/>
                      </a:pPr>
                      <a:r>
                        <a:rPr sz="1000"/>
                        <a:t>8</a:t>
                      </a:r>
                    </a:p>
                  </a:txBody>
                  <a:tcPr/>
                </a:tc>
                <a:tc>
                  <a:txBody>
                    <a:bodyPr/>
                    <a:lstStyle/>
                    <a:p>
                      <a:pPr marL="0" lvl="0" indent="0" algn="r">
                        <a:buNone/>
                      </a:pPr>
                      <a:r>
                        <a:rPr sz="1000"/>
                        <a:t>39</a:t>
                      </a:r>
                    </a:p>
                  </a:txBody>
                  <a:tcPr/>
                </a:tc>
                <a:tc>
                  <a:txBody>
                    <a:bodyPr/>
                    <a:lstStyle/>
                    <a:p>
                      <a:pPr marL="0" lvl="0" indent="0" algn="r">
                        <a:buNone/>
                      </a:pPr>
                      <a:r>
                        <a:rPr sz="1000"/>
                        <a:t>10</a:t>
                      </a:r>
                    </a:p>
                  </a:txBody>
                  <a:tcPr/>
                </a:tc>
                <a:extLst>
                  <a:ext uri="{0D108BD9-81ED-4DB2-BD59-A6C34878D82A}">
                    <a16:rowId xmlns:a16="http://schemas.microsoft.com/office/drawing/2014/main" val="10004"/>
                  </a:ext>
                </a:extLst>
              </a:tr>
              <a:tr h="0">
                <a:tc>
                  <a:txBody>
                    <a:bodyPr/>
                    <a:lstStyle/>
                    <a:p>
                      <a:pPr marL="0" lvl="0" indent="0" algn="l">
                        <a:buNone/>
                      </a:pPr>
                      <a:r>
                        <a:rPr sz="1000"/>
                        <a:t>Food fortification and supplementation</a:t>
                      </a:r>
                    </a:p>
                  </a:txBody>
                  <a:tcPr/>
                </a:tc>
                <a:tc>
                  <a:txBody>
                    <a:bodyPr/>
                    <a:lstStyle/>
                    <a:p>
                      <a:pPr marL="0" lvl="0" indent="0" algn="r">
                        <a:buNone/>
                      </a:pPr>
                      <a:r>
                        <a:rPr sz="1000"/>
                        <a:t>35</a:t>
                      </a:r>
                    </a:p>
                  </a:txBody>
                  <a:tcPr/>
                </a:tc>
                <a:tc>
                  <a:txBody>
                    <a:bodyPr/>
                    <a:lstStyle/>
                    <a:p>
                      <a:pPr marL="0" lvl="0" indent="0" algn="r">
                        <a:buNone/>
                      </a:pPr>
                      <a:r>
                        <a:rPr sz="1000"/>
                        <a:t>25</a:t>
                      </a:r>
                    </a:p>
                  </a:txBody>
                  <a:tcPr/>
                </a:tc>
                <a:tc>
                  <a:txBody>
                    <a:bodyPr/>
                    <a:lstStyle/>
                    <a:p>
                      <a:pPr marL="0" lvl="0" indent="0" algn="r">
                        <a:buNone/>
                      </a:pPr>
                      <a:r>
                        <a:rPr sz="1000"/>
                        <a:t>3</a:t>
                      </a:r>
                    </a:p>
                  </a:txBody>
                  <a:tcPr/>
                </a:tc>
                <a:tc>
                  <a:txBody>
                    <a:bodyPr/>
                    <a:lstStyle/>
                    <a:p>
                      <a:pPr marL="0" lvl="0" indent="0" algn="r">
                        <a:buNone/>
                      </a:pPr>
                      <a:r>
                        <a:rPr sz="1000"/>
                        <a:t>7</a:t>
                      </a:r>
                    </a:p>
                  </a:txBody>
                  <a:tcPr/>
                </a:tc>
                <a:tc>
                  <a:txBody>
                    <a:bodyPr/>
                    <a:lstStyle/>
                    <a:p>
                      <a:pPr marL="0" lvl="0" indent="0" algn="r">
                        <a:buNone/>
                      </a:pPr>
                      <a:r>
                        <a:rPr sz="1000"/>
                        <a:t>10</a:t>
                      </a:r>
                    </a:p>
                  </a:txBody>
                  <a:tcPr/>
                </a:tc>
                <a:tc>
                  <a:txBody>
                    <a:bodyPr/>
                    <a:lstStyle/>
                    <a:p>
                      <a:pPr marL="0" lvl="0" indent="0" algn="r">
                        <a:buNone/>
                      </a:pPr>
                      <a:r>
                        <a:rPr sz="1000"/>
                        <a:t>0</a:t>
                      </a:r>
                    </a:p>
                  </a:txBody>
                  <a:tcPr/>
                </a:tc>
                <a:extLst>
                  <a:ext uri="{0D108BD9-81ED-4DB2-BD59-A6C34878D82A}">
                    <a16:rowId xmlns:a16="http://schemas.microsoft.com/office/drawing/2014/main" val="10005"/>
                  </a:ext>
                </a:extLst>
              </a:tr>
              <a:tr h="0">
                <a:tc>
                  <a:txBody>
                    <a:bodyPr/>
                    <a:lstStyle/>
                    <a:p>
                      <a:pPr marL="0" lvl="0" indent="0" algn="l">
                        <a:buNone/>
                      </a:pPr>
                      <a:r>
                        <a:rPr sz="1000"/>
                        <a:t>Immunisation</a:t>
                      </a:r>
                    </a:p>
                  </a:txBody>
                  <a:tcPr/>
                </a:tc>
                <a:tc>
                  <a:txBody>
                    <a:bodyPr/>
                    <a:lstStyle/>
                    <a:p>
                      <a:pPr marL="0" lvl="0" indent="0" algn="r">
                        <a:buNone/>
                      </a:pPr>
                      <a:r>
                        <a:rPr sz="1000"/>
                        <a:t>32</a:t>
                      </a:r>
                    </a:p>
                  </a:txBody>
                  <a:tcPr/>
                </a:tc>
                <a:tc>
                  <a:txBody>
                    <a:bodyPr/>
                    <a:lstStyle/>
                    <a:p>
                      <a:pPr marL="0" lvl="0" indent="0" algn="r">
                        <a:buNone/>
                      </a:pPr>
                      <a:r>
                        <a:rPr sz="1000"/>
                        <a:t>1</a:t>
                      </a:r>
                    </a:p>
                  </a:txBody>
                  <a:tcPr/>
                </a:tc>
                <a:tc>
                  <a:txBody>
                    <a:bodyPr/>
                    <a:lstStyle/>
                    <a:p>
                      <a:pPr marL="0" lvl="0" indent="0" algn="r">
                        <a:buNone/>
                      </a:pPr>
                      <a:r>
                        <a:rPr sz="1000"/>
                        <a:t>19</a:t>
                      </a:r>
                    </a:p>
                  </a:txBody>
                  <a:tcPr/>
                </a:tc>
                <a:tc>
                  <a:txBody>
                    <a:bodyPr/>
                    <a:lstStyle/>
                    <a:p>
                      <a:pPr marL="0" lvl="0" indent="0" algn="r">
                        <a:buNone/>
                      </a:pPr>
                      <a:r>
                        <a:rPr sz="1000"/>
                        <a:t>12</a:t>
                      </a:r>
                    </a:p>
                  </a:txBody>
                  <a:tcPr/>
                </a:tc>
                <a:tc>
                  <a:txBody>
                    <a:bodyPr/>
                    <a:lstStyle/>
                    <a:p>
                      <a:pPr marL="0" lvl="0" indent="0" algn="r">
                        <a:buNone/>
                      </a:pPr>
                      <a:r>
                        <a:rPr sz="1000"/>
                        <a:t>32</a:t>
                      </a:r>
                    </a:p>
                  </a:txBody>
                  <a:tcPr/>
                </a:tc>
                <a:tc>
                  <a:txBody>
                    <a:bodyPr/>
                    <a:lstStyle/>
                    <a:p>
                      <a:pPr marL="0" lvl="0" indent="0" algn="r">
                        <a:buNone/>
                      </a:pPr>
                      <a:r>
                        <a:rPr sz="1000"/>
                        <a:t>1</a:t>
                      </a:r>
                    </a:p>
                  </a:txBody>
                  <a:tcPr/>
                </a:tc>
                <a:extLst>
                  <a:ext uri="{0D108BD9-81ED-4DB2-BD59-A6C34878D82A}">
                    <a16:rowId xmlns:a16="http://schemas.microsoft.com/office/drawing/2014/main" val="10006"/>
                  </a:ext>
                </a:extLst>
              </a:tr>
              <a:tr h="0">
                <a:tc>
                  <a:txBody>
                    <a:bodyPr/>
                    <a:lstStyle/>
                    <a:p>
                      <a:pPr marL="0" lvl="0" indent="0" algn="l">
                        <a:buNone/>
                      </a:pPr>
                      <a:r>
                        <a:rPr sz="1000"/>
                        <a:t>Agricultural production, land use</a:t>
                      </a:r>
                    </a:p>
                  </a:txBody>
                  <a:tcPr/>
                </a:tc>
                <a:tc>
                  <a:txBody>
                    <a:bodyPr/>
                    <a:lstStyle/>
                    <a:p>
                      <a:pPr marL="0" lvl="0" indent="0" algn="r">
                        <a:buNone/>
                      </a:pPr>
                      <a:r>
                        <a:rPr sz="1000"/>
                        <a:t>29</a:t>
                      </a:r>
                    </a:p>
                  </a:txBody>
                  <a:tcPr/>
                </a:tc>
                <a:tc>
                  <a:txBody>
                    <a:bodyPr/>
                    <a:lstStyle/>
                    <a:p>
                      <a:pPr marL="0" lvl="0" indent="0" algn="r">
                        <a:buNone/>
                      </a:pPr>
                      <a:r>
                        <a:rPr sz="1000"/>
                        <a:t>12</a:t>
                      </a:r>
                    </a:p>
                  </a:txBody>
                  <a:tcPr/>
                </a:tc>
                <a:tc>
                  <a:txBody>
                    <a:bodyPr/>
                    <a:lstStyle/>
                    <a:p>
                      <a:pPr marL="0" lvl="0" indent="0" algn="r">
                        <a:buNone/>
                      </a:pPr>
                      <a:r>
                        <a:rPr sz="1000"/>
                        <a:t>0</a:t>
                      </a:r>
                    </a:p>
                  </a:txBody>
                  <a:tcPr/>
                </a:tc>
                <a:tc>
                  <a:txBody>
                    <a:bodyPr/>
                    <a:lstStyle/>
                    <a:p>
                      <a:pPr marL="0" lvl="0" indent="0" algn="r">
                        <a:buNone/>
                      </a:pPr>
                      <a:r>
                        <a:rPr sz="1000"/>
                        <a:t>17</a:t>
                      </a:r>
                    </a:p>
                  </a:txBody>
                  <a:tcPr/>
                </a:tc>
                <a:tc>
                  <a:txBody>
                    <a:bodyPr/>
                    <a:lstStyle/>
                    <a:p>
                      <a:pPr marL="0" lvl="0" indent="0" algn="r">
                        <a:buNone/>
                      </a:pPr>
                      <a:r>
                        <a:rPr sz="1000"/>
                        <a:t>29</a:t>
                      </a:r>
                    </a:p>
                  </a:txBody>
                  <a:tcPr/>
                </a:tc>
                <a:tc>
                  <a:txBody>
                    <a:bodyPr/>
                    <a:lstStyle/>
                    <a:p>
                      <a:pPr marL="0" lvl="0" indent="0" algn="r">
                        <a:buNone/>
                      </a:pPr>
                      <a:r>
                        <a:rPr sz="1000"/>
                        <a:t>0</a:t>
                      </a:r>
                    </a:p>
                  </a:txBody>
                  <a:tcPr/>
                </a:tc>
                <a:extLst>
                  <a:ext uri="{0D108BD9-81ED-4DB2-BD59-A6C34878D82A}">
                    <a16:rowId xmlns:a16="http://schemas.microsoft.com/office/drawing/2014/main" val="10007"/>
                  </a:ext>
                </a:extLst>
              </a:tr>
              <a:tr h="0">
                <a:tc>
                  <a:txBody>
                    <a:bodyPr/>
                    <a:lstStyle/>
                    <a:p>
                      <a:pPr marL="0" lvl="0" indent="0" algn="l">
                        <a:buNone/>
                      </a:pPr>
                      <a:r>
                        <a:rPr sz="1000"/>
                        <a:t>Education, employment, SES</a:t>
                      </a:r>
                    </a:p>
                  </a:txBody>
                  <a:tcPr/>
                </a:tc>
                <a:tc>
                  <a:txBody>
                    <a:bodyPr/>
                    <a:lstStyle/>
                    <a:p>
                      <a:pPr marL="0" lvl="0" indent="0" algn="r">
                        <a:buNone/>
                      </a:pPr>
                      <a:r>
                        <a:rPr sz="1000"/>
                        <a:t>26</a:t>
                      </a:r>
                    </a:p>
                  </a:txBody>
                  <a:tcPr/>
                </a:tc>
                <a:tc>
                  <a:txBody>
                    <a:bodyPr/>
                    <a:lstStyle/>
                    <a:p>
                      <a:pPr marL="0" lvl="0" indent="0" algn="r">
                        <a:buNone/>
                      </a:pPr>
                      <a:r>
                        <a:rPr sz="1000"/>
                        <a:t>9</a:t>
                      </a:r>
                    </a:p>
                  </a:txBody>
                  <a:tcPr/>
                </a:tc>
                <a:tc>
                  <a:txBody>
                    <a:bodyPr/>
                    <a:lstStyle/>
                    <a:p>
                      <a:pPr marL="0" lvl="0" indent="0" algn="r">
                        <a:buNone/>
                      </a:pPr>
                      <a:r>
                        <a:rPr sz="1000"/>
                        <a:t>4</a:t>
                      </a:r>
                    </a:p>
                  </a:txBody>
                  <a:tcPr/>
                </a:tc>
                <a:tc>
                  <a:txBody>
                    <a:bodyPr/>
                    <a:lstStyle/>
                    <a:p>
                      <a:pPr marL="0" lvl="0" indent="0" algn="r">
                        <a:buNone/>
                      </a:pPr>
                      <a:r>
                        <a:rPr sz="1000"/>
                        <a:t>13</a:t>
                      </a:r>
                    </a:p>
                  </a:txBody>
                  <a:tcPr/>
                </a:tc>
                <a:tc>
                  <a:txBody>
                    <a:bodyPr/>
                    <a:lstStyle/>
                    <a:p>
                      <a:pPr marL="0" lvl="0" indent="0" algn="r">
                        <a:buNone/>
                      </a:pPr>
                      <a:r>
                        <a:rPr sz="1000"/>
                        <a:t>26</a:t>
                      </a:r>
                    </a:p>
                  </a:txBody>
                  <a:tcPr/>
                </a:tc>
                <a:tc>
                  <a:txBody>
                    <a:bodyPr/>
                    <a:lstStyle/>
                    <a:p>
                      <a:pPr marL="0" lvl="0" indent="0" algn="r">
                        <a:buNone/>
                      </a:pPr>
                      <a:r>
                        <a:rPr sz="1000"/>
                        <a:t>4</a:t>
                      </a:r>
                    </a:p>
                  </a:txBody>
                  <a:tcPr/>
                </a:tc>
                <a:extLst>
                  <a:ext uri="{0D108BD9-81ED-4DB2-BD59-A6C34878D82A}">
                    <a16:rowId xmlns:a16="http://schemas.microsoft.com/office/drawing/2014/main" val="10008"/>
                  </a:ext>
                </a:extLst>
              </a:tr>
              <a:tr h="0">
                <a:tc>
                  <a:txBody>
                    <a:bodyPr/>
                    <a:lstStyle/>
                    <a:p>
                      <a:pPr marL="0" lvl="0" indent="0" algn="l">
                        <a:buNone/>
                      </a:pPr>
                      <a:r>
                        <a:rPr sz="1000"/>
                        <a:t>Infant and young child feeding</a:t>
                      </a:r>
                    </a:p>
                  </a:txBody>
                  <a:tcPr/>
                </a:tc>
                <a:tc>
                  <a:txBody>
                    <a:bodyPr/>
                    <a:lstStyle/>
                    <a:p>
                      <a:pPr marL="0" lvl="0" indent="0" algn="r">
                        <a:buNone/>
                      </a:pPr>
                      <a:r>
                        <a:rPr sz="1000"/>
                        <a:t>24</a:t>
                      </a:r>
                    </a:p>
                  </a:txBody>
                  <a:tcPr/>
                </a:tc>
                <a:tc>
                  <a:txBody>
                    <a:bodyPr/>
                    <a:lstStyle/>
                    <a:p>
                      <a:pPr marL="0" lvl="0" indent="0" algn="r">
                        <a:buNone/>
                      </a:pPr>
                      <a:r>
                        <a:rPr sz="1000"/>
                        <a:t>1</a:t>
                      </a:r>
                    </a:p>
                  </a:txBody>
                  <a:tcPr/>
                </a:tc>
                <a:tc>
                  <a:txBody>
                    <a:bodyPr/>
                    <a:lstStyle/>
                    <a:p>
                      <a:pPr marL="0" lvl="0" indent="0" algn="r">
                        <a:buNone/>
                      </a:pPr>
                      <a:r>
                        <a:rPr sz="1000"/>
                        <a:t>7</a:t>
                      </a:r>
                    </a:p>
                  </a:txBody>
                  <a:tcPr/>
                </a:tc>
                <a:tc>
                  <a:txBody>
                    <a:bodyPr/>
                    <a:lstStyle/>
                    <a:p>
                      <a:pPr marL="0" lvl="0" indent="0" algn="r">
                        <a:buNone/>
                      </a:pPr>
                      <a:r>
                        <a:rPr sz="1000"/>
                        <a:t>16</a:t>
                      </a:r>
                    </a:p>
                  </a:txBody>
                  <a:tcPr/>
                </a:tc>
                <a:tc>
                  <a:txBody>
                    <a:bodyPr/>
                    <a:lstStyle/>
                    <a:p>
                      <a:pPr marL="0" lvl="0" indent="0" algn="r">
                        <a:buNone/>
                      </a:pPr>
                      <a:r>
                        <a:rPr sz="1000"/>
                        <a:t>24</a:t>
                      </a:r>
                    </a:p>
                  </a:txBody>
                  <a:tcPr/>
                </a:tc>
                <a:tc>
                  <a:txBody>
                    <a:bodyPr/>
                    <a:lstStyle/>
                    <a:p>
                      <a:pPr marL="0" lvl="0" indent="0" algn="r">
                        <a:buNone/>
                      </a:pPr>
                      <a:r>
                        <a:rPr sz="1000"/>
                        <a:t>1</a:t>
                      </a:r>
                    </a:p>
                  </a:txBody>
                  <a:tcPr/>
                </a:tc>
                <a:extLst>
                  <a:ext uri="{0D108BD9-81ED-4DB2-BD59-A6C34878D82A}">
                    <a16:rowId xmlns:a16="http://schemas.microsoft.com/office/drawing/2014/main" val="10009"/>
                  </a:ext>
                </a:extLst>
              </a:tr>
              <a:tr h="0">
                <a:tc>
                  <a:txBody>
                    <a:bodyPr/>
                    <a:lstStyle/>
                    <a:p>
                      <a:pPr marL="0" lvl="0" indent="0" algn="l">
                        <a:buNone/>
                      </a:pPr>
                      <a:r>
                        <a:rPr sz="1000"/>
                        <a:t>Water and sanitation</a:t>
                      </a:r>
                    </a:p>
                  </a:txBody>
                  <a:tcPr/>
                </a:tc>
                <a:tc>
                  <a:txBody>
                    <a:bodyPr/>
                    <a:lstStyle/>
                    <a:p>
                      <a:pPr marL="0" lvl="0" indent="0" algn="r">
                        <a:buNone/>
                      </a:pPr>
                      <a:r>
                        <a:rPr sz="1000"/>
                        <a:t>24</a:t>
                      </a:r>
                    </a:p>
                  </a:txBody>
                  <a:tcPr/>
                </a:tc>
                <a:tc>
                  <a:txBody>
                    <a:bodyPr/>
                    <a:lstStyle/>
                    <a:p>
                      <a:pPr marL="0" lvl="0" indent="0" algn="r">
                        <a:buNone/>
                      </a:pPr>
                      <a:r>
                        <a:rPr sz="1000"/>
                        <a:t>10</a:t>
                      </a:r>
                    </a:p>
                  </a:txBody>
                  <a:tcPr/>
                </a:tc>
                <a:tc>
                  <a:txBody>
                    <a:bodyPr/>
                    <a:lstStyle/>
                    <a:p>
                      <a:pPr marL="0" lvl="0" indent="0" algn="r">
                        <a:buNone/>
                      </a:pPr>
                      <a:r>
                        <a:rPr sz="1000"/>
                        <a:t>5</a:t>
                      </a:r>
                    </a:p>
                  </a:txBody>
                  <a:tcPr/>
                </a:tc>
                <a:tc>
                  <a:txBody>
                    <a:bodyPr/>
                    <a:lstStyle/>
                    <a:p>
                      <a:pPr marL="0" lvl="0" indent="0" algn="r">
                        <a:buNone/>
                      </a:pPr>
                      <a:r>
                        <a:rPr sz="1000"/>
                        <a:t>9</a:t>
                      </a:r>
                    </a:p>
                  </a:txBody>
                  <a:tcPr/>
                </a:tc>
                <a:tc>
                  <a:txBody>
                    <a:bodyPr/>
                    <a:lstStyle/>
                    <a:p>
                      <a:pPr marL="0" lvl="0" indent="0" algn="r">
                        <a:buNone/>
                      </a:pPr>
                      <a:r>
                        <a:rPr sz="1000"/>
                        <a:t>24</a:t>
                      </a:r>
                    </a:p>
                  </a:txBody>
                  <a:tcPr/>
                </a:tc>
                <a:tc>
                  <a:txBody>
                    <a:bodyPr/>
                    <a:lstStyle/>
                    <a:p>
                      <a:pPr marL="0" lvl="0" indent="0" algn="r">
                        <a:buNone/>
                      </a:pPr>
                      <a:r>
                        <a:rPr sz="1000"/>
                        <a:t>10</a:t>
                      </a:r>
                    </a:p>
                  </a:txBody>
                  <a:tcPr/>
                </a:tc>
                <a:extLst>
                  <a:ext uri="{0D108BD9-81ED-4DB2-BD59-A6C34878D82A}">
                    <a16:rowId xmlns:a16="http://schemas.microsoft.com/office/drawing/2014/main" val="10010"/>
                  </a:ext>
                </a:extLst>
              </a:tr>
              <a:tr h="0">
                <a:tc>
                  <a:txBody>
                    <a:bodyPr/>
                    <a:lstStyle/>
                    <a:p>
                      <a:pPr marL="0" lvl="0" indent="0" algn="l">
                        <a:buNone/>
                      </a:pPr>
                      <a:r>
                        <a:rPr sz="1000"/>
                        <a:t>Food prices and supply</a:t>
                      </a:r>
                    </a:p>
                  </a:txBody>
                  <a:tcPr/>
                </a:tc>
                <a:tc>
                  <a:txBody>
                    <a:bodyPr/>
                    <a:lstStyle/>
                    <a:p>
                      <a:pPr marL="0" lvl="0" indent="0" algn="r">
                        <a:buNone/>
                      </a:pPr>
                      <a:r>
                        <a:rPr sz="1000"/>
                        <a:t>21</a:t>
                      </a:r>
                    </a:p>
                  </a:txBody>
                  <a:tcPr/>
                </a:tc>
                <a:tc>
                  <a:txBody>
                    <a:bodyPr/>
                    <a:lstStyle/>
                    <a:p>
                      <a:pPr marL="0" lvl="0" indent="0" algn="r">
                        <a:buNone/>
                      </a:pPr>
                      <a:r>
                        <a:rPr sz="1000"/>
                        <a:t>21</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12</a:t>
                      </a:r>
                    </a:p>
                  </a:txBody>
                  <a:tcPr/>
                </a:tc>
                <a:tc>
                  <a:txBody>
                    <a:bodyPr/>
                    <a:lstStyle/>
                    <a:p>
                      <a:pPr marL="0" lvl="0" indent="0" algn="r">
                        <a:buNone/>
                      </a:pPr>
                      <a:r>
                        <a:rPr sz="1000"/>
                        <a:t>0</a:t>
                      </a:r>
                    </a:p>
                  </a:txBody>
                  <a:tcPr/>
                </a:tc>
                <a:extLst>
                  <a:ext uri="{0D108BD9-81ED-4DB2-BD59-A6C34878D82A}">
                    <a16:rowId xmlns:a16="http://schemas.microsoft.com/office/drawing/2014/main" val="10011"/>
                  </a:ext>
                </a:extLst>
              </a:tr>
              <a:tr h="0">
                <a:tc>
                  <a:txBody>
                    <a:bodyPr/>
                    <a:lstStyle/>
                    <a:p>
                      <a:pPr marL="0" lvl="0" indent="0" algn="l">
                        <a:buNone/>
                      </a:pPr>
                      <a:r>
                        <a:rPr sz="1000"/>
                        <a:t>Child anthropometry</a:t>
                      </a:r>
                    </a:p>
                  </a:txBody>
                  <a:tcPr/>
                </a:tc>
                <a:tc>
                  <a:txBody>
                    <a:bodyPr/>
                    <a:lstStyle/>
                    <a:p>
                      <a:pPr marL="0" lvl="0" indent="0" algn="r">
                        <a:buNone/>
                      </a:pPr>
                      <a:r>
                        <a:rPr sz="1000"/>
                        <a:t>20</a:t>
                      </a:r>
                    </a:p>
                  </a:txBody>
                  <a:tcPr/>
                </a:tc>
                <a:tc>
                  <a:txBody>
                    <a:bodyPr/>
                    <a:lstStyle/>
                    <a:p>
                      <a:pPr marL="0" lvl="0" indent="0" algn="r">
                        <a:buNone/>
                      </a:pPr>
                      <a:r>
                        <a:rPr sz="1000"/>
                        <a:t>4</a:t>
                      </a:r>
                    </a:p>
                  </a:txBody>
                  <a:tcPr/>
                </a:tc>
                <a:tc>
                  <a:txBody>
                    <a:bodyPr/>
                    <a:lstStyle/>
                    <a:p>
                      <a:pPr marL="0" lvl="0" indent="0" algn="r">
                        <a:buNone/>
                      </a:pPr>
                      <a:r>
                        <a:rPr sz="1000"/>
                        <a:t>4</a:t>
                      </a:r>
                    </a:p>
                  </a:txBody>
                  <a:tcPr/>
                </a:tc>
                <a:tc>
                  <a:txBody>
                    <a:bodyPr/>
                    <a:lstStyle/>
                    <a:p>
                      <a:pPr marL="0" lvl="0" indent="0" algn="r">
                        <a:buNone/>
                      </a:pPr>
                      <a:r>
                        <a:rPr sz="1000"/>
                        <a:t>12</a:t>
                      </a:r>
                    </a:p>
                  </a:txBody>
                  <a:tcPr/>
                </a:tc>
                <a:tc>
                  <a:txBody>
                    <a:bodyPr/>
                    <a:lstStyle/>
                    <a:p>
                      <a:pPr marL="0" lvl="0" indent="0" algn="r">
                        <a:buNone/>
                      </a:pPr>
                      <a:r>
                        <a:rPr sz="1000"/>
                        <a:t>20</a:t>
                      </a:r>
                    </a:p>
                  </a:txBody>
                  <a:tcPr/>
                </a:tc>
                <a:tc>
                  <a:txBody>
                    <a:bodyPr/>
                    <a:lstStyle/>
                    <a:p>
                      <a:pPr marL="0" lvl="0" indent="0" algn="r">
                        <a:buNone/>
                      </a:pPr>
                      <a:r>
                        <a:rPr sz="1000"/>
                        <a:t>4</a:t>
                      </a:r>
                    </a:p>
                  </a:txBody>
                  <a:tcPr/>
                </a:tc>
                <a:extLst>
                  <a:ext uri="{0D108BD9-81ED-4DB2-BD59-A6C34878D82A}">
                    <a16:rowId xmlns:a16="http://schemas.microsoft.com/office/drawing/2014/main" val="10012"/>
                  </a:ext>
                </a:extLst>
              </a:tr>
              <a:tr h="0">
                <a:tc>
                  <a:txBody>
                    <a:bodyPr/>
                    <a:lstStyle/>
                    <a:p>
                      <a:pPr marL="0" lvl="0" indent="0" algn="l">
                        <a:buNone/>
                      </a:pPr>
                      <a:r>
                        <a:rPr sz="1000"/>
                        <a:t>Household assets and characteristics</a:t>
                      </a:r>
                    </a:p>
                  </a:txBody>
                  <a:tcPr/>
                </a:tc>
                <a:tc>
                  <a:txBody>
                    <a:bodyPr/>
                    <a:lstStyle/>
                    <a:p>
                      <a:pPr marL="0" lvl="0" indent="0" algn="r">
                        <a:buNone/>
                      </a:pPr>
                      <a:r>
                        <a:rPr sz="1000"/>
                        <a:t>19</a:t>
                      </a:r>
                    </a:p>
                  </a:txBody>
                  <a:tcPr/>
                </a:tc>
                <a:tc>
                  <a:txBody>
                    <a:bodyPr/>
                    <a:lstStyle/>
                    <a:p>
                      <a:pPr marL="0" lvl="0" indent="0" algn="r">
                        <a:buNone/>
                      </a:pPr>
                      <a:r>
                        <a:rPr sz="1000"/>
                        <a:t>5</a:t>
                      </a:r>
                    </a:p>
                  </a:txBody>
                  <a:tcPr/>
                </a:tc>
                <a:tc>
                  <a:txBody>
                    <a:bodyPr/>
                    <a:lstStyle/>
                    <a:p>
                      <a:pPr marL="0" lvl="0" indent="0" algn="r">
                        <a:buNone/>
                      </a:pPr>
                      <a:r>
                        <a:rPr sz="1000"/>
                        <a:t>3</a:t>
                      </a:r>
                    </a:p>
                  </a:txBody>
                  <a:tcPr/>
                </a:tc>
                <a:tc>
                  <a:txBody>
                    <a:bodyPr/>
                    <a:lstStyle/>
                    <a:p>
                      <a:pPr marL="0" lvl="0" indent="0" algn="r">
                        <a:buNone/>
                      </a:pPr>
                      <a:r>
                        <a:rPr sz="1000"/>
                        <a:t>11</a:t>
                      </a:r>
                    </a:p>
                  </a:txBody>
                  <a:tcPr/>
                </a:tc>
                <a:tc>
                  <a:txBody>
                    <a:bodyPr/>
                    <a:lstStyle/>
                    <a:p>
                      <a:pPr marL="0" lvl="0" indent="0" algn="r">
                        <a:buNone/>
                      </a:pPr>
                      <a:r>
                        <a:rPr sz="1000"/>
                        <a:t>19</a:t>
                      </a:r>
                    </a:p>
                  </a:txBody>
                  <a:tcPr/>
                </a:tc>
                <a:tc>
                  <a:txBody>
                    <a:bodyPr/>
                    <a:lstStyle/>
                    <a:p>
                      <a:pPr marL="0" lvl="0" indent="0" algn="r">
                        <a:buNone/>
                      </a:pPr>
                      <a:r>
                        <a:rPr sz="1000"/>
                        <a:t>0</a:t>
                      </a:r>
                    </a:p>
                  </a:txBody>
                  <a:tcPr/>
                </a:tc>
                <a:extLst>
                  <a:ext uri="{0D108BD9-81ED-4DB2-BD59-A6C34878D82A}">
                    <a16:rowId xmlns:a16="http://schemas.microsoft.com/office/drawing/2014/main" val="10013"/>
                  </a:ext>
                </a:extLst>
              </a:tr>
              <a:tr h="0">
                <a:tc>
                  <a:txBody>
                    <a:bodyPr/>
                    <a:lstStyle/>
                    <a:p>
                      <a:pPr marL="0" lvl="0" indent="0" algn="l">
                        <a:buNone/>
                      </a:pPr>
                      <a:r>
                        <a:rPr sz="1000"/>
                        <a:t>Anaemia and haemoglobin</a:t>
                      </a:r>
                    </a:p>
                  </a:txBody>
                  <a:tcPr/>
                </a:tc>
                <a:tc>
                  <a:txBody>
                    <a:bodyPr/>
                    <a:lstStyle/>
                    <a:p>
                      <a:pPr marL="0" lvl="0" indent="0" algn="r">
                        <a:buNone/>
                      </a:pPr>
                      <a:r>
                        <a:rPr sz="1000"/>
                        <a:t>16</a:t>
                      </a:r>
                    </a:p>
                  </a:txBody>
                  <a:tcPr/>
                </a:tc>
                <a:tc>
                  <a:txBody>
                    <a:bodyPr/>
                    <a:lstStyle/>
                    <a:p>
                      <a:pPr marL="0" lvl="0" indent="0" algn="r">
                        <a:buNone/>
                      </a:pPr>
                      <a:r>
                        <a:rPr sz="1000"/>
                        <a:t>11</a:t>
                      </a:r>
                    </a:p>
                  </a:txBody>
                  <a:tcPr/>
                </a:tc>
                <a:tc>
                  <a:txBody>
                    <a:bodyPr/>
                    <a:lstStyle/>
                    <a:p>
                      <a:pPr marL="0" lvl="0" indent="0" algn="r">
                        <a:buNone/>
                      </a:pPr>
                      <a:r>
                        <a:rPr sz="1000"/>
                        <a:t>0</a:t>
                      </a:r>
                    </a:p>
                  </a:txBody>
                  <a:tcPr/>
                </a:tc>
                <a:tc>
                  <a:txBody>
                    <a:bodyPr/>
                    <a:lstStyle/>
                    <a:p>
                      <a:pPr marL="0" lvl="0" indent="0" algn="r">
                        <a:buNone/>
                      </a:pPr>
                      <a:r>
                        <a:rPr sz="1000"/>
                        <a:t>5</a:t>
                      </a:r>
                    </a:p>
                  </a:txBody>
                  <a:tcPr/>
                </a:tc>
                <a:tc>
                  <a:txBody>
                    <a:bodyPr/>
                    <a:lstStyle/>
                    <a:p>
                      <a:pPr marL="0" lvl="0" indent="0" algn="r">
                        <a:buNone/>
                      </a:pPr>
                      <a:r>
                        <a:rPr sz="1000"/>
                        <a:t>9</a:t>
                      </a:r>
                    </a:p>
                  </a:txBody>
                  <a:tcPr/>
                </a:tc>
                <a:tc>
                  <a:txBody>
                    <a:bodyPr/>
                    <a:lstStyle/>
                    <a:p>
                      <a:pPr marL="0" lvl="0" indent="0" algn="r">
                        <a:buNone/>
                      </a:pPr>
                      <a:r>
                        <a:rPr sz="1000"/>
                        <a:t>11</a:t>
                      </a:r>
                    </a:p>
                  </a:txBody>
                  <a:tcPr/>
                </a:tc>
                <a:extLst>
                  <a:ext uri="{0D108BD9-81ED-4DB2-BD59-A6C34878D82A}">
                    <a16:rowId xmlns:a16="http://schemas.microsoft.com/office/drawing/2014/main" val="10014"/>
                  </a:ext>
                </a:extLst>
              </a:tr>
              <a:tr h="0">
                <a:tc>
                  <a:txBody>
                    <a:bodyPr/>
                    <a:lstStyle/>
                    <a:p>
                      <a:pPr marL="0" lvl="0" indent="0" algn="l">
                        <a:buNone/>
                      </a:pPr>
                      <a:r>
                        <a:rPr sz="1000"/>
                        <a:t>Fertility, reproductive health</a:t>
                      </a:r>
                    </a:p>
                  </a:txBody>
                  <a:tcPr/>
                </a:tc>
                <a:tc>
                  <a:txBody>
                    <a:bodyPr/>
                    <a:lstStyle/>
                    <a:p>
                      <a:pPr marL="0" lvl="0" indent="0" algn="r">
                        <a:buNone/>
                      </a:pPr>
                      <a:r>
                        <a:rPr sz="1000"/>
                        <a:t>15</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15</a:t>
                      </a:r>
                    </a:p>
                  </a:txBody>
                  <a:tcPr/>
                </a:tc>
                <a:tc>
                  <a:txBody>
                    <a:bodyPr/>
                    <a:lstStyle/>
                    <a:p>
                      <a:pPr marL="0" lvl="0" indent="0" algn="r">
                        <a:buNone/>
                      </a:pPr>
                      <a:r>
                        <a:rPr sz="1000"/>
                        <a:t>15</a:t>
                      </a:r>
                    </a:p>
                  </a:txBody>
                  <a:tcPr/>
                </a:tc>
                <a:tc>
                  <a:txBody>
                    <a:bodyPr/>
                    <a:lstStyle/>
                    <a:p>
                      <a:pPr marL="0" lvl="0" indent="0" algn="r">
                        <a:buNone/>
                      </a:pPr>
                      <a:r>
                        <a:rPr sz="1000"/>
                        <a:t>0</a:t>
                      </a:r>
                    </a:p>
                  </a:txBody>
                  <a:tcPr/>
                </a:tc>
                <a:extLst>
                  <a:ext uri="{0D108BD9-81ED-4DB2-BD59-A6C34878D82A}">
                    <a16:rowId xmlns:a16="http://schemas.microsoft.com/office/drawing/2014/main" val="10015"/>
                  </a:ext>
                </a:extLst>
              </a:tr>
              <a:tr h="0">
                <a:tc>
                  <a:txBody>
                    <a:bodyPr/>
                    <a:lstStyle/>
                    <a:p>
                      <a:pPr marL="0" lvl="0" indent="0" algn="l">
                        <a:buNone/>
                      </a:pPr>
                      <a:r>
                        <a:rPr sz="1000"/>
                        <a:t>Household diet and consumption (HCES)</a:t>
                      </a:r>
                    </a:p>
                  </a:txBody>
                  <a:tcPr/>
                </a:tc>
                <a:tc>
                  <a:txBody>
                    <a:bodyPr/>
                    <a:lstStyle/>
                    <a:p>
                      <a:pPr marL="0" lvl="0" indent="0" algn="r">
                        <a:buNone/>
                      </a:pPr>
                      <a:r>
                        <a:rPr sz="1000"/>
                        <a:t>15</a:t>
                      </a:r>
                    </a:p>
                  </a:txBody>
                  <a:tcPr/>
                </a:tc>
                <a:tc>
                  <a:txBody>
                    <a:bodyPr/>
                    <a:lstStyle/>
                    <a:p>
                      <a:pPr marL="0" lvl="0" indent="0" algn="r">
                        <a:buNone/>
                      </a:pPr>
                      <a:r>
                        <a:rPr sz="1000"/>
                        <a:t>0</a:t>
                      </a:r>
                    </a:p>
                  </a:txBody>
                  <a:tcPr/>
                </a:tc>
                <a:tc>
                  <a:txBody>
                    <a:bodyPr/>
                    <a:lstStyle/>
                    <a:p>
                      <a:pPr marL="0" lvl="0" indent="0" algn="r">
                        <a:buNone/>
                      </a:pPr>
                      <a:r>
                        <a:rPr sz="1000"/>
                        <a:t>15</a:t>
                      </a:r>
                    </a:p>
                  </a:txBody>
                  <a:tcPr/>
                </a:tc>
                <a:tc>
                  <a:txBody>
                    <a:bodyPr/>
                    <a:lstStyle/>
                    <a:p>
                      <a:pPr marL="0" lvl="0" indent="0" algn="r">
                        <a:buNone/>
                      </a:pPr>
                      <a:r>
                        <a:rPr sz="1000"/>
                        <a:t>0</a:t>
                      </a:r>
                    </a:p>
                  </a:txBody>
                  <a:tcPr/>
                </a:tc>
                <a:tc>
                  <a:txBody>
                    <a:bodyPr/>
                    <a:lstStyle/>
                    <a:p>
                      <a:pPr marL="0" lvl="0" indent="0" algn="r">
                        <a:buNone/>
                      </a:pPr>
                      <a:r>
                        <a:rPr sz="1000"/>
                        <a:t>15</a:t>
                      </a:r>
                    </a:p>
                  </a:txBody>
                  <a:tcPr/>
                </a:tc>
                <a:tc>
                  <a:txBody>
                    <a:bodyPr/>
                    <a:lstStyle/>
                    <a:p>
                      <a:pPr marL="0" lvl="0" indent="0" algn="r">
                        <a:buNone/>
                      </a:pPr>
                      <a:r>
                        <a:rPr sz="1000"/>
                        <a:t>0</a:t>
                      </a:r>
                    </a:p>
                  </a:txBody>
                  <a:tcPr/>
                </a:tc>
                <a:extLst>
                  <a:ext uri="{0D108BD9-81ED-4DB2-BD59-A6C34878D82A}">
                    <a16:rowId xmlns:a16="http://schemas.microsoft.com/office/drawing/2014/main" val="10016"/>
                  </a:ext>
                </a:extLst>
              </a:tr>
              <a:tr h="0">
                <a:tc>
                  <a:txBody>
                    <a:bodyPr/>
                    <a:lstStyle/>
                    <a:p>
                      <a:pPr marL="0" lvl="0" indent="0" algn="l">
                        <a:buNone/>
                      </a:pPr>
                      <a:r>
                        <a:rPr sz="1000"/>
                        <a:t>Ecosystem productivity/greenness</a:t>
                      </a:r>
                    </a:p>
                  </a:txBody>
                  <a:tcPr/>
                </a:tc>
                <a:tc>
                  <a:txBody>
                    <a:bodyPr/>
                    <a:lstStyle/>
                    <a:p>
                      <a:pPr marL="0" lvl="0" indent="0" algn="r">
                        <a:buNone/>
                      </a:pPr>
                      <a:r>
                        <a:rPr sz="1000"/>
                        <a:t>14</a:t>
                      </a:r>
                    </a:p>
                  </a:txBody>
                  <a:tcPr/>
                </a:tc>
                <a:tc>
                  <a:txBody>
                    <a:bodyPr/>
                    <a:lstStyle/>
                    <a:p>
                      <a:pPr marL="0" lvl="0" indent="0" algn="r">
                        <a:buNone/>
                      </a:pPr>
                      <a:r>
                        <a:rPr sz="1000"/>
                        <a:t>14</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14</a:t>
                      </a:r>
                    </a:p>
                  </a:txBody>
                  <a:tcPr/>
                </a:tc>
                <a:tc>
                  <a:txBody>
                    <a:bodyPr/>
                    <a:lstStyle/>
                    <a:p>
                      <a:pPr marL="0" lvl="0" indent="0" algn="r">
                        <a:buNone/>
                      </a:pPr>
                      <a:r>
                        <a:rPr sz="1000"/>
                        <a:t>0</a:t>
                      </a:r>
                    </a:p>
                  </a:txBody>
                  <a:tcPr/>
                </a:tc>
                <a:extLst>
                  <a:ext uri="{0D108BD9-81ED-4DB2-BD59-A6C34878D82A}">
                    <a16:rowId xmlns:a16="http://schemas.microsoft.com/office/drawing/2014/main" val="10017"/>
                  </a:ext>
                </a:extLst>
              </a:tr>
              <a:tr h="0">
                <a:tc>
                  <a:txBody>
                    <a:bodyPr/>
                    <a:lstStyle/>
                    <a:p>
                      <a:pPr marL="0" lvl="0" indent="0" algn="l">
                        <a:buNone/>
                      </a:pPr>
                      <a:r>
                        <a:rPr sz="1000"/>
                        <a:t>Built environment</a:t>
                      </a:r>
                    </a:p>
                  </a:txBody>
                  <a:tcPr/>
                </a:tc>
                <a:tc>
                  <a:txBody>
                    <a:bodyPr/>
                    <a:lstStyle/>
                    <a:p>
                      <a:pPr marL="0" lvl="0" indent="0" algn="r">
                        <a:buNone/>
                      </a:pPr>
                      <a:r>
                        <a:rPr sz="1000"/>
                        <a:t>13</a:t>
                      </a:r>
                    </a:p>
                  </a:txBody>
                  <a:tcPr/>
                </a:tc>
                <a:tc>
                  <a:txBody>
                    <a:bodyPr/>
                    <a:lstStyle/>
                    <a:p>
                      <a:pPr marL="0" lvl="0" indent="0" algn="r">
                        <a:buNone/>
                      </a:pPr>
                      <a:r>
                        <a:rPr sz="1000"/>
                        <a:t>10</a:t>
                      </a:r>
                    </a:p>
                  </a:txBody>
                  <a:tcPr/>
                </a:tc>
                <a:tc>
                  <a:txBody>
                    <a:bodyPr/>
                    <a:lstStyle/>
                    <a:p>
                      <a:pPr marL="0" lvl="0" indent="0" algn="r">
                        <a:buNone/>
                      </a:pPr>
                      <a:r>
                        <a:rPr sz="1000"/>
                        <a:t>0</a:t>
                      </a:r>
                    </a:p>
                  </a:txBody>
                  <a:tcPr/>
                </a:tc>
                <a:tc>
                  <a:txBody>
                    <a:bodyPr/>
                    <a:lstStyle/>
                    <a:p>
                      <a:pPr marL="0" lvl="0" indent="0" algn="r">
                        <a:buNone/>
                      </a:pPr>
                      <a:r>
                        <a:rPr sz="1000"/>
                        <a:t>3</a:t>
                      </a:r>
                    </a:p>
                  </a:txBody>
                  <a:tcPr/>
                </a:tc>
                <a:tc>
                  <a:txBody>
                    <a:bodyPr/>
                    <a:lstStyle/>
                    <a:p>
                      <a:pPr marL="0" lvl="0" indent="0" algn="r">
                        <a:buNone/>
                      </a:pPr>
                      <a:r>
                        <a:rPr sz="1000"/>
                        <a:t>13</a:t>
                      </a:r>
                    </a:p>
                  </a:txBody>
                  <a:tcPr/>
                </a:tc>
                <a:tc>
                  <a:txBody>
                    <a:bodyPr/>
                    <a:lstStyle/>
                    <a:p>
                      <a:pPr marL="0" lvl="0" indent="0" algn="r">
                        <a:buNone/>
                      </a:pPr>
                      <a:r>
                        <a:rPr sz="1000"/>
                        <a:t>0</a:t>
                      </a:r>
                    </a:p>
                  </a:txBody>
                  <a:tcPr/>
                </a:tc>
                <a:extLst>
                  <a:ext uri="{0D108BD9-81ED-4DB2-BD59-A6C34878D82A}">
                    <a16:rowId xmlns:a16="http://schemas.microsoft.com/office/drawing/2014/main" val="10018"/>
                  </a:ext>
                </a:extLst>
              </a:tr>
              <a:tr h="0">
                <a:tc>
                  <a:txBody>
                    <a:bodyPr/>
                    <a:lstStyle/>
                    <a:p>
                      <a:pPr marL="0" lvl="0" indent="0" algn="l">
                        <a:buNone/>
                      </a:pPr>
                      <a:r>
                        <a:rPr sz="1000"/>
                        <a:t>Adult and maternal mortality</a:t>
                      </a:r>
                    </a:p>
                  </a:txBody>
                  <a:tcPr/>
                </a:tc>
                <a:tc>
                  <a:txBody>
                    <a:bodyPr/>
                    <a:lstStyle/>
                    <a:p>
                      <a:pPr marL="0" lvl="0" indent="0" algn="r">
                        <a:buNone/>
                      </a:pPr>
                      <a:r>
                        <a:rPr sz="1000"/>
                        <a:t>9</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9</a:t>
                      </a:r>
                    </a:p>
                  </a:txBody>
                  <a:tcPr/>
                </a:tc>
                <a:tc>
                  <a:txBody>
                    <a:bodyPr/>
                    <a:lstStyle/>
                    <a:p>
                      <a:pPr marL="0" lvl="0" indent="0" algn="r">
                        <a:buNone/>
                      </a:pPr>
                      <a:r>
                        <a:rPr sz="1000"/>
                        <a:t>9</a:t>
                      </a:r>
                    </a:p>
                  </a:txBody>
                  <a:tcPr/>
                </a:tc>
                <a:tc>
                  <a:txBody>
                    <a:bodyPr/>
                    <a:lstStyle/>
                    <a:p>
                      <a:pPr marL="0" lvl="0" indent="0" algn="r">
                        <a:buNone/>
                      </a:pPr>
                      <a:r>
                        <a:rPr sz="1000"/>
                        <a:t>0</a:t>
                      </a:r>
                    </a:p>
                  </a:txBody>
                  <a:tcPr/>
                </a:tc>
                <a:extLst>
                  <a:ext uri="{0D108BD9-81ED-4DB2-BD59-A6C34878D82A}">
                    <a16:rowId xmlns:a16="http://schemas.microsoft.com/office/drawing/2014/main" val="10019"/>
                  </a:ext>
                </a:extLst>
              </a:tr>
              <a:tr h="0">
                <a:tc>
                  <a:txBody>
                    <a:bodyPr/>
                    <a:lstStyle/>
                    <a:p>
                      <a:pPr marL="0" lvl="0" indent="0" algn="l">
                        <a:buNone/>
                      </a:pPr>
                      <a:r>
                        <a:rPr sz="1000"/>
                        <a:t>Conflict and insecurity</a:t>
                      </a:r>
                    </a:p>
                  </a:txBody>
                  <a:tcPr/>
                </a:tc>
                <a:tc>
                  <a:txBody>
                    <a:bodyPr/>
                    <a:lstStyle/>
                    <a:p>
                      <a:pPr marL="0" lvl="0" indent="0" algn="r">
                        <a:buNone/>
                      </a:pPr>
                      <a:r>
                        <a:rPr sz="1000"/>
                        <a:t>8</a:t>
                      </a:r>
                    </a:p>
                  </a:txBody>
                  <a:tcPr/>
                </a:tc>
                <a:tc>
                  <a:txBody>
                    <a:bodyPr/>
                    <a:lstStyle/>
                    <a:p>
                      <a:pPr marL="0" lvl="0" indent="0" algn="r">
                        <a:buNone/>
                      </a:pPr>
                      <a:r>
                        <a:rPr sz="1000"/>
                        <a:t>8</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8</a:t>
                      </a:r>
                    </a:p>
                  </a:txBody>
                  <a:tcPr/>
                </a:tc>
                <a:tc>
                  <a:txBody>
                    <a:bodyPr/>
                    <a:lstStyle/>
                    <a:p>
                      <a:pPr marL="0" lvl="0" indent="0" algn="r">
                        <a:buNone/>
                      </a:pPr>
                      <a:r>
                        <a:rPr sz="1000"/>
                        <a:t>0</a:t>
                      </a:r>
                    </a:p>
                  </a:txBody>
                  <a:tcPr/>
                </a:tc>
                <a:extLst>
                  <a:ext uri="{0D108BD9-81ED-4DB2-BD59-A6C34878D82A}">
                    <a16:rowId xmlns:a16="http://schemas.microsoft.com/office/drawing/2014/main" val="10020"/>
                  </a:ext>
                </a:extLst>
              </a:tr>
              <a:tr h="0">
                <a:tc>
                  <a:txBody>
                    <a:bodyPr/>
                    <a:lstStyle/>
                    <a:p>
                      <a:pPr marL="0" lvl="0" indent="0" algn="l">
                        <a:buNone/>
                      </a:pPr>
                      <a:r>
                        <a:rPr sz="1000"/>
                        <a:t>Livestock density</a:t>
                      </a:r>
                    </a:p>
                  </a:txBody>
                  <a:tcPr/>
                </a:tc>
                <a:tc>
                  <a:txBody>
                    <a:bodyPr/>
                    <a:lstStyle/>
                    <a:p>
                      <a:pPr marL="0" lvl="0" indent="0" algn="r">
                        <a:buNone/>
                      </a:pPr>
                      <a:r>
                        <a:rPr sz="1000"/>
                        <a:t>8</a:t>
                      </a:r>
                    </a:p>
                  </a:txBody>
                  <a:tcPr/>
                </a:tc>
                <a:tc>
                  <a:txBody>
                    <a:bodyPr/>
                    <a:lstStyle/>
                    <a:p>
                      <a:pPr marL="0" lvl="0" indent="0" algn="r">
                        <a:buNone/>
                      </a:pPr>
                      <a:r>
                        <a:rPr sz="1000"/>
                        <a:t>8</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8</a:t>
                      </a:r>
                    </a:p>
                  </a:txBody>
                  <a:tcPr/>
                </a:tc>
                <a:tc>
                  <a:txBody>
                    <a:bodyPr/>
                    <a:lstStyle/>
                    <a:p>
                      <a:pPr marL="0" lvl="0" indent="0" algn="r">
                        <a:buNone/>
                      </a:pPr>
                      <a:r>
                        <a:rPr sz="1000"/>
                        <a:t>0</a:t>
                      </a:r>
                    </a:p>
                  </a:txBody>
                  <a:tcPr/>
                </a:tc>
                <a:extLst>
                  <a:ext uri="{0D108BD9-81ED-4DB2-BD59-A6C34878D82A}">
                    <a16:rowId xmlns:a16="http://schemas.microsoft.com/office/drawing/2014/main" val="10021"/>
                  </a:ext>
                </a:extLst>
              </a:tr>
              <a:tr h="0">
                <a:tc>
                  <a:txBody>
                    <a:bodyPr/>
                    <a:lstStyle/>
                    <a:p>
                      <a:pPr marL="0" lvl="0" indent="0" algn="l">
                        <a:buNone/>
                      </a:pPr>
                      <a:r>
                        <a:rPr sz="1000"/>
                        <a:t>Ruralness, population density, built environment</a:t>
                      </a:r>
                    </a:p>
                  </a:txBody>
                  <a:tcPr/>
                </a:tc>
                <a:tc>
                  <a:txBody>
                    <a:bodyPr/>
                    <a:lstStyle/>
                    <a:p>
                      <a:pPr marL="0" lvl="0" indent="0" algn="r">
                        <a:buNone/>
                      </a:pPr>
                      <a:r>
                        <a:rPr sz="1000"/>
                        <a:t>7</a:t>
                      </a:r>
                    </a:p>
                  </a:txBody>
                  <a:tcPr/>
                </a:tc>
                <a:tc>
                  <a:txBody>
                    <a:bodyPr/>
                    <a:lstStyle/>
                    <a:p>
                      <a:pPr marL="0" lvl="0" indent="0" algn="r">
                        <a:buNone/>
                      </a:pPr>
                      <a:r>
                        <a:rPr sz="1000"/>
                        <a:t>7</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7</a:t>
                      </a:r>
                    </a:p>
                  </a:txBody>
                  <a:tcPr/>
                </a:tc>
                <a:tc>
                  <a:txBody>
                    <a:bodyPr/>
                    <a:lstStyle/>
                    <a:p>
                      <a:pPr marL="0" lvl="0" indent="0" algn="r">
                        <a:buNone/>
                      </a:pPr>
                      <a:r>
                        <a:rPr sz="1000"/>
                        <a:t>0</a:t>
                      </a:r>
                    </a:p>
                  </a:txBody>
                  <a:tcPr/>
                </a:tc>
                <a:extLst>
                  <a:ext uri="{0D108BD9-81ED-4DB2-BD59-A6C34878D82A}">
                    <a16:rowId xmlns:a16="http://schemas.microsoft.com/office/drawing/2014/main" val="10022"/>
                  </a:ext>
                </a:extLst>
              </a:tr>
              <a:tr h="0">
                <a:tc>
                  <a:txBody>
                    <a:bodyPr/>
                    <a:lstStyle/>
                    <a:p>
                      <a:pPr marL="0" lvl="0" indent="0" algn="l">
                        <a:buNone/>
                      </a:pPr>
                      <a:r>
                        <a:rPr sz="1000"/>
                        <a:t>Dietary inadequacy (MODELLED SURFACE, HCES)</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6</a:t>
                      </a:r>
                    </a:p>
                  </a:txBody>
                  <a:tcPr/>
                </a:tc>
                <a:extLst>
                  <a:ext uri="{0D108BD9-81ED-4DB2-BD59-A6C34878D82A}">
                    <a16:rowId xmlns:a16="http://schemas.microsoft.com/office/drawing/2014/main" val="10023"/>
                  </a:ext>
                </a:extLst>
              </a:tr>
              <a:tr h="0">
                <a:tc>
                  <a:txBody>
                    <a:bodyPr/>
                    <a:lstStyle/>
                    <a:p>
                      <a:pPr marL="0" lvl="0" indent="0" algn="l">
                        <a:buNone/>
                      </a:pPr>
                      <a:r>
                        <a:rPr sz="1000"/>
                        <a:t>Healthcare access</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extLst>
                  <a:ext uri="{0D108BD9-81ED-4DB2-BD59-A6C34878D82A}">
                    <a16:rowId xmlns:a16="http://schemas.microsoft.com/office/drawing/2014/main" val="10024"/>
                  </a:ext>
                </a:extLst>
              </a:tr>
              <a:tr h="0">
                <a:tc>
                  <a:txBody>
                    <a:bodyPr/>
                    <a:lstStyle/>
                    <a:p>
                      <a:pPr marL="0" lvl="0" indent="0" algn="l">
                        <a:buNone/>
                      </a:pPr>
                      <a:r>
                        <a:rPr sz="1000"/>
                        <a:t>Market prices (RTFP)</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0</a:t>
                      </a:r>
                    </a:p>
                  </a:txBody>
                  <a:tcPr/>
                </a:tc>
                <a:extLst>
                  <a:ext uri="{0D108BD9-81ED-4DB2-BD59-A6C34878D82A}">
                    <a16:rowId xmlns:a16="http://schemas.microsoft.com/office/drawing/2014/main" val="10025"/>
                  </a:ext>
                </a:extLst>
              </a:tr>
              <a:tr h="0">
                <a:tc>
                  <a:txBody>
                    <a:bodyPr/>
                    <a:lstStyle/>
                    <a:p>
                      <a:pPr marL="0" lvl="0" indent="0" algn="l">
                        <a:buNone/>
                      </a:pPr>
                      <a:r>
                        <a:rPr sz="1000"/>
                        <a:t>Water and coast proximity</a:t>
                      </a:r>
                    </a:p>
                  </a:txBody>
                  <a:tcPr/>
                </a:tc>
                <a:tc>
                  <a:txBody>
                    <a:bodyPr/>
                    <a:lstStyle/>
                    <a:p>
                      <a:pPr marL="0" lvl="0" indent="0" algn="r">
                        <a:buNone/>
                      </a:pPr>
                      <a:r>
                        <a:rPr sz="1000"/>
                        <a:t>6</a:t>
                      </a:r>
                    </a:p>
                  </a:txBody>
                  <a:tcPr/>
                </a:tc>
                <a:tc>
                  <a:txBody>
                    <a:bodyPr/>
                    <a:lstStyle/>
                    <a:p>
                      <a:pPr marL="0" lvl="0" indent="0" algn="r">
                        <a:buNone/>
                      </a:pPr>
                      <a:r>
                        <a:rPr sz="1000"/>
                        <a:t>6</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6</a:t>
                      </a:r>
                    </a:p>
                  </a:txBody>
                  <a:tcPr/>
                </a:tc>
                <a:tc>
                  <a:txBody>
                    <a:bodyPr/>
                    <a:lstStyle/>
                    <a:p>
                      <a:pPr marL="0" lvl="0" indent="0" algn="r">
                        <a:buNone/>
                      </a:pPr>
                      <a:r>
                        <a:rPr sz="1000"/>
                        <a:t>0</a:t>
                      </a:r>
                    </a:p>
                  </a:txBody>
                  <a:tcPr/>
                </a:tc>
                <a:extLst>
                  <a:ext uri="{0D108BD9-81ED-4DB2-BD59-A6C34878D82A}">
                    <a16:rowId xmlns:a16="http://schemas.microsoft.com/office/drawing/2014/main" val="10026"/>
                  </a:ext>
                </a:extLst>
              </a:tr>
              <a:tr h="0">
                <a:tc>
                  <a:txBody>
                    <a:bodyPr/>
                    <a:lstStyle/>
                    <a:p>
                      <a:pPr marL="0" lvl="0" indent="0" algn="l">
                        <a:buNone/>
                      </a:pPr>
                      <a:r>
                        <a:rPr sz="1000"/>
                        <a:t>Child mortality</a:t>
                      </a:r>
                    </a:p>
                  </a:txBody>
                  <a:tcPr/>
                </a:tc>
                <a:tc>
                  <a:txBody>
                    <a:bodyPr/>
                    <a:lstStyle/>
                    <a:p>
                      <a:pPr marL="0" lvl="0" indent="0" algn="r">
                        <a:buNone/>
                      </a:pPr>
                      <a:r>
                        <a:rPr sz="1000"/>
                        <a:t>4</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4</a:t>
                      </a:r>
                    </a:p>
                  </a:txBody>
                  <a:tcPr/>
                </a:tc>
                <a:tc>
                  <a:txBody>
                    <a:bodyPr/>
                    <a:lstStyle/>
                    <a:p>
                      <a:pPr marL="0" lvl="0" indent="0" algn="r">
                        <a:buNone/>
                      </a:pPr>
                      <a:r>
                        <a:rPr sz="1000"/>
                        <a:t>4</a:t>
                      </a:r>
                    </a:p>
                  </a:txBody>
                  <a:tcPr/>
                </a:tc>
                <a:tc>
                  <a:txBody>
                    <a:bodyPr/>
                    <a:lstStyle/>
                    <a:p>
                      <a:pPr marL="0" lvl="0" indent="0" algn="r">
                        <a:buNone/>
                      </a:pPr>
                      <a:r>
                        <a:rPr sz="1000"/>
                        <a:t>0</a:t>
                      </a:r>
                    </a:p>
                  </a:txBody>
                  <a:tcPr/>
                </a:tc>
                <a:extLst>
                  <a:ext uri="{0D108BD9-81ED-4DB2-BD59-A6C34878D82A}">
                    <a16:rowId xmlns:a16="http://schemas.microsoft.com/office/drawing/2014/main" val="10027"/>
                  </a:ext>
                </a:extLst>
              </a:tr>
              <a:tr h="0">
                <a:tc>
                  <a:txBody>
                    <a:bodyPr/>
                    <a:lstStyle/>
                    <a:p>
                      <a:pPr marL="0" lvl="0" indent="0" algn="l">
                        <a:buNone/>
                      </a:pPr>
                      <a:r>
                        <a:rPr sz="1000"/>
                        <a:t>Adult nutrition</a:t>
                      </a:r>
                    </a:p>
                  </a:txBody>
                  <a:tcPr/>
                </a:tc>
                <a:tc>
                  <a:txBody>
                    <a:bodyPr/>
                    <a:lstStyle/>
                    <a:p>
                      <a:pPr marL="0" lvl="0" indent="0" algn="r">
                        <a:buNone/>
                      </a:pPr>
                      <a:r>
                        <a:rPr sz="1000"/>
                        <a:t>3</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3</a:t>
                      </a:r>
                    </a:p>
                  </a:txBody>
                  <a:tcPr/>
                </a:tc>
                <a:tc>
                  <a:txBody>
                    <a:bodyPr/>
                    <a:lstStyle/>
                    <a:p>
                      <a:pPr marL="0" lvl="0" indent="0" algn="r">
                        <a:buNone/>
                      </a:pPr>
                      <a:r>
                        <a:rPr sz="1000"/>
                        <a:t>3</a:t>
                      </a:r>
                    </a:p>
                  </a:txBody>
                  <a:tcPr/>
                </a:tc>
                <a:tc>
                  <a:txBody>
                    <a:bodyPr/>
                    <a:lstStyle/>
                    <a:p>
                      <a:pPr marL="0" lvl="0" indent="0" algn="r">
                        <a:buNone/>
                      </a:pPr>
                      <a:r>
                        <a:rPr sz="1000"/>
                        <a:t>0</a:t>
                      </a:r>
                    </a:p>
                  </a:txBody>
                  <a:tcPr/>
                </a:tc>
                <a:extLst>
                  <a:ext uri="{0D108BD9-81ED-4DB2-BD59-A6C34878D82A}">
                    <a16:rowId xmlns:a16="http://schemas.microsoft.com/office/drawing/2014/main" val="10028"/>
                  </a:ext>
                </a:extLst>
              </a:tr>
              <a:tr h="0">
                <a:tc>
                  <a:txBody>
                    <a:bodyPr/>
                    <a:lstStyle/>
                    <a:p>
                      <a:pPr marL="0" lvl="0" indent="0" algn="l">
                        <a:buNone/>
                      </a:pPr>
                      <a:r>
                        <a:rPr sz="1000"/>
                        <a:t>Nutrition status (MODELLED SURFACE)</a:t>
                      </a:r>
                    </a:p>
                  </a:txBody>
                  <a:tcPr/>
                </a:tc>
                <a:tc>
                  <a:txBody>
                    <a:bodyPr/>
                    <a:lstStyle/>
                    <a:p>
                      <a:pPr marL="0" lvl="0" indent="0" algn="r">
                        <a:buNone/>
                      </a:pPr>
                      <a:r>
                        <a:rPr sz="1000"/>
                        <a:t>1</a:t>
                      </a:r>
                    </a:p>
                  </a:txBody>
                  <a:tcPr/>
                </a:tc>
                <a:tc>
                  <a:txBody>
                    <a:bodyPr/>
                    <a:lstStyle/>
                    <a:p>
                      <a:pPr marL="0" lvl="0" indent="0" algn="r">
                        <a:buNone/>
                      </a:pPr>
                      <a:r>
                        <a:rPr sz="1000"/>
                        <a:t>1</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0</a:t>
                      </a:r>
                    </a:p>
                  </a:txBody>
                  <a:tcPr/>
                </a:tc>
                <a:tc>
                  <a:txBody>
                    <a:bodyPr/>
                    <a:lstStyle/>
                    <a:p>
                      <a:pPr marL="0" lvl="0" indent="0" algn="r">
                        <a:buNone/>
                      </a:pPr>
                      <a:r>
                        <a:rPr sz="1000"/>
                        <a:t>1</a:t>
                      </a:r>
                    </a:p>
                  </a:txBody>
                  <a:tcPr/>
                </a:tc>
                <a:extLst>
                  <a:ext uri="{0D108BD9-81ED-4DB2-BD59-A6C34878D82A}">
                    <a16:rowId xmlns:a16="http://schemas.microsoft.com/office/drawing/2014/main" val="10029"/>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we would add next, and the rule for adding it</a:t>
            </a:r>
          </a:p>
        </p:txBody>
      </p:sp>
      <p:sp>
        <p:nvSpPr>
          <p:cNvPr id="3" name="Content Placeholder 2"/>
          <p:cNvSpPr>
            <a:spLocks noGrp="1"/>
          </p:cNvSpPr>
          <p:nvPr>
            <p:ph idx="1"/>
          </p:nvPr>
        </p:nvSpPr>
        <p:spPr/>
        <p:txBody>
          <a:bodyPr/>
          <a:lstStyle/>
          <a:p>
            <a:pPr lvl="0"/>
            <a:r>
              <a:rPr sz="1800"/>
              <a:t>Sub-national household-survey microdata with GPS: MICS cluster coordinates for Ghana 2017-18 and Malawi 2013-14 are requested; they turn region-level blocks into district ones.</a:t>
            </a:r>
          </a:p>
          <a:p>
            <a:pPr lvl="0"/>
            <a:r>
              <a:rPr sz="1800"/>
              <a:t>Diet from the household budget surveys for Ghana (GLSS7 food module) and Sierra Leone (SLIHS diary codes), so the 15 diet indicators cover all four countries.</a:t>
            </a:r>
          </a:p>
          <a:p>
            <a:pPr lvl="0"/>
            <a:r>
              <a:rPr sz="1800"/>
              <a:t>Conflict events (ACLED, four-country export), market prices for Ghana and Sierra Leone, a decision on FluNet’s national counts.</a:t>
            </a:r>
          </a:p>
          <a:p>
            <a:pPr lvl="0"/>
            <a:r>
              <a:rPr sz="1800"/>
              <a:t>Every candidate block passes the same test before it enters: within-country sign agreement, paired in-fill with and without it, and leave-one-country-out.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Predictors recurring across outcomes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98450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1993900">
                  <a:extLst>
                    <a:ext uri="{9D8B030D-6E8A-4147-A177-3AD203B41FA5}">
                      <a16:colId xmlns:a16="http://schemas.microsoft.com/office/drawing/2014/main" val="20002"/>
                    </a:ext>
                  </a:extLst>
                </a:gridCol>
                <a:gridCol w="660400">
                  <a:extLst>
                    <a:ext uri="{9D8B030D-6E8A-4147-A177-3AD203B41FA5}">
                      <a16:colId xmlns:a16="http://schemas.microsoft.com/office/drawing/2014/main" val="20003"/>
                    </a:ext>
                  </a:extLst>
                </a:gridCol>
                <a:gridCol w="1104900">
                  <a:extLst>
                    <a:ext uri="{9D8B030D-6E8A-4147-A177-3AD203B41FA5}">
                      <a16:colId xmlns:a16="http://schemas.microsoft.com/office/drawing/2014/main" val="20004"/>
                    </a:ext>
                  </a:extLst>
                </a:gridCol>
              </a:tblGrid>
              <a:tr h="0">
                <a:tc>
                  <a:txBody>
                    <a:bodyPr/>
                    <a:lstStyle/>
                    <a:p>
                      <a:pPr marL="0" lvl="0" indent="0" algn="l">
                        <a:buNone/>
                      </a:pPr>
                      <a:r>
                        <a:rPr sz="1000"/>
                        <a:t>Predictor</a:t>
                      </a:r>
                    </a:p>
                  </a:txBody>
                  <a:tcPr/>
                </a:tc>
                <a:tc>
                  <a:txBody>
                    <a:bodyPr/>
                    <a:lstStyle/>
                    <a:p>
                      <a:pPr marL="0" lvl="0" indent="0" algn="l">
                        <a:buNone/>
                      </a:pPr>
                      <a:r>
                        <a:rPr sz="1000"/>
                        <a:t>Domain</a:t>
                      </a:r>
                    </a:p>
                  </a:txBody>
                  <a:tcPr/>
                </a:tc>
                <a:tc>
                  <a:txBody>
                    <a:bodyPr/>
                    <a:lstStyle/>
                    <a:p>
                      <a:pPr marL="0" lvl="0" indent="0" algn="r">
                        <a:buNone/>
                      </a:pPr>
                      <a:r>
                        <a:rPr sz="1000"/>
                        <a:t>Outcomes (top 20)</a:t>
                      </a:r>
                    </a:p>
                  </a:txBody>
                  <a:tcPr/>
                </a:tc>
                <a:tc>
                  <a:txBody>
                    <a:bodyPr/>
                    <a:lstStyle/>
                    <a:p>
                      <a:pPr marL="0" lvl="0" indent="0" algn="l">
                        <a:buNone/>
                      </a:pPr>
                      <a:r>
                        <a:rPr sz="1000"/>
                        <a:t>Signs</a:t>
                      </a:r>
                    </a:p>
                  </a:txBody>
                  <a:tcPr/>
                </a:tc>
                <a:tc>
                  <a:txBody>
                    <a:bodyPr/>
                    <a:lstStyle/>
                    <a:p>
                      <a:pPr marL="0" lvl="0" indent="0" algn="r">
                        <a:buNone/>
                      </a:pPr>
                      <a:r>
                        <a:rPr sz="1000"/>
                        <a:t>Mean rank</a:t>
                      </a:r>
                    </a:p>
                  </a:txBody>
                  <a:tcPr/>
                </a:tc>
                <a:extLst>
                  <a:ext uri="{0D108BD9-81ED-4DB2-BD59-A6C34878D82A}">
                    <a16:rowId xmlns:a16="http://schemas.microsoft.com/office/drawing/2014/main" val="10000"/>
                  </a:ext>
                </a:extLst>
              </a:tr>
              <a:tr h="0">
                <a:tc>
                  <a:txBody>
                    <a:bodyPr/>
                    <a:lstStyle/>
                    <a:p>
                      <a:pPr marL="0" lvl="0" indent="0" algn="l">
                        <a:buNone/>
                      </a:pPr>
                      <a:r>
                        <a:rPr sz="1000"/>
                        <a:t>fprice_staple_rel</a:t>
                      </a:r>
                    </a:p>
                  </a:txBody>
                  <a:tcPr/>
                </a:tc>
                <a:tc>
                  <a:txBody>
                    <a:bodyPr/>
                    <a:lstStyle/>
                    <a:p>
                      <a:pPr marL="0" lvl="0" indent="0" algn="l">
                        <a:buNone/>
                      </a:pPr>
                      <a:r>
                        <a:rPr sz="1000"/>
                        <a:t>Food prices and supply</a:t>
                      </a:r>
                    </a:p>
                  </a:txBody>
                  <a:tcPr/>
                </a:tc>
                <a:tc>
                  <a:txBody>
                    <a:bodyPr/>
                    <a:lstStyle/>
                    <a:p>
                      <a:pPr marL="0" lvl="0" indent="0" algn="r">
                        <a:buNone/>
                      </a:pPr>
                      <a:r>
                        <a:rPr sz="1000"/>
                        <a:t>5</a:t>
                      </a:r>
                    </a:p>
                  </a:txBody>
                  <a:tcPr/>
                </a:tc>
                <a:tc>
                  <a:txBody>
                    <a:bodyPr/>
                    <a:lstStyle/>
                    <a:p>
                      <a:pPr marL="0" lvl="0" indent="0" algn="l">
                        <a:buNone/>
                      </a:pPr>
                      <a:r>
                        <a:rPr sz="1000"/>
                        <a:t>—–</a:t>
                      </a:r>
                    </a:p>
                  </a:txBody>
                  <a:tcPr/>
                </a:tc>
                <a:tc>
                  <a:txBody>
                    <a:bodyPr/>
                    <a:lstStyle/>
                    <a:p>
                      <a:pPr marL="0" lvl="0" indent="0" algn="r">
                        <a:buNone/>
                      </a:pPr>
                      <a:r>
                        <a:rPr sz="1000"/>
                        <a:t>10.2</a:t>
                      </a:r>
                    </a:p>
                  </a:txBody>
                  <a:tcPr/>
                </a:tc>
                <a:extLst>
                  <a:ext uri="{0D108BD9-81ED-4DB2-BD59-A6C34878D82A}">
                    <a16:rowId xmlns:a16="http://schemas.microsoft.com/office/drawing/2014/main" val="10001"/>
                  </a:ext>
                </a:extLst>
              </a:tr>
              <a:tr h="0">
                <a:tc>
                  <a:txBody>
                    <a:bodyPr/>
                    <a:lstStyle/>
                    <a:p>
                      <a:pPr marL="0" lvl="0" indent="0" algn="l">
                        <a:buNone/>
                      </a:pPr>
                      <a:r>
                        <a:rPr sz="1000"/>
                        <a:t>ihme_overweightprevalence</a:t>
                      </a:r>
                    </a:p>
                  </a:txBody>
                  <a:tcPr/>
                </a:tc>
                <a:tc>
                  <a:txBody>
                    <a:bodyPr/>
                    <a:lstStyle/>
                    <a:p>
                      <a:pPr marL="0" lvl="0" indent="0" algn="l">
                        <a:buNone/>
                      </a:pPr>
                      <a:r>
                        <a:rPr sz="1000"/>
                        <a:t>Child anthropometry</a:t>
                      </a:r>
                    </a:p>
                  </a:txBody>
                  <a:tcPr/>
                </a:tc>
                <a:tc>
                  <a:txBody>
                    <a:bodyPr/>
                    <a:lstStyle/>
                    <a:p>
                      <a:pPr marL="0" lvl="0" indent="0" algn="r">
                        <a:buNone/>
                      </a:pPr>
                      <a:r>
                        <a:rPr sz="1000"/>
                        <a:t>4</a:t>
                      </a:r>
                    </a:p>
                  </a:txBody>
                  <a:tcPr/>
                </a:tc>
                <a:tc>
                  <a:txBody>
                    <a:bodyPr/>
                    <a:lstStyle/>
                    <a:p>
                      <a:pPr marL="0" lvl="0" indent="0" algn="l">
                        <a:buNone/>
                      </a:pPr>
                      <a:r>
                        <a:rPr sz="1000"/>
                        <a:t>—-</a:t>
                      </a:r>
                    </a:p>
                  </a:txBody>
                  <a:tcPr/>
                </a:tc>
                <a:tc>
                  <a:txBody>
                    <a:bodyPr/>
                    <a:lstStyle/>
                    <a:p>
                      <a:pPr marL="0" lvl="0" indent="0" algn="r">
                        <a:buNone/>
                      </a:pPr>
                      <a:r>
                        <a:rPr sz="1000"/>
                        <a:t>6.0</a:t>
                      </a:r>
                    </a:p>
                  </a:txBody>
                  <a:tcPr/>
                </a:tc>
                <a:extLst>
                  <a:ext uri="{0D108BD9-81ED-4DB2-BD59-A6C34878D82A}">
                    <a16:rowId xmlns:a16="http://schemas.microsoft.com/office/drawing/2014/main" val="10002"/>
                  </a:ext>
                </a:extLst>
              </a:tr>
              <a:tr h="0">
                <a:tc>
                  <a:txBody>
                    <a:bodyPr/>
                    <a:lstStyle/>
                    <a:p>
                      <a:pPr marL="0" lvl="0" indent="0" algn="l">
                        <a:buNone/>
                      </a:pPr>
                      <a:r>
                        <a:rPr sz="1000"/>
                        <a:t>map_sy_pf_mortality_rate</a:t>
                      </a:r>
                    </a:p>
                  </a:txBody>
                  <a:tcPr/>
                </a:tc>
                <a:tc>
                  <a:txBody>
                    <a:bodyPr/>
                    <a:lstStyle/>
                    <a:p>
                      <a:pPr marL="0" lvl="0" indent="0" algn="l">
                        <a:buNone/>
                      </a:pPr>
                      <a:r>
                        <a:rPr sz="1000"/>
                        <a:t>Infection and inflammation burden</a:t>
                      </a:r>
                    </a:p>
                  </a:txBody>
                  <a:tcPr/>
                </a:tc>
                <a:tc>
                  <a:txBody>
                    <a:bodyPr/>
                    <a:lstStyle/>
                    <a:p>
                      <a:pPr marL="0" lvl="0" indent="0" algn="r">
                        <a:buNone/>
                      </a:pPr>
                      <a:r>
                        <a:rPr sz="1000"/>
                        <a:t>4</a:t>
                      </a:r>
                    </a:p>
                  </a:txBody>
                  <a:tcPr/>
                </a:tc>
                <a:tc>
                  <a:txBody>
                    <a:bodyPr/>
                    <a:lstStyle/>
                    <a:p>
                      <a:pPr marL="0" lvl="0" indent="0" algn="l">
                        <a:buNone/>
                      </a:pPr>
                      <a:r>
                        <a:rPr sz="1000"/>
                        <a:t>—-</a:t>
                      </a:r>
                    </a:p>
                  </a:txBody>
                  <a:tcPr/>
                </a:tc>
                <a:tc>
                  <a:txBody>
                    <a:bodyPr/>
                    <a:lstStyle/>
                    <a:p>
                      <a:pPr marL="0" lvl="0" indent="0" algn="r">
                        <a:buNone/>
                      </a:pPr>
                      <a:r>
                        <a:rPr sz="1000"/>
                        <a:t>8.0</a:t>
                      </a:r>
                    </a:p>
                  </a:txBody>
                  <a:tcPr/>
                </a:tc>
                <a:extLst>
                  <a:ext uri="{0D108BD9-81ED-4DB2-BD59-A6C34878D82A}">
                    <a16:rowId xmlns:a16="http://schemas.microsoft.com/office/drawing/2014/main" val="10003"/>
                  </a:ext>
                </a:extLst>
              </a:tr>
              <a:tr h="0">
                <a:tc>
                  <a:txBody>
                    <a:bodyPr/>
                    <a:lstStyle/>
                    <a:p>
                      <a:pPr marL="0" lvl="0" indent="0" algn="l">
                        <a:buNone/>
                      </a:pPr>
                      <a:r>
                        <a:rPr sz="1000"/>
                        <a:t>npp_gpp_t0</a:t>
                      </a:r>
                    </a:p>
                  </a:txBody>
                  <a:tcPr/>
                </a:tc>
                <a:tc>
                  <a:txBody>
                    <a:bodyPr/>
                    <a:lstStyle/>
                    <a:p>
                      <a:pPr marL="0" lvl="0" indent="0" algn="l">
                        <a:buNone/>
                      </a:pPr>
                      <a:r>
                        <a:rPr sz="1000"/>
                        <a:t>Ecosystem productivity/greenness</a:t>
                      </a:r>
                    </a:p>
                  </a:txBody>
                  <a:tcPr/>
                </a:tc>
                <a:tc>
                  <a:txBody>
                    <a:bodyPr/>
                    <a:lstStyle/>
                    <a:p>
                      <a:pPr marL="0" lvl="0" indent="0" algn="r">
                        <a:buNone/>
                      </a:pPr>
                      <a:r>
                        <a:rPr sz="1000"/>
                        <a:t>4</a:t>
                      </a:r>
                    </a:p>
                  </a:txBody>
                  <a:tcPr/>
                </a:tc>
                <a:tc>
                  <a:txBody>
                    <a:bodyPr/>
                    <a:lstStyle/>
                    <a:p>
                      <a:pPr marL="0" lvl="0" indent="0" algn="l">
                        <a:buNone/>
                      </a:pPr>
                      <a:r>
                        <a:rPr sz="1000"/>
                        <a:t>—-</a:t>
                      </a:r>
                    </a:p>
                  </a:txBody>
                  <a:tcPr/>
                </a:tc>
                <a:tc>
                  <a:txBody>
                    <a:bodyPr/>
                    <a:lstStyle/>
                    <a:p>
                      <a:pPr marL="0" lvl="0" indent="0" algn="r">
                        <a:buNone/>
                      </a:pPr>
                      <a:r>
                        <a:rPr sz="1000"/>
                        <a:t>14.2</a:t>
                      </a:r>
                    </a:p>
                  </a:txBody>
                  <a:tcPr/>
                </a:tc>
                <a:extLst>
                  <a:ext uri="{0D108BD9-81ED-4DB2-BD59-A6C34878D82A}">
                    <a16:rowId xmlns:a16="http://schemas.microsoft.com/office/drawing/2014/main" val="10004"/>
                  </a:ext>
                </a:extLst>
              </a:tr>
              <a:tr h="0">
                <a:tc>
                  <a:txBody>
                    <a:bodyPr/>
                    <a:lstStyle/>
                    <a:p>
                      <a:pPr marL="0" lvl="0" indent="0" algn="l">
                        <a:buNone/>
                      </a:pPr>
                      <a:r>
                        <a:rPr sz="1000"/>
                        <a:t>npp_npp_t0</a:t>
                      </a:r>
                    </a:p>
                  </a:txBody>
                  <a:tcPr/>
                </a:tc>
                <a:tc>
                  <a:txBody>
                    <a:bodyPr/>
                    <a:lstStyle/>
                    <a:p>
                      <a:pPr marL="0" lvl="0" indent="0" algn="l">
                        <a:buNone/>
                      </a:pPr>
                      <a:r>
                        <a:rPr sz="1000"/>
                        <a:t>Ecosystem productivity/greenness</a:t>
                      </a:r>
                    </a:p>
                  </a:txBody>
                  <a:tcPr/>
                </a:tc>
                <a:tc>
                  <a:txBody>
                    <a:bodyPr/>
                    <a:lstStyle/>
                    <a:p>
                      <a:pPr marL="0" lvl="0" indent="0" algn="r">
                        <a:buNone/>
                      </a:pPr>
                      <a:r>
                        <a:rPr sz="1000"/>
                        <a:t>4</a:t>
                      </a:r>
                    </a:p>
                  </a:txBody>
                  <a:tcPr/>
                </a:tc>
                <a:tc>
                  <a:txBody>
                    <a:bodyPr/>
                    <a:lstStyle/>
                    <a:p>
                      <a:pPr marL="0" lvl="0" indent="0" algn="l">
                        <a:buNone/>
                      </a:pPr>
                      <a:r>
                        <a:rPr sz="1000"/>
                        <a:t>—-</a:t>
                      </a:r>
                    </a:p>
                  </a:txBody>
                  <a:tcPr/>
                </a:tc>
                <a:tc>
                  <a:txBody>
                    <a:bodyPr/>
                    <a:lstStyle/>
                    <a:p>
                      <a:pPr marL="0" lvl="0" indent="0" algn="r">
                        <a:buNone/>
                      </a:pPr>
                      <a:r>
                        <a:rPr sz="1000"/>
                        <a:t>14.8</a:t>
                      </a:r>
                    </a:p>
                  </a:txBody>
                  <a:tcPr/>
                </a:tc>
                <a:extLst>
                  <a:ext uri="{0D108BD9-81ED-4DB2-BD59-A6C34878D82A}">
                    <a16:rowId xmlns:a16="http://schemas.microsoft.com/office/drawing/2014/main" val="10005"/>
                  </a:ext>
                </a:extLst>
              </a:tr>
              <a:tr h="0">
                <a:tc>
                  <a:txBody>
                    <a:bodyPr/>
                    <a:lstStyle/>
                    <a:p>
                      <a:pPr marL="0" lvl="0" indent="0" algn="l">
                        <a:buNone/>
                      </a:pPr>
                      <a:r>
                        <a:rPr sz="1000"/>
                        <a:t>mics_w_iptp_sp</a:t>
                      </a:r>
                    </a:p>
                  </a:txBody>
                  <a:tcPr/>
                </a:tc>
                <a:tc>
                  <a:txBody>
                    <a:bodyPr/>
                    <a:lstStyle/>
                    <a:p>
                      <a:pPr marL="0" lvl="0" indent="0" algn="l">
                        <a:buNone/>
                      </a:pPr>
                      <a:r>
                        <a:rPr sz="1000"/>
                        <a:t>Infection and inflammation burden</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3.0</a:t>
                      </a:r>
                    </a:p>
                  </a:txBody>
                  <a:tcPr/>
                </a:tc>
                <a:extLst>
                  <a:ext uri="{0D108BD9-81ED-4DB2-BD59-A6C34878D82A}">
                    <a16:rowId xmlns:a16="http://schemas.microsoft.com/office/drawing/2014/main" val="10006"/>
                  </a:ext>
                </a:extLst>
              </a:tr>
              <a:tr h="0">
                <a:tc>
                  <a:txBody>
                    <a:bodyPr/>
                    <a:lstStyle/>
                    <a:p>
                      <a:pPr marL="0" lvl="0" indent="0" algn="l">
                        <a:buNone/>
                      </a:pPr>
                      <a:r>
                        <a:rPr sz="1000"/>
                        <a:t>glw_ruminant_share</a:t>
                      </a:r>
                    </a:p>
                  </a:txBody>
                  <a:tcPr/>
                </a:tc>
                <a:tc>
                  <a:txBody>
                    <a:bodyPr/>
                    <a:lstStyle/>
                    <a:p>
                      <a:pPr marL="0" lvl="0" indent="0" algn="l">
                        <a:buNone/>
                      </a:pPr>
                      <a:r>
                        <a:rPr sz="1000"/>
                        <a:t>Livestock density</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6.3</a:t>
                      </a:r>
                    </a:p>
                  </a:txBody>
                  <a:tcPr/>
                </a:tc>
                <a:extLst>
                  <a:ext uri="{0D108BD9-81ED-4DB2-BD59-A6C34878D82A}">
                    <a16:rowId xmlns:a16="http://schemas.microsoft.com/office/drawing/2014/main" val="10007"/>
                  </a:ext>
                </a:extLst>
              </a:tr>
              <a:tr h="0">
                <a:tc>
                  <a:txBody>
                    <a:bodyPr/>
                    <a:lstStyle/>
                    <a:p>
                      <a:pPr marL="0" lvl="0" indent="0" algn="l">
                        <a:buNone/>
                      </a:pPr>
                      <a:r>
                        <a:rPr sz="1000"/>
                        <a:t>ihme_underweightprevalence</a:t>
                      </a:r>
                    </a:p>
                  </a:txBody>
                  <a:tcPr/>
                </a:tc>
                <a:tc>
                  <a:txBody>
                    <a:bodyPr/>
                    <a:lstStyle/>
                    <a:p>
                      <a:pPr marL="0" lvl="0" indent="0" algn="l">
                        <a:buNone/>
                      </a:pPr>
                      <a:r>
                        <a:rPr sz="1000"/>
                        <a:t>Child anthropometry</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7.0</a:t>
                      </a:r>
                    </a:p>
                  </a:txBody>
                  <a:tcPr/>
                </a:tc>
                <a:extLst>
                  <a:ext uri="{0D108BD9-81ED-4DB2-BD59-A6C34878D82A}">
                    <a16:rowId xmlns:a16="http://schemas.microsoft.com/office/drawing/2014/main" val="10008"/>
                  </a:ext>
                </a:extLst>
              </a:tr>
              <a:tr h="0">
                <a:tc>
                  <a:txBody>
                    <a:bodyPr/>
                    <a:lstStyle/>
                    <a:p>
                      <a:pPr marL="0" lvl="0" indent="0" algn="l">
                        <a:buNone/>
                      </a:pPr>
                      <a:r>
                        <a:rPr sz="1000"/>
                        <a:t>lcover_grass_frac_t0</a:t>
                      </a:r>
                    </a:p>
                  </a:txBody>
                  <a:tcPr/>
                </a:tc>
                <a:tc>
                  <a:txBody>
                    <a:bodyPr/>
                    <a:lstStyle/>
                    <a:p>
                      <a:pPr marL="0" lvl="0" indent="0" algn="l">
                        <a:buNone/>
                      </a:pPr>
                      <a:r>
                        <a:rPr sz="1000"/>
                        <a:t>Built environment</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7.3</a:t>
                      </a:r>
                    </a:p>
                  </a:txBody>
                  <a:tcPr/>
                </a:tc>
                <a:extLst>
                  <a:ext uri="{0D108BD9-81ED-4DB2-BD59-A6C34878D82A}">
                    <a16:rowId xmlns:a16="http://schemas.microsoft.com/office/drawing/2014/main" val="10009"/>
                  </a:ext>
                </a:extLst>
              </a:tr>
              <a:tr h="0">
                <a:tc>
                  <a:txBody>
                    <a:bodyPr/>
                    <a:lstStyle/>
                    <a:p>
                      <a:pPr marL="0" lvl="0" indent="0" algn="l">
                        <a:buNone/>
                      </a:pPr>
                      <a:r>
                        <a:rPr sz="1000"/>
                        <a:t>lcover_crops_frac_t0</a:t>
                      </a:r>
                    </a:p>
                  </a:txBody>
                  <a:tcPr/>
                </a:tc>
                <a:tc>
                  <a:txBody>
                    <a:bodyPr/>
                    <a:lstStyle/>
                    <a:p>
                      <a:pPr marL="0" lvl="0" indent="0" algn="l">
                        <a:buNone/>
                      </a:pPr>
                      <a:r>
                        <a:rPr sz="1000"/>
                        <a:t>Built environment</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7.7</a:t>
                      </a:r>
                    </a:p>
                  </a:txBody>
                  <a:tcPr/>
                </a:tc>
                <a:extLst>
                  <a:ext uri="{0D108BD9-81ED-4DB2-BD59-A6C34878D82A}">
                    <a16:rowId xmlns:a16="http://schemas.microsoft.com/office/drawing/2014/main" val="10010"/>
                  </a:ext>
                </a:extLst>
              </a:tr>
              <a:tr h="0">
                <a:tc>
                  <a:txBody>
                    <a:bodyPr/>
                    <a:lstStyle/>
                    <a:p>
                      <a:pPr marL="0" lvl="0" indent="0" algn="l">
                        <a:buNone/>
                      </a:pPr>
                      <a:r>
                        <a:rPr sz="1000"/>
                        <a:t>glw_tlu_per_capita</a:t>
                      </a:r>
                    </a:p>
                  </a:txBody>
                  <a:tcPr/>
                </a:tc>
                <a:tc>
                  <a:txBody>
                    <a:bodyPr/>
                    <a:lstStyle/>
                    <a:p>
                      <a:pPr marL="0" lvl="0" indent="0" algn="l">
                        <a:buNone/>
                      </a:pPr>
                      <a:r>
                        <a:rPr sz="1000"/>
                        <a:t>Livestock density</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8.3</a:t>
                      </a:r>
                    </a:p>
                  </a:txBody>
                  <a:tcPr/>
                </a:tc>
                <a:extLst>
                  <a:ext uri="{0D108BD9-81ED-4DB2-BD59-A6C34878D82A}">
                    <a16:rowId xmlns:a16="http://schemas.microsoft.com/office/drawing/2014/main" val="10011"/>
                  </a:ext>
                </a:extLst>
              </a:tr>
              <a:tr h="0">
                <a:tc>
                  <a:txBody>
                    <a:bodyPr/>
                    <a:lstStyle/>
                    <a:p>
                      <a:pPr marL="0" lvl="0" indent="0" algn="l">
                        <a:buNone/>
                      </a:pPr>
                      <a:r>
                        <a:rPr sz="1000"/>
                        <a:t>ihme_allanemia</a:t>
                      </a:r>
                    </a:p>
                  </a:txBody>
                  <a:tcPr/>
                </a:tc>
                <a:tc>
                  <a:txBody>
                    <a:bodyPr/>
                    <a:lstStyle/>
                    <a:p>
                      <a:pPr marL="0" lvl="0" indent="0" algn="l">
                        <a:buNone/>
                      </a:pPr>
                      <a:r>
                        <a:rPr sz="1000"/>
                        <a:t>Anaemia and haemoglobin</a:t>
                      </a:r>
                    </a:p>
                  </a:txBody>
                  <a:tcPr/>
                </a:tc>
                <a:tc>
                  <a:txBody>
                    <a:bodyPr/>
                    <a:lstStyle/>
                    <a:p>
                      <a:pPr marL="0" lvl="0" indent="0" algn="r">
                        <a:buNone/>
                      </a:pPr>
                      <a:r>
                        <a:rPr sz="1000"/>
                        <a:t>3</a:t>
                      </a:r>
                    </a:p>
                  </a:txBody>
                  <a:tcPr/>
                </a:tc>
                <a:tc>
                  <a:txBody>
                    <a:bodyPr/>
                    <a:lstStyle/>
                    <a:p>
                      <a:pPr marL="0" lvl="0" indent="0" algn="l">
                        <a:buNone/>
                      </a:pPr>
                      <a:r>
                        <a:rPr sz="1000"/>
                        <a:t>+++</a:t>
                      </a:r>
                    </a:p>
                  </a:txBody>
                  <a:tcPr/>
                </a:tc>
                <a:tc>
                  <a:txBody>
                    <a:bodyPr/>
                    <a:lstStyle/>
                    <a:p>
                      <a:pPr marL="0" lvl="0" indent="0" algn="r">
                        <a:buNone/>
                      </a:pPr>
                      <a:r>
                        <a:rPr sz="1000"/>
                        <a:t>8.7</a:t>
                      </a:r>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Weighting of the domain components</a:t>
            </a:r>
          </a:p>
        </p:txBody>
      </p:sp>
      <p:sp>
        <p:nvSpPr>
          <p:cNvPr id="3" name="Content Placeholder 2"/>
          <p:cNvSpPr>
            <a:spLocks noGrp="1"/>
          </p:cNvSpPr>
          <p:nvPr>
            <p:ph sz="half" idx="1"/>
          </p:nvPr>
        </p:nvSpPr>
        <p:spPr/>
        <p:txBody>
          <a:bodyPr/>
          <a:lstStyle/>
          <a:p>
            <a:pPr marL="0" lvl="0" indent="0">
              <a:buNone/>
            </a:pPr>
            <a:r>
              <a:rPr sz="1800"/>
              <a:t>Alternative weightings of the same components on the biomarker level. In-country every joint fit loses to the marginal-correlation weights (ridge -0.04, elastic net -0.07, lasso -0.06). Across borders the decorrelated index gains +0.005 (better in 12 of 22).</a:t>
            </a:r>
          </a:p>
        </p:txBody>
      </p:sp>
      <p:pic>
        <p:nvPicPr>
          <p:cNvPr id="4" name="Picture 1" descr="MN-proxy-full-talk-2026-09_files/figure-pptx/weights-1.png"/>
          <p:cNvPicPr>
            <a:picLocks noGrp="1" noChangeAspect="1"/>
          </p:cNvPicPr>
          <p:nvPr/>
        </p:nvPicPr>
        <p:blipFill>
          <a:blip r:embed="rId3"/>
          <a:stretch>
            <a:fillRect/>
          </a:stretch>
        </p:blipFill>
        <p:spPr bwMode="auto">
          <a:xfrm>
            <a:off x="6337300" y="1816100"/>
            <a:ext cx="4838700" cy="4343400"/>
          </a:xfrm>
          <a:prstGeom prst="rect">
            <a:avLst/>
          </a:prstGeom>
          <a:noFill/>
          <a:ln w="9525">
            <a:noFill/>
            <a:headEnd/>
            <a:tailEnd/>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Sparse composites</a:t>
            </a:r>
          </a:p>
        </p:txBody>
      </p:sp>
      <p:sp>
        <p:nvSpPr>
          <p:cNvPr id="3" name="Content Placeholder 2"/>
          <p:cNvSpPr>
            <a:spLocks noGrp="1"/>
          </p:cNvSpPr>
          <p:nvPr>
            <p:ph sz="half" idx="1"/>
          </p:nvPr>
        </p:nvSpPr>
        <p:spPr/>
        <p:txBody>
          <a:bodyPr/>
          <a:lstStyle/>
          <a:p>
            <a:pPr marL="0" lvl="0" indent="0">
              <a:buNone/>
            </a:pPr>
            <a:r>
              <a:rPr sz="1800"/>
              <a:t>Equal-weight composites of the top 5, 10 and 20 predictors, membership chosen inside each training fold by back-projected index weight. Twenty predictors cost -0.04 in-fill and gain -0.069 across borders; five predictors cost -0.06 in-fill.</a:t>
            </a:r>
          </a:p>
        </p:txBody>
      </p:sp>
      <p:pic>
        <p:nvPicPr>
          <p:cNvPr id="4" name="Picture 1" descr="MN-proxy-full-talk-2026-09_files/figure-pptx/sparse-1.png"/>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Child iron composite</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20000"/>
                    </a:ext>
                  </a:extLst>
                </a:gridCol>
                <a:gridCol w="2324100">
                  <a:extLst>
                    <a:ext uri="{9D8B030D-6E8A-4147-A177-3AD203B41FA5}">
                      <a16:colId xmlns:a16="http://schemas.microsoft.com/office/drawing/2014/main" val="20001"/>
                    </a:ext>
                  </a:extLst>
                </a:gridCol>
                <a:gridCol w="2184400">
                  <a:extLst>
                    <a:ext uri="{9D8B030D-6E8A-4147-A177-3AD203B41FA5}">
                      <a16:colId xmlns:a16="http://schemas.microsoft.com/office/drawing/2014/main" val="20002"/>
                    </a:ext>
                  </a:extLst>
                </a:gridCol>
                <a:gridCol w="3594100">
                  <a:extLst>
                    <a:ext uri="{9D8B030D-6E8A-4147-A177-3AD203B41FA5}">
                      <a16:colId xmlns:a16="http://schemas.microsoft.com/office/drawing/2014/main" val="20003"/>
                    </a:ext>
                  </a:extLst>
                </a:gridCol>
              </a:tblGrid>
              <a:tr h="0">
                <a:tc>
                  <a:txBody>
                    <a:bodyPr/>
                    <a:lstStyle/>
                    <a:p>
                      <a:pPr marL="0" lvl="0" indent="0" algn="l">
                        <a:buNone/>
                      </a:pPr>
                      <a:r>
                        <a:rPr sz="1000"/>
                        <a:t>Predictor</a:t>
                      </a:r>
                    </a:p>
                  </a:txBody>
                  <a:tcPr/>
                </a:tc>
                <a:tc>
                  <a:txBody>
                    <a:bodyPr/>
                    <a:lstStyle/>
                    <a:p>
                      <a:pPr marL="0" lvl="0" indent="0" algn="l">
                        <a:buNone/>
                      </a:pPr>
                      <a:r>
                        <a:rPr sz="1000"/>
                        <a:t>Source</a:t>
                      </a:r>
                    </a:p>
                  </a:txBody>
                  <a:tcPr/>
                </a:tc>
                <a:tc>
                  <a:txBody>
                    <a:bodyPr/>
                    <a:lstStyle/>
                    <a:p>
                      <a:pPr marL="0" lvl="0" indent="0" algn="l">
                        <a:buNone/>
                      </a:pPr>
                      <a:r>
                        <a:rPr sz="1000"/>
                        <a:t>Predictor</a:t>
                      </a:r>
                    </a:p>
                  </a:txBody>
                  <a:tcPr/>
                </a:tc>
                <a:tc>
                  <a:txBody>
                    <a:bodyPr/>
                    <a:lstStyle/>
                    <a:p>
                      <a:pPr marL="0" lvl="0" indent="0" algn="l">
                        <a:buNone/>
                      </a:pPr>
                      <a:r>
                        <a:rPr sz="1000"/>
                        <a:t>Source</a:t>
                      </a:r>
                    </a:p>
                  </a:txBody>
                  <a:tcPr/>
                </a:tc>
                <a:extLst>
                  <a:ext uri="{0D108BD9-81ED-4DB2-BD59-A6C34878D82A}">
                    <a16:rowId xmlns:a16="http://schemas.microsoft.com/office/drawing/2014/main" val="10000"/>
                  </a:ext>
                </a:extLst>
              </a:tr>
              <a:tr h="0">
                <a:tc>
                  <a:txBody>
                    <a:bodyPr/>
                    <a:lstStyle/>
                    <a:p>
                      <a:pPr marL="0" lvl="0" indent="0" algn="l">
                        <a:buNone/>
                      </a:pPr>
                      <a:r>
                        <a:rPr sz="1000"/>
                        <a:t>ihme_overweightprevalence (-)</a:t>
                      </a:r>
                    </a:p>
                  </a:txBody>
                  <a:tcPr/>
                </a:tc>
                <a:tc>
                  <a:txBody>
                    <a:bodyPr/>
                    <a:lstStyle/>
                    <a:p>
                      <a:pPr marL="0" lvl="0" indent="0" algn="l">
                        <a:buNone/>
                      </a:pPr>
                      <a:r>
                        <a:rPr sz="1000"/>
                        <a:t>IHME</a:t>
                      </a:r>
                    </a:p>
                  </a:txBody>
                  <a:tcPr/>
                </a:tc>
                <a:tc>
                  <a:txBody>
                    <a:bodyPr/>
                    <a:lstStyle/>
                    <a:p>
                      <a:pPr marL="0" lvl="0" indent="0" algn="l">
                        <a:buNone/>
                      </a:pPr>
                      <a:r>
                        <a:rPr sz="1000"/>
                        <a:t>map_sy_pf_parasite_rate (-)</a:t>
                      </a:r>
                    </a:p>
                  </a:txBody>
                  <a:tcPr/>
                </a:tc>
                <a:tc>
                  <a:txBody>
                    <a:bodyPr/>
                    <a:lstStyle/>
                    <a:p>
                      <a:pPr marL="0" lvl="0" indent="0" algn="l">
                        <a:buNone/>
                      </a:pPr>
                      <a:r>
                        <a:rPr sz="1000"/>
                        <a:t>Malaria Atlas Project</a:t>
                      </a:r>
                    </a:p>
                  </a:txBody>
                  <a:tcPr/>
                </a:tc>
                <a:extLst>
                  <a:ext uri="{0D108BD9-81ED-4DB2-BD59-A6C34878D82A}">
                    <a16:rowId xmlns:a16="http://schemas.microsoft.com/office/drawing/2014/main" val="10001"/>
                  </a:ext>
                </a:extLst>
              </a:tr>
              <a:tr h="0">
                <a:tc>
                  <a:txBody>
                    <a:bodyPr/>
                    <a:lstStyle/>
                    <a:p>
                      <a:pPr marL="0" lvl="0" indent="0" algn="l">
                        <a:buNone/>
                      </a:pPr>
                      <a:r>
                        <a:rPr sz="1000"/>
                        <a:t>spam_share_cereals (+)</a:t>
                      </a:r>
                    </a:p>
                  </a:txBody>
                  <a:tcPr/>
                </a:tc>
                <a:tc>
                  <a:txBody>
                    <a:bodyPr/>
                    <a:lstStyle/>
                    <a:p>
                      <a:pPr marL="0" lvl="0" indent="0" algn="l">
                        <a:buNone/>
                      </a:pPr>
                      <a:r>
                        <a:rPr sz="1000"/>
                        <a:t>MapSPAM</a:t>
                      </a:r>
                    </a:p>
                  </a:txBody>
                  <a:tcPr/>
                </a:tc>
                <a:tc>
                  <a:txBody>
                    <a:bodyPr/>
                    <a:lstStyle/>
                    <a:p>
                      <a:pPr marL="0" lvl="0" indent="0" algn="l">
                        <a:buNone/>
                      </a:pPr>
                      <a:r>
                        <a:rPr sz="1000"/>
                        <a:t>soil_phosphorus_stdev_0_20 (+)</a:t>
                      </a:r>
                    </a:p>
                  </a:txBody>
                  <a:tcPr/>
                </a:tc>
                <a:tc>
                  <a:txBody>
                    <a:bodyPr/>
                    <a:lstStyle/>
                    <a:p>
                      <a:pPr marL="0" lvl="0" indent="0" algn="l">
                        <a:buNone/>
                      </a:pPr>
                      <a:r>
                        <a:rPr sz="1000"/>
                        <a:t>SoilGrids / iSDA</a:t>
                      </a:r>
                    </a:p>
                  </a:txBody>
                  <a:tcPr/>
                </a:tc>
                <a:extLst>
                  <a:ext uri="{0D108BD9-81ED-4DB2-BD59-A6C34878D82A}">
                    <a16:rowId xmlns:a16="http://schemas.microsoft.com/office/drawing/2014/main" val="10002"/>
                  </a:ext>
                </a:extLst>
              </a:tr>
              <a:tr h="0">
                <a:tc>
                  <a:txBody>
                    <a:bodyPr/>
                    <a:lstStyle/>
                    <a:p>
                      <a:pPr marL="0" lvl="0" indent="0" algn="l">
                        <a:buNone/>
                      </a:pPr>
                      <a:r>
                        <a:rPr sz="1000"/>
                        <a:t>glw_ruminant_share (+)</a:t>
                      </a:r>
                    </a:p>
                  </a:txBody>
                  <a:tcPr/>
                </a:tc>
                <a:tc>
                  <a:txBody>
                    <a:bodyPr/>
                    <a:lstStyle/>
                    <a:p>
                      <a:pPr marL="0" lvl="0" indent="0" algn="l">
                        <a:buNone/>
                      </a:pPr>
                      <a:r>
                        <a:rPr sz="1000"/>
                        <a:t>Gridded Livestock of the World 4</a:t>
                      </a:r>
                    </a:p>
                  </a:txBody>
                  <a:tcPr/>
                </a:tc>
                <a:tc>
                  <a:txBody>
                    <a:bodyPr/>
                    <a:lstStyle/>
                    <a:p>
                      <a:pPr marL="0" lvl="0" indent="0" algn="l">
                        <a:buNone/>
                      </a:pPr>
                      <a:r>
                        <a:rPr sz="1000"/>
                        <a:t>wdist_coast_km_mean (+)</a:t>
                      </a:r>
                    </a:p>
                  </a:txBody>
                  <a:tcPr/>
                </a:tc>
                <a:tc>
                  <a:txBody>
                    <a:bodyPr/>
                    <a:lstStyle/>
                    <a:p>
                      <a:pPr marL="0" lvl="0" indent="0" algn="l">
                        <a:buNone/>
                      </a:pPr>
                      <a:r>
                        <a:rPr sz="1000"/>
                        <a:t>JRC Global Surface Water 1.4; USDOS LSIB 2017</a:t>
                      </a:r>
                    </a:p>
                  </a:txBody>
                  <a:tcPr/>
                </a:tc>
                <a:extLst>
                  <a:ext uri="{0D108BD9-81ED-4DB2-BD59-A6C34878D82A}">
                    <a16:rowId xmlns:a16="http://schemas.microsoft.com/office/drawing/2014/main" val="10003"/>
                  </a:ext>
                </a:extLst>
              </a:tr>
              <a:tr h="0">
                <a:tc>
                  <a:txBody>
                    <a:bodyPr/>
                    <a:lstStyle/>
                    <a:p>
                      <a:pPr marL="0" lvl="0" indent="0" algn="l">
                        <a:buNone/>
                      </a:pPr>
                      <a:r>
                        <a:rPr sz="1000"/>
                        <a:t>spam_share_roots (-)</a:t>
                      </a:r>
                    </a:p>
                  </a:txBody>
                  <a:tcPr/>
                </a:tc>
                <a:tc>
                  <a:txBody>
                    <a:bodyPr/>
                    <a:lstStyle/>
                    <a:p>
                      <a:pPr marL="0" lvl="0" indent="0" algn="l">
                        <a:buNone/>
                      </a:pPr>
                      <a:r>
                        <a:rPr sz="1000"/>
                        <a:t>MapSPAM</a:t>
                      </a:r>
                    </a:p>
                  </a:txBody>
                  <a:tcPr/>
                </a:tc>
                <a:tc>
                  <a:txBody>
                    <a:bodyPr/>
                    <a:lstStyle/>
                    <a:p>
                      <a:pPr marL="0" lvl="0" indent="0" algn="l">
                        <a:buNone/>
                      </a:pPr>
                      <a:r>
                        <a:rPr sz="1000"/>
                        <a:t>mics_c_fg_legumes (+)</a:t>
                      </a:r>
                    </a:p>
                  </a:txBody>
                  <a:tcPr/>
                </a:tc>
                <a:tc>
                  <a:txBody>
                    <a:bodyPr/>
                    <a:lstStyle/>
                    <a:p>
                      <a:pPr marL="0" lvl="0" indent="0" algn="l">
                        <a:buNone/>
                      </a:pPr>
                      <a:r>
                        <a:rPr sz="1000"/>
                        <a:t>MICS microdata</a:t>
                      </a:r>
                    </a:p>
                  </a:txBody>
                  <a:tcPr/>
                </a:tc>
                <a:extLst>
                  <a:ext uri="{0D108BD9-81ED-4DB2-BD59-A6C34878D82A}">
                    <a16:rowId xmlns:a16="http://schemas.microsoft.com/office/drawing/2014/main" val="10004"/>
                  </a:ext>
                </a:extLst>
              </a:tr>
              <a:tr h="0">
                <a:tc>
                  <a:txBody>
                    <a:bodyPr/>
                    <a:lstStyle/>
                    <a:p>
                      <a:pPr marL="0" lvl="0" indent="0" algn="l">
                        <a:buNone/>
                      </a:pPr>
                      <a:r>
                        <a:rPr sz="1000"/>
                        <a:t>fprice_staple_rel (-)</a:t>
                      </a:r>
                    </a:p>
                  </a:txBody>
                  <a:tcPr/>
                </a:tc>
                <a:tc>
                  <a:txBody>
                    <a:bodyPr/>
                    <a:lstStyle/>
                    <a:p>
                      <a:pPr marL="0" lvl="0" indent="0" algn="l">
                        <a:buNone/>
                      </a:pPr>
                      <a:r>
                        <a:rPr sz="1000"/>
                        <a:t>WFP / HDX market prices</a:t>
                      </a:r>
                    </a:p>
                  </a:txBody>
                  <a:tcPr/>
                </a:tc>
                <a:tc>
                  <a:txBody>
                    <a:bodyPr/>
                    <a:lstStyle/>
                    <a:p>
                      <a:pPr marL="0" lvl="0" indent="0" algn="l">
                        <a:buNone/>
                      </a:pPr>
                      <a:r>
                        <a:rPr sz="1000"/>
                        <a:t>wdist_coast_km_min (+)</a:t>
                      </a:r>
                    </a:p>
                  </a:txBody>
                  <a:tcPr/>
                </a:tc>
                <a:tc>
                  <a:txBody>
                    <a:bodyPr/>
                    <a:lstStyle/>
                    <a:p>
                      <a:pPr marL="0" lvl="0" indent="0" algn="l">
                        <a:buNone/>
                      </a:pPr>
                      <a:r>
                        <a:rPr sz="1000"/>
                        <a:t>JRC Global Surface Water 1.4; USDOS LSIB 2017</a:t>
                      </a:r>
                    </a:p>
                  </a:txBody>
                  <a:tcPr/>
                </a:tc>
                <a:extLst>
                  <a:ext uri="{0D108BD9-81ED-4DB2-BD59-A6C34878D82A}">
                    <a16:rowId xmlns:a16="http://schemas.microsoft.com/office/drawing/2014/main" val="10005"/>
                  </a:ext>
                </a:extLst>
              </a:tr>
              <a:tr h="0">
                <a:tc>
                  <a:txBody>
                    <a:bodyPr/>
                    <a:lstStyle/>
                    <a:p>
                      <a:pPr marL="0" lvl="0" indent="0" algn="l">
                        <a:buNone/>
                      </a:pPr>
                      <a:r>
                        <a:rPr sz="1000"/>
                        <a:t>map_sy_pf_mortality_rate (-)</a:t>
                      </a:r>
                    </a:p>
                  </a:txBody>
                  <a:tcPr/>
                </a:tc>
                <a:tc>
                  <a:txBody>
                    <a:bodyPr/>
                    <a:lstStyle/>
                    <a:p>
                      <a:pPr marL="0" lvl="0" indent="0" algn="l">
                        <a:buNone/>
                      </a:pPr>
                      <a:r>
                        <a:rPr sz="1000"/>
                        <a:t>Malaria Atlas Project</a:t>
                      </a:r>
                    </a:p>
                  </a:txBody>
                  <a:tcPr/>
                </a:tc>
                <a:tc>
                  <a:txBody>
                    <a:bodyPr/>
                    <a:lstStyle/>
                    <a:p>
                      <a:pPr marL="0" lvl="0" indent="0" algn="l">
                        <a:buNone/>
                      </a:pPr>
                      <a:r>
                        <a:rPr sz="1000"/>
                        <a:t>rwi_sd (-)</a:t>
                      </a:r>
                    </a:p>
                  </a:txBody>
                  <a:tcPr/>
                </a:tc>
                <a:tc>
                  <a:txBody>
                    <a:bodyPr/>
                    <a:lstStyle/>
                    <a:p>
                      <a:pPr marL="0" lvl="0" indent="0" algn="l">
                        <a:buNone/>
                      </a:pPr>
                      <a:r>
                        <a:rPr sz="1000"/>
                        <a:t>Meta/Data for Good RWI; WorldPop; CIESIN GPW v4.11</a:t>
                      </a:r>
                    </a:p>
                  </a:txBody>
                  <a:tcPr/>
                </a:tc>
                <a:extLst>
                  <a:ext uri="{0D108BD9-81ED-4DB2-BD59-A6C34878D82A}">
                    <a16:rowId xmlns:a16="http://schemas.microsoft.com/office/drawing/2014/main" val="10006"/>
                  </a:ext>
                </a:extLst>
              </a:tr>
              <a:tr h="0">
                <a:tc>
                  <a:txBody>
                    <a:bodyPr/>
                    <a:lstStyle/>
                    <a:p>
                      <a:pPr marL="0" lvl="0" indent="0" algn="l">
                        <a:buNone/>
                      </a:pPr>
                      <a:r>
                        <a:rPr sz="1000"/>
                        <a:t>glw_cattle_km2 (+)</a:t>
                      </a:r>
                    </a:p>
                  </a:txBody>
                  <a:tcPr/>
                </a:tc>
                <a:tc>
                  <a:txBody>
                    <a:bodyPr/>
                    <a:lstStyle/>
                    <a:p>
                      <a:pPr marL="0" lvl="0" indent="0" algn="l">
                        <a:buNone/>
                      </a:pPr>
                      <a:r>
                        <a:rPr sz="1000"/>
                        <a:t>Gridded Livestock of the World 4</a:t>
                      </a:r>
                    </a:p>
                  </a:txBody>
                  <a:tcPr/>
                </a:tc>
                <a:tc>
                  <a:txBody>
                    <a:bodyPr/>
                    <a:lstStyle/>
                    <a:p>
                      <a:pPr marL="0" lvl="0" indent="0" algn="l">
                        <a:buNone/>
                      </a:pPr>
                      <a:r>
                        <a:rPr sz="1000"/>
                        <a:t>ihme_simpother (-)</a:t>
                      </a:r>
                    </a:p>
                  </a:txBody>
                  <a:tcPr/>
                </a:tc>
                <a:tc>
                  <a:txBody>
                    <a:bodyPr/>
                    <a:lstStyle/>
                    <a:p>
                      <a:pPr marL="0" lvl="0" indent="0" algn="l">
                        <a:buNone/>
                      </a:pPr>
                      <a:r>
                        <a:rPr sz="1000"/>
                        <a:t>IHME</a:t>
                      </a:r>
                    </a:p>
                  </a:txBody>
                  <a:tcPr/>
                </a:tc>
                <a:extLst>
                  <a:ext uri="{0D108BD9-81ED-4DB2-BD59-A6C34878D82A}">
                    <a16:rowId xmlns:a16="http://schemas.microsoft.com/office/drawing/2014/main" val="10007"/>
                  </a:ext>
                </a:extLst>
              </a:tr>
              <a:tr h="0">
                <a:tc>
                  <a:txBody>
                    <a:bodyPr/>
                    <a:lstStyle/>
                    <a:p>
                      <a:pPr marL="0" lvl="0" indent="0" algn="l">
                        <a:buNone/>
                      </a:pPr>
                      <a:r>
                        <a:rPr sz="1000"/>
                        <a:t>lcover_crops_frac_t0 (+)</a:t>
                      </a:r>
                    </a:p>
                  </a:txBody>
                  <a:tcPr/>
                </a:tc>
                <a:tc>
                  <a:txBody>
                    <a:bodyPr/>
                    <a:lstStyle/>
                    <a:p>
                      <a:pPr marL="0" lvl="0" indent="0" algn="l">
                        <a:buNone/>
                      </a:pPr>
                      <a:r>
                        <a:rPr sz="1000"/>
                        <a:t>GEE</a:t>
                      </a:r>
                    </a:p>
                  </a:txBody>
                  <a:tcPr/>
                </a:tc>
                <a:tc>
                  <a:txBody>
                    <a:bodyPr/>
                    <a:lstStyle/>
                    <a:p>
                      <a:pPr marL="0" lvl="0" indent="0" algn="l">
                        <a:buNone/>
                      </a:pPr>
                      <a:r>
                        <a:rPr sz="1000"/>
                        <a:t>npp_npp_t0 (-)</a:t>
                      </a:r>
                    </a:p>
                  </a:txBody>
                  <a:tcPr/>
                </a:tc>
                <a:tc>
                  <a:txBody>
                    <a:bodyPr/>
                    <a:lstStyle/>
                    <a:p>
                      <a:pPr marL="0" lvl="0" indent="0" algn="l">
                        <a:buNone/>
                      </a:pPr>
                      <a:r>
                        <a:rPr sz="1000"/>
                        <a:t>GEE</a:t>
                      </a:r>
                    </a:p>
                  </a:txBody>
                  <a:tcPr/>
                </a:tc>
                <a:extLst>
                  <a:ext uri="{0D108BD9-81ED-4DB2-BD59-A6C34878D82A}">
                    <a16:rowId xmlns:a16="http://schemas.microsoft.com/office/drawing/2014/main" val="10008"/>
                  </a:ext>
                </a:extLst>
              </a:tr>
              <a:tr h="0">
                <a:tc>
                  <a:txBody>
                    <a:bodyPr/>
                    <a:lstStyle/>
                    <a:p>
                      <a:pPr marL="0" lvl="0" indent="0" algn="l">
                        <a:buNone/>
                      </a:pPr>
                      <a:r>
                        <a:rPr sz="1000"/>
                        <a:t>mics_c_fg_vita_fv (+)</a:t>
                      </a:r>
                    </a:p>
                  </a:txBody>
                  <a:tcPr/>
                </a:tc>
                <a:tc>
                  <a:txBody>
                    <a:bodyPr/>
                    <a:lstStyle/>
                    <a:p>
                      <a:pPr marL="0" lvl="0" indent="0" algn="l">
                        <a:buNone/>
                      </a:pPr>
                      <a:r>
                        <a:rPr sz="1000"/>
                        <a:t>MICS microdata</a:t>
                      </a:r>
                    </a:p>
                  </a:txBody>
                  <a:tcPr/>
                </a:tc>
                <a:tc>
                  <a:txBody>
                    <a:bodyPr/>
                    <a:lstStyle/>
                    <a:p>
                      <a:pPr marL="0" lvl="0" indent="0" algn="l">
                        <a:buNone/>
                      </a:pPr>
                      <a:r>
                        <a:rPr sz="1000"/>
                        <a:t>wpop_dependency_ratio (+)</a:t>
                      </a:r>
                    </a:p>
                  </a:txBody>
                  <a:tcPr/>
                </a:tc>
                <a:tc>
                  <a:txBody>
                    <a:bodyPr/>
                    <a:lstStyle/>
                    <a:p>
                      <a:pPr marL="0" lvl="0" indent="0" algn="l">
                        <a:buNone/>
                      </a:pPr>
                      <a:r>
                        <a:rPr sz="1000"/>
                        <a:t>WorldPop age-sex / JRC GHS-SMOD</a:t>
                      </a:r>
                    </a:p>
                  </a:txBody>
                  <a:tcPr/>
                </a:tc>
                <a:extLst>
                  <a:ext uri="{0D108BD9-81ED-4DB2-BD59-A6C34878D82A}">
                    <a16:rowId xmlns:a16="http://schemas.microsoft.com/office/drawing/2014/main" val="10009"/>
                  </a:ext>
                </a:extLst>
              </a:tr>
              <a:tr h="0">
                <a:tc>
                  <a:txBody>
                    <a:bodyPr/>
                    <a:lstStyle/>
                    <a:p>
                      <a:pPr marL="0" lvl="0" indent="0" algn="l">
                        <a:buNone/>
                      </a:pPr>
                      <a:r>
                        <a:rPr sz="1000"/>
                        <a:t>map_sy_pf_reproductive_number (-)</a:t>
                      </a:r>
                    </a:p>
                  </a:txBody>
                  <a:tcPr/>
                </a:tc>
                <a:tc>
                  <a:txBody>
                    <a:bodyPr/>
                    <a:lstStyle/>
                    <a:p>
                      <a:pPr marL="0" lvl="0" indent="0" algn="l">
                        <a:buNone/>
                      </a:pPr>
                      <a:r>
                        <a:rPr sz="1000"/>
                        <a:t>Malaria Atlas Project</a:t>
                      </a:r>
                    </a:p>
                  </a:txBody>
                  <a:tcPr/>
                </a:tc>
                <a:tc>
                  <a:txBody>
                    <a:bodyPr/>
                    <a:lstStyle/>
                    <a:p>
                      <a:pPr marL="0" lvl="0" indent="0" algn="l">
                        <a:buNone/>
                      </a:pPr>
                      <a:r>
                        <a:rPr sz="1000"/>
                        <a:t>npp_gpp_t0 (-)</a:t>
                      </a:r>
                    </a:p>
                  </a:txBody>
                  <a:tcPr/>
                </a:tc>
                <a:tc>
                  <a:txBody>
                    <a:bodyPr/>
                    <a:lstStyle/>
                    <a:p>
                      <a:pPr marL="0" lvl="0" indent="0" algn="l">
                        <a:buNone/>
                      </a:pPr>
                      <a:r>
                        <a:rPr sz="1000"/>
                        <a:t>GEE</a:t>
                      </a: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Urbanicity conditioning</a:t>
            </a:r>
          </a:p>
        </p:txBody>
      </p:sp>
      <p:sp>
        <p:nvSpPr>
          <p:cNvPr id="3" name="Content Placeholder 2"/>
          <p:cNvSpPr>
            <a:spLocks noGrp="1"/>
          </p:cNvSpPr>
          <p:nvPr>
            <p:ph sz="half" idx="1"/>
          </p:nvPr>
        </p:nvSpPr>
        <p:spPr/>
        <p:txBody>
          <a:bodyPr/>
          <a:lstStyle/>
          <a:p>
            <a:pPr marL="0" lvl="0" indent="0">
              <a:buNone/>
            </a:pPr>
            <a:r>
              <a:rPr sz="1800"/>
              <a:t>Transported Spearman of the climate-and-soil index at district level (0.38), the same after partialling out an urbanicity composite (0.36), and urbanicity alone (-0.07).</a:t>
            </a:r>
          </a:p>
        </p:txBody>
      </p:sp>
      <p:pic>
        <p:nvPicPr>
          <p:cNvPr id="4" name="Picture 1" descr="MN-proxy-full-talk-2026-09_files/figure-pptx/urban-1.png"/>
          <p:cNvPicPr>
            <a:picLocks noGrp="1" noChangeAspect="1"/>
          </p:cNvPicPr>
          <p:nvPr/>
        </p:nvPicPr>
        <p:blipFill>
          <a:blip r:embed="rId3"/>
          <a:stretch>
            <a:fillRect/>
          </a:stretch>
        </p:blipFill>
        <p:spPr bwMode="auto">
          <a:xfrm>
            <a:off x="6172200" y="2197100"/>
            <a:ext cx="5181600" cy="3568700"/>
          </a:xfrm>
          <a:prstGeom prst="rect">
            <a:avLst/>
          </a:prstGeom>
          <a:noFill/>
          <a:ln w="9525">
            <a:noFill/>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Add-on predictor blocks</a:t>
            </a:r>
          </a:p>
        </p:txBody>
      </p:sp>
      <p:sp>
        <p:nvSpPr>
          <p:cNvPr id="3" name="Content Placeholder 2"/>
          <p:cNvSpPr>
            <a:spLocks noGrp="1"/>
          </p:cNvSpPr>
          <p:nvPr>
            <p:ph sz="half" idx="1"/>
          </p:nvPr>
        </p:nvSpPr>
        <p:spPr/>
        <p:txBody>
          <a:bodyPr/>
          <a:lstStyle/>
          <a:p>
            <a:pPr marL="0" lvl="0" indent="0">
              <a:buNone/>
            </a:pPr>
            <a:r>
              <a:rPr sz="1800"/>
              <a:t>Median change in Spearman when a block is added to the base vocabulary, in-fill and district transport on the biomarker level, scored under one harness with the same folds.</a:t>
            </a:r>
          </a:p>
        </p:txBody>
      </p:sp>
      <p:pic>
        <p:nvPicPr>
          <p:cNvPr id="4" name="Picture 1" descr="MN-proxy-full-talk-2026-09_files/figure-pptx/addons-1.png"/>
          <p:cNvPicPr>
            <a:picLocks noGrp="1" noChangeAspect="1"/>
          </p:cNvPicPr>
          <p:nvPr/>
        </p:nvPicPr>
        <p:blipFill>
          <a:blip r:embed="rId3"/>
          <a:stretch>
            <a:fillRect/>
          </a:stretch>
        </p:blipFill>
        <p:spPr bwMode="auto">
          <a:xfrm>
            <a:off x="6172200" y="1841500"/>
            <a:ext cx="5181600" cy="4292600"/>
          </a:xfrm>
          <a:prstGeom prst="rect">
            <a:avLst/>
          </a:prstGeom>
          <a:noFill/>
          <a:ln w="9525">
            <a:noFill/>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Cluster-level fitting</a:t>
            </a:r>
          </a:p>
        </p:txBody>
      </p:sp>
      <p:sp>
        <p:nvSpPr>
          <p:cNvPr id="3" name="Content Placeholder 2"/>
          <p:cNvSpPr>
            <a:spLocks noGrp="1"/>
          </p:cNvSpPr>
          <p:nvPr>
            <p:ph sz="half" idx="1"/>
          </p:nvPr>
        </p:nvSpPr>
        <p:spPr/>
        <p:txBody>
          <a:bodyPr/>
          <a:lstStyle/>
          <a:p>
            <a:pPr marL="0" lvl="0" indent="0">
              <a:buNone/>
            </a:pPr>
            <a:r>
              <a:rPr sz="1800"/>
              <a:t>The same index fitted at the survey cluster and aggregated to districts, against the district fit, on the same cells. In-fill on the level: 0.38 cluster-fitted against 0.40 district-fitted.</a:t>
            </a:r>
          </a:p>
        </p:txBody>
      </p:sp>
      <p:pic>
        <p:nvPicPr>
          <p:cNvPr id="4" name="Picture 1" descr="MN-proxy-full-talk-2026-09_files/figure-pptx/cluster-1.png"/>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Risk-class accuracy</a:t>
            </a:r>
          </a:p>
        </p:txBody>
      </p:sp>
      <p:sp>
        <p:nvSpPr>
          <p:cNvPr id="3" name="Content Placeholder 2"/>
          <p:cNvSpPr>
            <a:spLocks noGrp="1"/>
          </p:cNvSpPr>
          <p:nvPr>
            <p:ph sz="half" idx="1"/>
          </p:nvPr>
        </p:nvSpPr>
        <p:spPr/>
        <p:txBody>
          <a:bodyPr/>
          <a:lstStyle/>
          <a:p>
            <a:pPr marL="0" lvl="0" indent="0">
              <a:buNone/>
            </a:pPr>
            <a:r>
              <a:rPr sz="1800"/>
              <a:t>Share of districts placed in the correct WHO vitamin A band (under 2%, 2 to 10, 10 to 20, 20 or more), and within one band, mean over the vitamin A cells. The index in-fill: 64% exact and 91% within one band.</a:t>
            </a:r>
          </a:p>
        </p:txBody>
      </p:sp>
      <p:pic>
        <p:nvPicPr>
          <p:cNvPr id="4" name="Picture 1" descr="MN-proxy-full-talk-2026-09_files/figure-pptx/riskcat-1.png"/>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LSMS and FluNet predictors</a:t>
            </a:r>
          </a:p>
        </p:txBody>
      </p:sp>
      <p:sp>
        <p:nvSpPr>
          <p:cNvPr id="3" name="Content Placeholder 2"/>
          <p:cNvSpPr>
            <a:spLocks noGrp="1"/>
          </p:cNvSpPr>
          <p:nvPr>
            <p:ph sz="half" idx="1"/>
          </p:nvPr>
        </p:nvSpPr>
        <p:spPr/>
        <p:txBody>
          <a:bodyPr/>
          <a:lstStyle/>
          <a:p>
            <a:pPr marL="0" lvl="0" indent="0">
              <a:buNone/>
            </a:pPr>
            <a:r>
              <a:rPr sz="1800"/>
              <a:t>Ghana in-fill on the biomarker level with the base vocabulary, the base plus the LSMS block, and the LSMS block alone, median over ten draws.</a:t>
            </a:r>
          </a:p>
        </p:txBody>
      </p:sp>
      <p:pic>
        <p:nvPicPr>
          <p:cNvPr id="4" name="Picture 1" descr="MN-proxy-full-talk-2026-09_files/figure-pptx/lsms-1.png"/>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Individual-level models</a:t>
            </a:r>
          </a:p>
        </p:txBody>
      </p:sp>
      <p:sp>
        <p:nvSpPr>
          <p:cNvPr id="3" name="Content Placeholder 2"/>
          <p:cNvSpPr>
            <a:spLocks noGrp="1"/>
          </p:cNvSpPr>
          <p:nvPr>
            <p:ph sz="half" idx="1"/>
          </p:nvPr>
        </p:nvSpPr>
        <p:spPr/>
        <p:txBody>
          <a:bodyPr/>
          <a:lstStyle/>
          <a:p>
            <a:pPr marL="0" lvl="0" indent="0">
              <a:buNone/>
            </a:pPr>
            <a:r>
              <a:rPr sz="1800"/>
              <a:t>Person-level SuperLearner under district-blocked folds, Brier skill over the national prevalence, by country and outcome. Mean AUC over 18 cells: 0.52 for survey variables, 0.50 for district proxies, 0.53 for both.</a:t>
            </a:r>
          </a:p>
        </p:txBody>
      </p:sp>
      <p:pic>
        <p:nvPicPr>
          <p:cNvPr id="4" name="Picture 1" descr="MN-proxy-full-talk-2026-09_files/figure-pptx/individual-1.png"/>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National-level track</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gridCol w="2082800">
                  <a:extLst>
                    <a:ext uri="{9D8B030D-6E8A-4147-A177-3AD203B41FA5}">
                      <a16:colId xmlns:a16="http://schemas.microsoft.com/office/drawing/2014/main" val="20003"/>
                    </a:ext>
                  </a:extLst>
                </a:gridCol>
                <a:gridCol w="3060700">
                  <a:extLst>
                    <a:ext uri="{9D8B030D-6E8A-4147-A177-3AD203B41FA5}">
                      <a16:colId xmlns:a16="http://schemas.microsoft.com/office/drawing/2014/main" val="20004"/>
                    </a:ext>
                  </a:extLst>
                </a:gridCol>
              </a:tblGrid>
              <a:tr h="0">
                <a:tc>
                  <a:txBody>
                    <a:bodyPr/>
                    <a:lstStyle/>
                    <a:p>
                      <a:pPr marL="0" lvl="0" indent="0" algn="l">
                        <a:buNone/>
                      </a:pPr>
                      <a:r>
                        <a:rPr sz="1000"/>
                        <a:t>Outcome</a:t>
                      </a:r>
                    </a:p>
                  </a:txBody>
                  <a:tcPr/>
                </a:tc>
                <a:tc>
                  <a:txBody>
                    <a:bodyPr/>
                    <a:lstStyle/>
                    <a:p>
                      <a:pPr marL="0" lvl="0" indent="0" algn="r">
                        <a:buNone/>
                      </a:pPr>
                      <a:r>
                        <a:rPr sz="1000"/>
                        <a:t>Countries</a:t>
                      </a:r>
                    </a:p>
                  </a:txBody>
                  <a:tcPr/>
                </a:tc>
                <a:tc>
                  <a:txBody>
                    <a:bodyPr/>
                    <a:lstStyle/>
                    <a:p>
                      <a:pPr marL="0" lvl="0" indent="0" algn="r">
                        <a:buNone/>
                      </a:pPr>
                      <a:r>
                        <a:rPr sz="1000"/>
                        <a:t>Observed (mean)</a:t>
                      </a:r>
                    </a:p>
                  </a:txBody>
                  <a:tcPr/>
                </a:tc>
                <a:tc>
                  <a:txBody>
                    <a:bodyPr/>
                    <a:lstStyle/>
                    <a:p>
                      <a:pPr marL="0" lvl="0" indent="0" algn="r">
                        <a:buNone/>
                      </a:pPr>
                      <a:r>
                        <a:rPr sz="1000"/>
                        <a:t>Predicted (mean)</a:t>
                      </a:r>
                    </a:p>
                  </a:txBody>
                  <a:tcPr/>
                </a:tc>
                <a:tc>
                  <a:txBody>
                    <a:bodyPr/>
                    <a:lstStyle/>
                    <a:p>
                      <a:pPr marL="0" lvl="0" indent="0" algn="r">
                        <a:buNone/>
                      </a:pPr>
                      <a:r>
                        <a:rPr sz="1000"/>
                        <a:t>Mean absolute error (pp)</a:t>
                      </a:r>
                    </a:p>
                  </a:txBody>
                  <a:tcPr/>
                </a:tc>
                <a:extLst>
                  <a:ext uri="{0D108BD9-81ED-4DB2-BD59-A6C34878D82A}">
                    <a16:rowId xmlns:a16="http://schemas.microsoft.com/office/drawing/2014/main" val="10000"/>
                  </a:ext>
                </a:extLst>
              </a:tr>
              <a:tr h="0">
                <a:tc>
                  <a:txBody>
                    <a:bodyPr/>
                    <a:lstStyle/>
                    <a:p>
                      <a:pPr marL="0" lvl="0" indent="0" algn="l">
                        <a:buNone/>
                      </a:pPr>
                      <a:r>
                        <a:rPr sz="1000"/>
                        <a:t>Child iron</a:t>
                      </a:r>
                    </a:p>
                  </a:txBody>
                  <a:tcPr/>
                </a:tc>
                <a:tc>
                  <a:txBody>
                    <a:bodyPr/>
                    <a:lstStyle/>
                    <a:p>
                      <a:pPr marL="0" lvl="0" indent="0" algn="r">
                        <a:buNone/>
                      </a:pPr>
                      <a:r>
                        <a:rPr sz="1000"/>
                        <a:t>4</a:t>
                      </a:r>
                    </a:p>
                  </a:txBody>
                  <a:tcPr/>
                </a:tc>
                <a:tc>
                  <a:txBody>
                    <a:bodyPr/>
                    <a:lstStyle/>
                    <a:p>
                      <a:pPr marL="0" lvl="0" indent="0" algn="r">
                        <a:buNone/>
                      </a:pPr>
                      <a:r>
                        <a:rPr sz="1000"/>
                        <a:t>0.19</a:t>
                      </a:r>
                    </a:p>
                  </a:txBody>
                  <a:tcPr/>
                </a:tc>
                <a:tc>
                  <a:txBody>
                    <a:bodyPr/>
                    <a:lstStyle/>
                    <a:p>
                      <a:pPr marL="0" lvl="0" indent="0" algn="r">
                        <a:buNone/>
                      </a:pPr>
                      <a:r>
                        <a:rPr sz="1000"/>
                        <a:t>0.21</a:t>
                      </a:r>
                    </a:p>
                  </a:txBody>
                  <a:tcPr/>
                </a:tc>
                <a:tc>
                  <a:txBody>
                    <a:bodyPr/>
                    <a:lstStyle/>
                    <a:p>
                      <a:pPr marL="0" lvl="0" indent="0" algn="r">
                        <a:buNone/>
                      </a:pPr>
                      <a:r>
                        <a:rPr sz="1000"/>
                        <a:t>2.09</a:t>
                      </a:r>
                    </a:p>
                  </a:txBody>
                  <a:tcPr/>
                </a:tc>
                <a:extLst>
                  <a:ext uri="{0D108BD9-81ED-4DB2-BD59-A6C34878D82A}">
                    <a16:rowId xmlns:a16="http://schemas.microsoft.com/office/drawing/2014/main" val="10001"/>
                  </a:ext>
                </a:extLst>
              </a:tr>
              <a:tr h="0">
                <a:tc>
                  <a:txBody>
                    <a:bodyPr/>
                    <a:lstStyle/>
                    <a:p>
                      <a:pPr marL="0" lvl="0" indent="0" algn="l">
                        <a:buNone/>
                      </a:pPr>
                      <a:r>
                        <a:rPr sz="1000"/>
                        <a:t>Child vitamin A</a:t>
                      </a:r>
                    </a:p>
                  </a:txBody>
                  <a:tcPr/>
                </a:tc>
                <a:tc>
                  <a:txBody>
                    <a:bodyPr/>
                    <a:lstStyle/>
                    <a:p>
                      <a:pPr marL="0" lvl="0" indent="0" algn="r">
                        <a:buNone/>
                      </a:pPr>
                      <a:r>
                        <a:rPr sz="1000"/>
                        <a:t>4</a:t>
                      </a:r>
                    </a:p>
                  </a:txBody>
                  <a:tcPr/>
                </a:tc>
                <a:tc>
                  <a:txBody>
                    <a:bodyPr/>
                    <a:lstStyle/>
                    <a:p>
                      <a:pPr marL="0" lvl="0" indent="0" algn="r">
                        <a:buNone/>
                      </a:pPr>
                      <a:r>
                        <a:rPr sz="1000"/>
                        <a:t>0.14</a:t>
                      </a:r>
                    </a:p>
                  </a:txBody>
                  <a:tcPr/>
                </a:tc>
                <a:tc>
                  <a:txBody>
                    <a:bodyPr/>
                    <a:lstStyle/>
                    <a:p>
                      <a:pPr marL="0" lvl="0" indent="0" algn="r">
                        <a:buNone/>
                      </a:pPr>
                      <a:r>
                        <a:rPr sz="1000"/>
                        <a:t>0.14</a:t>
                      </a:r>
                    </a:p>
                  </a:txBody>
                  <a:tcPr/>
                </a:tc>
                <a:tc>
                  <a:txBody>
                    <a:bodyPr/>
                    <a:lstStyle/>
                    <a:p>
                      <a:pPr marL="0" lvl="0" indent="0" algn="r">
                        <a:buNone/>
                      </a:pPr>
                      <a:r>
                        <a:rPr sz="1000"/>
                        <a:t>0.94</a:t>
                      </a:r>
                    </a:p>
                  </a:txBody>
                  <a:tcPr/>
                </a:tc>
                <a:extLst>
                  <a:ext uri="{0D108BD9-81ED-4DB2-BD59-A6C34878D82A}">
                    <a16:rowId xmlns:a16="http://schemas.microsoft.com/office/drawing/2014/main" val="10002"/>
                  </a:ext>
                </a:extLst>
              </a:tr>
              <a:tr h="0">
                <a:tc>
                  <a:txBody>
                    <a:bodyPr/>
                    <a:lstStyle/>
                    <a:p>
                      <a:pPr marL="0" lvl="0" indent="0" algn="l">
                        <a:buNone/>
                      </a:pPr>
                      <a:r>
                        <a:rPr sz="1000"/>
                        <a:t>Women’s iron</a:t>
                      </a:r>
                    </a:p>
                  </a:txBody>
                  <a:tcPr/>
                </a:tc>
                <a:tc>
                  <a:txBody>
                    <a:bodyPr/>
                    <a:lstStyle/>
                    <a:p>
                      <a:pPr marL="0" lvl="0" indent="0" algn="r">
                        <a:buNone/>
                      </a:pPr>
                      <a:r>
                        <a:rPr sz="1000"/>
                        <a:t>4</a:t>
                      </a:r>
                    </a:p>
                  </a:txBody>
                  <a:tcPr/>
                </a:tc>
                <a:tc>
                  <a:txBody>
                    <a:bodyPr/>
                    <a:lstStyle/>
                    <a:p>
                      <a:pPr marL="0" lvl="0" indent="0" algn="r">
                        <a:buNone/>
                      </a:pPr>
                      <a:r>
                        <a:rPr sz="1000"/>
                        <a:t>0.14</a:t>
                      </a:r>
                    </a:p>
                  </a:txBody>
                  <a:tcPr/>
                </a:tc>
                <a:tc>
                  <a:txBody>
                    <a:bodyPr/>
                    <a:lstStyle/>
                    <a:p>
                      <a:pPr marL="0" lvl="0" indent="0" algn="r">
                        <a:buNone/>
                      </a:pPr>
                      <a:r>
                        <a:rPr sz="1000"/>
                        <a:t>0.14</a:t>
                      </a:r>
                    </a:p>
                  </a:txBody>
                  <a:tcPr/>
                </a:tc>
                <a:tc>
                  <a:txBody>
                    <a:bodyPr/>
                    <a:lstStyle/>
                    <a:p>
                      <a:pPr marL="0" lvl="0" indent="0" algn="r">
                        <a:buNone/>
                      </a:pPr>
                      <a:r>
                        <a:rPr sz="1000"/>
                        <a:t>0.63</a:t>
                      </a:r>
                    </a:p>
                  </a:txBody>
                  <a:tcPr/>
                </a:tc>
                <a:extLst>
                  <a:ext uri="{0D108BD9-81ED-4DB2-BD59-A6C34878D82A}">
                    <a16:rowId xmlns:a16="http://schemas.microsoft.com/office/drawing/2014/main" val="10003"/>
                  </a:ext>
                </a:extLst>
              </a:tr>
              <a:tr h="0">
                <a:tc>
                  <a:txBody>
                    <a:bodyPr/>
                    <a:lstStyle/>
                    <a:p>
                      <a:pPr marL="0" lvl="0" indent="0" algn="l">
                        <a:buNone/>
                      </a:pPr>
                      <a:r>
                        <a:rPr sz="1000"/>
                        <a:t>Women’s vitamin A</a:t>
                      </a:r>
                    </a:p>
                  </a:txBody>
                  <a:tcPr/>
                </a:tc>
                <a:tc>
                  <a:txBody>
                    <a:bodyPr/>
                    <a:lstStyle/>
                    <a:p>
                      <a:pPr marL="0" lvl="0" indent="0" algn="r">
                        <a:buNone/>
                      </a:pPr>
                      <a:r>
                        <a:rPr sz="1000"/>
                        <a:t>4</a:t>
                      </a:r>
                    </a:p>
                  </a:txBody>
                  <a:tcPr/>
                </a:tc>
                <a:tc>
                  <a:txBody>
                    <a:bodyPr/>
                    <a:lstStyle/>
                    <a:p>
                      <a:pPr marL="0" lvl="0" indent="0" algn="r">
                        <a:buNone/>
                      </a:pPr>
                      <a:r>
                        <a:rPr sz="1000"/>
                        <a:t>0.02</a:t>
                      </a:r>
                    </a:p>
                  </a:txBody>
                  <a:tcPr/>
                </a:tc>
                <a:tc>
                  <a:txBody>
                    <a:bodyPr/>
                    <a:lstStyle/>
                    <a:p>
                      <a:pPr marL="0" lvl="0" indent="0" algn="r">
                        <a:buNone/>
                      </a:pPr>
                      <a:r>
                        <a:rPr sz="1000"/>
                        <a:t>0.02</a:t>
                      </a:r>
                    </a:p>
                  </a:txBody>
                  <a:tcPr/>
                </a:tc>
                <a:tc>
                  <a:txBody>
                    <a:bodyPr/>
                    <a:lstStyle/>
                    <a:p>
                      <a:pPr marL="0" lvl="0" indent="0" algn="r">
                        <a:buNone/>
                      </a:pPr>
                      <a:r>
                        <a:rPr sz="1000"/>
                        <a:t>0.23</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Iodine</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16383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gridCol w="1778000">
                  <a:extLst>
                    <a:ext uri="{9D8B030D-6E8A-4147-A177-3AD203B41FA5}">
                      <a16:colId xmlns:a16="http://schemas.microsoft.com/office/drawing/2014/main" val="20003"/>
                    </a:ext>
                  </a:extLst>
                </a:gridCol>
                <a:gridCol w="1714500">
                  <a:extLst>
                    <a:ext uri="{9D8B030D-6E8A-4147-A177-3AD203B41FA5}">
                      <a16:colId xmlns:a16="http://schemas.microsoft.com/office/drawing/2014/main" val="20004"/>
                    </a:ext>
                  </a:extLst>
                </a:gridCol>
                <a:gridCol w="2032000">
                  <a:extLst>
                    <a:ext uri="{9D8B030D-6E8A-4147-A177-3AD203B41FA5}">
                      <a16:colId xmlns:a16="http://schemas.microsoft.com/office/drawing/2014/main" val="20005"/>
                    </a:ext>
                  </a:extLst>
                </a:gridCol>
              </a:tblGrid>
              <a:tr h="0">
                <a:tc>
                  <a:txBody>
                    <a:bodyPr/>
                    <a:lstStyle/>
                    <a:p>
                      <a:pPr marL="0" lvl="0" indent="0" algn="l">
                        <a:buNone/>
                      </a:pPr>
                      <a:r>
                        <a:rPr sz="1000"/>
                        <a:t>Model</a:t>
                      </a:r>
                    </a:p>
                  </a:txBody>
                  <a:tcPr/>
                </a:tc>
                <a:tc>
                  <a:txBody>
                    <a:bodyPr/>
                    <a:lstStyle/>
                    <a:p>
                      <a:pPr marL="0" lvl="0" indent="0" algn="l">
                        <a:buNone/>
                      </a:pPr>
                      <a:r>
                        <a:rPr sz="1000"/>
                        <a:t>Gambia UIC &lt; 100, in-fill</a:t>
                      </a:r>
                    </a:p>
                  </a:txBody>
                  <a:tcPr/>
                </a:tc>
                <a:tc>
                  <a:txBody>
                    <a:bodyPr/>
                    <a:lstStyle/>
                    <a:p>
                      <a:pPr marL="0" lvl="0" indent="0" algn="l">
                        <a:buNone/>
                      </a:pPr>
                      <a:r>
                        <a:rPr sz="1000"/>
                        <a:t>Gambia UIC &lt; 100, region</a:t>
                      </a:r>
                    </a:p>
                  </a:txBody>
                  <a:tcPr/>
                </a:tc>
                <a:tc>
                  <a:txBody>
                    <a:bodyPr/>
                    <a:lstStyle/>
                    <a:p>
                      <a:pPr marL="0" lvl="0" indent="0" algn="l">
                        <a:buNone/>
                      </a:pPr>
                      <a:r>
                        <a:rPr sz="1000"/>
                        <a:t>Gambia median UIC, in-fill</a:t>
                      </a:r>
                    </a:p>
                  </a:txBody>
                  <a:tcPr/>
                </a:tc>
                <a:tc>
                  <a:txBody>
                    <a:bodyPr/>
                    <a:lstStyle/>
                    <a:p>
                      <a:pPr marL="0" lvl="0" indent="0" algn="l">
                        <a:buNone/>
                      </a:pPr>
                      <a:r>
                        <a:rPr sz="1000"/>
                        <a:t>Gambia median UIC, region</a:t>
                      </a:r>
                    </a:p>
                  </a:txBody>
                  <a:tcPr/>
                </a:tc>
                <a:tc>
                  <a:txBody>
                    <a:bodyPr/>
                    <a:lstStyle/>
                    <a:p>
                      <a:pPr marL="0" lvl="0" indent="0" algn="l">
                        <a:buNone/>
                      </a:pPr>
                      <a:r>
                        <a:rPr sz="1000"/>
                        <a:t>Sierra Leone UIC &lt; 100, region</a:t>
                      </a:r>
                    </a:p>
                  </a:txBody>
                  <a:tcPr/>
                </a:tc>
                <a:extLst>
                  <a:ext uri="{0D108BD9-81ED-4DB2-BD59-A6C34878D82A}">
                    <a16:rowId xmlns:a16="http://schemas.microsoft.com/office/drawing/2014/main" val="10000"/>
                  </a:ext>
                </a:extLst>
              </a:tr>
              <a:tr h="0">
                <a:tc>
                  <a:txBody>
                    <a:bodyPr/>
                    <a:lstStyle/>
                    <a:p>
                      <a:pPr marL="0" lvl="0" indent="0" algn="l">
                        <a:buNone/>
                      </a:pPr>
                      <a:r>
                        <a:rPr sz="1000"/>
                        <a:t>Training mean</a:t>
                      </a:r>
                    </a:p>
                  </a:txBody>
                  <a:tcPr/>
                </a:tc>
                <a:tc>
                  <a:txBody>
                    <a:bodyPr/>
                    <a:lstStyle/>
                    <a:p>
                      <a:pPr marL="0" lvl="0" indent="0" algn="l">
                        <a:buNone/>
                      </a:pPr>
                      <a:r>
                        <a:rPr sz="1000"/>
                        <a:t>-0.31</a:t>
                      </a:r>
                    </a:p>
                  </a:txBody>
                  <a:tcPr/>
                </a:tc>
                <a:tc>
                  <a:txBody>
                    <a:bodyPr/>
                    <a:lstStyle/>
                    <a:p>
                      <a:pPr marL="0" lvl="0" indent="0" algn="l">
                        <a:buNone/>
                      </a:pPr>
                      <a:r>
                        <a:rPr sz="1000"/>
                        <a:t>-0.55</a:t>
                      </a:r>
                    </a:p>
                  </a:txBody>
                  <a:tcPr/>
                </a:tc>
                <a:tc>
                  <a:txBody>
                    <a:bodyPr/>
                    <a:lstStyle/>
                    <a:p>
                      <a:pPr marL="0" lvl="0" indent="0" algn="l">
                        <a:buNone/>
                      </a:pPr>
                      <a:r>
                        <a:rPr sz="1000"/>
                        <a:t>-0.29</a:t>
                      </a:r>
                    </a:p>
                  </a:txBody>
                  <a:tcPr/>
                </a:tc>
                <a:tc>
                  <a:txBody>
                    <a:bodyPr/>
                    <a:lstStyle/>
                    <a:p>
                      <a:pPr marL="0" lvl="0" indent="0" algn="l">
                        <a:buNone/>
                      </a:pPr>
                      <a:r>
                        <a:rPr sz="1000"/>
                        <a:t>-0.60</a:t>
                      </a:r>
                    </a:p>
                  </a:txBody>
                  <a:tcPr/>
                </a:tc>
                <a:tc>
                  <a:txBody>
                    <a:bodyPr/>
                    <a:lstStyle/>
                    <a:p>
                      <a:pPr marL="0" lvl="0" indent="0" algn="l">
                        <a:buNone/>
                      </a:pPr>
                      <a:r>
                        <a:rPr sz="1000"/>
                        <a:t>-0.34</a:t>
                      </a:r>
                    </a:p>
                  </a:txBody>
                  <a:tcPr/>
                </a:tc>
                <a:extLst>
                  <a:ext uri="{0D108BD9-81ED-4DB2-BD59-A6C34878D82A}">
                    <a16:rowId xmlns:a16="http://schemas.microsoft.com/office/drawing/2014/main" val="10001"/>
                  </a:ext>
                </a:extLst>
              </a:tr>
              <a:tr h="0">
                <a:tc>
                  <a:txBody>
                    <a:bodyPr/>
                    <a:lstStyle/>
                    <a:p>
                      <a:pPr marL="0" lvl="0" indent="0" algn="l">
                        <a:buNone/>
                      </a:pPr>
                      <a:r>
                        <a:rPr sz="1000"/>
                        <a:t>Jackknifed regional mean</a:t>
                      </a:r>
                    </a:p>
                  </a:txBody>
                  <a:tcPr/>
                </a:tc>
                <a:tc>
                  <a:txBody>
                    <a:bodyPr/>
                    <a:lstStyle/>
                    <a:p>
                      <a:pPr marL="0" lvl="0" indent="0" algn="l">
                        <a:buNone/>
                      </a:pPr>
                      <a:r>
                        <a:rPr sz="1000"/>
                        <a:t>0.33</a:t>
                      </a:r>
                    </a:p>
                  </a:txBody>
                  <a:tcPr/>
                </a:tc>
                <a:tc>
                  <a:txBody>
                    <a:bodyPr/>
                    <a:lstStyle/>
                    <a:p>
                      <a:pPr marL="0" lvl="0" indent="0" algn="l">
                        <a:buNone/>
                      </a:pPr>
                      <a:r>
                        <a:rPr sz="1000"/>
                        <a:t>-</a:t>
                      </a:r>
                    </a:p>
                  </a:txBody>
                  <a:tcPr/>
                </a:tc>
                <a:tc>
                  <a:txBody>
                    <a:bodyPr/>
                    <a:lstStyle/>
                    <a:p>
                      <a:pPr marL="0" lvl="0" indent="0" algn="l">
                        <a:buNone/>
                      </a:pPr>
                      <a:r>
                        <a:rPr sz="1000"/>
                        <a:t>0.35</a:t>
                      </a:r>
                    </a:p>
                  </a:txBody>
                  <a:tcPr/>
                </a:tc>
                <a:tc>
                  <a:txBody>
                    <a:bodyPr/>
                    <a:lstStyle/>
                    <a:p>
                      <a:pPr marL="0" lvl="0" indent="0" algn="l">
                        <a:buNone/>
                      </a:pPr>
                      <a:r>
                        <a:rPr sz="1000"/>
                        <a:t>-</a:t>
                      </a:r>
                    </a:p>
                  </a:txBody>
                  <a:tcPr/>
                </a:tc>
                <a:tc>
                  <a:txBody>
                    <a:bodyPr/>
                    <a:lstStyle/>
                    <a:p>
                      <a:pPr marL="0" lvl="0" indent="0" algn="l">
                        <a:buNone/>
                      </a:pPr>
                      <a:r>
                        <a:rPr sz="1000"/>
                        <a:t>-</a:t>
                      </a:r>
                    </a:p>
                  </a:txBody>
                  <a:tcPr/>
                </a:tc>
                <a:extLst>
                  <a:ext uri="{0D108BD9-81ED-4DB2-BD59-A6C34878D82A}">
                    <a16:rowId xmlns:a16="http://schemas.microsoft.com/office/drawing/2014/main" val="10002"/>
                  </a:ext>
                </a:extLst>
              </a:tr>
              <a:tr h="0">
                <a:tc>
                  <a:txBody>
                    <a:bodyPr/>
                    <a:lstStyle/>
                    <a:p>
                      <a:pPr marL="0" lvl="0" indent="0" algn="l">
                        <a:buNone/>
                      </a:pPr>
                      <a:r>
                        <a:rPr sz="1000"/>
                        <a:t>Spatial smoother</a:t>
                      </a:r>
                    </a:p>
                  </a:txBody>
                  <a:tcPr/>
                </a:tc>
                <a:tc>
                  <a:txBody>
                    <a:bodyPr/>
                    <a:lstStyle/>
                    <a:p>
                      <a:pPr marL="0" lvl="0" indent="0" algn="l">
                        <a:buNone/>
                      </a:pPr>
                      <a:r>
                        <a:rPr sz="1000"/>
                        <a:t>0.31</a:t>
                      </a:r>
                    </a:p>
                  </a:txBody>
                  <a:tcPr/>
                </a:tc>
                <a:tc>
                  <a:txBody>
                    <a:bodyPr/>
                    <a:lstStyle/>
                    <a:p>
                      <a:pPr marL="0" lvl="0" indent="0" algn="l">
                        <a:buNone/>
                      </a:pPr>
                      <a:r>
                        <a:rPr sz="1000"/>
                        <a:t>0.50</a:t>
                      </a:r>
                    </a:p>
                  </a:txBody>
                  <a:tcPr/>
                </a:tc>
                <a:tc>
                  <a:txBody>
                    <a:bodyPr/>
                    <a:lstStyle/>
                    <a:p>
                      <a:pPr marL="0" lvl="0" indent="0" algn="l">
                        <a:buNone/>
                      </a:pPr>
                      <a:r>
                        <a:rPr sz="1000"/>
                        <a:t>0.27</a:t>
                      </a:r>
                    </a:p>
                  </a:txBody>
                  <a:tcPr/>
                </a:tc>
                <a:tc>
                  <a:txBody>
                    <a:bodyPr/>
                    <a:lstStyle/>
                    <a:p>
                      <a:pPr marL="0" lvl="0" indent="0" algn="l">
                        <a:buNone/>
                      </a:pPr>
                      <a:r>
                        <a:rPr sz="1000"/>
                        <a:t>0.27</a:t>
                      </a:r>
                    </a:p>
                  </a:txBody>
                  <a:tcPr/>
                </a:tc>
                <a:tc>
                  <a:txBody>
                    <a:bodyPr/>
                    <a:lstStyle/>
                    <a:p>
                      <a:pPr marL="0" lvl="0" indent="0" algn="l">
                        <a:buNone/>
                      </a:pPr>
                      <a:r>
                        <a:rPr sz="1000"/>
                        <a:t>-0.35</a:t>
                      </a:r>
                    </a:p>
                  </a:txBody>
                  <a:tcPr/>
                </a:tc>
                <a:extLst>
                  <a:ext uri="{0D108BD9-81ED-4DB2-BD59-A6C34878D82A}">
                    <a16:rowId xmlns:a16="http://schemas.microsoft.com/office/drawing/2014/main" val="10003"/>
                  </a:ext>
                </a:extLst>
              </a:tr>
              <a:tr h="0">
                <a:tc>
                  <a:txBody>
                    <a:bodyPr/>
                    <a:lstStyle/>
                    <a:p>
                      <a:pPr marL="0" lvl="0" indent="0" algn="l">
                        <a:buNone/>
                      </a:pPr>
                      <a:r>
                        <a:rPr sz="1000"/>
                        <a:t>Zero-tuning index</a:t>
                      </a:r>
                    </a:p>
                  </a:txBody>
                  <a:tcPr/>
                </a:tc>
                <a:tc>
                  <a:txBody>
                    <a:bodyPr/>
                    <a:lstStyle/>
                    <a:p>
                      <a:pPr marL="0" lvl="0" indent="0" algn="l">
                        <a:buNone/>
                      </a:pPr>
                      <a:r>
                        <a:rPr sz="1000"/>
                        <a:t>0.45</a:t>
                      </a:r>
                    </a:p>
                  </a:txBody>
                  <a:tcPr/>
                </a:tc>
                <a:tc>
                  <a:txBody>
                    <a:bodyPr/>
                    <a:lstStyle/>
                    <a:p>
                      <a:pPr marL="0" lvl="0" indent="0" algn="l">
                        <a:buNone/>
                      </a:pPr>
                      <a:r>
                        <a:rPr sz="1000"/>
                        <a:t>0.48</a:t>
                      </a:r>
                    </a:p>
                  </a:txBody>
                  <a:tcPr/>
                </a:tc>
                <a:tc>
                  <a:txBody>
                    <a:bodyPr/>
                    <a:lstStyle/>
                    <a:p>
                      <a:pPr marL="0" lvl="0" indent="0" algn="l">
                        <a:buNone/>
                      </a:pPr>
                      <a:r>
                        <a:rPr sz="1000"/>
                        <a:t>0.55</a:t>
                      </a:r>
                    </a:p>
                  </a:txBody>
                  <a:tcPr/>
                </a:tc>
                <a:tc>
                  <a:txBody>
                    <a:bodyPr/>
                    <a:lstStyle/>
                    <a:p>
                      <a:pPr marL="0" lvl="0" indent="0" algn="l">
                        <a:buNone/>
                      </a:pPr>
                      <a:r>
                        <a:rPr sz="1000"/>
                        <a:t>0.56</a:t>
                      </a:r>
                    </a:p>
                  </a:txBody>
                  <a:tcPr/>
                </a:tc>
                <a:tc>
                  <a:txBody>
                    <a:bodyPr/>
                    <a:lstStyle/>
                    <a:p>
                      <a:pPr marL="0" lvl="0" indent="0" algn="l">
                        <a:buNone/>
                      </a:pPr>
                      <a:r>
                        <a:rPr sz="1000"/>
                        <a:t>0.10</a:t>
                      </a:r>
                    </a:p>
                  </a:txBody>
                  <a:tcPr/>
                </a:tc>
                <a:extLst>
                  <a:ext uri="{0D108BD9-81ED-4DB2-BD59-A6C34878D82A}">
                    <a16:rowId xmlns:a16="http://schemas.microsoft.com/office/drawing/2014/main" val="10004"/>
                  </a:ext>
                </a:extLst>
              </a:tr>
              <a:tr h="0">
                <a:tc>
                  <a:txBody>
                    <a:bodyPr/>
                    <a:lstStyle/>
                    <a:p>
                      <a:pPr marL="0" lvl="0" indent="0" algn="l">
                        <a:buNone/>
                      </a:pPr>
                      <a:r>
                        <a:rPr sz="1000"/>
                        <a:t>Smoother + covariates</a:t>
                      </a:r>
                    </a:p>
                  </a:txBody>
                  <a:tcPr/>
                </a:tc>
                <a:tc>
                  <a:txBody>
                    <a:bodyPr/>
                    <a:lstStyle/>
                    <a:p>
                      <a:pPr marL="0" lvl="0" indent="0" algn="l">
                        <a:buNone/>
                      </a:pPr>
                      <a:r>
                        <a:rPr sz="1000"/>
                        <a:t>0.30</a:t>
                      </a:r>
                    </a:p>
                  </a:txBody>
                  <a:tcPr/>
                </a:tc>
                <a:tc>
                  <a:txBody>
                    <a:bodyPr/>
                    <a:lstStyle/>
                    <a:p>
                      <a:pPr marL="0" lvl="0" indent="0" algn="l">
                        <a:buNone/>
                      </a:pPr>
                      <a:r>
                        <a:rPr sz="1000"/>
                        <a:t>0.47</a:t>
                      </a:r>
                    </a:p>
                  </a:txBody>
                  <a:tcPr/>
                </a:tc>
                <a:tc>
                  <a:txBody>
                    <a:bodyPr/>
                    <a:lstStyle/>
                    <a:p>
                      <a:pPr marL="0" lvl="0" indent="0" algn="l">
                        <a:buNone/>
                      </a:pPr>
                      <a:r>
                        <a:rPr sz="1000"/>
                        <a:t>0.32</a:t>
                      </a:r>
                    </a:p>
                  </a:txBody>
                  <a:tcPr/>
                </a:tc>
                <a:tc>
                  <a:txBody>
                    <a:bodyPr/>
                    <a:lstStyle/>
                    <a:p>
                      <a:pPr marL="0" lvl="0" indent="0" algn="l">
                        <a:buNone/>
                      </a:pPr>
                      <a:r>
                        <a:rPr sz="1000"/>
                        <a:t>0.32</a:t>
                      </a:r>
                    </a:p>
                  </a:txBody>
                  <a:tcPr/>
                </a:tc>
                <a:tc>
                  <a:txBody>
                    <a:bodyPr/>
                    <a:lstStyle/>
                    <a:p>
                      <a:pPr marL="0" lvl="0" indent="0" algn="l">
                        <a:buNone/>
                      </a:pPr>
                      <a:r>
                        <a:rPr sz="1000"/>
                        <a:t>0.19</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Weighting of the domain components: prevalence</a:t>
            </a:r>
          </a:p>
        </p:txBody>
      </p:sp>
      <p:pic>
        <p:nvPicPr>
          <p:cNvPr id="3" name="Picture 1" descr="MN-proxy-full-talk-2026-09_files/figure-pptx/weights-prev-1.png"/>
          <p:cNvPicPr>
            <a:picLocks noGrp="1" noChangeAspect="1"/>
          </p:cNvPicPr>
          <p:nvPr/>
        </p:nvPicPr>
        <p:blipFill>
          <a:blip r:embed="rId3"/>
          <a:stretch>
            <a:fillRect/>
          </a:stretch>
        </p:blipFill>
        <p:spPr bwMode="auto">
          <a:xfrm>
            <a:off x="1892808" y="1691640"/>
            <a:ext cx="8412480" cy="4206240"/>
          </a:xfrm>
          <a:prstGeom prst="rect">
            <a:avLst/>
          </a:prstGeom>
          <a:noFill/>
          <a:ln w="9525">
            <a:noFill/>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Geostatistical comparator: absolute error</a:t>
            </a:r>
          </a:p>
        </p:txBody>
      </p:sp>
      <p:pic>
        <p:nvPicPr>
          <p:cNvPr id="3" name="Picture 1" descr="MN-proxy-full-talk-2026-09_files/figure-pptx/geostat-wmae-1.png"/>
          <p:cNvPicPr>
            <a:picLocks noGrp="1" noChangeAspect="1"/>
          </p:cNvPicPr>
          <p:nvPr/>
        </p:nvPicPr>
        <p:blipFill>
          <a:blip r:embed="rId3"/>
          <a:stretch>
            <a:fillRect/>
          </a:stretch>
        </p:blipFill>
        <p:spPr bwMode="auto">
          <a:xfrm>
            <a:off x="1529989" y="1691640"/>
            <a:ext cx="9138117" cy="4206240"/>
          </a:xfrm>
          <a:prstGeom prst="rect">
            <a:avLst/>
          </a:prstGeom>
          <a:noFill/>
          <a:ln w="9525">
            <a:noFill/>
            <a:headEnd/>
            <a:tailEnd/>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Status of the January analyses (1)</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4826000">
                  <a:extLst>
                    <a:ext uri="{9D8B030D-6E8A-4147-A177-3AD203B41FA5}">
                      <a16:colId xmlns:a16="http://schemas.microsoft.com/office/drawing/2014/main" val="20000"/>
                    </a:ext>
                  </a:extLst>
                </a:gridCol>
                <a:gridCol w="3378200">
                  <a:extLst>
                    <a:ext uri="{9D8B030D-6E8A-4147-A177-3AD203B41FA5}">
                      <a16:colId xmlns:a16="http://schemas.microsoft.com/office/drawing/2014/main" val="20001"/>
                    </a:ext>
                  </a:extLst>
                </a:gridCol>
                <a:gridCol w="2311400">
                  <a:extLst>
                    <a:ext uri="{9D8B030D-6E8A-4147-A177-3AD203B41FA5}">
                      <a16:colId xmlns:a16="http://schemas.microsoft.com/office/drawing/2014/main" val="20002"/>
                    </a:ext>
                  </a:extLst>
                </a:gridCol>
              </a:tblGrid>
              <a:tr h="0">
                <a:tc>
                  <a:txBody>
                    <a:bodyPr/>
                    <a:lstStyle/>
                    <a:p>
                      <a:pPr marL="0" lvl="0" indent="0" algn="l">
                        <a:buNone/>
                      </a:pPr>
                      <a:r>
                        <a:rPr sz="1000"/>
                        <a:t>January slide</a:t>
                      </a:r>
                    </a:p>
                  </a:txBody>
                  <a:tcPr/>
                </a:tc>
                <a:tc>
                  <a:txBody>
                    <a:bodyPr/>
                    <a:lstStyle/>
                    <a:p>
                      <a:pPr marL="0" lvl="0" indent="0" algn="l">
                        <a:buNone/>
                      </a:pPr>
                      <a:r>
                        <a:rPr sz="1000"/>
                        <a:t>Status</a:t>
                      </a:r>
                    </a:p>
                  </a:txBody>
                  <a:tcPr/>
                </a:tc>
                <a:tc>
                  <a:txBody>
                    <a:bodyPr/>
                    <a:lstStyle/>
                    <a:p>
                      <a:pPr marL="0" lvl="0" indent="0" algn="l">
                        <a:buNone/>
                      </a:pPr>
                      <a:r>
                        <a:rPr sz="1000"/>
                        <a:t>Where</a:t>
                      </a:r>
                    </a:p>
                  </a:txBody>
                  <a:tcPr/>
                </a:tc>
                <a:extLst>
                  <a:ext uri="{0D108BD9-81ED-4DB2-BD59-A6C34878D82A}">
                    <a16:rowId xmlns:a16="http://schemas.microsoft.com/office/drawing/2014/main" val="10000"/>
                  </a:ext>
                </a:extLst>
              </a:tr>
              <a:tr h="0">
                <a:tc>
                  <a:txBody>
                    <a:bodyPr/>
                    <a:lstStyle/>
                    <a:p>
                      <a:pPr marL="0" lvl="0" indent="0" algn="l">
                        <a:buNone/>
                      </a:pPr>
                      <a:r>
                        <a:rPr sz="1000"/>
                        <a:t>Individual-level proxy versus survey-only models (Brier skill, AUC, PR gain)</a:t>
                      </a:r>
                    </a:p>
                  </a:txBody>
                  <a:tcPr/>
                </a:tc>
                <a:tc>
                  <a:txBody>
                    <a:bodyPr/>
                    <a:lstStyle/>
                    <a:p>
                      <a:pPr marL="0" lvl="0" indent="0" algn="l">
                        <a:buNone/>
                      </a:pPr>
                      <a:r>
                        <a:rPr sz="1000"/>
                        <a:t>Sensitivity layer; rerun under district-blocked folds</a:t>
                      </a:r>
                    </a:p>
                  </a:txBody>
                  <a:tcPr/>
                </a:tc>
                <a:tc>
                  <a:txBody>
                    <a:bodyPr/>
                    <a:lstStyle/>
                    <a:p>
                      <a:pPr marL="0" lvl="0" indent="0" algn="l">
                        <a:buNone/>
                      </a:pPr>
                      <a:r>
                        <a:rPr sz="1000"/>
                        <a:t>Individual-level models</a:t>
                      </a:r>
                    </a:p>
                  </a:txBody>
                  <a:tcPr/>
                </a:tc>
                <a:extLst>
                  <a:ext uri="{0D108BD9-81ED-4DB2-BD59-A6C34878D82A}">
                    <a16:rowId xmlns:a16="http://schemas.microsoft.com/office/drawing/2014/main" val="10001"/>
                  </a:ext>
                </a:extLst>
              </a:tr>
              <a:tr h="0">
                <a:tc>
                  <a:txBody>
                    <a:bodyPr/>
                    <a:lstStyle/>
                    <a:p>
                      <a:pPr marL="0" lvl="0" indent="0" algn="l">
                        <a:buNone/>
                      </a:pPr>
                      <a:r>
                        <a:rPr sz="1000"/>
                        <a:t>National-level VMNIS / BRINDA predictions</a:t>
                      </a:r>
                    </a:p>
                  </a:txBody>
                  <a:tcPr/>
                </a:tc>
                <a:tc>
                  <a:txBody>
                    <a:bodyPr/>
                    <a:lstStyle/>
                    <a:p>
                      <a:pPr marL="0" lvl="0" indent="0" algn="l">
                        <a:buNone/>
                      </a:pPr>
                      <a:r>
                        <a:rPr sz="1000"/>
                        <a:t>Separate sub-pipeline, last run April 2026</a:t>
                      </a:r>
                    </a:p>
                  </a:txBody>
                  <a:tcPr/>
                </a:tc>
                <a:tc>
                  <a:txBody>
                    <a:bodyPr/>
                    <a:lstStyle/>
                    <a:p>
                      <a:pPr marL="0" lvl="0" indent="0" algn="l">
                        <a:buNone/>
                      </a:pPr>
                      <a:r>
                        <a:rPr sz="1000"/>
                        <a:t>National-level track; not re-audited</a:t>
                      </a:r>
                    </a:p>
                  </a:txBody>
                  <a:tcPr/>
                </a:tc>
                <a:extLst>
                  <a:ext uri="{0D108BD9-81ED-4DB2-BD59-A6C34878D82A}">
                    <a16:rowId xmlns:a16="http://schemas.microsoft.com/office/drawing/2014/main" val="10002"/>
                  </a:ext>
                </a:extLst>
              </a:tr>
              <a:tr h="0">
                <a:tc>
                  <a:txBody>
                    <a:bodyPr/>
                    <a:lstStyle/>
                    <a:p>
                      <a:pPr marL="0" lvl="0" indent="0" algn="l">
                        <a:buNone/>
                      </a:pPr>
                      <a:r>
                        <a:rPr sz="1000"/>
                        <a:t>Iodine (Sierra Leone)</a:t>
                      </a:r>
                    </a:p>
                  </a:txBody>
                  <a:tcPr/>
                </a:tc>
                <a:tc>
                  <a:txBody>
                    <a:bodyPr/>
                    <a:lstStyle/>
                    <a:p>
                      <a:pPr marL="0" lvl="0" indent="0" algn="l">
                        <a:buNone/>
                      </a:pPr>
                      <a:r>
                        <a:rPr sz="1000"/>
                        <a:t>Rerun within country (The Gambia, Sierra Leone)</a:t>
                      </a:r>
                    </a:p>
                  </a:txBody>
                  <a:tcPr/>
                </a:tc>
                <a:tc>
                  <a:txBody>
                    <a:bodyPr/>
                    <a:lstStyle/>
                    <a:p>
                      <a:pPr marL="0" lvl="0" indent="0" algn="l">
                        <a:buNone/>
                      </a:pPr>
                      <a:r>
                        <a:rPr sz="1000"/>
                        <a:t>Iodine</a:t>
                      </a:r>
                    </a:p>
                  </a:txBody>
                  <a:tcPr/>
                </a:tc>
                <a:extLst>
                  <a:ext uri="{0D108BD9-81ED-4DB2-BD59-A6C34878D82A}">
                    <a16:rowId xmlns:a16="http://schemas.microsoft.com/office/drawing/2014/main" val="10003"/>
                  </a:ext>
                </a:extLst>
              </a:tr>
              <a:tr h="0">
                <a:tc>
                  <a:txBody>
                    <a:bodyPr/>
                    <a:lstStyle/>
                    <a:p>
                      <a:pPr marL="0" lvl="0" indent="0" algn="l">
                        <a:buNone/>
                      </a:pPr>
                      <a:r>
                        <a:rPr sz="1000"/>
                        <a:t>Risk-category accuracy (none / mild / moderate / severe)</a:t>
                      </a:r>
                    </a:p>
                  </a:txBody>
                  <a:tcPr/>
                </a:tc>
                <a:tc>
                  <a:txBody>
                    <a:bodyPr/>
                    <a:lstStyle/>
                    <a:p>
                      <a:pPr marL="0" lvl="0" indent="0" algn="l">
                        <a:buNone/>
                      </a:pPr>
                      <a:r>
                        <a:rPr sz="1000"/>
                        <a:t>Rerun under the protocol, WHO bands</a:t>
                      </a:r>
                    </a:p>
                  </a:txBody>
                  <a:tcPr/>
                </a:tc>
                <a:tc>
                  <a:txBody>
                    <a:bodyPr/>
                    <a:lstStyle/>
                    <a:p>
                      <a:pPr marL="0" lvl="0" indent="0" algn="l">
                        <a:buNone/>
                      </a:pPr>
                      <a:r>
                        <a:rPr sz="1000"/>
                        <a:t>Risk-class accuracy</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Status of the January analyses (2)</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20000"/>
                    </a:ext>
                  </a:extLst>
                </a:gridCol>
                <a:gridCol w="70358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tblGrid>
              <a:tr h="0">
                <a:tc>
                  <a:txBody>
                    <a:bodyPr/>
                    <a:lstStyle/>
                    <a:p>
                      <a:pPr marL="0" lvl="0" indent="0" algn="l">
                        <a:buNone/>
                      </a:pPr>
                      <a:r>
                        <a:rPr sz="1000"/>
                        <a:t>January slide</a:t>
                      </a:r>
                    </a:p>
                  </a:txBody>
                  <a:tcPr/>
                </a:tc>
                <a:tc>
                  <a:txBody>
                    <a:bodyPr/>
                    <a:lstStyle/>
                    <a:p>
                      <a:pPr marL="0" lvl="0" indent="0" algn="l">
                        <a:buNone/>
                      </a:pPr>
                      <a:r>
                        <a:rPr sz="1000"/>
                        <a:t>Status</a:t>
                      </a:r>
                    </a:p>
                  </a:txBody>
                  <a:tcPr/>
                </a:tc>
                <a:tc>
                  <a:txBody>
                    <a:bodyPr/>
                    <a:lstStyle/>
                    <a:p>
                      <a:pPr marL="0" lvl="0" indent="0" algn="l">
                        <a:buNone/>
                      </a:pPr>
                      <a:r>
                        <a:rPr sz="1000"/>
                        <a:t>Where</a:t>
                      </a:r>
                    </a:p>
                  </a:txBody>
                  <a:tcPr/>
                </a:tc>
                <a:extLst>
                  <a:ext uri="{0D108BD9-81ED-4DB2-BD59-A6C34878D82A}">
                    <a16:rowId xmlns:a16="http://schemas.microsoft.com/office/drawing/2014/main" val="10000"/>
                  </a:ext>
                </a:extLst>
              </a:tr>
              <a:tr h="0">
                <a:tc>
                  <a:txBody>
                    <a:bodyPr/>
                    <a:lstStyle/>
                    <a:p>
                      <a:pPr marL="0" lvl="0" indent="0" algn="l">
                        <a:buNone/>
                      </a:pPr>
                      <a:r>
                        <a:rPr sz="1000"/>
                        <a:t>LSMS (275) and FluNet (3) predictors</a:t>
                      </a:r>
                    </a:p>
                  </a:txBody>
                  <a:tcPr/>
                </a:tc>
                <a:tc>
                  <a:txBody>
                    <a:bodyPr/>
                    <a:lstStyle/>
                    <a:p>
                      <a:pPr marL="0" lvl="0" indent="0" algn="l">
                        <a:buNone/>
                      </a:pPr>
                      <a:r>
                        <a:rPr sz="1000"/>
                        <a:t>Re-added: the GLSS7 region means add no skill; household budget survey microdata for all four countries are now in the base set; FluNet is national and inert</a:t>
                      </a:r>
                    </a:p>
                  </a:txBody>
                  <a:tcPr/>
                </a:tc>
                <a:tc>
                  <a:txBody>
                    <a:bodyPr/>
                    <a:lstStyle/>
                    <a:p>
                      <a:pPr marL="0" lvl="0" indent="0" algn="l">
                        <a:buNone/>
                      </a:pPr>
                      <a:r>
                        <a:rPr sz="1000"/>
                        <a:t>LSMS and FluNet predictors</a:t>
                      </a:r>
                    </a:p>
                  </a:txBody>
                  <a:tcPr/>
                </a:tc>
                <a:extLst>
                  <a:ext uri="{0D108BD9-81ED-4DB2-BD59-A6C34878D82A}">
                    <a16:rowId xmlns:a16="http://schemas.microsoft.com/office/drawing/2014/main" val="10001"/>
                  </a:ext>
                </a:extLst>
              </a:tr>
              <a:tr h="0">
                <a:tc>
                  <a:txBody>
                    <a:bodyPr/>
                    <a:lstStyle/>
                    <a:p>
                      <a:pPr marL="0" lvl="0" indent="0" algn="l">
                        <a:buNone/>
                      </a:pPr>
                      <a:r>
                        <a:rPr sz="1000"/>
                        <a:t>Data-source importance by change in MSE</a:t>
                      </a:r>
                    </a:p>
                  </a:txBody>
                  <a:tcPr/>
                </a:tc>
                <a:tc>
                  <a:txBody>
                    <a:bodyPr/>
                    <a:lstStyle/>
                    <a:p>
                      <a:pPr marL="0" lvl="0" indent="0" algn="l">
                        <a:buNone/>
                      </a:pPr>
                      <a:r>
                        <a:rPr sz="1000"/>
                        <a:t>Replaced by domain and source ablation under transport</a:t>
                      </a:r>
                    </a:p>
                  </a:txBody>
                  <a:tcPr/>
                </a:tc>
                <a:tc>
                  <a:txBody>
                    <a:bodyPr/>
                    <a:lstStyle/>
                    <a:p>
                      <a:pPr marL="0" lvl="0" indent="0" algn="l">
                        <a:buNone/>
                      </a:pPr>
                      <a:r>
                        <a:rPr sz="1000"/>
                        <a:t>Domain and source ablation</a:t>
                      </a:r>
                    </a:p>
                  </a:txBody>
                  <a:tcPr/>
                </a:tc>
                <a:extLst>
                  <a:ext uri="{0D108BD9-81ED-4DB2-BD59-A6C34878D82A}">
                    <a16:rowId xmlns:a16="http://schemas.microsoft.com/office/drawing/2014/main" val="10002"/>
                  </a:ext>
                </a:extLst>
              </a:tr>
              <a:tr h="0">
                <a:tc>
                  <a:txBody>
                    <a:bodyPr/>
                    <a:lstStyle/>
                    <a:p>
                      <a:pPr marL="0" lvl="0" indent="0" algn="l">
                        <a:buNone/>
                      </a:pPr>
                      <a:r>
                        <a:rPr sz="1000"/>
                        <a:t>Admin-1 women’s iron maps, predicted versus survey</a:t>
                      </a:r>
                    </a:p>
                  </a:txBody>
                  <a:tcPr/>
                </a:tc>
                <a:tc>
                  <a:txBody>
                    <a:bodyPr/>
                    <a:lstStyle/>
                    <a:p>
                      <a:pPr marL="0" lvl="0" indent="0" algn="l">
                        <a:buNone/>
                      </a:pPr>
                      <a:r>
                        <a:rPr sz="1000"/>
                        <a:t>Replaced by district maps with held-out predictions</a:t>
                      </a:r>
                    </a:p>
                  </a:txBody>
                  <a:tcPr/>
                </a:tc>
                <a:tc>
                  <a:txBody>
                    <a:bodyPr/>
                    <a:lstStyle/>
                    <a:p>
                      <a:pPr marL="0" lvl="0" indent="0" algn="l">
                        <a:buNone/>
                      </a:pPr>
                      <a:r>
                        <a:rPr sz="1000"/>
                        <a:t>Ghana maps</a:t>
                      </a:r>
                    </a:p>
                  </a:txBody>
                  <a:tcPr/>
                </a:tc>
                <a:extLst>
                  <a:ext uri="{0D108BD9-81ED-4DB2-BD59-A6C34878D82A}">
                    <a16:rowId xmlns:a16="http://schemas.microsoft.com/office/drawing/2014/main" val="10003"/>
                  </a:ext>
                </a:extLst>
              </a:tr>
              <a:tr h="0">
                <a:tc>
                  <a:txBody>
                    <a:bodyPr/>
                    <a:lstStyle/>
                    <a:p>
                      <a:pPr marL="0" lvl="0" indent="0" algn="l">
                        <a:buNone/>
                      </a:pPr>
                      <a:r>
                        <a:rPr sz="1000"/>
                        <a:t>Prescreened SuperLearner as the model</a:t>
                      </a:r>
                    </a:p>
                  </a:txBody>
                  <a:tcPr/>
                </a:tc>
                <a:tc>
                  <a:txBody>
                    <a:bodyPr/>
                    <a:lstStyle/>
                    <a:p>
                      <a:pPr marL="0" lvl="0" indent="0" algn="l">
                        <a:buNone/>
                      </a:pPr>
                      <a:r>
                        <a:rPr sz="1000"/>
                        <a:t>Retained as comparison; does not beat the zero-tuning index</a:t>
                      </a:r>
                    </a:p>
                  </a:txBody>
                  <a:tcPr/>
                </a:tc>
                <a:tc>
                  <a:txBody>
                    <a:bodyPr/>
                    <a:lstStyle/>
                    <a:p>
                      <a:pPr marL="0" lvl="0" indent="0" algn="l">
                        <a:buNone/>
                      </a:pPr>
                      <a:r>
                        <a:rPr sz="1000"/>
                        <a:t>Estimators</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TotalTime>
  <Words>21189</Words>
  <Application>Microsoft Office PowerPoint</Application>
  <PresentationFormat>Widescreen</PresentationFormat>
  <Paragraphs>1345</Paragraphs>
  <Slides>99</Slides>
  <Notes>86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99</vt:i4>
      </vt:variant>
    </vt:vector>
  </HeadingPairs>
  <TitlesOfParts>
    <vt:vector size="103" baseType="lpstr">
      <vt:lpstr>Arial</vt:lpstr>
      <vt:lpstr>Calibri</vt:lpstr>
      <vt:lpstr>Calibri Light</vt:lpstr>
      <vt:lpstr>Office 2013 - 2022 Theme</vt:lpstr>
      <vt:lpstr>Predicting vitamin and mineral deficiencies from public data</vt:lpstr>
      <vt:lpstr>Goals</vt:lpstr>
      <vt:lpstr>What a country has today, and what the model adds</vt:lpstr>
      <vt:lpstr>Surveys are rare; the proxies are everywhere</vt:lpstr>
      <vt:lpstr>Big data and small data, at once</vt:lpstr>
      <vt:lpstr>Surveys and outcomes</vt:lpstr>
      <vt:lpstr>Four surveys, one protocol</vt:lpstr>
      <vt:lpstr>Five deficiencies, one definition each</vt:lpstr>
      <vt:lpstr>Conceptual framework: iron deficiency</vt:lpstr>
      <vt:lpstr>The proxy dataset</vt:lpstr>
      <vt:lpstr>What a proxy has to be</vt:lpstr>
      <vt:lpstr>What each source is (1 of 2): land, climate, agriculture</vt:lpstr>
      <vt:lpstr>What each source is (2 of 2): health, food, households</vt:lpstr>
      <vt:lpstr>575 columns from 28 sources, on one district spine</vt:lpstr>
      <vt:lpstr>Three kinds of data, three ways to a district value</vt:lpstr>
      <vt:lpstr>Every join is by code, never by name</vt:lpstr>
      <vt:lpstr>Every layer sits at the survey year, and the gap is recorded</vt:lpstr>
      <vt:lpstr>29 domains, each entered as its leading components</vt:lpstr>
      <vt:lpstr>The predictors on the map: eight of the 575, Ghana</vt:lpstr>
      <vt:lpstr>From four surveys and 28 sources to one district table</vt:lpstr>
      <vt:lpstr>Every column kept or dropped has a written reason</vt:lpstr>
      <vt:lpstr>Models and protocol</vt:lpstr>
      <vt:lpstr>The corrected protocol replaced the ensemble with a zero-tuning index</vt:lpstr>
      <vt:lpstr>an ensemble weighted by cross-validation</vt:lpstr>
      <vt:lpstr>How the zero-tuning index works</vt:lpstr>
      <vt:lpstr>Three questions, three honest baselines</vt:lpstr>
      <vt:lpstr>Three questions, three ways to hold data out</vt:lpstr>
      <vt:lpstr>Results</vt:lpstr>
      <vt:lpstr>Inside a surveyed country the index ranks districts at 0.40</vt:lpstr>
      <vt:lpstr>Ghana: survey and held-out prediction</vt:lpstr>
      <vt:lpstr>A whole unsurveyed region: the ranking holds at 0.39</vt:lpstr>
      <vt:lpstr>A country with no survey: rankings carry at 0.30, levels do not</vt:lpstr>
      <vt:lpstr>Adding domains to climate and soil</vt:lpstr>
      <vt:lpstr>Cote d’Ivoire: a ranking for a country with no survey</vt:lpstr>
      <vt:lpstr>Cote d’Ivoire: the two candidates agree</vt:lpstr>
      <vt:lpstr>The geostatistical model estimates levels better and ranks worse</vt:lpstr>
      <vt:lpstr>The worst-ranked fifth holds 22% of the burden; a perfect map 48%</vt:lpstr>
      <vt:lpstr>6 of 18 cells rank above 0.5; the rest average 0.28</vt:lpstr>
      <vt:lpstr>Prevalence error, cell by cell</vt:lpstr>
      <vt:lpstr>Concentration error, cell by cell</vt:lpstr>
      <vt:lpstr>Where the ranking works, and why not</vt:lpstr>
      <vt:lpstr>The strong cells</vt:lpstr>
      <vt:lpstr>Evaluation summary: one table, two readings</vt:lpstr>
      <vt:lpstr>What a correlation of 0.40 means on the ground</vt:lpstr>
      <vt:lpstr>How much of what a survey can see does the model recover?</vt:lpstr>
      <vt:lpstr>Right band, wrong band</vt:lpstr>
      <vt:lpstr>Which decisions can the ranking carry?</vt:lpstr>
      <vt:lpstr>Malawi: survey and held-out prediction</vt:lpstr>
      <vt:lpstr>Seeing the results</vt:lpstr>
      <vt:lpstr>How to read every map in this deck</vt:lpstr>
      <vt:lpstr>Two survey maps, with the survey’s own reliability on them</vt:lpstr>
      <vt:lpstr>Does the model track the survey, district by district?</vt:lpstr>
      <vt:lpstr>Actual against predicted at the regional level</vt:lpstr>
      <vt:lpstr>Ghana, child vitamin A: the chance a district is above 20%</vt:lpstr>
      <vt:lpstr>Cote d’Ivoire: how bad and how sure, on one map</vt:lpstr>
      <vt:lpstr>What the rank intervals promise, and what they do not</vt:lpstr>
      <vt:lpstr>What moves each district, predictor by predictor</vt:lpstr>
      <vt:lpstr>Does the ranking work where the poor live?</vt:lpstr>
      <vt:lpstr>Each survey added improves every other map</vt:lpstr>
      <vt:lpstr>What carries the signal</vt:lpstr>
      <vt:lpstr>No single predictor carries more than 2% of the index</vt:lpstr>
      <vt:lpstr>Malawi, women’s B12: the weights behind the best ranking</vt:lpstr>
      <vt:lpstr>A surrogate marker: anaemia, fish and B12</vt:lpstr>
      <vt:lpstr>Climate and soil carry across borders; survey items do not</vt:lpstr>
      <vt:lpstr>What the transport models reach for</vt:lpstr>
      <vt:lpstr>Drier, grassier, poorer, more pastoral districts rank worse everywhere</vt:lpstr>
      <vt:lpstr>Limits and survey design</vt:lpstr>
      <vt:lpstr>Even a perfect predictor would score only 0.48 against this survey</vt:lpstr>
      <vt:lpstr>A 5% national sample plus the ranking matches a 25% district survey</vt:lpstr>
      <vt:lpstr>The curve has not flattened: each survey added helps every map</vt:lpstr>
      <vt:lpstr>Can the model direct and shrink surveys?</vt:lpstr>
      <vt:lpstr>The dashboard</vt:lpstr>
      <vt:lpstr>Closing</vt:lpstr>
      <vt:lpstr>What the models can and cannot do yet</vt:lpstr>
      <vt:lpstr>Conclusions</vt:lpstr>
      <vt:lpstr>Next steps</vt:lpstr>
      <vt:lpstr>Appendix</vt:lpstr>
      <vt:lpstr>Sources, tiers and alignment</vt:lpstr>
      <vt:lpstr>From columns to domains</vt:lpstr>
      <vt:lpstr>The twenty layers behind child iron, and how much each carries</vt:lpstr>
      <vt:lpstr>Exclusions, with their reasons</vt:lpstr>
      <vt:lpstr>Predictor set by domain and tier</vt:lpstr>
      <vt:lpstr>What we would add next, and the rule for adding it</vt:lpstr>
      <vt:lpstr>Predictors recurring across outcomes</vt:lpstr>
      <vt:lpstr>Weighting of the domain components</vt:lpstr>
      <vt:lpstr>Sparse composites</vt:lpstr>
      <vt:lpstr>Child iron composite</vt:lpstr>
      <vt:lpstr>Urbanicity conditioning</vt:lpstr>
      <vt:lpstr>Add-on predictor blocks</vt:lpstr>
      <vt:lpstr>Cluster-level fitting</vt:lpstr>
      <vt:lpstr>Risk-class accuracy</vt:lpstr>
      <vt:lpstr>LSMS and FluNet predictors</vt:lpstr>
      <vt:lpstr>Individual-level models</vt:lpstr>
      <vt:lpstr>National-level track</vt:lpstr>
      <vt:lpstr>Iodine</vt:lpstr>
      <vt:lpstr>Weighting of the domain components: prevalence</vt:lpstr>
      <vt:lpstr>Geostatistical comparator: absolute error</vt:lpstr>
      <vt:lpstr>Status of the January analyses (1)</vt:lpstr>
      <vt:lpstr>Status of the January analyses (2)</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Office 2013 - 2022 Theme</Template>
  <TotalTime>4824</TotalTime>
  <Words>2454</Words>
  <Application>Microsoft Office PowerPoint</Application>
  <PresentationFormat>Widescreen</PresentationFormat>
  <Paragraphs>309</Paragraphs>
  <Slides>26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 Narrow</vt:lpstr>
      <vt:lpstr>Arial</vt:lpstr>
      <vt:lpstr>Calibri</vt:lpstr>
      <vt:lpstr>Calibri Light</vt:lpstr>
      <vt:lpstr>Office 2013 - 2022 Theme</vt:lpstr>
      <vt:lpstr>Proxy VMD Modeling Project Andrew Mertens (University of California, Berkeley)  </vt:lpstr>
      <vt:lpstr>PowerPoint Presentation</vt:lpstr>
      <vt:lpstr>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Details on one model-b12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National-level BRINDA and VMNIS predictions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vitamin and mineral deficiencies from public data</dc:title>
  <dc:creator>Andrew N. Mertens, University of California, Berkeley</dc:creator>
  <cp:keywords/>
  <cp:lastModifiedBy>Andrew Mertens</cp:lastModifiedBy>
  <cp:revision>8</cp:revision>
  <dcterms:created xsi:type="dcterms:W3CDTF">2026-09-17T12:55:14Z</dcterms:created>
  <dcterms:modified xsi:type="dcterms:W3CDTF">2026-09-17T16:05:25Z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2026-09-16</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Four biomarker surveys, hundreds of public proxies, one evaluation protocol</vt:lpwstr>
  </property>
  <property fmtid="{D5CDD505-2E9C-101B-9397-08002B2CF9AE}" pid="12" name="toc-title">
    <vt:lpwstr>Table of contents</vt:lpwstr>
  </property>
</Properties>
</file>