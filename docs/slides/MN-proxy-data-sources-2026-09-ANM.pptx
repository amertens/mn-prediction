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34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8478" autoAdjust="0"/>
  </p:normalViewPr>
  <p:slideViewPr>
    <p:cSldViewPr snapToGrid="0">
      <p:cViewPr varScale="1">
        <p:scale>
          <a:sx n="86" d="100"/>
          <a:sy n="86" d="100"/>
        </p:scale>
        <p:origin x="9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068F7-1A27-4717-A728-A996FAEDE383}" type="datetimeFigureOut">
              <a:rPr lang="en-GB" smtClean="0"/>
              <a:t>16/09/2026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A43B92-3A2D-4964-BD32-AF28A47106C9}" type="slidenum">
              <a:rPr lang="en-GB" smtClean="0"/>
              <a:t>‹#›</a:t>
            </a:fld>
            <a:endParaRPr lang="en-GB"/>
          </a:p>
        </p:txBody>
      </p:sp>
    </p:spTree>
    <p:extLst>
      <p:ext uri="{BB962C8B-B14F-4D97-AF65-F5344CB8AC3E}">
        <p14:creationId xmlns:p14="http://schemas.microsoft.com/office/powerpoint/2010/main" val="1581707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talk is about the right-hand side of the model: where the 570 columns come from, how each one gets from its native form to a district value, how we line them up with four surveys taken in four different years, and which of them the model leans on. The analysis deck covers what the ranking achieves; this one covers what it is made of. The leakage rule is the second bullet: a district aggregate of the same survey instance we score is excluded (docs/findings, LK-02), and where a MICS or DHS was fielded inside the biomarker survey’s own clusters those clusters are dropped from the aggregate (The Gambia 2018: 70 MICS clusters; Malawi 2015-16: 105 DHS clusters). The fourth bullet became the headline set on 15 September: 375 of the 570 columns enter the models, the 150 DHS columns run only as a sensitivity arm, and 45 national constants are dropped at fit time because a value that is the same in every district cannot rank districts.</a:t>
            </a:r>
          </a:p>
        </p:txBody>
      </p:sp>
      <p:sp>
        <p:nvSpPr>
          <p:cNvPr id="4" name="Slide Number Placeholder 3"/>
          <p:cNvSpPr>
            <a:spLocks noGrp="1"/>
          </p:cNvSpPr>
          <p:nvPr>
            <p:ph type="sldNum" sz="quarter" idx="10"/>
          </p:nvPr>
        </p:nvSpPr>
        <p:spPr/>
        <p:txBody>
          <a:bodyPr/>
          <a:lstStyle/>
          <a:p>
            <a:fld id="{E2A43B92-3A2D-4964-BD32-AF28A47106C9}"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Read the bar chart from the top. The Earth Engine block is climate (TerraClimate at the survey year and as 30-year normals), land cover, night lights, built-up surface, vegetation and evapotranspiration, night-time land surface temperature; the satellite embedding is Google’s AlphaEarth, 64 numbers per district that summarise a year of imagery; soil is iSDA and SoilGrids, ten nutrient concentrations at two depths plus texture and pH; crops are MapSPAM’s 2010 allocation; livestock is GLW4. The health and nutrition surfaces are IHME’s modelled estimates (anaemia, child growth, WASH, education, ORS, HIV, malaria, vaccination) and the Malaria Atlas layers; ESPEN gives helminth endemicity. Prices come from WFP markets, the World Bank’s RTFP panel and FAOSTAT balances; fortification from GFDx. The public microdata blocks are new since 15 September: 30 indicators from the MICS files for all four countries and 15 diet and consumption indicators from the household budget surveys (IHS 2015/16, GLSS7, IHS4, SLIHS 2018). The DHS block is 150 district aggregates from the round paired with each survey; it stays out of the headline because it fits the training countries and does not carry to a new one, which the analysis deck shows. Everything here is listed with its source, year and definition in results/tables/protocol_v2/variable_sheet.csv and in the dashboard’s catalogue.</a:t>
            </a:r>
          </a:p>
        </p:txBody>
      </p:sp>
      <p:sp>
        <p:nvSpPr>
          <p:cNvPr id="4" name="Slide Number Placeholder 3"/>
          <p:cNvSpPr>
            <a:spLocks noGrp="1"/>
          </p:cNvSpPr>
          <p:nvPr>
            <p:ph type="sldNum" sz="quarter" idx="10"/>
          </p:nvPr>
        </p:nvSpPr>
        <p:spPr/>
        <p:txBody>
          <a:bodyPr/>
          <a:lstStyle/>
          <a:p>
            <a:fld id="{E2A43B92-3A2D-4964-BD32-AF28A47106C9}"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Rasters are the easy case: exactextractr over the GADM polygon, weighting by WorldPop where the quantity is about people (the IHME surfaces) and by area where it is about land (climate, soil, greenness). Twelve of the IHME columns were still joined by district name until this week; the tabular files predate Ghana’s 2019 district splits and left 56 percent of Ghana empty, so they were re-extracted from the 5 km GeoTIFFs. Survey microdata with GPS goes point-in-polygon after the leakage clusters are removed, with a minimum of 30 households and 5 clusters per district before a district gets its own value; below that it takes the parent region’s value and is flagged. Ghana’s MICS 2017-18 identifies the ten old regions and Malawi’s MICS 2013-14 the 27 districts, so those blocks vary at that level only and every column carries a subnational flag saying so. National series are kept in the set for documentation and completeness, but a constant cannot rank districts; the fit-time policy removes 45 of them (FAOSTAT, most GFDx fields, WHO anaemia national estimates, VAS, FluNet).</a:t>
            </a:r>
          </a:p>
        </p:txBody>
      </p:sp>
      <p:sp>
        <p:nvSpPr>
          <p:cNvPr id="4" name="Slide Number Placeholder 3"/>
          <p:cNvSpPr>
            <a:spLocks noGrp="1"/>
          </p:cNvSpPr>
          <p:nvPr>
            <p:ph type="sldNum" sz="quarter" idx="10"/>
          </p:nvPr>
        </p:nvSpPr>
        <p:spPr/>
        <p:txBody>
          <a:bodyPr/>
          <a:lstStyle/>
          <a:p>
            <a:fld id="{E2A43B92-3A2D-4964-BD32-AF28A47106C9}"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spine is metadata/admin2_spine.csv; the helpers in R/admin2_keys.R do every join in the pipeline and a lint test (tests/testthat/test-admin2-join-lint.R) reads every script for a join on a bare Admin2 name. The p-codes came from OCHA’s COD-AB for all four countries this week, both directions, so an OCHA-coded source (IPC, ACLED, cluster surveys) joins without any matching. Fuzzy matching, where it is still needed, is Jaro-Winkler with a 0.15 cap and a review file that lists every non-exact match for a human to accept. The population defect: the dashboard’s population table had been deduplicated by district name, so Chikwawa’s TA Lundu and Nsanje’s TA Ngabu, Salima’s TA Pemba and Zomba’s TA Malemia lost one member each, two of them surveyed districts, and every population-weighted figure silently excluded them. Fixed 15 September from WorldPop density, and the population table is now asserted complete in the tests.</a:t>
            </a:r>
          </a:p>
        </p:txBody>
      </p:sp>
      <p:sp>
        <p:nvSpPr>
          <p:cNvPr id="4" name="Slide Number Placeholder 3"/>
          <p:cNvSpPr>
            <a:spLocks noGrp="1"/>
          </p:cNvSpPr>
          <p:nvPr>
            <p:ph type="sldNum" sz="quarter" idx="10"/>
          </p:nvPr>
        </p:nvSpPr>
        <p:spPr/>
        <p:txBody>
          <a:bodyPr/>
          <a:lstStyle/>
          <a:p>
            <a:fld id="{E2A43B92-3A2D-4964-BD32-AF28A47106C9}"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rules live in metadata/covariates/temporal_alignment.csv, 45 of them, one regular expression each: survey_year where an annual series exists (TerraClimate, MODIS NDVI, MAP, WorldPop density, WFP prices, RTFP windows), nearest available year where a series ends early (IHME’s child growth, education and WASH stop at 2017, anaemia and malaria at 2019), a fixed vintage where there is only one (AlphaEarth 2017, MapSPAM 2010, GLW 2015, RWI 2019), a per-country round for the household surveys, and static for soil, terrain, climate normals and zones. Climate and greenness enter as a 30-year normal plus the survey-year anomaly in standard-deviation units, which is what transports; the calendar-year series that lagged the survey by up to eight years were retired. Sierra Leone’s 2013 survey is the awkward one: AlphaEarth starts in 2017, Copernicus land cover in 2015, and the MICS round nearest it is 2017, so its gaps are the orange and red bands. Ghana’s are the DHS block: the round paired with the 2017 survey is the 2014 DHS, three years off for 140 columns, one more reason the DHS sits in the sensitivity arm. The gaps that apply everywhere are the single-vintage products: MapSPAM 2010, GLW 2015, WorldPop’s 2020 age-sex structure. The stamp is per column and per country (results/tables/predictor_alignment_2026-09-16.csv), and the audit lists everything three or more years off.</a:t>
            </a:r>
          </a:p>
        </p:txBody>
      </p:sp>
      <p:sp>
        <p:nvSpPr>
          <p:cNvPr id="4" name="Slide Number Placeholder 3"/>
          <p:cNvSpPr>
            <a:spLocks noGrp="1"/>
          </p:cNvSpPr>
          <p:nvPr>
            <p:ph type="sldNum" sz="quarter" idx="10"/>
          </p:nvPr>
        </p:nvSpPr>
        <p:spPr/>
        <p:txBody>
          <a:bodyPr/>
          <a:lstStyle/>
          <a:p>
            <a:fld id="{E2A43B92-3A2D-4964-BD32-AF28A47106C9}"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Why domains: 570 columns against 14 to 87 districts per country cannot be fitted column by column, and the columns are heavily correlated within a source. Grouping them by what they measure and taking principal components inside each group keeps most of the variance of each group, treats a source with 64 columns and a source with 3 as one construct each, and keeps the outcome out of the representation: the rotations are learned from the training districts’ predictors alone, so nothing is selected on the biomarker. The grouping is written down: each source block brings a label, and 10 override rules in metadata/covariates/domain_overrides.csv regroup columns by construct (infection and inflammation burden, immunisation, anaemia, child anthropometry, infant feeding, supplementation, water and sanitation, education, child mortality, assets), so that MAP, IHME, DHS and MICS versions of the same thing are weighed together. Two things went wrong this week and are now guarded. A domain’s first twelve characters are its key inside the model; two labels that shared them (“Food prices (RTFP)” and “Food prices and supply”) were silently merged in two analyses until a check caught it on 16 September. The other is in the exclusions, on the next slide. One more point for questions: climate alone or soil alone transports better than all domains together, the analysis deck’s climate-and-soil result.</a:t>
            </a:r>
          </a:p>
        </p:txBody>
      </p:sp>
      <p:sp>
        <p:nvSpPr>
          <p:cNvPr id="4" name="Slide Number Placeholder 3"/>
          <p:cNvSpPr>
            <a:spLocks noGrp="1"/>
          </p:cNvSpPr>
          <p:nvPr>
            <p:ph type="sldNum" sz="quarter" idx="10"/>
          </p:nvPr>
        </p:nvSpPr>
        <p:spPr/>
        <p:txBody>
          <a:bodyPr/>
          <a:lstStyle/>
          <a:p>
            <a:fld id="{E2A43B92-3A2D-4964-BD32-AF28A47106C9}"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One shell script runs the chain (scripts/covariates/rebuild_shared_tail.sh) and ends in an audit that fails the build on a domain-key collision, a column declared subnational that does not vary, or a join that fans out. The exclusion file has 22 rules and every rule states its evidence: a nitrogen layer whose medians differ thirtyfold between countries, an NDVI product declared available only to 2013, calendar-year series superseded by survey-year values. This week’s most instructive mistake was in the exclusions. A review labelled the soil dispersion bands and the 20-50 cm depth means “redundant” on a mechanistic argument, and the climate-and-soil result fell from 0.37 to 0.34 across districts and from 0.45 to 0.40 across regions. The bands correlate only 0.03 to 0.69 with the depth means, so the label was wrong; restoring them brought both numbers back. We now hold to one rule: nothing is added or regrouped because a score likes it, an exclusion whose stated premise fails on its own metric is reverted, and every set change is checked against the transport arms before a run. What the fit sees is the last two rows: 375 columns in the headline tiers that vary within a country, of which 326 have a value in all four countries and so can be used to predict a new one. The rest are per-country data gaps: household budget diet indicators pending for Ghana and Sierra Leone, RTFP for The Gambia and Malawi only, MICS items absent from one round.</a:t>
            </a:r>
          </a:p>
        </p:txBody>
      </p:sp>
      <p:sp>
        <p:nvSpPr>
          <p:cNvPr id="4" name="Slide Number Placeholder 3"/>
          <p:cNvSpPr>
            <a:spLocks noGrp="1"/>
          </p:cNvSpPr>
          <p:nvPr>
            <p:ph type="sldNum" sz="quarter" idx="10"/>
          </p:nvPr>
        </p:nvSpPr>
        <p:spPr/>
        <p:txBody>
          <a:bodyPr/>
          <a:lstStyle/>
          <a:p>
            <a:fld id="{E2A43B92-3A2D-4964-BD32-AF28A47106C9}"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five largest weights per outcome in the pooled four-country fit, biomarker level, from results/tables/protocol_v2/index_importance_top.csv. One gradient runs through all six outcomes: districts that are drier and grassier, less productive, more pastoral, poorer and with more stunted children rank worse on every deficiency. The groups behind it are the physical environment: satellite imagery, climate and soil carry 40% to 54% of the index inside a country depending on the outcome. The weights locate deficiency; they do not say what to change. Livestock density ranking positive for iron and B12 is the ecology of dry, poor, pastoral zones rather than a dietary effect of cattle. The twenty-layer list for child iron, in the appendix, is the same story as a list a country could rebuild itself; all twenty keep their direction in every leave-one-country-out fit.</a:t>
            </a:r>
          </a:p>
        </p:txBody>
      </p:sp>
      <p:sp>
        <p:nvSpPr>
          <p:cNvPr id="4" name="Slide Number Placeholder 3"/>
          <p:cNvSpPr>
            <a:spLocks noGrp="1"/>
          </p:cNvSpPr>
          <p:nvPr>
            <p:ph type="sldNum" sz="quarter" idx="10"/>
          </p:nvPr>
        </p:nvSpPr>
        <p:spPr/>
        <p:txBody>
          <a:bodyPr/>
          <a:lstStyle/>
          <a:p>
            <a:fld id="{E2A43B92-3A2D-4964-BD32-AF28A47106C9}"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 domain_ablation_loco.csv, leave-one-country-out, biomarker level. Positive means the domain is load-bearing for a country the model has never seen. Climate (+0.03) and soil (+0.03) carry most; the anaemia surfaces, agriculture and greenness are behind them. The survey-derived constructs sit at or below zero even without DHS in the set: water and sanitation and education help inside a country and not across borders, and by source the MICS microdata block is the one whose removal improves transport (-0.02). The DHS block did the same more strongly, 0.07 on the previous set and 0.02 now, which is why the headline set holds it out. The physical environment carries the signal, and it is also what a country without a survey can download. Whether the headline should go one step further to the open tier alone (0.32 against 0.31) is an open decision inside the 0.03 tie rule. The two-domain climate-and-soil index reaches 0.38 across districts; it was found on these four countries and is pre-registered for the fifth.</a:t>
            </a:r>
          </a:p>
        </p:txBody>
      </p:sp>
      <p:sp>
        <p:nvSpPr>
          <p:cNvPr id="4" name="Slide Number Placeholder 3"/>
          <p:cNvSpPr>
            <a:spLocks noGrp="1"/>
          </p:cNvSpPr>
          <p:nvPr>
            <p:ph type="sldNum" sz="quarter" idx="10"/>
          </p:nvPr>
        </p:nvSpPr>
        <p:spPr/>
        <p:txBody>
          <a:bodyPr/>
          <a:lstStyle/>
          <a:p>
            <a:fld id="{E2A43B92-3A2D-4964-BD32-AF28A47106C9}"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add-on harness is scripts/protocol_v2/39_addon_feature_test.R and it has scored eleven blocks so far; the analysis deck’s forest plot of those tests is the record. Most recent blocks moved the index by less than 0.01. The household budget survey block and the MICS block are in the base set for what they add inside a country, where two of the three estimands live; they do not help across borders. The GPS request is with UNICEF; the Ghana and Sierra Leone budget-survey modules are with the research assistant. Cote d’Ivoire, the country we rank with no survey, is missing the 30-year climate normals, which cost 27 of the 101 climate-and-soil columns in its intersection without changing the transport figure; extracting them is a morning’s work.</a:t>
            </a:r>
          </a:p>
        </p:txBody>
      </p:sp>
      <p:sp>
        <p:nvSpPr>
          <p:cNvPr id="4" name="Slide Number Placeholder 3"/>
          <p:cNvSpPr>
            <a:spLocks noGrp="1"/>
          </p:cNvSpPr>
          <p:nvPr>
            <p:ph type="sldNum" sz="quarter" idx="10"/>
          </p:nvPr>
        </p:nvSpPr>
        <p:spPr/>
        <p:txBody>
          <a:bodyPr/>
          <a:lstStyle/>
          <a:p>
            <a:fld id="{E2A43B92-3A2D-4964-BD32-AF28A47106C9}"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Tier: open means downloadable by anyone; public survey microdata means a registration with the survey programme; DHS means the DHS Program’s access agreement, and those columns are the sensitivity arm. Year rule names are the rule identifiers in metadata/covariates/temporal_alignment.csv. The largest gap is the worst case over the four countries; static layers have none.</a:t>
            </a:r>
          </a:p>
        </p:txBody>
      </p:sp>
      <p:sp>
        <p:nvSpPr>
          <p:cNvPr id="4" name="Slide Number Placeholder 3"/>
          <p:cNvSpPr>
            <a:spLocks noGrp="1"/>
          </p:cNvSpPr>
          <p:nvPr>
            <p:ph type="sldNum" sz="quarter" idx="10"/>
          </p:nvPr>
        </p:nvSpPr>
        <p:spPr/>
        <p:txBody>
          <a:bodyPr/>
          <a:lstStyle/>
          <a:p>
            <a:fld id="{E2A43B92-3A2D-4964-BD32-AF28A47106C9}"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index_importance_top.csv, child iron, biomarker level, the twenty largest weights in the pooled fit. All twenty keep the same direction in every leave-one-country-out fit; ten of the twenty also keep it in each country’s own fit, the stricter test. None requires a blood sample. The twenty-layer equal-weight composite scores about the same as the full index for a new country, so a short auditable list loses nothing.</a:t>
            </a:r>
          </a:p>
        </p:txBody>
      </p:sp>
      <p:sp>
        <p:nvSpPr>
          <p:cNvPr id="4" name="Slide Number Placeholder 3"/>
          <p:cNvSpPr>
            <a:spLocks noGrp="1"/>
          </p:cNvSpPr>
          <p:nvPr>
            <p:ph type="sldNum" sz="quarter" idx="10"/>
          </p:nvPr>
        </p:nvSpPr>
        <p:spPr/>
        <p:txBody>
          <a:bodyPr/>
          <a:lstStyle/>
          <a:p>
            <a:fld id="{E2A43B92-3A2D-4964-BD32-AF28A47106C9}" type="slidenum">
              <a:rPr lang="en-US"/>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metadata/covariates/exclusions.csv, applied by scripts/protocol_v2/53_apply_exclusion_policy.R to the live set. Data defects are removed on evidence in the audit tables; superseded layers are replaced by a better-aligned version of the same quantity; redundant twins are removed when a pooled rank correlation reaches 0.98 with a kept column. The two soil rules that failed that standard were removed on 15 September (SX-01 in the sandbox log).</a:t>
            </a:r>
          </a:p>
        </p:txBody>
      </p:sp>
      <p:sp>
        <p:nvSpPr>
          <p:cNvPr id="4" name="Slide Number Placeholder 3"/>
          <p:cNvSpPr>
            <a:spLocks noGrp="1"/>
          </p:cNvSpPr>
          <p:nvPr>
            <p:ph type="sldNum" sz="quarter" idx="10"/>
          </p:nvPr>
        </p:nvSpPr>
        <p:spPr/>
        <p:txBody>
          <a:bodyPr/>
          <a:lstStyle/>
          <a:p>
            <a:fld id="{E2A43B92-3A2D-4964-BD32-AF28A47106C9}" type="slidenum">
              <a:rPr lang="en-US"/>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Modelled surfaces are estimates produced by someone else’s model (IHME, MAP, the MIMI dietary inadequacy estimates); they are included by default and the protocol has a switch (V2_DROP_MODELLED=1) to score without them. Columns that do not vary within a country are the national constants dropped at fit time.</a:t>
            </a:r>
          </a:p>
        </p:txBody>
      </p:sp>
      <p:sp>
        <p:nvSpPr>
          <p:cNvPr id="4" name="Slide Number Placeholder 3"/>
          <p:cNvSpPr>
            <a:spLocks noGrp="1"/>
          </p:cNvSpPr>
          <p:nvPr>
            <p:ph type="sldNum" sz="quarter" idx="10"/>
          </p:nvPr>
        </p:nvSpPr>
        <p:spPr/>
        <p:txBody>
          <a:bodyPr/>
          <a:lstStyle/>
          <a:p>
            <a:fld id="{E2A43B92-3A2D-4964-BD32-AF28A47106C9}" type="slidenum">
              <a:rPr lang="en-US"/>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7" name="TextBox 6">
            <a:extLst>
              <a:ext uri="{FF2B5EF4-FFF2-40B4-BE49-F238E27FC236}">
                <a16:creationId xmlns:a16="http://schemas.microsoft.com/office/drawing/2014/main" id="{DBB63C27-DD85-8476-375D-EB16F5A6ADB0}"/>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844691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AE1C6CC3-8F74-EDBB-C900-31606B76182B}"/>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761388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9A3B38-64E1-431E-BEA9-6580D124E61C}"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7FA9F931-E5AE-F452-FEFF-7D5D0E3B6E23}"/>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479266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9A3B38-64E1-431E-BEA9-6580D124E61C}"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
        <p:nvSpPr>
          <p:cNvPr id="8" name="TextBox 7">
            <a:extLst>
              <a:ext uri="{FF2B5EF4-FFF2-40B4-BE49-F238E27FC236}">
                <a16:creationId xmlns:a16="http://schemas.microsoft.com/office/drawing/2014/main" id="{6792EBD8-CFBD-9CA6-B371-55CFC4AF9CA6}"/>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2417712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9A3B38-64E1-431E-BEA9-6580D124E61C}" type="datetimeFigureOut">
              <a:rPr lang="en-GB" smtClean="0"/>
              <a:t>16/09/2026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558A8C7-06A4-4826-B9D4-6AFEE114A5DB}" type="slidenum">
              <a:rPr lang="en-GB" smtClean="0"/>
              <a:t>‹#›</a:t>
            </a:fld>
            <a:endParaRPr lang="en-GB"/>
          </a:p>
        </p:txBody>
      </p:sp>
      <p:sp>
        <p:nvSpPr>
          <p:cNvPr id="10" name="TextBox 9">
            <a:extLst>
              <a:ext uri="{FF2B5EF4-FFF2-40B4-BE49-F238E27FC236}">
                <a16:creationId xmlns:a16="http://schemas.microsoft.com/office/drawing/2014/main" id="{B9BEB713-6C4A-8232-ACDD-6FA7B502F31D}"/>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087072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9A3B38-64E1-431E-BEA9-6580D124E61C}" type="datetimeFigureOut">
              <a:rPr lang="en-GB" smtClean="0"/>
              <a:t>16/09/2026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558A8C7-06A4-4826-B9D4-6AFEE114A5DB}" type="slidenum">
              <a:rPr lang="en-GB" smtClean="0"/>
              <a:t>‹#›</a:t>
            </a:fld>
            <a:endParaRPr lang="en-GB"/>
          </a:p>
        </p:txBody>
      </p:sp>
      <p:sp>
        <p:nvSpPr>
          <p:cNvPr id="6" name="TextBox 5">
            <a:extLst>
              <a:ext uri="{FF2B5EF4-FFF2-40B4-BE49-F238E27FC236}">
                <a16:creationId xmlns:a16="http://schemas.microsoft.com/office/drawing/2014/main" id="{EDB3E47D-A329-EFAE-BBAF-0D11D0605DC9}"/>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209632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9A3B38-64E1-431E-BEA9-6580D124E61C}" type="datetimeFigureOut">
              <a:rPr lang="en-GB" smtClean="0"/>
              <a:t>16/09/2026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558A8C7-06A4-4826-B9D4-6AFEE114A5DB}" type="slidenum">
              <a:rPr lang="en-GB" smtClean="0"/>
              <a:t>‹#›</a:t>
            </a:fld>
            <a:endParaRPr lang="en-GB"/>
          </a:p>
        </p:txBody>
      </p:sp>
      <p:sp>
        <p:nvSpPr>
          <p:cNvPr id="5" name="TextBox 4">
            <a:extLst>
              <a:ext uri="{FF2B5EF4-FFF2-40B4-BE49-F238E27FC236}">
                <a16:creationId xmlns:a16="http://schemas.microsoft.com/office/drawing/2014/main" id="{B1477A53-470A-CC57-81B5-B7AEF3704FA4}"/>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1932842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9A3B38-64E1-431E-BEA9-6580D124E61C}"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
        <p:nvSpPr>
          <p:cNvPr id="8" name="TextBox 7">
            <a:extLst>
              <a:ext uri="{FF2B5EF4-FFF2-40B4-BE49-F238E27FC236}">
                <a16:creationId xmlns:a16="http://schemas.microsoft.com/office/drawing/2014/main" id="{0FEBA640-1EAD-1558-1817-2B531018C357}"/>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414940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9A3B38-64E1-431E-BEA9-6580D124E61C}"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Tree>
    <p:extLst>
      <p:ext uri="{BB962C8B-B14F-4D97-AF65-F5344CB8AC3E}">
        <p14:creationId xmlns:p14="http://schemas.microsoft.com/office/powerpoint/2010/main" val="2356787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EC4FC9C3-F78F-EDAD-63EB-2DBDD24DFA28}"/>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177154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A22A0341-EDCF-508D-A7A9-B7A8B8B805AF}"/>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291448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9A3B38-64E1-431E-BEA9-6580D124E61C}" type="datetimeFigureOut">
              <a:rPr lang="en-GB" smtClean="0"/>
              <a:t>16/09/2026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58A8C7-06A4-4826-B9D4-6AFEE114A5DB}" type="slidenum">
              <a:rPr lang="en-GB" smtClean="0"/>
              <a:t>‹#›</a:t>
            </a:fld>
            <a:endParaRPr lang="en-GB"/>
          </a:p>
        </p:txBody>
      </p:sp>
      <p:pic>
        <p:nvPicPr>
          <p:cNvPr id="7" name="Image 9">
            <a:extLst>
              <a:ext uri="{FF2B5EF4-FFF2-40B4-BE49-F238E27FC236}">
                <a16:creationId xmlns:a16="http://schemas.microsoft.com/office/drawing/2014/main" id="{C0C6644B-E5FD-0AA4-EE55-11FB45AB938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045200"/>
            <a:ext cx="12192000" cy="812800"/>
          </a:xfrm>
          <a:prstGeom prst="rect">
            <a:avLst/>
          </a:prstGeom>
        </p:spPr>
      </p:pic>
    </p:spTree>
    <p:extLst>
      <p:ext uri="{BB962C8B-B14F-4D97-AF65-F5344CB8AC3E}">
        <p14:creationId xmlns:p14="http://schemas.microsoft.com/office/powerpoint/2010/main" val="317556575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marL="0" lvl="0" indent="0">
              <a:buNone/>
            </a:pPr>
            <a:r>
              <a:t>The public data behind the district ranking</a:t>
            </a:r>
          </a:p>
        </p:txBody>
      </p:sp>
      <p:sp>
        <p:nvSpPr>
          <p:cNvPr id="3" name="Subtitle 2"/>
          <p:cNvSpPr>
            <a:spLocks noGrp="1"/>
          </p:cNvSpPr>
          <p:nvPr>
            <p:ph type="subTitle" idx="1"/>
          </p:nvPr>
        </p:nvSpPr>
        <p:spPr>
          <a:xfrm>
            <a:off x="1524000" y="3602038"/>
            <a:ext cx="9144000" cy="1655762"/>
          </a:xfrm>
        </p:spPr>
        <p:txBody>
          <a:bodyPr/>
          <a:lstStyle/>
          <a:p>
            <a:pPr marL="0" lvl="0" indent="0">
              <a:buNone/>
            </a:pPr>
            <a:r>
              <a:t>Sources, aggregation, alignment in space and time, and what carries the signal</a:t>
            </a:r>
            <a:br/>
            <a:br/>
            <a:r>
              <a:t>Andrew N. Mertens, University of California, Berkeley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a proxy has to be</a:t>
            </a:r>
          </a:p>
        </p:txBody>
      </p:sp>
      <p:sp>
        <p:nvSpPr>
          <p:cNvPr id="3" name="Content Placeholder 2"/>
          <p:cNvSpPr>
            <a:spLocks noGrp="1"/>
          </p:cNvSpPr>
          <p:nvPr>
            <p:ph idx="1"/>
          </p:nvPr>
        </p:nvSpPr>
        <p:spPr/>
        <p:txBody>
          <a:bodyPr/>
          <a:lstStyle/>
          <a:p>
            <a:pPr lvl="0"/>
            <a:r>
              <a:t>Available for every district of every country, surveyed or not, from a source anyone can reach.</a:t>
            </a:r>
          </a:p>
          <a:p>
            <a:pPr lvl="0"/>
            <a:r>
              <a:t>Independent of the outcome: nothing from the biomarker survey we score against enters the predictors.</a:t>
            </a:r>
          </a:p>
          <a:p>
            <a:pPr lvl="0"/>
            <a:r>
              <a:t>Placed at the survey year, or as close to it as the source allows, with the gap recorded.</a:t>
            </a:r>
          </a:p>
          <a:p>
            <a:pPr lvl="0"/>
            <a:r>
              <a:t>Rebuildable by a country with no recent DHS. The DHS aggregates run as a check, outside the model.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sources</a:t>
            </a:r>
          </a:p>
        </p:txBody>
      </p:sp>
      <p:sp>
        <p:nvSpPr>
          <p:cNvPr id="3" name="Content Placeholder 2"/>
          <p:cNvSpPr>
            <a:spLocks noGrp="1"/>
          </p:cNvSpPr>
          <p:nvPr>
            <p:ph sz="half" idx="1"/>
          </p:nvPr>
        </p:nvSpPr>
        <p:spPr/>
        <p:txBody>
          <a:bodyPr/>
          <a:lstStyle/>
          <a:p>
            <a:pPr marL="0" lvl="0" indent="0">
              <a:buNone/>
            </a:pPr>
            <a:r>
              <a:rPr dirty="0"/>
              <a:t>570 columns from 28 sources. 356 are open data, 64 come from public survey microdata that needs a registration, and 150 are DHS aggregates held out as a sensitivity arm.</a:t>
            </a:r>
          </a:p>
        </p:txBody>
      </p:sp>
      <p:pic>
        <p:nvPicPr>
          <p:cNvPr id="4" name="Picture 1" descr="MN-proxy-data-sources-2026-09_files/figure-pptx/sources-1.png"/>
          <p:cNvPicPr>
            <a:picLocks noGrp="1" noChangeAspect="1"/>
          </p:cNvPicPr>
          <p:nvPr/>
        </p:nvPicPr>
        <p:blipFill>
          <a:blip r:embed="rId3"/>
          <a:stretch>
            <a:fillRect/>
          </a:stretch>
        </p:blipFill>
        <p:spPr bwMode="auto">
          <a:xfrm>
            <a:off x="6273800" y="1816100"/>
            <a:ext cx="4991100" cy="4343400"/>
          </a:xfrm>
          <a:prstGeom prst="rect">
            <a:avLst/>
          </a:prstGeom>
          <a:noFill/>
          <a:ln w="9525">
            <a:noFill/>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Three kinds of data, three ways to a district value</a:t>
            </a:r>
          </a:p>
        </p:txBody>
      </p:sp>
      <p:graphicFrame>
        <p:nvGraphicFramePr>
          <p:cNvPr id="6" name="Content Placeholder 5"/>
          <p:cNvGraphicFramePr>
            <a:graphicFrameLocks noGrp="1"/>
          </p:cNvGraphicFramePr>
          <p:nvPr>
            <p:ph idx="1"/>
          </p:nvPr>
        </p:nvGraphicFramePr>
        <p:xfrm>
          <a:off x="838200" y="1816100"/>
          <a:ext cx="10515600" cy="4297680"/>
        </p:xfrm>
        <a:graphic>
          <a:graphicData uri="http://schemas.openxmlformats.org/drawingml/2006/table">
            <a:tbl>
              <a:tblPr firstRow="1" bandRow="1">
                <a:tableStyleId>{5C22544A-7EE6-4342-B048-85BDC9FD1C3A}</a:tableStyleId>
              </a:tblPr>
              <a:tblGrid>
                <a:gridCol w="1498600">
                  <a:extLst>
                    <a:ext uri="{9D8B030D-6E8A-4147-A177-3AD203B41FA5}">
                      <a16:colId xmlns:a16="http://schemas.microsoft.com/office/drawing/2014/main" val="20000"/>
                    </a:ext>
                  </a:extLst>
                </a:gridCol>
                <a:gridCol w="2247900">
                  <a:extLst>
                    <a:ext uri="{9D8B030D-6E8A-4147-A177-3AD203B41FA5}">
                      <a16:colId xmlns:a16="http://schemas.microsoft.com/office/drawing/2014/main" val="20001"/>
                    </a:ext>
                  </a:extLst>
                </a:gridCol>
                <a:gridCol w="4584700">
                  <a:extLst>
                    <a:ext uri="{9D8B030D-6E8A-4147-A177-3AD203B41FA5}">
                      <a16:colId xmlns:a16="http://schemas.microsoft.com/office/drawing/2014/main" val="20002"/>
                    </a:ext>
                  </a:extLst>
                </a:gridCol>
                <a:gridCol w="2184400">
                  <a:extLst>
                    <a:ext uri="{9D8B030D-6E8A-4147-A177-3AD203B41FA5}">
                      <a16:colId xmlns:a16="http://schemas.microsoft.com/office/drawing/2014/main" val="20003"/>
                    </a:ext>
                  </a:extLst>
                </a:gridCol>
              </a:tblGrid>
              <a:tr h="0">
                <a:tc>
                  <a:txBody>
                    <a:bodyPr/>
                    <a:lstStyle/>
                    <a:p>
                      <a:pPr marL="0" lvl="0" indent="0" algn="l">
                        <a:buNone/>
                      </a:pPr>
                      <a:r>
                        <a:t>Native form</a:t>
                      </a:r>
                    </a:p>
                  </a:txBody>
                  <a:tcPr/>
                </a:tc>
                <a:tc>
                  <a:txBody>
                    <a:bodyPr/>
                    <a:lstStyle/>
                    <a:p>
                      <a:pPr marL="0" lvl="0" indent="0" algn="l">
                        <a:buNone/>
                      </a:pPr>
                      <a:r>
                        <a:t>Examples</a:t>
                      </a:r>
                    </a:p>
                  </a:txBody>
                  <a:tcPr/>
                </a:tc>
                <a:tc>
                  <a:txBody>
                    <a:bodyPr/>
                    <a:lstStyle/>
                    <a:p>
                      <a:pPr marL="0" lvl="0" indent="0" algn="l">
                        <a:buNone/>
                      </a:pPr>
                      <a:r>
                        <a:t>To a district</a:t>
                      </a:r>
                    </a:p>
                  </a:txBody>
                  <a:tcPr/>
                </a:tc>
                <a:tc>
                  <a:txBody>
                    <a:bodyPr/>
                    <a:lstStyle/>
                    <a:p>
                      <a:pPr marL="0" lvl="0" indent="0" algn="l">
                        <a:buNone/>
                      </a:pPr>
                      <a:r>
                        <a:t>Time</a:t>
                      </a:r>
                    </a:p>
                  </a:txBody>
                  <a:tcPr/>
                </a:tc>
                <a:extLst>
                  <a:ext uri="{0D108BD9-81ED-4DB2-BD59-A6C34878D82A}">
                    <a16:rowId xmlns:a16="http://schemas.microsoft.com/office/drawing/2014/main" val="10000"/>
                  </a:ext>
                </a:extLst>
              </a:tr>
              <a:tr h="0">
                <a:tc>
                  <a:txBody>
                    <a:bodyPr/>
                    <a:lstStyle/>
                    <a:p>
                      <a:pPr marL="0" lvl="0" indent="0" algn="l">
                        <a:buNone/>
                      </a:pPr>
                      <a:r>
                        <a:t>Gridded raster (30 m to 10 km)</a:t>
                      </a:r>
                    </a:p>
                  </a:txBody>
                  <a:tcPr/>
                </a:tc>
                <a:tc>
                  <a:txBody>
                    <a:bodyPr/>
                    <a:lstStyle/>
                    <a:p>
                      <a:pPr marL="0" lvl="0" indent="0" algn="l">
                        <a:buNone/>
                      </a:pPr>
                      <a:r>
                        <a:t>Climate, soil, satellite, IHME and MAP surfaces, population</a:t>
                      </a:r>
                    </a:p>
                  </a:txBody>
                  <a:tcPr/>
                </a:tc>
                <a:tc>
                  <a:txBody>
                    <a:bodyPr/>
                    <a:lstStyle/>
                    <a:p>
                      <a:pPr marL="0" lvl="0" indent="0" algn="l">
                        <a:buNone/>
                      </a:pPr>
                      <a:r>
                        <a:t>Zonal mean over the district polygon, area- or population-weighted</a:t>
                      </a:r>
                    </a:p>
                  </a:txBody>
                  <a:tcPr/>
                </a:tc>
                <a:tc>
                  <a:txBody>
                    <a:bodyPr/>
                    <a:lstStyle/>
                    <a:p>
                      <a:pPr marL="0" lvl="0" indent="0" algn="l">
                        <a:buNone/>
                      </a:pPr>
                      <a:r>
                        <a:t>Survey year, nearest year, or 30-year normal plus anomaly</a:t>
                      </a:r>
                    </a:p>
                  </a:txBody>
                  <a:tcPr/>
                </a:tc>
                <a:extLst>
                  <a:ext uri="{0D108BD9-81ED-4DB2-BD59-A6C34878D82A}">
                    <a16:rowId xmlns:a16="http://schemas.microsoft.com/office/drawing/2014/main" val="10001"/>
                  </a:ext>
                </a:extLst>
              </a:tr>
              <a:tr h="0">
                <a:tc>
                  <a:txBody>
                    <a:bodyPr/>
                    <a:lstStyle/>
                    <a:p>
                      <a:pPr marL="0" lvl="0" indent="0" algn="l">
                        <a:buNone/>
                      </a:pPr>
                      <a:r>
                        <a:t>Survey with GPS clusters</a:t>
                      </a:r>
                    </a:p>
                  </a:txBody>
                  <a:tcPr/>
                </a:tc>
                <a:tc>
                  <a:txBody>
                    <a:bodyPr/>
                    <a:lstStyle/>
                    <a:p>
                      <a:pPr marL="0" lvl="0" indent="0" algn="l">
                        <a:buNone/>
                      </a:pPr>
                      <a:r>
                        <a:t>DHS; MICS 2018 in The Gambia, 2017 in Sierra Leone</a:t>
                      </a:r>
                    </a:p>
                  </a:txBody>
                  <a:tcPr/>
                </a:tc>
                <a:tc>
                  <a:txBody>
                    <a:bodyPr/>
                    <a:lstStyle/>
                    <a:p>
                      <a:pPr marL="0" lvl="0" indent="0" algn="l">
                        <a:buNone/>
                      </a:pPr>
                      <a:r>
                        <a:t>DHS: cluster spatial model (BYM2) so every district has a value; MICS: clusters inside the polygon, minimum 30 households</a:t>
                      </a:r>
                    </a:p>
                  </a:txBody>
                  <a:tcPr/>
                </a:tc>
                <a:tc>
                  <a:txBody>
                    <a:bodyPr/>
                    <a:lstStyle/>
                    <a:p>
                      <a:pPr marL="0" lvl="0" indent="0" algn="l">
                        <a:buNone/>
                      </a:pPr>
                      <a:r>
                        <a:t>The round paired with the biomarker survey</a:t>
                      </a:r>
                    </a:p>
                  </a:txBody>
                  <a:tcPr/>
                </a:tc>
                <a:extLst>
                  <a:ext uri="{0D108BD9-81ED-4DB2-BD59-A6C34878D82A}">
                    <a16:rowId xmlns:a16="http://schemas.microsoft.com/office/drawing/2014/main" val="10002"/>
                  </a:ext>
                </a:extLst>
              </a:tr>
              <a:tr h="0">
                <a:tc>
                  <a:txBody>
                    <a:bodyPr/>
                    <a:lstStyle/>
                    <a:p>
                      <a:pPr marL="0" lvl="0" indent="0" algn="l">
                        <a:buNone/>
                      </a:pPr>
                      <a:r>
                        <a:t>Survey identified to region or district</a:t>
                      </a:r>
                    </a:p>
                  </a:txBody>
                  <a:tcPr/>
                </a:tc>
                <a:tc>
                  <a:txBody>
                    <a:bodyPr/>
                    <a:lstStyle/>
                    <a:p>
                      <a:pPr marL="0" lvl="0" indent="0" algn="l">
                        <a:buNone/>
                      </a:pPr>
                      <a:r>
                        <a:t>MICS in Ghana and Malawi; household budget surveys</a:t>
                      </a:r>
                    </a:p>
                  </a:txBody>
                  <a:tcPr/>
                </a:tc>
                <a:tc>
                  <a:txBody>
                    <a:bodyPr/>
                    <a:lstStyle/>
                    <a:p>
                      <a:pPr marL="0" lvl="0" indent="0" algn="l">
                        <a:buNone/>
                      </a:pPr>
                      <a:r>
                        <a:t>Value of the smallest survey unit that contains the district, flagged as the parent’s value</a:t>
                      </a:r>
                    </a:p>
                  </a:txBody>
                  <a:tcPr/>
                </a:tc>
                <a:tc>
                  <a:txBody>
                    <a:bodyPr/>
                    <a:lstStyle/>
                    <a:p>
                      <a:pPr marL="0" lvl="0" indent="0" algn="l">
                        <a:buNone/>
                      </a:pPr>
                      <a:r>
                        <a:t>The round nearest the survey</a:t>
                      </a:r>
                    </a:p>
                  </a:txBody>
                  <a:tcPr/>
                </a:tc>
                <a:extLst>
                  <a:ext uri="{0D108BD9-81ED-4DB2-BD59-A6C34878D82A}">
                    <a16:rowId xmlns:a16="http://schemas.microsoft.com/office/drawing/2014/main" val="10003"/>
                  </a:ext>
                </a:extLst>
              </a:tr>
              <a:tr h="0">
                <a:tc>
                  <a:txBody>
                    <a:bodyPr/>
                    <a:lstStyle/>
                    <a:p>
                      <a:pPr marL="0" lvl="0" indent="0" algn="l">
                        <a:buNone/>
                      </a:pPr>
                      <a:r>
                        <a:t>National series</a:t>
                      </a:r>
                    </a:p>
                  </a:txBody>
                  <a:tcPr/>
                </a:tc>
                <a:tc>
                  <a:txBody>
                    <a:bodyPr/>
                    <a:lstStyle/>
                    <a:p>
                      <a:pPr marL="0" lvl="0" indent="0" algn="l">
                        <a:buNone/>
                      </a:pPr>
                      <a:r>
                        <a:t>FAOSTAT balances, GFDx programme fields, FluNet</a:t>
                      </a:r>
                    </a:p>
                  </a:txBody>
                  <a:tcPr/>
                </a:tc>
                <a:tc>
                  <a:txBody>
                    <a:bodyPr/>
                    <a:lstStyle/>
                    <a:p>
                      <a:pPr marL="0" lvl="0" indent="0" algn="l">
                        <a:buNone/>
                      </a:pPr>
                      <a:r>
                        <a:t>Constant within a country; dropped when the model is fitted</a:t>
                      </a:r>
                    </a:p>
                  </a:txBody>
                  <a:tcPr/>
                </a:tc>
                <a:tc>
                  <a:txBody>
                    <a:bodyPr/>
                    <a:lstStyle/>
                    <a:p>
                      <a:pPr marL="0" lvl="0" indent="0" algn="l">
                        <a:buNone/>
                      </a:pPr>
                      <a:r>
                        <a:t>Survey year</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Linking in space: one spine, coded keys</a:t>
            </a:r>
          </a:p>
        </p:txBody>
      </p:sp>
      <p:sp>
        <p:nvSpPr>
          <p:cNvPr id="3" name="Content Placeholder 2"/>
          <p:cNvSpPr>
            <a:spLocks noGrp="1"/>
          </p:cNvSpPr>
          <p:nvPr>
            <p:ph sz="half" idx="1"/>
          </p:nvPr>
        </p:nvSpPr>
        <p:spPr/>
        <p:txBody>
          <a:bodyPr/>
          <a:lstStyle/>
          <a:p>
            <a:pPr lvl="0"/>
            <a:r>
              <a:rPr dirty="0"/>
              <a:t>554 districts on GADM 4.1: Gambia 37, Ghana 260, Malawi 243, Sierra Leone 14.</a:t>
            </a:r>
          </a:p>
          <a:p>
            <a:pPr lvl="0"/>
            <a:r>
              <a:rPr dirty="0"/>
              <a:t>Every unit carries its GADM code, HASC code and the OCHA p-code, so a join is by code where the source has one.</a:t>
            </a:r>
          </a:p>
          <a:p>
            <a:pPr lvl="0"/>
            <a:r>
              <a:rPr dirty="0"/>
              <a:t>Names are matched only as a last resort, through a reviewed alias table with a distance cap, and always on the region-district pair: Malawi has four Traditional Authority names that occur in two districts.</a:t>
            </a:r>
          </a:p>
          <a:p>
            <a:pPr lvl="0"/>
            <a:r>
              <a:rPr dirty="0"/>
              <a:t>A join that fans out or drops a unit fails the build. The population table had been missing one of each same-name pair for months; the test found it.</a:t>
            </a:r>
          </a:p>
        </p:txBody>
      </p:sp>
      <p:sp>
        <p:nvSpPr>
          <p:cNvPr id="4" name="Content Placeholder 3"/>
          <p:cNvSpPr>
            <a:spLocks noGrp="1"/>
          </p:cNvSpPr>
          <p:nvPr>
            <p:ph sz="half" idx="2"/>
          </p:nvPr>
        </p:nvSpPr>
        <p:spPr/>
        <p:txBody>
          <a:bodyPr/>
          <a:lstStyle/>
          <a:p>
            <a:pPr lvl="0"/>
            <a:r>
              <a:t>Ghana: 260 districts on the 2019 boundaries; sources on the 2012 boundaries (216) or the ten old regions are mapped with a crosswalk, never by name.</a:t>
            </a:r>
          </a:p>
          <a:p>
            <a:pPr lvl="0"/>
            <a:r>
              <a:t>Malawi: 243 Traditional Authorities; sources at district level (28) are broadcast down and flagged.</a:t>
            </a:r>
          </a:p>
          <a:p>
            <a:pPr lvl="0"/>
            <a:r>
              <a:t>The Gambia: 37 districts; Sierra Leone: 14 districts. With so few units, a fallback to the parent region changes more of the map.</a:t>
            </a:r>
          </a:p>
          <a:p>
            <a:pPr lvl="0"/>
            <a:r>
              <a:t>Survey clusters are linked to the same polygons for the cluster-level analyses and buffered for raster extraction.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Linking in time: four surveys, four years</a:t>
            </a:r>
          </a:p>
        </p:txBody>
      </p:sp>
      <p:sp>
        <p:nvSpPr>
          <p:cNvPr id="3" name="Content Placeholder 2"/>
          <p:cNvSpPr>
            <a:spLocks noGrp="1"/>
          </p:cNvSpPr>
          <p:nvPr>
            <p:ph sz="half" idx="1"/>
          </p:nvPr>
        </p:nvSpPr>
        <p:spPr/>
        <p:txBody>
          <a:bodyPr/>
          <a:lstStyle/>
          <a:p>
            <a:pPr marL="0" lvl="0" indent="0">
              <a:buNone/>
            </a:pPr>
            <a:r>
              <a:t>Surveys: The Gambia 2018, Ghana 2017, Malawi 2016, Sierra Leone 2013. Each column is placed by a written rule and stamped with the year used and the gap. 131 columns sit on the survey year in every country and 78 are static layers. 306 are three or more years off in at least one country: the DHS round paired with Ghana’s 2017 survey is from 2014, Sierra Leone’s 2013 survey predates the satellite embedding and its nearest MICS by four years, and MapSPAM’s 2010 crop map is the oldest layer everywhere.</a:t>
            </a:r>
          </a:p>
        </p:txBody>
      </p:sp>
      <p:pic>
        <p:nvPicPr>
          <p:cNvPr id="4" name="Picture 1" descr="MN-proxy-data-sources-2026-09_files/figure-pptx/time-1.png"/>
          <p:cNvPicPr>
            <a:picLocks noGrp="1" noChangeAspect="1"/>
          </p:cNvPicPr>
          <p:nvPr/>
        </p:nvPicPr>
        <p:blipFill>
          <a:blip r:embed="rId3"/>
          <a:stretch>
            <a:fillRect/>
          </a:stretch>
        </p:blipFill>
        <p:spPr bwMode="auto">
          <a:xfrm>
            <a:off x="6172200" y="2146300"/>
            <a:ext cx="5181600" cy="3683000"/>
          </a:xfrm>
          <a:prstGeom prst="rect">
            <a:avLst/>
          </a:prstGeom>
          <a:noFill/>
          <a:ln w="9525">
            <a:noFill/>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From columns to domains</a:t>
            </a:r>
          </a:p>
        </p:txBody>
      </p:sp>
      <p:sp>
        <p:nvSpPr>
          <p:cNvPr id="3" name="Content Placeholder 2"/>
          <p:cNvSpPr>
            <a:spLocks noGrp="1"/>
          </p:cNvSpPr>
          <p:nvPr>
            <p:ph sz="half" idx="1"/>
          </p:nvPr>
        </p:nvSpPr>
        <p:spPr/>
        <p:txBody>
          <a:bodyPr/>
          <a:lstStyle/>
          <a:p>
            <a:pPr marL="0" lvl="0" indent="0">
              <a:buNone/>
            </a:pPr>
            <a:r>
              <a:t>28 domains. A domain groups columns by what they measure, whatever the source: the MAP, IHME and survey malaria columns sit in one group. Each domain enters the model as its leading principal components, to 80% of variance and at most twelve, learned on the training districts only.</a:t>
            </a:r>
          </a:p>
        </p:txBody>
      </p:sp>
      <p:pic>
        <p:nvPicPr>
          <p:cNvPr id="4" name="Picture 1" descr="MN-proxy-data-sources-2026-09_files/figure-pptx/domains-1.png"/>
          <p:cNvPicPr>
            <a:picLocks noGrp="1" noChangeAspect="1"/>
          </p:cNvPicPr>
          <p:nvPr/>
        </p:nvPicPr>
        <p:blipFill>
          <a:blip r:embed="rId3"/>
          <a:stretch>
            <a:fillRect/>
          </a:stretch>
        </p:blipFill>
        <p:spPr bwMode="auto">
          <a:xfrm>
            <a:off x="6362700" y="1816100"/>
            <a:ext cx="4813300" cy="4343400"/>
          </a:xfrm>
          <a:prstGeom prst="rect">
            <a:avLst/>
          </a:prstGeom>
          <a:noFill/>
          <a:ln w="9525">
            <a:noFill/>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Building the harmonised dataset</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286323363"/>
              </p:ext>
            </p:extLst>
          </p:nvPr>
        </p:nvGraphicFramePr>
        <p:xfrm>
          <a:off x="838200" y="1816100"/>
          <a:ext cx="10515600" cy="3931920"/>
        </p:xfrm>
        <a:graphic>
          <a:graphicData uri="http://schemas.openxmlformats.org/drawingml/2006/table">
            <a:tbl>
              <a:tblPr firstRow="1" bandRow="1">
                <a:tableStyleId>{5C22544A-7EE6-4342-B048-85BDC9FD1C3A}</a:tableStyleId>
              </a:tblPr>
              <a:tblGrid>
                <a:gridCol w="1473200">
                  <a:extLst>
                    <a:ext uri="{9D8B030D-6E8A-4147-A177-3AD203B41FA5}">
                      <a16:colId xmlns:a16="http://schemas.microsoft.com/office/drawing/2014/main" val="20000"/>
                    </a:ext>
                  </a:extLst>
                </a:gridCol>
                <a:gridCol w="8343900">
                  <a:extLst>
                    <a:ext uri="{9D8B030D-6E8A-4147-A177-3AD203B41FA5}">
                      <a16:colId xmlns:a16="http://schemas.microsoft.com/office/drawing/2014/main" val="20001"/>
                    </a:ext>
                  </a:extLst>
                </a:gridCol>
                <a:gridCol w="698500">
                  <a:extLst>
                    <a:ext uri="{9D8B030D-6E8A-4147-A177-3AD203B41FA5}">
                      <a16:colId xmlns:a16="http://schemas.microsoft.com/office/drawing/2014/main" val="20002"/>
                    </a:ext>
                  </a:extLst>
                </a:gridCol>
              </a:tblGrid>
              <a:tr h="0">
                <a:tc>
                  <a:txBody>
                    <a:bodyPr/>
                    <a:lstStyle/>
                    <a:p>
                      <a:pPr marL="0" lvl="0" indent="0" algn="l">
                        <a:buNone/>
                      </a:pPr>
                      <a:r>
                        <a:t>Step</a:t>
                      </a:r>
                    </a:p>
                  </a:txBody>
                  <a:tcPr/>
                </a:tc>
                <a:tc>
                  <a:txBody>
                    <a:bodyPr/>
                    <a:lstStyle/>
                    <a:p>
                      <a:pPr marL="0" lvl="0" indent="0" algn="l">
                        <a:buNone/>
                      </a:pPr>
                      <a:r>
                        <a:t>What happens</a:t>
                      </a:r>
                    </a:p>
                  </a:txBody>
                  <a:tcPr/>
                </a:tc>
                <a:tc>
                  <a:txBody>
                    <a:bodyPr/>
                    <a:lstStyle/>
                    <a:p>
                      <a:pPr marL="0" lvl="0" indent="0" algn="l">
                        <a:buNone/>
                      </a:pPr>
                      <a:r>
                        <a:t>Columns</a:t>
                      </a:r>
                    </a:p>
                  </a:txBody>
                  <a:tcPr/>
                </a:tc>
                <a:extLst>
                  <a:ext uri="{0D108BD9-81ED-4DB2-BD59-A6C34878D82A}">
                    <a16:rowId xmlns:a16="http://schemas.microsoft.com/office/drawing/2014/main" val="10000"/>
                  </a:ext>
                </a:extLst>
              </a:tr>
              <a:tr h="0">
                <a:tc>
                  <a:txBody>
                    <a:bodyPr/>
                    <a:lstStyle/>
                    <a:p>
                      <a:pPr marL="0" lvl="0" indent="0" algn="l">
                        <a:buNone/>
                      </a:pPr>
                      <a:r>
                        <a:t>Assemble</a:t>
                      </a:r>
                    </a:p>
                  </a:txBody>
                  <a:tcPr/>
                </a:tc>
                <a:tc>
                  <a:txBody>
                    <a:bodyPr/>
                    <a:lstStyle/>
                    <a:p>
                      <a:pPr marL="0" lvl="0" indent="0" algn="l">
                        <a:buNone/>
                      </a:pPr>
                      <a:r>
                        <a:t>Base extraction on the spine, food environment, extra sources, add-back sources</a:t>
                      </a:r>
                    </a:p>
                  </a:txBody>
                  <a:tcPr/>
                </a:tc>
                <a:tc>
                  <a:txBody>
                    <a:bodyPr/>
                    <a:lstStyle/>
                    <a:p>
                      <a:endParaRPr/>
                    </a:p>
                  </a:txBody>
                  <a:tcPr/>
                </a:tc>
                <a:extLst>
                  <a:ext uri="{0D108BD9-81ED-4DB2-BD59-A6C34878D82A}">
                    <a16:rowId xmlns:a16="http://schemas.microsoft.com/office/drawing/2014/main" val="10001"/>
                  </a:ext>
                </a:extLst>
              </a:tr>
              <a:tr h="0">
                <a:tc>
                  <a:txBody>
                    <a:bodyPr/>
                    <a:lstStyle/>
                    <a:p>
                      <a:pPr marL="0" lvl="0" indent="0" algn="l">
                        <a:buNone/>
                      </a:pPr>
                      <a:r>
                        <a:t>Append blocks</a:t>
                      </a:r>
                    </a:p>
                  </a:txBody>
                  <a:tcPr/>
                </a:tc>
                <a:tc>
                  <a:txBody>
                    <a:bodyPr/>
                    <a:lstStyle/>
                    <a:p>
                      <a:pPr marL="0" lvl="0" indent="0" algn="l">
                        <a:buNone/>
                      </a:pPr>
                      <a:r>
                        <a:rPr dirty="0"/>
                        <a:t>Household budget surveys, </a:t>
                      </a:r>
                      <a:r>
                        <a:rPr lang="en-US" dirty="0"/>
                        <a:t>DHS/</a:t>
                      </a:r>
                      <a:r>
                        <a:rPr dirty="0"/>
                        <a:t>MICS microdata, RTFP prices, MODIS NDVI, climate</a:t>
                      </a:r>
                      <a:r>
                        <a:rPr lang="en-US" dirty="0"/>
                        <a:t>, etc.</a:t>
                      </a:r>
                      <a:endParaRPr dirty="0"/>
                    </a:p>
                  </a:txBody>
                  <a:tcPr/>
                </a:tc>
                <a:tc>
                  <a:txBody>
                    <a:bodyPr/>
                    <a:lstStyle/>
                    <a:p>
                      <a:pPr marL="0" lvl="0" indent="0" algn="l">
                        <a:buNone/>
                      </a:pPr>
                      <a:r>
                        <a:t>614</a:t>
                      </a:r>
                    </a:p>
                  </a:txBody>
                  <a:tcPr/>
                </a:tc>
                <a:extLst>
                  <a:ext uri="{0D108BD9-81ED-4DB2-BD59-A6C34878D82A}">
                    <a16:rowId xmlns:a16="http://schemas.microsoft.com/office/drawing/2014/main" val="10002"/>
                  </a:ext>
                </a:extLst>
              </a:tr>
              <a:tr h="0">
                <a:tc>
                  <a:txBody>
                    <a:bodyPr/>
                    <a:lstStyle/>
                    <a:p>
                      <a:pPr marL="0" lvl="0" indent="0" algn="l">
                        <a:buNone/>
                      </a:pPr>
                      <a:r>
                        <a:t>Exclude</a:t>
                      </a:r>
                    </a:p>
                  </a:txBody>
                  <a:tcPr/>
                </a:tc>
                <a:tc>
                  <a:txBody>
                    <a:bodyPr/>
                    <a:lstStyle/>
                    <a:p>
                      <a:pPr marL="0" lvl="0" indent="0" algn="l">
                        <a:buNone/>
                      </a:pPr>
                      <a:r>
                        <a:rPr dirty="0"/>
                        <a:t>Rules with a written reason: data defects, superseded layers, redundant twins</a:t>
                      </a:r>
                    </a:p>
                  </a:txBody>
                  <a:tcPr/>
                </a:tc>
                <a:tc>
                  <a:txBody>
                    <a:bodyPr/>
                    <a:lstStyle/>
                    <a:p>
                      <a:pPr marL="0" lvl="0" indent="0" algn="l">
                        <a:buNone/>
                      </a:pPr>
                      <a:r>
                        <a:t>570</a:t>
                      </a:r>
                    </a:p>
                  </a:txBody>
                  <a:tcPr/>
                </a:tc>
                <a:extLst>
                  <a:ext uri="{0D108BD9-81ED-4DB2-BD59-A6C34878D82A}">
                    <a16:rowId xmlns:a16="http://schemas.microsoft.com/office/drawing/2014/main" val="10003"/>
                  </a:ext>
                </a:extLst>
              </a:tr>
              <a:tr h="0">
                <a:tc>
                  <a:txBody>
                    <a:bodyPr/>
                    <a:lstStyle/>
                    <a:p>
                      <a:pPr marL="0" lvl="0" indent="0" algn="l">
                        <a:buNone/>
                      </a:pPr>
                      <a:r>
                        <a:t>Stamp</a:t>
                      </a:r>
                    </a:p>
                  </a:txBody>
                  <a:tcPr/>
                </a:tc>
                <a:tc>
                  <a:txBody>
                    <a:bodyPr/>
                    <a:lstStyle/>
                    <a:p>
                      <a:pPr marL="0" lvl="0" indent="0" algn="l">
                        <a:buNone/>
                      </a:pPr>
                      <a:r>
                        <a:t>Access tier, within-country variation, alignment rule, year used and gap, modelled-surface flag</a:t>
                      </a:r>
                    </a:p>
                  </a:txBody>
                  <a:tcPr/>
                </a:tc>
                <a:tc>
                  <a:txBody>
                    <a:bodyPr/>
                    <a:lstStyle/>
                    <a:p>
                      <a:pPr marL="0" lvl="0" indent="0" algn="l">
                        <a:buNone/>
                      </a:pPr>
                      <a:r>
                        <a:t>570</a:t>
                      </a:r>
                    </a:p>
                  </a:txBody>
                  <a:tcPr/>
                </a:tc>
                <a:extLst>
                  <a:ext uri="{0D108BD9-81ED-4DB2-BD59-A6C34878D82A}">
                    <a16:rowId xmlns:a16="http://schemas.microsoft.com/office/drawing/2014/main" val="10004"/>
                  </a:ext>
                </a:extLst>
              </a:tr>
              <a:tr h="0">
                <a:tc>
                  <a:txBody>
                    <a:bodyPr/>
                    <a:lstStyle/>
                    <a:p>
                      <a:pPr marL="0" lvl="0" indent="0" algn="l">
                        <a:buNone/>
                      </a:pPr>
                      <a:r>
                        <a:t>Fit-time policy</a:t>
                      </a:r>
                    </a:p>
                  </a:txBody>
                  <a:tcPr/>
                </a:tc>
                <a:tc>
                  <a:txBody>
                    <a:bodyPr/>
                    <a:lstStyle/>
                    <a:p>
                      <a:pPr marL="0" lvl="0" indent="0" algn="l">
                        <a:buNone/>
                      </a:pPr>
                      <a:r>
                        <a:t>Drop national constants; select tiers; drop leakage columns</a:t>
                      </a:r>
                    </a:p>
                  </a:txBody>
                  <a:tcPr/>
                </a:tc>
                <a:tc>
                  <a:txBody>
                    <a:bodyPr/>
                    <a:lstStyle/>
                    <a:p>
                      <a:pPr marL="0" lvl="0" indent="0" algn="l">
                        <a:buNone/>
                      </a:pPr>
                      <a:r>
                        <a:t>375</a:t>
                      </a:r>
                    </a:p>
                  </a:txBody>
                  <a:tcPr/>
                </a:tc>
                <a:extLst>
                  <a:ext uri="{0D108BD9-81ED-4DB2-BD59-A6C34878D82A}">
                    <a16:rowId xmlns:a16="http://schemas.microsoft.com/office/drawing/2014/main" val="10005"/>
                  </a:ext>
                </a:extLst>
              </a:tr>
              <a:tr h="0">
                <a:tc>
                  <a:txBody>
                    <a:bodyPr/>
                    <a:lstStyle/>
                    <a:p>
                      <a:pPr marL="0" lvl="0" indent="0" algn="l">
                        <a:buNone/>
                      </a:pPr>
                      <a:r>
                        <a:t>Transport matrix</a:t>
                      </a:r>
                    </a:p>
                  </a:txBody>
                  <a:tcPr/>
                </a:tc>
                <a:tc>
                  <a:txBody>
                    <a:bodyPr/>
                    <a:lstStyle/>
                    <a:p>
                      <a:pPr marL="0" lvl="0" indent="0" algn="l">
                        <a:buNone/>
                      </a:pPr>
                      <a:r>
                        <a:rPr dirty="0"/>
                        <a:t>Per country: coverage of at least 70% and some variation; </a:t>
                      </a:r>
                      <a:r>
                        <a:rPr lang="en-US" dirty="0"/>
                        <a:t>and available in </a:t>
                      </a:r>
                      <a:r>
                        <a:rPr lang="en-US"/>
                        <a:t>all countries.</a:t>
                      </a:r>
                      <a:endParaRPr dirty="0"/>
                    </a:p>
                  </a:txBody>
                  <a:tcPr/>
                </a:tc>
                <a:tc>
                  <a:txBody>
                    <a:bodyPr/>
                    <a:lstStyle/>
                    <a:p>
                      <a:pPr marL="0" lvl="0" indent="0" algn="l">
                        <a:buNone/>
                      </a:pPr>
                      <a:r>
                        <a:rPr dirty="0"/>
                        <a:t>326</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carries the signal</a:t>
            </a:r>
          </a:p>
        </p:txBody>
      </p:sp>
      <p:pic>
        <p:nvPicPr>
          <p:cNvPr id="3" name="Picture 1" descr="../../results/figures/policy_deck/fig3_top_predictors.png"/>
          <p:cNvPicPr>
            <a:picLocks noGrp="1" noChangeAspect="1"/>
          </p:cNvPicPr>
          <p:nvPr/>
        </p:nvPicPr>
        <p:blipFill>
          <a:blip r:embed="rId3"/>
          <a:stretch>
            <a:fillRect/>
          </a:stretch>
        </p:blipFill>
        <p:spPr bwMode="auto">
          <a:xfrm>
            <a:off x="2311400" y="1816100"/>
            <a:ext cx="7569200" cy="4343400"/>
          </a:xfrm>
          <a:prstGeom prst="rect">
            <a:avLst/>
          </a:prstGeom>
          <a:noFill/>
          <a:ln w="9525">
            <a:noFill/>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travels to a new country, and what does not</a:t>
            </a:r>
          </a:p>
        </p:txBody>
      </p:sp>
      <p:sp>
        <p:nvSpPr>
          <p:cNvPr id="3" name="Content Placeholder 2"/>
          <p:cNvSpPr>
            <a:spLocks noGrp="1"/>
          </p:cNvSpPr>
          <p:nvPr>
            <p:ph sz="half" idx="1"/>
          </p:nvPr>
        </p:nvSpPr>
        <p:spPr/>
        <p:txBody>
          <a:bodyPr/>
          <a:lstStyle/>
          <a:p>
            <a:pPr marL="0" lvl="0" indent="0">
              <a:buNone/>
            </a:pPr>
            <a:r>
              <a:t>Loss in the transported ranking when a domain is removed, mean over 22 held-out country and outcome combinations. Climate and soil are load-bearing; water and sanitation and education sit below zero. The DHS block, held out, would move the index from 0.31 to 0.28; the open layers alone reach 0.32.</a:t>
            </a:r>
          </a:p>
        </p:txBody>
      </p:sp>
      <p:pic>
        <p:nvPicPr>
          <p:cNvPr id="4" name="Picture 1" descr="MN-proxy-data-sources-2026-09_files/figure-pptx/travels-1.png"/>
          <p:cNvPicPr>
            <a:picLocks noGrp="1" noChangeAspect="1"/>
          </p:cNvPicPr>
          <p:nvPr/>
        </p:nvPicPr>
        <p:blipFill>
          <a:blip r:embed="rId3"/>
          <a:stretch>
            <a:fillRect/>
          </a:stretch>
        </p:blipFill>
        <p:spPr bwMode="auto">
          <a:xfrm>
            <a:off x="6362700" y="1816100"/>
            <a:ext cx="4813300" cy="4343400"/>
          </a:xfrm>
          <a:prstGeom prst="rect">
            <a:avLst/>
          </a:prstGeom>
          <a:noFill/>
          <a:ln w="9525">
            <a:noFill/>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we would add next, and the rule for adding it</a:t>
            </a:r>
          </a:p>
        </p:txBody>
      </p:sp>
      <p:sp>
        <p:nvSpPr>
          <p:cNvPr id="3" name="Content Placeholder 2"/>
          <p:cNvSpPr>
            <a:spLocks noGrp="1"/>
          </p:cNvSpPr>
          <p:nvPr>
            <p:ph idx="1"/>
          </p:nvPr>
        </p:nvSpPr>
        <p:spPr/>
        <p:txBody>
          <a:bodyPr/>
          <a:lstStyle/>
          <a:p>
            <a:pPr lvl="0"/>
            <a:r>
              <a:t>Sub-national household-survey microdata with GPS: MICS cluster coordinates for Ghana 2017-18 and Malawi 2013-14 are requested; they turn region-level blocks into district ones.</a:t>
            </a:r>
          </a:p>
          <a:p>
            <a:pPr lvl="0"/>
            <a:r>
              <a:t>Diet from the household budget surveys for Ghana (GLSS7 food module) and Sierra Leone (SLIHS diary codes), so the 15 diet indicators cover all four countries.</a:t>
            </a:r>
          </a:p>
          <a:p>
            <a:pPr lvl="0"/>
            <a:r>
              <a:t>Conflict events (ACLED, four-country export), market prices for Ghana and Sierra Leone, a decision on FluNet’s national counts.</a:t>
            </a:r>
          </a:p>
          <a:p>
            <a:pPr lvl="0"/>
            <a:r>
              <a:t>Every candidate block passes the same test before it enters: within-country sign agreement, paired in-fill with and without it, and leave-one-country-out.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Appendix</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Sources, tiers and alignment</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14986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gridCol w="3822700">
                  <a:extLst>
                    <a:ext uri="{9D8B030D-6E8A-4147-A177-3AD203B41FA5}">
                      <a16:colId xmlns:a16="http://schemas.microsoft.com/office/drawing/2014/main" val="20004"/>
                    </a:ext>
                  </a:extLst>
                </a:gridCol>
                <a:gridCol w="1257300">
                  <a:extLst>
                    <a:ext uri="{9D8B030D-6E8A-4147-A177-3AD203B41FA5}">
                      <a16:colId xmlns:a16="http://schemas.microsoft.com/office/drawing/2014/main" val="20005"/>
                    </a:ext>
                  </a:extLst>
                </a:gridCol>
              </a:tblGrid>
              <a:tr h="0">
                <a:tc>
                  <a:txBody>
                    <a:bodyPr/>
                    <a:lstStyle/>
                    <a:p>
                      <a:pPr marL="0" lvl="0" indent="0" algn="l">
                        <a:buNone/>
                      </a:pPr>
                      <a:r>
                        <a:t>Source</a:t>
                      </a:r>
                    </a:p>
                  </a:txBody>
                  <a:tcPr/>
                </a:tc>
                <a:tc>
                  <a:txBody>
                    <a:bodyPr/>
                    <a:lstStyle/>
                    <a:p>
                      <a:pPr marL="0" lvl="0" indent="0" algn="r">
                        <a:buNone/>
                      </a:pPr>
                      <a:r>
                        <a:t>Columns</a:t>
                      </a:r>
                    </a:p>
                  </a:txBody>
                  <a:tcPr/>
                </a:tc>
                <a:tc>
                  <a:txBody>
                    <a:bodyPr/>
                    <a:lstStyle/>
                    <a:p>
                      <a:pPr marL="0" lvl="0" indent="0" algn="l">
                        <a:buNone/>
                      </a:pPr>
                      <a:r>
                        <a:t>Tier</a:t>
                      </a:r>
                    </a:p>
                  </a:txBody>
                  <a:tcPr/>
                </a:tc>
                <a:tc>
                  <a:txBody>
                    <a:bodyPr/>
                    <a:lstStyle/>
                    <a:p>
                      <a:pPr marL="0" lvl="0" indent="0" algn="r">
                        <a:buNone/>
                      </a:pPr>
                      <a:r>
                        <a:t>Domains</a:t>
                      </a:r>
                    </a:p>
                  </a:txBody>
                  <a:tcPr/>
                </a:tc>
                <a:tc>
                  <a:txBody>
                    <a:bodyPr/>
                    <a:lstStyle/>
                    <a:p>
                      <a:pPr marL="0" lvl="0" indent="0" algn="l">
                        <a:buNone/>
                      </a:pPr>
                      <a:r>
                        <a:t>Year rule</a:t>
                      </a:r>
                    </a:p>
                  </a:txBody>
                  <a:tcPr/>
                </a:tc>
                <a:tc>
                  <a:txBody>
                    <a:bodyPr/>
                    <a:lstStyle/>
                    <a:p>
                      <a:pPr marL="0" lvl="0" indent="0" algn="l">
                        <a:buNone/>
                      </a:pPr>
                      <a:r>
                        <a:t>Largest gap (years)</a:t>
                      </a:r>
                    </a:p>
                  </a:txBody>
                  <a:tcPr/>
                </a:tc>
                <a:extLst>
                  <a:ext uri="{0D108BD9-81ED-4DB2-BD59-A6C34878D82A}">
                    <a16:rowId xmlns:a16="http://schemas.microsoft.com/office/drawing/2014/main" val="10000"/>
                  </a:ext>
                </a:extLst>
              </a:tr>
              <a:tr h="0">
                <a:tc>
                  <a:txBody>
                    <a:bodyPr/>
                    <a:lstStyle/>
                    <a:p>
                      <a:pPr marL="0" lvl="0" indent="0" algn="l">
                        <a:buNone/>
                      </a:pPr>
                      <a:r>
                        <a:t>DHS indicators</a:t>
                      </a:r>
                    </a:p>
                  </a:txBody>
                  <a:tcPr/>
                </a:tc>
                <a:tc>
                  <a:txBody>
                    <a:bodyPr/>
                    <a:lstStyle/>
                    <a:p>
                      <a:pPr marL="0" lvl="0" indent="0" algn="r">
                        <a:buNone/>
                      </a:pPr>
                      <a:r>
                        <a:t>150</a:t>
                      </a:r>
                    </a:p>
                  </a:txBody>
                  <a:tcPr/>
                </a:tc>
                <a:tc>
                  <a:txBody>
                    <a:bodyPr/>
                    <a:lstStyle/>
                    <a:p>
                      <a:pPr marL="0" lvl="0" indent="0" algn="l">
                        <a:buNone/>
                      </a:pPr>
                      <a:r>
                        <a:t>DHS (sensitivity arm)</a:t>
                      </a:r>
                    </a:p>
                  </a:txBody>
                  <a:tcPr/>
                </a:tc>
                <a:tc>
                  <a:txBody>
                    <a:bodyPr/>
                    <a:lstStyle/>
                    <a:p>
                      <a:pPr marL="0" lvl="0" indent="0" algn="r">
                        <a:buNone/>
                      </a:pPr>
                      <a:r>
                        <a:t>16</a:t>
                      </a:r>
                    </a:p>
                  </a:txBody>
                  <a:tcPr/>
                </a:tc>
                <a:tc>
                  <a:txBody>
                    <a:bodyPr/>
                    <a:lstStyle/>
                    <a:p>
                      <a:pPr marL="0" lvl="0" indent="0" algn="l">
                        <a:buNone/>
                      </a:pPr>
                      <a:r>
                        <a:t>dhs_round</a:t>
                      </a:r>
                    </a:p>
                  </a:txBody>
                  <a:tcPr/>
                </a:tc>
                <a:tc>
                  <a:txBody>
                    <a:bodyPr/>
                    <a:lstStyle/>
                    <a:p>
                      <a:pPr marL="0" lvl="0" indent="0" algn="l">
                        <a:buNone/>
                      </a:pPr>
                      <a:r>
                        <a:t>3</a:t>
                      </a:r>
                    </a:p>
                  </a:txBody>
                  <a:tcPr/>
                </a:tc>
                <a:extLst>
                  <a:ext uri="{0D108BD9-81ED-4DB2-BD59-A6C34878D82A}">
                    <a16:rowId xmlns:a16="http://schemas.microsoft.com/office/drawing/2014/main" val="10001"/>
                  </a:ext>
                </a:extLst>
              </a:tr>
              <a:tr h="0">
                <a:tc>
                  <a:txBody>
                    <a:bodyPr/>
                    <a:lstStyle/>
                    <a:p>
                      <a:pPr marL="0" lvl="0" indent="0" algn="l">
                        <a:buNone/>
                      </a:pPr>
                      <a:r>
                        <a:t>Earth Engine: climate, land, built environment</a:t>
                      </a:r>
                    </a:p>
                  </a:txBody>
                  <a:tcPr/>
                </a:tc>
                <a:tc>
                  <a:txBody>
                    <a:bodyPr/>
                    <a:lstStyle/>
                    <a:p>
                      <a:pPr marL="0" lvl="0" indent="0" algn="r">
                        <a:buNone/>
                      </a:pPr>
                      <a:r>
                        <a:t>80</a:t>
                      </a:r>
                    </a:p>
                  </a:txBody>
                  <a:tcPr/>
                </a:tc>
                <a:tc>
                  <a:txBody>
                    <a:bodyPr/>
                    <a:lstStyle/>
                    <a:p>
                      <a:pPr marL="0" lvl="0" indent="0" algn="l">
                        <a:buNone/>
                      </a:pPr>
                      <a:r>
                        <a:t>Open data</a:t>
                      </a:r>
                    </a:p>
                  </a:txBody>
                  <a:tcPr/>
                </a:tc>
                <a:tc>
                  <a:txBody>
                    <a:bodyPr/>
                    <a:lstStyle/>
                    <a:p>
                      <a:pPr marL="0" lvl="0" indent="0" algn="r">
                        <a:buNone/>
                      </a:pPr>
                      <a:r>
                        <a:t>4</a:t>
                      </a:r>
                    </a:p>
                  </a:txBody>
                  <a:tcPr/>
                </a:tc>
                <a:tc>
                  <a:txBody>
                    <a:bodyPr/>
                    <a:lstStyle/>
                    <a:p>
                      <a:pPr marL="0" lvl="0" indent="0" algn="l">
                        <a:buNone/>
                      </a:pPr>
                      <a:r>
                        <a:t>access_2019, ccnl_2013, clim_anomaly, clim_normals, gee_t…</a:t>
                      </a:r>
                    </a:p>
                  </a:txBody>
                  <a:tcPr/>
                </a:tc>
                <a:tc>
                  <a:txBody>
                    <a:bodyPr/>
                    <a:lstStyle/>
                    <a:p>
                      <a:pPr marL="0" lvl="0" indent="0" algn="l">
                        <a:buNone/>
                      </a:pPr>
                      <a:r>
                        <a:t>6</a:t>
                      </a:r>
                    </a:p>
                  </a:txBody>
                  <a:tcPr/>
                </a:tc>
                <a:extLst>
                  <a:ext uri="{0D108BD9-81ED-4DB2-BD59-A6C34878D82A}">
                    <a16:rowId xmlns:a16="http://schemas.microsoft.com/office/drawing/2014/main" val="10002"/>
                  </a:ext>
                </a:extLst>
              </a:tr>
              <a:tr h="0">
                <a:tc>
                  <a:txBody>
                    <a:bodyPr/>
                    <a:lstStyle/>
                    <a:p>
                      <a:pPr marL="0" lvl="0" indent="0" algn="l">
                        <a:buNone/>
                      </a:pPr>
                      <a:r>
                        <a:t>AlphaEarth satellite embedding</a:t>
                      </a:r>
                    </a:p>
                  </a:txBody>
                  <a:tcPr/>
                </a:tc>
                <a:tc>
                  <a:txBody>
                    <a:bodyPr/>
                    <a:lstStyle/>
                    <a:p>
                      <a:pPr marL="0" lvl="0" indent="0" algn="r">
                        <a:buNone/>
                      </a:pPr>
                      <a:r>
                        <a:t>64</a:t>
                      </a:r>
                    </a:p>
                  </a:txBody>
                  <a:tcPr/>
                </a:tc>
                <a:tc>
                  <a:txBody>
                    <a:bodyPr/>
                    <a:lstStyle/>
                    <a:p>
                      <a:pPr marL="0" lvl="0" indent="0" algn="l">
                        <a:buNone/>
                      </a:pPr>
                      <a:r>
                        <a:t>Open data</a:t>
                      </a:r>
                    </a:p>
                  </a:txBody>
                  <a:tcPr/>
                </a:tc>
                <a:tc>
                  <a:txBody>
                    <a:bodyPr/>
                    <a:lstStyle/>
                    <a:p>
                      <a:pPr marL="0" lvl="0" indent="0" algn="r">
                        <a:buNone/>
                      </a:pPr>
                      <a:r>
                        <a:t>1</a:t>
                      </a:r>
                    </a:p>
                  </a:txBody>
                  <a:tcPr/>
                </a:tc>
                <a:tc>
                  <a:txBody>
                    <a:bodyPr/>
                    <a:lstStyle/>
                    <a:p>
                      <a:pPr marL="0" lvl="0" indent="0" algn="l">
                        <a:buNone/>
                      </a:pPr>
                      <a:r>
                        <a:t>alphaearth_2017</a:t>
                      </a:r>
                    </a:p>
                  </a:txBody>
                  <a:tcPr/>
                </a:tc>
                <a:tc>
                  <a:txBody>
                    <a:bodyPr/>
                    <a:lstStyle/>
                    <a:p>
                      <a:pPr marL="0" lvl="0" indent="0" algn="l">
                        <a:buNone/>
                      </a:pPr>
                      <a:r>
                        <a:t>4</a:t>
                      </a:r>
                    </a:p>
                  </a:txBody>
                  <a:tcPr/>
                </a:tc>
                <a:extLst>
                  <a:ext uri="{0D108BD9-81ED-4DB2-BD59-A6C34878D82A}">
                    <a16:rowId xmlns:a16="http://schemas.microsoft.com/office/drawing/2014/main" val="10003"/>
                  </a:ext>
                </a:extLst>
              </a:tr>
              <a:tr h="0">
                <a:tc>
                  <a:txBody>
                    <a:bodyPr/>
                    <a:lstStyle/>
                    <a:p>
                      <a:pPr marL="0" lvl="0" indent="0" algn="l">
                        <a:buNone/>
                      </a:pPr>
                      <a:r>
                        <a:t>SoilGrids / iSDA soil</a:t>
                      </a:r>
                    </a:p>
                  </a:txBody>
                  <a:tcPr/>
                </a:tc>
                <a:tc>
                  <a:txBody>
                    <a:bodyPr/>
                    <a:lstStyle/>
                    <a:p>
                      <a:pPr marL="0" lvl="0" indent="0" algn="r">
                        <a:buNone/>
                      </a:pPr>
                      <a:r>
                        <a:t>45</a:t>
                      </a:r>
                    </a:p>
                  </a:txBody>
                  <a:tcPr/>
                </a:tc>
                <a:tc>
                  <a:txBody>
                    <a:bodyPr/>
                    <a:lstStyle/>
                    <a:p>
                      <a:pPr marL="0" lvl="0" indent="0" algn="l">
                        <a:buNone/>
                      </a:pPr>
                      <a:r>
                        <a:t>Open data</a:t>
                      </a:r>
                    </a:p>
                  </a:txBody>
                  <a:tcPr/>
                </a:tc>
                <a:tc>
                  <a:txBody>
                    <a:bodyPr/>
                    <a:lstStyle/>
                    <a:p>
                      <a:pPr marL="0" lvl="0" indent="0" algn="r">
                        <a:buNone/>
                      </a:pPr>
                      <a:r>
                        <a:t>1</a:t>
                      </a:r>
                    </a:p>
                  </a:txBody>
                  <a:tcPr/>
                </a:tc>
                <a:tc>
                  <a:txBody>
                    <a:bodyPr/>
                    <a:lstStyle/>
                    <a:p>
                      <a:pPr marL="0" lvl="0" indent="0" algn="l">
                        <a:buNone/>
                      </a:pPr>
                      <a:r>
                        <a:t>soil_static</a:t>
                      </a:r>
                    </a:p>
                  </a:txBody>
                  <a:tcPr/>
                </a:tc>
                <a:tc>
                  <a:txBody>
                    <a:bodyPr/>
                    <a:lstStyle/>
                    <a:p>
                      <a:pPr marL="0" lvl="0" indent="0" algn="l">
                        <a:buNone/>
                      </a:pPr>
                      <a:r>
                        <a:t>static</a:t>
                      </a:r>
                    </a:p>
                  </a:txBody>
                  <a:tcPr/>
                </a:tc>
                <a:extLst>
                  <a:ext uri="{0D108BD9-81ED-4DB2-BD59-A6C34878D82A}">
                    <a16:rowId xmlns:a16="http://schemas.microsoft.com/office/drawing/2014/main" val="10004"/>
                  </a:ext>
                </a:extLst>
              </a:tr>
              <a:tr h="0">
                <a:tc>
                  <a:txBody>
                    <a:bodyPr/>
                    <a:lstStyle/>
                    <a:p>
                      <a:pPr marL="0" lvl="0" indent="0" algn="l">
                        <a:buNone/>
                      </a:pPr>
                      <a:r>
                        <a:t>IHME modelled surfaces</a:t>
                      </a:r>
                    </a:p>
                  </a:txBody>
                  <a:tcPr/>
                </a:tc>
                <a:tc>
                  <a:txBody>
                    <a:bodyPr/>
                    <a:lstStyle/>
                    <a:p>
                      <a:pPr marL="0" lvl="0" indent="0" algn="r">
                        <a:buNone/>
                      </a:pPr>
                      <a:r>
                        <a:t>34</a:t>
                      </a:r>
                    </a:p>
                  </a:txBody>
                  <a:tcPr/>
                </a:tc>
                <a:tc>
                  <a:txBody>
                    <a:bodyPr/>
                    <a:lstStyle/>
                    <a:p>
                      <a:pPr marL="0" lvl="0" indent="0" algn="l">
                        <a:buNone/>
                      </a:pPr>
                      <a:r>
                        <a:t>Open data</a:t>
                      </a:r>
                    </a:p>
                  </a:txBody>
                  <a:tcPr/>
                </a:tc>
                <a:tc>
                  <a:txBody>
                    <a:bodyPr/>
                    <a:lstStyle/>
                    <a:p>
                      <a:pPr marL="0" lvl="0" indent="0" algn="r">
                        <a:buNone/>
                      </a:pPr>
                      <a:r>
                        <a:t>7</a:t>
                      </a:r>
                    </a:p>
                  </a:txBody>
                  <a:tcPr/>
                </a:tc>
                <a:tc>
                  <a:txBody>
                    <a:bodyPr/>
                    <a:lstStyle/>
                    <a:p>
                      <a:pPr marL="0" lvl="0" indent="0" algn="l">
                        <a:buNone/>
                      </a:pPr>
                      <a:r>
                        <a:t>ihme_to_2017, ihme_to_2018, ihme_to_2019</a:t>
                      </a:r>
                    </a:p>
                  </a:txBody>
                  <a:tcPr/>
                </a:tc>
                <a:tc>
                  <a:txBody>
                    <a:bodyPr/>
                    <a:lstStyle/>
                    <a:p>
                      <a:pPr marL="0" lvl="0" indent="0" algn="l">
                        <a:buNone/>
                      </a:pPr>
                      <a:r>
                        <a:t>1</a:t>
                      </a:r>
                    </a:p>
                  </a:txBody>
                  <a:tcPr/>
                </a:tc>
                <a:extLst>
                  <a:ext uri="{0D108BD9-81ED-4DB2-BD59-A6C34878D82A}">
                    <a16:rowId xmlns:a16="http://schemas.microsoft.com/office/drawing/2014/main" val="10005"/>
                  </a:ext>
                </a:extLst>
              </a:tr>
              <a:tr h="0">
                <a:tc>
                  <a:txBody>
                    <a:bodyPr/>
                    <a:lstStyle/>
                    <a:p>
                      <a:pPr marL="0" lvl="0" indent="0" algn="l">
                        <a:buNone/>
                      </a:pPr>
                      <a:r>
                        <a:t>MICS microdata</a:t>
                      </a:r>
                    </a:p>
                  </a:txBody>
                  <a:tcPr/>
                </a:tc>
                <a:tc>
                  <a:txBody>
                    <a:bodyPr/>
                    <a:lstStyle/>
                    <a:p>
                      <a:pPr marL="0" lvl="0" indent="0" algn="r">
                        <a:buNone/>
                      </a:pPr>
                      <a:r>
                        <a:t>30</a:t>
                      </a:r>
                    </a:p>
                  </a:txBody>
                  <a:tcPr/>
                </a:tc>
                <a:tc>
                  <a:txBody>
                    <a:bodyPr/>
                    <a:lstStyle/>
                    <a:p>
                      <a:pPr marL="0" lvl="0" indent="0" algn="l">
                        <a:buNone/>
                      </a:pPr>
                      <a:r>
                        <a:t>Public survey microdata</a:t>
                      </a:r>
                    </a:p>
                  </a:txBody>
                  <a:tcPr/>
                </a:tc>
                <a:tc>
                  <a:txBody>
                    <a:bodyPr/>
                    <a:lstStyle/>
                    <a:p>
                      <a:pPr marL="0" lvl="0" indent="0" algn="r">
                        <a:buNone/>
                      </a:pPr>
                      <a:r>
                        <a:t>7</a:t>
                      </a:r>
                    </a:p>
                  </a:txBody>
                  <a:tcPr/>
                </a:tc>
                <a:tc>
                  <a:txBody>
                    <a:bodyPr/>
                    <a:lstStyle/>
                    <a:p>
                      <a:pPr marL="0" lvl="0" indent="0" algn="l">
                        <a:buNone/>
                      </a:pPr>
                      <a:r>
                        <a:t>mics_microdata</a:t>
                      </a:r>
                    </a:p>
                  </a:txBody>
                  <a:tcPr/>
                </a:tc>
                <a:tc>
                  <a:txBody>
                    <a:bodyPr/>
                    <a:lstStyle/>
                    <a:p>
                      <a:pPr marL="0" lvl="0" indent="0" algn="l">
                        <a:buNone/>
                      </a:pPr>
                      <a:r>
                        <a:t>4</a:t>
                      </a:r>
                    </a:p>
                  </a:txBody>
                  <a:tcPr/>
                </a:tc>
                <a:extLst>
                  <a:ext uri="{0D108BD9-81ED-4DB2-BD59-A6C34878D82A}">
                    <a16:rowId xmlns:a16="http://schemas.microsoft.com/office/drawing/2014/main" val="10006"/>
                  </a:ext>
                </a:extLst>
              </a:tr>
              <a:tr h="0">
                <a:tc>
                  <a:txBody>
                    <a:bodyPr/>
                    <a:lstStyle/>
                    <a:p>
                      <a:pPr marL="0" lvl="0" indent="0" algn="l">
                        <a:buNone/>
                      </a:pPr>
                      <a:r>
                        <a:t>GFDx fortification</a:t>
                      </a:r>
                    </a:p>
                  </a:txBody>
                  <a:tcPr/>
                </a:tc>
                <a:tc>
                  <a:txBody>
                    <a:bodyPr/>
                    <a:lstStyle/>
                    <a:p>
                      <a:pPr marL="0" lvl="0" indent="0" algn="r">
                        <a:buNone/>
                      </a:pPr>
                      <a:r>
                        <a:t>27</a:t>
                      </a:r>
                    </a:p>
                  </a:txBody>
                  <a:tcPr/>
                </a:tc>
                <a:tc>
                  <a:txBody>
                    <a:bodyPr/>
                    <a:lstStyle/>
                    <a:p>
                      <a:pPr marL="0" lvl="0" indent="0" algn="l">
                        <a:buNone/>
                      </a:pPr>
                      <a:r>
                        <a:t>Open data</a:t>
                      </a:r>
                    </a:p>
                  </a:txBody>
                  <a:tcPr/>
                </a:tc>
                <a:tc>
                  <a:txBody>
                    <a:bodyPr/>
                    <a:lstStyle/>
                    <a:p>
                      <a:pPr marL="0" lvl="0" indent="0" algn="r">
                        <a:buNone/>
                      </a:pPr>
                      <a:r>
                        <a:t>3</a:t>
                      </a:r>
                    </a:p>
                  </a:txBody>
                  <a:tcPr/>
                </a:tc>
                <a:tc>
                  <a:txBody>
                    <a:bodyPr/>
                    <a:lstStyle/>
                    <a:p>
                      <a:pPr marL="0" lvl="0" indent="0" algn="l">
                        <a:buNone/>
                      </a:pPr>
                      <a:r>
                        <a:t>gfdx_ntd_2015, gfdx_survey_year, gfdx_who_anaemia_2011, g…</a:t>
                      </a:r>
                    </a:p>
                  </a:txBody>
                  <a:tcPr/>
                </a:tc>
                <a:tc>
                  <a:txBody>
                    <a:bodyPr/>
                    <a:lstStyle/>
                    <a:p>
                      <a:pPr marL="0" lvl="0" indent="0" algn="l">
                        <a:buNone/>
                      </a:pPr>
                      <a:r>
                        <a:t>6</a:t>
                      </a:r>
                    </a:p>
                  </a:txBody>
                  <a:tcPr/>
                </a:tc>
                <a:extLst>
                  <a:ext uri="{0D108BD9-81ED-4DB2-BD59-A6C34878D82A}">
                    <a16:rowId xmlns:a16="http://schemas.microsoft.com/office/drawing/2014/main" val="10007"/>
                  </a:ext>
                </a:extLst>
              </a:tr>
              <a:tr h="0">
                <a:tc>
                  <a:txBody>
                    <a:bodyPr/>
                    <a:lstStyle/>
                    <a:p>
                      <a:pPr marL="0" lvl="0" indent="0" algn="l">
                        <a:buNone/>
                      </a:pPr>
                      <a:r>
                        <a:t>MICS via WHO HEAT</a:t>
                      </a:r>
                    </a:p>
                  </a:txBody>
                  <a:tcPr/>
                </a:tc>
                <a:tc>
                  <a:txBody>
                    <a:bodyPr/>
                    <a:lstStyle/>
                    <a:p>
                      <a:pPr marL="0" lvl="0" indent="0" algn="r">
                        <a:buNone/>
                      </a:pPr>
                      <a:r>
                        <a:t>19</a:t>
                      </a:r>
                    </a:p>
                  </a:txBody>
                  <a:tcPr/>
                </a:tc>
                <a:tc>
                  <a:txBody>
                    <a:bodyPr/>
                    <a:lstStyle/>
                    <a:p>
                      <a:pPr marL="0" lvl="0" indent="0" algn="l">
                        <a:buNone/>
                      </a:pPr>
                      <a:r>
                        <a:t>Public survey microdata</a:t>
                      </a:r>
                    </a:p>
                  </a:txBody>
                  <a:tcPr/>
                </a:tc>
                <a:tc>
                  <a:txBody>
                    <a:bodyPr/>
                    <a:lstStyle/>
                    <a:p>
                      <a:pPr marL="0" lvl="0" indent="0" algn="r">
                        <a:buNone/>
                      </a:pPr>
                      <a:r>
                        <a:t>1</a:t>
                      </a:r>
                    </a:p>
                  </a:txBody>
                  <a:tcPr/>
                </a:tc>
                <a:tc>
                  <a:txBody>
                    <a:bodyPr/>
                    <a:lstStyle/>
                    <a:p>
                      <a:pPr marL="0" lvl="0" indent="0" algn="l">
                        <a:buNone/>
                      </a:pPr>
                      <a:r>
                        <a:t>mics_heat_round</a:t>
                      </a:r>
                    </a:p>
                  </a:txBody>
                  <a:tcPr/>
                </a:tc>
                <a:tc>
                  <a:txBody>
                    <a:bodyPr/>
                    <a:lstStyle/>
                    <a:p>
                      <a:pPr marL="0" lvl="0" indent="0" algn="l">
                        <a:buNone/>
                      </a:pPr>
                      <a:r>
                        <a:t>3</a:t>
                      </a:r>
                    </a:p>
                  </a:txBody>
                  <a:tcPr/>
                </a:tc>
                <a:extLst>
                  <a:ext uri="{0D108BD9-81ED-4DB2-BD59-A6C34878D82A}">
                    <a16:rowId xmlns:a16="http://schemas.microsoft.com/office/drawing/2014/main" val="10008"/>
                  </a:ext>
                </a:extLst>
              </a:tr>
              <a:tr h="0">
                <a:tc>
                  <a:txBody>
                    <a:bodyPr/>
                    <a:lstStyle/>
                    <a:p>
                      <a:pPr marL="0" lvl="0" indent="0" algn="l">
                        <a:buNone/>
                      </a:pPr>
                      <a:r>
                        <a:t>Household budget surveys (HCES)</a:t>
                      </a:r>
                    </a:p>
                  </a:txBody>
                  <a:tcPr/>
                </a:tc>
                <a:tc>
                  <a:txBody>
                    <a:bodyPr/>
                    <a:lstStyle/>
                    <a:p>
                      <a:pPr marL="0" lvl="0" indent="0" algn="r">
                        <a:buNone/>
                      </a:pPr>
                      <a:r>
                        <a:t>15</a:t>
                      </a:r>
                    </a:p>
                  </a:txBody>
                  <a:tcPr/>
                </a:tc>
                <a:tc>
                  <a:txBody>
                    <a:bodyPr/>
                    <a:lstStyle/>
                    <a:p>
                      <a:pPr marL="0" lvl="0" indent="0" algn="l">
                        <a:buNone/>
                      </a:pPr>
                      <a:r>
                        <a:t>Public survey microdata</a:t>
                      </a:r>
                    </a:p>
                  </a:txBody>
                  <a:tcPr/>
                </a:tc>
                <a:tc>
                  <a:txBody>
                    <a:bodyPr/>
                    <a:lstStyle/>
                    <a:p>
                      <a:pPr marL="0" lvl="0" indent="0" algn="r">
                        <a:buNone/>
                      </a:pPr>
                      <a:r>
                        <a:t>1</a:t>
                      </a:r>
                    </a:p>
                  </a:txBody>
                  <a:tcPr/>
                </a:tc>
                <a:tc>
                  <a:txBody>
                    <a:bodyPr/>
                    <a:lstStyle/>
                    <a:p>
                      <a:pPr marL="0" lvl="0" indent="0" algn="l">
                        <a:buNone/>
                      </a:pPr>
                      <a:r>
                        <a:t>hces_year</a:t>
                      </a:r>
                    </a:p>
                  </a:txBody>
                  <a:tcPr/>
                </a:tc>
                <a:tc>
                  <a:txBody>
                    <a:bodyPr/>
                    <a:lstStyle/>
                    <a:p>
                      <a:pPr marL="0" lvl="0" indent="0" algn="l">
                        <a:buNone/>
                      </a:pPr>
                      <a:r>
                        <a:t>5</a:t>
                      </a:r>
                    </a:p>
                  </a:txBody>
                  <a:tcPr/>
                </a:tc>
                <a:extLst>
                  <a:ext uri="{0D108BD9-81ED-4DB2-BD59-A6C34878D82A}">
                    <a16:rowId xmlns:a16="http://schemas.microsoft.com/office/drawing/2014/main" val="10009"/>
                  </a:ext>
                </a:extLst>
              </a:tr>
              <a:tr h="0">
                <a:tc>
                  <a:txBody>
                    <a:bodyPr/>
                    <a:lstStyle/>
                    <a:p>
                      <a:pPr marL="0" lvl="0" indent="0" algn="l">
                        <a:buNone/>
                      </a:pPr>
                      <a:r>
                        <a:t>MapSPAM crops</a:t>
                      </a:r>
                    </a:p>
                  </a:txBody>
                  <a:tcPr/>
                </a:tc>
                <a:tc>
                  <a:txBody>
                    <a:bodyPr/>
                    <a:lstStyle/>
                    <a:p>
                      <a:pPr marL="0" lvl="0" indent="0" algn="r">
                        <a:buNone/>
                      </a:pPr>
                      <a:r>
                        <a:t>12</a:t>
                      </a:r>
                    </a:p>
                  </a:txBody>
                  <a:tcPr/>
                </a:tc>
                <a:tc>
                  <a:txBody>
                    <a:bodyPr/>
                    <a:lstStyle/>
                    <a:p>
                      <a:pPr marL="0" lvl="0" indent="0" algn="l">
                        <a:buNone/>
                      </a:pPr>
                      <a:r>
                        <a:t>Open data</a:t>
                      </a:r>
                    </a:p>
                  </a:txBody>
                  <a:tcPr/>
                </a:tc>
                <a:tc>
                  <a:txBody>
                    <a:bodyPr/>
                    <a:lstStyle/>
                    <a:p>
                      <a:pPr marL="0" lvl="0" indent="0" algn="r">
                        <a:buNone/>
                      </a:pPr>
                      <a:r>
                        <a:t>1</a:t>
                      </a:r>
                    </a:p>
                  </a:txBody>
                  <a:tcPr/>
                </a:tc>
                <a:tc>
                  <a:txBody>
                    <a:bodyPr/>
                    <a:lstStyle/>
                    <a:p>
                      <a:pPr marL="0" lvl="0" indent="0" algn="l">
                        <a:buNone/>
                      </a:pPr>
                      <a:r>
                        <a:t>spam_2010</a:t>
                      </a:r>
                    </a:p>
                  </a:txBody>
                  <a:tcPr/>
                </a:tc>
                <a:tc>
                  <a:txBody>
                    <a:bodyPr/>
                    <a:lstStyle/>
                    <a:p>
                      <a:pPr marL="0" lvl="0" indent="0" algn="l">
                        <a:buNone/>
                      </a:pPr>
                      <a:r>
                        <a:t>8</a:t>
                      </a:r>
                    </a:p>
                  </a:txBody>
                  <a:tcPr/>
                </a:tc>
                <a:extLst>
                  <a:ext uri="{0D108BD9-81ED-4DB2-BD59-A6C34878D82A}">
                    <a16:rowId xmlns:a16="http://schemas.microsoft.com/office/drawing/2014/main" val="10010"/>
                  </a:ext>
                </a:extLst>
              </a:tr>
              <a:tr h="0">
                <a:tc>
                  <a:txBody>
                    <a:bodyPr/>
                    <a:lstStyle/>
                    <a:p>
                      <a:pPr marL="0" lvl="0" indent="0" algn="l">
                        <a:buNone/>
                      </a:pPr>
                      <a:r>
                        <a:t>Malaria Atlas Project</a:t>
                      </a:r>
                    </a:p>
                  </a:txBody>
                  <a:tcPr/>
                </a:tc>
                <a:tc>
                  <a:txBody>
                    <a:bodyPr/>
                    <a:lstStyle/>
                    <a:p>
                      <a:pPr marL="0" lvl="0" indent="0" algn="r">
                        <a:buNone/>
                      </a:pPr>
                      <a:r>
                        <a:t>11</a:t>
                      </a:r>
                    </a:p>
                  </a:txBody>
                  <a:tcPr/>
                </a:tc>
                <a:tc>
                  <a:txBody>
                    <a:bodyPr/>
                    <a:lstStyle/>
                    <a:p>
                      <a:pPr marL="0" lvl="0" indent="0" algn="l">
                        <a:buNone/>
                      </a:pPr>
                      <a:r>
                        <a:t>Open data</a:t>
                      </a:r>
                    </a:p>
                  </a:txBody>
                  <a:tcPr/>
                </a:tc>
                <a:tc>
                  <a:txBody>
                    <a:bodyPr/>
                    <a:lstStyle/>
                    <a:p>
                      <a:pPr marL="0" lvl="0" indent="0" algn="r">
                        <a:buNone/>
                      </a:pPr>
                      <a:r>
                        <a:t>1</a:t>
                      </a:r>
                    </a:p>
                  </a:txBody>
                  <a:tcPr/>
                </a:tc>
                <a:tc>
                  <a:txBody>
                    <a:bodyPr/>
                    <a:lstStyle/>
                    <a:p>
                      <a:pPr marL="0" lvl="0" indent="0" algn="l">
                        <a:buNone/>
                      </a:pPr>
                      <a:r>
                        <a:t>map_blood_2012, map_survey_year</a:t>
                      </a:r>
                    </a:p>
                  </a:txBody>
                  <a:tcPr/>
                </a:tc>
                <a:tc>
                  <a:txBody>
                    <a:bodyPr/>
                    <a:lstStyle/>
                    <a:p>
                      <a:pPr marL="0" lvl="0" indent="0" algn="l">
                        <a:buNone/>
                      </a:pPr>
                      <a:r>
                        <a:t>6</a:t>
                      </a:r>
                    </a:p>
                  </a:txBody>
                  <a:tcPr/>
                </a:tc>
                <a:extLst>
                  <a:ext uri="{0D108BD9-81ED-4DB2-BD59-A6C34878D82A}">
                    <a16:rowId xmlns:a16="http://schemas.microsoft.com/office/drawing/2014/main" val="10011"/>
                  </a:ext>
                </a:extLst>
              </a:tr>
              <a:tr h="0">
                <a:tc>
                  <a:txBody>
                    <a:bodyPr/>
                    <a:lstStyle/>
                    <a:p>
                      <a:pPr marL="0" lvl="0" indent="0" algn="l">
                        <a:buNone/>
                      </a:pPr>
                      <a:r>
                        <a:t>WorldPop / GHS / RWI</a:t>
                      </a:r>
                    </a:p>
                  </a:txBody>
                  <a:tcPr/>
                </a:tc>
                <a:tc>
                  <a:txBody>
                    <a:bodyPr/>
                    <a:lstStyle/>
                    <a:p>
                      <a:pPr marL="0" lvl="0" indent="0" algn="r">
                        <a:buNone/>
                      </a:pPr>
                      <a:r>
                        <a:t>10</a:t>
                      </a:r>
                    </a:p>
                  </a:txBody>
                  <a:tcPr/>
                </a:tc>
                <a:tc>
                  <a:txBody>
                    <a:bodyPr/>
                    <a:lstStyle/>
                    <a:p>
                      <a:pPr marL="0" lvl="0" indent="0" algn="l">
                        <a:buNone/>
                      </a:pPr>
                      <a:r>
                        <a:t>Open data</a:t>
                      </a:r>
                    </a:p>
                  </a:txBody>
                  <a:tcPr/>
                </a:tc>
                <a:tc>
                  <a:txBody>
                    <a:bodyPr/>
                    <a:lstStyle/>
                    <a:p>
                      <a:pPr marL="0" lvl="0" indent="0" algn="r">
                        <a:buNone/>
                      </a:pPr>
                      <a:r>
                        <a:t>3</a:t>
                      </a:r>
                    </a:p>
                  </a:txBody>
                  <a:tcPr/>
                </a:tc>
                <a:tc>
                  <a:txBody>
                    <a:bodyPr/>
                    <a:lstStyle/>
                    <a:p>
                      <a:pPr marL="0" lvl="0" indent="0" algn="l">
                        <a:buNone/>
                      </a:pPr>
                      <a:r>
                        <a:t>ghsl_epoch, rwi_2019, wpop_2020, wpop_density_sy</a:t>
                      </a:r>
                    </a:p>
                  </a:txBody>
                  <a:tcPr/>
                </a:tc>
                <a:tc>
                  <a:txBody>
                    <a:bodyPr/>
                    <a:lstStyle/>
                    <a:p>
                      <a:pPr marL="0" lvl="0" indent="0" algn="l">
                        <a:buNone/>
                      </a:pPr>
                      <a:r>
                        <a:t>7</a:t>
                      </a:r>
                    </a:p>
                  </a:txBody>
                  <a:tcPr/>
                </a:tc>
                <a:extLst>
                  <a:ext uri="{0D108BD9-81ED-4DB2-BD59-A6C34878D82A}">
                    <a16:rowId xmlns:a16="http://schemas.microsoft.com/office/drawing/2014/main" val="10012"/>
                  </a:ext>
                </a:extLst>
              </a:tr>
              <a:tr h="0">
                <a:tc>
                  <a:txBody>
                    <a:bodyPr/>
                    <a:lstStyle/>
                    <a:p>
                      <a:pPr marL="0" lvl="0" indent="0" algn="l">
                        <a:buNone/>
                      </a:pPr>
                      <a:r>
                        <a:t>Koppen / agro-ecological zones</a:t>
                      </a:r>
                    </a:p>
                  </a:txBody>
                  <a:tcPr/>
                </a:tc>
                <a:tc>
                  <a:txBody>
                    <a:bodyPr/>
                    <a:lstStyle/>
                    <a:p>
                      <a:pPr marL="0" lvl="0" indent="0" algn="r">
                        <a:buNone/>
                      </a:pPr>
                      <a:r>
                        <a:t>9</a:t>
                      </a:r>
                    </a:p>
                  </a:txBody>
                  <a:tcPr/>
                </a:tc>
                <a:tc>
                  <a:txBody>
                    <a:bodyPr/>
                    <a:lstStyle/>
                    <a:p>
                      <a:pPr marL="0" lvl="0" indent="0" algn="l">
                        <a:buNone/>
                      </a:pPr>
                      <a:r>
                        <a:t>Open data</a:t>
                      </a:r>
                    </a:p>
                  </a:txBody>
                  <a:tcPr/>
                </a:tc>
                <a:tc>
                  <a:txBody>
                    <a:bodyPr/>
                    <a:lstStyle/>
                    <a:p>
                      <a:pPr marL="0" lvl="0" indent="0" algn="r">
                        <a:buNone/>
                      </a:pPr>
                      <a:r>
                        <a:t>1</a:t>
                      </a:r>
                    </a:p>
                  </a:txBody>
                  <a:tcPr/>
                </a:tc>
                <a:tc>
                  <a:txBody>
                    <a:bodyPr/>
                    <a:lstStyle/>
                    <a:p>
                      <a:pPr marL="0" lvl="0" indent="0" algn="l">
                        <a:buNone/>
                      </a:pPr>
                      <a:r>
                        <a:t>aez_static, koppen_static</a:t>
                      </a:r>
                    </a:p>
                  </a:txBody>
                  <a:tcPr/>
                </a:tc>
                <a:tc>
                  <a:txBody>
                    <a:bodyPr/>
                    <a:lstStyle/>
                    <a:p>
                      <a:pPr marL="0" lvl="0" indent="0" algn="l">
                        <a:buNone/>
                      </a:pPr>
                      <a:r>
                        <a:t>static</a:t>
                      </a:r>
                    </a:p>
                  </a:txBody>
                  <a:tcPr/>
                </a:tc>
                <a:extLst>
                  <a:ext uri="{0D108BD9-81ED-4DB2-BD59-A6C34878D82A}">
                    <a16:rowId xmlns:a16="http://schemas.microsoft.com/office/drawing/2014/main" val="10013"/>
                  </a:ext>
                </a:extLst>
              </a:tr>
              <a:tr h="0">
                <a:tc>
                  <a:txBody>
                    <a:bodyPr/>
                    <a:lstStyle/>
                    <a:p>
                      <a:pPr marL="0" lvl="0" indent="0" algn="l">
                        <a:buNone/>
                      </a:pPr>
                      <a:r>
                        <a:t>WFP market prices</a:t>
                      </a:r>
                    </a:p>
                  </a:txBody>
                  <a:tcPr/>
                </a:tc>
                <a:tc>
                  <a:txBody>
                    <a:bodyPr/>
                    <a:lstStyle/>
                    <a:p>
                      <a:pPr marL="0" lvl="0" indent="0" algn="r">
                        <a:buNone/>
                      </a:pPr>
                      <a:r>
                        <a:t>9</a:t>
                      </a:r>
                    </a:p>
                  </a:txBody>
                  <a:tcPr/>
                </a:tc>
                <a:tc>
                  <a:txBody>
                    <a:bodyPr/>
                    <a:lstStyle/>
                    <a:p>
                      <a:pPr marL="0" lvl="0" indent="0" algn="l">
                        <a:buNone/>
                      </a:pPr>
                      <a:r>
                        <a:t>Open data</a:t>
                      </a:r>
                    </a:p>
                  </a:txBody>
                  <a:tcPr/>
                </a:tc>
                <a:tc>
                  <a:txBody>
                    <a:bodyPr/>
                    <a:lstStyle/>
                    <a:p>
                      <a:pPr marL="0" lvl="0" indent="0" algn="r">
                        <a:buNone/>
                      </a:pPr>
                      <a:r>
                        <a:t>1</a:t>
                      </a:r>
                    </a:p>
                  </a:txBody>
                  <a:tcPr/>
                </a:tc>
                <a:tc>
                  <a:txBody>
                    <a:bodyPr/>
                    <a:lstStyle/>
                    <a:p>
                      <a:pPr marL="0" lvl="0" indent="0" algn="l">
                        <a:buNone/>
                      </a:pPr>
                      <a:r>
                        <a:t>fprice_window</a:t>
                      </a:r>
                    </a:p>
                  </a:txBody>
                  <a:tcPr/>
                </a:tc>
                <a:tc>
                  <a:txBody>
                    <a:bodyPr/>
                    <a:lstStyle/>
                    <a:p>
                      <a:pPr marL="0" lvl="0" indent="0" algn="l">
                        <a:buNone/>
                      </a:pPr>
                      <a:r>
                        <a:t>0</a:t>
                      </a:r>
                    </a:p>
                  </a:txBody>
                  <a:tcPr/>
                </a:tc>
                <a:extLst>
                  <a:ext uri="{0D108BD9-81ED-4DB2-BD59-A6C34878D82A}">
                    <a16:rowId xmlns:a16="http://schemas.microsoft.com/office/drawing/2014/main" val="10014"/>
                  </a:ext>
                </a:extLst>
              </a:tr>
              <a:tr h="0">
                <a:tc>
                  <a:txBody>
                    <a:bodyPr/>
                    <a:lstStyle/>
                    <a:p>
                      <a:pPr marL="0" lvl="0" indent="0" algn="l">
                        <a:buNone/>
                      </a:pPr>
                      <a:r>
                        <a:t>FAOSTAT food balance (national)</a:t>
                      </a:r>
                    </a:p>
                  </a:txBody>
                  <a:tcPr/>
                </a:tc>
                <a:tc>
                  <a:txBody>
                    <a:bodyPr/>
                    <a:lstStyle/>
                    <a:p>
                      <a:pPr marL="0" lvl="0" indent="0" algn="r">
                        <a:buNone/>
                      </a:pPr>
                      <a:r>
                        <a:t>8</a:t>
                      </a:r>
                    </a:p>
                  </a:txBody>
                  <a:tcPr/>
                </a:tc>
                <a:tc>
                  <a:txBody>
                    <a:bodyPr/>
                    <a:lstStyle/>
                    <a:p>
                      <a:pPr marL="0" lvl="0" indent="0" algn="l">
                        <a:buNone/>
                      </a:pPr>
                      <a:r>
                        <a:t>Open data</a:t>
                      </a:r>
                    </a:p>
                  </a:txBody>
                  <a:tcPr/>
                </a:tc>
                <a:tc>
                  <a:txBody>
                    <a:bodyPr/>
                    <a:lstStyle/>
                    <a:p>
                      <a:pPr marL="0" lvl="0" indent="0" algn="r">
                        <a:buNone/>
                      </a:pPr>
                      <a:r>
                        <a:t>1</a:t>
                      </a:r>
                    </a:p>
                  </a:txBody>
                  <a:tcPr/>
                </a:tc>
                <a:tc>
                  <a:txBody>
                    <a:bodyPr/>
                    <a:lstStyle/>
                    <a:p>
                      <a:pPr marL="0" lvl="0" indent="0" algn="l">
                        <a:buNone/>
                      </a:pPr>
                      <a:r>
                        <a:t>fao_supply</a:t>
                      </a:r>
                    </a:p>
                  </a:txBody>
                  <a:tcPr/>
                </a:tc>
                <a:tc>
                  <a:txBody>
                    <a:bodyPr/>
                    <a:lstStyle/>
                    <a:p>
                      <a:pPr marL="0" lvl="0" indent="0" algn="l">
                        <a:buNone/>
                      </a:pPr>
                      <a:r>
                        <a:t>0</a:t>
                      </a:r>
                    </a:p>
                  </a:txBody>
                  <a:tcPr/>
                </a:tc>
                <a:extLst>
                  <a:ext uri="{0D108BD9-81ED-4DB2-BD59-A6C34878D82A}">
                    <a16:rowId xmlns:a16="http://schemas.microsoft.com/office/drawing/2014/main" val="10015"/>
                  </a:ext>
                </a:extLst>
              </a:tr>
              <a:tr h="0">
                <a:tc>
                  <a:txBody>
                    <a:bodyPr/>
                    <a:lstStyle/>
                    <a:p>
                      <a:pPr marL="0" lvl="0" indent="0" algn="l">
                        <a:buNone/>
                      </a:pPr>
                      <a:r>
                        <a:t>Gridded Livestock of the World</a:t>
                      </a:r>
                    </a:p>
                  </a:txBody>
                  <a:tcPr/>
                </a:tc>
                <a:tc>
                  <a:txBody>
                    <a:bodyPr/>
                    <a:lstStyle/>
                    <a:p>
                      <a:pPr marL="0" lvl="0" indent="0" algn="r">
                        <a:buNone/>
                      </a:pPr>
                      <a:r>
                        <a:t>8</a:t>
                      </a:r>
                    </a:p>
                  </a:txBody>
                  <a:tcPr/>
                </a:tc>
                <a:tc>
                  <a:txBody>
                    <a:bodyPr/>
                    <a:lstStyle/>
                    <a:p>
                      <a:pPr marL="0" lvl="0" indent="0" algn="l">
                        <a:buNone/>
                      </a:pPr>
                      <a:r>
                        <a:t>Open data</a:t>
                      </a:r>
                    </a:p>
                  </a:txBody>
                  <a:tcPr/>
                </a:tc>
                <a:tc>
                  <a:txBody>
                    <a:bodyPr/>
                    <a:lstStyle/>
                    <a:p>
                      <a:pPr marL="0" lvl="0" indent="0" algn="r">
                        <a:buNone/>
                      </a:pPr>
                      <a:r>
                        <a:t>1</a:t>
                      </a:r>
                    </a:p>
                  </a:txBody>
                  <a:tcPr/>
                </a:tc>
                <a:tc>
                  <a:txBody>
                    <a:bodyPr/>
                    <a:lstStyle/>
                    <a:p>
                      <a:pPr marL="0" lvl="0" indent="0" algn="l">
                        <a:buNone/>
                      </a:pPr>
                      <a:r>
                        <a:t>glw4</a:t>
                      </a:r>
                    </a:p>
                  </a:txBody>
                  <a:tcPr/>
                </a:tc>
                <a:tc>
                  <a:txBody>
                    <a:bodyPr/>
                    <a:lstStyle/>
                    <a:p>
                      <a:pPr marL="0" lvl="0" indent="0" algn="l">
                        <a:buNone/>
                      </a:pPr>
                      <a:r>
                        <a:t>3</a:t>
                      </a:r>
                    </a:p>
                  </a:txBody>
                  <a:tcPr/>
                </a:tc>
                <a:extLst>
                  <a:ext uri="{0D108BD9-81ED-4DB2-BD59-A6C34878D82A}">
                    <a16:rowId xmlns:a16="http://schemas.microsoft.com/office/drawing/2014/main" val="10016"/>
                  </a:ext>
                </a:extLst>
              </a:tr>
              <a:tr h="0">
                <a:tc>
                  <a:txBody>
                    <a:bodyPr/>
                    <a:lstStyle/>
                    <a:p>
                      <a:pPr marL="0" lvl="0" indent="0" algn="l">
                        <a:buNone/>
                      </a:pPr>
                      <a:r>
                        <a:t>Earth Engine: water and coast distance</a:t>
                      </a:r>
                    </a:p>
                  </a:txBody>
                  <a:tcPr/>
                </a:tc>
                <a:tc>
                  <a:txBody>
                    <a:bodyPr/>
                    <a:lstStyle/>
                    <a:p>
                      <a:pPr marL="0" lvl="0" indent="0" algn="r">
                        <a:buNone/>
                      </a:pPr>
                      <a:r>
                        <a:t>6</a:t>
                      </a:r>
                    </a:p>
                  </a:txBody>
                  <a:tcPr/>
                </a:tc>
                <a:tc>
                  <a:txBody>
                    <a:bodyPr/>
                    <a:lstStyle/>
                    <a:p>
                      <a:pPr marL="0" lvl="0" indent="0" algn="l">
                        <a:buNone/>
                      </a:pPr>
                      <a:r>
                        <a:t>Open data</a:t>
                      </a:r>
                    </a:p>
                  </a:txBody>
                  <a:tcPr/>
                </a:tc>
                <a:tc>
                  <a:txBody>
                    <a:bodyPr/>
                    <a:lstStyle/>
                    <a:p>
                      <a:pPr marL="0" lvl="0" indent="0" algn="r">
                        <a:buNone/>
                      </a:pPr>
                      <a:r>
                        <a:t>1</a:t>
                      </a:r>
                    </a:p>
                  </a:txBody>
                  <a:tcPr/>
                </a:tc>
                <a:tc>
                  <a:txBody>
                    <a:bodyPr/>
                    <a:lstStyle/>
                    <a:p>
                      <a:pPr marL="0" lvl="0" indent="0" algn="l">
                        <a:buNone/>
                      </a:pPr>
                      <a:r>
                        <a:t>water_static</a:t>
                      </a:r>
                    </a:p>
                  </a:txBody>
                  <a:tcPr/>
                </a:tc>
                <a:tc>
                  <a:txBody>
                    <a:bodyPr/>
                    <a:lstStyle/>
                    <a:p>
                      <a:pPr marL="0" lvl="0" indent="0" algn="l">
                        <a:buNone/>
                      </a:pPr>
                      <a:r>
                        <a:t>static</a:t>
                      </a:r>
                    </a:p>
                  </a:txBody>
                  <a:tcPr/>
                </a:tc>
                <a:extLst>
                  <a:ext uri="{0D108BD9-81ED-4DB2-BD59-A6C34878D82A}">
                    <a16:rowId xmlns:a16="http://schemas.microsoft.com/office/drawing/2014/main" val="10017"/>
                  </a:ext>
                </a:extLst>
              </a:tr>
              <a:tr h="0">
                <a:tc>
                  <a:txBody>
                    <a:bodyPr/>
                    <a:lstStyle/>
                    <a:p>
                      <a:pPr marL="0" lvl="0" indent="0" algn="l">
                        <a:buNone/>
                      </a:pPr>
                      <a:r>
                        <a:t>MIMI dietary inadequacy (Ghana)</a:t>
                      </a:r>
                    </a:p>
                  </a:txBody>
                  <a:tcPr/>
                </a:tc>
                <a:tc>
                  <a:txBody>
                    <a:bodyPr/>
                    <a:lstStyle/>
                    <a:p>
                      <a:pPr marL="0" lvl="0" indent="0" algn="r">
                        <a:buNone/>
                      </a:pPr>
                      <a:r>
                        <a:t>6</a:t>
                      </a:r>
                    </a:p>
                  </a:txBody>
                  <a:tcPr/>
                </a:tc>
                <a:tc>
                  <a:txBody>
                    <a:bodyPr/>
                    <a:lstStyle/>
                    <a:p>
                      <a:pPr marL="0" lvl="0" indent="0" algn="l">
                        <a:buNone/>
                      </a:pPr>
                      <a:r>
                        <a:t>Open data</a:t>
                      </a:r>
                    </a:p>
                  </a:txBody>
                  <a:tcPr/>
                </a:tc>
                <a:tc>
                  <a:txBody>
                    <a:bodyPr/>
                    <a:lstStyle/>
                    <a:p>
                      <a:pPr marL="0" lvl="0" indent="0" algn="r">
                        <a:buNone/>
                      </a:pPr>
                      <a:r>
                        <a:t>1</a:t>
                      </a:r>
                    </a:p>
                  </a:txBody>
                  <a:tcPr/>
                </a:tc>
                <a:tc>
                  <a:txBody>
                    <a:bodyPr/>
                    <a:lstStyle/>
                    <a:p>
                      <a:pPr marL="0" lvl="0" indent="0" algn="l">
                        <a:buNone/>
                      </a:pPr>
                      <a:r>
                        <a:t>mimi_glss7</a:t>
                      </a:r>
                    </a:p>
                  </a:txBody>
                  <a:tcPr/>
                </a:tc>
                <a:tc>
                  <a:txBody>
                    <a:bodyPr/>
                    <a:lstStyle/>
                    <a:p>
                      <a:pPr marL="0" lvl="0" indent="0" algn="l">
                        <a:buNone/>
                      </a:pPr>
                      <a:r>
                        <a:t>1</a:t>
                      </a:r>
                    </a:p>
                  </a:txBody>
                  <a:tcPr/>
                </a:tc>
                <a:extLst>
                  <a:ext uri="{0D108BD9-81ED-4DB2-BD59-A6C34878D82A}">
                    <a16:rowId xmlns:a16="http://schemas.microsoft.com/office/drawing/2014/main" val="10018"/>
                  </a:ext>
                </a:extLst>
              </a:tr>
              <a:tr h="0">
                <a:tc>
                  <a:txBody>
                    <a:bodyPr/>
                    <a:lstStyle/>
                    <a:p>
                      <a:pPr marL="0" lvl="0" indent="0" algn="l">
                        <a:buNone/>
                      </a:pPr>
                      <a:r>
                        <a:t>WHO ESPEN helminths</a:t>
                      </a:r>
                    </a:p>
                  </a:txBody>
                  <a:tcPr/>
                </a:tc>
                <a:tc>
                  <a:txBody>
                    <a:bodyPr/>
                    <a:lstStyle/>
                    <a:p>
                      <a:pPr marL="0" lvl="0" indent="0" algn="r">
                        <a:buNone/>
                      </a:pPr>
                      <a:r>
                        <a:t>6</a:t>
                      </a:r>
                    </a:p>
                  </a:txBody>
                  <a:tcPr/>
                </a:tc>
                <a:tc>
                  <a:txBody>
                    <a:bodyPr/>
                    <a:lstStyle/>
                    <a:p>
                      <a:pPr marL="0" lvl="0" indent="0" algn="l">
                        <a:buNone/>
                      </a:pPr>
                      <a:r>
                        <a:t>Open data</a:t>
                      </a:r>
                    </a:p>
                  </a:txBody>
                  <a:tcPr/>
                </a:tc>
                <a:tc>
                  <a:txBody>
                    <a:bodyPr/>
                    <a:lstStyle/>
                    <a:p>
                      <a:pPr marL="0" lvl="0" indent="0" algn="r">
                        <a:buNone/>
                      </a:pPr>
                      <a:r>
                        <a:t>1</a:t>
                      </a:r>
                    </a:p>
                  </a:txBody>
                  <a:tcPr/>
                </a:tc>
                <a:tc>
                  <a:txBody>
                    <a:bodyPr/>
                    <a:lstStyle/>
                    <a:p>
                      <a:pPr marL="0" lvl="0" indent="0" algn="l">
                        <a:buNone/>
                      </a:pPr>
                      <a:r>
                        <a:t>espen_mda, espen_nearest</a:t>
                      </a:r>
                    </a:p>
                  </a:txBody>
                  <a:tcPr/>
                </a:tc>
                <a:tc>
                  <a:txBody>
                    <a:bodyPr/>
                    <a:lstStyle/>
                    <a:p>
                      <a:pPr marL="0" lvl="0" indent="0" algn="l">
                        <a:buNone/>
                      </a:pPr>
                      <a:r>
                        <a:t>3</a:t>
                      </a:r>
                    </a:p>
                  </a:txBody>
                  <a:tcPr/>
                </a:tc>
                <a:extLst>
                  <a:ext uri="{0D108BD9-81ED-4DB2-BD59-A6C34878D82A}">
                    <a16:rowId xmlns:a16="http://schemas.microsoft.com/office/drawing/2014/main" val="10019"/>
                  </a:ext>
                </a:extLst>
              </a:tr>
              <a:tr h="0">
                <a:tc>
                  <a:txBody>
                    <a:bodyPr/>
                    <a:lstStyle/>
                    <a:p>
                      <a:pPr marL="0" lvl="0" indent="0" algn="l">
                        <a:buNone/>
                      </a:pPr>
                      <a:r>
                        <a:t>World Bank RTFP prices</a:t>
                      </a:r>
                    </a:p>
                  </a:txBody>
                  <a:tcPr/>
                </a:tc>
                <a:tc>
                  <a:txBody>
                    <a:bodyPr/>
                    <a:lstStyle/>
                    <a:p>
                      <a:pPr marL="0" lvl="0" indent="0" algn="r">
                        <a:buNone/>
                      </a:pPr>
                      <a:r>
                        <a:t>6</a:t>
                      </a:r>
                    </a:p>
                  </a:txBody>
                  <a:tcPr/>
                </a:tc>
                <a:tc>
                  <a:txBody>
                    <a:bodyPr/>
                    <a:lstStyle/>
                    <a:p>
                      <a:pPr marL="0" lvl="0" indent="0" algn="l">
                        <a:buNone/>
                      </a:pPr>
                      <a:r>
                        <a:t>Open data</a:t>
                      </a:r>
                    </a:p>
                  </a:txBody>
                  <a:tcPr/>
                </a:tc>
                <a:tc>
                  <a:txBody>
                    <a:bodyPr/>
                    <a:lstStyle/>
                    <a:p>
                      <a:pPr marL="0" lvl="0" indent="0" algn="r">
                        <a:buNone/>
                      </a:pPr>
                      <a:r>
                        <a:t>1</a:t>
                      </a:r>
                    </a:p>
                  </a:txBody>
                  <a:tcPr/>
                </a:tc>
                <a:tc>
                  <a:txBody>
                    <a:bodyPr/>
                    <a:lstStyle/>
                    <a:p>
                      <a:pPr marL="0" lvl="0" indent="0" algn="l">
                        <a:buNone/>
                      </a:pPr>
                      <a:r>
                        <a:t>rtfp_window</a:t>
                      </a:r>
                    </a:p>
                  </a:txBody>
                  <a:tcPr/>
                </a:tc>
                <a:tc>
                  <a:txBody>
                    <a:bodyPr/>
                    <a:lstStyle/>
                    <a:p>
                      <a:pPr marL="0" lvl="0" indent="0" algn="l">
                        <a:buNone/>
                      </a:pPr>
                      <a:r>
                        <a:t>0</a:t>
                      </a:r>
                    </a:p>
                  </a:txBody>
                  <a:tcPr/>
                </a:tc>
                <a:extLst>
                  <a:ext uri="{0D108BD9-81ED-4DB2-BD59-A6C34878D82A}">
                    <a16:rowId xmlns:a16="http://schemas.microsoft.com/office/drawing/2014/main" val="10020"/>
                  </a:ext>
                </a:extLst>
              </a:tr>
              <a:tr h="0">
                <a:tc>
                  <a:txBody>
                    <a:bodyPr/>
                    <a:lstStyle/>
                    <a:p>
                      <a:pPr marL="0" lvl="0" indent="0" algn="l">
                        <a:buNone/>
                      </a:pPr>
                      <a:r>
                        <a:t>WHO anaemia estimates</a:t>
                      </a:r>
                    </a:p>
                  </a:txBody>
                  <a:tcPr/>
                </a:tc>
                <a:tc>
                  <a:txBody>
                    <a:bodyPr/>
                    <a:lstStyle/>
                    <a:p>
                      <a:pPr marL="0" lvl="0" indent="0" algn="r">
                        <a:buNone/>
                      </a:pPr>
                      <a:r>
                        <a:t>5</a:t>
                      </a:r>
                    </a:p>
                  </a:txBody>
                  <a:tcPr/>
                </a:tc>
                <a:tc>
                  <a:txBody>
                    <a:bodyPr/>
                    <a:lstStyle/>
                    <a:p>
                      <a:pPr marL="0" lvl="0" indent="0" algn="l">
                        <a:buNone/>
                      </a:pPr>
                      <a:r>
                        <a:t>Open data</a:t>
                      </a:r>
                    </a:p>
                  </a:txBody>
                  <a:tcPr/>
                </a:tc>
                <a:tc>
                  <a:txBody>
                    <a:bodyPr/>
                    <a:lstStyle/>
                    <a:p>
                      <a:pPr marL="0" lvl="0" indent="0" algn="r">
                        <a:buNone/>
                      </a:pPr>
                      <a:r>
                        <a:t>1</a:t>
                      </a:r>
                    </a:p>
                  </a:txBody>
                  <a:tcPr/>
                </a:tc>
                <a:tc>
                  <a:txBody>
                    <a:bodyPr/>
                    <a:lstStyle/>
                    <a:p>
                      <a:pPr marL="0" lvl="0" indent="0" algn="l">
                        <a:buNone/>
                      </a:pPr>
                      <a:r>
                        <a:t>who_anaemia_sy</a:t>
                      </a:r>
                    </a:p>
                  </a:txBody>
                  <a:tcPr/>
                </a:tc>
                <a:tc>
                  <a:txBody>
                    <a:bodyPr/>
                    <a:lstStyle/>
                    <a:p>
                      <a:pPr marL="0" lvl="0" indent="0" algn="l">
                        <a:buNone/>
                      </a:pPr>
                      <a:r>
                        <a:t>0</a:t>
                      </a:r>
                    </a:p>
                  </a:txBody>
                  <a:tcPr/>
                </a:tc>
                <a:extLst>
                  <a:ext uri="{0D108BD9-81ED-4DB2-BD59-A6C34878D82A}">
                    <a16:rowId xmlns:a16="http://schemas.microsoft.com/office/drawing/2014/main" val="10021"/>
                  </a:ext>
                </a:extLst>
              </a:tr>
              <a:tr h="0">
                <a:tc>
                  <a:txBody>
                    <a:bodyPr/>
                    <a:lstStyle/>
                    <a:p>
                      <a:pPr marL="0" lvl="0" indent="0" algn="l">
                        <a:buNone/>
                      </a:pPr>
                      <a:r>
                        <a:t>HFID food security</a:t>
                      </a:r>
                    </a:p>
                  </a:txBody>
                  <a:tcPr/>
                </a:tc>
                <a:tc>
                  <a:txBody>
                    <a:bodyPr/>
                    <a:lstStyle/>
                    <a:p>
                      <a:pPr marL="0" lvl="0" indent="0" algn="r">
                        <a:buNone/>
                      </a:pPr>
                      <a:r>
                        <a:t>4</a:t>
                      </a:r>
                    </a:p>
                  </a:txBody>
                  <a:tcPr/>
                </a:tc>
                <a:tc>
                  <a:txBody>
                    <a:bodyPr/>
                    <a:lstStyle/>
                    <a:p>
                      <a:pPr marL="0" lvl="0" indent="0" algn="l">
                        <a:buNone/>
                      </a:pPr>
                      <a:r>
                        <a:t>Open data</a:t>
                      </a:r>
                    </a:p>
                  </a:txBody>
                  <a:tcPr/>
                </a:tc>
                <a:tc>
                  <a:txBody>
                    <a:bodyPr/>
                    <a:lstStyle/>
                    <a:p>
                      <a:pPr marL="0" lvl="0" indent="0" algn="r">
                        <a:buNone/>
                      </a:pPr>
                      <a:r>
                        <a:t>1</a:t>
                      </a:r>
                    </a:p>
                  </a:txBody>
                  <a:tcPr/>
                </a:tc>
                <a:tc>
                  <a:txBody>
                    <a:bodyPr/>
                    <a:lstStyle/>
                    <a:p>
                      <a:pPr marL="0" lvl="0" indent="0" algn="l">
                        <a:buNone/>
                      </a:pPr>
                      <a:r>
                        <a:t>fsec_window</a:t>
                      </a:r>
                    </a:p>
                  </a:txBody>
                  <a:tcPr/>
                </a:tc>
                <a:tc>
                  <a:txBody>
                    <a:bodyPr/>
                    <a:lstStyle/>
                    <a:p>
                      <a:pPr marL="0" lvl="0" indent="0" algn="l">
                        <a:buNone/>
                      </a:pPr>
                      <a:r>
                        <a:t>0</a:t>
                      </a:r>
                    </a:p>
                  </a:txBody>
                  <a:tcPr/>
                </a:tc>
                <a:extLst>
                  <a:ext uri="{0D108BD9-81ED-4DB2-BD59-A6C34878D82A}">
                    <a16:rowId xmlns:a16="http://schemas.microsoft.com/office/drawing/2014/main" val="10022"/>
                  </a:ext>
                </a:extLst>
              </a:tr>
              <a:tr h="0">
                <a:tc>
                  <a:txBody>
                    <a:bodyPr/>
                    <a:lstStyle/>
                    <a:p>
                      <a:pPr marL="0" lvl="0" indent="0" algn="l">
                        <a:buNone/>
                      </a:pPr>
                      <a:r>
                        <a:t>WHO FluNet</a:t>
                      </a:r>
                    </a:p>
                  </a:txBody>
                  <a:tcPr/>
                </a:tc>
                <a:tc>
                  <a:txBody>
                    <a:bodyPr/>
                    <a:lstStyle/>
                    <a:p>
                      <a:pPr marL="0" lvl="0" indent="0" algn="r">
                        <a:buNone/>
                      </a:pPr>
                      <a:r>
                        <a:t>3</a:t>
                      </a:r>
                    </a:p>
                  </a:txBody>
                  <a:tcPr/>
                </a:tc>
                <a:tc>
                  <a:txBody>
                    <a:bodyPr/>
                    <a:lstStyle/>
                    <a:p>
                      <a:pPr marL="0" lvl="0" indent="0" algn="l">
                        <a:buNone/>
                      </a:pPr>
                      <a:r>
                        <a:t>Open data</a:t>
                      </a:r>
                    </a:p>
                  </a:txBody>
                  <a:tcPr/>
                </a:tc>
                <a:tc>
                  <a:txBody>
                    <a:bodyPr/>
                    <a:lstStyle/>
                    <a:p>
                      <a:pPr marL="0" lvl="0" indent="0" algn="r">
                        <a:buNone/>
                      </a:pPr>
                      <a:r>
                        <a:t>1</a:t>
                      </a:r>
                    </a:p>
                  </a:txBody>
                  <a:tcPr/>
                </a:tc>
                <a:tc>
                  <a:txBody>
                    <a:bodyPr/>
                    <a:lstStyle/>
                    <a:p>
                      <a:pPr marL="0" lvl="0" indent="0" algn="l">
                        <a:buNone/>
                      </a:pPr>
                      <a:r>
                        <a:t>flunet_sy</a:t>
                      </a:r>
                    </a:p>
                  </a:txBody>
                  <a:tcPr/>
                </a:tc>
                <a:tc>
                  <a:txBody>
                    <a:bodyPr/>
                    <a:lstStyle/>
                    <a:p>
                      <a:pPr marL="0" lvl="0" indent="0" algn="l">
                        <a:buNone/>
                      </a:pPr>
                      <a:r>
                        <a:t>0</a:t>
                      </a:r>
                    </a:p>
                  </a:txBody>
                  <a:tcPr/>
                </a:tc>
                <a:extLst>
                  <a:ext uri="{0D108BD9-81ED-4DB2-BD59-A6C34878D82A}">
                    <a16:rowId xmlns:a16="http://schemas.microsoft.com/office/drawing/2014/main" val="10023"/>
                  </a:ext>
                </a:extLst>
              </a:tr>
              <a:tr h="0">
                <a:tc>
                  <a:txBody>
                    <a:bodyPr/>
                    <a:lstStyle/>
                    <a:p>
                      <a:pPr marL="0" lvl="0" indent="0" algn="l">
                        <a:buNone/>
                      </a:pPr>
                      <a:r>
                        <a:t>Global Data Lab HDI</a:t>
                      </a:r>
                    </a:p>
                  </a:txBody>
                  <a:tcPr/>
                </a:tc>
                <a:tc>
                  <a:txBody>
                    <a:bodyPr/>
                    <a:lstStyle/>
                    <a:p>
                      <a:pPr marL="0" lvl="0" indent="0" algn="r">
                        <a:buNone/>
                      </a:pPr>
                      <a:r>
                        <a:t>2</a:t>
                      </a:r>
                    </a:p>
                  </a:txBody>
                  <a:tcPr/>
                </a:tc>
                <a:tc>
                  <a:txBody>
                    <a:bodyPr/>
                    <a:lstStyle/>
                    <a:p>
                      <a:pPr marL="0" lvl="0" indent="0" algn="l">
                        <a:buNone/>
                      </a:pPr>
                      <a:r>
                        <a:t>Open data</a:t>
                      </a:r>
                    </a:p>
                  </a:txBody>
                  <a:tcPr/>
                </a:tc>
                <a:tc>
                  <a:txBody>
                    <a:bodyPr/>
                    <a:lstStyle/>
                    <a:p>
                      <a:pPr marL="0" lvl="0" indent="0" algn="r">
                        <a:buNone/>
                      </a:pPr>
                      <a:r>
                        <a:t>1</a:t>
                      </a:r>
                    </a:p>
                  </a:txBody>
                  <a:tcPr/>
                </a:tc>
                <a:tc>
                  <a:txBody>
                    <a:bodyPr/>
                    <a:lstStyle/>
                    <a:p>
                      <a:pPr marL="0" lvl="0" indent="0" algn="l">
                        <a:buNone/>
                      </a:pPr>
                      <a:r>
                        <a:t>gdl_sy</a:t>
                      </a:r>
                    </a:p>
                  </a:txBody>
                  <a:tcPr/>
                </a:tc>
                <a:tc>
                  <a:txBody>
                    <a:bodyPr/>
                    <a:lstStyle/>
                    <a:p>
                      <a:pPr marL="0" lvl="0" indent="0" algn="l">
                        <a:buNone/>
                      </a:pPr>
                      <a:r>
                        <a:t>0</a:t>
                      </a:r>
                    </a:p>
                  </a:txBody>
                  <a:tcPr/>
                </a:tc>
                <a:extLst>
                  <a:ext uri="{0D108BD9-81ED-4DB2-BD59-A6C34878D82A}">
                    <a16:rowId xmlns:a16="http://schemas.microsoft.com/office/drawing/2014/main" val="10024"/>
                  </a:ext>
                </a:extLst>
              </a:tr>
              <a:tr h="0">
                <a:tc>
                  <a:txBody>
                    <a:bodyPr/>
                    <a:lstStyle/>
                    <a:p>
                      <a:pPr marL="0" lvl="0" indent="0" algn="l">
                        <a:buNone/>
                      </a:pPr>
                      <a:r>
                        <a:t>UNICEF vitamin A supplementation</a:t>
                      </a:r>
                    </a:p>
                  </a:txBody>
                  <a:tcPr/>
                </a:tc>
                <a:tc>
                  <a:txBody>
                    <a:bodyPr/>
                    <a:lstStyle/>
                    <a:p>
                      <a:pPr marL="0" lvl="0" indent="0" algn="r">
                        <a:buNone/>
                      </a:pPr>
                      <a:r>
                        <a:t>1</a:t>
                      </a:r>
                    </a:p>
                  </a:txBody>
                  <a:tcPr/>
                </a:tc>
                <a:tc>
                  <a:txBody>
                    <a:bodyPr/>
                    <a:lstStyle/>
                    <a:p>
                      <a:pPr marL="0" lvl="0" indent="0" algn="l">
                        <a:buNone/>
                      </a:pPr>
                      <a:r>
                        <a:t>Open data</a:t>
                      </a:r>
                    </a:p>
                  </a:txBody>
                  <a:tcPr/>
                </a:tc>
                <a:tc>
                  <a:txBody>
                    <a:bodyPr/>
                    <a:lstStyle/>
                    <a:p>
                      <a:pPr marL="0" lvl="0" indent="0" algn="r">
                        <a:buNone/>
                      </a:pPr>
                      <a:r>
                        <a:t>1</a:t>
                      </a:r>
                    </a:p>
                  </a:txBody>
                  <a:tcPr/>
                </a:tc>
                <a:tc>
                  <a:txBody>
                    <a:bodyPr/>
                    <a:lstStyle/>
                    <a:p>
                      <a:pPr marL="0" lvl="0" indent="0" algn="l">
                        <a:buNone/>
                      </a:pPr>
                      <a:r>
                        <a:t>vas_sy</a:t>
                      </a:r>
                    </a:p>
                  </a:txBody>
                  <a:tcPr/>
                </a:tc>
                <a:tc>
                  <a:txBody>
                    <a:bodyPr/>
                    <a:lstStyle/>
                    <a:p>
                      <a:pPr marL="0" lvl="0" indent="0" algn="l">
                        <a:buNone/>
                      </a:pPr>
                      <a:r>
                        <a:t>0</a:t>
                      </a:r>
                    </a:p>
                  </a:txBody>
                  <a:tcPr/>
                </a:tc>
                <a:extLst>
                  <a:ext uri="{0D108BD9-81ED-4DB2-BD59-A6C34878D82A}">
                    <a16:rowId xmlns:a16="http://schemas.microsoft.com/office/drawing/2014/main" val="1002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twenty layers behind child iron</a:t>
            </a:r>
          </a:p>
        </p:txBody>
      </p:sp>
      <p:pic>
        <p:nvPicPr>
          <p:cNvPr id="3" name="Picture 1" descr="../../results/figures/policy_deck/fig8_twenty_layers.png"/>
          <p:cNvPicPr>
            <a:picLocks noGrp="1" noChangeAspect="1"/>
          </p:cNvPicPr>
          <p:nvPr/>
        </p:nvPicPr>
        <p:blipFill>
          <a:blip r:embed="rId3"/>
          <a:stretch>
            <a:fillRect/>
          </a:stretch>
        </p:blipFill>
        <p:spPr bwMode="auto">
          <a:xfrm>
            <a:off x="2082800" y="1816100"/>
            <a:ext cx="8026400" cy="4343400"/>
          </a:xfrm>
          <a:prstGeom prst="rect">
            <a:avLst/>
          </a:prstGeom>
          <a:noFill/>
          <a:ln w="9525">
            <a:noFill/>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Exclusions, with their reasons</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58674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203700">
                  <a:extLst>
                    <a:ext uri="{9D8B030D-6E8A-4147-A177-3AD203B41FA5}">
                      <a16:colId xmlns:a16="http://schemas.microsoft.com/office/drawing/2014/main" val="20002"/>
                    </a:ext>
                  </a:extLst>
                </a:gridCol>
              </a:tblGrid>
              <a:tr h="0">
                <a:tc>
                  <a:txBody>
                    <a:bodyPr/>
                    <a:lstStyle/>
                    <a:p>
                      <a:pPr marL="0" lvl="0" indent="0" algn="l">
                        <a:buNone/>
                      </a:pPr>
                      <a:r>
                        <a:t>Rule</a:t>
                      </a:r>
                    </a:p>
                  </a:txBody>
                  <a:tcPr/>
                </a:tc>
                <a:tc>
                  <a:txBody>
                    <a:bodyPr/>
                    <a:lstStyle/>
                    <a:p>
                      <a:pPr marL="0" lvl="0" indent="0" algn="l">
                        <a:buNone/>
                      </a:pPr>
                      <a:r>
                        <a:t>Policy</a:t>
                      </a:r>
                    </a:p>
                  </a:txBody>
                  <a:tcPr/>
                </a:tc>
                <a:tc>
                  <a:txBody>
                    <a:bodyPr/>
                    <a:lstStyle/>
                    <a:p>
                      <a:pPr marL="0" lvl="0" indent="0" algn="l">
                        <a:buNone/>
                      </a:pPr>
                      <a:r>
                        <a:t>Reason</a:t>
                      </a:r>
                    </a:p>
                  </a:txBody>
                  <a:tcPr/>
                </a:tc>
                <a:extLst>
                  <a:ext uri="{0D108BD9-81ED-4DB2-BD59-A6C34878D82A}">
                    <a16:rowId xmlns:a16="http://schemas.microsoft.com/office/drawing/2014/main" val="10000"/>
                  </a:ext>
                </a:extLst>
              </a:tr>
              <a:tr h="0">
                <a:tc>
                  <a:txBody>
                    <a:bodyPr/>
                    <a:lstStyle/>
                    <a:p>
                      <a:pPr marL="0" lvl="0" indent="0" algn="l">
                        <a:buNone/>
                      </a:pPr>
                      <a:r>
                        <a:t>^soil_nitrogen_</a:t>
                      </a:r>
                    </a:p>
                  </a:txBody>
                  <a:tcPr/>
                </a:tc>
                <a:tc>
                  <a:txBody>
                    <a:bodyPr/>
                    <a:lstStyle/>
                    <a:p>
                      <a:pPr marL="0" lvl="0" indent="0" algn="l">
                        <a:buNone/>
                      </a:pPr>
                      <a:r>
                        <a:t>data_defect</a:t>
                      </a:r>
                    </a:p>
                  </a:txBody>
                  <a:tcPr/>
                </a:tc>
                <a:tc>
                  <a:txBody>
                    <a:bodyPr/>
                    <a:lstStyle/>
                    <a:p>
                      <a:pPr marL="0" lvl="0" indent="0" algn="l">
                        <a:buNone/>
                      </a:pPr>
                      <a:r>
                        <a:t>Cross-country values are irreconcilable by any constant factor: medians 742 (Gambia) 1090 (Malawi) 2455 (Ta…</a:t>
                      </a:r>
                    </a:p>
                  </a:txBody>
                  <a:tcPr/>
                </a:tc>
                <a:extLst>
                  <a:ext uri="{0D108BD9-81ED-4DB2-BD59-A6C34878D82A}">
                    <a16:rowId xmlns:a16="http://schemas.microsoft.com/office/drawing/2014/main" val="10001"/>
                  </a:ext>
                </a:extLst>
              </a:tr>
              <a:tr h="0">
                <a:tc>
                  <a:txBody>
                    <a:bodyPr/>
                    <a:lstStyle/>
                    <a:p>
                      <a:pPr marL="0" lvl="0" indent="0" algn="l">
                        <a:buNone/>
                      </a:pPr>
                      <a:r>
                        <a:t>^soil_totalcarbon_stdev_</a:t>
                      </a:r>
                    </a:p>
                  </a:txBody>
                  <a:tcPr/>
                </a:tc>
                <a:tc>
                  <a:txBody>
                    <a:bodyPr/>
                    <a:lstStyle/>
                    <a:p>
                      <a:pPr marL="0" lvl="0" indent="0" algn="l">
                        <a:buNone/>
                      </a:pPr>
                      <a:r>
                        <a:t>data_defect</a:t>
                      </a:r>
                    </a:p>
                  </a:txBody>
                  <a:tcPr/>
                </a:tc>
                <a:tc>
                  <a:txBody>
                    <a:bodyPr/>
                    <a:lstStyle/>
                    <a:p>
                      <a:pPr marL="0" lvl="0" indent="0" algn="l">
                        <a:buNone/>
                      </a:pPr>
                      <a:r>
                        <a:t>Dispersion columns diverge &gt;100x across countries while the matching depth MEANS agree; the stdev bands are…</a:t>
                      </a:r>
                    </a:p>
                  </a:txBody>
                  <a:tcPr/>
                </a:tc>
                <a:extLst>
                  <a:ext uri="{0D108BD9-81ED-4DB2-BD59-A6C34878D82A}">
                    <a16:rowId xmlns:a16="http://schemas.microsoft.com/office/drawing/2014/main" val="10002"/>
                  </a:ext>
                </a:extLst>
              </a:tr>
              <a:tr h="0">
                <a:tc>
                  <a:txBody>
                    <a:bodyPr/>
                    <a:lstStyle/>
                    <a:p>
                      <a:pPr marL="0" lvl="0" indent="0" algn="l">
                        <a:buNone/>
                      </a:pPr>
                      <a:r>
                        <a:t>^ndvi_y2010$</a:t>
                      </a:r>
                    </a:p>
                  </a:txBody>
                  <a:tcPr/>
                </a:tc>
                <a:tc>
                  <a:txBody>
                    <a:bodyPr/>
                    <a:lstStyle/>
                    <a:p>
                      <a:pPr marL="0" lvl="0" indent="0" algn="l">
                        <a:buNone/>
                      </a:pPr>
                      <a:r>
                        <a:t>data_defect</a:t>
                      </a:r>
                    </a:p>
                  </a:txBody>
                  <a:tcPr/>
                </a:tc>
                <a:tc>
                  <a:txBody>
                    <a:bodyPr/>
                    <a:lstStyle/>
                    <a:p>
                      <a:pPr marL="0" lvl="0" indent="0" algn="l">
                        <a:buNone/>
                      </a:pPr>
                      <a:r>
                        <a:t>Tanzania median 5.4e-05 against 0.22-0.26 elsewhere while every other year agrees - a defective 2010 slice …</a:t>
                      </a:r>
                    </a:p>
                  </a:txBody>
                  <a:tcPr/>
                </a:tc>
                <a:extLst>
                  <a:ext uri="{0D108BD9-81ED-4DB2-BD59-A6C34878D82A}">
                    <a16:rowId xmlns:a16="http://schemas.microsoft.com/office/drawing/2014/main" val="10003"/>
                  </a:ext>
                </a:extLst>
              </a:tr>
              <a:tr h="0">
                <a:tc>
                  <a:txBody>
                    <a:bodyPr/>
                    <a:lstStyle/>
                    <a:p>
                      <a:pPr marL="0" lvl="0" indent="0" algn="l">
                        <a:buNone/>
                      </a:pPr>
                      <a:r>
                        <a:t>^ndvi_y(2019|2020|2021|2022)$</a:t>
                      </a:r>
                    </a:p>
                  </a:txBody>
                  <a:tcPr/>
                </a:tc>
                <a:tc>
                  <a:txBody>
                    <a:bodyPr/>
                    <a:lstStyle/>
                    <a:p>
                      <a:pPr marL="0" lvl="0" indent="0" algn="l">
                        <a:buNone/>
                      </a:pPr>
                      <a:r>
                        <a:t>data_defect</a:t>
                      </a:r>
                    </a:p>
                  </a:txBody>
                  <a:tcPr/>
                </a:tc>
                <a:tc>
                  <a:txBody>
                    <a:bodyPr/>
                    <a:lstStyle/>
                    <a:p>
                      <a:pPr marL="0" lvl="0" indent="0" algn="l">
                        <a:buNone/>
                      </a:pPr>
                      <a:r>
                        <a:t>NDVI collapses country-dependently after 2018 (2021 medians 0.008 Malawi / 0.018 Gambia / 0.25 Sierra Leone…</a:t>
                      </a:r>
                    </a:p>
                  </a:txBody>
                  <a:tcPr/>
                </a:tc>
                <a:extLst>
                  <a:ext uri="{0D108BD9-81ED-4DB2-BD59-A6C34878D82A}">
                    <a16:rowId xmlns:a16="http://schemas.microsoft.com/office/drawing/2014/main" val="10004"/>
                  </a:ext>
                </a:extLst>
              </a:tr>
              <a:tr h="0">
                <a:tc>
                  <a:txBody>
                    <a:bodyPr/>
                    <a:lstStyle/>
                    <a:p>
                      <a:pPr marL="0" lvl="0" indent="0" algn="l">
                        <a:buNone/>
                      </a:pPr>
                      <a:r>
                        <a:t>^(lcover_(snow|moss)</a:t>
                      </a:r>
                      <a:r>
                        <a:rPr i="1"/>
                        <a:t>frac</a:t>
                      </a:r>
                      <a:r>
                        <a:t>|tclim_swe_)</a:t>
                      </a:r>
                    </a:p>
                  </a:txBody>
                  <a:tcPr/>
                </a:tc>
                <a:tc>
                  <a:txBody>
                    <a:bodyPr/>
                    <a:lstStyle/>
                    <a:p>
                      <a:pPr marL="0" lvl="0" indent="0" algn="l">
                        <a:buNone/>
                      </a:pPr>
                      <a:r>
                        <a:t>data_defect</a:t>
                      </a:r>
                    </a:p>
                  </a:txBody>
                  <a:tcPr/>
                </a:tc>
                <a:tc>
                  <a:txBody>
                    <a:bodyPr/>
                    <a:lstStyle/>
                    <a:p>
                      <a:pPr marL="0" lvl="0" indent="0" algn="l">
                        <a:buNone/>
                      </a:pPr>
                      <a:r>
                        <a:t>Identically zero in every district of every country: these are snow cover, moss cover and snow water equiva…</a:t>
                      </a:r>
                    </a:p>
                  </a:txBody>
                  <a:tcPr/>
                </a:tc>
                <a:extLst>
                  <a:ext uri="{0D108BD9-81ED-4DB2-BD59-A6C34878D82A}">
                    <a16:rowId xmlns:a16="http://schemas.microsoft.com/office/drawing/2014/main" val="10005"/>
                  </a:ext>
                </a:extLst>
              </a:tr>
              <a:tr h="0">
                <a:tc>
                  <a:txBody>
                    <a:bodyPr/>
                    <a:lstStyle/>
                    <a:p>
                      <a:pPr marL="0" lvl="0" indent="0" algn="l">
                        <a:buNone/>
                      </a:pPr>
                      <a:r>
                        <a:t>^dhs_c_ort_diarrhea$</a:t>
                      </a:r>
                    </a:p>
                  </a:txBody>
                  <a:tcPr/>
                </a:tc>
                <a:tc>
                  <a:txBody>
                    <a:bodyPr/>
                    <a:lstStyle/>
                    <a:p>
                      <a:pPr marL="0" lvl="0" indent="0" algn="l">
                        <a:buNone/>
                      </a:pPr>
                      <a:r>
                        <a:t>data_defect</a:t>
                      </a:r>
                    </a:p>
                  </a:txBody>
                  <a:tcPr/>
                </a:tc>
                <a:tc>
                  <a:txBody>
                    <a:bodyPr/>
                    <a:lstStyle/>
                    <a:p>
                      <a:pPr marL="0" lvl="0" indent="0" algn="l">
                        <a:buNone/>
                      </a:pPr>
                      <a:r>
                        <a:t>Identically zero in every district - the indicator did not populate in these DHS rounds. A constant cannot …</a:t>
                      </a:r>
                    </a:p>
                  </a:txBody>
                  <a:tcPr/>
                </a:tc>
                <a:extLst>
                  <a:ext uri="{0D108BD9-81ED-4DB2-BD59-A6C34878D82A}">
                    <a16:rowId xmlns:a16="http://schemas.microsoft.com/office/drawing/2014/main" val="10006"/>
                  </a:ext>
                </a:extLst>
              </a:tr>
              <a:tr h="0">
                <a:tc>
                  <a:txBody>
                    <a:bodyPr/>
                    <a:lstStyle/>
                    <a:p>
                      <a:pPr marL="0" lvl="0" indent="0" algn="l">
                        <a:buNone/>
                      </a:pPr>
                      <a:r>
                        <a:t>^dhs_w_barrier_transport$</a:t>
                      </a:r>
                    </a:p>
                  </a:txBody>
                  <a:tcPr/>
                </a:tc>
                <a:tc>
                  <a:txBody>
                    <a:bodyPr/>
                    <a:lstStyle/>
                    <a:p>
                      <a:pPr marL="0" lvl="0" indent="0" algn="l">
                        <a:buNone/>
                      </a:pPr>
                      <a:r>
                        <a:t>data_defect</a:t>
                      </a:r>
                    </a:p>
                  </a:txBody>
                  <a:tcPr/>
                </a:tc>
                <a:tc>
                  <a:txBody>
                    <a:bodyPr/>
                    <a:lstStyle/>
                    <a:p>
                      <a:pPr marL="0" lvl="0" indent="0" algn="l">
                        <a:buNone/>
                      </a:pPr>
                      <a:r>
                        <a:t>All-NA in every district of every country (the transport-barrier item did not populate in these DHS rounds)…</a:t>
                      </a:r>
                    </a:p>
                  </a:txBody>
                  <a:tcPr/>
                </a:tc>
                <a:extLst>
                  <a:ext uri="{0D108BD9-81ED-4DB2-BD59-A6C34878D82A}">
                    <a16:rowId xmlns:a16="http://schemas.microsoft.com/office/drawing/2014/main" val="10007"/>
                  </a:ext>
                </a:extLst>
              </a:tr>
              <a:tr h="0">
                <a:tc>
                  <a:txBody>
                    <a:bodyPr/>
                    <a:lstStyle/>
                    <a:p>
                      <a:pPr marL="0" lvl="0" indent="0" algn="l">
                        <a:buNone/>
                      </a:pPr>
                      <a:r>
                        <a:t>^ndvi_y20(1[1-8])$</a:t>
                      </a:r>
                    </a:p>
                  </a:txBody>
                  <a:tcPr/>
                </a:tc>
                <a:tc>
                  <a:txBody>
                    <a:bodyPr/>
                    <a:lstStyle/>
                    <a:p>
                      <a:pPr marL="0" lvl="0" indent="0" algn="l">
                        <a:buNone/>
                      </a:pPr>
                      <a:r>
                        <a:t>superseded</a:t>
                      </a:r>
                    </a:p>
                  </a:txBody>
                  <a:tcPr/>
                </a:tc>
                <a:tc>
                  <a:txBody>
                    <a:bodyPr/>
                    <a:lstStyle/>
                    <a:p>
                      <a:pPr marL="0" lvl="0" indent="0" algn="l">
                        <a:buNone/>
                      </a:pPr>
                      <a:r>
                        <a:t>Superseded (NV-01, 2026-09-15) by MOD13Q1 NDVI at the survey year (ndvi_modis_t0/win/peak/amp/clim/anom): t…</a:t>
                      </a:r>
                    </a:p>
                  </a:txBody>
                  <a:tcPr/>
                </a:tc>
                <a:extLst>
                  <a:ext uri="{0D108BD9-81ED-4DB2-BD59-A6C34878D82A}">
                    <a16:rowId xmlns:a16="http://schemas.microsoft.com/office/drawing/2014/main" val="10008"/>
                  </a:ext>
                </a:extLst>
              </a:tr>
              <a:tr h="0">
                <a:tc>
                  <a:txBody>
                    <a:bodyPr/>
                    <a:lstStyle/>
                    <a:p>
                      <a:pPr marL="0" lvl="0" indent="0" algn="l">
                        <a:buNone/>
                      </a:pPr>
                      <a:r>
                        <a:t>^precip_y20(1[0-9])$</a:t>
                      </a:r>
                    </a:p>
                  </a:txBody>
                  <a:tcPr/>
                </a:tc>
                <a:tc>
                  <a:txBody>
                    <a:bodyPr/>
                    <a:lstStyle/>
                    <a:p>
                      <a:pPr marL="0" lvl="0" indent="0" algn="l">
                        <a:buNone/>
                      </a:pPr>
                      <a:r>
                        <a:t>superseded</a:t>
                      </a:r>
                    </a:p>
                  </a:txBody>
                  <a:tcPr/>
                </a:tc>
                <a:tc>
                  <a:txBody>
                    <a:bodyPr/>
                    <a:lstStyle/>
                    <a:p>
                      <a:pPr marL="0" lvl="0" indent="0" algn="l">
                        <a:buNone/>
                      </a:pPr>
                      <a:r>
                        <a:t>Superseded (2026-09-15): TRMM 3B43 annual precipitation at a calendar year 2010-2019 lags the survey by up …</a:t>
                      </a:r>
                    </a:p>
                  </a:txBody>
                  <a:tcPr/>
                </a:tc>
                <a:extLst>
                  <a:ext uri="{0D108BD9-81ED-4DB2-BD59-A6C34878D82A}">
                    <a16:rowId xmlns:a16="http://schemas.microsoft.com/office/drawing/2014/main" val="10009"/>
                  </a:ext>
                </a:extLst>
              </a:tr>
              <a:tr h="0">
                <a:tc>
                  <a:txBody>
                    <a:bodyPr/>
                    <a:lstStyle/>
                    <a:p>
                      <a:pPr marL="0" lvl="0" indent="0" algn="l">
                        <a:buNone/>
                      </a:pPr>
                      <a:r>
                        <a:t>^popdens_y(2010|2015|2020)$</a:t>
                      </a:r>
                    </a:p>
                  </a:txBody>
                  <a:tcPr/>
                </a:tc>
                <a:tc>
                  <a:txBody>
                    <a:bodyPr/>
                    <a:lstStyle/>
                    <a:p>
                      <a:pPr marL="0" lvl="0" indent="0" algn="l">
                        <a:buNone/>
                      </a:pPr>
                      <a:r>
                        <a:t>superseded</a:t>
                      </a:r>
                    </a:p>
                  </a:txBody>
                  <a:tcPr/>
                </a:tc>
                <a:tc>
                  <a:txBody>
                    <a:bodyPr/>
                    <a:lstStyle/>
                    <a:p>
                      <a:pPr marL="0" lvl="0" indent="0" algn="l">
                        <a:buNone/>
                      </a:pPr>
                      <a:r>
                        <a:t>Superseded (2026-09-15): GPW v4.11 density at fixed epochs (up to 8 years from the survey); wpop_log_densit…</a:t>
                      </a:r>
                    </a:p>
                  </a:txBody>
                  <a:tcPr/>
                </a:tc>
                <a:extLst>
                  <a:ext uri="{0D108BD9-81ED-4DB2-BD59-A6C34878D82A}">
                    <a16:rowId xmlns:a16="http://schemas.microsoft.com/office/drawing/2014/main" val="10010"/>
                  </a:ext>
                </a:extLst>
              </a:tr>
              <a:tr h="0">
                <a:tc>
                  <a:txBody>
                    <a:bodyPr/>
                    <a:lstStyle/>
                    <a:p>
                      <a:pPr marL="0" lvl="0" indent="0" algn="l">
                        <a:buNone/>
                      </a:pPr>
                      <a:r>
                        <a:t>^gpw2010_</a:t>
                      </a:r>
                    </a:p>
                  </a:txBody>
                  <a:tcPr/>
                </a:tc>
                <a:tc>
                  <a:txBody>
                    <a:bodyPr/>
                    <a:lstStyle/>
                    <a:p>
                      <a:pPr marL="0" lvl="0" indent="0" algn="l">
                        <a:buNone/>
                      </a:pPr>
                      <a:r>
                        <a:t>superseded</a:t>
                      </a:r>
                    </a:p>
                  </a:txBody>
                  <a:tcPr/>
                </a:tc>
                <a:tc>
                  <a:txBody>
                    <a:bodyPr/>
                    <a:lstStyle/>
                    <a:p>
                      <a:pPr marL="0" lvl="0" indent="0" algn="l">
                        <a:buNone/>
                      </a:pPr>
                      <a:r>
                        <a:t>Superseded (2026-09-15): GPW 2010 age-sex shares are 3-8 years from the surveys; the WorldPop 2020 shares (…</a:t>
                      </a:r>
                    </a:p>
                  </a:txBody>
                  <a:tcPr/>
                </a:tc>
                <a:extLst>
                  <a:ext uri="{0D108BD9-81ED-4DB2-BD59-A6C34878D82A}">
                    <a16:rowId xmlns:a16="http://schemas.microsoft.com/office/drawing/2014/main" val="10011"/>
                  </a:ext>
                </a:extLst>
              </a:tr>
              <a:tr h="0">
                <a:tc>
                  <a:txBody>
                    <a:bodyPr/>
                    <a:lstStyle/>
                    <a:p>
                      <a:pPr marL="0" lvl="0" indent="0" algn="l">
                        <a:buNone/>
                      </a:pPr>
                      <a:r>
                        <a:t>^ihme_proportionofpopulationachievingyearseducation$</a:t>
                      </a:r>
                    </a:p>
                  </a:txBody>
                  <a:tcPr/>
                </a:tc>
                <a:tc>
                  <a:txBody>
                    <a:bodyPr/>
                    <a:lstStyle/>
                    <a:p>
                      <a:pPr marL="0" lvl="0" indent="0" algn="l">
                        <a:buNone/>
                      </a:pPr>
                      <a:r>
                        <a:t>data_defect</a:t>
                      </a:r>
                    </a:p>
                  </a:txBody>
                  <a:tcPr/>
                </a:tc>
                <a:tc>
                  <a:txBody>
                    <a:bodyPr/>
                    <a:lstStyle/>
                    <a:p>
                      <a:pPr marL="0" lvl="0" indent="0" algn="l">
                        <a:buNone/>
                      </a:pPr>
                      <a:r>
                        <a:t>Data defect (2026-09-15): script 08’s key normaliser dropped the digits from three IHME education categorie…</a:t>
                      </a:r>
                    </a:p>
                  </a:txBody>
                  <a:tcPr/>
                </a:tc>
                <a:extLst>
                  <a:ext uri="{0D108BD9-81ED-4DB2-BD59-A6C34878D82A}">
                    <a16:rowId xmlns:a16="http://schemas.microsoft.com/office/drawing/2014/main" val="10012"/>
                  </a:ext>
                </a:extLst>
              </a:tr>
              <a:tr h="0">
                <a:tc>
                  <a:txBody>
                    <a:bodyPr/>
                    <a:lstStyle/>
                    <a:p>
                      <a:pPr marL="0" lvl="0" indent="0" algn="l">
                        <a:buNone/>
                      </a:pPr>
                      <a:r>
                        <a:t>^dhs_(FP_CUSA_W_MOD|FP_NADA_W_UNT|AN_ANEM_W_ANY|CN_NUTS_C_WH2|CN_ANMC_C_ANY|CN_NUTS_C_HA2|AN_NUTS_W_THN|RH_ANCN_W_N4P)$</a:t>
                      </a:r>
                    </a:p>
                  </a:txBody>
                  <a:tcPr/>
                </a:tc>
                <a:tc>
                  <a:txBody>
                    <a:bodyPr/>
                    <a:lstStyle/>
                    <a:p>
                      <a:pPr marL="0" lvl="0" indent="0" algn="l">
                        <a:buNone/>
                      </a:pPr>
                      <a:r>
                        <a:t>redundant</a:t>
                      </a:r>
                    </a:p>
                  </a:txBody>
                  <a:tcPr/>
                </a:tc>
                <a:tc>
                  <a:txBody>
                    <a:bodyPr/>
                    <a:lstStyle/>
                    <a:p>
                      <a:pPr marL="0" lvl="0" indent="0" algn="l">
                        <a:buNone/>
                      </a:pPr>
                      <a:r>
                        <a:t>Redundant (RV-01, 2026-09-15): STATcompiler-style DHS indicators that duplicate the custom recode indicator…</a:t>
                      </a:r>
                    </a:p>
                  </a:txBody>
                  <a:tcPr/>
                </a:tc>
                <a:extLst>
                  <a:ext uri="{0D108BD9-81ED-4DB2-BD59-A6C34878D82A}">
                    <a16:rowId xmlns:a16="http://schemas.microsoft.com/office/drawing/2014/main" val="10013"/>
                  </a:ext>
                </a:extLst>
              </a:tr>
              <a:tr h="0">
                <a:tc>
                  <a:txBody>
                    <a:bodyPr/>
                    <a:lstStyle/>
                    <a:p>
                      <a:pPr marL="0" lvl="0" indent="0" algn="l">
                        <a:buNone/>
                      </a:pPr>
                      <a:r>
                        <a:t>^dhs_w_primary_edu$</a:t>
                      </a:r>
                    </a:p>
                  </a:txBody>
                  <a:tcPr/>
                </a:tc>
                <a:tc>
                  <a:txBody>
                    <a:bodyPr/>
                    <a:lstStyle/>
                    <a:p>
                      <a:pPr marL="0" lvl="0" indent="0" algn="l">
                        <a:buNone/>
                      </a:pPr>
                      <a:r>
                        <a:t>redundant</a:t>
                      </a:r>
                    </a:p>
                  </a:txBody>
                  <a:tcPr/>
                </a:tc>
                <a:tc>
                  <a:txBody>
                    <a:bodyPr/>
                    <a:lstStyle/>
                    <a:p>
                      <a:pPr marL="0" lvl="0" indent="0" algn="l">
                        <a:buNone/>
                      </a:pPr>
                      <a:r>
                        <a:t>Redundant (RV-01): r = -1.000 with dhs_w_no_education (its complement).</a:t>
                      </a:r>
                    </a:p>
                  </a:txBody>
                  <a:tcPr/>
                </a:tc>
                <a:extLst>
                  <a:ext uri="{0D108BD9-81ED-4DB2-BD59-A6C34878D82A}">
                    <a16:rowId xmlns:a16="http://schemas.microsoft.com/office/drawing/2014/main" val="10014"/>
                  </a:ext>
                </a:extLst>
              </a:tr>
              <a:tr h="0">
                <a:tc>
                  <a:txBody>
                    <a:bodyPr/>
                    <a:lstStyle/>
                    <a:p>
                      <a:pPr marL="0" lvl="0" indent="0" algn="l">
                        <a:buNone/>
                      </a:pPr>
                      <a:r>
                        <a:t>^dhs_w_iron_supplement$</a:t>
                      </a:r>
                    </a:p>
                  </a:txBody>
                  <a:tcPr/>
                </a:tc>
                <a:tc>
                  <a:txBody>
                    <a:bodyPr/>
                    <a:lstStyle/>
                    <a:p>
                      <a:pPr marL="0" lvl="0" indent="0" algn="l">
                        <a:buNone/>
                      </a:pPr>
                      <a:r>
                        <a:t>redundant</a:t>
                      </a:r>
                    </a:p>
                  </a:txBody>
                  <a:tcPr/>
                </a:tc>
                <a:tc>
                  <a:txBody>
                    <a:bodyPr/>
                    <a:lstStyle/>
                    <a:p>
                      <a:pPr marL="0" lvl="0" indent="0" algn="l">
                        <a:buNone/>
                      </a:pPr>
                      <a:r>
                        <a:t>Redundant (RV-01): r = 1.000 with dhs_w_iron_pregnancy.</a:t>
                      </a:r>
                    </a:p>
                  </a:txBody>
                  <a:tcPr/>
                </a:tc>
                <a:extLst>
                  <a:ext uri="{0D108BD9-81ED-4DB2-BD59-A6C34878D82A}">
                    <a16:rowId xmlns:a16="http://schemas.microsoft.com/office/drawing/2014/main" val="10015"/>
                  </a:ext>
                </a:extLst>
              </a:tr>
              <a:tr h="0">
                <a:tc>
                  <a:txBody>
                    <a:bodyPr/>
                    <a:lstStyle/>
                    <a:p>
                      <a:pPr marL="0" lvl="0" indent="0" algn="l">
                        <a:buNone/>
                      </a:pPr>
                      <a:r>
                        <a:t>^dhs_c_vita_rich_food$</a:t>
                      </a:r>
                    </a:p>
                  </a:txBody>
                  <a:tcPr/>
                </a:tc>
                <a:tc>
                  <a:txBody>
                    <a:bodyPr/>
                    <a:lstStyle/>
                    <a:p>
                      <a:pPr marL="0" lvl="0" indent="0" algn="l">
                        <a:buNone/>
                      </a:pPr>
                      <a:r>
                        <a:t>redundant</a:t>
                      </a:r>
                    </a:p>
                  </a:txBody>
                  <a:tcPr/>
                </a:tc>
                <a:tc>
                  <a:txBody>
                    <a:bodyPr/>
                    <a:lstStyle/>
                    <a:p>
                      <a:pPr marL="0" lvl="0" indent="0" algn="l">
                        <a:buNone/>
                      </a:pPr>
                      <a:r>
                        <a:t>Redundant (RV-01): r = 1.000 with dhs_c_fg_vitA_fruitveg.</a:t>
                      </a:r>
                    </a:p>
                  </a:txBody>
                  <a:tcPr/>
                </a:tc>
                <a:extLst>
                  <a:ext uri="{0D108BD9-81ED-4DB2-BD59-A6C34878D82A}">
                    <a16:rowId xmlns:a16="http://schemas.microsoft.com/office/drawing/2014/main" val="10016"/>
                  </a:ext>
                </a:extLst>
              </a:tr>
              <a:tr h="0">
                <a:tc>
                  <a:txBody>
                    <a:bodyPr/>
                    <a:lstStyle/>
                    <a:p>
                      <a:pPr marL="0" lvl="0" indent="0" algn="l">
                        <a:buNone/>
                      </a:pPr>
                      <a:r>
                        <a:t>^espen_(sth|sch)_prev_mid_base$</a:t>
                      </a:r>
                    </a:p>
                  </a:txBody>
                  <a:tcPr/>
                </a:tc>
                <a:tc>
                  <a:txBody>
                    <a:bodyPr/>
                    <a:lstStyle/>
                    <a:p>
                      <a:pPr marL="0" lvl="0" indent="0" algn="l">
                        <a:buNone/>
                      </a:pPr>
                      <a:r>
                        <a:t>redundant</a:t>
                      </a:r>
                    </a:p>
                  </a:txBody>
                  <a:tcPr/>
                </a:tc>
                <a:tc>
                  <a:txBody>
                    <a:bodyPr/>
                    <a:lstStyle/>
                    <a:p>
                      <a:pPr marL="0" lvl="0" indent="0" algn="l">
                        <a:buNone/>
                      </a:pPr>
                      <a:r>
                        <a:t>Redundant (RV-01): the earliest ESPEN year is the year nearest every survey, so _base equals _prev_mid (r &gt;…</a:t>
                      </a:r>
                    </a:p>
                  </a:txBody>
                  <a:tcPr/>
                </a:tc>
                <a:extLst>
                  <a:ext uri="{0D108BD9-81ED-4DB2-BD59-A6C34878D82A}">
                    <a16:rowId xmlns:a16="http://schemas.microsoft.com/office/drawing/2014/main" val="10017"/>
                  </a:ext>
                </a:extLst>
              </a:tr>
              <a:tr h="0">
                <a:tc>
                  <a:txBody>
                    <a:bodyPr/>
                    <a:lstStyle/>
                    <a:p>
                      <a:pPr marL="0" lvl="0" indent="0" algn="l">
                        <a:buNone/>
                      </a:pPr>
                      <a:r>
                        <a:t>^(map_sy_pf_incidence_rate|ihme_malaria_incidence_rate)$</a:t>
                      </a:r>
                    </a:p>
                  </a:txBody>
                  <a:tcPr/>
                </a:tc>
                <a:tc>
                  <a:txBody>
                    <a:bodyPr/>
                    <a:lstStyle/>
                    <a:p>
                      <a:pPr marL="0" lvl="0" indent="0" algn="l">
                        <a:buNone/>
                      </a:pPr>
                      <a:r>
                        <a:t>redundant</a:t>
                      </a:r>
                    </a:p>
                  </a:txBody>
                  <a:tcPr/>
                </a:tc>
                <a:tc>
                  <a:txBody>
                    <a:bodyPr/>
                    <a:lstStyle/>
                    <a:p>
                      <a:pPr marL="0" lvl="0" indent="0" algn="l">
                        <a:buNone/>
                      </a:pPr>
                      <a:r>
                        <a:t>Redundant (RV-01): incidence is a deterministic function of the parasite rate in both products (r 0.998-0.9…</a:t>
                      </a:r>
                    </a:p>
                  </a:txBody>
                  <a:tcPr/>
                </a:tc>
                <a:extLst>
                  <a:ext uri="{0D108BD9-81ED-4DB2-BD59-A6C34878D82A}">
                    <a16:rowId xmlns:a16="http://schemas.microsoft.com/office/drawing/2014/main" val="10018"/>
                  </a:ext>
                </a:extLst>
              </a:tr>
              <a:tr h="0">
                <a:tc>
                  <a:txBody>
                    <a:bodyPr/>
                    <a:lstStyle/>
                    <a:p>
                      <a:pPr marL="0" lvl="0" indent="0" algn="l">
                        <a:buNone/>
                      </a:pPr>
                      <a:r>
                        <a:t>^wpop_log_density$</a:t>
                      </a:r>
                    </a:p>
                  </a:txBody>
                  <a:tcPr/>
                </a:tc>
                <a:tc>
                  <a:txBody>
                    <a:bodyPr/>
                    <a:lstStyle/>
                    <a:p>
                      <a:pPr marL="0" lvl="0" indent="0" algn="l">
                        <a:buNone/>
                      </a:pPr>
                      <a:r>
                        <a:t>superseded</a:t>
                      </a:r>
                    </a:p>
                  </a:txBody>
                  <a:tcPr/>
                </a:tc>
                <a:tc>
                  <a:txBody>
                    <a:bodyPr/>
                    <a:lstStyle/>
                    <a:p>
                      <a:pPr marL="0" lvl="0" indent="0" algn="l">
                        <a:buNone/>
                      </a:pPr>
                      <a:r>
                        <a:t>Superseded (RV-01): 2020-vintage WorldPop density; r = 0.999 with wpop_log_density_survey_year, which is at…</a:t>
                      </a:r>
                    </a:p>
                  </a:txBody>
                  <a:tcPr/>
                </a:tc>
                <a:extLst>
                  <a:ext uri="{0D108BD9-81ED-4DB2-BD59-A6C34878D82A}">
                    <a16:rowId xmlns:a16="http://schemas.microsoft.com/office/drawing/2014/main" val="10019"/>
                  </a:ext>
                </a:extLst>
              </a:tr>
              <a:tr h="0">
                <a:tc>
                  <a:txBody>
                    <a:bodyPr/>
                    <a:lstStyle/>
                    <a:p>
                      <a:pPr marL="0" lvl="0" indent="0" algn="l">
                        <a:buNone/>
                      </a:pPr>
                      <a:r>
                        <a:t>^wsf$</a:t>
                      </a:r>
                    </a:p>
                  </a:txBody>
                  <a:tcPr/>
                </a:tc>
                <a:tc>
                  <a:txBody>
                    <a:bodyPr/>
                    <a:lstStyle/>
                    <a:p>
                      <a:pPr marL="0" lvl="0" indent="0" algn="l">
                        <a:buNone/>
                      </a:pPr>
                      <a:r>
                        <a:t>redundant</a:t>
                      </a:r>
                    </a:p>
                  </a:txBody>
                  <a:tcPr/>
                </a:tc>
                <a:tc>
                  <a:txBody>
                    <a:bodyPr/>
                    <a:lstStyle/>
                    <a:p>
                      <a:pPr marL="0" lvl="0" indent="0" algn="l">
                        <a:buNone/>
                      </a:pPr>
                      <a:r>
                        <a:t>Redundant (RV-01): World Settlement Footprint 2015 has r = 0.992 with lcover_urban_frac_t0, which is at the…</a:t>
                      </a:r>
                    </a:p>
                  </a:txBody>
                  <a:tcPr/>
                </a:tc>
                <a:extLst>
                  <a:ext uri="{0D108BD9-81ED-4DB2-BD59-A6C34878D82A}">
                    <a16:rowId xmlns:a16="http://schemas.microsoft.com/office/drawing/2014/main" val="10020"/>
                  </a:ext>
                </a:extLst>
              </a:tr>
              <a:tr h="0">
                <a:tc>
                  <a:txBody>
                    <a:bodyPr/>
                    <a:lstStyle/>
                    <a:p>
                      <a:pPr marL="0" lvl="0" indent="0" algn="l">
                        <a:buNone/>
                      </a:pPr>
                      <a:r>
                        <a:t>^mics_heat_vhib_sy$</a:t>
                      </a:r>
                    </a:p>
                  </a:txBody>
                  <a:tcPr/>
                </a:tc>
                <a:tc>
                  <a:txBody>
                    <a:bodyPr/>
                    <a:lstStyle/>
                    <a:p>
                      <a:pPr marL="0" lvl="0" indent="0" algn="l">
                        <a:buNone/>
                      </a:pPr>
                      <a:r>
                        <a:t>redundant</a:t>
                      </a:r>
                    </a:p>
                  </a:txBody>
                  <a:tcPr/>
                </a:tc>
                <a:tc>
                  <a:txBody>
                    <a:bodyPr/>
                    <a:lstStyle/>
                    <a:p>
                      <a:pPr marL="0" lvl="0" indent="0" algn="l">
                        <a:buNone/>
                      </a:pPr>
                      <a:r>
                        <a:t>Redundant (RV-01): Hib is given as the pentavalent vaccine, r = 0.990 with mics_heat_vdpt_sy.</a:t>
                      </a:r>
                    </a:p>
                  </a:txBody>
                  <a:tcPr/>
                </a:tc>
                <a:extLst>
                  <a:ext uri="{0D108BD9-81ED-4DB2-BD59-A6C34878D82A}">
                    <a16:rowId xmlns:a16="http://schemas.microsoft.com/office/drawing/2014/main" val="10021"/>
                  </a:ext>
                </a:extLst>
              </a:tr>
              <a:tr h="0">
                <a:tc>
                  <a:txBody>
                    <a:bodyPr/>
                    <a:lstStyle/>
                    <a:p>
                      <a:pPr marL="0" lvl="0" indent="0" algn="l">
                        <a:buNone/>
                      </a:pPr>
                      <a:r>
                        <a:t>^rtfp_dist_market_km$</a:t>
                      </a:r>
                    </a:p>
                  </a:txBody>
                  <a:tcPr/>
                </a:tc>
                <a:tc>
                  <a:txBody>
                    <a:bodyPr/>
                    <a:lstStyle/>
                    <a:p>
                      <a:pPr marL="0" lvl="0" indent="0" algn="l">
                        <a:buNone/>
                      </a:pPr>
                      <a:r>
                        <a:t>redundant</a:t>
                      </a:r>
                    </a:p>
                  </a:txBody>
                  <a:tcPr/>
                </a:tc>
                <a:tc>
                  <a:txBody>
                    <a:bodyPr/>
                    <a:lstStyle/>
                    <a:p>
                      <a:pPr marL="0" lvl="0" indent="0" algn="l">
                        <a:buNone/>
                      </a:pPr>
                      <a:r>
                        <a:t>Redundant (RV-01): r = 0.984 with fprice_dist_nearest_market_km (the same WFP markets), which covers all fo…</a:t>
                      </a:r>
                    </a:p>
                  </a:txBody>
                  <a:tcPr/>
                </a:tc>
                <a:extLst>
                  <a:ext uri="{0D108BD9-81ED-4DB2-BD59-A6C34878D82A}">
                    <a16:rowId xmlns:a16="http://schemas.microsoft.com/office/drawing/2014/main" val="1002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Predictor set by domain and tier</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4254500">
                  <a:extLst>
                    <a:ext uri="{9D8B030D-6E8A-4147-A177-3AD203B41FA5}">
                      <a16:colId xmlns:a16="http://schemas.microsoft.com/office/drawing/2014/main" val="20000"/>
                    </a:ext>
                  </a:extLst>
                </a:gridCol>
                <a:gridCol w="698500">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1473200">
                  <a:extLst>
                    <a:ext uri="{9D8B030D-6E8A-4147-A177-3AD203B41FA5}">
                      <a16:colId xmlns:a16="http://schemas.microsoft.com/office/drawing/2014/main" val="20003"/>
                    </a:ext>
                  </a:extLst>
                </a:gridCol>
                <a:gridCol w="342900">
                  <a:extLst>
                    <a:ext uri="{9D8B030D-6E8A-4147-A177-3AD203B41FA5}">
                      <a16:colId xmlns:a16="http://schemas.microsoft.com/office/drawing/2014/main" val="20004"/>
                    </a:ext>
                  </a:extLst>
                </a:gridCol>
                <a:gridCol w="1739900">
                  <a:extLst>
                    <a:ext uri="{9D8B030D-6E8A-4147-A177-3AD203B41FA5}">
                      <a16:colId xmlns:a16="http://schemas.microsoft.com/office/drawing/2014/main" val="20005"/>
                    </a:ext>
                  </a:extLst>
                </a:gridCol>
                <a:gridCol w="1562100">
                  <a:extLst>
                    <a:ext uri="{9D8B030D-6E8A-4147-A177-3AD203B41FA5}">
                      <a16:colId xmlns:a16="http://schemas.microsoft.com/office/drawing/2014/main" val="20006"/>
                    </a:ext>
                  </a:extLst>
                </a:gridCol>
              </a:tblGrid>
              <a:tr h="0">
                <a:tc>
                  <a:txBody>
                    <a:bodyPr/>
                    <a:lstStyle/>
                    <a:p>
                      <a:pPr marL="0" lvl="0" indent="0" algn="l">
                        <a:buNone/>
                      </a:pPr>
                      <a:r>
                        <a:t>Domain</a:t>
                      </a:r>
                    </a:p>
                  </a:txBody>
                  <a:tcPr/>
                </a:tc>
                <a:tc>
                  <a:txBody>
                    <a:bodyPr/>
                    <a:lstStyle/>
                    <a:p>
                      <a:pPr marL="0" lvl="0" indent="0" algn="r">
                        <a:buNone/>
                      </a:pPr>
                      <a:r>
                        <a:t>Columns</a:t>
                      </a:r>
                    </a:p>
                  </a:txBody>
                  <a:tcPr/>
                </a:tc>
                <a:tc>
                  <a:txBody>
                    <a:bodyPr/>
                    <a:lstStyle/>
                    <a:p>
                      <a:pPr marL="0" lvl="0" indent="0" algn="r">
                        <a:buNone/>
                      </a:pPr>
                      <a:r>
                        <a:t>Open</a:t>
                      </a:r>
                    </a:p>
                  </a:txBody>
                  <a:tcPr/>
                </a:tc>
                <a:tc>
                  <a:txBody>
                    <a:bodyPr/>
                    <a:lstStyle/>
                    <a:p>
                      <a:pPr marL="0" lvl="0" indent="0" algn="r">
                        <a:buNone/>
                      </a:pPr>
                      <a:r>
                        <a:t>Public microdata</a:t>
                      </a:r>
                    </a:p>
                  </a:txBody>
                  <a:tcPr/>
                </a:tc>
                <a:tc>
                  <a:txBody>
                    <a:bodyPr/>
                    <a:lstStyle/>
                    <a:p>
                      <a:pPr marL="0" lvl="0" indent="0" algn="r">
                        <a:buNone/>
                      </a:pPr>
                      <a:r>
                        <a:t>DHS</a:t>
                      </a:r>
                    </a:p>
                  </a:txBody>
                  <a:tcPr/>
                </a:tc>
                <a:tc>
                  <a:txBody>
                    <a:bodyPr/>
                    <a:lstStyle/>
                    <a:p>
                      <a:pPr marL="0" lvl="0" indent="0" algn="r">
                        <a:buNone/>
                      </a:pPr>
                      <a:r>
                        <a:t>Vary within country</a:t>
                      </a:r>
                    </a:p>
                  </a:txBody>
                  <a:tcPr/>
                </a:tc>
                <a:tc>
                  <a:txBody>
                    <a:bodyPr/>
                    <a:lstStyle/>
                    <a:p>
                      <a:pPr marL="0" lvl="0" indent="0" algn="r">
                        <a:buNone/>
                      </a:pPr>
                      <a:r>
                        <a:t>Modelled surfaces</a:t>
                      </a:r>
                    </a:p>
                  </a:txBody>
                  <a:tcPr/>
                </a:tc>
                <a:extLst>
                  <a:ext uri="{0D108BD9-81ED-4DB2-BD59-A6C34878D82A}">
                    <a16:rowId xmlns:a16="http://schemas.microsoft.com/office/drawing/2014/main" val="10000"/>
                  </a:ext>
                </a:extLst>
              </a:tr>
              <a:tr h="0">
                <a:tc>
                  <a:txBody>
                    <a:bodyPr/>
                    <a:lstStyle/>
                    <a:p>
                      <a:pPr marL="0" lvl="0" indent="0" algn="l">
                        <a:buNone/>
                      </a:pPr>
                      <a:r>
                        <a:t>Satellite embedding</a:t>
                      </a:r>
                    </a:p>
                  </a:txBody>
                  <a:tcPr/>
                </a:tc>
                <a:tc>
                  <a:txBody>
                    <a:bodyPr/>
                    <a:lstStyle/>
                    <a:p>
                      <a:pPr marL="0" lvl="0" indent="0" algn="r">
                        <a:buNone/>
                      </a:pPr>
                      <a:r>
                        <a:t>64</a:t>
                      </a:r>
                    </a:p>
                  </a:txBody>
                  <a:tcPr/>
                </a:tc>
                <a:tc>
                  <a:txBody>
                    <a:bodyPr/>
                    <a:lstStyle/>
                    <a:p>
                      <a:pPr marL="0" lvl="0" indent="0" algn="r">
                        <a:buNone/>
                      </a:pPr>
                      <a:r>
                        <a:t>64</a:t>
                      </a:r>
                    </a:p>
                  </a:txBody>
                  <a:tcPr/>
                </a:tc>
                <a:tc>
                  <a:txBody>
                    <a:bodyPr/>
                    <a:lstStyle/>
                    <a:p>
                      <a:pPr marL="0" lvl="0" indent="0" algn="r">
                        <a:buNone/>
                      </a:pPr>
                      <a:r>
                        <a:t>0</a:t>
                      </a:r>
                    </a:p>
                  </a:txBody>
                  <a:tcPr/>
                </a:tc>
                <a:tc>
                  <a:txBody>
                    <a:bodyPr/>
                    <a:lstStyle/>
                    <a:p>
                      <a:pPr marL="0" lvl="0" indent="0" algn="r">
                        <a:buNone/>
                      </a:pPr>
                      <a:r>
                        <a:t>0</a:t>
                      </a:r>
                    </a:p>
                  </a:txBody>
                  <a:tcPr/>
                </a:tc>
                <a:tc>
                  <a:txBody>
                    <a:bodyPr/>
                    <a:lstStyle/>
                    <a:p>
                      <a:pPr marL="0" lvl="0" indent="0" algn="r">
                        <a:buNone/>
                      </a:pPr>
                      <a:r>
                        <a:t>64</a:t>
                      </a:r>
                    </a:p>
                  </a:txBody>
                  <a:tcPr/>
                </a:tc>
                <a:tc>
                  <a:txBody>
                    <a:bodyPr/>
                    <a:lstStyle/>
                    <a:p>
                      <a:pPr marL="0" lvl="0" indent="0" algn="r">
                        <a:buNone/>
                      </a:pPr>
                      <a:r>
                        <a:t>0</a:t>
                      </a:r>
                    </a:p>
                  </a:txBody>
                  <a:tcPr/>
                </a:tc>
                <a:extLst>
                  <a:ext uri="{0D108BD9-81ED-4DB2-BD59-A6C34878D82A}">
                    <a16:rowId xmlns:a16="http://schemas.microsoft.com/office/drawing/2014/main" val="10001"/>
                  </a:ext>
                </a:extLst>
              </a:tr>
              <a:tr h="0">
                <a:tc>
                  <a:txBody>
                    <a:bodyPr/>
                    <a:lstStyle/>
                    <a:p>
                      <a:pPr marL="0" lvl="0" indent="0" algn="l">
                        <a:buNone/>
                      </a:pPr>
                      <a:r>
                        <a:t>Climate and weather</a:t>
                      </a:r>
                    </a:p>
                  </a:txBody>
                  <a:tcPr/>
                </a:tc>
                <a:tc>
                  <a:txBody>
                    <a:bodyPr/>
                    <a:lstStyle/>
                    <a:p>
                      <a:pPr marL="0" lvl="0" indent="0" algn="r">
                        <a:buNone/>
                      </a:pPr>
                      <a:r>
                        <a:t>60</a:t>
                      </a:r>
                    </a:p>
                  </a:txBody>
                  <a:tcPr/>
                </a:tc>
                <a:tc>
                  <a:txBody>
                    <a:bodyPr/>
                    <a:lstStyle/>
                    <a:p>
                      <a:pPr marL="0" lvl="0" indent="0" algn="r">
                        <a:buNone/>
                      </a:pPr>
                      <a:r>
                        <a:t>60</a:t>
                      </a:r>
                    </a:p>
                  </a:txBody>
                  <a:tcPr/>
                </a:tc>
                <a:tc>
                  <a:txBody>
                    <a:bodyPr/>
                    <a:lstStyle/>
                    <a:p>
                      <a:pPr marL="0" lvl="0" indent="0" algn="r">
                        <a:buNone/>
                      </a:pPr>
                      <a:r>
                        <a:t>0</a:t>
                      </a:r>
                    </a:p>
                  </a:txBody>
                  <a:tcPr/>
                </a:tc>
                <a:tc>
                  <a:txBody>
                    <a:bodyPr/>
                    <a:lstStyle/>
                    <a:p>
                      <a:pPr marL="0" lvl="0" indent="0" algn="r">
                        <a:buNone/>
                      </a:pPr>
                      <a:r>
                        <a:t>0</a:t>
                      </a:r>
                    </a:p>
                  </a:txBody>
                  <a:tcPr/>
                </a:tc>
                <a:tc>
                  <a:txBody>
                    <a:bodyPr/>
                    <a:lstStyle/>
                    <a:p>
                      <a:pPr marL="0" lvl="0" indent="0" algn="r">
                        <a:buNone/>
                      </a:pPr>
                      <a:r>
                        <a:t>60</a:t>
                      </a:r>
                    </a:p>
                  </a:txBody>
                  <a:tcPr/>
                </a:tc>
                <a:tc>
                  <a:txBody>
                    <a:bodyPr/>
                    <a:lstStyle/>
                    <a:p>
                      <a:pPr marL="0" lvl="0" indent="0" algn="r">
                        <a:buNone/>
                      </a:pPr>
                      <a:r>
                        <a:t>0</a:t>
                      </a:r>
                    </a:p>
                  </a:txBody>
                  <a:tcPr/>
                </a:tc>
                <a:extLst>
                  <a:ext uri="{0D108BD9-81ED-4DB2-BD59-A6C34878D82A}">
                    <a16:rowId xmlns:a16="http://schemas.microsoft.com/office/drawing/2014/main" val="10002"/>
                  </a:ext>
                </a:extLst>
              </a:tr>
              <a:tr h="0">
                <a:tc>
                  <a:txBody>
                    <a:bodyPr/>
                    <a:lstStyle/>
                    <a:p>
                      <a:pPr marL="0" lvl="0" indent="0" algn="l">
                        <a:buNone/>
                      </a:pPr>
                      <a:r>
                        <a:t>Soil characteristics</a:t>
                      </a:r>
                    </a:p>
                  </a:txBody>
                  <a:tcPr/>
                </a:tc>
                <a:tc>
                  <a:txBody>
                    <a:bodyPr/>
                    <a:lstStyle/>
                    <a:p>
                      <a:pPr marL="0" lvl="0" indent="0" algn="r">
                        <a:buNone/>
                      </a:pPr>
                      <a:r>
                        <a:t>45</a:t>
                      </a:r>
                    </a:p>
                  </a:txBody>
                  <a:tcPr/>
                </a:tc>
                <a:tc>
                  <a:txBody>
                    <a:bodyPr/>
                    <a:lstStyle/>
                    <a:p>
                      <a:pPr marL="0" lvl="0" indent="0" algn="r">
                        <a:buNone/>
                      </a:pPr>
                      <a:r>
                        <a:t>45</a:t>
                      </a:r>
                    </a:p>
                  </a:txBody>
                  <a:tcPr/>
                </a:tc>
                <a:tc>
                  <a:txBody>
                    <a:bodyPr/>
                    <a:lstStyle/>
                    <a:p>
                      <a:pPr marL="0" lvl="0" indent="0" algn="r">
                        <a:buNone/>
                      </a:pPr>
                      <a:r>
                        <a:t>0</a:t>
                      </a:r>
                    </a:p>
                  </a:txBody>
                  <a:tcPr/>
                </a:tc>
                <a:tc>
                  <a:txBody>
                    <a:bodyPr/>
                    <a:lstStyle/>
                    <a:p>
                      <a:pPr marL="0" lvl="0" indent="0" algn="r">
                        <a:buNone/>
                      </a:pPr>
                      <a:r>
                        <a:t>0</a:t>
                      </a:r>
                    </a:p>
                  </a:txBody>
                  <a:tcPr/>
                </a:tc>
                <a:tc>
                  <a:txBody>
                    <a:bodyPr/>
                    <a:lstStyle/>
                    <a:p>
                      <a:pPr marL="0" lvl="0" indent="0" algn="r">
                        <a:buNone/>
                      </a:pPr>
                      <a:r>
                        <a:t>45</a:t>
                      </a:r>
                    </a:p>
                  </a:txBody>
                  <a:tcPr/>
                </a:tc>
                <a:tc>
                  <a:txBody>
                    <a:bodyPr/>
                    <a:lstStyle/>
                    <a:p>
                      <a:pPr marL="0" lvl="0" indent="0" algn="r">
                        <a:buNone/>
                      </a:pPr>
                      <a:r>
                        <a:t>0</a:t>
                      </a:r>
                    </a:p>
                  </a:txBody>
                  <a:tcPr/>
                </a:tc>
                <a:extLst>
                  <a:ext uri="{0D108BD9-81ED-4DB2-BD59-A6C34878D82A}">
                    <a16:rowId xmlns:a16="http://schemas.microsoft.com/office/drawing/2014/main" val="10003"/>
                  </a:ext>
                </a:extLst>
              </a:tr>
              <a:tr h="0">
                <a:tc>
                  <a:txBody>
                    <a:bodyPr/>
                    <a:lstStyle/>
                    <a:p>
                      <a:pPr marL="0" lvl="0" indent="0" algn="l">
                        <a:buNone/>
                      </a:pPr>
                      <a:r>
                        <a:t>Infection and inflammation burden</a:t>
                      </a:r>
                    </a:p>
                  </a:txBody>
                  <a:tcPr/>
                </a:tc>
                <a:tc>
                  <a:txBody>
                    <a:bodyPr/>
                    <a:lstStyle/>
                    <a:p>
                      <a:pPr marL="0" lvl="0" indent="0" algn="r">
                        <a:buNone/>
                      </a:pPr>
                      <a:r>
                        <a:t>42</a:t>
                      </a:r>
                    </a:p>
                  </a:txBody>
                  <a:tcPr/>
                </a:tc>
                <a:tc>
                  <a:txBody>
                    <a:bodyPr/>
                    <a:lstStyle/>
                    <a:p>
                      <a:pPr marL="0" lvl="0" indent="0" algn="r">
                        <a:buNone/>
                      </a:pPr>
                      <a:r>
                        <a:t>30</a:t>
                      </a:r>
                    </a:p>
                  </a:txBody>
                  <a:tcPr/>
                </a:tc>
                <a:tc>
                  <a:txBody>
                    <a:bodyPr/>
                    <a:lstStyle/>
                    <a:p>
                      <a:pPr marL="0" lvl="0" indent="0" algn="r">
                        <a:buNone/>
                      </a:pPr>
                      <a:r>
                        <a:t>4</a:t>
                      </a:r>
                    </a:p>
                  </a:txBody>
                  <a:tcPr/>
                </a:tc>
                <a:tc>
                  <a:txBody>
                    <a:bodyPr/>
                    <a:lstStyle/>
                    <a:p>
                      <a:pPr marL="0" lvl="0" indent="0" algn="r">
                        <a:buNone/>
                      </a:pPr>
                      <a:r>
                        <a:t>8</a:t>
                      </a:r>
                    </a:p>
                  </a:txBody>
                  <a:tcPr/>
                </a:tc>
                <a:tc>
                  <a:txBody>
                    <a:bodyPr/>
                    <a:lstStyle/>
                    <a:p>
                      <a:pPr marL="0" lvl="0" indent="0" algn="r">
                        <a:buNone/>
                      </a:pPr>
                      <a:r>
                        <a:t>39</a:t>
                      </a:r>
                    </a:p>
                  </a:txBody>
                  <a:tcPr/>
                </a:tc>
                <a:tc>
                  <a:txBody>
                    <a:bodyPr/>
                    <a:lstStyle/>
                    <a:p>
                      <a:pPr marL="0" lvl="0" indent="0" algn="r">
                        <a:buNone/>
                      </a:pPr>
                      <a:r>
                        <a:t>10</a:t>
                      </a:r>
                    </a:p>
                  </a:txBody>
                  <a:tcPr/>
                </a:tc>
                <a:extLst>
                  <a:ext uri="{0D108BD9-81ED-4DB2-BD59-A6C34878D82A}">
                    <a16:rowId xmlns:a16="http://schemas.microsoft.com/office/drawing/2014/main" val="10004"/>
                  </a:ext>
                </a:extLst>
              </a:tr>
              <a:tr h="0">
                <a:tc>
                  <a:txBody>
                    <a:bodyPr/>
                    <a:lstStyle/>
                    <a:p>
                      <a:pPr marL="0" lvl="0" indent="0" algn="l">
                        <a:buNone/>
                      </a:pPr>
                      <a:r>
                        <a:t>Food fortification and supplementation</a:t>
                      </a:r>
                    </a:p>
                  </a:txBody>
                  <a:tcPr/>
                </a:tc>
                <a:tc>
                  <a:txBody>
                    <a:bodyPr/>
                    <a:lstStyle/>
                    <a:p>
                      <a:pPr marL="0" lvl="0" indent="0" algn="r">
                        <a:buNone/>
                      </a:pPr>
                      <a:r>
                        <a:t>35</a:t>
                      </a:r>
                    </a:p>
                  </a:txBody>
                  <a:tcPr/>
                </a:tc>
                <a:tc>
                  <a:txBody>
                    <a:bodyPr/>
                    <a:lstStyle/>
                    <a:p>
                      <a:pPr marL="0" lvl="0" indent="0" algn="r">
                        <a:buNone/>
                      </a:pPr>
                      <a:r>
                        <a:t>25</a:t>
                      </a:r>
                    </a:p>
                  </a:txBody>
                  <a:tcPr/>
                </a:tc>
                <a:tc>
                  <a:txBody>
                    <a:bodyPr/>
                    <a:lstStyle/>
                    <a:p>
                      <a:pPr marL="0" lvl="0" indent="0" algn="r">
                        <a:buNone/>
                      </a:pPr>
                      <a:r>
                        <a:t>3</a:t>
                      </a:r>
                    </a:p>
                  </a:txBody>
                  <a:tcPr/>
                </a:tc>
                <a:tc>
                  <a:txBody>
                    <a:bodyPr/>
                    <a:lstStyle/>
                    <a:p>
                      <a:pPr marL="0" lvl="0" indent="0" algn="r">
                        <a:buNone/>
                      </a:pPr>
                      <a:r>
                        <a:t>7</a:t>
                      </a:r>
                    </a:p>
                  </a:txBody>
                  <a:tcPr/>
                </a:tc>
                <a:tc>
                  <a:txBody>
                    <a:bodyPr/>
                    <a:lstStyle/>
                    <a:p>
                      <a:pPr marL="0" lvl="0" indent="0" algn="r">
                        <a:buNone/>
                      </a:pPr>
                      <a:r>
                        <a:t>10</a:t>
                      </a:r>
                    </a:p>
                  </a:txBody>
                  <a:tcPr/>
                </a:tc>
                <a:tc>
                  <a:txBody>
                    <a:bodyPr/>
                    <a:lstStyle/>
                    <a:p>
                      <a:pPr marL="0" lvl="0" indent="0" algn="r">
                        <a:buNone/>
                      </a:pPr>
                      <a:r>
                        <a:t>0</a:t>
                      </a:r>
                    </a:p>
                  </a:txBody>
                  <a:tcPr/>
                </a:tc>
                <a:extLst>
                  <a:ext uri="{0D108BD9-81ED-4DB2-BD59-A6C34878D82A}">
                    <a16:rowId xmlns:a16="http://schemas.microsoft.com/office/drawing/2014/main" val="10005"/>
                  </a:ext>
                </a:extLst>
              </a:tr>
              <a:tr h="0">
                <a:tc>
                  <a:txBody>
                    <a:bodyPr/>
                    <a:lstStyle/>
                    <a:p>
                      <a:pPr marL="0" lvl="0" indent="0" algn="l">
                        <a:buNone/>
                      </a:pPr>
                      <a:r>
                        <a:t>Immunisation</a:t>
                      </a:r>
                    </a:p>
                  </a:txBody>
                  <a:tcPr/>
                </a:tc>
                <a:tc>
                  <a:txBody>
                    <a:bodyPr/>
                    <a:lstStyle/>
                    <a:p>
                      <a:pPr marL="0" lvl="0" indent="0" algn="r">
                        <a:buNone/>
                      </a:pPr>
                      <a:r>
                        <a:t>32</a:t>
                      </a:r>
                    </a:p>
                  </a:txBody>
                  <a:tcPr/>
                </a:tc>
                <a:tc>
                  <a:txBody>
                    <a:bodyPr/>
                    <a:lstStyle/>
                    <a:p>
                      <a:pPr marL="0" lvl="0" indent="0" algn="r">
                        <a:buNone/>
                      </a:pPr>
                      <a:r>
                        <a:t>1</a:t>
                      </a:r>
                    </a:p>
                  </a:txBody>
                  <a:tcPr/>
                </a:tc>
                <a:tc>
                  <a:txBody>
                    <a:bodyPr/>
                    <a:lstStyle/>
                    <a:p>
                      <a:pPr marL="0" lvl="0" indent="0" algn="r">
                        <a:buNone/>
                      </a:pPr>
                      <a:r>
                        <a:t>19</a:t>
                      </a:r>
                    </a:p>
                  </a:txBody>
                  <a:tcPr/>
                </a:tc>
                <a:tc>
                  <a:txBody>
                    <a:bodyPr/>
                    <a:lstStyle/>
                    <a:p>
                      <a:pPr marL="0" lvl="0" indent="0" algn="r">
                        <a:buNone/>
                      </a:pPr>
                      <a:r>
                        <a:t>12</a:t>
                      </a:r>
                    </a:p>
                  </a:txBody>
                  <a:tcPr/>
                </a:tc>
                <a:tc>
                  <a:txBody>
                    <a:bodyPr/>
                    <a:lstStyle/>
                    <a:p>
                      <a:pPr marL="0" lvl="0" indent="0" algn="r">
                        <a:buNone/>
                      </a:pPr>
                      <a:r>
                        <a:t>32</a:t>
                      </a:r>
                    </a:p>
                  </a:txBody>
                  <a:tcPr/>
                </a:tc>
                <a:tc>
                  <a:txBody>
                    <a:bodyPr/>
                    <a:lstStyle/>
                    <a:p>
                      <a:pPr marL="0" lvl="0" indent="0" algn="r">
                        <a:buNone/>
                      </a:pPr>
                      <a:r>
                        <a:t>1</a:t>
                      </a:r>
                    </a:p>
                  </a:txBody>
                  <a:tcPr/>
                </a:tc>
                <a:extLst>
                  <a:ext uri="{0D108BD9-81ED-4DB2-BD59-A6C34878D82A}">
                    <a16:rowId xmlns:a16="http://schemas.microsoft.com/office/drawing/2014/main" val="10006"/>
                  </a:ext>
                </a:extLst>
              </a:tr>
              <a:tr h="0">
                <a:tc>
                  <a:txBody>
                    <a:bodyPr/>
                    <a:lstStyle/>
                    <a:p>
                      <a:pPr marL="0" lvl="0" indent="0" algn="l">
                        <a:buNone/>
                      </a:pPr>
                      <a:r>
                        <a:t>Agricultural production, land use</a:t>
                      </a:r>
                    </a:p>
                  </a:txBody>
                  <a:tcPr/>
                </a:tc>
                <a:tc>
                  <a:txBody>
                    <a:bodyPr/>
                    <a:lstStyle/>
                    <a:p>
                      <a:pPr marL="0" lvl="0" indent="0" algn="r">
                        <a:buNone/>
                      </a:pPr>
                      <a:r>
                        <a:t>29</a:t>
                      </a:r>
                    </a:p>
                  </a:txBody>
                  <a:tcPr/>
                </a:tc>
                <a:tc>
                  <a:txBody>
                    <a:bodyPr/>
                    <a:lstStyle/>
                    <a:p>
                      <a:pPr marL="0" lvl="0" indent="0" algn="r">
                        <a:buNone/>
                      </a:pPr>
                      <a:r>
                        <a:t>12</a:t>
                      </a:r>
                    </a:p>
                  </a:txBody>
                  <a:tcPr/>
                </a:tc>
                <a:tc>
                  <a:txBody>
                    <a:bodyPr/>
                    <a:lstStyle/>
                    <a:p>
                      <a:pPr marL="0" lvl="0" indent="0" algn="r">
                        <a:buNone/>
                      </a:pPr>
                      <a:r>
                        <a:t>0</a:t>
                      </a:r>
                    </a:p>
                  </a:txBody>
                  <a:tcPr/>
                </a:tc>
                <a:tc>
                  <a:txBody>
                    <a:bodyPr/>
                    <a:lstStyle/>
                    <a:p>
                      <a:pPr marL="0" lvl="0" indent="0" algn="r">
                        <a:buNone/>
                      </a:pPr>
                      <a:r>
                        <a:t>17</a:t>
                      </a:r>
                    </a:p>
                  </a:txBody>
                  <a:tcPr/>
                </a:tc>
                <a:tc>
                  <a:txBody>
                    <a:bodyPr/>
                    <a:lstStyle/>
                    <a:p>
                      <a:pPr marL="0" lvl="0" indent="0" algn="r">
                        <a:buNone/>
                      </a:pPr>
                      <a:r>
                        <a:t>29</a:t>
                      </a:r>
                    </a:p>
                  </a:txBody>
                  <a:tcPr/>
                </a:tc>
                <a:tc>
                  <a:txBody>
                    <a:bodyPr/>
                    <a:lstStyle/>
                    <a:p>
                      <a:pPr marL="0" lvl="0" indent="0" algn="r">
                        <a:buNone/>
                      </a:pPr>
                      <a:r>
                        <a:t>0</a:t>
                      </a:r>
                    </a:p>
                  </a:txBody>
                  <a:tcPr/>
                </a:tc>
                <a:extLst>
                  <a:ext uri="{0D108BD9-81ED-4DB2-BD59-A6C34878D82A}">
                    <a16:rowId xmlns:a16="http://schemas.microsoft.com/office/drawing/2014/main" val="10007"/>
                  </a:ext>
                </a:extLst>
              </a:tr>
              <a:tr h="0">
                <a:tc>
                  <a:txBody>
                    <a:bodyPr/>
                    <a:lstStyle/>
                    <a:p>
                      <a:pPr marL="0" lvl="0" indent="0" algn="l">
                        <a:buNone/>
                      </a:pPr>
                      <a:r>
                        <a:t>Education, employment, SES</a:t>
                      </a:r>
                    </a:p>
                  </a:txBody>
                  <a:tcPr/>
                </a:tc>
                <a:tc>
                  <a:txBody>
                    <a:bodyPr/>
                    <a:lstStyle/>
                    <a:p>
                      <a:pPr marL="0" lvl="0" indent="0" algn="r">
                        <a:buNone/>
                      </a:pPr>
                      <a:r>
                        <a:t>26</a:t>
                      </a:r>
                    </a:p>
                  </a:txBody>
                  <a:tcPr/>
                </a:tc>
                <a:tc>
                  <a:txBody>
                    <a:bodyPr/>
                    <a:lstStyle/>
                    <a:p>
                      <a:pPr marL="0" lvl="0" indent="0" algn="r">
                        <a:buNone/>
                      </a:pPr>
                      <a:r>
                        <a:t>9</a:t>
                      </a:r>
                    </a:p>
                  </a:txBody>
                  <a:tcPr/>
                </a:tc>
                <a:tc>
                  <a:txBody>
                    <a:bodyPr/>
                    <a:lstStyle/>
                    <a:p>
                      <a:pPr marL="0" lvl="0" indent="0" algn="r">
                        <a:buNone/>
                      </a:pPr>
                      <a:r>
                        <a:t>4</a:t>
                      </a:r>
                    </a:p>
                  </a:txBody>
                  <a:tcPr/>
                </a:tc>
                <a:tc>
                  <a:txBody>
                    <a:bodyPr/>
                    <a:lstStyle/>
                    <a:p>
                      <a:pPr marL="0" lvl="0" indent="0" algn="r">
                        <a:buNone/>
                      </a:pPr>
                      <a:r>
                        <a:t>13</a:t>
                      </a:r>
                    </a:p>
                  </a:txBody>
                  <a:tcPr/>
                </a:tc>
                <a:tc>
                  <a:txBody>
                    <a:bodyPr/>
                    <a:lstStyle/>
                    <a:p>
                      <a:pPr marL="0" lvl="0" indent="0" algn="r">
                        <a:buNone/>
                      </a:pPr>
                      <a:r>
                        <a:t>26</a:t>
                      </a:r>
                    </a:p>
                  </a:txBody>
                  <a:tcPr/>
                </a:tc>
                <a:tc>
                  <a:txBody>
                    <a:bodyPr/>
                    <a:lstStyle/>
                    <a:p>
                      <a:pPr marL="0" lvl="0" indent="0" algn="r">
                        <a:buNone/>
                      </a:pPr>
                      <a:r>
                        <a:t>4</a:t>
                      </a:r>
                    </a:p>
                  </a:txBody>
                  <a:tcPr/>
                </a:tc>
                <a:extLst>
                  <a:ext uri="{0D108BD9-81ED-4DB2-BD59-A6C34878D82A}">
                    <a16:rowId xmlns:a16="http://schemas.microsoft.com/office/drawing/2014/main" val="10008"/>
                  </a:ext>
                </a:extLst>
              </a:tr>
              <a:tr h="0">
                <a:tc>
                  <a:txBody>
                    <a:bodyPr/>
                    <a:lstStyle/>
                    <a:p>
                      <a:pPr marL="0" lvl="0" indent="0" algn="l">
                        <a:buNone/>
                      </a:pPr>
                      <a:r>
                        <a:t>Infant and young child feeding</a:t>
                      </a:r>
                    </a:p>
                  </a:txBody>
                  <a:tcPr/>
                </a:tc>
                <a:tc>
                  <a:txBody>
                    <a:bodyPr/>
                    <a:lstStyle/>
                    <a:p>
                      <a:pPr marL="0" lvl="0" indent="0" algn="r">
                        <a:buNone/>
                      </a:pPr>
                      <a:r>
                        <a:t>24</a:t>
                      </a:r>
                    </a:p>
                  </a:txBody>
                  <a:tcPr/>
                </a:tc>
                <a:tc>
                  <a:txBody>
                    <a:bodyPr/>
                    <a:lstStyle/>
                    <a:p>
                      <a:pPr marL="0" lvl="0" indent="0" algn="r">
                        <a:buNone/>
                      </a:pPr>
                      <a:r>
                        <a:t>1</a:t>
                      </a:r>
                    </a:p>
                  </a:txBody>
                  <a:tcPr/>
                </a:tc>
                <a:tc>
                  <a:txBody>
                    <a:bodyPr/>
                    <a:lstStyle/>
                    <a:p>
                      <a:pPr marL="0" lvl="0" indent="0" algn="r">
                        <a:buNone/>
                      </a:pPr>
                      <a:r>
                        <a:t>7</a:t>
                      </a:r>
                    </a:p>
                  </a:txBody>
                  <a:tcPr/>
                </a:tc>
                <a:tc>
                  <a:txBody>
                    <a:bodyPr/>
                    <a:lstStyle/>
                    <a:p>
                      <a:pPr marL="0" lvl="0" indent="0" algn="r">
                        <a:buNone/>
                      </a:pPr>
                      <a:r>
                        <a:t>16</a:t>
                      </a:r>
                    </a:p>
                  </a:txBody>
                  <a:tcPr/>
                </a:tc>
                <a:tc>
                  <a:txBody>
                    <a:bodyPr/>
                    <a:lstStyle/>
                    <a:p>
                      <a:pPr marL="0" lvl="0" indent="0" algn="r">
                        <a:buNone/>
                      </a:pPr>
                      <a:r>
                        <a:t>24</a:t>
                      </a:r>
                    </a:p>
                  </a:txBody>
                  <a:tcPr/>
                </a:tc>
                <a:tc>
                  <a:txBody>
                    <a:bodyPr/>
                    <a:lstStyle/>
                    <a:p>
                      <a:pPr marL="0" lvl="0" indent="0" algn="r">
                        <a:buNone/>
                      </a:pPr>
                      <a:r>
                        <a:t>1</a:t>
                      </a:r>
                    </a:p>
                  </a:txBody>
                  <a:tcPr/>
                </a:tc>
                <a:extLst>
                  <a:ext uri="{0D108BD9-81ED-4DB2-BD59-A6C34878D82A}">
                    <a16:rowId xmlns:a16="http://schemas.microsoft.com/office/drawing/2014/main" val="10009"/>
                  </a:ext>
                </a:extLst>
              </a:tr>
              <a:tr h="0">
                <a:tc>
                  <a:txBody>
                    <a:bodyPr/>
                    <a:lstStyle/>
                    <a:p>
                      <a:pPr marL="0" lvl="0" indent="0" algn="l">
                        <a:buNone/>
                      </a:pPr>
                      <a:r>
                        <a:t>Water and sanitation</a:t>
                      </a:r>
                    </a:p>
                  </a:txBody>
                  <a:tcPr/>
                </a:tc>
                <a:tc>
                  <a:txBody>
                    <a:bodyPr/>
                    <a:lstStyle/>
                    <a:p>
                      <a:pPr marL="0" lvl="0" indent="0" algn="r">
                        <a:buNone/>
                      </a:pPr>
                      <a:r>
                        <a:t>24</a:t>
                      </a:r>
                    </a:p>
                  </a:txBody>
                  <a:tcPr/>
                </a:tc>
                <a:tc>
                  <a:txBody>
                    <a:bodyPr/>
                    <a:lstStyle/>
                    <a:p>
                      <a:pPr marL="0" lvl="0" indent="0" algn="r">
                        <a:buNone/>
                      </a:pPr>
                      <a:r>
                        <a:t>10</a:t>
                      </a:r>
                    </a:p>
                  </a:txBody>
                  <a:tcPr/>
                </a:tc>
                <a:tc>
                  <a:txBody>
                    <a:bodyPr/>
                    <a:lstStyle/>
                    <a:p>
                      <a:pPr marL="0" lvl="0" indent="0" algn="r">
                        <a:buNone/>
                      </a:pPr>
                      <a:r>
                        <a:t>5</a:t>
                      </a:r>
                    </a:p>
                  </a:txBody>
                  <a:tcPr/>
                </a:tc>
                <a:tc>
                  <a:txBody>
                    <a:bodyPr/>
                    <a:lstStyle/>
                    <a:p>
                      <a:pPr marL="0" lvl="0" indent="0" algn="r">
                        <a:buNone/>
                      </a:pPr>
                      <a:r>
                        <a:t>9</a:t>
                      </a:r>
                    </a:p>
                  </a:txBody>
                  <a:tcPr/>
                </a:tc>
                <a:tc>
                  <a:txBody>
                    <a:bodyPr/>
                    <a:lstStyle/>
                    <a:p>
                      <a:pPr marL="0" lvl="0" indent="0" algn="r">
                        <a:buNone/>
                      </a:pPr>
                      <a:r>
                        <a:t>24</a:t>
                      </a:r>
                    </a:p>
                  </a:txBody>
                  <a:tcPr/>
                </a:tc>
                <a:tc>
                  <a:txBody>
                    <a:bodyPr/>
                    <a:lstStyle/>
                    <a:p>
                      <a:pPr marL="0" lvl="0" indent="0" algn="r">
                        <a:buNone/>
                      </a:pPr>
                      <a:r>
                        <a:t>10</a:t>
                      </a:r>
                    </a:p>
                  </a:txBody>
                  <a:tcPr/>
                </a:tc>
                <a:extLst>
                  <a:ext uri="{0D108BD9-81ED-4DB2-BD59-A6C34878D82A}">
                    <a16:rowId xmlns:a16="http://schemas.microsoft.com/office/drawing/2014/main" val="10010"/>
                  </a:ext>
                </a:extLst>
              </a:tr>
              <a:tr h="0">
                <a:tc>
                  <a:txBody>
                    <a:bodyPr/>
                    <a:lstStyle/>
                    <a:p>
                      <a:pPr marL="0" lvl="0" indent="0" algn="l">
                        <a:buNone/>
                      </a:pPr>
                      <a:r>
                        <a:t>Food prices and supply</a:t>
                      </a:r>
                    </a:p>
                  </a:txBody>
                  <a:tcPr/>
                </a:tc>
                <a:tc>
                  <a:txBody>
                    <a:bodyPr/>
                    <a:lstStyle/>
                    <a:p>
                      <a:pPr marL="0" lvl="0" indent="0" algn="r">
                        <a:buNone/>
                      </a:pPr>
                      <a:r>
                        <a:t>21</a:t>
                      </a:r>
                    </a:p>
                  </a:txBody>
                  <a:tcPr/>
                </a:tc>
                <a:tc>
                  <a:txBody>
                    <a:bodyPr/>
                    <a:lstStyle/>
                    <a:p>
                      <a:pPr marL="0" lvl="0" indent="0" algn="r">
                        <a:buNone/>
                      </a:pPr>
                      <a:r>
                        <a:t>21</a:t>
                      </a:r>
                    </a:p>
                  </a:txBody>
                  <a:tcPr/>
                </a:tc>
                <a:tc>
                  <a:txBody>
                    <a:bodyPr/>
                    <a:lstStyle/>
                    <a:p>
                      <a:pPr marL="0" lvl="0" indent="0" algn="r">
                        <a:buNone/>
                      </a:pPr>
                      <a:r>
                        <a:t>0</a:t>
                      </a:r>
                    </a:p>
                  </a:txBody>
                  <a:tcPr/>
                </a:tc>
                <a:tc>
                  <a:txBody>
                    <a:bodyPr/>
                    <a:lstStyle/>
                    <a:p>
                      <a:pPr marL="0" lvl="0" indent="0" algn="r">
                        <a:buNone/>
                      </a:pPr>
                      <a:r>
                        <a:t>0</a:t>
                      </a:r>
                    </a:p>
                  </a:txBody>
                  <a:tcPr/>
                </a:tc>
                <a:tc>
                  <a:txBody>
                    <a:bodyPr/>
                    <a:lstStyle/>
                    <a:p>
                      <a:pPr marL="0" lvl="0" indent="0" algn="r">
                        <a:buNone/>
                      </a:pPr>
                      <a:r>
                        <a:t>12</a:t>
                      </a:r>
                    </a:p>
                  </a:txBody>
                  <a:tcPr/>
                </a:tc>
                <a:tc>
                  <a:txBody>
                    <a:bodyPr/>
                    <a:lstStyle/>
                    <a:p>
                      <a:pPr marL="0" lvl="0" indent="0" algn="r">
                        <a:buNone/>
                      </a:pPr>
                      <a:r>
                        <a:t>0</a:t>
                      </a:r>
                    </a:p>
                  </a:txBody>
                  <a:tcPr/>
                </a:tc>
                <a:extLst>
                  <a:ext uri="{0D108BD9-81ED-4DB2-BD59-A6C34878D82A}">
                    <a16:rowId xmlns:a16="http://schemas.microsoft.com/office/drawing/2014/main" val="10011"/>
                  </a:ext>
                </a:extLst>
              </a:tr>
              <a:tr h="0">
                <a:tc>
                  <a:txBody>
                    <a:bodyPr/>
                    <a:lstStyle/>
                    <a:p>
                      <a:pPr marL="0" lvl="0" indent="0" algn="l">
                        <a:buNone/>
                      </a:pPr>
                      <a:r>
                        <a:t>Child anthropometry</a:t>
                      </a:r>
                    </a:p>
                  </a:txBody>
                  <a:tcPr/>
                </a:tc>
                <a:tc>
                  <a:txBody>
                    <a:bodyPr/>
                    <a:lstStyle/>
                    <a:p>
                      <a:pPr marL="0" lvl="0" indent="0" algn="r">
                        <a:buNone/>
                      </a:pPr>
                      <a:r>
                        <a:t>20</a:t>
                      </a:r>
                    </a:p>
                  </a:txBody>
                  <a:tcPr/>
                </a:tc>
                <a:tc>
                  <a:txBody>
                    <a:bodyPr/>
                    <a:lstStyle/>
                    <a:p>
                      <a:pPr marL="0" lvl="0" indent="0" algn="r">
                        <a:buNone/>
                      </a:pPr>
                      <a:r>
                        <a:t>4</a:t>
                      </a:r>
                    </a:p>
                  </a:txBody>
                  <a:tcPr/>
                </a:tc>
                <a:tc>
                  <a:txBody>
                    <a:bodyPr/>
                    <a:lstStyle/>
                    <a:p>
                      <a:pPr marL="0" lvl="0" indent="0" algn="r">
                        <a:buNone/>
                      </a:pPr>
                      <a:r>
                        <a:t>4</a:t>
                      </a:r>
                    </a:p>
                  </a:txBody>
                  <a:tcPr/>
                </a:tc>
                <a:tc>
                  <a:txBody>
                    <a:bodyPr/>
                    <a:lstStyle/>
                    <a:p>
                      <a:pPr marL="0" lvl="0" indent="0" algn="r">
                        <a:buNone/>
                      </a:pPr>
                      <a:r>
                        <a:t>12</a:t>
                      </a:r>
                    </a:p>
                  </a:txBody>
                  <a:tcPr/>
                </a:tc>
                <a:tc>
                  <a:txBody>
                    <a:bodyPr/>
                    <a:lstStyle/>
                    <a:p>
                      <a:pPr marL="0" lvl="0" indent="0" algn="r">
                        <a:buNone/>
                      </a:pPr>
                      <a:r>
                        <a:t>20</a:t>
                      </a:r>
                    </a:p>
                  </a:txBody>
                  <a:tcPr/>
                </a:tc>
                <a:tc>
                  <a:txBody>
                    <a:bodyPr/>
                    <a:lstStyle/>
                    <a:p>
                      <a:pPr marL="0" lvl="0" indent="0" algn="r">
                        <a:buNone/>
                      </a:pPr>
                      <a:r>
                        <a:t>4</a:t>
                      </a:r>
                    </a:p>
                  </a:txBody>
                  <a:tcPr/>
                </a:tc>
                <a:extLst>
                  <a:ext uri="{0D108BD9-81ED-4DB2-BD59-A6C34878D82A}">
                    <a16:rowId xmlns:a16="http://schemas.microsoft.com/office/drawing/2014/main" val="10012"/>
                  </a:ext>
                </a:extLst>
              </a:tr>
              <a:tr h="0">
                <a:tc>
                  <a:txBody>
                    <a:bodyPr/>
                    <a:lstStyle/>
                    <a:p>
                      <a:pPr marL="0" lvl="0" indent="0" algn="l">
                        <a:buNone/>
                      </a:pPr>
                      <a:r>
                        <a:t>Household assets and characteristics</a:t>
                      </a:r>
                    </a:p>
                  </a:txBody>
                  <a:tcPr/>
                </a:tc>
                <a:tc>
                  <a:txBody>
                    <a:bodyPr/>
                    <a:lstStyle/>
                    <a:p>
                      <a:pPr marL="0" lvl="0" indent="0" algn="r">
                        <a:buNone/>
                      </a:pPr>
                      <a:r>
                        <a:t>19</a:t>
                      </a:r>
                    </a:p>
                  </a:txBody>
                  <a:tcPr/>
                </a:tc>
                <a:tc>
                  <a:txBody>
                    <a:bodyPr/>
                    <a:lstStyle/>
                    <a:p>
                      <a:pPr marL="0" lvl="0" indent="0" algn="r">
                        <a:buNone/>
                      </a:pPr>
                      <a:r>
                        <a:t>5</a:t>
                      </a:r>
                    </a:p>
                  </a:txBody>
                  <a:tcPr/>
                </a:tc>
                <a:tc>
                  <a:txBody>
                    <a:bodyPr/>
                    <a:lstStyle/>
                    <a:p>
                      <a:pPr marL="0" lvl="0" indent="0" algn="r">
                        <a:buNone/>
                      </a:pPr>
                      <a:r>
                        <a:t>3</a:t>
                      </a:r>
                    </a:p>
                  </a:txBody>
                  <a:tcPr/>
                </a:tc>
                <a:tc>
                  <a:txBody>
                    <a:bodyPr/>
                    <a:lstStyle/>
                    <a:p>
                      <a:pPr marL="0" lvl="0" indent="0" algn="r">
                        <a:buNone/>
                      </a:pPr>
                      <a:r>
                        <a:t>11</a:t>
                      </a:r>
                    </a:p>
                  </a:txBody>
                  <a:tcPr/>
                </a:tc>
                <a:tc>
                  <a:txBody>
                    <a:bodyPr/>
                    <a:lstStyle/>
                    <a:p>
                      <a:pPr marL="0" lvl="0" indent="0" algn="r">
                        <a:buNone/>
                      </a:pPr>
                      <a:r>
                        <a:t>19</a:t>
                      </a:r>
                    </a:p>
                  </a:txBody>
                  <a:tcPr/>
                </a:tc>
                <a:tc>
                  <a:txBody>
                    <a:bodyPr/>
                    <a:lstStyle/>
                    <a:p>
                      <a:pPr marL="0" lvl="0" indent="0" algn="r">
                        <a:buNone/>
                      </a:pPr>
                      <a:r>
                        <a:t>0</a:t>
                      </a:r>
                    </a:p>
                  </a:txBody>
                  <a:tcPr/>
                </a:tc>
                <a:extLst>
                  <a:ext uri="{0D108BD9-81ED-4DB2-BD59-A6C34878D82A}">
                    <a16:rowId xmlns:a16="http://schemas.microsoft.com/office/drawing/2014/main" val="10013"/>
                  </a:ext>
                </a:extLst>
              </a:tr>
              <a:tr h="0">
                <a:tc>
                  <a:txBody>
                    <a:bodyPr/>
                    <a:lstStyle/>
                    <a:p>
                      <a:pPr marL="0" lvl="0" indent="0" algn="l">
                        <a:buNone/>
                      </a:pPr>
                      <a:r>
                        <a:t>Anaemia and haemoglobin</a:t>
                      </a:r>
                    </a:p>
                  </a:txBody>
                  <a:tcPr/>
                </a:tc>
                <a:tc>
                  <a:txBody>
                    <a:bodyPr/>
                    <a:lstStyle/>
                    <a:p>
                      <a:pPr marL="0" lvl="0" indent="0" algn="r">
                        <a:buNone/>
                      </a:pPr>
                      <a:r>
                        <a:t>16</a:t>
                      </a:r>
                    </a:p>
                  </a:txBody>
                  <a:tcPr/>
                </a:tc>
                <a:tc>
                  <a:txBody>
                    <a:bodyPr/>
                    <a:lstStyle/>
                    <a:p>
                      <a:pPr marL="0" lvl="0" indent="0" algn="r">
                        <a:buNone/>
                      </a:pPr>
                      <a:r>
                        <a:t>11</a:t>
                      </a:r>
                    </a:p>
                  </a:txBody>
                  <a:tcPr/>
                </a:tc>
                <a:tc>
                  <a:txBody>
                    <a:bodyPr/>
                    <a:lstStyle/>
                    <a:p>
                      <a:pPr marL="0" lvl="0" indent="0" algn="r">
                        <a:buNone/>
                      </a:pPr>
                      <a:r>
                        <a:t>0</a:t>
                      </a:r>
                    </a:p>
                  </a:txBody>
                  <a:tcPr/>
                </a:tc>
                <a:tc>
                  <a:txBody>
                    <a:bodyPr/>
                    <a:lstStyle/>
                    <a:p>
                      <a:pPr marL="0" lvl="0" indent="0" algn="r">
                        <a:buNone/>
                      </a:pPr>
                      <a:r>
                        <a:t>5</a:t>
                      </a:r>
                    </a:p>
                  </a:txBody>
                  <a:tcPr/>
                </a:tc>
                <a:tc>
                  <a:txBody>
                    <a:bodyPr/>
                    <a:lstStyle/>
                    <a:p>
                      <a:pPr marL="0" lvl="0" indent="0" algn="r">
                        <a:buNone/>
                      </a:pPr>
                      <a:r>
                        <a:t>9</a:t>
                      </a:r>
                    </a:p>
                  </a:txBody>
                  <a:tcPr/>
                </a:tc>
                <a:tc>
                  <a:txBody>
                    <a:bodyPr/>
                    <a:lstStyle/>
                    <a:p>
                      <a:pPr marL="0" lvl="0" indent="0" algn="r">
                        <a:buNone/>
                      </a:pPr>
                      <a:r>
                        <a:t>11</a:t>
                      </a:r>
                    </a:p>
                  </a:txBody>
                  <a:tcPr/>
                </a:tc>
                <a:extLst>
                  <a:ext uri="{0D108BD9-81ED-4DB2-BD59-A6C34878D82A}">
                    <a16:rowId xmlns:a16="http://schemas.microsoft.com/office/drawing/2014/main" val="10014"/>
                  </a:ext>
                </a:extLst>
              </a:tr>
              <a:tr h="0">
                <a:tc>
                  <a:txBody>
                    <a:bodyPr/>
                    <a:lstStyle/>
                    <a:p>
                      <a:pPr marL="0" lvl="0" indent="0" algn="l">
                        <a:buNone/>
                      </a:pPr>
                      <a:r>
                        <a:t>Fertility, reproductive health</a:t>
                      </a:r>
                    </a:p>
                  </a:txBody>
                  <a:tcPr/>
                </a:tc>
                <a:tc>
                  <a:txBody>
                    <a:bodyPr/>
                    <a:lstStyle/>
                    <a:p>
                      <a:pPr marL="0" lvl="0" indent="0" algn="r">
                        <a:buNone/>
                      </a:pPr>
                      <a:r>
                        <a:t>15</a:t>
                      </a:r>
                    </a:p>
                  </a:txBody>
                  <a:tcPr/>
                </a:tc>
                <a:tc>
                  <a:txBody>
                    <a:bodyPr/>
                    <a:lstStyle/>
                    <a:p>
                      <a:pPr marL="0" lvl="0" indent="0" algn="r">
                        <a:buNone/>
                      </a:pPr>
                      <a:r>
                        <a:t>0</a:t>
                      </a:r>
                    </a:p>
                  </a:txBody>
                  <a:tcPr/>
                </a:tc>
                <a:tc>
                  <a:txBody>
                    <a:bodyPr/>
                    <a:lstStyle/>
                    <a:p>
                      <a:pPr marL="0" lvl="0" indent="0" algn="r">
                        <a:buNone/>
                      </a:pPr>
                      <a:r>
                        <a:t>0</a:t>
                      </a:r>
                    </a:p>
                  </a:txBody>
                  <a:tcPr/>
                </a:tc>
                <a:tc>
                  <a:txBody>
                    <a:bodyPr/>
                    <a:lstStyle/>
                    <a:p>
                      <a:pPr marL="0" lvl="0" indent="0" algn="r">
                        <a:buNone/>
                      </a:pPr>
                      <a:r>
                        <a:t>15</a:t>
                      </a:r>
                    </a:p>
                  </a:txBody>
                  <a:tcPr/>
                </a:tc>
                <a:tc>
                  <a:txBody>
                    <a:bodyPr/>
                    <a:lstStyle/>
                    <a:p>
                      <a:pPr marL="0" lvl="0" indent="0" algn="r">
                        <a:buNone/>
                      </a:pPr>
                      <a:r>
                        <a:t>15</a:t>
                      </a:r>
                    </a:p>
                  </a:txBody>
                  <a:tcPr/>
                </a:tc>
                <a:tc>
                  <a:txBody>
                    <a:bodyPr/>
                    <a:lstStyle/>
                    <a:p>
                      <a:pPr marL="0" lvl="0" indent="0" algn="r">
                        <a:buNone/>
                      </a:pPr>
                      <a:r>
                        <a:t>0</a:t>
                      </a:r>
                    </a:p>
                  </a:txBody>
                  <a:tcPr/>
                </a:tc>
                <a:extLst>
                  <a:ext uri="{0D108BD9-81ED-4DB2-BD59-A6C34878D82A}">
                    <a16:rowId xmlns:a16="http://schemas.microsoft.com/office/drawing/2014/main" val="10015"/>
                  </a:ext>
                </a:extLst>
              </a:tr>
              <a:tr h="0">
                <a:tc>
                  <a:txBody>
                    <a:bodyPr/>
                    <a:lstStyle/>
                    <a:p>
                      <a:pPr marL="0" lvl="0" indent="0" algn="l">
                        <a:buNone/>
                      </a:pPr>
                      <a:r>
                        <a:t>Household diet and consumption (HCES)</a:t>
                      </a:r>
                    </a:p>
                  </a:txBody>
                  <a:tcPr/>
                </a:tc>
                <a:tc>
                  <a:txBody>
                    <a:bodyPr/>
                    <a:lstStyle/>
                    <a:p>
                      <a:pPr marL="0" lvl="0" indent="0" algn="r">
                        <a:buNone/>
                      </a:pPr>
                      <a:r>
                        <a:t>15</a:t>
                      </a:r>
                    </a:p>
                  </a:txBody>
                  <a:tcPr/>
                </a:tc>
                <a:tc>
                  <a:txBody>
                    <a:bodyPr/>
                    <a:lstStyle/>
                    <a:p>
                      <a:pPr marL="0" lvl="0" indent="0" algn="r">
                        <a:buNone/>
                      </a:pPr>
                      <a:r>
                        <a:t>0</a:t>
                      </a:r>
                    </a:p>
                  </a:txBody>
                  <a:tcPr/>
                </a:tc>
                <a:tc>
                  <a:txBody>
                    <a:bodyPr/>
                    <a:lstStyle/>
                    <a:p>
                      <a:pPr marL="0" lvl="0" indent="0" algn="r">
                        <a:buNone/>
                      </a:pPr>
                      <a:r>
                        <a:t>15</a:t>
                      </a:r>
                    </a:p>
                  </a:txBody>
                  <a:tcPr/>
                </a:tc>
                <a:tc>
                  <a:txBody>
                    <a:bodyPr/>
                    <a:lstStyle/>
                    <a:p>
                      <a:pPr marL="0" lvl="0" indent="0" algn="r">
                        <a:buNone/>
                      </a:pPr>
                      <a:r>
                        <a:t>0</a:t>
                      </a:r>
                    </a:p>
                  </a:txBody>
                  <a:tcPr/>
                </a:tc>
                <a:tc>
                  <a:txBody>
                    <a:bodyPr/>
                    <a:lstStyle/>
                    <a:p>
                      <a:pPr marL="0" lvl="0" indent="0" algn="r">
                        <a:buNone/>
                      </a:pPr>
                      <a:r>
                        <a:t>15</a:t>
                      </a:r>
                    </a:p>
                  </a:txBody>
                  <a:tcPr/>
                </a:tc>
                <a:tc>
                  <a:txBody>
                    <a:bodyPr/>
                    <a:lstStyle/>
                    <a:p>
                      <a:pPr marL="0" lvl="0" indent="0" algn="r">
                        <a:buNone/>
                      </a:pPr>
                      <a:r>
                        <a:t>0</a:t>
                      </a:r>
                    </a:p>
                  </a:txBody>
                  <a:tcPr/>
                </a:tc>
                <a:extLst>
                  <a:ext uri="{0D108BD9-81ED-4DB2-BD59-A6C34878D82A}">
                    <a16:rowId xmlns:a16="http://schemas.microsoft.com/office/drawing/2014/main" val="10016"/>
                  </a:ext>
                </a:extLst>
              </a:tr>
              <a:tr h="0">
                <a:tc>
                  <a:txBody>
                    <a:bodyPr/>
                    <a:lstStyle/>
                    <a:p>
                      <a:pPr marL="0" lvl="0" indent="0" algn="l">
                        <a:buNone/>
                      </a:pPr>
                      <a:r>
                        <a:t>Ecosystem productivity/greenness</a:t>
                      </a:r>
                    </a:p>
                  </a:txBody>
                  <a:tcPr/>
                </a:tc>
                <a:tc>
                  <a:txBody>
                    <a:bodyPr/>
                    <a:lstStyle/>
                    <a:p>
                      <a:pPr marL="0" lvl="0" indent="0" algn="r">
                        <a:buNone/>
                      </a:pPr>
                      <a:r>
                        <a:t>14</a:t>
                      </a:r>
                    </a:p>
                  </a:txBody>
                  <a:tcPr/>
                </a:tc>
                <a:tc>
                  <a:txBody>
                    <a:bodyPr/>
                    <a:lstStyle/>
                    <a:p>
                      <a:pPr marL="0" lvl="0" indent="0" algn="r">
                        <a:buNone/>
                      </a:pPr>
                      <a:r>
                        <a:t>14</a:t>
                      </a:r>
                    </a:p>
                  </a:txBody>
                  <a:tcPr/>
                </a:tc>
                <a:tc>
                  <a:txBody>
                    <a:bodyPr/>
                    <a:lstStyle/>
                    <a:p>
                      <a:pPr marL="0" lvl="0" indent="0" algn="r">
                        <a:buNone/>
                      </a:pPr>
                      <a:r>
                        <a:t>0</a:t>
                      </a:r>
                    </a:p>
                  </a:txBody>
                  <a:tcPr/>
                </a:tc>
                <a:tc>
                  <a:txBody>
                    <a:bodyPr/>
                    <a:lstStyle/>
                    <a:p>
                      <a:pPr marL="0" lvl="0" indent="0" algn="r">
                        <a:buNone/>
                      </a:pPr>
                      <a:r>
                        <a:t>0</a:t>
                      </a:r>
                    </a:p>
                  </a:txBody>
                  <a:tcPr/>
                </a:tc>
                <a:tc>
                  <a:txBody>
                    <a:bodyPr/>
                    <a:lstStyle/>
                    <a:p>
                      <a:pPr marL="0" lvl="0" indent="0" algn="r">
                        <a:buNone/>
                      </a:pPr>
                      <a:r>
                        <a:t>14</a:t>
                      </a:r>
                    </a:p>
                  </a:txBody>
                  <a:tcPr/>
                </a:tc>
                <a:tc>
                  <a:txBody>
                    <a:bodyPr/>
                    <a:lstStyle/>
                    <a:p>
                      <a:pPr marL="0" lvl="0" indent="0" algn="r">
                        <a:buNone/>
                      </a:pPr>
                      <a:r>
                        <a:t>0</a:t>
                      </a:r>
                    </a:p>
                  </a:txBody>
                  <a:tcPr/>
                </a:tc>
                <a:extLst>
                  <a:ext uri="{0D108BD9-81ED-4DB2-BD59-A6C34878D82A}">
                    <a16:rowId xmlns:a16="http://schemas.microsoft.com/office/drawing/2014/main" val="10017"/>
                  </a:ext>
                </a:extLst>
              </a:tr>
              <a:tr h="0">
                <a:tc>
                  <a:txBody>
                    <a:bodyPr/>
                    <a:lstStyle/>
                    <a:p>
                      <a:pPr marL="0" lvl="0" indent="0" algn="l">
                        <a:buNone/>
                      </a:pPr>
                      <a:r>
                        <a:t>Built environment</a:t>
                      </a:r>
                    </a:p>
                  </a:txBody>
                  <a:tcPr/>
                </a:tc>
                <a:tc>
                  <a:txBody>
                    <a:bodyPr/>
                    <a:lstStyle/>
                    <a:p>
                      <a:pPr marL="0" lvl="0" indent="0" algn="r">
                        <a:buNone/>
                      </a:pPr>
                      <a:r>
                        <a:t>13</a:t>
                      </a:r>
                    </a:p>
                  </a:txBody>
                  <a:tcPr/>
                </a:tc>
                <a:tc>
                  <a:txBody>
                    <a:bodyPr/>
                    <a:lstStyle/>
                    <a:p>
                      <a:pPr marL="0" lvl="0" indent="0" algn="r">
                        <a:buNone/>
                      </a:pPr>
                      <a:r>
                        <a:t>10</a:t>
                      </a:r>
                    </a:p>
                  </a:txBody>
                  <a:tcPr/>
                </a:tc>
                <a:tc>
                  <a:txBody>
                    <a:bodyPr/>
                    <a:lstStyle/>
                    <a:p>
                      <a:pPr marL="0" lvl="0" indent="0" algn="r">
                        <a:buNone/>
                      </a:pPr>
                      <a:r>
                        <a:t>0</a:t>
                      </a:r>
                    </a:p>
                  </a:txBody>
                  <a:tcPr/>
                </a:tc>
                <a:tc>
                  <a:txBody>
                    <a:bodyPr/>
                    <a:lstStyle/>
                    <a:p>
                      <a:pPr marL="0" lvl="0" indent="0" algn="r">
                        <a:buNone/>
                      </a:pPr>
                      <a:r>
                        <a:t>3</a:t>
                      </a:r>
                    </a:p>
                  </a:txBody>
                  <a:tcPr/>
                </a:tc>
                <a:tc>
                  <a:txBody>
                    <a:bodyPr/>
                    <a:lstStyle/>
                    <a:p>
                      <a:pPr marL="0" lvl="0" indent="0" algn="r">
                        <a:buNone/>
                      </a:pPr>
                      <a:r>
                        <a:t>13</a:t>
                      </a:r>
                    </a:p>
                  </a:txBody>
                  <a:tcPr/>
                </a:tc>
                <a:tc>
                  <a:txBody>
                    <a:bodyPr/>
                    <a:lstStyle/>
                    <a:p>
                      <a:pPr marL="0" lvl="0" indent="0" algn="r">
                        <a:buNone/>
                      </a:pPr>
                      <a:r>
                        <a:t>0</a:t>
                      </a:r>
                    </a:p>
                  </a:txBody>
                  <a:tcPr/>
                </a:tc>
                <a:extLst>
                  <a:ext uri="{0D108BD9-81ED-4DB2-BD59-A6C34878D82A}">
                    <a16:rowId xmlns:a16="http://schemas.microsoft.com/office/drawing/2014/main" val="10018"/>
                  </a:ext>
                </a:extLst>
              </a:tr>
              <a:tr h="0">
                <a:tc>
                  <a:txBody>
                    <a:bodyPr/>
                    <a:lstStyle/>
                    <a:p>
                      <a:pPr marL="0" lvl="0" indent="0" algn="l">
                        <a:buNone/>
                      </a:pPr>
                      <a:r>
                        <a:t>Adult and maternal mortality</a:t>
                      </a:r>
                    </a:p>
                  </a:txBody>
                  <a:tcPr/>
                </a:tc>
                <a:tc>
                  <a:txBody>
                    <a:bodyPr/>
                    <a:lstStyle/>
                    <a:p>
                      <a:pPr marL="0" lvl="0" indent="0" algn="r">
                        <a:buNone/>
                      </a:pPr>
                      <a:r>
                        <a:t>9</a:t>
                      </a:r>
                    </a:p>
                  </a:txBody>
                  <a:tcPr/>
                </a:tc>
                <a:tc>
                  <a:txBody>
                    <a:bodyPr/>
                    <a:lstStyle/>
                    <a:p>
                      <a:pPr marL="0" lvl="0" indent="0" algn="r">
                        <a:buNone/>
                      </a:pPr>
                      <a:r>
                        <a:t>0</a:t>
                      </a:r>
                    </a:p>
                  </a:txBody>
                  <a:tcPr/>
                </a:tc>
                <a:tc>
                  <a:txBody>
                    <a:bodyPr/>
                    <a:lstStyle/>
                    <a:p>
                      <a:pPr marL="0" lvl="0" indent="0" algn="r">
                        <a:buNone/>
                      </a:pPr>
                      <a:r>
                        <a:t>0</a:t>
                      </a:r>
                    </a:p>
                  </a:txBody>
                  <a:tcPr/>
                </a:tc>
                <a:tc>
                  <a:txBody>
                    <a:bodyPr/>
                    <a:lstStyle/>
                    <a:p>
                      <a:pPr marL="0" lvl="0" indent="0" algn="r">
                        <a:buNone/>
                      </a:pPr>
                      <a:r>
                        <a:t>9</a:t>
                      </a:r>
                    </a:p>
                  </a:txBody>
                  <a:tcPr/>
                </a:tc>
                <a:tc>
                  <a:txBody>
                    <a:bodyPr/>
                    <a:lstStyle/>
                    <a:p>
                      <a:pPr marL="0" lvl="0" indent="0" algn="r">
                        <a:buNone/>
                      </a:pPr>
                      <a:r>
                        <a:t>9</a:t>
                      </a:r>
                    </a:p>
                  </a:txBody>
                  <a:tcPr/>
                </a:tc>
                <a:tc>
                  <a:txBody>
                    <a:bodyPr/>
                    <a:lstStyle/>
                    <a:p>
                      <a:pPr marL="0" lvl="0" indent="0" algn="r">
                        <a:buNone/>
                      </a:pPr>
                      <a:r>
                        <a:t>0</a:t>
                      </a:r>
                    </a:p>
                  </a:txBody>
                  <a:tcPr/>
                </a:tc>
                <a:extLst>
                  <a:ext uri="{0D108BD9-81ED-4DB2-BD59-A6C34878D82A}">
                    <a16:rowId xmlns:a16="http://schemas.microsoft.com/office/drawing/2014/main" val="10019"/>
                  </a:ext>
                </a:extLst>
              </a:tr>
              <a:tr h="0">
                <a:tc>
                  <a:txBody>
                    <a:bodyPr/>
                    <a:lstStyle/>
                    <a:p>
                      <a:pPr marL="0" lvl="0" indent="0" algn="l">
                        <a:buNone/>
                      </a:pPr>
                      <a:r>
                        <a:t>Livestock density</a:t>
                      </a:r>
                    </a:p>
                  </a:txBody>
                  <a:tcPr/>
                </a:tc>
                <a:tc>
                  <a:txBody>
                    <a:bodyPr/>
                    <a:lstStyle/>
                    <a:p>
                      <a:pPr marL="0" lvl="0" indent="0" algn="r">
                        <a:buNone/>
                      </a:pPr>
                      <a:r>
                        <a:t>8</a:t>
                      </a:r>
                    </a:p>
                  </a:txBody>
                  <a:tcPr/>
                </a:tc>
                <a:tc>
                  <a:txBody>
                    <a:bodyPr/>
                    <a:lstStyle/>
                    <a:p>
                      <a:pPr marL="0" lvl="0" indent="0" algn="r">
                        <a:buNone/>
                      </a:pPr>
                      <a:r>
                        <a:t>8</a:t>
                      </a:r>
                    </a:p>
                  </a:txBody>
                  <a:tcPr/>
                </a:tc>
                <a:tc>
                  <a:txBody>
                    <a:bodyPr/>
                    <a:lstStyle/>
                    <a:p>
                      <a:pPr marL="0" lvl="0" indent="0" algn="r">
                        <a:buNone/>
                      </a:pPr>
                      <a:r>
                        <a:t>0</a:t>
                      </a:r>
                    </a:p>
                  </a:txBody>
                  <a:tcPr/>
                </a:tc>
                <a:tc>
                  <a:txBody>
                    <a:bodyPr/>
                    <a:lstStyle/>
                    <a:p>
                      <a:pPr marL="0" lvl="0" indent="0" algn="r">
                        <a:buNone/>
                      </a:pPr>
                      <a:r>
                        <a:t>0</a:t>
                      </a:r>
                    </a:p>
                  </a:txBody>
                  <a:tcPr/>
                </a:tc>
                <a:tc>
                  <a:txBody>
                    <a:bodyPr/>
                    <a:lstStyle/>
                    <a:p>
                      <a:pPr marL="0" lvl="0" indent="0" algn="r">
                        <a:buNone/>
                      </a:pPr>
                      <a:r>
                        <a:t>8</a:t>
                      </a:r>
                    </a:p>
                  </a:txBody>
                  <a:tcPr/>
                </a:tc>
                <a:tc>
                  <a:txBody>
                    <a:bodyPr/>
                    <a:lstStyle/>
                    <a:p>
                      <a:pPr marL="0" lvl="0" indent="0" algn="r">
                        <a:buNone/>
                      </a:pPr>
                      <a:r>
                        <a:t>0</a:t>
                      </a:r>
                    </a:p>
                  </a:txBody>
                  <a:tcPr/>
                </a:tc>
                <a:extLst>
                  <a:ext uri="{0D108BD9-81ED-4DB2-BD59-A6C34878D82A}">
                    <a16:rowId xmlns:a16="http://schemas.microsoft.com/office/drawing/2014/main" val="10020"/>
                  </a:ext>
                </a:extLst>
              </a:tr>
              <a:tr h="0">
                <a:tc>
                  <a:txBody>
                    <a:bodyPr/>
                    <a:lstStyle/>
                    <a:p>
                      <a:pPr marL="0" lvl="0" indent="0" algn="l">
                        <a:buNone/>
                      </a:pPr>
                      <a:r>
                        <a:t>Ruralness, population density, built environment</a:t>
                      </a:r>
                    </a:p>
                  </a:txBody>
                  <a:tcPr/>
                </a:tc>
                <a:tc>
                  <a:txBody>
                    <a:bodyPr/>
                    <a:lstStyle/>
                    <a:p>
                      <a:pPr marL="0" lvl="0" indent="0" algn="r">
                        <a:buNone/>
                      </a:pPr>
                      <a:r>
                        <a:t>7</a:t>
                      </a:r>
                    </a:p>
                  </a:txBody>
                  <a:tcPr/>
                </a:tc>
                <a:tc>
                  <a:txBody>
                    <a:bodyPr/>
                    <a:lstStyle/>
                    <a:p>
                      <a:pPr marL="0" lvl="0" indent="0" algn="r">
                        <a:buNone/>
                      </a:pPr>
                      <a:r>
                        <a:t>7</a:t>
                      </a:r>
                    </a:p>
                  </a:txBody>
                  <a:tcPr/>
                </a:tc>
                <a:tc>
                  <a:txBody>
                    <a:bodyPr/>
                    <a:lstStyle/>
                    <a:p>
                      <a:pPr marL="0" lvl="0" indent="0" algn="r">
                        <a:buNone/>
                      </a:pPr>
                      <a:r>
                        <a:t>0</a:t>
                      </a:r>
                    </a:p>
                  </a:txBody>
                  <a:tcPr/>
                </a:tc>
                <a:tc>
                  <a:txBody>
                    <a:bodyPr/>
                    <a:lstStyle/>
                    <a:p>
                      <a:pPr marL="0" lvl="0" indent="0" algn="r">
                        <a:buNone/>
                      </a:pPr>
                      <a:r>
                        <a:t>0</a:t>
                      </a:r>
                    </a:p>
                  </a:txBody>
                  <a:tcPr/>
                </a:tc>
                <a:tc>
                  <a:txBody>
                    <a:bodyPr/>
                    <a:lstStyle/>
                    <a:p>
                      <a:pPr marL="0" lvl="0" indent="0" algn="r">
                        <a:buNone/>
                      </a:pPr>
                      <a:r>
                        <a:t>7</a:t>
                      </a:r>
                    </a:p>
                  </a:txBody>
                  <a:tcPr/>
                </a:tc>
                <a:tc>
                  <a:txBody>
                    <a:bodyPr/>
                    <a:lstStyle/>
                    <a:p>
                      <a:pPr marL="0" lvl="0" indent="0" algn="r">
                        <a:buNone/>
                      </a:pPr>
                      <a:r>
                        <a:t>0</a:t>
                      </a:r>
                    </a:p>
                  </a:txBody>
                  <a:tcPr/>
                </a:tc>
                <a:extLst>
                  <a:ext uri="{0D108BD9-81ED-4DB2-BD59-A6C34878D82A}">
                    <a16:rowId xmlns:a16="http://schemas.microsoft.com/office/drawing/2014/main" val="10021"/>
                  </a:ext>
                </a:extLst>
              </a:tr>
              <a:tr h="0">
                <a:tc>
                  <a:txBody>
                    <a:bodyPr/>
                    <a:lstStyle/>
                    <a:p>
                      <a:pPr marL="0" lvl="0" indent="0" algn="l">
                        <a:buNone/>
                      </a:pPr>
                      <a:r>
                        <a:t>Dietary inadequacy (MODELLED SURFACE, HCES)</a:t>
                      </a:r>
                    </a:p>
                  </a:txBody>
                  <a:tcPr/>
                </a:tc>
                <a:tc>
                  <a:txBody>
                    <a:bodyPr/>
                    <a:lstStyle/>
                    <a:p>
                      <a:pPr marL="0" lvl="0" indent="0" algn="r">
                        <a:buNone/>
                      </a:pPr>
                      <a:r>
                        <a:t>6</a:t>
                      </a:r>
                    </a:p>
                  </a:txBody>
                  <a:tcPr/>
                </a:tc>
                <a:tc>
                  <a:txBody>
                    <a:bodyPr/>
                    <a:lstStyle/>
                    <a:p>
                      <a:pPr marL="0" lvl="0" indent="0" algn="r">
                        <a:buNone/>
                      </a:pPr>
                      <a:r>
                        <a:t>6</a:t>
                      </a:r>
                    </a:p>
                  </a:txBody>
                  <a:tcPr/>
                </a:tc>
                <a:tc>
                  <a:txBody>
                    <a:bodyPr/>
                    <a:lstStyle/>
                    <a:p>
                      <a:pPr marL="0" lvl="0" indent="0" algn="r">
                        <a:buNone/>
                      </a:pPr>
                      <a:r>
                        <a:t>0</a:t>
                      </a:r>
                    </a:p>
                  </a:txBody>
                  <a:tcPr/>
                </a:tc>
                <a:tc>
                  <a:txBody>
                    <a:bodyPr/>
                    <a:lstStyle/>
                    <a:p>
                      <a:pPr marL="0" lvl="0" indent="0" algn="r">
                        <a:buNone/>
                      </a:pPr>
                      <a:r>
                        <a:t>0</a:t>
                      </a:r>
                    </a:p>
                  </a:txBody>
                  <a:tcPr/>
                </a:tc>
                <a:tc>
                  <a:txBody>
                    <a:bodyPr/>
                    <a:lstStyle/>
                    <a:p>
                      <a:pPr marL="0" lvl="0" indent="0" algn="r">
                        <a:buNone/>
                      </a:pPr>
                      <a:r>
                        <a:t>6</a:t>
                      </a:r>
                    </a:p>
                  </a:txBody>
                  <a:tcPr/>
                </a:tc>
                <a:tc>
                  <a:txBody>
                    <a:bodyPr/>
                    <a:lstStyle/>
                    <a:p>
                      <a:pPr marL="0" lvl="0" indent="0" algn="r">
                        <a:buNone/>
                      </a:pPr>
                      <a:r>
                        <a:t>6</a:t>
                      </a:r>
                    </a:p>
                  </a:txBody>
                  <a:tcPr/>
                </a:tc>
                <a:extLst>
                  <a:ext uri="{0D108BD9-81ED-4DB2-BD59-A6C34878D82A}">
                    <a16:rowId xmlns:a16="http://schemas.microsoft.com/office/drawing/2014/main" val="10022"/>
                  </a:ext>
                </a:extLst>
              </a:tr>
              <a:tr h="0">
                <a:tc>
                  <a:txBody>
                    <a:bodyPr/>
                    <a:lstStyle/>
                    <a:p>
                      <a:pPr marL="0" lvl="0" indent="0" algn="l">
                        <a:buNone/>
                      </a:pPr>
                      <a:r>
                        <a:t>Healthcare access</a:t>
                      </a:r>
                    </a:p>
                  </a:txBody>
                  <a:tcPr/>
                </a:tc>
                <a:tc>
                  <a:txBody>
                    <a:bodyPr/>
                    <a:lstStyle/>
                    <a:p>
                      <a:pPr marL="0" lvl="0" indent="0" algn="r">
                        <a:buNone/>
                      </a:pPr>
                      <a:r>
                        <a:t>6</a:t>
                      </a:r>
                    </a:p>
                  </a:txBody>
                  <a:tcPr/>
                </a:tc>
                <a:tc>
                  <a:txBody>
                    <a:bodyPr/>
                    <a:lstStyle/>
                    <a:p>
                      <a:pPr marL="0" lvl="0" indent="0" algn="r">
                        <a:buNone/>
                      </a:pPr>
                      <a:r>
                        <a:t>0</a:t>
                      </a:r>
                    </a:p>
                  </a:txBody>
                  <a:tcPr/>
                </a:tc>
                <a:tc>
                  <a:txBody>
                    <a:bodyPr/>
                    <a:lstStyle/>
                    <a:p>
                      <a:pPr marL="0" lvl="0" indent="0" algn="r">
                        <a:buNone/>
                      </a:pPr>
                      <a:r>
                        <a:t>0</a:t>
                      </a:r>
                    </a:p>
                  </a:txBody>
                  <a:tcPr/>
                </a:tc>
                <a:tc>
                  <a:txBody>
                    <a:bodyPr/>
                    <a:lstStyle/>
                    <a:p>
                      <a:pPr marL="0" lvl="0" indent="0" algn="r">
                        <a:buNone/>
                      </a:pPr>
                      <a:r>
                        <a:t>6</a:t>
                      </a:r>
                    </a:p>
                  </a:txBody>
                  <a:tcPr/>
                </a:tc>
                <a:tc>
                  <a:txBody>
                    <a:bodyPr/>
                    <a:lstStyle/>
                    <a:p>
                      <a:pPr marL="0" lvl="0" indent="0" algn="r">
                        <a:buNone/>
                      </a:pPr>
                      <a:r>
                        <a:t>6</a:t>
                      </a:r>
                    </a:p>
                  </a:txBody>
                  <a:tcPr/>
                </a:tc>
                <a:tc>
                  <a:txBody>
                    <a:bodyPr/>
                    <a:lstStyle/>
                    <a:p>
                      <a:pPr marL="0" lvl="0" indent="0" algn="r">
                        <a:buNone/>
                      </a:pPr>
                      <a:r>
                        <a:t>0</a:t>
                      </a:r>
                    </a:p>
                  </a:txBody>
                  <a:tcPr/>
                </a:tc>
                <a:extLst>
                  <a:ext uri="{0D108BD9-81ED-4DB2-BD59-A6C34878D82A}">
                    <a16:rowId xmlns:a16="http://schemas.microsoft.com/office/drawing/2014/main" val="10023"/>
                  </a:ext>
                </a:extLst>
              </a:tr>
              <a:tr h="0">
                <a:tc>
                  <a:txBody>
                    <a:bodyPr/>
                    <a:lstStyle/>
                    <a:p>
                      <a:pPr marL="0" lvl="0" indent="0" algn="l">
                        <a:buNone/>
                      </a:pPr>
                      <a:r>
                        <a:t>Market prices (RTFP)</a:t>
                      </a:r>
                    </a:p>
                  </a:txBody>
                  <a:tcPr/>
                </a:tc>
                <a:tc>
                  <a:txBody>
                    <a:bodyPr/>
                    <a:lstStyle/>
                    <a:p>
                      <a:pPr marL="0" lvl="0" indent="0" algn="r">
                        <a:buNone/>
                      </a:pPr>
                      <a:r>
                        <a:t>6</a:t>
                      </a:r>
                    </a:p>
                  </a:txBody>
                  <a:tcPr/>
                </a:tc>
                <a:tc>
                  <a:txBody>
                    <a:bodyPr/>
                    <a:lstStyle/>
                    <a:p>
                      <a:pPr marL="0" lvl="0" indent="0" algn="r">
                        <a:buNone/>
                      </a:pPr>
                      <a:r>
                        <a:t>6</a:t>
                      </a:r>
                    </a:p>
                  </a:txBody>
                  <a:tcPr/>
                </a:tc>
                <a:tc>
                  <a:txBody>
                    <a:bodyPr/>
                    <a:lstStyle/>
                    <a:p>
                      <a:pPr marL="0" lvl="0" indent="0" algn="r">
                        <a:buNone/>
                      </a:pPr>
                      <a:r>
                        <a:t>0</a:t>
                      </a:r>
                    </a:p>
                  </a:txBody>
                  <a:tcPr/>
                </a:tc>
                <a:tc>
                  <a:txBody>
                    <a:bodyPr/>
                    <a:lstStyle/>
                    <a:p>
                      <a:pPr marL="0" lvl="0" indent="0" algn="r">
                        <a:buNone/>
                      </a:pPr>
                      <a:r>
                        <a:t>0</a:t>
                      </a:r>
                    </a:p>
                  </a:txBody>
                  <a:tcPr/>
                </a:tc>
                <a:tc>
                  <a:txBody>
                    <a:bodyPr/>
                    <a:lstStyle/>
                    <a:p>
                      <a:pPr marL="0" lvl="0" indent="0" algn="r">
                        <a:buNone/>
                      </a:pPr>
                      <a:r>
                        <a:t>6</a:t>
                      </a:r>
                    </a:p>
                  </a:txBody>
                  <a:tcPr/>
                </a:tc>
                <a:tc>
                  <a:txBody>
                    <a:bodyPr/>
                    <a:lstStyle/>
                    <a:p>
                      <a:pPr marL="0" lvl="0" indent="0" algn="r">
                        <a:buNone/>
                      </a:pPr>
                      <a:r>
                        <a:t>0</a:t>
                      </a:r>
                    </a:p>
                  </a:txBody>
                  <a:tcPr/>
                </a:tc>
                <a:extLst>
                  <a:ext uri="{0D108BD9-81ED-4DB2-BD59-A6C34878D82A}">
                    <a16:rowId xmlns:a16="http://schemas.microsoft.com/office/drawing/2014/main" val="10024"/>
                  </a:ext>
                </a:extLst>
              </a:tr>
              <a:tr h="0">
                <a:tc>
                  <a:txBody>
                    <a:bodyPr/>
                    <a:lstStyle/>
                    <a:p>
                      <a:pPr marL="0" lvl="0" indent="0" algn="l">
                        <a:buNone/>
                      </a:pPr>
                      <a:r>
                        <a:t>Water and coast proximity</a:t>
                      </a:r>
                    </a:p>
                  </a:txBody>
                  <a:tcPr/>
                </a:tc>
                <a:tc>
                  <a:txBody>
                    <a:bodyPr/>
                    <a:lstStyle/>
                    <a:p>
                      <a:pPr marL="0" lvl="0" indent="0" algn="r">
                        <a:buNone/>
                      </a:pPr>
                      <a:r>
                        <a:t>6</a:t>
                      </a:r>
                    </a:p>
                  </a:txBody>
                  <a:tcPr/>
                </a:tc>
                <a:tc>
                  <a:txBody>
                    <a:bodyPr/>
                    <a:lstStyle/>
                    <a:p>
                      <a:pPr marL="0" lvl="0" indent="0" algn="r">
                        <a:buNone/>
                      </a:pPr>
                      <a:r>
                        <a:t>6</a:t>
                      </a:r>
                    </a:p>
                  </a:txBody>
                  <a:tcPr/>
                </a:tc>
                <a:tc>
                  <a:txBody>
                    <a:bodyPr/>
                    <a:lstStyle/>
                    <a:p>
                      <a:pPr marL="0" lvl="0" indent="0" algn="r">
                        <a:buNone/>
                      </a:pPr>
                      <a:r>
                        <a:t>0</a:t>
                      </a:r>
                    </a:p>
                  </a:txBody>
                  <a:tcPr/>
                </a:tc>
                <a:tc>
                  <a:txBody>
                    <a:bodyPr/>
                    <a:lstStyle/>
                    <a:p>
                      <a:pPr marL="0" lvl="0" indent="0" algn="r">
                        <a:buNone/>
                      </a:pPr>
                      <a:r>
                        <a:t>0</a:t>
                      </a:r>
                    </a:p>
                  </a:txBody>
                  <a:tcPr/>
                </a:tc>
                <a:tc>
                  <a:txBody>
                    <a:bodyPr/>
                    <a:lstStyle/>
                    <a:p>
                      <a:pPr marL="0" lvl="0" indent="0" algn="r">
                        <a:buNone/>
                      </a:pPr>
                      <a:r>
                        <a:t>6</a:t>
                      </a:r>
                    </a:p>
                  </a:txBody>
                  <a:tcPr/>
                </a:tc>
                <a:tc>
                  <a:txBody>
                    <a:bodyPr/>
                    <a:lstStyle/>
                    <a:p>
                      <a:pPr marL="0" lvl="0" indent="0" algn="r">
                        <a:buNone/>
                      </a:pPr>
                      <a:r>
                        <a:t>0</a:t>
                      </a:r>
                    </a:p>
                  </a:txBody>
                  <a:tcPr/>
                </a:tc>
                <a:extLst>
                  <a:ext uri="{0D108BD9-81ED-4DB2-BD59-A6C34878D82A}">
                    <a16:rowId xmlns:a16="http://schemas.microsoft.com/office/drawing/2014/main" val="10025"/>
                  </a:ext>
                </a:extLst>
              </a:tr>
              <a:tr h="0">
                <a:tc>
                  <a:txBody>
                    <a:bodyPr/>
                    <a:lstStyle/>
                    <a:p>
                      <a:pPr marL="0" lvl="0" indent="0" algn="l">
                        <a:buNone/>
                      </a:pPr>
                      <a:r>
                        <a:t>Child mortality</a:t>
                      </a:r>
                    </a:p>
                  </a:txBody>
                  <a:tcPr/>
                </a:tc>
                <a:tc>
                  <a:txBody>
                    <a:bodyPr/>
                    <a:lstStyle/>
                    <a:p>
                      <a:pPr marL="0" lvl="0" indent="0" algn="r">
                        <a:buNone/>
                      </a:pPr>
                      <a:r>
                        <a:t>4</a:t>
                      </a:r>
                    </a:p>
                  </a:txBody>
                  <a:tcPr/>
                </a:tc>
                <a:tc>
                  <a:txBody>
                    <a:bodyPr/>
                    <a:lstStyle/>
                    <a:p>
                      <a:pPr marL="0" lvl="0" indent="0" algn="r">
                        <a:buNone/>
                      </a:pPr>
                      <a:r>
                        <a:t>0</a:t>
                      </a:r>
                    </a:p>
                  </a:txBody>
                  <a:tcPr/>
                </a:tc>
                <a:tc>
                  <a:txBody>
                    <a:bodyPr/>
                    <a:lstStyle/>
                    <a:p>
                      <a:pPr marL="0" lvl="0" indent="0" algn="r">
                        <a:buNone/>
                      </a:pPr>
                      <a:r>
                        <a:t>0</a:t>
                      </a:r>
                    </a:p>
                  </a:txBody>
                  <a:tcPr/>
                </a:tc>
                <a:tc>
                  <a:txBody>
                    <a:bodyPr/>
                    <a:lstStyle/>
                    <a:p>
                      <a:pPr marL="0" lvl="0" indent="0" algn="r">
                        <a:buNone/>
                      </a:pPr>
                      <a:r>
                        <a:t>4</a:t>
                      </a:r>
                    </a:p>
                  </a:txBody>
                  <a:tcPr/>
                </a:tc>
                <a:tc>
                  <a:txBody>
                    <a:bodyPr/>
                    <a:lstStyle/>
                    <a:p>
                      <a:pPr marL="0" lvl="0" indent="0" algn="r">
                        <a:buNone/>
                      </a:pPr>
                      <a:r>
                        <a:t>4</a:t>
                      </a:r>
                    </a:p>
                  </a:txBody>
                  <a:tcPr/>
                </a:tc>
                <a:tc>
                  <a:txBody>
                    <a:bodyPr/>
                    <a:lstStyle/>
                    <a:p>
                      <a:pPr marL="0" lvl="0" indent="0" algn="r">
                        <a:buNone/>
                      </a:pPr>
                      <a:r>
                        <a:t>0</a:t>
                      </a:r>
                    </a:p>
                  </a:txBody>
                  <a:tcPr/>
                </a:tc>
                <a:extLst>
                  <a:ext uri="{0D108BD9-81ED-4DB2-BD59-A6C34878D82A}">
                    <a16:rowId xmlns:a16="http://schemas.microsoft.com/office/drawing/2014/main" val="10026"/>
                  </a:ext>
                </a:extLst>
              </a:tr>
              <a:tr h="0">
                <a:tc>
                  <a:txBody>
                    <a:bodyPr/>
                    <a:lstStyle/>
                    <a:p>
                      <a:pPr marL="0" lvl="0" indent="0" algn="l">
                        <a:buNone/>
                      </a:pPr>
                      <a:r>
                        <a:t>Adult nutrition</a:t>
                      </a:r>
                    </a:p>
                  </a:txBody>
                  <a:tcPr/>
                </a:tc>
                <a:tc>
                  <a:txBody>
                    <a:bodyPr/>
                    <a:lstStyle/>
                    <a:p>
                      <a:pPr marL="0" lvl="0" indent="0" algn="r">
                        <a:buNone/>
                      </a:pPr>
                      <a:r>
                        <a:t>3</a:t>
                      </a:r>
                    </a:p>
                  </a:txBody>
                  <a:tcPr/>
                </a:tc>
                <a:tc>
                  <a:txBody>
                    <a:bodyPr/>
                    <a:lstStyle/>
                    <a:p>
                      <a:pPr marL="0" lvl="0" indent="0" algn="r">
                        <a:buNone/>
                      </a:pPr>
                      <a:r>
                        <a:t>0</a:t>
                      </a:r>
                    </a:p>
                  </a:txBody>
                  <a:tcPr/>
                </a:tc>
                <a:tc>
                  <a:txBody>
                    <a:bodyPr/>
                    <a:lstStyle/>
                    <a:p>
                      <a:pPr marL="0" lvl="0" indent="0" algn="r">
                        <a:buNone/>
                      </a:pPr>
                      <a:r>
                        <a:t>0</a:t>
                      </a:r>
                    </a:p>
                  </a:txBody>
                  <a:tcPr/>
                </a:tc>
                <a:tc>
                  <a:txBody>
                    <a:bodyPr/>
                    <a:lstStyle/>
                    <a:p>
                      <a:pPr marL="0" lvl="0" indent="0" algn="r">
                        <a:buNone/>
                      </a:pPr>
                      <a:r>
                        <a:t>3</a:t>
                      </a:r>
                    </a:p>
                  </a:txBody>
                  <a:tcPr/>
                </a:tc>
                <a:tc>
                  <a:txBody>
                    <a:bodyPr/>
                    <a:lstStyle/>
                    <a:p>
                      <a:pPr marL="0" lvl="0" indent="0" algn="r">
                        <a:buNone/>
                      </a:pPr>
                      <a:r>
                        <a:t>3</a:t>
                      </a:r>
                    </a:p>
                  </a:txBody>
                  <a:tcPr/>
                </a:tc>
                <a:tc>
                  <a:txBody>
                    <a:bodyPr/>
                    <a:lstStyle/>
                    <a:p>
                      <a:pPr marL="0" lvl="0" indent="0" algn="r">
                        <a:buNone/>
                      </a:pPr>
                      <a:r>
                        <a:t>0</a:t>
                      </a:r>
                    </a:p>
                  </a:txBody>
                  <a:tcPr/>
                </a:tc>
                <a:extLst>
                  <a:ext uri="{0D108BD9-81ED-4DB2-BD59-A6C34878D82A}">
                    <a16:rowId xmlns:a16="http://schemas.microsoft.com/office/drawing/2014/main" val="10027"/>
                  </a:ext>
                </a:extLst>
              </a:tr>
              <a:tr h="0">
                <a:tc>
                  <a:txBody>
                    <a:bodyPr/>
                    <a:lstStyle/>
                    <a:p>
                      <a:pPr marL="0" lvl="0" indent="0" algn="l">
                        <a:buNone/>
                      </a:pPr>
                      <a:r>
                        <a:t>Nutrition status (MODELLED SURFACE)</a:t>
                      </a:r>
                    </a:p>
                  </a:txBody>
                  <a:tcPr/>
                </a:tc>
                <a:tc>
                  <a:txBody>
                    <a:bodyPr/>
                    <a:lstStyle/>
                    <a:p>
                      <a:pPr marL="0" lvl="0" indent="0" algn="r">
                        <a:buNone/>
                      </a:pPr>
                      <a:r>
                        <a:t>1</a:t>
                      </a:r>
                    </a:p>
                  </a:txBody>
                  <a:tcPr/>
                </a:tc>
                <a:tc>
                  <a:txBody>
                    <a:bodyPr/>
                    <a:lstStyle/>
                    <a:p>
                      <a:pPr marL="0" lvl="0" indent="0" algn="r">
                        <a:buNone/>
                      </a:pPr>
                      <a:r>
                        <a:t>1</a:t>
                      </a:r>
                    </a:p>
                  </a:txBody>
                  <a:tcPr/>
                </a:tc>
                <a:tc>
                  <a:txBody>
                    <a:bodyPr/>
                    <a:lstStyle/>
                    <a:p>
                      <a:pPr marL="0" lvl="0" indent="0" algn="r">
                        <a:buNone/>
                      </a:pPr>
                      <a:r>
                        <a:t>0</a:t>
                      </a:r>
                    </a:p>
                  </a:txBody>
                  <a:tcPr/>
                </a:tc>
                <a:tc>
                  <a:txBody>
                    <a:bodyPr/>
                    <a:lstStyle/>
                    <a:p>
                      <a:pPr marL="0" lvl="0" indent="0" algn="r">
                        <a:buNone/>
                      </a:pPr>
                      <a:r>
                        <a:t>0</a:t>
                      </a:r>
                    </a:p>
                  </a:txBody>
                  <a:tcPr/>
                </a:tc>
                <a:tc>
                  <a:txBody>
                    <a:bodyPr/>
                    <a:lstStyle/>
                    <a:p>
                      <a:pPr marL="0" lvl="0" indent="0" algn="r">
                        <a:buNone/>
                      </a:pPr>
                      <a:r>
                        <a:t>0</a:t>
                      </a:r>
                    </a:p>
                  </a:txBody>
                  <a:tcPr/>
                </a:tc>
                <a:tc>
                  <a:txBody>
                    <a:bodyPr/>
                    <a:lstStyle/>
                    <a:p>
                      <a:pPr marL="0" lvl="0" indent="0" algn="r">
                        <a:buNone/>
                      </a:pPr>
                      <a:r>
                        <a:t>1</a:t>
                      </a:r>
                    </a:p>
                  </a:txBody>
                  <a:tcPr/>
                </a:tc>
                <a:extLst>
                  <a:ext uri="{0D108BD9-81ED-4DB2-BD59-A6C34878D82A}">
                    <a16:rowId xmlns:a16="http://schemas.microsoft.com/office/drawing/2014/main" val="10028"/>
                  </a:ext>
                </a:extLst>
              </a:tr>
            </a:tbl>
          </a:graphicData>
        </a:graphic>
      </p:graphicFrame>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4969</Words>
  <Application>Microsoft Office PowerPoint</Application>
  <PresentationFormat>Widescreen</PresentationFormat>
  <Paragraphs>533</Paragraphs>
  <Slides>16</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2013 - 2022 Theme</vt:lpstr>
      <vt:lpstr>The public data behind the district ranking</vt:lpstr>
      <vt:lpstr>What a proxy has to be</vt:lpstr>
      <vt:lpstr>The sources</vt:lpstr>
      <vt:lpstr>Three kinds of data, three ways to a district value</vt:lpstr>
      <vt:lpstr>Linking in space: one spine, coded keys</vt:lpstr>
      <vt:lpstr>Linking in time: four surveys, four years</vt:lpstr>
      <vt:lpstr>From columns to domains</vt:lpstr>
      <vt:lpstr>Building the harmonised dataset</vt:lpstr>
      <vt:lpstr>What carries the signal</vt:lpstr>
      <vt:lpstr>What travels to a new country, and what does not</vt:lpstr>
      <vt:lpstr>What we would add next, and the rule for adding it</vt:lpstr>
      <vt:lpstr>Appendix</vt:lpstr>
      <vt:lpstr>Sources, tiers and alignment</vt:lpstr>
      <vt:lpstr>The twenty layers behind child iron</vt:lpstr>
      <vt:lpstr>Exclusions, with their reasons</vt:lpstr>
      <vt:lpstr>Predictor set by domain and tier</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Office 2013 - 2022 Theme</Template>
  <TotalTime>4824</TotalTime>
  <Words>2454</Words>
  <Application>Microsoft Office PowerPoint</Application>
  <PresentationFormat>Widescreen</PresentationFormat>
  <Paragraphs>309</Paragraphs>
  <Slides>26</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 Narrow</vt:lpstr>
      <vt:lpstr>Arial</vt:lpstr>
      <vt:lpstr>Calibri</vt:lpstr>
      <vt:lpstr>Calibri Light</vt:lpstr>
      <vt:lpstr>Office 2013 - 2022 Theme</vt:lpstr>
      <vt:lpstr>Proxy VMD Modeling Project Andrew Mertens (University of California, Berkeley)  </vt:lpstr>
      <vt:lpstr>PowerPoint Presentation</vt:lpstr>
      <vt:lpstr>Goals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Details on one model-b12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National-level BRINDA and VMNIS predictions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public data behind the district ranking</dc:title>
  <dc:creator>Andrew N. Mertens, University of California, Berkeley</dc:creator>
  <cp:keywords/>
  <cp:lastModifiedBy>Andrew Mertens</cp:lastModifiedBy>
  <cp:revision>2</cp:revision>
  <dcterms:created xsi:type="dcterms:W3CDTF">2026-09-16T13:31:27Z</dcterms:created>
  <dcterms:modified xsi:type="dcterms:W3CDTF">2026-09-16T14:01:07Z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2026-09-16</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Sources, aggregation, alignment in space and time, and what carries the signal</vt:lpwstr>
  </property>
  <property fmtid="{D5CDD505-2E9C-101B-9397-08002B2CF9AE}" pid="12" name="toc-title">
    <vt:lpwstr>Table of contents</vt:lpwstr>
  </property>
</Properties>
</file>