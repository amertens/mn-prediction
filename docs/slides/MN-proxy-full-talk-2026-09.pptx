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10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notesMaster" Target="notesMasters/notesMaster1.xml"/><Relationship Id="rId101" Type="http://schemas.openxmlformats.org/officeDocument/2006/relationships/presProps" Target="presProps.xml"/><Relationship Id="rId102" Type="http://schemas.openxmlformats.org/officeDocument/2006/relationships/viewProps" Target="viewProps.xml"/><Relationship Id="rId103" Type="http://schemas.openxmlformats.org/officeDocument/2006/relationships/theme" Target="theme/theme1.xml"/><Relationship Id="rId10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sentence describes both halves. Big: 575 columns from 28 sources, most of them rasters at 30 m to 10 km summarised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cells,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One harmonised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harmonised to a common vocabulary; what did not harmonise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42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from four surveys and 28 sources to one district table. The CONSORT table on the next slide gives the column counts at each step.</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0.28 for the rank-loss ensemble, 0.27 for random forest, 0.25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estimator, kept as the comparison arm: a SuperLearner library (mean, penalised regressions, random forest, gradient boosting, PCA-HAL, BART, geostatistical models) weighted by V-fold cross-validated performance, folds cut so that no district is split between training and validation. No penalty other than computation to add a learner: diversity, redundancy, synergy. On the same folds the index scores 0.29 against 0.28 for the rank-loss ensemble and 0.27 for random forest (17 cells, prevalence, in-fill), which is why the zero-tuning index became the headline: with 14 to 87 districts every estimator that tunes a parameter shrinks toward the constant.</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steps, none of which looks at a held-out district. (1) Rank-normalise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rank-normalised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0.39; covariates add +0.01 over the smoother alone on the level. The penalised fits score 0.33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(0.39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0.22 at district level (19 of 22 positive) and 0.27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12 of 22). DA-03 (17 September, RR-12 set): adding the next load-bearing domains of the ablation to climate and soil (anaemia surfaces, agriculture, infection: five domains) reaches 0.41 at district level (better than climate-and-soil in 15 of 22, median +0.01, all 22 cells positive; 0.33 on prevalence), with the gain in the weak cells (women’s iron and folate in Ghana and Sierra Leone) and none in the strong ones. It is chosen on the same 22 cells, so it goes into the pre-registration as a second candidate beside climate-and-soil, not in its place; the honest nested selection still sits at 0.31 (next slide). Since 9 September the DHS-derived predictors are cluster-level spatial estimates at every district (DS-01), which changed nothing in-country and cost the full index 0.01 across borders. Likely question: what a correlation of 0.30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Dashed line: the 95th percentile of the permutation null. DA-03 (17 September, RR-12 set): script 25 scores fixed domain sets on the same leave-one-country-out folds as the transport slide, with the domain components oriented on the training countries only. The five-domain set (climate, soil, anaemia and haemoglobin, agriculture and land use, infection and inflammation) is the top of the ablation ranking on these cells: 0.41 at district level against 0.38 for climate and soil, positive in all 22 cells, 0.33 against 0.28 on prevalence. The gain is in the weak cells (women’s iron and folate in Ghana and Sierra Leone) and absent in the strong ones. Because the set was chosen from the ablation on these same 22 cells, it has the same status as climate-and-soil had when it was found: a description of these four countries, to be scored as a second pre-registered candidate on the fifth. The honest arm, domains chosen by an inner leave-one-country-out inside the three training countries, stays at 0.31: with two inner folds the greedy choice overfits, which is why the pre-registration route is the one that can settle this. Likely question: why not use all load-bearing domains. All eight load-bearing domains score 0.39; nothing beyond five adds.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climate and soil layers and no biomarker survey, so it is the case the project exists for. The climate-and-soil index was fitted on the four surveyed countries and applied to its 33 districts for 6 outcomes (child and women’s iron and vitamin A, women’s folate and B12); it has never seen a Cote d’Ivoire biomarker. Left: child iron; the worst-ranked districts are the northern savanna belt (Tchologo, Bounkani, Bagoue, Poro, Hambol), the drier, poorer, more pastoral half of the country. Right: how firmly each district is placed. The training set was resampled 400 times, stratified by country, the components re-oriented and the index refitted each time, and the district re-ranked; the map shows the width of the 90 percent range of ranks, median 5 places out of 33. 10 of 33 districts have at least an 80 percent chance of being in the worst third and 20 at most 20 percent. What this uncertainty covers: how much the ranking depends on which training districts we learned from. What it does not cover: whether the model transports to Cote d’Ivoire at all, because there is no ground truth there; the external bound on that is the held-out transport accuracy of 0.38. Two guards ran first: the same code with each surveyed country held out reproduces the transport figure (0.38 over 22 cells, 21 positive), and adding Cote d’Ivoire to the column intersection costs 7 of the 101 climate-and-soil columns (the few layers the Cote d’Ivoire extraction lacks) without degrading transport (0.39, 22 positive). CV-01 (17 September): the Cote d’Ivoire database was extended from 132 to 212 columns with the open rasters the other domains need (IHME surfaces, Malaria Atlas at 2016, MapSPAM, livestock, and the 30-year climate normals that were missing), so the climate-and-soil index now runs on its full vocabulary (94 common columns, guard 0.39) and the five-domain candidate can be applied too (next slide). Rank uncertainty is now computed for all six outcomes and both candidates (civ_rank_uncertainty_all.csv). The only external check so far is the WFP/MIMI Nature Food 2026 vitamin A map, which ranks the same northern belt worst. Tables: civ_climate_soil_ranking.csv, civ_rank_uncertainty.csv, civ_transport_guards.csv.</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pre-registered climate-and-soil index and the five-domain DA-03 candidate, both fitted on the four surveyed countries and applied to Cote d’Ivoire’s 33 districts, children’s iron. Top: the median rank over 400 resampled refits; bottom: the probability of being in the worst third. The two candidates agree at Spearman 0.94 on child iron and 0.88 to 0.97 across the six outcomes; 83% of the worst fifth is the same district list on average. The five-domain set is no firmer: median 90 percent rank width 6 places against 5, and 9.0 against 9.5 districts per outcome with at least an 80 percent chance of the worst third. Its guard is 0.41 on four countries and 0.40 with Cote d’Ivoire in the vocabulary (125 of 138 columns, 22 of 22 positive). Two points to say. First, the northern savanna belt is the answer under either candidate, so the choice between them does not change what a programme would do in Cote d’Ivoire; the choice matters for the fifth SURVEYED country, where it can be scored. Second, each candidate gives nearly the same map for every outcome (mean Spearman between outcomes 0.92 and 0.90): in a country with no survey the transported ranking is a map of environmental deprivation more than of any one nutrient, which is exactly what the domain ablation said it would be. What is still not tested is transport to Cote d’Ivoire itself; that needs a biomarker survey there.</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averages elsewhere in this deck hide a spread that matters: 6 of the 18 in-country cells reach a held-out Spearman of 0.5 or more on the biomarker level (mean 0.64, bold on the axis), the rest average 0.28. Rows are the country-outcome cells sorted by the index’s in-fill ranking; the filled point is the deployed model with its interval over the ten fold draws, the cross is the survey’s own regional average (the number a ministry would use), the hollow circle is the best of the other arms (spatial smoother, smoother plus covariates, elastic nets) picked on the same held-out score, so it is optimistic and shown only to say how much a different estimator could have added: little. The middle and right panels are the region and country estimands for the same cells. The weak cells are of two kinds: outcomes too rare to measure at district level (Malawi’s vitamin A cells at under 1% national prevalence: 2 cells, mean 0.26) and zinc (Malawi only, mean -0.07), where the survey’s own district estimates carry almost no signal to recover; The Gambia, with 30 large districts and several clusters in each, clears the line on 3 of its 4 outcomes and scores 0.41 on the fourth (child iron), above the other countries’ average; the next slides show the same cells on the prevalence and concentration scales, and the scatter after them puts the weak cells against their prevalence. Sierra Leone’s 14 districts are not scored in-fill.</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same order, prevalence scale: the population-weighted mean absolute error of each district’s held-out prevalence, in percentage points. Three references: the survey’s own regional average, one national number for every district (the status quo where no sub-national estimate exists), and the best other arm chosen after the fact. Read the error against the outcome: an error of 10 points on an outcome at 40% is a different thing from 3 points on one at 4%, which is why the rare-outcome cells look accurate here and useless on the ranking slide. The index is rescaled to the training districts’ spread, so it is not built to minimise this error; the geostatistical comparator slide shows what a model that estimates a level and shrinks toward it does to absolute error. Where a level has to be defended, this slide plus the national anchor is the argument, not the ranking correlation.</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mean concentration scale: the district mean of the log biomarker concentration (ferritin, RBP, folate, B12, zinc), predicted with the district held out, scored as root-mean-square error divided by the spread of the observed district means, so that 1.0 means no better than giving every district the national mean and anything below it is skill. The index is a ranker rescaled to the training spread, so its squared error is often at or above 1 even in cells where it ranks well; the spatial smoother, which shrinks toward neighbours, is usually the best other arm on this loss. That is the honest division of labour the geostatistical slide draws: the index for the order, a shrinking estimator for the level. Cells whose index error sits well below 1 (the strong cells in bold) are the ones where the proxies carry enough signal to predict the concentration itself, not only its order.</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point is a country-outcome cell: the index’s in-fill ranking accuracy against how common the deficiency is nationally. Rarity hurts at the extreme: below 1% prevalence (Malawi’s two vitamin A cells, mean 0.26) the survey finds a handful of deficient respondents per district and its district estimates are mostly zero, so no predictor can recover an order; at 2 to 4% (The Gambia’s and Ghana’s women’s vitamin A) the ranking still works. Above that, the spread is about the survey more than the nutrient: The Gambia’s 30 districts with several clusters each score 0.41 to 0.70 (3 of 4 above the line), Ghana’s and Malawi’s single-cluster districts are mixed (3 of 14). Zinc (Malawi only, -0.07) is the other failure and is not a rarity problem: serum zinc is unadjusted, drawn under fasting rules that vary by cluster, and the survey’s own district means are close to noise. Everything the deck claims about ranking rests on the cells above the dotted line: 6 of 18, iron, vitamin A where it is common, folate and B12, in three countries. Likely question: why not just report those. Because the cut is chosen on the same held-out scores, so the strong-cell mean of 0.64 is a description, not a promise; the promise for a new country is the transport slide’s pre-registered climate-and-soil index.</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 best in-country cells on the held-out ranking, from benchmarks_v2_raw.csv (in-fill, biomarker level, mean over ten draws), with the same cell’s prevalence-target ranking, its population-weighted district prevalence error in percentage points and the national prevalence. These are the cells to show a country: the model is not a uniform 0.40, it is 0.64 where the outcome is common enough to measure and close to nothing where it is not. 6 of 18 cells clear 0.5.</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A of four candidate translations for a policy audience; keep one or two. The three readings are all computed from the same held-out predictions (in-fill, 5-fold by district, ten draws). Pairs: counted exactly from the held-out predictions (12_nce_targeting_metrics.R, PC-01: every pair of districts, ties excluded, mean over the 24 cells): the model orders 60% of district pairs the way the survey does, the survey’s own regional averages 56%, a coin toss 50%; across borders (leave-one-country-out, 22 cells) it is 55%. A Spearman of 0.40 sounds like more than it is: at district level it is six pairs in ten. The flagged fifth: deficiency prevalence in the fifth of districts the model ranks worst averages 32.2% against 24.3% nationally (nce_targeting_summary.csv, mean over the 24 cells);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cells).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C. Policy runs on severity bands, not correlations: WHO’s vitamin A bands are under 2%, 2 to 10, 10 to 20, 20% or more. With each district held out, the model puts 64% of districts in the band the survey puts them in and 91% within one band (risk_category_accuracy.csv, mean over the vitamin A cells); the survey’s own regional averages give 66% exact and 94% within one band. Read the comparison honestly: on severity bands the survey’s own regional averages do as well as the model or slightly better, because a band is mostly a level and the regional average carries the country’s own level. The model is almost never two bands wrong (a district the survey calls severe is not called mild), and its case is not that it beats the regional average on bands but that it gives a band where there is no survey at all; in a new country the level comes from the national anchor (risk-class slide in the appendix has the transport rows). Use this slide only if the audience reads vitamin A or anaemia severity maps, and say the regional-average comparison aloud rather than letting the numbers sit.</a:t>
            </a:r>
          </a:p>
        </p:txBody>
      </p:sp>
      <p:sp>
        <p:nvSpPr>
          <p:cNvPr id="4" name="Slide Number Placeholder 3"/>
          <p:cNvSpPr>
            <a:spLocks noGrp="1"/>
          </p:cNvSpPr>
          <p:nvPr>
            <p:ph type="sldNum" sz="quarter" idx="10"/>
          </p:nvPr>
        </p:nvSpPr>
        <p:spPr/>
        <p:txBody>
          <a:bodyPr/>
          <a:lstStyle/>
          <a:p>
            <a:fld id="{E2A43B92-3A2D-4964-BD32-AF28A47106C9}"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D. The correlation does not tell a programme whether the model is fit for a decision; this slide says which decisions, and which not. Yes: choosing which districts to visit, assess or enrol first, and where the next survey should put its clusters, because those need an order and the order is 60%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programme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E2A43B92-3A2D-4964-BD32-AF28A47106C9}"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Malawi’s 87 surveyed Traditional Authorities (grey: no survey clusters), the survey estimate beside the prediction made with each district held out (5-fold, ten draws). This is the protocol-v2 version of the January “what about subnational prevalence” maps: the same question, now scored under honest folds and with the index rather than the person-level ensemble. Women’s B12 is the best in-fill cell of the 24; child iron is the outcome the Ghana map shows. The model orders districts; the survey’s own estimate at a single-cluster district is itself noisy (reliability ceiling slide).</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convention borrowed from the small-area-estimation literature (hatching for direct estimates whose coefficient of variation exceeds a third; grey for no data). Every district on every map in this deck belongs to one of three grades. A: surveyed with several clusters, so the survey’s own district estimate is worth comparing with; 39 districts. B: surveyed with one cluster, the majority (80% of surveyed districts), where the survey’s district number is itself an estimate with the noise the ceiling slide quantifies; hatched wherever a survey value is drawn. C: no survey clusters, where only the model speaks; grey on survey maps, filled on model maps. The grade says what the map can be compared against, not how good the model is.</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survey’s own district map of child iron deficiency, with the reliability grades drawn on it. Hatched districts have one survey cluster: their value is a single cluster’s respondents, and the split-half ceiling says how much of the district-to-district variation on this map is noise. Unhatched districts have several clusters. Grey districts have none. When the next slides compare the model with “the survey”, this is the survey they compare with; the model’s job is to be a better estimate of the true district value than a single hatched cluster is, which the reliability-ceiling slide shows it can be in the strong cells.</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plot every geostatistical paper carries and this deck lacked: each district’s survey estimate against its prediction made with the district held out (5-fold by district, mean over ten draws; the bar is the range over the draws, which is fold-assignment variability, not sampling error). The dashed line is perfect agreement. Read three things. The cloud is tilted, not on the line: the model ranks (Spearman 0.50 in Ghana, 0.40 in The Gambia, 0.25 in Malawi) but compresses the range, because it is rescaled to the training spread and shrinks extremes, which is the MAE of 16.0 to 14.4 points. Hollow points are single-cluster districts: much of the vertical scatter around them is the survey’s noise, not the model’s. The largest circles, the districts with the most respondents, sit closest to the line.</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held-out district predictions, and the survey, both aggregated to the regions (respondent-weighted means), child iron. This is the resolution at which the surveys were designed to be read, and the comparison a ministry statistician will make first. The regional pattern is recovered in each country; the district slide before this one shows the finer level where the survey itself becomes noisy. The MIMI and IHME decks show exactly this pair of maps as their headline validation figure.</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device IHME uses for every one of its maps, applied here: not “what is the prevalence” but “how likely is it to be above the line a programme acts on”. Ghana, child vitamin A, the index fitted on the 75 surveyed districts and applied to all 260 (in-sample for the surveyed ones), refitted on 200 stratified resamples of the training districts; the right map is the share of refits in which a district’s predicted prevalence is at or above 20 percent, the WHO severe band. 61 districts are above the line in at least 80 percent of refits, 186 below it in at least 80 percent, and 13 are undecided; 185 of the 260 have no survey clusters. The level here comes from Ghana’s own survey, so this is the in-country version; for a new country the level would come from the national anchor and the map would read as a planning figure. The caveat is the same as for the Cote d’Ivoire intervals: the refits capture how much the map depends on which training districts were drawn, not the survey’s own noise at each district.</a:t>
            </a:r>
          </a:p>
        </p:txBody>
      </p:sp>
      <p:sp>
        <p:nvSpPr>
          <p:cNvPr id="4" name="Slide Number Placeholder 3"/>
          <p:cNvSpPr>
            <a:spLocks noGrp="1"/>
          </p:cNvSpPr>
          <p:nvPr>
            <p:ph type="sldNum" sz="quarter" idx="10"/>
          </p:nvPr>
        </p:nvSpPr>
        <p:spPr/>
        <p:txBody>
          <a:bodyPr/>
          <a:lstStyle/>
          <a:p>
            <a:fld id="{E2A43B92-3A2D-4964-BD32-AF28A47106C9}"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Cote d’Ivoire maps folded into one, the bivariate device the geospatial-health literature recommends for policy audiences: colour hue is the ranking (purple worst third, blue middle, green best third; median over the 400 refits) and colour depth is how sure the refits are of that placement (deep = at least 80 percent of refits put it in that third; pale = under 60 percent). The legend counts districts in each cell. The reading is immediate: deep purple, act; pale purple or pale blue, survey first; deep green, lowest priority. The labelled districts are the deep-purple ones, the northern belt. As before, “sure” means stable under resampling of the training set, not verified against a Cote d’Ivoire survey.</a:t>
            </a:r>
          </a:p>
        </p:txBody>
      </p:sp>
      <p:sp>
        <p:nvSpPr>
          <p:cNvPr id="4" name="Slide Number Placeholder 3"/>
          <p:cNvSpPr>
            <a:spLocks noGrp="1"/>
          </p:cNvSpPr>
          <p:nvPr>
            <p:ph type="sldNum" sz="quarter" idx="10"/>
          </p:nvPr>
        </p:nvSpPr>
        <p:spPr/>
        <p:txBody>
          <a:bodyPr/>
          <a:lstStyle/>
          <a:p>
            <a:fld id="{E2A43B92-3A2D-4964-BD32-AF28A47106C9}"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calibration check the Cote d’Ivoire slides needed. The 90 percent rank intervals on those maps come from resampling the training districts. If they were honest intervals for the truth, the survey’s own rank would fall inside them 90 percent of the time. Doing exactly that with each surveyed country held out (100 resamples of the other three, climate and soil, biomarker level), the survey rank falls inside the interval 38% of the time on average, 16% to 70% across the 22 country-outcome cells, with a median interval 21% of the list wide. So the intervals are far too narrow to be read as “the truth is in here”; they answer a different question, how much the ranking would move if we had learned from different districts, and the gap to 90 percent is the model error the transport correlation already reports. Say this aloud on the Cote d’Ivoire slides: the pale districts are the ones the model itself is unsure about; the deep ones are stable, not verified. A properly calibrated interval would need conformal calibration against the held-out countries, which is a next step and the honest reason we call the product a ranking.</a:t>
            </a:r>
          </a:p>
        </p:txBody>
      </p:sp>
      <p:sp>
        <p:nvSpPr>
          <p:cNvPr id="4" name="Slide Number Placeholder 3"/>
          <p:cNvSpPr>
            <a:spLocks noGrp="1"/>
          </p:cNvSpPr>
          <p:nvPr>
            <p:ph type="sldNum" sz="quarter" idx="10"/>
          </p:nvPr>
        </p:nvSpPr>
        <p:spPr/>
        <p:txBody>
          <a:bodyPr/>
          <a:lstStyle/>
          <a:p>
            <a:fld id="{E2A43B92-3A2D-4964-BD32-AF28A47106C9}"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SHAP-style view the MIMI deck uses, which the index allows exactly rather than by approximation: the index is linear in the rank-normalised predictors, so each district’s score is a sum of per-predictor contributions beta times x. One row per predictor (the twelve largest weights of the pooled child-iron fit), one point per surveyed district in the four countries, colour = where the district sits on that predictor. A row whose red points sit to the right says “districts high on this predictor rank worse”; a row that is wide says the predictor separates districts strongly. Unlike the bar charts earlier, this shows the spread: a predictor with a modest average weight can still move a handful of districts a long way. The same figure exists for every outcome from contributions_top12.csv.</a:t>
            </a:r>
          </a:p>
        </p:txBody>
      </p:sp>
      <p:sp>
        <p:nvSpPr>
          <p:cNvPr id="4" name="Slide Number Placeholder 3"/>
          <p:cNvSpPr>
            <a:spLocks noGrp="1"/>
          </p:cNvSpPr>
          <p:nvPr>
            <p:ph type="sldNum" sz="quarter" idx="10"/>
          </p:nvPr>
        </p:nvSpPr>
        <p:spPr/>
        <p:txBody>
          <a:bodyPr/>
          <a:lstStyle/>
          <a:p>
            <a:fld id="{E2A43B92-3A2D-4964-BD32-AF28A47106C9}"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MIMI reports its accuracy by wealth quintile and by urban and rural households; this is the district-level equivalent. Districts are split into thirds on an urbanicity composite within each country and the held-out child-iron ranking is scored inside each third (numbers in brackets are districts). Across the three countries the ranking is -0.05 in the most rural third, 0.32 in the middle and 0.20 in the most urban third. Two cautions: a third of 30 districts is ten, so The Gambia’s bars are noisy; and ranking within a stratum is a harder task than ranking the whole country, because the stratum removes the urban-rural gradient the index leans on. Read it country by country. Ghana holds up in every third (-0.05 is the three-country mean for the rural third, but Ghana alone is above 0.3 in all three). Malawi is the warning: the ranking is fine in the middle and urban thirds and collapses to below zero in the most rural third, which is where deficiency is highest, so in Malawi the index is partly separating the lakeshore towns from the uplands rather than ordering the rural districts among themselves. The Gambia’s thirds hold ten districts each and say little. The honest reading is that the model’s value is not uniform across the settlement gradient, and a programme working only in rural Malawi should not lean on it.</a:t>
            </a:r>
          </a:p>
        </p:txBody>
      </p:sp>
      <p:sp>
        <p:nvSpPr>
          <p:cNvPr id="4" name="Slide Number Placeholder 3"/>
          <p:cNvSpPr>
            <a:spLocks noGrp="1"/>
          </p:cNvSpPr>
          <p:nvPr>
            <p:ph type="sldNum" sz="quarter" idx="10"/>
          </p:nvPr>
        </p:nvSpPr>
        <p:spPr/>
        <p:txBody>
          <a:bodyPr/>
          <a:lstStyle/>
          <a:p>
            <a:fld id="{E2A43B92-3A2D-4964-BD32-AF28A47106C9}" type="slidenum">
              <a:rPr lang="en-US"/>
              <a:t>54</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training-country curve from the transport section, re-captioned as the argument it makes: with one survey to learn from the transported ranking averages 0.20, with three 0.30, and the curve has not flattened. Every biomarker survey a country runs therefore improves the map of every other country in the panel, which is the case for pooling surveys into one protocol rather than analysing each alone, and for the fifth country being worth more than its own map. Bars are the interquartile range over the subsets of training countries. This is the framing the Lancet Global Health vaccination-mapping paper uses for its country panel.</a:t>
            </a:r>
          </a:p>
        </p:txBody>
      </p:sp>
      <p:sp>
        <p:nvSpPr>
          <p:cNvPr id="4" name="Slide Number Placeholder 3"/>
          <p:cNvSpPr>
            <a:spLocks noGrp="1"/>
          </p:cNvSpPr>
          <p:nvPr>
            <p:ph type="sldNum" sz="quarter" idx="10"/>
          </p:nvPr>
        </p:nvSpPr>
        <p:spPr/>
        <p:txBody>
          <a:bodyPr/>
          <a:lstStyle/>
          <a:p>
            <a:fld id="{E2A43B92-3A2D-4964-BD32-AF28A47106C9}"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39%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story behind the forest plot on the previous slide. In Malawi the modelled anaemia and malaria surfaces carry negative weights for B12: districts with MORE anaemia and malaria have BETTER B12 status. No nutritional mechanism says that. The maps say why: the lakeshore and the southern lowlands are where malaria transmission and anaemia are highest, and they are also where households eat fish, the main dietary B12 source in the country; the uplands have less malaria, less fish and worse B12. The anaemia surface is a surrogate marker for that geography, not a cause, and it is a good one precisely because it is modelled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grey districts and smooths the survey’s single-cluster noise, and it visibly follows the anaemia and fish geography. Each map is the within-country percentile of its variable so the four share one scale; rho is the Spearman correlation with B12 deficiency across the surveyed Traditional Authorities (negative for anaemia and for fish: more of either, less deficiency).</a:t>
            </a:r>
          </a:p>
        </p:txBody>
      </p:sp>
      <p:sp>
        <p:nvSpPr>
          <p:cNvPr id="4" name="Slide Number Placeholder 3"/>
          <p:cNvSpPr>
            <a:spLocks noGrp="1"/>
          </p:cNvSpPr>
          <p:nvPr>
            <p:ph type="sldNum" sz="quarter" idx="10"/>
          </p:nvPr>
        </p:nvSpPr>
        <p:spPr/>
        <p:txBody>
          <a:bodyPr/>
          <a:lstStyle/>
          <a:p>
            <a:fld id="{E2A43B92-3A2D-4964-BD32-AF28A47106C9}"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0.30 without. A fixed climate-and-soil index transports at 0.38 at district level and 0.45 regionally against 0.30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(34 of the 41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66</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evidence supports today and what it does not. Supported: with a national anchor (a small nationally representative sample, 5% of a full survey) and the transported climate-and-soil ranking, the median district error is 9.3 percentage points, which a district-representative survey only matches at about 25% of the full sample (survey design slide; anchor_and_rank.csv). That is the sample-size claim, and it holds for the LEVEL error only: a district survey of any size captures more burden in its worst fifth, because burden is what it measures directly. In design: model-assisted cluster allocation, where the ranking decides where the clusters go, oversampling the districts the model puts at the top and bottom, so that a survey of the same size resolves the districts that matter; this is designed (CLUSTER_LEVEL_DESIGN_2026-09.md) and not piloted. Not shown: that a proxy model can replace a biomarker survey. The reliability ceiling is the survey's own, and the transport correlation of 0.30 is a ranking, not a prevalence. The honest offer to a ministry is: a ranking now from public data, a national anchor to put a level on it, and a district survey designed with the ranking rather than instead of it.</a:t>
            </a:r>
          </a:p>
        </p:txBody>
      </p:sp>
      <p:sp>
        <p:nvSpPr>
          <p:cNvPr id="4" name="Slide Number Placeholder 3"/>
          <p:cNvSpPr>
            <a:spLocks noGrp="1"/>
          </p:cNvSpPr>
          <p:nvPr>
            <p:ph type="sldNum" sz="quarter" idx="10"/>
          </p:nvPr>
        </p:nvSpPr>
        <p:spPr/>
        <p:txBody>
          <a:bodyPr/>
          <a:lstStyle/>
          <a:p>
            <a:fld id="{E2A43B92-3A2D-4964-BD32-AF28A47106C9}" type="slidenum">
              <a:rPr lang="en-US"/>
              <a:t>67</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E2A43B92-3A2D-4964-BD32-AF28A47106C9}" type="slidenum">
              <a:rPr lang="en-US"/>
              <a:t>68</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Five conclusions, each with its number on the slide. The fifth is the one the per-cell slides added: the model’s accuracy tracks the survey’s district resolution more than the nutrient. The Gambia, whose 30 districts each hold several clusters, ranks 0.41 to 0.70 across its 4 outcomes, 3 of them at or above 0.5 and the fourth (child iron) still above the other countries’ average; Ghana and Malawi, with one cluster in most districts, average 0.34 with 3 of 14 cells above the line. So the ceiling slide and this one say the same thing from two sides: give the survey enough clusters per district and the proxies can recover its order; starve it and nothing can. Results in this deck are from the RR-12 re-run on the 575-column set (16 September 2026).</a:t>
            </a:r>
          </a:p>
        </p:txBody>
      </p:sp>
      <p:sp>
        <p:nvSpPr>
          <p:cNvPr id="4" name="Slide Number Placeholder 3"/>
          <p:cNvSpPr>
            <a:spLocks noGrp="1"/>
          </p:cNvSpPr>
          <p:nvPr>
            <p:ph type="sldNum" sz="quarter" idx="10"/>
          </p:nvPr>
        </p:nvSpPr>
        <p:spPr/>
        <p:txBody>
          <a:bodyPr/>
          <a:lstStyle/>
          <a:p>
            <a:fld id="{E2A43B92-3A2D-4964-BD32-AF28A47106C9}" type="slidenum">
              <a:rPr lang="en-US"/>
              <a:t>71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 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72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74</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75</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standardised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E2A43B92-3A2D-4964-BD32-AF28A47106C9}" type="slidenum">
              <a:rPr lang="en-US"/>
              <a:t>76</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77</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78</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79</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80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-0.069 across borders (better in 6 of 22) and costs -0.04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81</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82</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83</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84</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85</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86</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87</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88</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89</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90</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91</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92</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93</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94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1.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image" Target="../media/image7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8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83.png"/><Relationship Id="rId4" Type="http://schemas.openxmlformats.org/officeDocument/2006/relationships/image" Target="../media/image14.png"/><Relationship Id="rId5" Type="http://schemas.openxmlformats.org/officeDocument/2006/relationships/image" Target="../media/image84.png"/><Relationship Id="rId6" Type="http://schemas.openxmlformats.org/officeDocument/2006/relationships/image" Target="../media/image74.png"/><Relationship Id="rId7" Type="http://schemas.openxmlformats.org/officeDocument/2006/relationships/image" Target="../media/image15.png"/><Relationship Id="rId8" Type="http://schemas.openxmlformats.org/officeDocument/2006/relationships/image" Target="../media/image8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92.png"/><Relationship Id="rId10" Type="http://schemas.openxmlformats.org/officeDocument/2006/relationships/image" Target="../media/image9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image" Target="../media/image9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9.png"/><Relationship Id="rId4" Type="http://schemas.openxmlformats.org/officeDocument/2006/relationships/image" Target="../media/image10.png"/><Relationship Id="rId5" Type="http://schemas.openxmlformats.org/officeDocument/2006/relationships/image" Target="../media/image91.png"/><Relationship Id="rId6" Type="http://schemas.openxmlformats.org/officeDocument/2006/relationships/image" Target="../media/image10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101.png"/><Relationship Id="rId5" Type="http://schemas.openxmlformats.org/officeDocument/2006/relationships/image" Target="../media/image10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9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08.png"/><Relationship Id="rId4" Type="http://schemas.openxmlformats.org/officeDocument/2006/relationships/image" Target="../media/image109.png"/><Relationship Id="rId5" Type="http://schemas.openxmlformats.org/officeDocument/2006/relationships/image" Target="../media/image1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1.png"/><Relationship Id="rId4" Type="http://schemas.openxmlformats.org/officeDocument/2006/relationships/image" Target="../media/image104.png"/><Relationship Id="rId5" Type="http://schemas.openxmlformats.org/officeDocument/2006/relationships/image" Target="../media/image11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3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4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4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4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4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4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4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4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4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5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 Id="rId3" Type="http://schemas.openxmlformats.org/officeDocument/2006/relationships/image" Target="../media/image5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78.png"/><Relationship Id="rId6" Type="http://schemas.openxmlformats.org/officeDocument/2006/relationships/image" Target="../media/image117.png"/><Relationship Id="rId7" Type="http://schemas.openxmlformats.org/officeDocument/2006/relationships/image" Target="../media/image11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 Id="rId3" Type="http://schemas.openxmlformats.org/officeDocument/2006/relationships/image" Target="../media/image5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 Id="rId3" Type="http://schemas.openxmlformats.org/officeDocument/2006/relationships/image" Target="../media/image5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 Id="rId3" Type="http://schemas.openxmlformats.org/officeDocument/2006/relationships/image" Target="../media/image5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 Id="rId3" Type="http://schemas.openxmlformats.org/officeDocument/2006/relationships/image" Target="../media/image5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19.png"/><Relationship Id="rId4" Type="http://schemas.openxmlformats.org/officeDocument/2006/relationships/image" Target="../media/image5.png"/><Relationship Id="rId5" Type="http://schemas.openxmlformats.org/officeDocument/2006/relationships/image" Target="../media/image120.png"/><Relationship Id="rId6" Type="http://schemas.openxmlformats.org/officeDocument/2006/relationships/image" Target="../media/image121.png"/><Relationship Id="rId7" Type="http://schemas.openxmlformats.org/officeDocument/2006/relationships/image" Target="../media/image12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5.png"/><Relationship Id="rId4" Type="http://schemas.openxmlformats.org/officeDocument/2006/relationships/image" Target="../media/image102.png"/><Relationship Id="rId5" Type="http://schemas.openxmlformats.org/officeDocument/2006/relationships/image" Target="../media/image14.png"/><Relationship Id="rId6" Type="http://schemas.openxmlformats.org/officeDocument/2006/relationships/image" Target="../media/image123.png"/><Relationship Id="rId7" Type="http://schemas.openxmlformats.org/officeDocument/2006/relationships/image" Target="../media/image1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24.png"/><Relationship Id="rId4" Type="http://schemas.openxmlformats.org/officeDocument/2006/relationships/image" Target="../media/image125.png"/><Relationship Id="rId5" Type="http://schemas.openxmlformats.org/officeDocument/2006/relationships/image" Target="../media/image126.png"/><Relationship Id="rId6" Type="http://schemas.openxmlformats.org/officeDocument/2006/relationships/image" Target="../media/image127.png"/><Relationship Id="rId7" Type="http://schemas.openxmlformats.org/officeDocument/2006/relationships/image" Target="../media/image128.png"/><Relationship Id="rId8" Type="http://schemas.openxmlformats.org/officeDocument/2006/relationships/image" Target="../media/image109.png"/><Relationship Id="rId9" Type="http://schemas.openxmlformats.org/officeDocument/2006/relationships/image" Target="../media/image129.png"/><Relationship Id="rId10" Type="http://schemas.openxmlformats.org/officeDocument/2006/relationships/image" Target="../media/image13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 Id="rId3" Type="http://schemas.openxmlformats.org/officeDocument/2006/relationships/image" Target="../media/image5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5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 Id="rId3" Type="http://schemas.openxmlformats.org/officeDocument/2006/relationships/image" Target="../media/image5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 Id="rId3" Type="http://schemas.openxmlformats.org/officeDocument/2006/relationships/image" Target="../media/image59.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 Id="rId3" Type="http://schemas.openxmlformats.org/officeDocument/2006/relationships/image" Target="../media/image60.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 Id="rId3" Type="http://schemas.openxmlformats.org/officeDocument/2006/relationships/image" Target="../media/image6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 Id="rId3" Type="http://schemas.openxmlformats.org/officeDocument/2006/relationships/image" Target="../media/image6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 Id="rId3" Type="http://schemas.openxmlformats.org/officeDocument/2006/relationships/image" Target="../media/image6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 Id="rId3" Type="http://schemas.openxmlformats.org/officeDocument/2006/relationships/image" Target="../media/image6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 Id="rId3" Type="http://schemas.openxmlformats.org/officeDocument/2006/relationships/image" Target="../media/image65.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6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67.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vitamin and mineral deficiencies from public data</a:t>
            </a:r>
          </a:p>
        </p:txBody>
      </p:sp>
      <p:sp>
        <p:nvSpPr>
          <p:cNvPr id="3" name="Subtitle 2"/>
          <p:cNvSpPr>
            <a:spLocks noGrp="1"/>
          </p:cNvSpPr>
          <p:nvPr>
            <p:ph idx="1" type="subTitle"/>
          </p:nvPr>
        </p:nvSpPr>
        <p:spPr>
          <a:xfrm>
            <a:off x="1524000" y="3602038"/>
            <a:ext cx="9144000" cy="1188720"/>
          </a:xfrm>
        </p:spPr>
        <p:txBody>
          <a:bodyPr/>
          <a:lstStyle/>
          <a:p>
            <a:pPr lvl="0" indent="0" marL="0">
              <a:buNone/>
            </a:pPr>
            <a:r>
              <a:rPr sz="1800"/>
              <a:t>Four biomarker surveys, hundreds of public proxies, one evaluation protocol</a:t>
            </a:r>
            <a:br/>
            <a:br/>
            <a:r>
              <a:rPr sz="1800"/>
              <a:t>Andrew N. Mertens, University of California, Berkeley</a:t>
            </a:r>
          </a:p>
        </p:txBody>
      </p:sp>
      <p:pic>
        <p:nvPicPr>
          <p:cNvPr id="4" name="Picture 3"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5" name="Picture 4"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6" name="Picture 5"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7" name="TextBox 6"/>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pic>
        <p:nvPicPr>
          <p:cNvPr id="3" name="Picture 2"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4" name="TextBox 3"/>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5" name="Picture 4"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6" name="TextBox 5"/>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programme can act on, and a level once anchored to a national number.</a:t>
            </a:r>
          </a:p>
        </p:txBody>
      </p:sp>
      <p:pic>
        <p:nvPicPr>
          <p:cNvPr id="7" name="Picture 6"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9" name="Picture 8"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pic>
        <p:nvPicPr>
          <p:cNvPr id="3" name="Picture 2" descr="vial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programmes need district estimates between them.</a:t>
            </a:r>
          </a:p>
        </p:txBody>
      </p:sp>
      <p:pic>
        <p:nvPicPr>
          <p:cNvPr id="5" name="Picture 4"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6" name="TextBox 5"/>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7" name="Picture 6"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9" name="Picture 8"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Big data and small data, at once</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pic>
        <p:nvPicPr>
          <p:cNvPr id="7" name="Picture 6" descr="satellite_blue.png"/>
          <p:cNvPicPr>
            <a:picLocks noChangeAspect="1"/>
          </p:cNvPicPr>
          <p:nvPr/>
        </p:nvPicPr>
        <p:blipFill>
          <a:blip r:embed="rId4"/>
          <a:stretch>
            <a:fillRect/>
          </a:stretch>
        </p:blipFill>
        <p:spPr>
          <a:xfrm>
            <a:off x="1069848" y="2735580"/>
            <a:ext cx="502920"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summarised over 554 districts; a 64-dimension satellite embedding; four household surveys aggregated from microdata.</a:t>
            </a:r>
          </a:p>
        </p:txBody>
      </p:sp>
      <p:pic>
        <p:nvPicPr>
          <p:cNvPr id="9" name="Picture 8" descr="layer-group_blue.png"/>
          <p:cNvPicPr>
            <a:picLocks noChangeAspect="1"/>
          </p:cNvPicPr>
          <p:nvPr/>
        </p:nvPicPr>
        <p:blipFill>
          <a:blip r:embed="rId5"/>
          <a:stretch>
            <a:fillRect/>
          </a:stretch>
        </p:blipFill>
        <p:spPr>
          <a:xfrm>
            <a:off x="1069848" y="3863340"/>
            <a:ext cx="565785"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pic>
        <p:nvPicPr>
          <p:cNvPr id="11" name="Picture 10" descr="lock-open_blue.png"/>
          <p:cNvPicPr>
            <a:picLocks noChangeAspect="1"/>
          </p:cNvPicPr>
          <p:nvPr/>
        </p:nvPicPr>
        <p:blipFill>
          <a:blip r:embed="rId6"/>
          <a:stretch>
            <a:fillRect/>
          </a:stretch>
        </p:blipFill>
        <p:spPr>
          <a:xfrm>
            <a:off x="1069848" y="4991100"/>
            <a:ext cx="565785"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vial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pic>
        <p:nvPicPr>
          <p:cNvPr id="17" name="Picture 16" descr="calendar_blue.png"/>
          <p:cNvPicPr>
            <a:picLocks noChangeAspect="1"/>
          </p:cNvPicPr>
          <p:nvPr/>
        </p:nvPicPr>
        <p:blipFill>
          <a:blip r:embed="rId8"/>
          <a:stretch>
            <a:fillRect/>
          </a:stretch>
        </p:blipFill>
        <p:spPr>
          <a:xfrm>
            <a:off x="6556248" y="2735580"/>
            <a:ext cx="440055"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pic>
        <p:nvPicPr>
          <p:cNvPr id="19" name="Picture 18" descr="map_blue.png"/>
          <p:cNvPicPr>
            <a:picLocks noChangeAspect="1"/>
          </p:cNvPicPr>
          <p:nvPr/>
        </p:nvPicPr>
        <p:blipFill>
          <a:blip r:embed="rId9"/>
          <a:stretch>
            <a:fillRect/>
          </a:stretch>
        </p:blipFill>
        <p:spPr>
          <a:xfrm>
            <a:off x="6556248" y="3863340"/>
            <a:ext cx="565785"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pic>
        <p:nvPicPr>
          <p:cNvPr id="21" name="Picture 20" descr="shield-halved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Surveys and outcomes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four surveys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lipboard-list_blue.png"/>
          <p:cNvPicPr>
            <a:picLocks noChangeAspect="1"/>
          </p:cNvPicPr>
          <p:nvPr/>
        </p:nvPicPr>
        <p:blipFill>
          <a:blip r:embed="rId3"/>
          <a:stretch>
            <a:fillRect/>
          </a:stretch>
        </p:blipFill>
        <p:spPr>
          <a:xfrm>
            <a:off x="1704213" y="1920240"/>
            <a:ext cx="548640" cy="731520"/>
          </a:xfrm>
          <a:prstGeom prst="rect">
            <a:avLst/>
          </a:prstGeom>
        </p:spPr>
      </p:pic>
      <p:sp>
        <p:nvSpPr>
          <p:cNvPr id="5" name="TextBox 4"/>
          <p:cNvSpPr txBox="1"/>
          <p:nvPr/>
        </p:nvSpPr>
        <p:spPr>
          <a:xfrm>
            <a:off x="9326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The Gambia</a:t>
            </a:r>
          </a:p>
        </p:txBody>
      </p:sp>
      <p:sp>
        <p:nvSpPr>
          <p:cNvPr id="6" name="TextBox 5"/>
          <p:cNvSpPr txBox="1"/>
          <p:nvPr/>
        </p:nvSpPr>
        <p:spPr>
          <a:xfrm>
            <a:off x="9784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Gambia Micronutrient Survey 2018 (GMNS)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Jan 2018 to Apr 2018</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30; clusters: 70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pboard-list_blue.png"/>
          <p:cNvPicPr>
            <a:picLocks noChangeAspect="1"/>
          </p:cNvPicPr>
          <p:nvPr/>
        </p:nvPicPr>
        <p:blipFill>
          <a:blip r:embed="rId3"/>
          <a:stretch>
            <a:fillRect/>
          </a:stretch>
        </p:blipFill>
        <p:spPr>
          <a:xfrm>
            <a:off x="4390263" y="1920240"/>
            <a:ext cx="548640" cy="731520"/>
          </a:xfrm>
          <a:prstGeom prst="rect">
            <a:avLst/>
          </a:prstGeom>
        </p:spPr>
      </p:pic>
      <p:sp>
        <p:nvSpPr>
          <p:cNvPr id="9" name="TextBox 8"/>
          <p:cNvSpPr txBox="1"/>
          <p:nvPr/>
        </p:nvSpPr>
        <p:spPr>
          <a:xfrm>
            <a:off x="36187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Ghana</a:t>
            </a:r>
          </a:p>
        </p:txBody>
      </p:sp>
      <p:sp>
        <p:nvSpPr>
          <p:cNvPr id="10" name="TextBox 9"/>
          <p:cNvSpPr txBox="1"/>
          <p:nvPr/>
        </p:nvSpPr>
        <p:spPr>
          <a:xfrm>
            <a:off x="36644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Ghana Micronutrient Survey 2017 (GMS)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Apr 2017 to Jun 2017</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75; clusters: 90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lipboard-list_blue.png"/>
          <p:cNvPicPr>
            <a:picLocks noChangeAspect="1"/>
          </p:cNvPicPr>
          <p:nvPr/>
        </p:nvPicPr>
        <p:blipFill>
          <a:blip r:embed="rId3"/>
          <a:stretch>
            <a:fillRect/>
          </a:stretch>
        </p:blipFill>
        <p:spPr>
          <a:xfrm>
            <a:off x="7076313" y="1920240"/>
            <a:ext cx="548640" cy="731520"/>
          </a:xfrm>
          <a:prstGeom prst="rect">
            <a:avLst/>
          </a:prstGeom>
        </p:spPr>
      </p:pic>
      <p:sp>
        <p:nvSpPr>
          <p:cNvPr id="13" name="TextBox 12"/>
          <p:cNvSpPr txBox="1"/>
          <p:nvPr/>
        </p:nvSpPr>
        <p:spPr>
          <a:xfrm>
            <a:off x="63047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Malawi</a:t>
            </a:r>
          </a:p>
        </p:txBody>
      </p:sp>
      <p:sp>
        <p:nvSpPr>
          <p:cNvPr id="14" name="TextBox 13"/>
          <p:cNvSpPr txBox="1"/>
          <p:nvPr/>
        </p:nvSpPr>
        <p:spPr>
          <a:xfrm>
            <a:off x="63505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Malawi Micronutrient Survey 2015-16 (MNS)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Dec 2015 to Feb 2016</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87; clusters: 103</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 zinc</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ipboard-list_blue.png"/>
          <p:cNvPicPr>
            <a:picLocks noChangeAspect="1"/>
          </p:cNvPicPr>
          <p:nvPr/>
        </p:nvPicPr>
        <p:blipFill>
          <a:blip r:embed="rId3"/>
          <a:stretch>
            <a:fillRect/>
          </a:stretch>
        </p:blipFill>
        <p:spPr>
          <a:xfrm>
            <a:off x="9762363" y="1920240"/>
            <a:ext cx="548640" cy="731520"/>
          </a:xfrm>
          <a:prstGeom prst="rect">
            <a:avLst/>
          </a:prstGeom>
        </p:spPr>
      </p:pic>
      <p:sp>
        <p:nvSpPr>
          <p:cNvPr id="17" name="TextBox 16"/>
          <p:cNvSpPr txBox="1"/>
          <p:nvPr/>
        </p:nvSpPr>
        <p:spPr>
          <a:xfrm>
            <a:off x="89908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Sierra Leone</a:t>
            </a:r>
          </a:p>
        </p:txBody>
      </p:sp>
      <p:sp>
        <p:nvSpPr>
          <p:cNvPr id="18" name="TextBox 17"/>
          <p:cNvSpPr txBox="1"/>
          <p:nvPr/>
        </p:nvSpPr>
        <p:spPr>
          <a:xfrm>
            <a:off x="90365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Sierra Leone Micronutrient Survey 2013 (SLMS)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Oct 2013 to Dec 2013</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14; clusters: 60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sp>
        <p:nvSpPr>
          <p:cNvPr id="3" name="Rounded Rectangle 2"/>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5" name="TextBox 4"/>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6" name="TextBox 5"/>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inflammation-adjusted (survey flag; not IDA)</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12 / &lt; 15 ug/L</a:t>
            </a:r>
          </a:p>
        </p:txBody>
      </p:sp>
      <p:sp>
        <p:nvSpPr>
          <p:cNvPr id="7" name="Rounded Rectangle 6"/>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rot_blue.png"/>
          <p:cNvPicPr>
            <a:picLocks noChangeAspect="1"/>
          </p:cNvPicPr>
          <p:nvPr/>
        </p:nvPicPr>
        <p:blipFill>
          <a:blip r:embed="rId4"/>
          <a:stretch>
            <a:fillRect/>
          </a:stretch>
        </p:blipFill>
        <p:spPr>
          <a:xfrm>
            <a:off x="3607308" y="1920240"/>
            <a:ext cx="685800" cy="685800"/>
          </a:xfrm>
          <a:prstGeom prst="rect">
            <a:avLst/>
          </a:prstGeom>
        </p:spPr>
      </p:pic>
      <p:sp>
        <p:nvSpPr>
          <p:cNvPr id="9" name="TextBox 8"/>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0" name="TextBox 9"/>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one BRINDA adjustment for all</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0.70 umol/L RBP</a:t>
            </a:r>
          </a:p>
        </p:txBody>
      </p:sp>
      <p:sp>
        <p:nvSpPr>
          <p:cNvPr id="11" name="Rounded Rectangle 10"/>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eaf_blue.png"/>
          <p:cNvPicPr>
            <a:picLocks noChangeAspect="1"/>
          </p:cNvPicPr>
          <p:nvPr/>
        </p:nvPicPr>
        <p:blipFill>
          <a:blip r:embed="rId5"/>
          <a:stretch>
            <a:fillRect/>
          </a:stretch>
        </p:blipFill>
        <p:spPr>
          <a:xfrm>
            <a:off x="5756148" y="1920240"/>
            <a:ext cx="685800" cy="685800"/>
          </a:xfrm>
          <a:prstGeom prst="rect">
            <a:avLst/>
          </a:prstGeom>
        </p:spPr>
      </p:pic>
      <p:sp>
        <p:nvSpPr>
          <p:cNvPr id="13" name="TextBox 12"/>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4" name="TextBox 13"/>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 (immunoassay GH, SL; microbiologic MW)</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10 nmol/L</a:t>
            </a:r>
          </a:p>
        </p:txBody>
      </p:sp>
      <p:sp>
        <p:nvSpPr>
          <p:cNvPr id="15" name="Rounded Rectangle 14"/>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gg_blue.png"/>
          <p:cNvPicPr>
            <a:picLocks noChangeAspect="1"/>
          </p:cNvPicPr>
          <p:nvPr/>
        </p:nvPicPr>
        <p:blipFill>
          <a:blip r:embed="rId6"/>
          <a:stretch>
            <a:fillRect/>
          </a:stretch>
        </p:blipFill>
        <p:spPr>
          <a:xfrm>
            <a:off x="7904988" y="1920240"/>
            <a:ext cx="514350" cy="685800"/>
          </a:xfrm>
          <a:prstGeom prst="rect">
            <a:avLst/>
          </a:prstGeom>
        </p:spPr>
      </p:pic>
      <p:sp>
        <p:nvSpPr>
          <p:cNvPr id="17" name="TextBox 16"/>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18" name="TextBox 17"/>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148-150 pmol/L</a:t>
            </a:r>
          </a:p>
        </p:txBody>
      </p:sp>
      <p:sp>
        <p:nvSpPr>
          <p:cNvPr id="19" name="Rounded Rectangle 18"/>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1" name="TextBox 20"/>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2" name="TextBox 21"/>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 IZiNCG flag, unadjusted</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by draw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94888" y="1691640"/>
            <a:ext cx="5608320" cy="420624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The proxy dataset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pic>
        <p:nvPicPr>
          <p:cNvPr id="3" name="Picture 2" descr="globe_blue.png"/>
          <p:cNvPicPr>
            <a:picLocks noChangeAspect="1"/>
          </p:cNvPicPr>
          <p:nvPr/>
        </p:nvPicPr>
        <p:blipFill>
          <a:blip r:embed="rId3"/>
          <a:stretch>
            <a:fillRect/>
          </a:stretch>
        </p:blipFill>
        <p:spPr>
          <a:xfrm>
            <a:off x="932688" y="1783080"/>
            <a:ext cx="73152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Available everywhere</a:t>
            </a:r>
          </a:p>
          <a:p>
            <a:pPr algn="l">
              <a:spcBef>
                <a:spcPts val="300"/>
              </a:spcBef>
            </a:pPr>
            <a:r>
              <a:rPr sz="1400" b="0">
                <a:solidFill>
                  <a:srgbClr val="333333"/>
                </a:solidFill>
                <a:latin typeface="Calibri"/>
              </a:rPr>
              <a:t>For every district of every country, surveyed or not, from a source anyone can reach.</a:t>
            </a:r>
          </a:p>
        </p:txBody>
      </p:sp>
      <p:pic>
        <p:nvPicPr>
          <p:cNvPr id="5" name="Picture 4" descr="scissors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Independent of the outcome</a:t>
            </a:r>
          </a:p>
          <a:p>
            <a:pPr algn="l">
              <a:spcBef>
                <a:spcPts val="300"/>
              </a:spcBef>
            </a:pPr>
            <a:r>
              <a:rPr sz="1400" b="0">
                <a:solidFill>
                  <a:srgbClr val="333333"/>
                </a:solidFill>
                <a:latin typeface="Calibri"/>
              </a:rPr>
              <a:t>Nothing from the biomarker survey we score against enters the predictors.</a:t>
            </a:r>
          </a:p>
        </p:txBody>
      </p:sp>
      <p:pic>
        <p:nvPicPr>
          <p:cNvPr id="7" name="Picture 6" descr="calendar-check_blue.png"/>
          <p:cNvPicPr>
            <a:picLocks noChangeAspect="1"/>
          </p:cNvPicPr>
          <p:nvPr/>
        </p:nvPicPr>
        <p:blipFill>
          <a:blip r:embed="rId5"/>
          <a:stretch>
            <a:fillRect/>
          </a:stretch>
        </p:blipFill>
        <p:spPr>
          <a:xfrm>
            <a:off x="932688" y="3977640"/>
            <a:ext cx="64008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Placed in time</a:t>
            </a:r>
          </a:p>
          <a:p>
            <a:pPr algn="l">
              <a:spcBef>
                <a:spcPts val="300"/>
              </a:spcBef>
            </a:pPr>
            <a:r>
              <a:rPr sz="1400" b="0">
                <a:solidFill>
                  <a:srgbClr val="333333"/>
                </a:solidFill>
                <a:latin typeface="Calibri"/>
              </a:rPr>
              <a:t>At the survey year, or as close as the source allows, with the gap recorded.</a:t>
            </a:r>
          </a:p>
        </p:txBody>
      </p:sp>
      <p:pic>
        <p:nvPicPr>
          <p:cNvPr id="9" name="Picture 8" descr="file-lines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Recorded</a:t>
            </a:r>
          </a:p>
          <a:p>
            <a:pPr algn="l">
              <a:spcBef>
                <a:spcPts val="300"/>
              </a:spcBef>
            </a:pPr>
            <a:r>
              <a:rPr sz="1400" b="0">
                <a:solidFill>
                  <a:srgbClr val="333333"/>
                </a:solidFill>
                <a:latin typeface="Calibri"/>
              </a:rPr>
              <a:t>Every column carries its source, the year used, how it was aggregated, and a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(1 of 2): land, climate, agriculture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75946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Earth Engine: TerraClimate</a:t>
                      </a:r>
                    </a:p>
                  </a:txBody>
                </a:tc>
                <a:tc>
                  <a:txBody>
                    <a:bodyPr/>
                    <a:lstStyle/>
                    <a:p>
                      <a:pPr lvl="0" indent="0" marL="0" algn="l">
                        <a:buNone/>
                      </a:pPr>
                      <a:r>
                        <a:rPr sz="1000"/>
                        <a:t>Monthly climate (rain, temperature, evapotranspiration, soil moisture), 4 km; survey year and 1991-2020 normals</a:t>
                      </a:r>
                    </a:p>
                  </a:txBody>
                </a:tc>
              </a:tr>
              <a:tr h="0">
                <a:tc>
                  <a:txBody>
                    <a:bodyPr/>
                    <a:lstStyle/>
                    <a:p>
                      <a:pPr lvl="0" indent="0" marL="0" algn="l">
                        <a:buNone/>
                      </a:pPr>
                      <a:r>
                        <a:rPr sz="1000"/>
                        <a:t>Earth Engine: MODIS</a:t>
                      </a:r>
                    </a:p>
                  </a:txBody>
                </a:tc>
                <a:tc>
                  <a:txBody>
                    <a:bodyPr/>
                    <a:lstStyle/>
                    <a:p>
                      <a:pPr lvl="0" indent="0" marL="0" algn="l">
                        <a:buNone/>
                      </a:pPr>
                      <a:r>
                        <a:rPr sz="1000"/>
                        <a:t>Land-surface temperature (1 km), NDVI and EVI (250 m) at the survey year, plus climatology and anomaly</a:t>
                      </a:r>
                    </a:p>
                  </a:txBody>
                </a:tc>
              </a:tr>
              <a:tr h="0">
                <a:tc>
                  <a:txBody>
                    <a:bodyPr/>
                    <a:lstStyle/>
                    <a:p>
                      <a:pPr lvl="0" indent="0" marL="0" algn="l">
                        <a:buNone/>
                      </a:pPr>
                      <a:r>
                        <a:rPr sz="1000"/>
                        <a:t>Earth Engine: land cover, lights, built-up</a:t>
                      </a:r>
                    </a:p>
                  </a:txBody>
                </a:tc>
                <a:tc>
                  <a:txBody>
                    <a:bodyPr/>
                    <a:lstStyle/>
                    <a:p>
                      <a:pPr lvl="0" indent="0" marL="0" algn="l">
                        <a:buNone/>
                      </a:pPr>
                      <a:r>
                        <a:rPr sz="1000"/>
                        <a:t>Copernicus land-cover fractions, night lights, GHSL built-up surface, human modification</a:t>
                      </a:r>
                    </a:p>
                  </a:txBody>
                </a:tc>
              </a:tr>
              <a:tr h="0">
                <a:tc>
                  <a:txBody>
                    <a:bodyPr/>
                    <a:lstStyle/>
                    <a:p>
                      <a:pPr lvl="0" indent="0" marL="0" algn="l">
                        <a:buNone/>
                      </a:pPr>
                      <a:r>
                        <a:rPr sz="1000"/>
                        <a:t>Earth Engine: productivity</a:t>
                      </a:r>
                    </a:p>
                  </a:txBody>
                </a:tc>
                <a:tc>
                  <a:txBody>
                    <a:bodyPr/>
                    <a:lstStyle/>
                    <a:p>
                      <a:pPr lvl="0" indent="0" marL="0" algn="l">
                        <a:buNone/>
                      </a:pPr>
                      <a:r>
                        <a:rPr sz="1000"/>
                        <a:t>MODIS NPP and GPP, WaPOR evapotranspiration, leaf area, grassland cover</a:t>
                      </a:r>
                    </a:p>
                  </a:txBody>
                </a:tc>
              </a:tr>
              <a:tr h="0">
                <a:tc>
                  <a:txBody>
                    <a:bodyPr/>
                    <a:lstStyle/>
                    <a:p>
                      <a:pPr lvl="0" indent="0" marL="0" algn="l">
                        <a:buNone/>
                      </a:pPr>
                      <a:r>
                        <a:rPr sz="1000"/>
                        <a:t>AlphaEarth</a:t>
                      </a:r>
                    </a:p>
                  </a:txBody>
                </a:tc>
                <a:tc>
                  <a:txBody>
                    <a:bodyPr/>
                    <a:lstStyle/>
                    <a:p>
                      <a:pPr lvl="0" indent="0" marL="0" algn="l">
                        <a:buNone/>
                      </a:pPr>
                      <a:r>
                        <a:rPr sz="1000"/>
                        <a:t>Google’s 64-number satellite embedding of a year of imagery, 10 m, 2017</a:t>
                      </a:r>
                    </a:p>
                  </a:txBody>
                </a:tc>
              </a:tr>
              <a:tr h="0">
                <a:tc>
                  <a:txBody>
                    <a:bodyPr/>
                    <a:lstStyle/>
                    <a:p>
                      <a:pPr lvl="0" indent="0" marL="0" algn="l">
                        <a:buNone/>
                      </a:pPr>
                      <a:r>
                        <a:rPr sz="1000"/>
                        <a:t>SoilGrids / iSDA</a:t>
                      </a:r>
                    </a:p>
                  </a:txBody>
                </a:tc>
                <a:tc>
                  <a:txBody>
                    <a:bodyPr/>
                    <a:lstStyle/>
                    <a:p>
                      <a:pPr lvl="0" indent="0" marL="0" algn="l">
                        <a:buNone/>
                      </a:pPr>
                      <a:r>
                        <a:rPr sz="1000"/>
                        <a:t>Soil nutrients at two depths, pH, texture, organic carbon (iSDA 30 m, SoilGrids 250 m)</a:t>
                      </a:r>
                    </a:p>
                  </a:txBody>
                </a:tc>
              </a:tr>
              <a:tr h="0">
                <a:tc>
                  <a:txBody>
                    <a:bodyPr/>
                    <a:lstStyle/>
                    <a:p>
                      <a:pPr lvl="0" indent="0" marL="0" algn="l">
                        <a:buNone/>
                      </a:pPr>
                      <a:r>
                        <a:rPr sz="1000"/>
                        <a:t>Koppen / AEZ</a:t>
                      </a:r>
                    </a:p>
                  </a:txBody>
                </a:tc>
                <a:tc>
                  <a:txBody>
                    <a:bodyPr/>
                    <a:lstStyle/>
                    <a:p>
                      <a:pPr lvl="0" indent="0" marL="0" algn="l">
                        <a:buNone/>
                      </a:pPr>
                      <a:r>
                        <a:rPr sz="1000"/>
                        <a:t>Climate classes and agro-ecological zones: class shares and purity</a:t>
                      </a:r>
                    </a:p>
                  </a:txBody>
                </a:tc>
              </a:tr>
              <a:tr h="0">
                <a:tc>
                  <a:txBody>
                    <a:bodyPr/>
                    <a:lstStyle/>
                    <a:p>
                      <a:pPr lvl="0" indent="0" marL="0" algn="l">
                        <a:buNone/>
                      </a:pPr>
                      <a:r>
                        <a:rPr sz="1000"/>
                        <a:t>JRC Surface Water / LSIB</a:t>
                      </a:r>
                    </a:p>
                  </a:txBody>
                </a:tc>
                <a:tc>
                  <a:txBody>
                    <a:bodyPr/>
                    <a:lstStyle/>
                    <a:p>
                      <a:pPr lvl="0" indent="0" marL="0" algn="l">
                        <a:buNone/>
                      </a:pPr>
                      <a:r>
                        <a:rPr sz="1000"/>
                        <a:t>Distance to permanent and seasonal water and to the coast</a:t>
                      </a:r>
                    </a:p>
                  </a:txBody>
                </a:tc>
              </a:tr>
              <a:tr h="0">
                <a:tc>
                  <a:txBody>
                    <a:bodyPr/>
                    <a:lstStyle/>
                    <a:p>
                      <a:pPr lvl="0" indent="0" marL="0" algn="l">
                        <a:buNone/>
                      </a:pPr>
                      <a:r>
                        <a:rPr sz="1000"/>
                        <a:t>MapSPAM</a:t>
                      </a:r>
                    </a:p>
                  </a:txBody>
                </a:tc>
                <a:tc>
                  <a:txBody>
                    <a:bodyPr/>
                    <a:lstStyle/>
                    <a:p>
                      <a:pPr lvl="0" indent="0" marL="0" algn="l">
                        <a:buNone/>
                      </a:pPr>
                      <a:r>
                        <a:rPr sz="1000"/>
                        <a:t>Crop area and production by crop, 10 km, 2010</a:t>
                      </a:r>
                    </a:p>
                  </a:txBody>
                </a:tc>
              </a:tr>
              <a:tr h="0">
                <a:tc>
                  <a:txBody>
                    <a:bodyPr/>
                    <a:lstStyle/>
                    <a:p>
                      <a:pPr lvl="0" indent="0" marL="0" algn="l">
                        <a:buNone/>
                      </a:pPr>
                      <a:r>
                        <a:rPr sz="1000"/>
                        <a:t>Gridded Livestock of the World</a:t>
                      </a:r>
                    </a:p>
                  </a:txBody>
                </a:tc>
                <a:tc>
                  <a:txBody>
                    <a:bodyPr/>
                    <a:lstStyle/>
                    <a:p>
                      <a:pPr lvl="0" indent="0" marL="0" algn="l">
                        <a:buNone/>
                      </a:pPr>
                      <a:r>
                        <a:rPr sz="1000"/>
                        <a:t>Cattle, sheep, goats, pigs and poultry per km2, 10 km, 2015</a:t>
                      </a:r>
                    </a:p>
                  </a:txBody>
                </a:tc>
              </a:tr>
              <a:tr h="0">
                <a:tc>
                  <a:txBody>
                    <a:bodyPr/>
                    <a:lstStyle/>
                    <a:p>
                      <a:pPr lvl="0" indent="0" marL="0" algn="l">
                        <a:buNone/>
                      </a:pPr>
                      <a:r>
                        <a:rPr sz="1000"/>
                        <a:t>WorldPop / GHSL / GPW / RWI</a:t>
                      </a:r>
                    </a:p>
                  </a:txBody>
                </a:tc>
                <a:tc>
                  <a:txBody>
                    <a:bodyPr/>
                    <a:lstStyle/>
                    <a:p>
                      <a:pPr lvl="0" indent="0" marL="0" algn="l">
                        <a:buNone/>
                      </a:pPr>
                      <a:r>
                        <a:rPr sz="1000"/>
                        <a:t>Population, age-sex structure and density; Meta’s relative wealth index</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(2 of 2): health, food, households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36800"/>
                <a:gridCol w="81788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IHME modelled surfaces</a:t>
                      </a:r>
                    </a:p>
                  </a:txBody>
                </a:tc>
                <a:tc>
                  <a:txBody>
                    <a:bodyPr/>
                    <a:lstStyle/>
                    <a:p>
                      <a:pPr lvl="0" indent="0" marL="0" algn="l">
                        <a:buNone/>
                      </a:pPr>
                      <a:r>
                        <a:rPr sz="1000"/>
                        <a:t>5 km modelled surfaces: child growth, anaemia, WASH, education, ORS, HIV, malaria, measles vaccination</a:t>
                      </a:r>
                    </a:p>
                  </a:txBody>
                </a:tc>
              </a:tr>
              <a:tr h="0">
                <a:tc>
                  <a:txBody>
                    <a:bodyPr/>
                    <a:lstStyle/>
                    <a:p>
                      <a:pPr lvl="0" indent="0" marL="0" algn="l">
                        <a:buNone/>
                      </a:pPr>
                      <a:r>
                        <a:rPr sz="1000"/>
                        <a:t>Malaria Atlas Project</a:t>
                      </a:r>
                    </a:p>
                  </a:txBody>
                </a:tc>
                <a:tc>
                  <a:txBody>
                    <a:bodyPr/>
                    <a:lstStyle/>
                    <a:p>
                      <a:pPr lvl="0" indent="0" marL="0" algn="l">
                        <a:buNone/>
                      </a:pPr>
                      <a:r>
                        <a:rPr sz="1000"/>
                        <a:t>Parasite rate, incidence, mortality, net use and spraying, 5 km, at the survey year</a:t>
                      </a:r>
                    </a:p>
                  </a:txBody>
                </a:tc>
              </a:tr>
              <a:tr h="0">
                <a:tc>
                  <a:txBody>
                    <a:bodyPr/>
                    <a:lstStyle/>
                    <a:p>
                      <a:pPr lvl="0" indent="0" marL="0" algn="l">
                        <a:buNone/>
                      </a:pPr>
                      <a:r>
                        <a:rPr sz="1000"/>
                        <a:t>WHO ESPEN</a:t>
                      </a:r>
                    </a:p>
                  </a:txBody>
                </a:tc>
                <a:tc>
                  <a:txBody>
                    <a:bodyPr/>
                    <a:lstStyle/>
                    <a:p>
                      <a:pPr lvl="0" indent="0" marL="0" algn="l">
                        <a:buNone/>
                      </a:pPr>
                      <a:r>
                        <a:rPr sz="1000"/>
                        <a:t>Helminth endemicity and mass-treatment coverage by implementation unit</a:t>
                      </a:r>
                    </a:p>
                  </a:txBody>
                </a:tc>
              </a:tr>
              <a:tr h="0">
                <a:tc>
                  <a:txBody>
                    <a:bodyPr/>
                    <a:lstStyle/>
                    <a:p>
                      <a:pPr lvl="0" indent="0" marL="0" algn="l">
                        <a:buNone/>
                      </a:pPr>
                      <a:r>
                        <a:rPr sz="1000"/>
                        <a:t>WHO anaemia; UNICEF VAS; WHO FluNet</a:t>
                      </a:r>
                    </a:p>
                  </a:txBody>
                </a:tc>
                <a:tc>
                  <a:txBody>
                    <a:bodyPr/>
                    <a:lstStyle/>
                    <a:p>
                      <a:pPr lvl="0" indent="0" marL="0" algn="l">
                        <a:buNone/>
                      </a:pPr>
                      <a:r>
                        <a:rPr sz="1000"/>
                        <a:t>National series: anaemia prevalence, vitamin A supplementation, influenza counts</a:t>
                      </a:r>
                    </a:p>
                  </a:txBody>
                </a:tc>
              </a:tr>
              <a:tr h="0">
                <a:tc>
                  <a:txBody>
                    <a:bodyPr/>
                    <a:lstStyle/>
                    <a:p>
                      <a:pPr lvl="0" indent="0" marL="0" algn="l">
                        <a:buNone/>
                      </a:pPr>
                      <a:r>
                        <a:rPr sz="1000"/>
                        <a:t>WFP market prices; World Bank RTFP</a:t>
                      </a:r>
                    </a:p>
                  </a:txBody>
                </a:tc>
                <a:tc>
                  <a:txBody>
                    <a:bodyPr/>
                    <a:lstStyle/>
                    <a:p>
                      <a:pPr lvl="0" indent="0" marL="0" algn="l">
                        <a:buNone/>
                      </a:pPr>
                      <a:r>
                        <a:rPr sz="1000"/>
                        <a:t>Monthly market food prices, distance-weighted to districts over the survey year (RTFP: Gambia, Malawi)</a:t>
                      </a:r>
                    </a:p>
                  </a:txBody>
                </a:tc>
              </a:tr>
              <a:tr h="0">
                <a:tc>
                  <a:txBody>
                    <a:bodyPr/>
                    <a:lstStyle/>
                    <a:p>
                      <a:pPr lvl="0" indent="0" marL="0" algn="l">
                        <a:buNone/>
                      </a:pPr>
                      <a:r>
                        <a:rPr sz="1000"/>
                        <a:t>FAOSTAT; HFID</a:t>
                      </a:r>
                    </a:p>
                  </a:txBody>
                </a:tc>
                <a:tc>
                  <a:txBody>
                    <a:bodyPr/>
                    <a:lstStyle/>
                    <a:p>
                      <a:pPr lvl="0" indent="0" marL="0" algn="l">
                        <a:buNone/>
                      </a:pPr>
                      <a:r>
                        <a:rPr sz="1000"/>
                        <a:t>National food balance sheets; FEWS NET / IPC food-security phases and indicators</a:t>
                      </a:r>
                    </a:p>
                  </a:txBody>
                </a:tc>
              </a:tr>
              <a:tr h="0">
                <a:tc>
                  <a:txBody>
                    <a:bodyPr/>
                    <a:lstStyle/>
                    <a:p>
                      <a:pPr lvl="0" indent="0" marL="0" algn="l">
                        <a:buNone/>
                      </a:pPr>
                      <a:r>
                        <a:rPr sz="1000"/>
                        <a:t>GFDx</a:t>
                      </a:r>
                    </a:p>
                  </a:txBody>
                </a:tc>
                <a:tc>
                  <a:txBody>
                    <a:bodyPr/>
                    <a:lstStyle/>
                    <a:p>
                      <a:pPr lvl="0" indent="0" marL="0" algn="l">
                        <a:buNone/>
                      </a:pPr>
                      <a:r>
                        <a:rPr sz="1000"/>
                        <a:t>Fortification standards and coverage by food vehicle, mostly national</a:t>
                      </a:r>
                    </a:p>
                  </a:txBody>
                </a:tc>
              </a:tr>
              <a:tr h="0">
                <a:tc>
                  <a:txBody>
                    <a:bodyPr/>
                    <a:lstStyle/>
                    <a:p>
                      <a:pPr lvl="0" indent="0" marL="0" algn="l">
                        <a:buNone/>
                      </a:pPr>
                      <a:r>
                        <a:rPr sz="1000"/>
                        <a:t>MIMI (Tang et al. 2026)</a:t>
                      </a:r>
                    </a:p>
                  </a:txBody>
                </a:tc>
                <a:tc>
                  <a:txBody>
                    <a:bodyPr/>
                    <a:lstStyle/>
                    <a:p>
                      <a:pPr lvl="0" indent="0" marL="0" algn="l">
                        <a:buNone/>
                      </a:pPr>
                      <a:r>
                        <a:rPr sz="1000"/>
                        <a:t>Modelled dietary micronutrient inadequacy from GLSS7, Ghana regions</a:t>
                      </a:r>
                    </a:p>
                  </a:txBody>
                </a:tc>
              </a:tr>
              <a:tr h="0">
                <a:tc>
                  <a:txBody>
                    <a:bodyPr/>
                    <a:lstStyle/>
                    <a:p>
                      <a:pPr lvl="0" indent="0" marL="0" algn="l">
                        <a:buNone/>
                      </a:pPr>
                      <a:r>
                        <a:rPr sz="1000"/>
                        <a:t>DHS</a:t>
                      </a:r>
                    </a:p>
                  </a:txBody>
                </a:tc>
                <a:tc>
                  <a:txBody>
                    <a:bodyPr/>
                    <a:lstStyle/>
                    <a:p>
                      <a:pPr lvl="0" indent="0" marL="0" algn="l">
                        <a:buNone/>
                      </a:pPr>
                      <a:r>
                        <a:rPr sz="1000"/>
                        <a:t>150 district indicators from the paired round, cluster spatial model</a:t>
                      </a:r>
                    </a:p>
                  </a:txBody>
                </a:tc>
              </a:tr>
              <a:tr h="0">
                <a:tc>
                  <a:txBody>
                    <a:bodyPr/>
                    <a:lstStyle/>
                    <a:p>
                      <a:pPr lvl="0" indent="0" marL="0" algn="l">
                        <a:buNone/>
                      </a:pPr>
                      <a:r>
                        <a:rPr sz="1000"/>
                        <a:t>MICS microdata; MICS via WHO HEAT</a:t>
                      </a:r>
                    </a:p>
                  </a:txBody>
                </a:tc>
                <a:tc>
                  <a:txBody>
                    <a:bodyPr/>
                    <a:lstStyle/>
                    <a:p>
                      <a:pPr lvl="0" indent="0" marL="0" algn="l">
                        <a:buNone/>
                      </a:pPr>
                      <a:r>
                        <a:rPr sz="1000"/>
                        <a:t>30 indicators from the public microdata (WASH, wealth, education, child feeding, health); 19 regional indicators via WHO HEAT</a:t>
                      </a:r>
                    </a:p>
                  </a:txBody>
                </a:tc>
              </a:tr>
              <a:tr h="0">
                <a:tc>
                  <a:txBody>
                    <a:bodyPr/>
                    <a:lstStyle/>
                    <a:p>
                      <a:pPr lvl="0" indent="0" marL="0" algn="l">
                        <a:buNone/>
                      </a:pPr>
                      <a:r>
                        <a:rPr sz="1000"/>
                        <a:t>Household budget surveys (HCES)</a:t>
                      </a:r>
                    </a:p>
                  </a:txBody>
                </a:tc>
                <a:tc>
                  <a:txBody>
                    <a:bodyPr/>
                    <a:lstStyle/>
                    <a:p>
                      <a:pPr lvl="0" indent="0" marL="0" algn="l">
                        <a:buNone/>
                      </a:pPr>
                      <a:r>
                        <a:rPr sz="1000"/>
                        <a:t>Food share, own production, consumption level, 7-day food groups (IHS, GLSS7, IHS4, SLIHS)</a:t>
                      </a:r>
                    </a:p>
                  </a:txBody>
                </a:tc>
              </a:tr>
              <a:tr h="0">
                <a:tc>
                  <a:txBody>
                    <a:bodyPr/>
                    <a:lstStyle/>
                    <a:p>
                      <a:pPr lvl="0" indent="0" marL="0" algn="l">
                        <a:buNone/>
                      </a:pPr>
                      <a:r>
                        <a:rPr sz="1000"/>
                        <a:t>Global Data Lab</a:t>
                      </a:r>
                    </a:p>
                  </a:txBody>
                </a:tc>
                <a:tc>
                  <a:txBody>
                    <a:bodyPr/>
                    <a:lstStyle/>
                    <a:p>
                      <a:pPr lvl="0" indent="0" marL="0" algn="l">
                        <a:buNone/>
                      </a:pPr>
                      <a:r>
                        <a:rPr sz="1000"/>
                        <a:t>Subnational human development index</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sources</a:t>
            </a:r>
          </a:p>
        </p:txBody>
      </p:sp>
      <p:sp>
        <p:nvSpPr>
          <p:cNvPr id="3" name="Content Placeholder 2"/>
          <p:cNvSpPr>
            <a:spLocks noGrp="1"/>
          </p:cNvSpPr>
          <p:nvPr>
            <p:ph idx="1" sz="half"/>
          </p:nvPr>
        </p:nvSpPr>
        <p:spPr/>
        <p:txBody>
          <a:bodyPr/>
          <a:lstStyle/>
          <a:p>
            <a:pPr lvl="0" indent="0" marL="0">
              <a:buNone/>
            </a:pPr>
            <a:r>
              <a:rPr sz="1800"/>
              <a:t>575 columns from 28 sources, harmonised onto one district spine. 518 exist in all four countries and can serve a model for a new country; the other 57 exist in one to three and are used inside the countries that have them.</a:t>
            </a:r>
          </a:p>
        </p:txBody>
      </p:sp>
      <p:pic>
        <p:nvPicPr>
          <p:cNvPr descr="MN-proxy-full-talk-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000"/>
                        <a:t>Native form</a:t>
                      </a:r>
                    </a:p>
                  </a:txBody>
                  <a:tcPr/>
                </a:tc>
                <a:tc>
                  <a:txBody>
                    <a:bodyPr/>
                    <a:lstStyle/>
                    <a:p>
                      <a:pPr lvl="0" indent="0" marL="0" algn="l">
                        <a:buNone/>
                      </a:pPr>
                      <a:r>
                        <a:rPr sz="1000"/>
                        <a:t>Examples</a:t>
                      </a:r>
                    </a:p>
                  </a:txBody>
                  <a:tcPr/>
                </a:tc>
                <a:tc>
                  <a:txBody>
                    <a:bodyPr/>
                    <a:lstStyle/>
                    <a:p>
                      <a:pPr lvl="0" indent="0" marL="0" algn="l">
                        <a:buNone/>
                      </a:pPr>
                      <a:r>
                        <a:rPr sz="1000"/>
                        <a:t>To a district</a:t>
                      </a:r>
                    </a:p>
                  </a:txBody>
                  <a:tcPr/>
                </a:tc>
                <a:tc>
                  <a:txBody>
                    <a:bodyPr/>
                    <a:lstStyle/>
                    <a:p>
                      <a:pPr lvl="0" indent="0" marL="0" algn="l">
                        <a:buNone/>
                      </a:pPr>
                      <a:r>
                        <a:rPr sz="1000"/>
                        <a:t>Time</a:t>
                      </a:r>
                    </a:p>
                  </a:txBody>
                  <a:tcPr/>
                </a:tc>
              </a:tr>
              <a:tr h="0">
                <a:tc>
                  <a:txBody>
                    <a:bodyPr/>
                    <a:lstStyle/>
                    <a:p>
                      <a:pPr lvl="0" indent="0" marL="0" algn="l">
                        <a:buNone/>
                      </a:pPr>
                      <a:r>
                        <a:rPr sz="1000"/>
                        <a:t>Gridded raster (30 m to 10 km)</a:t>
                      </a:r>
                    </a:p>
                  </a:txBody>
                </a:tc>
                <a:tc>
                  <a:txBody>
                    <a:bodyPr/>
                    <a:lstStyle/>
                    <a:p>
                      <a:pPr lvl="0" indent="0" marL="0" algn="l">
                        <a:buNone/>
                      </a:pPr>
                      <a:r>
                        <a:rPr sz="1000"/>
                        <a:t>Climate, soil, satellite, IHME and MAP surfaces, population</a:t>
                      </a:r>
                    </a:p>
                  </a:txBody>
                </a:tc>
                <a:tc>
                  <a:txBody>
                    <a:bodyPr/>
                    <a:lstStyle/>
                    <a:p>
                      <a:pPr lvl="0" indent="0" marL="0" algn="l">
                        <a:buNone/>
                      </a:pPr>
                      <a:r>
                        <a:rPr sz="1000"/>
                        <a:t>Zonal mean over the district polygon, area- or population-weighted</a:t>
                      </a:r>
                    </a:p>
                  </a:txBody>
                </a:tc>
                <a:tc>
                  <a:txBody>
                    <a:bodyPr/>
                    <a:lstStyle/>
                    <a:p>
                      <a:pPr lvl="0" indent="0" marL="0" algn="l">
                        <a:buNone/>
                      </a:pPr>
                      <a:r>
                        <a:rPr sz="1000"/>
                        <a:t>Survey year, nearest year, or 30-year normal plus anomaly</a:t>
                      </a:r>
                    </a:p>
                  </a:txBody>
                </a:tc>
              </a:tr>
              <a:tr h="0">
                <a:tc>
                  <a:txBody>
                    <a:bodyPr/>
                    <a:lstStyle/>
                    <a:p>
                      <a:pPr lvl="0" indent="0" marL="0" algn="l">
                        <a:buNone/>
                      </a:pPr>
                      <a:r>
                        <a:rPr sz="1000"/>
                        <a:t>Survey with GPS clusters</a:t>
                      </a:r>
                    </a:p>
                  </a:txBody>
                </a:tc>
                <a:tc>
                  <a:txBody>
                    <a:bodyPr/>
                    <a:lstStyle/>
                    <a:p>
                      <a:pPr lvl="0" indent="0" marL="0" algn="l">
                        <a:buNone/>
                      </a:pPr>
                      <a:r>
                        <a:rPr sz="1000"/>
                        <a:t>DHS; MICS 2018 in The Gambia, 2017 in Sierra Leone</a:t>
                      </a:r>
                    </a:p>
                  </a:txBody>
                </a:tc>
                <a:tc>
                  <a:txBody>
                    <a:bodyPr/>
                    <a:lstStyle/>
                    <a:p>
                      <a:pPr lvl="0" indent="0" marL="0" algn="l">
                        <a:buNone/>
                      </a:pPr>
                      <a:r>
                        <a:rPr sz="1000"/>
                        <a:t>DHS: cluster spatial model (BYM2) so every district has a value; MICS: clusters inside the polygon, minimum 30 households</a:t>
                      </a:r>
                    </a:p>
                  </a:txBody>
                </a:tc>
                <a:tc>
                  <a:txBody>
                    <a:bodyPr/>
                    <a:lstStyle/>
                    <a:p>
                      <a:pPr lvl="0" indent="0" marL="0" algn="l">
                        <a:buNone/>
                      </a:pPr>
                      <a:r>
                        <a:rPr sz="1000"/>
                        <a:t>The round paired with the biomarker survey</a:t>
                      </a:r>
                    </a:p>
                  </a:txBody>
                </a:tc>
              </a:tr>
              <a:tr h="0">
                <a:tc>
                  <a:txBody>
                    <a:bodyPr/>
                    <a:lstStyle/>
                    <a:p>
                      <a:pPr lvl="0" indent="0" marL="0" algn="l">
                        <a:buNone/>
                      </a:pPr>
                      <a:r>
                        <a:rPr sz="1000"/>
                        <a:t>Survey identified to region or district</a:t>
                      </a:r>
                    </a:p>
                  </a:txBody>
                </a:tc>
                <a:tc>
                  <a:txBody>
                    <a:bodyPr/>
                    <a:lstStyle/>
                    <a:p>
                      <a:pPr lvl="0" indent="0" marL="0" algn="l">
                        <a:buNone/>
                      </a:pPr>
                      <a:r>
                        <a:rPr sz="1000"/>
                        <a:t>MICS in Ghana and Malawi; household budget surveys</a:t>
                      </a:r>
                    </a:p>
                  </a:txBody>
                </a:tc>
                <a:tc>
                  <a:txBody>
                    <a:bodyPr/>
                    <a:lstStyle/>
                    <a:p>
                      <a:pPr lvl="0" indent="0" marL="0" algn="l">
                        <a:buNone/>
                      </a:pPr>
                      <a:r>
                        <a:rPr sz="1000"/>
                        <a:t>Value of the smallest survey unit that contains the district, flagged as the parent’s value</a:t>
                      </a:r>
                    </a:p>
                  </a:txBody>
                </a:tc>
                <a:tc>
                  <a:txBody>
                    <a:bodyPr/>
                    <a:lstStyle/>
                    <a:p>
                      <a:pPr lvl="0" indent="0" marL="0" algn="l">
                        <a:buNone/>
                      </a:pPr>
                      <a:r>
                        <a:rPr sz="1000"/>
                        <a:t>The round nearest the survey</a:t>
                      </a:r>
                    </a:p>
                  </a:txBody>
                </a:tc>
              </a:tr>
              <a:tr h="0">
                <a:tc>
                  <a:txBody>
                    <a:bodyPr/>
                    <a:lstStyle/>
                    <a:p>
                      <a:pPr lvl="0" indent="0" marL="0" algn="l">
                        <a:buNone/>
                      </a:pPr>
                      <a:r>
                        <a:rPr sz="1000"/>
                        <a:t>National series</a:t>
                      </a:r>
                    </a:p>
                  </a:txBody>
                </a:tc>
                <a:tc>
                  <a:txBody>
                    <a:bodyPr/>
                    <a:lstStyle/>
                    <a:p>
                      <a:pPr lvl="0" indent="0" marL="0" algn="l">
                        <a:buNone/>
                      </a:pPr>
                      <a:r>
                        <a:rPr sz="1000"/>
                        <a:t>FAOSTAT balances, GFDx programme fields, FluNet</a:t>
                      </a:r>
                    </a:p>
                  </a:txBody>
                </a:tc>
                <a:tc>
                  <a:txBody>
                    <a:bodyPr/>
                    <a:lstStyle/>
                    <a:p>
                      <a:pPr lvl="0" indent="0" marL="0" algn="l">
                        <a:buNone/>
                      </a:pPr>
                      <a:r>
                        <a:rPr sz="1000"/>
                        <a:t>Constant within a country; dropped when the model is fitted</a:t>
                      </a:r>
                    </a:p>
                  </a:txBody>
                </a:tc>
                <a:tc>
                  <a:txBody>
                    <a:bodyPr/>
                    <a:lstStyle/>
                    <a:p>
                      <a:pPr lvl="0" indent="0" marL="0" algn="l">
                        <a:buNone/>
                      </a:pPr>
                      <a:r>
                        <a:rPr sz="1000"/>
                        <a:t>Survey year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space: one spine, coded keys</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time: four surveys, four years</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136 columns sit on the survey year in every country and 78 are static layers. 305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full-talk-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Rounded Rectangle 2"/>
          <p:cNvSpPr/>
          <p:nvPr/>
        </p:nvSpPr>
        <p:spPr>
          <a:xfrm>
            <a:off x="84124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atellite_blue.png"/>
          <p:cNvPicPr>
            <a:picLocks noChangeAspect="1"/>
          </p:cNvPicPr>
          <p:nvPr/>
        </p:nvPicPr>
        <p:blipFill>
          <a:blip r:embed="rId3"/>
          <a:stretch>
            <a:fillRect/>
          </a:stretch>
        </p:blipFill>
        <p:spPr>
          <a:xfrm>
            <a:off x="978408" y="1891665"/>
            <a:ext cx="548640" cy="548640"/>
          </a:xfrm>
          <a:prstGeom prst="rect">
            <a:avLst/>
          </a:prstGeom>
        </p:spPr>
      </p:pic>
      <p:sp>
        <p:nvSpPr>
          <p:cNvPr id="5" name="TextBox 4"/>
          <p:cNvSpPr txBox="1"/>
          <p:nvPr/>
        </p:nvSpPr>
        <p:spPr>
          <a:xfrm>
            <a:off x="166420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6" name="Rounded Rectangle 5"/>
          <p:cNvSpPr/>
          <p:nvPr/>
        </p:nvSpPr>
        <p:spPr>
          <a:xfrm>
            <a:off x="625906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ound_blue.png"/>
          <p:cNvPicPr>
            <a:picLocks noChangeAspect="1"/>
          </p:cNvPicPr>
          <p:nvPr/>
        </p:nvPicPr>
        <p:blipFill>
          <a:blip r:embed="rId4"/>
          <a:stretch>
            <a:fillRect/>
          </a:stretch>
        </p:blipFill>
        <p:spPr>
          <a:xfrm>
            <a:off x="6396228" y="1891665"/>
            <a:ext cx="617220" cy="548640"/>
          </a:xfrm>
          <a:prstGeom prst="rect">
            <a:avLst/>
          </a:prstGeom>
        </p:spPr>
      </p:pic>
      <p:sp>
        <p:nvSpPr>
          <p:cNvPr id="8" name="TextBox 7"/>
          <p:cNvSpPr txBox="1"/>
          <p:nvPr/>
        </p:nvSpPr>
        <p:spPr>
          <a:xfrm>
            <a:off x="708202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9" name="Rounded Rectangle 8"/>
          <p:cNvSpPr/>
          <p:nvPr/>
        </p:nvSpPr>
        <p:spPr>
          <a:xfrm>
            <a:off x="84124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ractor_blue.png"/>
          <p:cNvPicPr>
            <a:picLocks noChangeAspect="1"/>
          </p:cNvPicPr>
          <p:nvPr/>
        </p:nvPicPr>
        <p:blipFill>
          <a:blip r:embed="rId5"/>
          <a:stretch>
            <a:fillRect/>
          </a:stretch>
        </p:blipFill>
        <p:spPr>
          <a:xfrm>
            <a:off x="978408" y="2977515"/>
            <a:ext cx="685800" cy="548640"/>
          </a:xfrm>
          <a:prstGeom prst="rect">
            <a:avLst/>
          </a:prstGeom>
        </p:spPr>
      </p:pic>
      <p:sp>
        <p:nvSpPr>
          <p:cNvPr id="11" name="TextBox 10"/>
          <p:cNvSpPr txBox="1"/>
          <p:nvPr/>
        </p:nvSpPr>
        <p:spPr>
          <a:xfrm>
            <a:off x="166420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2" name="Rounded Rectangle 11"/>
          <p:cNvSpPr/>
          <p:nvPr/>
        </p:nvSpPr>
        <p:spPr>
          <a:xfrm>
            <a:off x="625906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sket-shopping_blue.png"/>
          <p:cNvPicPr>
            <a:picLocks noChangeAspect="1"/>
          </p:cNvPicPr>
          <p:nvPr/>
        </p:nvPicPr>
        <p:blipFill>
          <a:blip r:embed="rId6"/>
          <a:stretch>
            <a:fillRect/>
          </a:stretch>
        </p:blipFill>
        <p:spPr>
          <a:xfrm>
            <a:off x="6396228" y="2977515"/>
            <a:ext cx="617220" cy="548640"/>
          </a:xfrm>
          <a:prstGeom prst="rect">
            <a:avLst/>
          </a:prstGeom>
        </p:spPr>
      </p:pic>
      <p:sp>
        <p:nvSpPr>
          <p:cNvPr id="14" name="TextBox 13"/>
          <p:cNvSpPr txBox="1"/>
          <p:nvPr/>
        </p:nvSpPr>
        <p:spPr>
          <a:xfrm>
            <a:off x="708202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5" name="Rounded Rectangle 14"/>
          <p:cNvSpPr/>
          <p:nvPr/>
        </p:nvSpPr>
        <p:spPr>
          <a:xfrm>
            <a:off x="84124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rus_blue.png"/>
          <p:cNvPicPr>
            <a:picLocks noChangeAspect="1"/>
          </p:cNvPicPr>
          <p:nvPr/>
        </p:nvPicPr>
        <p:blipFill>
          <a:blip r:embed="rId7"/>
          <a:stretch>
            <a:fillRect/>
          </a:stretch>
        </p:blipFill>
        <p:spPr>
          <a:xfrm>
            <a:off x="978408" y="4063365"/>
            <a:ext cx="548640" cy="548640"/>
          </a:xfrm>
          <a:prstGeom prst="rect">
            <a:avLst/>
          </a:prstGeom>
        </p:spPr>
      </p:pic>
      <p:sp>
        <p:nvSpPr>
          <p:cNvPr id="17" name="TextBox 16"/>
          <p:cNvSpPr txBox="1"/>
          <p:nvPr/>
        </p:nvSpPr>
        <p:spPr>
          <a:xfrm>
            <a:off x="166420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18" name="Rounded Rectangle 17"/>
          <p:cNvSpPr/>
          <p:nvPr/>
        </p:nvSpPr>
        <p:spPr>
          <a:xfrm>
            <a:off x="625906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hild_blue.png"/>
          <p:cNvPicPr>
            <a:picLocks noChangeAspect="1"/>
          </p:cNvPicPr>
          <p:nvPr/>
        </p:nvPicPr>
        <p:blipFill>
          <a:blip r:embed="rId8"/>
          <a:stretch>
            <a:fillRect/>
          </a:stretch>
        </p:blipFill>
        <p:spPr>
          <a:xfrm>
            <a:off x="6396228" y="4063365"/>
            <a:ext cx="342900" cy="548640"/>
          </a:xfrm>
          <a:prstGeom prst="rect">
            <a:avLst/>
          </a:prstGeom>
        </p:spPr>
      </p:pic>
      <p:sp>
        <p:nvSpPr>
          <p:cNvPr id="20" name="TextBox 19"/>
          <p:cNvSpPr txBox="1"/>
          <p:nvPr/>
        </p:nvSpPr>
        <p:spPr>
          <a:xfrm>
            <a:off x="708202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anaemia surfaces; infant and young child feeding</a:t>
            </a:r>
          </a:p>
        </p:txBody>
      </p:sp>
      <p:sp>
        <p:nvSpPr>
          <p:cNvPr id="21" name="Rounded Rectangle 20"/>
          <p:cNvSpPr/>
          <p:nvPr/>
        </p:nvSpPr>
        <p:spPr>
          <a:xfrm>
            <a:off x="84124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ouse-chimney_blue.png"/>
          <p:cNvPicPr>
            <a:picLocks noChangeAspect="1"/>
          </p:cNvPicPr>
          <p:nvPr/>
        </p:nvPicPr>
        <p:blipFill>
          <a:blip r:embed="rId9"/>
          <a:stretch>
            <a:fillRect/>
          </a:stretch>
        </p:blipFill>
        <p:spPr>
          <a:xfrm>
            <a:off x="978408" y="5149215"/>
            <a:ext cx="617220" cy="548640"/>
          </a:xfrm>
          <a:prstGeom prst="rect">
            <a:avLst/>
          </a:prstGeom>
        </p:spPr>
      </p:pic>
      <p:sp>
        <p:nvSpPr>
          <p:cNvPr id="23" name="TextBox 22"/>
          <p:cNvSpPr txBox="1"/>
          <p:nvPr/>
        </p:nvSpPr>
        <p:spPr>
          <a:xfrm>
            <a:off x="166420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4" name="Rounded Rectangle 23"/>
          <p:cNvSpPr/>
          <p:nvPr/>
        </p:nvSpPr>
        <p:spPr>
          <a:xfrm>
            <a:off x="625906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ity_blue.png"/>
          <p:cNvPicPr>
            <a:picLocks noChangeAspect="1"/>
          </p:cNvPicPr>
          <p:nvPr/>
        </p:nvPicPr>
        <p:blipFill>
          <a:blip r:embed="rId10"/>
          <a:stretch>
            <a:fillRect/>
          </a:stretch>
        </p:blipFill>
        <p:spPr>
          <a:xfrm>
            <a:off x="6396228" y="5149215"/>
            <a:ext cx="685800" cy="548640"/>
          </a:xfrm>
          <a:prstGeom prst="rect">
            <a:avLst/>
          </a:prstGeom>
        </p:spPr>
      </p:pic>
      <p:sp>
        <p:nvSpPr>
          <p:cNvPr id="26" name="TextBox 25"/>
          <p:cNvSpPr txBox="1"/>
          <p:nvPr/>
        </p:nvSpPr>
        <p:spPr>
          <a:xfrm>
            <a:off x="708202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Rounded Rectangle 2"/>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vials_blue.png"/>
          <p:cNvPicPr>
            <a:picLocks noChangeAspect="1"/>
          </p:cNvPicPr>
          <p:nvPr/>
        </p:nvPicPr>
        <p:blipFill>
          <a:blip r:embed="rId3"/>
          <a:stretch>
            <a:fillRect/>
          </a:stretch>
        </p:blipFill>
        <p:spPr>
          <a:xfrm>
            <a:off x="1024128" y="1856232"/>
            <a:ext cx="566928" cy="566928"/>
          </a:xfrm>
          <a:prstGeom prst="rect">
            <a:avLst/>
          </a:prstGeom>
        </p:spPr>
      </p:pic>
      <p:sp>
        <p:nvSpPr>
          <p:cNvPr id="5" name="TextBox 4"/>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6" name="TextBox 5"/>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national micronutrient surveys; one uniform outcome definition per nutrient across countries.</a:t>
            </a:r>
          </a:p>
        </p:txBody>
      </p:sp>
      <p:sp>
        <p:nvSpPr>
          <p:cNvPr id="7" name="Chevron 6"/>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0" name="TextBox 9"/>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1" name="TextBox 10"/>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Zonal means to districts; buffer means to survey clusters.</a:t>
            </a:r>
          </a:p>
        </p:txBody>
      </p:sp>
      <p:sp>
        <p:nvSpPr>
          <p:cNvPr id="12" name="Chevron 11"/>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5" name="TextBox 14"/>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16" name="TextBox 15"/>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DHS through a cluster-level spatial model; MICS and budget surveys from their public microdata.</a:t>
            </a:r>
          </a:p>
        </p:txBody>
      </p:sp>
      <p:sp>
        <p:nvSpPr>
          <p:cNvPr id="17" name="Rounded Rectangle 16"/>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19" name="TextBox 18"/>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0" name="TextBox 19"/>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climate as a 30-year normal plus the survey-year anomaly.</a:t>
            </a:r>
          </a:p>
        </p:txBody>
      </p:sp>
      <p:sp>
        <p:nvSpPr>
          <p:cNvPr id="21" name="Chevron 20"/>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4" name="TextBox 23"/>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5" name="TextBox 24"/>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 the DHS aggregates are a sensitivity arm.</a:t>
            </a:r>
          </a:p>
        </p:txBody>
      </p:sp>
      <p:sp>
        <p:nvSpPr>
          <p:cNvPr id="26" name="Chevron 25"/>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29" name="TextBox 28"/>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Rank-normalise and reduce</a:t>
            </a:r>
          </a:p>
        </p:txBody>
      </p:sp>
      <p:sp>
        <p:nvSpPr>
          <p:cNvPr id="30" name="TextBox 29"/>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Within country, so level offsets cannot act as signal; 29 domains to their leading components, nothing selected on the outcome.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harmonised dataset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Models and protocol</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lock-rotate-left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January: spatial ensemble learning</a:t>
            </a:r>
          </a:p>
        </p:txBody>
      </p:sp>
      <p:pic>
        <p:nvPicPr>
          <p:cNvPr id="7" name="Picture 6" descr="diagram-project_blue.png"/>
          <p:cNvPicPr>
            <a:picLocks noChangeAspect="1"/>
          </p:cNvPicPr>
          <p:nvPr/>
        </p:nvPicPr>
        <p:blipFill>
          <a:blip r:embed="rId4"/>
          <a:stretch>
            <a:fillRect/>
          </a:stretch>
        </p:blipFill>
        <p:spPr>
          <a:xfrm>
            <a:off x="1069848" y="2735580"/>
            <a:ext cx="56578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library</a:t>
            </a:r>
          </a:p>
          <a:p>
            <a:pPr algn="l">
              <a:spcBef>
                <a:spcPts val="300"/>
              </a:spcBef>
            </a:pPr>
            <a:r>
              <a:rPr sz="1200" b="0">
                <a:solidFill>
                  <a:srgbClr val="333333"/>
                </a:solidFill>
                <a:latin typeface="Calibri"/>
              </a:rPr>
              <a:t>Weighted by cross-validated performance.</a:t>
            </a:r>
          </a:p>
        </p:txBody>
      </p:sp>
      <p:pic>
        <p:nvPicPr>
          <p:cNvPr id="9" name="Picture 8" descr="filter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Prescreening</a:t>
            </a:r>
          </a:p>
          <a:p>
            <a:pPr algn="l">
              <a:spcBef>
                <a:spcPts val="300"/>
              </a:spcBef>
            </a:pPr>
            <a:r>
              <a:rPr sz="1200" b="0">
                <a:solidFill>
                  <a:srgbClr val="333333"/>
                </a:solidFill>
                <a:latin typeface="Calibri"/>
              </a:rPr>
              <a:t>From thousands of predictors to 10 to 100 per model.</a:t>
            </a:r>
          </a:p>
        </p:txBody>
      </p:sp>
      <p:pic>
        <p:nvPicPr>
          <p:cNvPr id="11" name="Picture 10" descr="chart-bar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Importance</a:t>
            </a:r>
          </a:p>
          <a:p>
            <a:pPr algn="l">
              <a:spcBef>
                <a:spcPts val="300"/>
              </a:spcBef>
            </a:pPr>
            <a:r>
              <a:rPr sz="1200" b="0">
                <a:solidFill>
                  <a:srgbClr val="333333"/>
                </a:solidFill>
                <a:latin typeface="Calibri"/>
              </a:rPr>
              <a:t>Change in mean squared error.</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heck-double_white.png"/>
          <p:cNvPicPr>
            <a:picLocks noChangeAspect="1"/>
          </p:cNvPicPr>
          <p:nvPr/>
        </p:nvPicPr>
        <p:blipFill>
          <a:blip r:embed="rId7"/>
          <a:stretch>
            <a:fillRect/>
          </a:stretch>
        </p:blipFill>
        <p:spPr>
          <a:xfrm>
            <a:off x="6510528" y="1810512"/>
            <a:ext cx="352044"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Current: the corrected protocol</a:t>
            </a:r>
          </a:p>
        </p:txBody>
      </p:sp>
      <p:pic>
        <p:nvPicPr>
          <p:cNvPr id="17" name="Picture 16" descr="scale-balanced_blue.png"/>
          <p:cNvPicPr>
            <a:picLocks noChangeAspect="1"/>
          </p:cNvPicPr>
          <p:nvPr/>
        </p:nvPicPr>
        <p:blipFill>
          <a:blip r:embed="rId8"/>
          <a:stretch>
            <a:fillRect/>
          </a:stretch>
        </p:blipFill>
        <p:spPr>
          <a:xfrm>
            <a:off x="6556248" y="2735580"/>
            <a:ext cx="62865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Zero-tuning index</a:t>
            </a:r>
          </a:p>
          <a:p>
            <a:pPr algn="l">
              <a:spcBef>
                <a:spcPts val="300"/>
              </a:spcBef>
            </a:pPr>
            <a:r>
              <a:rPr sz="1200" b="0">
                <a:solidFill>
                  <a:srgbClr val="333333"/>
                </a:solidFill>
                <a:latin typeface="Calibri"/>
              </a:rPr>
              <a:t>Domain principal components weighted by their training-fold rank correlation with the outcome.</a:t>
            </a:r>
          </a:p>
        </p:txBody>
      </p:sp>
      <p:pic>
        <p:nvPicPr>
          <p:cNvPr id="19" name="Picture 18" descr="code-compare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retained as a comparison</a:t>
            </a:r>
          </a:p>
          <a:p>
            <a:pPr algn="l">
              <a:spcBef>
                <a:spcPts val="300"/>
              </a:spcBef>
            </a:pPr>
            <a:r>
              <a:rPr sz="1200" b="0">
                <a:solidFill>
                  <a:srgbClr val="333333"/>
                </a:solidFill>
                <a:latin typeface="Calibri"/>
              </a:rPr>
              <a:t>Same folds: index 0.29 against 0.28 for the rank-loss ensemble and 0.27 for random forest.</a:t>
            </a:r>
          </a:p>
        </p:txBody>
      </p:sp>
      <p:pic>
        <p:nvPicPr>
          <p:cNvPr id="21" name="Picture 20" descr="lock_blue.png"/>
          <p:cNvPicPr>
            <a:picLocks noChangeAspect="1"/>
          </p:cNvPicPr>
          <p:nvPr/>
        </p:nvPicPr>
        <p:blipFill>
          <a:blip r:embed="rId10"/>
          <a:stretch>
            <a:fillRect/>
          </a:stretch>
        </p:blipFill>
        <p:spPr>
          <a:xfrm>
            <a:off x="6556248" y="4991100"/>
            <a:ext cx="440055"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Nothing chosen on held-out districts</a:t>
            </a:r>
          </a:p>
          <a:p>
            <a:pPr algn="l">
              <a:spcBef>
                <a:spcPts val="300"/>
              </a:spcBef>
            </a:pPr>
            <a:r>
              <a:rPr sz="1200" b="0">
                <a:solidFill>
                  <a:srgbClr val="333333"/>
                </a:solidFill>
                <a:latin typeface="Calibri"/>
              </a:rPr>
              <a:t>Honest folds by district, region and country.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Ensemble machine learning</a:t>
            </a:r>
          </a:p>
        </p:txBody>
      </p:sp>
      <p:pic>
        <p:nvPicPr>
          <p:cNvPr id="3" name="Picture 2"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5" name="Picture 4" descr="trophy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7" name="Picture 6" descr="shuffl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9" name="Picture 8"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penalised regressions, random forest, gradient boosting, PCA-HAL, Bayesian additive trees, Bayesian geostatistical models.</a:t>
            </a:r>
          </a:p>
        </p:txBody>
      </p:sp>
      <p:pic>
        <p:nvPicPr>
          <p:cNvPr id="11" name="Picture 10"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the zero-tuning index works</a:t>
            </a:r>
          </a:p>
        </p:txBody>
      </p:sp>
      <p:sp>
        <p:nvSpPr>
          <p:cNvPr id="3" name="Rounded Rectangle 2"/>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5" name="TextBox 4"/>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Rank-normalise within country</a:t>
            </a:r>
          </a:p>
        </p:txBody>
      </p:sp>
      <p:sp>
        <p:nvSpPr>
          <p:cNvPr id="6" name="TextBox 5"/>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7" name="Chevron 6"/>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0" name="TextBox 9"/>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1" name="TextBox 10"/>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2" name="Chevron 11"/>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5" name="TextBox 14"/>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16" name="TextBox 15"/>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17" name="Chevron 16"/>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lus_blue.png"/>
          <p:cNvPicPr>
            <a:picLocks noChangeAspect="1"/>
          </p:cNvPicPr>
          <p:nvPr/>
        </p:nvPicPr>
        <p:blipFill>
          <a:blip r:embed="rId6"/>
          <a:stretch>
            <a:fillRect/>
          </a:stretch>
        </p:blipFill>
        <p:spPr>
          <a:xfrm>
            <a:off x="9956673" y="1874520"/>
            <a:ext cx="480060" cy="548640"/>
          </a:xfrm>
          <a:prstGeom prst="rect">
            <a:avLst/>
          </a:prstGeom>
        </p:spPr>
      </p:pic>
      <p:sp>
        <p:nvSpPr>
          <p:cNvPr id="20" name="TextBox 19"/>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1" name="TextBox 20"/>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In-fill</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an unsurveyed district in a 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jackknifed regional mean; spatial smoother</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spatial smoother</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Country transport</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country-block permutation null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sz="1800"/>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full-talk-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full-talk-2026-09_files/figure-pptx/ghana-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sz="1800"/>
              <a:t>Leave-one-region-out, mean over cells with a 95% interval. The index scores 0.39 on the level and 0.26 on prevalence; the penalised fits fall to 0.07 and -0.05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sz="1800"/>
              <a:t>Leave-one-country-out, 22 cells. The full index scores 0.30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domains to climate and soil</a:t>
            </a:r>
          </a:p>
        </p:txBody>
      </p:sp>
      <p:sp>
        <p:nvSpPr>
          <p:cNvPr id="3" name="Content Placeholder 2"/>
          <p:cNvSpPr>
            <a:spLocks noGrp="1"/>
          </p:cNvSpPr>
          <p:nvPr>
            <p:ph idx="1" sz="half"/>
          </p:nvPr>
        </p:nvSpPr>
        <p:spPr/>
        <p:txBody>
          <a:bodyPr/>
          <a:lstStyle/>
          <a:p>
            <a:pPr lvl="0" indent="0" marL="0">
              <a:buNone/>
            </a:pPr>
            <a:r>
              <a:rPr sz="1800"/>
              <a:t>Leave-one-country-out, 22 cells, mean with a 95% interval across cells. Climate and soil alone: 0.38. Adding the next load-bearing domains of the ablation (anaemia surfaces, agriculture, infection) reaches 0.41 (better in 15 of 22, median +0.01). Chosen on these same cells, so a candidate for the next country, not a replacement. Honest nested selection: 0.31.</a:t>
            </a:r>
          </a:p>
        </p:txBody>
      </p:sp>
      <p:pic>
        <p:nvPicPr>
          <p:cNvPr descr="MN-proxy-full-talk-2026-09_files/figure-pptx/cs-domains-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Cote d’Ivoire: a ranking for a country with no survey</a:t>
            </a:r>
          </a:p>
        </p:txBody>
      </p:sp>
      <p:pic>
        <p:nvPicPr>
          <p:cNvPr descr="../../results/figures/policy_deck/fig10_civ_ranking.png" id="0" name="Picture 1"/>
          <p:cNvPicPr>
            <a:picLocks noGrp="1" noChangeAspect="1"/>
          </p:cNvPicPr>
          <p:nvPr/>
        </p:nvPicPr>
        <p:blipFill>
          <a:blip r:embed="rId3"/>
          <a:stretch>
            <a:fillRect/>
          </a:stretch>
        </p:blipFill>
        <p:spPr bwMode="auto">
          <a:xfrm>
            <a:off x="2089591" y="1691640"/>
            <a:ext cx="8018913" cy="420624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Cote d’Ivoire: the two candidates agree</a:t>
            </a:r>
          </a:p>
        </p:txBody>
      </p:sp>
      <p:pic>
        <p:nvPicPr>
          <p:cNvPr descr="../../results/figures/policy_deck/fig13_civ_candidates.png" id="0" name="Picture 1"/>
          <p:cNvPicPr>
            <a:picLocks noGrp="1" noChangeAspect="1"/>
          </p:cNvPicPr>
          <p:nvPr/>
        </p:nvPicPr>
        <p:blipFill>
          <a:blip r:embed="rId3"/>
          <a:stretch>
            <a:fillRect/>
          </a:stretch>
        </p:blipFill>
        <p:spPr bwMode="auto">
          <a:xfrm>
            <a:off x="3411728" y="1691640"/>
            <a:ext cx="5374640" cy="420624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sz="1800"/>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full-talk-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Ranking accuracy, cell by cell</a:t>
            </a:r>
          </a:p>
        </p:txBody>
      </p:sp>
      <p:pic>
        <p:nvPicPr>
          <p:cNvPr descr="MN-proxy-full-talk-2026-09_files/figure-pptx/cells-rank-1.png" id="0" name="Picture 1"/>
          <p:cNvPicPr>
            <a:picLocks noGrp="1" noChangeAspect="1"/>
          </p:cNvPicPr>
          <p:nvPr/>
        </p:nvPicPr>
        <p:blipFill>
          <a:blip r:embed="rId3"/>
          <a:stretch>
            <a:fillRect/>
          </a:stretch>
        </p:blipFill>
        <p:spPr bwMode="auto">
          <a:xfrm>
            <a:off x="1720623" y="1691640"/>
            <a:ext cx="8756850" cy="420624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Prevalence error, cell by cell</a:t>
            </a:r>
          </a:p>
        </p:txBody>
      </p:sp>
      <p:pic>
        <p:nvPicPr>
          <p:cNvPr descr="MN-proxy-full-talk-2026-09_files/figure-pptx/cells-prev-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Concentration error, cell by cell</a:t>
            </a:r>
          </a:p>
        </p:txBody>
      </p:sp>
      <p:pic>
        <p:nvPicPr>
          <p:cNvPr descr="MN-proxy-full-talk-2026-09_files/figure-pptx/cells-level-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ranking works, and why not</a:t>
            </a:r>
          </a:p>
        </p:txBody>
      </p:sp>
      <p:pic>
        <p:nvPicPr>
          <p:cNvPr descr="MN-proxy-full-talk-2026-09_files/figure-pptx/cells-scatter-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strong cells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ranking-star_blue.png"/>
          <p:cNvPicPr>
            <a:picLocks noChangeAspect="1"/>
          </p:cNvPicPr>
          <p:nvPr/>
        </p:nvPicPr>
        <p:blipFill>
          <a:blip r:embed="rId3"/>
          <a:stretch>
            <a:fillRect/>
          </a:stretch>
        </p:blipFill>
        <p:spPr>
          <a:xfrm>
            <a:off x="1727073" y="1920240"/>
            <a:ext cx="857250" cy="685800"/>
          </a:xfrm>
          <a:prstGeom prst="rect">
            <a:avLst/>
          </a:prstGeom>
        </p:spPr>
      </p:pic>
      <p:sp>
        <p:nvSpPr>
          <p:cNvPr id="5" name="TextBox 4"/>
          <p:cNvSpPr txBox="1"/>
          <p:nvPr/>
        </p:nvSpPr>
        <p:spPr>
          <a:xfrm>
            <a:off x="9326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Malawi: women's B12</a:t>
            </a:r>
          </a:p>
        </p:txBody>
      </p:sp>
      <p:sp>
        <p:nvSpPr>
          <p:cNvPr id="6" name="TextBox 5"/>
          <p:cNvSpPr txBox="1"/>
          <p:nvPr/>
        </p:nvSpPr>
        <p:spPr>
          <a:xfrm>
            <a:off x="9784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0.57)</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10.6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10%</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anking-star_blue.png"/>
          <p:cNvPicPr>
            <a:picLocks noChangeAspect="1"/>
          </p:cNvPicPr>
          <p:nvPr/>
        </p:nvPicPr>
        <p:blipFill>
          <a:blip r:embed="rId3"/>
          <a:stretch>
            <a:fillRect/>
          </a:stretch>
        </p:blipFill>
        <p:spPr>
          <a:xfrm>
            <a:off x="4413123" y="1920240"/>
            <a:ext cx="857250" cy="685800"/>
          </a:xfrm>
          <a:prstGeom prst="rect">
            <a:avLst/>
          </a:prstGeom>
        </p:spPr>
      </p:pic>
      <p:sp>
        <p:nvSpPr>
          <p:cNvPr id="9" name="TextBox 8"/>
          <p:cNvSpPr txBox="1"/>
          <p:nvPr/>
        </p:nvSpPr>
        <p:spPr>
          <a:xfrm>
            <a:off x="36187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vitamin A</a:t>
            </a:r>
          </a:p>
        </p:txBody>
      </p:sp>
      <p:sp>
        <p:nvSpPr>
          <p:cNvPr id="10" name="TextBox 9"/>
          <p:cNvSpPr txBox="1"/>
          <p:nvPr/>
        </p:nvSpPr>
        <p:spPr>
          <a:xfrm>
            <a:off x="36644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0.43)</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2.4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anking-star_blue.png"/>
          <p:cNvPicPr>
            <a:picLocks noChangeAspect="1"/>
          </p:cNvPicPr>
          <p:nvPr/>
        </p:nvPicPr>
        <p:blipFill>
          <a:blip r:embed="rId3"/>
          <a:stretch>
            <a:fillRect/>
          </a:stretch>
        </p:blipFill>
        <p:spPr>
          <a:xfrm>
            <a:off x="7099173" y="1920240"/>
            <a:ext cx="857250" cy="685800"/>
          </a:xfrm>
          <a:prstGeom prst="rect">
            <a:avLst/>
          </a:prstGeom>
        </p:spPr>
      </p:pic>
      <p:sp>
        <p:nvSpPr>
          <p:cNvPr id="13" name="TextBox 12"/>
          <p:cNvSpPr txBox="1"/>
          <p:nvPr/>
        </p:nvSpPr>
        <p:spPr>
          <a:xfrm>
            <a:off x="63047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child vitamin A</a:t>
            </a:r>
          </a:p>
        </p:txBody>
      </p:sp>
      <p:sp>
        <p:nvSpPr>
          <p:cNvPr id="14" name="TextBox 13"/>
          <p:cNvSpPr txBox="1"/>
          <p:nvPr/>
        </p:nvSpPr>
        <p:spPr>
          <a:xfrm>
            <a:off x="63505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0.69 (prevalence target 0.58)</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10.3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16%</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anking-star_blue.png"/>
          <p:cNvPicPr>
            <a:picLocks noChangeAspect="1"/>
          </p:cNvPicPr>
          <p:nvPr/>
        </p:nvPicPr>
        <p:blipFill>
          <a:blip r:embed="rId3"/>
          <a:stretch>
            <a:fillRect/>
          </a:stretch>
        </p:blipFill>
        <p:spPr>
          <a:xfrm>
            <a:off x="9785223" y="1920240"/>
            <a:ext cx="857250" cy="685800"/>
          </a:xfrm>
          <a:prstGeom prst="rect">
            <a:avLst/>
          </a:prstGeom>
        </p:spPr>
      </p:pic>
      <p:sp>
        <p:nvSpPr>
          <p:cNvPr id="17" name="TextBox 16"/>
          <p:cNvSpPr txBox="1"/>
          <p:nvPr/>
        </p:nvSpPr>
        <p:spPr>
          <a:xfrm>
            <a:off x="89908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iron</a:t>
            </a:r>
          </a:p>
        </p:txBody>
      </p:sp>
      <p:sp>
        <p:nvSpPr>
          <p:cNvPr id="18" name="TextBox 17"/>
          <p:cNvSpPr txBox="1"/>
          <p:nvPr/>
        </p:nvSpPr>
        <p:spPr>
          <a:xfrm>
            <a:off x="90365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0.68 (prevalence target 0.74)</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9.7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42%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correlation of 0.40 means on the ground</a:t>
            </a:r>
          </a:p>
        </p:txBody>
      </p:sp>
      <p:pic>
        <p:nvPicPr>
          <p:cNvPr id="3" name="Picture 2"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Take any two districts: the model orders them the way the survey does 60% of the time</a:t>
            </a:r>
          </a:p>
          <a:p>
            <a:pPr algn="l">
              <a:spcBef>
                <a:spcPts val="300"/>
              </a:spcBef>
            </a:pPr>
            <a:r>
              <a:rPr sz="1400" b="0">
                <a:solidFill>
                  <a:srgbClr val="333333"/>
                </a:solidFill>
                <a:latin typeface="Calibri"/>
              </a:rPr>
              <a:t>Counted over every pair of districts. A coin toss gets 50%, the survey's own regional averages 56%; in a country the model has never seen, 55%.</a:t>
            </a:r>
          </a:p>
        </p:txBody>
      </p:sp>
      <p:pic>
        <p:nvPicPr>
          <p:cNvPr id="5" name="Picture 4" descr="flag_blue.png"/>
          <p:cNvPicPr>
            <a:picLocks noChangeAspect="1"/>
          </p:cNvPicPr>
          <p:nvPr/>
        </p:nvPicPr>
        <p:blipFill>
          <a:blip r:embed="rId4"/>
          <a:stretch>
            <a:fillRect/>
          </a:stretch>
        </p:blipFill>
        <p:spPr>
          <a:xfrm>
            <a:off x="932688" y="3383280"/>
            <a:ext cx="72009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7" name="Picture 6"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of what a survey can see does the model recover?</a:t>
            </a:r>
          </a:p>
        </p:txBody>
      </p:sp>
      <p:pic>
        <p:nvPicPr>
          <p:cNvPr id="3" name="Picture 2"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One to three clusters per district; the survey's district estimate is an estimate too.</a:t>
            </a:r>
          </a:p>
        </p:txBody>
      </p:sp>
      <p:pic>
        <p:nvPicPr>
          <p:cNvPr id="5" name="Picture 4"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7" name="Picture 6"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And beats the number a ministry would use today</a:t>
            </a:r>
          </a:p>
          <a:p>
            <a:pPr algn="l">
              <a:spcBef>
                <a:spcPts val="300"/>
              </a:spcBef>
            </a:pPr>
            <a:r>
              <a:rPr sz="1400" b="0">
                <a:solidFill>
                  <a:srgbClr val="333333"/>
                </a:solidFill>
                <a:latin typeface="Calibri"/>
              </a:rPr>
              <a:t>The region's average, 0.31; the model 0.40, better in 13 of 18 country-outcome cells.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Right band, wrong band</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Exact WHO band</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64%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Within one band</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Two or more bands wrong</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decisions can the ranking carry?</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Which districts to visit, assess or enrol first</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Needs an order, not a number: 60% of district pairs ordered as the survey does, against 56% for the regional average.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Where the next survey puts its clusters</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ranking is the input to the anchor-and-rank design.</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Sequencing a programme roll-out across districts</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Same reason; the order is what the roll-out needs.</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planning prevalence for a district</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Only with a national anchor: 9.3 points median error at a 5% national sample.</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prevalence with no survey at all, or whether a programme worked</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model has no level of its own and is validated on one point in time, not on change.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survey and held-out prediction</a:t>
            </a:r>
          </a:p>
        </p:txBody>
      </p:sp>
      <p:pic>
        <p:nvPicPr>
          <p:cNvPr descr="MN-proxy-full-talk-2026-09_files/figure-pptx/malawi-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Seeing the results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every map in this deck</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ircle-check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Grade A: several clusters</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What:</a:t>
            </a:r>
            <a:r>
              <a:rPr sz="1400">
                <a:solidFill>
                  <a:srgbClr val="333333"/>
                </a:solidFill>
                <a:latin typeface="Calibri"/>
              </a:rPr>
              <a:t> surveyed districts with more than one survey cluster (39 districts)</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solid fill</a:t>
            </a:r>
          </a:p>
          <a:p>
            <a:pPr algn="l">
              <a:spcBef>
                <a:spcPts val="300"/>
              </a:spcBef>
              <a:spcAft>
                <a:spcPts val="600"/>
              </a:spcAft>
            </a:pPr>
            <a:r>
              <a:rPr sz="1400" b="1">
                <a:solidFill>
                  <a:srgbClr val="1F4E79"/>
                </a:solidFill>
                <a:latin typeface="Calibri"/>
              </a:rPr>
              <a:t>Read:</a:t>
            </a:r>
            <a:r>
              <a:rPr sz="1400">
                <a:solidFill>
                  <a:srgbClr val="333333"/>
                </a:solidFill>
                <a:latin typeface="Calibri"/>
              </a:rPr>
              <a:t> the survey's own district value is worth comparing with</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Grade B: one cluster</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What:</a:t>
            </a:r>
            <a:r>
              <a:rPr sz="1400">
                <a:solidFill>
                  <a:srgbClr val="333333"/>
                </a:solidFill>
                <a:latin typeface="Calibri"/>
              </a:rPr>
              <a:t> surveyed districts with a single cluster (80% of surveyed districts)</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hatched</a:t>
            </a:r>
          </a:p>
          <a:p>
            <a:pPr algn="l">
              <a:spcBef>
                <a:spcPts val="300"/>
              </a:spcBef>
              <a:spcAft>
                <a:spcPts val="600"/>
              </a:spcAft>
            </a:pPr>
            <a:r>
              <a:rPr sz="1400" b="1">
                <a:solidFill>
                  <a:srgbClr val="1F4E79"/>
                </a:solidFill>
                <a:latin typeface="Calibri"/>
              </a:rPr>
              <a:t>Read:</a:t>
            </a:r>
            <a:r>
              <a:rPr sz="1400">
                <a:solidFill>
                  <a:srgbClr val="333333"/>
                </a:solidFill>
                <a:latin typeface="Calibri"/>
              </a:rPr>
              <a:t> the survey's district value is itself a noisy estimate; the ceiling slide says how noisy</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ircle-ques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Grade C: no survey</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What:</a:t>
            </a:r>
            <a:r>
              <a:rPr sz="1400">
                <a:solidFill>
                  <a:srgbClr val="333333"/>
                </a:solidFill>
                <a:latin typeface="Calibri"/>
              </a:rPr>
              <a:t> districts the survey never reached, and every district of a country with no survey</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grey on survey maps, filled on model maps</a:t>
            </a:r>
          </a:p>
          <a:p>
            <a:pPr algn="l">
              <a:spcBef>
                <a:spcPts val="300"/>
              </a:spcBef>
              <a:spcAft>
                <a:spcPts val="600"/>
              </a:spcAft>
            </a:pPr>
            <a:r>
              <a:rPr sz="1400" b="1">
                <a:solidFill>
                  <a:srgbClr val="1F4E79"/>
                </a:solidFill>
                <a:latin typeface="Calibri"/>
              </a:rPr>
              <a:t>Read:</a:t>
            </a:r>
            <a:r>
              <a:rPr sz="1400">
                <a:solidFill>
                  <a:srgbClr val="333333"/>
                </a:solidFill>
                <a:latin typeface="Calibri"/>
              </a:rPr>
              <a:t> only the model speaks; its intervals say how stable it is, not how right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survey maps, with the survey’s own reliability on them</a:t>
            </a:r>
          </a:p>
        </p:txBody>
      </p:sp>
      <p:pic>
        <p:nvPicPr>
          <p:cNvPr descr="MN-proxy-full-talk-2026-09_files/figure-pptx/hatched-maps-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Does the model track the survey, district by district?</a:t>
            </a:r>
          </a:p>
        </p:txBody>
      </p:sp>
      <p:pic>
        <p:nvPicPr>
          <p:cNvPr descr="MN-proxy-full-talk-2026-09_files/figure-pptx/pred-obs-1.png" id="0" name="Picture 1"/>
          <p:cNvPicPr>
            <a:picLocks noGrp="1" noChangeAspect="1"/>
          </p:cNvPicPr>
          <p:nvPr/>
        </p:nvPicPr>
        <p:blipFill>
          <a:blip r:embed="rId3"/>
          <a:stretch>
            <a:fillRect/>
          </a:stretch>
        </p:blipFill>
        <p:spPr bwMode="auto">
          <a:xfrm>
            <a:off x="841248" y="1691640"/>
            <a:ext cx="10515600" cy="4203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Actual against predicted at the regional level</a:t>
            </a:r>
          </a:p>
        </p:txBody>
      </p:sp>
      <p:pic>
        <p:nvPicPr>
          <p:cNvPr descr="MN-proxy-full-talk-2026-09_files/figure-pptx/admin1-pairs-1.png" id="0" name="Picture 1"/>
          <p:cNvPicPr>
            <a:picLocks noGrp="1" noChangeAspect="1"/>
          </p:cNvPicPr>
          <p:nvPr/>
        </p:nvPicPr>
        <p:blipFill>
          <a:blip r:embed="rId3"/>
          <a:stretch>
            <a:fillRect/>
          </a:stretch>
        </p:blipFill>
        <p:spPr bwMode="auto">
          <a:xfrm>
            <a:off x="1450046" y="1691640"/>
            <a:ext cx="9298004" cy="420624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child vitamin A: the chance a district is above 20%</a:t>
            </a:r>
          </a:p>
        </p:txBody>
      </p:sp>
      <p:pic>
        <p:nvPicPr>
          <p:cNvPr descr="MN-proxy-full-talk-2026-09_files/figure-pptx/exceedance-map-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Cote d’Ivoire: how bad and how sure, on one map</a:t>
            </a:r>
          </a:p>
        </p:txBody>
      </p:sp>
      <p:pic>
        <p:nvPicPr>
          <p:cNvPr descr="MN-proxy-full-talk-2026-09_files/figure-pptx/bivariate-civ-1.png" id="0" name="Picture 1"/>
          <p:cNvPicPr>
            <a:picLocks noGrp="1" noChangeAspect="1"/>
          </p:cNvPicPr>
          <p:nvPr/>
        </p:nvPicPr>
        <p:blipFill>
          <a:blip r:embed="rId3"/>
          <a:stretch>
            <a:fillRect/>
          </a:stretch>
        </p:blipFill>
        <p:spPr bwMode="auto">
          <a:xfrm>
            <a:off x="2341720" y="1691640"/>
            <a:ext cx="7514656" cy="420624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rank intervals promise, and what they do not</a:t>
            </a:r>
          </a:p>
        </p:txBody>
      </p:sp>
      <p:pic>
        <p:nvPicPr>
          <p:cNvPr descr="MN-proxy-full-talk-2026-09_files/figure-pptx/coverage-1.png" id="0" name="Picture 1"/>
          <p:cNvPicPr>
            <a:picLocks noGrp="1" noChangeAspect="1"/>
          </p:cNvPicPr>
          <p:nvPr/>
        </p:nvPicPr>
        <p:blipFill>
          <a:blip r:embed="rId3"/>
          <a:stretch>
            <a:fillRect/>
          </a:stretch>
        </p:blipFill>
        <p:spPr bwMode="auto">
          <a:xfrm>
            <a:off x="1277861" y="1691640"/>
            <a:ext cx="9642374" cy="420624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moves each district, predictor by predictor</a:t>
            </a:r>
          </a:p>
        </p:txBody>
      </p:sp>
      <p:pic>
        <p:nvPicPr>
          <p:cNvPr descr="MN-proxy-full-talk-2026-09_files/figure-pptx/beeswarm-1.png" id="0" name="Picture 1"/>
          <p:cNvPicPr>
            <a:picLocks noGrp="1" noChangeAspect="1"/>
          </p:cNvPicPr>
          <p:nvPr/>
        </p:nvPicPr>
        <p:blipFill>
          <a:blip r:embed="rId3"/>
          <a:stretch>
            <a:fillRect/>
          </a:stretch>
        </p:blipFill>
        <p:spPr bwMode="auto">
          <a:xfrm>
            <a:off x="1782117" y="1691640"/>
            <a:ext cx="8633861" cy="420624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Does the ranking work where the poor live?</a:t>
            </a:r>
          </a:p>
        </p:txBody>
      </p:sp>
      <p:pic>
        <p:nvPicPr>
          <p:cNvPr descr="MN-proxy-full-talk-2026-09_files/figure-pptx/urbanicity-strata-1.png" id="0" name="Picture 1"/>
          <p:cNvPicPr>
            <a:picLocks noGrp="1" noChangeAspect="1"/>
          </p:cNvPicPr>
          <p:nvPr/>
        </p:nvPicPr>
        <p:blipFill>
          <a:blip r:embed="rId3"/>
          <a:stretch>
            <a:fillRect/>
          </a:stretch>
        </p:blipFill>
        <p:spPr bwMode="auto">
          <a:xfrm>
            <a:off x="841248" y="1691640"/>
            <a:ext cx="10515600" cy="42037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survey added improves every other map</a:t>
            </a:r>
          </a:p>
        </p:txBody>
      </p:sp>
      <p:pic>
        <p:nvPicPr>
          <p:cNvPr descr="MN-proxy-full-talk-2026-09_files/figure-pptx/curve-argument-1.png" id="0" name="Picture 1"/>
          <p:cNvPicPr>
            <a:picLocks noGrp="1" noChangeAspect="1"/>
          </p:cNvPicPr>
          <p:nvPr/>
        </p:nvPicPr>
        <p:blipFill>
          <a:blip r:embed="rId3"/>
          <a:stretch>
            <a:fillRect/>
          </a:stretch>
        </p:blipFill>
        <p:spPr bwMode="auto">
          <a:xfrm>
            <a:off x="3325635" y="1691640"/>
            <a:ext cx="5546825" cy="420624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What carries the signal</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882873" y="1691640"/>
            <a:ext cx="6432349" cy="420624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women’s B12: the weights behind the best ranking</a:t>
            </a:r>
          </a:p>
        </p:txBody>
      </p:sp>
      <p:pic>
        <p:nvPicPr>
          <p:cNvPr descr="../../results/figures/policy_deck/fig12_vim_forest_Malawi_women_b12_plain.png" id="0" name="Picture 1"/>
          <p:cNvPicPr>
            <a:picLocks noGrp="1" noChangeAspect="1"/>
          </p:cNvPicPr>
          <p:nvPr/>
        </p:nvPicPr>
        <p:blipFill>
          <a:blip r:embed="rId3"/>
          <a:stretch>
            <a:fillRect/>
          </a:stretch>
        </p:blipFill>
        <p:spPr bwMode="auto">
          <a:xfrm>
            <a:off x="2686090" y="1691640"/>
            <a:ext cx="6825915" cy="420624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surrogate marker: anaemia, fish and B12</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1247113" y="1691640"/>
            <a:ext cx="9703869" cy="420624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sz="1800"/>
              <a:t>Loss in transported Spearman (biomarker level, 22 cells) when each domain is dropped and the components rebuilt, mean over cells with a 95% interval. The load-bearing domains are Climate and weather, Soil characteristics, Anaemia and haemoglobin; removing 7 of the 21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pic>
        <p:nvPicPr>
          <p:cNvPr id="3" name="Picture 2"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5" name="Picture 4"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modelled child-growth and anaemia surfaces</a:t>
            </a:r>
          </a:p>
          <a:p>
            <a:pPr algn="l">
              <a:spcBef>
                <a:spcPts val="300"/>
              </a:spcBef>
            </a:pPr>
            <a:r>
              <a:rPr sz="1250" b="0">
                <a:solidFill>
                  <a:srgbClr val="333333"/>
                </a:solidFill>
                <a:latin typeface="Calibri"/>
              </a:rPr>
              <a:t>Wasting, underweight and anaemia point to worse status; overweight points the other way and behaves as a wealth proxy.</a:t>
            </a:r>
          </a:p>
        </p:txBody>
      </p:sp>
      <p:pic>
        <p:nvPicPr>
          <p:cNvPr id="7" name="Picture 6"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9" name="Picture 8" descr="road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1" name="Picture 10"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Limits and survey design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sz="1800"/>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full-talk-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sz="1800"/>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full-talk-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the model direct and shrink surveys?</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ranking now, from public data alone</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Transported Spearman 0.30 at district level (0.38 from climate and soil); a ranking, not a prevalence.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national anchor puts a level on it</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A 5% national sample plus the ranking: median district error 9.3 points.</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survey matches that only at 25% of the full sample</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 level error; a district survey of any size still captures more burden in its worst fifth.</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Direct where the clusters go</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Model-assisted allocation: oversample the districts the ranking puts at the top and bottom. Designed, not piloted.</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Replace the biomarker survey</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ceiling is the survey's own; the offer is a survey designed with the ranking, not instead of it.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dashboard</a:t>
            </a:r>
          </a:p>
        </p:txBody>
      </p:sp>
      <p:pic>
        <p:nvPicPr>
          <p:cNvPr id="3" name="Picture 2" descr="link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5" name="Picture 4"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7" name="Picture 6"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catalogue of 575 predictors; the three tests and the ceiling.</a:t>
            </a:r>
          </a:p>
        </p:txBody>
      </p:sp>
      <p:pic>
        <p:nvPicPr>
          <p:cNvPr id="9" name="Picture 8"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1" name="Picture 10"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Closing</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Rounded Rectangle 2"/>
          <p:cNvSpPr/>
          <p:nvPr/>
        </p:nvSpPr>
        <p:spPr>
          <a:xfrm>
            <a:off x="841248" y="1691640"/>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777854"/>
            <a:ext cx="320040" cy="365760"/>
          </a:xfrm>
          <a:prstGeom prst="rect">
            <a:avLst/>
          </a:prstGeom>
        </p:spPr>
      </p:pic>
      <p:sp>
        <p:nvSpPr>
          <p:cNvPr id="5" name="TextBox 4"/>
          <p:cNvSpPr txBox="1"/>
          <p:nvPr/>
        </p:nvSpPr>
        <p:spPr>
          <a:xfrm>
            <a:off x="1618488" y="169164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6" name="TextBox 5"/>
          <p:cNvSpPr txBox="1"/>
          <p:nvPr/>
        </p:nvSpPr>
        <p:spPr>
          <a:xfrm>
            <a:off x="6784848" y="169164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7" name="Rounded Rectangle 6"/>
          <p:cNvSpPr/>
          <p:nvPr/>
        </p:nvSpPr>
        <p:spPr>
          <a:xfrm>
            <a:off x="841248" y="2302981"/>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iangle-exclamation_amber.png"/>
          <p:cNvPicPr>
            <a:picLocks noChangeAspect="1"/>
          </p:cNvPicPr>
          <p:nvPr/>
        </p:nvPicPr>
        <p:blipFill>
          <a:blip r:embed="rId4"/>
          <a:stretch>
            <a:fillRect/>
          </a:stretch>
        </p:blipFill>
        <p:spPr>
          <a:xfrm>
            <a:off x="1069848" y="2389196"/>
            <a:ext cx="365760" cy="365760"/>
          </a:xfrm>
          <a:prstGeom prst="rect">
            <a:avLst/>
          </a:prstGeom>
        </p:spPr>
      </p:pic>
      <p:sp>
        <p:nvSpPr>
          <p:cNvPr id="9" name="TextBox 8"/>
          <p:cNvSpPr txBox="1"/>
          <p:nvPr/>
        </p:nvSpPr>
        <p:spPr>
          <a:xfrm>
            <a:off x="1618488" y="2302981"/>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0" name="TextBox 9"/>
          <p:cNvSpPr txBox="1"/>
          <p:nvPr/>
        </p:nvSpPr>
        <p:spPr>
          <a:xfrm>
            <a:off x="6784848" y="2302981"/>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0.30 against 0.08.</a:t>
            </a:r>
          </a:p>
        </p:txBody>
      </p:sp>
      <p:sp>
        <p:nvSpPr>
          <p:cNvPr id="11" name="Rounded Rectangle 10"/>
          <p:cNvSpPr/>
          <p:nvPr/>
        </p:nvSpPr>
        <p:spPr>
          <a:xfrm>
            <a:off x="841248" y="2914323"/>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000538"/>
            <a:ext cx="320040" cy="365760"/>
          </a:xfrm>
          <a:prstGeom prst="rect">
            <a:avLst/>
          </a:prstGeom>
        </p:spPr>
      </p:pic>
      <p:sp>
        <p:nvSpPr>
          <p:cNvPr id="13" name="TextBox 12"/>
          <p:cNvSpPr txBox="1"/>
          <p:nvPr/>
        </p:nvSpPr>
        <p:spPr>
          <a:xfrm>
            <a:off x="1618488" y="2914323"/>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4" name="TextBox 13"/>
          <p:cNvSpPr txBox="1"/>
          <p:nvPr/>
        </p:nvSpPr>
        <p:spPr>
          <a:xfrm>
            <a:off x="6784848" y="2914323"/>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5" name="Rounded Rectangle 14"/>
          <p:cNvSpPr/>
          <p:nvPr/>
        </p:nvSpPr>
        <p:spPr>
          <a:xfrm>
            <a:off x="841248" y="3525665"/>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xmark_grey.png"/>
          <p:cNvPicPr>
            <a:picLocks noChangeAspect="1"/>
          </p:cNvPicPr>
          <p:nvPr/>
        </p:nvPicPr>
        <p:blipFill>
          <a:blip r:embed="rId5"/>
          <a:stretch>
            <a:fillRect/>
          </a:stretch>
        </p:blipFill>
        <p:spPr>
          <a:xfrm>
            <a:off x="1069848" y="3611880"/>
            <a:ext cx="274320" cy="365760"/>
          </a:xfrm>
          <a:prstGeom prst="rect">
            <a:avLst/>
          </a:prstGeom>
        </p:spPr>
      </p:pic>
      <p:sp>
        <p:nvSpPr>
          <p:cNvPr id="17" name="TextBox 16"/>
          <p:cNvSpPr txBox="1"/>
          <p:nvPr/>
        </p:nvSpPr>
        <p:spPr>
          <a:xfrm>
            <a:off x="1618488" y="3525665"/>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18" name="TextBox 17"/>
          <p:cNvSpPr txBox="1"/>
          <p:nvPr/>
        </p:nvSpPr>
        <p:spPr>
          <a:xfrm>
            <a:off x="6784848" y="3525665"/>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19" name="Rounded Rectangle 18"/>
          <p:cNvSpPr/>
          <p:nvPr/>
        </p:nvSpPr>
        <p:spPr>
          <a:xfrm>
            <a:off x="841248" y="4137006"/>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4223221"/>
            <a:ext cx="320040" cy="365760"/>
          </a:xfrm>
          <a:prstGeom prst="rect">
            <a:avLst/>
          </a:prstGeom>
        </p:spPr>
      </p:pic>
      <p:sp>
        <p:nvSpPr>
          <p:cNvPr id="21" name="TextBox 20"/>
          <p:cNvSpPr txBox="1"/>
          <p:nvPr/>
        </p:nvSpPr>
        <p:spPr>
          <a:xfrm>
            <a:off x="1618488" y="4137006"/>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2" name="TextBox 21"/>
          <p:cNvSpPr txBox="1"/>
          <p:nvPr/>
        </p:nvSpPr>
        <p:spPr>
          <a:xfrm>
            <a:off x="6784848" y="4137006"/>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3" name="Rounded Rectangle 22"/>
          <p:cNvSpPr/>
          <p:nvPr/>
        </p:nvSpPr>
        <p:spPr>
          <a:xfrm>
            <a:off x="841248" y="4748348"/>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4834563"/>
            <a:ext cx="274320" cy="365760"/>
          </a:xfrm>
          <a:prstGeom prst="rect">
            <a:avLst/>
          </a:prstGeom>
        </p:spPr>
      </p:pic>
      <p:sp>
        <p:nvSpPr>
          <p:cNvPr id="25" name="TextBox 24"/>
          <p:cNvSpPr txBox="1"/>
          <p:nvPr/>
        </p:nvSpPr>
        <p:spPr>
          <a:xfrm>
            <a:off x="1618488" y="4748348"/>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26" name="TextBox 25"/>
          <p:cNvSpPr txBox="1"/>
          <p:nvPr/>
        </p:nvSpPr>
        <p:spPr>
          <a:xfrm>
            <a:off x="6784848" y="4748348"/>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27" name="Rounded Rectangle 26"/>
          <p:cNvSpPr/>
          <p:nvPr/>
        </p:nvSpPr>
        <p:spPr>
          <a:xfrm>
            <a:off x="841248" y="5359690"/>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5445905"/>
            <a:ext cx="365760" cy="365760"/>
          </a:xfrm>
          <a:prstGeom prst="rect">
            <a:avLst/>
          </a:prstGeom>
        </p:spPr>
      </p:pic>
      <p:sp>
        <p:nvSpPr>
          <p:cNvPr id="29" name="TextBox 28"/>
          <p:cNvSpPr txBox="1"/>
          <p:nvPr/>
        </p:nvSpPr>
        <p:spPr>
          <a:xfrm>
            <a:off x="1618488" y="535969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0" name="TextBox 29"/>
          <p:cNvSpPr txBox="1"/>
          <p:nvPr/>
        </p:nvSpPr>
        <p:spPr>
          <a:xfrm>
            <a:off x="6784848" y="535969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pic>
        <p:nvPicPr>
          <p:cNvPr id="3" name="Picture 2" descr="map-location-dot_blue.png"/>
          <p:cNvPicPr>
            <a:picLocks noChangeAspect="1"/>
          </p:cNvPicPr>
          <p:nvPr/>
        </p:nvPicPr>
        <p:blipFill>
          <a:blip r:embed="rId3"/>
          <a:stretch>
            <a:fillRect/>
          </a:stretch>
        </p:blipFill>
        <p:spPr>
          <a:xfrm>
            <a:off x="932688" y="1783080"/>
            <a:ext cx="576072"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In-fill: the index ranks districts (0.40)</a:t>
            </a:r>
          </a:p>
          <a:p>
            <a:pPr algn="l">
              <a:spcBef>
                <a:spcPts val="300"/>
              </a:spcBef>
            </a:pPr>
            <a:r>
              <a:rPr sz="1250" b="0">
                <a:solidFill>
                  <a:srgbClr val="333333"/>
                </a:solidFill>
                <a:latin typeface="Calibri"/>
              </a:rPr>
              <a:t>Against 0.31 for the survey's own regional averages and 0.39 for a covariate-free smoother.</a:t>
            </a:r>
          </a:p>
        </p:txBody>
      </p:sp>
      <p:pic>
        <p:nvPicPr>
          <p:cNvPr id="5" name="Picture 4" descr="earth-africa_blue.png"/>
          <p:cNvPicPr>
            <a:picLocks noChangeAspect="1"/>
          </p:cNvPicPr>
          <p:nvPr/>
        </p:nvPicPr>
        <p:blipFill>
          <a:blip r:embed="rId4"/>
          <a:stretch>
            <a:fillRect/>
          </a:stretch>
        </p:blipFill>
        <p:spPr>
          <a:xfrm>
            <a:off x="932688" y="2660904"/>
            <a:ext cx="512064"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Transport: rankings carry (0.30), levels do not</a:t>
            </a:r>
          </a:p>
          <a:p>
            <a:pPr algn="l">
              <a:spcBef>
                <a:spcPts val="300"/>
              </a:spcBef>
            </a:pPr>
            <a:r>
              <a:rPr sz="1250" b="0">
                <a:solidFill>
                  <a:srgbClr val="333333"/>
                </a:solidFill>
                <a:latin typeface="Calibri"/>
              </a:rPr>
              <a:t>0.38 from climate and soil alone; permutation null 0.08.</a:t>
            </a:r>
          </a:p>
        </p:txBody>
      </p:sp>
      <p:pic>
        <p:nvPicPr>
          <p:cNvPr id="7" name="Picture 6" descr="satellite_blue.png"/>
          <p:cNvPicPr>
            <a:picLocks noChangeAspect="1"/>
          </p:cNvPicPr>
          <p:nvPr/>
        </p:nvPicPr>
        <p:blipFill>
          <a:blip r:embed="rId5"/>
          <a:stretch>
            <a:fillRect/>
          </a:stretch>
        </p:blipFill>
        <p:spPr>
          <a:xfrm>
            <a:off x="932688" y="3538728"/>
            <a:ext cx="512064"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Across borders, lean on the environment</a:t>
            </a:r>
          </a:p>
          <a:p>
            <a:pPr algn="l">
              <a:spcBef>
                <a:spcPts val="300"/>
              </a:spcBef>
            </a:pPr>
            <a:r>
              <a:rPr sz="1250" b="0">
                <a:solidFill>
                  <a:srgbClr val="333333"/>
                </a:solidFill>
                <a:latin typeface="Calibri"/>
              </a:rPr>
              <a:t>Survey-derived inputs help inside a country and hold a new country back; health surfaces are surrogate markers, not mechanisms.</a:t>
            </a:r>
          </a:p>
        </p:txBody>
      </p:sp>
      <p:pic>
        <p:nvPicPr>
          <p:cNvPr id="9" name="Picture 8" descr="anchor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A national anchor puts levels on the ranking</a:t>
            </a:r>
          </a:p>
          <a:p>
            <a:pPr algn="l">
              <a:spcBef>
                <a:spcPts val="300"/>
              </a:spcBef>
            </a:pPr>
            <a:r>
              <a:rPr sz="1250" b="0">
                <a:solidFill>
                  <a:srgbClr val="333333"/>
                </a:solidFill>
                <a:latin typeface="Calibri"/>
              </a:rPr>
              <a:t>District error 9.3 points at 5% of a full sample, matched by a district survey at 25%.</a:t>
            </a:r>
          </a:p>
        </p:txBody>
      </p:sp>
      <p:pic>
        <p:nvPicPr>
          <p:cNvPr id="11" name="Picture 10" descr="layer-group_blue.png"/>
          <p:cNvPicPr>
            <a:picLocks noChangeAspect="1"/>
          </p:cNvPicPr>
          <p:nvPr/>
        </p:nvPicPr>
        <p:blipFill>
          <a:blip r:embed="rId7"/>
          <a:stretch>
            <a:fillRect/>
          </a:stretch>
        </p:blipFill>
        <p:spPr>
          <a:xfrm>
            <a:off x="932688" y="5294376"/>
            <a:ext cx="576072"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Where the survey resolves districts, so does the model: The Gambia 0.41 to 0.70</a:t>
            </a:r>
          </a:p>
          <a:p>
            <a:pPr algn="l">
              <a:spcBef>
                <a:spcPts val="300"/>
              </a:spcBef>
            </a:pPr>
            <a:r>
              <a:rPr sz="1250" b="0">
                <a:solidFill>
                  <a:srgbClr val="333333"/>
                </a:solidFill>
                <a:latin typeface="Calibri"/>
              </a:rPr>
              <a:t>Several clusters per district; 3 of 4 outcomes above 0.5. Ghana's and Malawi's single-cluster districts average 0.34 (3 of 14).</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ist-check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Planned</a:t>
            </a:r>
          </a:p>
        </p:txBody>
      </p:sp>
      <p:pic>
        <p:nvPicPr>
          <p:cNvPr id="7" name="Picture 6" descr="flag-checkered_blue.png"/>
          <p:cNvPicPr>
            <a:picLocks noChangeAspect="1"/>
          </p:cNvPicPr>
          <p:nvPr/>
        </p:nvPicPr>
        <p:blipFill>
          <a:blip r:embed="rId4"/>
          <a:stretch>
            <a:fillRect/>
          </a:stretch>
        </p:blipFill>
        <p:spPr>
          <a:xfrm>
            <a:off x="1069848" y="2735580"/>
            <a:ext cx="44005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Score the pre-registered predictions</a:t>
            </a:r>
          </a:p>
          <a:p>
            <a:pPr algn="l">
              <a:spcBef>
                <a:spcPts val="300"/>
              </a:spcBef>
            </a:pPr>
            <a:r>
              <a:rPr sz="1200" b="0">
                <a:solidFill>
                  <a:srgbClr val="333333"/>
                </a:solidFill>
                <a:latin typeface="Calibri"/>
              </a:rPr>
              <a:t>On the next countries added to the panel; each survey added improves every other country's map.</a:t>
            </a:r>
          </a:p>
        </p:txBody>
      </p:sp>
      <p:pic>
        <p:nvPicPr>
          <p:cNvPr id="9" name="Picture 8" descr="location-crosshairs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Pilot the survey design</a:t>
            </a:r>
          </a:p>
          <a:p>
            <a:pPr algn="l">
              <a:spcBef>
                <a:spcPts val="300"/>
              </a:spcBef>
            </a:pPr>
            <a:r>
              <a:rPr sz="1200" b="0">
                <a:solidFill>
                  <a:srgbClr val="333333"/>
                </a:solidFill>
                <a:latin typeface="Calibri"/>
              </a:rPr>
              <a:t>Sample nationally, rank with the model, compare with a district survey in one country.</a:t>
            </a:r>
          </a:p>
        </p:txBody>
      </p:sp>
      <p:pic>
        <p:nvPicPr>
          <p:cNvPr id="11" name="Picture 10" descr="rotate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Rerun the national track; finish the product</a:t>
            </a:r>
          </a:p>
          <a:p>
            <a:pPr algn="l">
              <a:spcBef>
                <a:spcPts val="300"/>
              </a:spcBef>
            </a:pPr>
            <a:r>
              <a:rPr sz="1200" b="0">
                <a:solidFill>
                  <a:srgbClr val="333333"/>
                </a:solidFill>
                <a:latin typeface="Calibri"/>
              </a:rPr>
              <a:t>Shareable dashboard views, the geostatistical prevalence where a survey exists, plain-language predictor descriptions.</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ircle-question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Open questions</a:t>
            </a:r>
          </a:p>
        </p:txBody>
      </p:sp>
      <p:pic>
        <p:nvPicPr>
          <p:cNvPr id="17" name="Picture 16" descr="gauge-high_blue.png"/>
          <p:cNvPicPr>
            <a:picLocks noChangeAspect="1"/>
          </p:cNvPicPr>
          <p:nvPr/>
        </p:nvPicPr>
        <p:blipFill>
          <a:blip r:embed="rId8"/>
          <a:stretch>
            <a:fillRect/>
          </a:stretch>
        </p:blipFill>
        <p:spPr>
          <a:xfrm>
            <a:off x="6556248" y="2735580"/>
            <a:ext cx="50292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What rank correlation is sufficient to act on?</a:t>
            </a:r>
          </a:p>
        </p:txBody>
      </p:sp>
      <p:pic>
        <p:nvPicPr>
          <p:cNvPr id="19" name="Picture 18" descr="coins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Which national number is the cheapest honest anchor?</a:t>
            </a:r>
          </a:p>
        </p:txBody>
      </p:sp>
      <p:pic>
        <p:nvPicPr>
          <p:cNvPr id="21" name="Picture 20" descr="ruler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Without new biomarker surveys, what benchmarks the models?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 built environment</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AlphaEarth 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SoilGrids / iSDA 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GFDx fortification</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via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WorldPop / GHS / RWI</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 (HCES)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MapSPAM crops</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Koppen / agro-ecological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WFP market prices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FAOSTAT 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Gridded Livestock of the World</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Earth Engine: 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MIMI 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WHO ESPEN helminths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World Bank RTFP prices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WHO anaemia estimates</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HFID 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Global Data Lab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UNICEF 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483157" y="1691640"/>
            <a:ext cx="7231781" cy="420624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10.2</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8.0</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14.2</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14.8</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7.3</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8.7</a:t>
                      </a:r>
                    </a:p>
                  </a:txBody>
                </a:tc>
              </a:tr>
            </a:tbl>
          </a:graphicData>
        </a:graphic>
      </p:graphicFrame>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sz="1800"/>
              <a:t>Alternative weightings of the same components on the biomarker level. In-country every joint fit loses to the marginal-correlation weights (ridge -0.04, elastic net -0.07, lasso -0.06). Across borders the decorrelated index gains +0.005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sz="1800"/>
              <a:t>Equal-weight composites of the top 5, 10 and 20 predictors, membership chosen inside each training fold by back-projected index weight. Twenty predictors cost -0.04 in-fill and gain -0.069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sz="1800"/>
              <a:t>The same index fitted at the survey cluster and aggregated to districts, against the district fit, on the same cells.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sz="1800"/>
              <a:t>Share of districts placed in the correct WHO vitamin A band (under 2%, 2 to 10, 10 to 20, 20 or more), and within one band, mean over the vitamin A cells. The index in-fill: 64%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sz="1800"/>
              <a:t>Person-level SuperLearner under district-blocked folds, Brier skill over the national prevalence, by country and outcome. Mean AUC over 18 cells: 0.52 for survey variables, 0.50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0.48</a:t>
                      </a:r>
                    </a:p>
                  </a:txBody>
                </a:tc>
                <a:tc>
                  <a:txBody>
                    <a:bodyPr/>
                    <a:lstStyle/>
                    <a:p>
                      <a:pPr lvl="0" indent="0" marL="0" algn="l">
                        <a:buNone/>
                      </a:pPr>
                      <a:r>
                        <a:rPr sz="1000"/>
                        <a:t>0.55</a:t>
                      </a:r>
                    </a:p>
                  </a:txBody>
                </a:tc>
                <a:tc>
                  <a:txBody>
                    <a:bodyPr/>
                    <a:lstStyle/>
                    <a:p>
                      <a:pPr lvl="0" indent="0" marL="0" algn="l">
                        <a:buNone/>
                      </a:pPr>
                      <a:r>
                        <a:rPr sz="1000"/>
                        <a:t>0.56</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0.32</a:t>
                      </a:r>
                    </a:p>
                  </a:txBody>
                </a:tc>
                <a:tc>
                  <a:txBody>
                    <a:bodyPr/>
                    <a:lstStyle/>
                    <a:p>
                      <a:pPr lvl="0" indent="0" marL="0" algn="l">
                        <a:buNone/>
                      </a:pPr>
                      <a:r>
                        <a:rPr sz="1000"/>
                        <a:t>0.32</a:t>
                      </a:r>
                    </a:p>
                  </a:txBody>
                </a:tc>
                <a:tc>
                  <a:txBody>
                    <a:bodyPr/>
                    <a:lstStyle/>
                    <a:p>
                      <a:pPr lvl="0" indent="0" marL="0" algn="l">
                        <a:buNone/>
                      </a:pPr>
                      <a:r>
                        <a:rPr sz="1000"/>
                        <a:t>0.19</a:t>
                      </a:r>
                    </a:p>
                  </a:txBody>
                </a:tc>
              </a:tr>
            </a:tbl>
          </a:graphicData>
        </a:graphic>
      </p:graphicFrame>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892808" y="1691640"/>
            <a:ext cx="8412480" cy="420624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529989" y="1691640"/>
            <a:ext cx="9138117" cy="420624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vitamin and mineral deficiencies from public data</dc:title>
  <dc:creator>Andrew N. Mertens, University of California, Berkeley</dc:creator>
  <cp:keywords/>
  <dcterms:created xsi:type="dcterms:W3CDTF">2026-09-17T12:29:17Z</dcterms:created>
  <dcterms:modified xsi:type="dcterms:W3CDTF">2026-09-17T12:29:17Z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biomarker surveys, hundreds of public proxies, one evaluation protocol</vt:lpwstr>
  </property>
  <property fmtid="{D5CDD505-2E9C-101B-9397-08002B2CF9AE}" pid="12" name="toc-title">
    <vt:lpwstr>Table of contents</vt:lpwstr>
  </property>
</Properties>
</file>