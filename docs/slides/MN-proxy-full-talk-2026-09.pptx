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12192000" cy="6858000"/>
  <p:notesSz cx="6858000" cy="9144000"/>
  <p:defaultTextStyle>
    <a:defPPr>
      <a:defRPr lang="en-B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963"/>
    <p:restoredTop sz="94694"/>
  </p:normalViewPr>
  <p:slideViewPr>
    <p:cSldViewPr snapToGrid="0">
      <p:cViewPr varScale="1">
        <p:scale>
          <a:sx n="105" d="100"/>
          <a:sy n="105" d="100"/>
        </p:scale>
        <p:origin x="204" y="78"/>
      </p:cViewPr>
      <p:guideLst/>
    </p:cSldViewPr>
  </p:slideViewPr>
  <p:outlineViewPr>
    <p:cViewPr>
      <p:scale>
        <a:sx n="33" d="100"/>
        <a:sy n="33" d="100"/>
      </p:scale>
      <p:origin x="0" y="0"/>
    </p:cViewPr>
  </p:outlineViewPr>
  <p:notesTextViewPr>
    <p:cViewPr>
      <p:scale>
        <a:sx n="20" d="100"/>
        <a:sy n="20" d="100"/>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09/17/2026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This is the whole talk in one picture, using child vitamin A deficiency in Ghana. Between surveys a program has one national number. The survey itself gives an estimate per region, which is what it was designed to do. The model gives a value for every district, including the 185 the survey never reached. The rest of the talk is about how far that right-hand map can be trusted.</a:t>
            </a:r>
          </a:p>
          <a:p>
            <a:pPr marL="0" lvl="0" indent="0">
              <a:buNone/>
            </a:pPr>
            <a:endParaRPr/>
          </a:p>
          <a:p>
            <a:pPr marL="0" lvl="0" indent="0">
              <a:buNone/>
            </a:pPr>
            <a:r>
              <a:t>DETAIL: Left: the national prevalence from the 2017 survey applied everywhere. Middle: respondent-weighted averages over the 16 regions on the 2019 boundaries (the survey was designed for the 10 old regions). Right: the index fitted on the 75 surveyed districts and applied to all 260 (median over 200 resampled refits, the exceedance slide’s table). The national surveys do give Admin-1 estimates; what they cannot give is every Admin-2, which is the model’s job. Warm palette on a shared 0-60% scale.</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same project is both. The opportunity: hundreds of public layers covering every district. The problem: the thing we predict is measured once a decade, in 14 to 87 districts per country. Everything in the protocol follows from holding both at once.</a:t>
            </a:r>
          </a:p>
          <a:p>
            <a:pPr marL="0" lvl="0" indent="0">
              <a:buNone/>
            </a:pPr>
            <a:endParaRPr/>
          </a:p>
          <a:p>
            <a:pPr marL="0" lvl="0" indent="0">
              <a:buNone/>
            </a:pPr>
            <a:r>
              <a:t>DETAIL: The same sentence describes both halves. Big: 575 columns from 28 sources, most of them rasters at 30 m to 10 km summarized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outcome-country combinations,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Four national micronutrient surveys, one per country, each with blood biomarkers and GPS clusters: The Gambia 2018, Ghana 2017, Sierra Leone 2013, Malawi 2015-16. The maps show women’s iron deficiency by region as the surveys report it; the districts and clusters under each map are what the model learns from.</a:t>
            </a:r>
          </a:p>
          <a:p>
            <a:pPr marL="0" lvl="0" indent="0">
              <a:buNone/>
            </a:pPr>
            <a:endParaRPr/>
          </a:p>
          <a:p>
            <a:pPr marL="0" lvl="0" indent="0">
              <a:buNone/>
            </a:pPr>
            <a:r>
              <a:t>DETAIL: Region-level respondent-weighted prevalence of women’s iron deficiency from targets_v2.csv, on the GADM 4.1 regions. Counts per country from the same table and the cluster file (Sierra Leone: 14 districts, 60 clusters; The Gambia 30 and 70; Ghana 75 and 90; Malawi 87 and 103). All four measured iron and vitamin A in children and women; folate and B12 in three (not The Gambia); zinc in Malawi only. Fieldwork dates recovered for every cluster; three surveys ran in the dry season and Malawi in the lean season. Likely question: why districts rather than regions. Districts are the program unit; they sit below the surveys’ design resolution, which is why the reliability ceiling slide reports what a perfect predictor could reach.</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Five deficiencies, each defined once, the same way in every country, reconciled against the survey reports: iron, vitamin A, folate, B12 and zinc. Children under five and non-pregnant women.</a:t>
            </a:r>
          </a:p>
          <a:p>
            <a:pPr marL="0" lvl="0" indent="0">
              <a:buNone/>
            </a:pPr>
            <a:endParaRPr/>
          </a:p>
          <a:p>
            <a:pPr marL="0" lvl="0" indent="0">
              <a:buNone/>
            </a:pPr>
            <a:r>
              <a:t>DETAIL: Two targets per outcome-country combination: the deficiency prevalence, and the district mean of the negated log biomarker concentration (higher means worse), which carries more signal than the dichotomy and is reported alongside it. Definitions were reconciled against the four survey reports and the 21 papers that re-analyze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outcome-country combinations are anaemic-subgroup estimates until the full file arrives. Folate is not comparable across the two assays (Malawi’s microbiologic assay reads higher than the Roche immunoassay), so its cross-border numbers are indicative only. Iodine (The Gambia, Sierra Leone) is analyzed within country only; a one- or two-country outcome has no cross-border test.</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conceptual framework for iron deficiency: distal drivers at the top (ecology, climate, geography, economy), intermediate ones (food environment, care, infection), and the immediate causes at the bottom. The next slide colors the same boxes by whether we have a public proxy for them.</a:t>
            </a:r>
          </a:p>
          <a:p>
            <a:pPr marL="0" lvl="0" indent="0">
              <a:buNone/>
            </a:pPr>
            <a:endParaRPr/>
          </a:p>
          <a:p>
            <a:pPr marL="0" lvl="0" indent="0">
              <a:buNone/>
            </a:pPr>
            <a:r>
              <a:t>DETAIL: 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same boxes, colored by whether the 575 public predictors cover them. Green: we have district-level layers (climate, soil, poverty, water, malaria, diet from budget surveys). Yellow: only a national figure or a modeled surface. Gray: nothing public reaches it, which is culture, absorption and the individual physiology. The model can only see the green and yellow pathways.</a:t>
            </a:r>
          </a:p>
          <a:p>
            <a:pPr marL="0" lvl="0" indent="0">
              <a:buNone/>
            </a:pPr>
            <a:endParaRPr/>
          </a:p>
          <a:p>
            <a:pPr marL="0" lvl="0" indent="0">
              <a:buNone/>
            </a:pPr>
            <a:r>
              <a:t>DETAIL: Coverage judged from the domain list: ecology and climate (GEE, SoilGrids, AlphaEarth), poverty and education (MICS, HCES, GDL, RWI), sanitation and water (MICS, IHME WASH), food insecurity and diet (HCES food groups, HFID, FEWS, RTFP prices, MapSPAM, livestock), infection (Malaria Atlas, ESPEN helminths, IHME), care practices (MICS infant feeding), inherited red-outcome-country combination disorders (Malaria Atlas HbS, HbC, G6PD allele surfaces). Partly: physiological vulnerability and gynecological conditions (fertility and age structure from MICS/WorldPop), economy and policy (national constants, fortification standards), inflammation (only through malaria and diarrhea surfaces), losses and requirements (fertility, helminths). No: culture and norms, absorption. Likely question: is the lack of a culture proxy why the model plateaus. Possibly; it is one reason the deck says the vocabulary is saturated with respect to what is public.</a:t>
            </a:r>
          </a:p>
        </p:txBody>
      </p:sp>
      <p:sp>
        <p:nvSpPr>
          <p:cNvPr id="4" name="Slide Number Placeholder 3"/>
          <p:cNvSpPr>
            <a:spLocks noGrp="1"/>
          </p:cNvSpPr>
          <p:nvPr>
            <p:ph type="sldNum" sz="quarter" idx="10"/>
          </p:nvPr>
        </p:nvSpPr>
        <p:spPr/>
        <p:txBody>
          <a:bodyPr/>
          <a:lstStyle/>
          <a:p>
            <a:fld id="{57582FD5-DD72-EA41-90DE-BC5D4D375366}"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land side of the data: what the satellites and soil surveys see. Rainfall and temperature normals, soil chemistry, crops, livestock, land cover and a satellite embedding, every one of them public and covering every district. The maps are Ghana, so you can see the north-south gradient most of these layers share.</a:t>
            </a:r>
          </a:p>
          <a:p>
            <a:pPr marL="0" lvl="0" indent="0">
              <a:buNone/>
            </a:pPr>
            <a:endParaRPr/>
          </a:p>
          <a:p>
            <a:pPr marL="0" lvl="0" indent="0">
              <a:buNone/>
            </a:pPr>
            <a:r>
              <a:t>DETAIL: Sources: Earth Engine TerraClimate (monthly climate, 4 km, survey year and 1991-2020 normals), MODIS (land-surface temperature, NDVI, EVI), Copernicus land cover, night lights, GHSL built-up, MODIS productivity, AlphaEarth 64-band satellite embedding, SoilGrids and iSDA soil chemistry at two depths, Koppen and agro-ecological zones, JRC surface water and coast distance, MapSPAM 2010 crop production and area, Gridded Livestock of the World 4, WorldPop, GHSL and GPW population, Meta relative wealth index. What a proxy has to be: 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people side: modeled health surfaces from IHME and the Malaria Atlas, helminths from WHO, food prices from WFP and the World Bank, and the public household surveys, MICS and the budget surveys, aggregated to districts. These are public too; the DHS is kept out of the headline models on purpose.</a:t>
            </a:r>
          </a:p>
          <a:p>
            <a:pPr marL="0" lvl="0" indent="0">
              <a:buNone/>
            </a:pPr>
            <a:endParaRPr/>
          </a:p>
          <a:p>
            <a:pPr marL="0" lvl="0" indent="0">
              <a:buNone/>
            </a:pPr>
            <a:r>
              <a:t>DETAIL: Sources: IHME 5 km modeled surfaces (child growth, anemia, WASH, education, ORS, HIV, measles vaccination), Malaria Atlas (parasite rate, incidence, mortality, nets, spraying, blood-disorder allele frequencies), WHO ESPEN helminth treatment coverage, WHO anemia and UNICEF vitamin A supplementation national series, WFP and World Bank real-time market prices, FAOSTAT balances and HFID food security, GFDx fortification standards, MIMI dietary inadequacy for Ghana, MICS microdata aggregated to districts, household budget surveys (IHS 2015/16, GLSS7, IHS4, SLIHS 2018) for diet, Global Data Lab HDI. DHS aggregates exist for all four countries and are a sensitivity arm only.</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Twenty-eight sources, 575 predictors, one district list. Most are satellite and modeled surfaces; the public household surveys, MICS and the budget surveys, are the rest. The dark part of each bar exists in all four countries and can travel to a new one.</a:t>
            </a:r>
          </a:p>
          <a:p>
            <a:pPr marL="0" lvl="0" indent="0">
              <a:buNone/>
            </a:pPr>
            <a:endParaRPr/>
          </a:p>
          <a:p>
            <a:pPr marL="0" lvl="0" indent="0">
              <a:buNone/>
            </a:pPr>
            <a:r>
              <a:t>DETAIL: Read the bar chart from the top. One harmonized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harmonized to a common vocabulary; what did not harmonize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summarize a year of imagery; soil is iSDA and SoilGrids, ten nutrient concentrations at two depths plus texture and pH; crops are MapSPAM’s 2010 allocation; livestock is GLW4. The health and nutrition surfaces are IHME’s modeled estimates (anemia,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Two rules. In space: one list of districts, and every layer is joined to it by a code, never by a district’s name, so a renamed or split district cannot silently drop out. In time: every layer is taken at the year of the country’s survey or the nearest year available, climate as a 30-year normal plus that year’s anomaly, and the gap between the layer’s year and the survey’s is recorded for every column.</a:t>
            </a:r>
          </a:p>
          <a:p>
            <a:pPr marL="0" lvl="0" indent="0">
              <a:buNone/>
            </a:pPr>
            <a:endParaRPr/>
          </a:p>
          <a:p>
            <a:pPr marL="0" lvl="0" indent="0">
              <a:buNone/>
            </a:pPr>
            <a:r>
              <a:t>DETAIL: Space: 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 Time: 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Twenty-nine domains, grouped here into eight for the slide, with the number of predictors in each. Each domain enters the model as its leading principal components rather than as raw columns, because 575 columns against 14 to 87 districts cannot be fitted one by one.</a:t>
            </a:r>
          </a:p>
          <a:p>
            <a:pPr marL="0" lvl="0" indent="0">
              <a:buNone/>
            </a:pPr>
            <a:endParaRPr/>
          </a:p>
          <a:p>
            <a:pPr marL="0" lvl="0" indent="0">
              <a:buNone/>
            </a:pPr>
            <a:r>
              <a:t>DETAIL: 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analyzes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Six steps: clean the surveys to one definition per nutrient; link the gridded layers to districts; aggregate the household surveys; align everything in time; keep only open data in the headline models; then rank-normalize within country and reduce each domain to its leading components. Nothing in the last step looks at the outcome.</a:t>
            </a:r>
          </a:p>
          <a:p>
            <a:pPr marL="0" lvl="0" indent="0">
              <a:buNone/>
            </a:pPr>
            <a:endParaRPr/>
          </a:p>
          <a:p>
            <a:pPr marL="0" lvl="0" indent="0">
              <a:buNone/>
            </a:pPr>
            <a:r>
              <a:t>DETAIL: Why 28 sources but 29 domains: a source is where a layer comes from (IHME, the Malaria Atlas, MICS), a domain is what it measures; several sources feed one domain (malaria columns from MAP, IHME and MICS sit together) and one source feeds several domains (IHME supplies anemia, child growth and WASH). The column counts at each step are in the appendix CONSORT table.</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A library of candidate algorithms, from a simple mean through penalized regressions, random forests, gradient boosting and spatial and geostatistical models, to the one that won: a principal-component index with nothing tuned. All are compared on the same honest folds.</a:t>
            </a:r>
          </a:p>
          <a:p>
            <a:pPr marL="0" lvl="0" indent="0">
              <a:buNone/>
            </a:pPr>
            <a:endParaRPr/>
          </a:p>
          <a:p>
            <a:pPr marL="0" lvl="0" indent="0">
              <a:buNone/>
            </a:pPr>
            <a:r>
              <a:t>DETAIL: The comparison run (SL-01 to SL-05, rerun on the current set): on identical district-blocked folds the PC index scores 0.29 against 0.28 for the rank-loss SuperLearner ensemble, 0.27 for random forest, 0.25 for the squared-error ensemble, 0.22 for the principal-component highly adaptive ridge and 0.19 for the elastic net (mean of outcome-country combination medians over 17 outcome-country combinations, prevalence, in-fill). Why the simplest wins: with 14 to 87 districts every estimator that tunes a parameter shrinks toward the constant under squared-error cross-validation; the index has no tuned parameter.</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By ensemble machine learning, SuperLearner: every algorithm in the library is scored on data it did not see, with folds cut by district so no district is split between training and validation, and the best one, or the best weighted combination, is chosen. The principal-component index is one candidate in that library, and it is the one that wins.</a:t>
            </a:r>
          </a:p>
          <a:p>
            <a:pPr marL="0" lvl="0" indent="0">
              <a:buNone/>
            </a:pPr>
            <a:endParaRPr/>
          </a:p>
          <a:p>
            <a:pPr marL="0" lvl="0" indent="0">
              <a:buNone/>
            </a:pPr>
            <a:r>
              <a:t>DETAIL: No penalty other than computation to add a learner: diversity, redundancy, synergy. Library: mean, penalized regressions, random forest, gradient boosting, PCA-HAL, BART, geostatistical models, the PC index. Discrete SuperLearner picks the single best learner by cross-validated loss; the weighted version combines them. The figure on the right is the V-fold scheme.</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Four steps, none of which looks at a held-out district: rank every predictor within its country; take the leading components of each domain; weight each component by how well it tracks the outcome in the training districts; add them up. It is a weighted sum with the weights read off the data, nothing tuned.</a:t>
            </a:r>
          </a:p>
          <a:p>
            <a:pPr marL="0" lvl="0" indent="0">
              <a:buNone/>
            </a:pPr>
            <a:endParaRPr/>
          </a:p>
          <a:p>
            <a:pPr marL="0" lvl="0" indent="0">
              <a:buNone/>
            </a:pPr>
            <a:r>
              <a:t>DETAIL: Four steps, none of which looks at a held-out district. (1) Rank-normalize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rank-normalized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Three questions a program might ask, each tested by holding out the right thing. District in-fill: a district the survey missed in a country it did visit. Region extrapolation: a whole region the survey never reached. Cross-country transport: a country with no biomarker survey at all. Each is compared with the best thing you could do without the model.</a:t>
            </a:r>
          </a:p>
          <a:p>
            <a:pPr marL="0" lvl="0" indent="0">
              <a:buNone/>
            </a:pPr>
            <a:endParaRPr/>
          </a:p>
          <a:p>
            <a:pPr marL="0" lvl="0" indent="0">
              <a:buNone/>
            </a:pPr>
            <a:r>
              <a:t>DETAIL: In-fill folds are 5-fold by district repeated ten times; the baseline is the survey’s own regional average computed without the held-out district (jackknifed) and a spatial smoother. Region extrapolation holds out one region at a time; baseline a spatial smoother. Transport holds out one country and trains on the other three; the baseline is a permutation null with country blocks kept intact. The earlier leaderboard compared transport-style models against an in-fill baseline that had seen the district’s own respondents; that comparison is withdrawn. 16 of 22 combinations are positive at the 95th percentile of the null with no transport at all, so the mean correlation is what is compared with its null (0.08 district, 0.18 regional).</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same three levels as pictures: orange is predicted from blue. A few districts held out inside Ghana; a whole region of Ghana; then all of Ghana, predicted from the other three countries.</a:t>
            </a:r>
          </a:p>
          <a:p>
            <a:pPr marL="0" lvl="0" indent="0">
              <a:buNone/>
            </a:pPr>
            <a:endParaRPr/>
          </a:p>
          <a:p>
            <a:pPr marL="0" lvl="0" indent="0">
              <a:buNone/>
            </a:pPr>
            <a:r>
              <a:t>DETAIL: In-fill holds out districts one fold at a time (5-fold by district, ten draws); region extrapolation holds out a whole region; transport holds out a whole country and trains on the other three. Every fold is cut at the district or above, never through a district’s respondents.</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average hides a spread. Each row is one outcome in one country; the filled point is the model, the cross the survey’s own regional average. Six of the eighteen combinations clear 0.5 and average 0.64, in bold; the rest average 0.28. The failures are rare outcomes, zinc, and single-cluster districts; The Gambia, with several clusters per district, is strong on three of four outcomes.</a:t>
            </a:r>
          </a:p>
          <a:p>
            <a:pPr marL="0" lvl="0" indent="0">
              <a:buNone/>
            </a:pPr>
            <a:endParaRPr/>
          </a:p>
          <a:p>
            <a:pPr marL="0" lvl="0" indent="0">
              <a:buNone/>
            </a:pPr>
            <a:r>
              <a:t>DETAIL: Sierra Leone has no in-fill row: with 14 districts a 5-fold split leaves eleven to train on, below the twelve the protocol requires, so its in-fill score is NA and it is scored under region and country transport only. The averages elsewhere in this deck hide a spread that matters: 6 of the 18 in-country outcome-country combinations reach a held-out Spearman of 0.5 or more on the biomarker level (mean 0.64, bold on the axis), the rest average 0.28. Rows are the country-outcome outcome-country combinations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optimiztic and shown only to say how much a different estimator could have added: little. The middle and right panels are the region and country estimands for the same outcome-country combinations. The weak outcome-country combinations are of two kinds: outcomes too rare to measure at district level (Malawi’s vitamin A outcome-country combinations at under 1% national prevalence: 2 outcome-country combinations,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outcome-country combinations on the prevalence and concentration scales, and the scatter after them puts the weak outcome-country combinations against their prevalence. Sierra Leone’s 14 districts are not scored in-fill.</a:t>
            </a:r>
          </a:p>
        </p:txBody>
      </p:sp>
      <p:sp>
        <p:nvSpPr>
          <p:cNvPr id="4" name="Slide Number Placeholder 3"/>
          <p:cNvSpPr>
            <a:spLocks noGrp="1"/>
          </p:cNvSpPr>
          <p:nvPr>
            <p:ph type="sldNum" sz="quarter" idx="10"/>
          </p:nvPr>
        </p:nvSpPr>
        <p:spPr/>
        <p:txBody>
          <a:bodyPr/>
          <a:lstStyle/>
          <a:p>
            <a:fld id="{57582FD5-DD72-EA41-90DE-BC5D4D375366}" type="slidenum">
              <a:rPr lang="en-US"/>
              <a:t>25</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Same combinations, now the level: how many percentage points each district’s predicted prevalence is from the survey’s. The model is no better than the regional average here, and only a little better than one national number, because it is built to order districts, not to measure them.</a:t>
            </a:r>
          </a:p>
          <a:p>
            <a:pPr marL="0" lvl="0" indent="0">
              <a:buNone/>
            </a:pPr>
            <a:endParaRPr/>
          </a:p>
          <a:p>
            <a:pPr marL="0" lvl="0" indent="0">
              <a:buNone/>
            </a:pPr>
            <a:r>
              <a:t>DETAIL: Same combinations,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combinations look accurate here and useless on the ranking slide. The index is rescaled to the training districts’ spread, so it is not built to minimize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57582FD5-DD72-EA41-90DE-BC5D4D375366}" type="slidenum">
              <a:rPr lang="en-US"/>
              <a:t>26</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same on the biomarker concentration scale, as error relative to how much districts differ: one means no better than the national mean. The model sits near one in most combinations even where it ranks well, which is the same message: order, not level.</a:t>
            </a:r>
          </a:p>
          <a:p>
            <a:pPr marL="0" lvl="0" indent="0">
              <a:buNone/>
            </a:pPr>
            <a:endParaRPr/>
          </a:p>
          <a:p>
            <a:pPr marL="0" lvl="0" indent="0">
              <a:buNone/>
            </a:pPr>
            <a:r>
              <a:t>DETAIL: Same combinations,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combinations where it ranks well; the spatial smoother, which shrinks toward neighbors, is usually the best other arm on this loss. That is the honest division of labour the geostatistical slide draws: the index for the order, a shrinking estimator for the level. Cells whose index error sits well below 1 (the strong combinations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57582FD5-DD72-EA41-90DE-BC5D4D375366}" type="slidenum">
              <a:rPr lang="en-US"/>
              <a:t>27</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Each point is one outcome in one country against how common the deficiency is. Above the line: iron, B12 and vitamin A where they are common enough to measure, and The Gambia everywhere. Below: the very rare outcomes, zinc, and the single-cluster countries. The model needs a survey that can see districts before it can be shown to rank them.</a:t>
            </a:r>
          </a:p>
          <a:p>
            <a:pPr marL="0" lvl="0" indent="0">
              <a:buNone/>
            </a:pPr>
            <a:endParaRPr/>
          </a:p>
          <a:p>
            <a:pPr marL="0" lvl="0" indent="0">
              <a:buNone/>
            </a:pPr>
            <a:r>
              <a:t>DETAIL: Each point is a country-outcome outcome-country combination: the index’s in-fill ranking accuracy against how common the deficiency is nationally. Rarity hurts at the extreme: below 1% prevalence (Malawi’s two vitamin A combinations,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above the line), Ghana’s and Malawi’s single-cluster districts are mixed (3 of ). Zinc (Malawi only, -0.07) is the other failure and is not a rarity problem: serum zinc is unadjusted, drawn under fasting rules that vary by cluster, and the survey’s own district means are close to noise. Everything the deck claims about ranking rests on the combinations above the dotted line: 6 of 18, iron, vitamin A where it is common, folate and B12, in three countries. Likely question: why not just report those. Because the cut is chosen on the same held-out scores, so the strong-outcome-country combination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57582FD5-DD72-EA41-90DE-BC5D4D375366}" type="slidenum">
              <a:rPr lang="en-US"/>
              <a:t>28</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four best: Malawi B12 and three of The Gambia’s outcomes, all at or near 0.7 on the ranking. The level column is the caution: even here the district prevalence error is no better than the survey’s regional average. Strong on the order, not on the level.</a:t>
            </a:r>
          </a:p>
          <a:p>
            <a:pPr marL="0" lvl="0" indent="0">
              <a:buNone/>
            </a:pPr>
            <a:endParaRPr/>
          </a:p>
          <a:p>
            <a:pPr marL="0" lvl="0" indent="0">
              <a:buNone/>
            </a:pPr>
            <a:r>
              <a:t>DETAIL: The four best in-country outcome-country combinations on the held-out ranking, from benchmarks_v2_raw.csv (in-fill, biomarker level, mean over ten draws), with the same outcome-country combination’s prevalence-target ranking, its population-weighted district prevalence error in percentage points and the national prevalence. These are the outcome-country combinations to show a country: the model is not a uniform 0.40, it is 0.64 where the outcome is common enough to measure and close to nothing where it is not. 6 of 18 combinations clear 0.5.</a:t>
            </a:r>
          </a:p>
        </p:txBody>
      </p:sp>
      <p:sp>
        <p:nvSpPr>
          <p:cNvPr id="4" name="Slide Number Placeholder 3"/>
          <p:cNvSpPr>
            <a:spLocks noGrp="1"/>
          </p:cNvSpPr>
          <p:nvPr>
            <p:ph type="sldNum" sz="quarter" idx="10"/>
          </p:nvPr>
        </p:nvSpPr>
        <p:spPr/>
        <p:txBody>
          <a:bodyPr/>
          <a:lstStyle/>
          <a:p>
            <a:fld id="{57582FD5-DD72-EA41-90DE-BC5D4D375366}" type="slidenum">
              <a:rPr lang="en-US"/>
              <a:t>29</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Inside a surveyed country, predicting each district with that district held out, the model’s ranking correlates 0.40 with the survey’s, against 0.31 for the survey’s own regional averages and 0.39 for a smoother that only uses neighbors. Six district pairs in ten are in the survey’s order; the regional average manages five and a half.</a:t>
            </a:r>
          </a:p>
          <a:p>
            <a:pPr marL="0" lvl="0" indent="0">
              <a:buNone/>
            </a:pPr>
            <a:endParaRPr/>
          </a:p>
          <a:p>
            <a:pPr marL="0" lvl="0" indent="0">
              <a:buNone/>
            </a:pPr>
            <a:r>
              <a:t>DETAIL: Cells: 18 on the level (Sierra Leone’s outcome-country combinations score NA at 14 districts). On prevalence the index scores 0.28 against 0.22. The smoother with covariates fitted to its residuals scores 0.39; covariates add +0.01 over the smoother alone on the level. The penalized fits score 0.33 (domain components) and 0.32 (all columns). Likely question: why the smoother does so well. Inside a surveyed country the covariates mostly reproduce a smooth surface that neighboring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57582FD5-DD72-EA41-90DE-BC5D4D375366}" type="slidenum">
              <a:rPr lang="en-US"/>
              <a:t>30</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Ghana, women’s iron deficiency, one outcome across the four questions a map has to answer. Left, what the survey measured, district by district. Second, what the model predicts for each of those districts when it is held out. Third, the model applied to every district including the ones never surveyed. Right, how much each district’s prediction moves when the training districts are resampled.</a:t>
            </a:r>
          </a:p>
          <a:p>
            <a:pPr marL="0" lvl="0" indent="0">
              <a:buNone/>
            </a:pPr>
            <a:endParaRPr/>
          </a:p>
          <a:p>
            <a:pPr marL="0" lvl="0" indent="0">
              <a:buNone/>
            </a:pPr>
            <a:r>
              <a:t>DETAIL: Panel 2 is the in-fill out-of-fold prediction (5-fold by district, ten draws, prevalence target). Panel 3 is the deployment fit: the index on all surveyed districts, applied to all, in-sample for the surveyed ones. Panel 4: 200 stratified resamples of the surveyed districts, the index refitted and applied each time; the width is the 90% band of predicted prevalence. Gray in panels 1 and 2: no survey clusters. The band measures stability under resampling, not distance from the truth (calibration slide). Tables: viz/oof_women_iron.csv, viz/deploy_ghana_women_iron.csv.</a:t>
            </a:r>
          </a:p>
        </p:txBody>
      </p:sp>
      <p:sp>
        <p:nvSpPr>
          <p:cNvPr id="4" name="Slide Number Placeholder 3"/>
          <p:cNvSpPr>
            <a:spLocks noGrp="1"/>
          </p:cNvSpPr>
          <p:nvPr>
            <p:ph type="sldNum" sz="quarter" idx="10"/>
          </p:nvPr>
        </p:nvSpPr>
        <p:spPr/>
        <p:txBody>
          <a:bodyPr/>
          <a:lstStyle/>
          <a:p>
            <a:fld id="{57582FD5-DD72-EA41-90DE-BC5D4D375366}" type="slidenum">
              <a:rPr lang="en-US"/>
              <a:t>31</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57582FD5-DD72-EA41-90DE-BC5D4D375366}" type="slidenum">
              <a:rPr lang="en-US"/>
              <a:t>32</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Trained on three countries and applied to the fourth, the ranking carries: 0.30 with the full set of predictors, 0.38 with climate and soil alone, against 0.08 by chance. The level does not: the bottom panel shows why, the surveys’ national mean biomarker concentrations differ several-fold, so a transported prevalence would be wrong before it started. What crosses a border is the order of districts.</a:t>
            </a:r>
          </a:p>
          <a:p>
            <a:pPr marL="0" lvl="0" indent="0">
              <a:buNone/>
            </a:pPr>
            <a:endParaRPr/>
          </a:p>
          <a:p>
            <a:pPr marL="0" lvl="0" indent="0">
              <a:buNone/>
            </a:pPr>
            <a:r>
              <a:t>DETAIL: 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DA-03 (17 September, RR-12 set): adding the next load-bearing domains of the ablation to climate and soil (anemia surfaces, agriculture, infection: five domains) reaches 0.41 at district level (better than climate-and-soil in 15 of 22, median +0.01, all 22 outcome-country combinations positive; 0.33 on prevalence), with the gain in the weak outcome-country combinations (women’s iron and folate in Ghana and Sierra Leone) and none in the strong ones. It is chosen on the same 22 outcome-country combinations, so it goes into the pre-registration as a second candidate beside climate-and-soil, not in its place; the honest nested selection still sits at 0.31 (next slide). Since 9 September the DHS-derived predictors are cluster-level spatial estimates at every district (DS-01), which changed nothing in-country and cost the full index 0.01 across borders. Likely question: what a correlation of 0.30 means for a program. The targeting slide answers in burden captured.</a:t>
            </a:r>
          </a:p>
        </p:txBody>
      </p:sp>
      <p:sp>
        <p:nvSpPr>
          <p:cNvPr id="4" name="Slide Number Placeholder 3"/>
          <p:cNvSpPr>
            <a:spLocks noGrp="1"/>
          </p:cNvSpPr>
          <p:nvPr>
            <p:ph type="sldNum" sz="quarter" idx="10"/>
          </p:nvPr>
        </p:nvSpPr>
        <p:spPr/>
        <p:txBody>
          <a:bodyPr/>
          <a:lstStyle/>
          <a:p>
            <a:fld id="{57582FD5-DD72-EA41-90DE-BC5D4D375366}" type="slidenum">
              <a:rPr lang="en-US"/>
              <a:t>33</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Adding the next load-bearing domains, the anemia surfaces, agriculture and infection, to climate and soil raises transport from 0.38 to 0.41. That set was chosen on the same countries it is scored on, so it becomes a second candidate to test on the fifth survey, not a replacement.</a:t>
            </a:r>
          </a:p>
          <a:p>
            <a:pPr marL="0" lvl="0" indent="0">
              <a:buNone/>
            </a:pPr>
            <a:endParaRPr/>
          </a:p>
          <a:p>
            <a:pPr marL="0" lvl="0" indent="0">
              <a:buNone/>
            </a:pPr>
            <a:r>
              <a:t>DETAIL: Dashed line: the 95th percentile of the permutation null. DA-03 (17 September, RR-12 set): script 25 scores fixed domain sets on the same leave-one-country-out folds as the transport slide, with the domain components oriented on the training countries only. The five-domain set (climate, soil, anemia and hemoglobin, agriculture and land use, infection and inflammation) is the top of the ablation ranking on these outcome-country combinations: 0.41 at district level against 0.38 for climate and soil, positive in all 22 outcome-country combinations, 0.33 against 0.28 on prevalence. The gain is in the weak outcome-country combinations (women’s iron and folate in Ghana and Sierra Leone) and absent in the strong ones. Because the set was chosen from the ablation on these same 22 outcome-country combinations, it has the same status as climate-and-soil had when it was found: a description of these four countries, to be scored as a second pre-registered candidate on the fifth. The honest arm, domains chosen by an inner leave-one-country-out inside the three training countries, stays at 0.31: with two inner folds the greedy choice overfits, which is why the pre-registration route is the one that can settle this. Likely question: why not use all load-bearing domains. All eight load-bearing domains score 0.39; nothing beyond five adds.</a:t>
            </a:r>
          </a:p>
        </p:txBody>
      </p:sp>
      <p:sp>
        <p:nvSpPr>
          <p:cNvPr id="4" name="Slide Number Placeholder 3"/>
          <p:cNvSpPr>
            <a:spLocks noGrp="1"/>
          </p:cNvSpPr>
          <p:nvPr>
            <p:ph type="sldNum" sz="quarter" idx="10"/>
          </p:nvPr>
        </p:nvSpPr>
        <p:spPr/>
        <p:txBody>
          <a:bodyPr/>
          <a:lstStyle/>
          <a:p>
            <a:fld id="{57582FD5-DD72-EA41-90DE-BC5D4D375366}" type="slidenum">
              <a:rPr lang="en-US"/>
              <a:t>34</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Cote d’Ivoire is the case the project exists for: the public layers, no biomarker survey. The index trained on the four surveyed countries ranks its 33 districts, and the northern savanna belt comes out worst, the drier, poorer, more pastoral half of the country. The right map says how firmly: most districts move only a few places when the model is refitted on different training districts.</a:t>
            </a:r>
          </a:p>
          <a:p>
            <a:pPr marL="0" lvl="0" indent="0">
              <a:buNone/>
            </a:pPr>
            <a:endParaRPr/>
          </a:p>
          <a:p>
            <a:pPr marL="0" lvl="0" indent="0">
              <a:buNone/>
            </a:pPr>
            <a:r>
              <a:t>DETAIL: Cote d’Ivoire has the climate and soil layers and no biomarker survey, so it is the case the project exists for. The climate-and-soil index was fitted on the four surveyed countries and applied to its 33 districts for 6 outcomes (child and women’s iron and vitamin A, women’s folate and B12); it has never seen a Cote d’Ivoire biomarker. Left: child iron; the worst-ranked districts are the northern savanna belt (Tchologo, Bounkani, Bagoue, Poro, Hambol), the drier, poorer, more pastoral half of the country. Right: how firmly each district is placed. The training set was resampled 400 times, stratified by country, the components re-oriented and the index refitted each time, and the district re-ranked; the map shows the width of the 90 percent range of ranks, median 5 places out of 33. 10 of 33 districts have at least an 80 percent chance of being in the worst third and 20 at most 20 percent. What this uncertainty covers: how much the ranking depends on which training districts we learned from. What it does not cover: whether the model transports to Cote d’Ivoire at all, because there is no ground truth there; the external bound on that is the held-out transport accuracy of 0.38. Two guards ran first: the same code with each surveyed country held out reproduces the transport figure (0.38 over 22 outcome-country combinations, 21 positive), and adding Cote d’Ivoire to the column intersection costs 7 of the 101 climate-and-soil columns (the few layers the Cote d’Ivoire extraction lacks) without degrading transport (0.39, 22 positive). CV-01 (17 September): the Cote d’Ivoire database was extended from 132 to 212 columns with the open rasters the other domains need (IHME surfaces, Malaria Atlas at 2016, MapSPAM, livestock, and the 30-year climate normals that were missing), so the climate-and-soil index now runs on its full vocabulary (94 common columns, guard 0.39) and the five-domain candidate can be applied too (next slide). Rank uncertainty is now computed for all six outcomes and both candidates (civ_rank_uncertainty_all.csv). The only external check so far is the WFP/MIMI Nature Food 2026 vitamin A map, which ranks the same northern belt worst. Tables: 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35</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A program that goes to the fifth of districts the model ranks worst reaches about a fifth of the deficient people, a little more than the survey’s own regional averages would, and less than half of what perfect knowledge would give. Even in the six strongest combinations the gain over the regional average is small: burden sits in populous districts, and the ranking is not a burden map.</a:t>
            </a:r>
          </a:p>
          <a:p>
            <a:pPr marL="0" lvl="0" indent="0">
              <a:buNone/>
            </a:pPr>
            <a:endParaRPr/>
          </a:p>
          <a:p>
            <a:pPr marL="0" lvl="0" indent="0">
              <a:buNone/>
            </a:pPr>
            <a:r>
              <a:t>DETAIL: The dashed line is the share a random fifth of districts would capture. The margin over the survey’s own regional averages is small per outcome-country combination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36</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One table and two sentences. The table: for each outcome, how well the model ranks districts inside a surveyed country and in a new one, and how far off its district prevalence is. The sentences: it gets six district pairs in ten in the survey’s order, against five and a half for the region’s average; and a level is only trustworthy with a national anchor.</a:t>
            </a:r>
          </a:p>
          <a:p>
            <a:pPr marL="0" lvl="0" indent="0">
              <a:buNone/>
            </a:pPr>
            <a:endParaRPr/>
          </a:p>
          <a:p>
            <a:pPr marL="0" lvl="0" indent="0">
              <a:buNone/>
            </a:pPr>
            <a:r>
              <a:t>DETAIL: The MIMI deck’s evaluation summary format: the per-outcome table on the left (held-out Spearman inside a country and in a new country, biomarker level; the population-weighted district prevalence error in-fill), and on the right the two sentences a policy reader takes away, one about the order and one about the level, with the pair-count and the anchor error behind them. The four draft translation slides that follow expand these two readings; keep this one if only one fits.</a:t>
            </a:r>
          </a:p>
        </p:txBody>
      </p:sp>
      <p:sp>
        <p:nvSpPr>
          <p:cNvPr id="4" name="Slide Number Placeholder 3"/>
          <p:cNvSpPr>
            <a:spLocks noGrp="1"/>
          </p:cNvSpPr>
          <p:nvPr>
            <p:ph type="sldNum" sz="quarter" idx="10"/>
          </p:nvPr>
        </p:nvSpPr>
        <p:spPr/>
        <p:txBody>
          <a:bodyPr/>
          <a:lstStyle/>
          <a:p>
            <a:fld id="{57582FD5-DD72-EA41-90DE-BC5D4D375366}" type="slidenum">
              <a:rPr lang="en-US"/>
              <a:t>37</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Three readings of the same 0.40, all from the best model, the index, predicting each district with it held out: six pairs in ten in the survey’s order; the flagged fifth has a third more deficiency than the country; that fifth holds a fifth of the deficient people. Real, modest, and better than the number a ministry has today.</a:t>
            </a:r>
          </a:p>
          <a:p>
            <a:pPr marL="0" lvl="0" indent="0">
              <a:buNone/>
            </a:pPr>
            <a:endParaRPr/>
          </a:p>
          <a:p>
            <a:pPr marL="0" lvl="0" indent="0">
              <a:buNone/>
            </a:pPr>
            <a:r>
              <a:t>DETAIL: DRAFT A of four candidate translations; all numbers are the index (the deployed and best-performing model), averaged over the 24 outcome-country combinations; in the six strongest combinations the pair count is about 70%. The three readings are all computed from the same held-out predictions (in-fill, 5-fold by district, ten draws). Pairs: counted exactly from the held-out predictions (12_nce_targeting_metrics.R, PC-01: every pair of districts, ties excluded, mean over the 24 outcome-country combinations): the model orders 60% of district pairs the way the survey does, the survey’s own regional averages 56%, a coin toss 50%; across borders (leave-one-country-out, 22 outcome-country combinations) it is 55%. A Spearman of 0.40 sounds like more than it is: at district level it is six pairs in ten. The flagged fifth: deficiency prevalence in the fifth of districts the model ranks worst averages 32.2% against 24.3% nationally (nce_targeting_summary.csv, mean over the 24 outcome-country combinations);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57582FD5-DD72-EA41-90DE-BC5D4D375366}" type="slidenum">
              <a:rPr lang="en-US"/>
              <a:t>38</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Two comparisons that make 0.40 readable. First, against the ceiling: the survey’s own district estimates are noisy, so even a perfect predictor would only reach 0.48 against them; the model reaches 59% of that. Second, against the best prediction you can make with survey data alone, the region’s average: the model beats it in 13 of 18 combinations.</a:t>
            </a:r>
          </a:p>
          <a:p>
            <a:pPr marL="0" lvl="0" indent="0">
              <a:buNone/>
            </a:pPr>
            <a:endParaRPr/>
          </a:p>
          <a:p>
            <a:pPr marL="0" lvl="0" indent="0">
              <a:buNone/>
            </a:pPr>
            <a:r>
              <a:t>DETAIL: How the ceiling is known: a variance model with respondents nested in clusters, clusters in districts and districts in regions, fitted to each survey, gives the share of district-to-district variation that is true signal rather than sampling noise; the correlation a predictor of the true value could reach with the observed value follows from that share (variance_components_ceiling.csv). The regional average is jackknifed: each district’s value is its region’s average computed without that district’s own respondents, so it never sees the answer. 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outcome-country combinations).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57582FD5-DD72-EA41-90DE-BC5D4D375366}" type="slidenum">
              <a:rPr lang="en-US"/>
              <a:t>39</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Policy runs on severity bands. With each district held out, the model puts 64% of districts in the survey’s WHO vitamin A band and 91% within one band. The survey’s regional averages do slightly better, because a band is mostly a level; the model’s case is a band where there is no survey at all.</a:t>
            </a:r>
          </a:p>
          <a:p>
            <a:pPr marL="0" lvl="0" indent="0">
              <a:buNone/>
            </a:pPr>
            <a:endParaRPr/>
          </a:p>
          <a:p>
            <a:pPr marL="0" lvl="0" indent="0">
              <a:buNone/>
            </a:pPr>
            <a:r>
              <a:t>DETAIL: 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outcome-country combinations);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57582FD5-DD72-EA41-90DE-BC5D4D375366}" type="slidenum">
              <a:rPr lang="en-US"/>
              <a:t>40</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Which districts to visit first, where the next survey should sample, the order of a roll-out: yes. A planning prevalence: only with a national anchor. A district prevalence with no survey, or whether a program worked: no.</a:t>
            </a:r>
          </a:p>
          <a:p>
            <a:pPr marL="0" lvl="0" indent="0">
              <a:buNone/>
            </a:pPr>
            <a:endParaRPr/>
          </a:p>
          <a:p>
            <a:pPr marL="0" lvl="0" indent="0">
              <a:buNone/>
            </a:pPr>
            <a:r>
              <a:t>DETAIL: DRAFT D. The correlation does not tell a program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57582FD5-DD72-EA41-90DE-BC5D4D375366}" type="slidenum">
              <a:rPr lang="en-US"/>
              <a:t>41</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Malawi, women’s iron deficiency, one outcome across the four questions a map has to answer. Left, what the survey measured, district by district. Second, what the model predicts for each of those districts when it is held out. Third, the model applied to every district including the ones never surveyed. Right, how much each district’s prediction moves when the training districts are resampled.</a:t>
            </a:r>
          </a:p>
          <a:p>
            <a:pPr marL="0" lvl="0" indent="0">
              <a:buNone/>
            </a:pPr>
            <a:endParaRPr/>
          </a:p>
          <a:p>
            <a:pPr marL="0" lvl="0" indent="0">
              <a:buNone/>
            </a:pPr>
            <a:r>
              <a:t>DETAIL: Panel 2 is the in-fill out-of-fold prediction (5-fold by district, ten draws, prevalence target). Panel 3 is the deployment fit: the index on all surveyed districts, applied to all, in-sample for the surveyed ones. Panel 4: 200 stratified resamples of the surveyed districts, the index refitted and applied each time; the width is the 90% band of predicted prevalence. Gray in panels 1 and 2: no survey clusters. The band measures stability under resampling, not distance from the truth (calibration slide). Tables: viz/oof_women_iron.csv, viz/deploy_malawi_women_iron.csv.</a:t>
            </a:r>
          </a:p>
        </p:txBody>
      </p:sp>
      <p:sp>
        <p:nvSpPr>
          <p:cNvPr id="4" name="Slide Number Placeholder 3"/>
          <p:cNvSpPr>
            <a:spLocks noGrp="1"/>
          </p:cNvSpPr>
          <p:nvPr>
            <p:ph type="sldNum" sz="quarter" idx="10"/>
          </p:nvPr>
        </p:nvSpPr>
        <p:spPr/>
        <p:txBody>
          <a:bodyPr/>
          <a:lstStyle/>
          <a:p>
            <a:fld id="{57582FD5-DD72-EA41-90DE-BC5D4D375366}" type="slidenum">
              <a:rPr lang="en-US"/>
              <a:t>42</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 convention borrowed from the small-area-estimation literature (hatching for direct estimates whose coefficient of variation exceeds a third; gray for no data). Every district on every map in this deck belongs to one of three grades. A: surveyed with several clusters, so the survey’s own district estimate is worth comparing with; 39 districts. B: surveyed with one cluster, the majority (80% of surveyed districts), where the survey’s district number is itself an estimate with the noise the ceiling slide quantifies; hatched wherever a survey value is drawn. C: no survey clusters, where only the model speaks; gray on survey maps, filled on model maps. The grade says what the map can be compared against, not how good the model is.</a:t>
            </a:r>
          </a:p>
        </p:txBody>
      </p:sp>
      <p:sp>
        <p:nvSpPr>
          <p:cNvPr id="4" name="Slide Number Placeholder 3"/>
          <p:cNvSpPr>
            <a:spLocks noGrp="1"/>
          </p:cNvSpPr>
          <p:nvPr>
            <p:ph type="sldNum" sz="quarter" idx="10"/>
          </p:nvPr>
        </p:nvSpPr>
        <p:spPr/>
        <p:txBody>
          <a:bodyPr/>
          <a:lstStyle/>
          <a:p>
            <a:fld id="{57582FD5-DD72-EA41-90DE-BC5D4D375366}" type="slidenum">
              <a:rPr lang="en-US"/>
              <a:t>44</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Before judging the model, look at what it is judged against. Hatched districts have one survey cluster; their value is one cluster’s respondents. The number under each title is the ceiling: how well a perfect predictor of the true district value could correlate with this map. Around 0.5 to 0.7. That is the bar, not 1.0.</a:t>
            </a:r>
          </a:p>
          <a:p>
            <a:pPr marL="0" lvl="0" indent="0">
              <a:buNone/>
            </a:pPr>
            <a:endParaRPr/>
          </a:p>
          <a:p>
            <a:pPr marL="0" lvl="0" indent="0">
              <a:buNone/>
            </a:pPr>
            <a:r>
              <a:t>DETAIL: The survey’s own district map of child iron deficiency, with the reliability grades drawn on it. Hatched districts have one survey cluster: their value is a single cluster’s respondents, and the split-half ceiling says how much of the district-to-district variation on this map is noise. Unhatched districts have several clusters. Gray districts have none. When the next slides compare the model with “the survey”, this is the survey they compare with; the model’s job is to be a better estimate of the true district value than a single hatched cluster is, which the reliability-ceiling slide shows it can be in the strong outcome-country combinations.</a:t>
            </a:r>
          </a:p>
        </p:txBody>
      </p:sp>
      <p:sp>
        <p:nvSpPr>
          <p:cNvPr id="4" name="Slide Number Placeholder 3"/>
          <p:cNvSpPr>
            <a:spLocks noGrp="1"/>
          </p:cNvSpPr>
          <p:nvPr>
            <p:ph type="sldNum" sz="quarter" idx="10"/>
          </p:nvPr>
        </p:nvSpPr>
        <p:spPr/>
        <p:txBody>
          <a:bodyPr/>
          <a:lstStyle/>
          <a:p>
            <a:fld id="{57582FD5-DD72-EA41-90DE-BC5D4D375366}" type="slidenum">
              <a:rPr lang="en-US"/>
              <a:t>45</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plot every geostatistical paper carries and this deck lacked: each district’s survey estimate against its prediction made with the district held out (5-fold by district, mean over ten draws; the bar is the range over the draws, which is fold-assignment variability, not sampling error). The dashed line is perfect agreement. Read three things. The cloud is tilted, not on the line: the model ranks (Spearman 0.50 in Ghana, 0.40 in The Gambia, 0.25 in Malawi) but compresses the range, because it is rescaled to the training spread and shrinks extremes, which is the MAE of 16.0 to 14.4 points. Hollow points are single-cluster districts: much of the vertical scatter around them is the survey’s noise, not the model’s. The largest circles, the districts with the most respondents, sit closest to the line.</a:t>
            </a:r>
          </a:p>
        </p:txBody>
      </p:sp>
      <p:sp>
        <p:nvSpPr>
          <p:cNvPr id="4" name="Slide Number Placeholder 3"/>
          <p:cNvSpPr>
            <a:spLocks noGrp="1"/>
          </p:cNvSpPr>
          <p:nvPr>
            <p:ph type="sldNum" sz="quarter" idx="10"/>
          </p:nvPr>
        </p:nvSpPr>
        <p:spPr/>
        <p:txBody>
          <a:bodyPr/>
          <a:lstStyle/>
          <a:p>
            <a:fld id="{57582FD5-DD72-EA41-90DE-BC5D4D375366}" type="slidenum">
              <a:rPr lang="en-US"/>
              <a:t>46</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same held-out district predictions, and the survey, both aggregated to the regions (respondent-weighted means), child iron. This is the resolution at which the surveys were designed to be read, and the comparison a ministry statistician will make first. The regional pattern is recovered in each country; the district slide before this one shows the finer level where the survey itself becomes noisy. The MIMI and IHME decks show exactly this pair of maps as their headline validation figure.</a:t>
            </a:r>
          </a:p>
        </p:txBody>
      </p:sp>
      <p:sp>
        <p:nvSpPr>
          <p:cNvPr id="4" name="Slide Number Placeholder 3"/>
          <p:cNvSpPr>
            <a:spLocks noGrp="1"/>
          </p:cNvSpPr>
          <p:nvPr>
            <p:ph type="sldNum" sz="quarter" idx="10"/>
          </p:nvPr>
        </p:nvSpPr>
        <p:spPr/>
        <p:txBody>
          <a:bodyPr/>
          <a:lstStyle/>
          <a:p>
            <a:fld id="{57582FD5-DD72-EA41-90DE-BC5D4D375366}" type="slidenum">
              <a:rPr lang="en-US"/>
              <a:t>47</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device IHME uses for every one of its maps, applied here: not “what is the prevalence” but “how likely is it to be above the line a program acts on”. Ghana, child vitamin A, the index fitted on the 75 surveyed districts and applied to all 260 (in-sample for the surveyed ones), refitted on 200 stratified resamples of the training districts; the right map is the share of refits in which a district’s predicted prevalence is at or above 20 percent, the WHO severe band. 63 districts are above the line in at least 80 percent of refits, 186 below it in at least 80 percent, and 11 are undecided; 185 of the 260 have no survey clusters. The level here comes from Ghana’s own survey, so this is the in-country version; for a new country the level would come from the national anchor and the map would read as a planning figure. The caveat is the same as for the Cote d’Ivoire intervals: the refits capture how much the map depends on which training districts were drawn, not the survey’s own noise at each district.</a:t>
            </a:r>
          </a:p>
        </p:txBody>
      </p:sp>
      <p:sp>
        <p:nvSpPr>
          <p:cNvPr id="4" name="Slide Number Placeholder 3"/>
          <p:cNvSpPr>
            <a:spLocks noGrp="1"/>
          </p:cNvSpPr>
          <p:nvPr>
            <p:ph type="sldNum" sz="quarter" idx="10"/>
          </p:nvPr>
        </p:nvSpPr>
        <p:spPr/>
        <p:txBody>
          <a:bodyPr/>
          <a:lstStyle/>
          <a:p>
            <a:fld id="{57582FD5-DD72-EA41-90DE-BC5D4D375366}" type="slidenum">
              <a:rPr lang="en-US"/>
              <a:t>48</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two Cote d’Ivoire maps folded into one, the bivariate device the geospatial-health literature recommends for policy audiences: color hue is the ranking (purple worst third, blue middle, green best third; median over the 400 refits) and color depth is how sure the refits are of that placement (deep = at least 80 percent of refits put it in that third; pale = under 60 percent). The legend counts districts in each outcome-country combination. The reading is immediate: deep purple, act; pale purple or pale blue, survey first; deep green, lowest priority. The labeled districts are the deep-purple ones, the northern belt. As before, “sure” means stable under resampling of the training set, not verified against a Cote d’Ivoire survey.</a:t>
            </a:r>
          </a:p>
        </p:txBody>
      </p:sp>
      <p:sp>
        <p:nvSpPr>
          <p:cNvPr id="4" name="Slide Number Placeholder 3"/>
          <p:cNvSpPr>
            <a:spLocks noGrp="1"/>
          </p:cNvSpPr>
          <p:nvPr>
            <p:ph type="sldNum" sz="quarter" idx="10"/>
          </p:nvPr>
        </p:nvSpPr>
        <p:spPr/>
        <p:txBody>
          <a:bodyPr/>
          <a:lstStyle/>
          <a:p>
            <a:fld id="{57582FD5-DD72-EA41-90DE-BC5D4D375366}" type="slidenum">
              <a:rPr lang="en-US"/>
              <a:t>49</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 calibration check the Cote d’Ivoire slides needed. The 90 percent rank intervals on those maps come from resampling the training districts. If they were honest intervals for the truth, the survey’s own rank would fall inside them 90 percent of the time. Doing exactly that with each surveyed country held out (100 resamples of the other three, climate and soil, biomarker level), the survey rank falls inside the interval 38% of the time on average, 16% to 70% across the 22 country-outcome outcome-country combinations, with a median interval 21% of the list wide. So the intervals are far too narrow to be read as “the truth is in here”; they answer a different question, how much the ranking would move if we had learned from different districts, and the gap to 90 percent is the model error the transport correlation already reports. Right panel: the calibrated width. Taking the 90th percentile of the distance between the held-out survey rank and the point prediction over all 1176 held-out districts (conformal calibration), a 90 percent interval for a single district’s rank has to be 55% of the list either side, against 11% for the interval as drawn and about 68 percent for a random ordering; the median miss is 20% of the list (random: 29 percent). In words: at a transport correlation of 0.3 to 0.4, an honest 90 percent interval on where one district sits is nearly the whole list, and it is 35% in The Gambia and 59% in Malawi. The useful statement is therefore not an interval but a probability of a class: a district the model puts in the worst third is in the survey’s worst third 52% of the time (chance 33%), and one it puts in its top five 62% of the time. That is what the Cote d’Ivoire maps should be read as: deep color means the model will not change its mind, and a worst-third call is right about half the time rather than a third. Say it aloud: stable, not verified, and honest about the odds.</a:t>
            </a:r>
          </a:p>
        </p:txBody>
      </p:sp>
      <p:sp>
        <p:nvSpPr>
          <p:cNvPr id="4" name="Slide Number Placeholder 3"/>
          <p:cNvSpPr>
            <a:spLocks noGrp="1"/>
          </p:cNvSpPr>
          <p:nvPr>
            <p:ph type="sldNum" sz="quarter" idx="10"/>
          </p:nvPr>
        </p:nvSpPr>
        <p:spPr/>
        <p:txBody>
          <a:bodyPr/>
          <a:lstStyle/>
          <a:p>
            <a:fld id="{57582FD5-DD72-EA41-90DE-BC5D4D375366}" type="slidenum">
              <a:rPr lang="en-US"/>
              <a:t>50</a:t>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SHAP-style view the MIMI deck uses, which the index allows exactly rather than by approximation: the index is linear in the rank-normalized predictors, so each district’s score is a sum of per-predictor contributions beta times x. One row per predictor (the twelve largest weights of the pooled child-iron fit), one point per surveyed district in the four countries, color = where the district sits on that predictor. A row whose red points sit to the right says “districts high on this predictor rank worse”; a row that is wide says the predictor separates districts strongly. Unlike the bar charts earlier, this shows the spread: a predictor with a modest average weight can still move a handful of districts a long way. The same figure exists for every outcome from contributions_top12.csv.</a:t>
            </a:r>
          </a:p>
        </p:txBody>
      </p:sp>
      <p:sp>
        <p:nvSpPr>
          <p:cNvPr id="4" name="Slide Number Placeholder 3"/>
          <p:cNvSpPr>
            <a:spLocks noGrp="1"/>
          </p:cNvSpPr>
          <p:nvPr>
            <p:ph type="sldNum" sz="quarter" idx="10"/>
          </p:nvPr>
        </p:nvSpPr>
        <p:spPr/>
        <p:txBody>
          <a:bodyPr/>
          <a:lstStyle/>
          <a:p>
            <a:fld id="{57582FD5-DD72-EA41-90DE-BC5D4D375366}" type="slidenum">
              <a:rPr lang="en-US"/>
              <a:t>51</a:t>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training-country curve from the transport section, re-captioned as the argument it makes: with one survey to learn from the transported ranking averages 0.20, with three 0.30, and the curve has not flattened. Every biomarker survey a country runs therefore improves the map of every other country in the panel, which is the case for pooling surveys into one protocol rather than analyzing each alone, and for the fifth country being worth more than its own map. Bars are the interquartile range over the subsets of training countries. This is the framing the Lancet Global Health vaccination-mapping paper uses for its country panel.</a:t>
            </a:r>
          </a:p>
        </p:txBody>
      </p:sp>
      <p:sp>
        <p:nvSpPr>
          <p:cNvPr id="4" name="Slide Number Placeholder 3"/>
          <p:cNvSpPr>
            <a:spLocks noGrp="1"/>
          </p:cNvSpPr>
          <p:nvPr>
            <p:ph type="sldNum" sz="quarter" idx="10"/>
          </p:nvPr>
        </p:nvSpPr>
        <p:spPr/>
        <p:txBody>
          <a:bodyPr/>
          <a:lstStyle/>
          <a:p>
            <a:fld id="{57582FD5-DD72-EA41-90DE-BC5D4D375366}" type="slidenum">
              <a:rPr lang="en-US"/>
              <a:t>52</a:t>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twelve heaviest predictors for child iron, pooled over the four countries, with plain names. Red bars mean more of the layer goes with worse iron status, blue with better. No single predictor carries more than a few percent of the index: it is a sum of many small signals, mostly about landscape and livelihoods, not one master variable.</a:t>
            </a:r>
          </a:p>
          <a:p>
            <a:pPr marL="0" lvl="0" indent="0">
              <a:buNone/>
            </a:pPr>
            <a:endParaRPr/>
          </a:p>
          <a:p>
            <a:pPr marL="0" lvl="0" indent="0">
              <a:buNone/>
            </a:pPr>
            <a:r>
              <a:t>DETAIL: The index is linear in the rank-normalized predictors, so its component weights project back exactly onto the columns (scripts 57 and 58); shown is the pooled fit on the biomarker level, labels from R/predictor_plain_names.R. The satellite embedding, climate and soil together carry 39% to 54% of the index depending on the outcome. The other outcomes are in results/figures/protocol_v2/index_importance_top10_level.png. Likely question: whether these are causes. They are not; the weights say where deficiency is.</a:t>
            </a:r>
          </a:p>
        </p:txBody>
      </p:sp>
      <p:sp>
        <p:nvSpPr>
          <p:cNvPr id="4" name="Slide Number Placeholder 3"/>
          <p:cNvSpPr>
            <a:spLocks noGrp="1"/>
          </p:cNvSpPr>
          <p:nvPr>
            <p:ph type="sldNum" sz="quarter" idx="10"/>
          </p:nvPr>
        </p:nvSpPr>
        <p:spPr/>
        <p:txBody>
          <a:bodyPr/>
          <a:lstStyle/>
          <a:p>
            <a:fld id="{57582FD5-DD72-EA41-90DE-BC5D4D375366}" type="slidenum">
              <a:rPr lang="en-US"/>
              <a:t>54</a:t>
            </a:fld>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The single best ranking in the study, women’s B12 in Malawi, and the twenty predictors behind it. Districts where more infants are fed meat or fish, more households eat fish, and wealth is higher have better B12; poorer, grassier, more pastoral districts have worse. And then the anemia and malaria surfaces run the other way, which the next slide explains.</a:t>
            </a:r>
          </a:p>
          <a:p>
            <a:pPr marL="0" lvl="0" indent="0">
              <a:buNone/>
            </a:pPr>
            <a:endParaRPr/>
          </a:p>
          <a:p>
            <a:pPr marL="0" lvl="0" indent="0">
              <a:buNone/>
            </a:pPr>
            <a:r>
              <a:t>DETAIL: Malawi, women’s B12, biomarker level: the outcome-country combination with the best in-fill ranking of the 24 (Spearman 0.70; The Gambia child vitamin A is next at 0.69). The index is linear in the rank-normalized columns, so every column has a standardized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anemia and malaria surfaces run the other way (more anemia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outcome-country combination does not enter the cross-country transport figures.</a:t>
            </a:r>
          </a:p>
        </p:txBody>
      </p:sp>
      <p:sp>
        <p:nvSpPr>
          <p:cNvPr id="4" name="Slide Number Placeholder 3"/>
          <p:cNvSpPr>
            <a:spLocks noGrp="1"/>
          </p:cNvSpPr>
          <p:nvPr>
            <p:ph type="sldNum" sz="quarter" idx="10"/>
          </p:nvPr>
        </p:nvSpPr>
        <p:spPr/>
        <p:txBody>
          <a:bodyPr/>
          <a:lstStyle/>
          <a:p>
            <a:fld id="{57582FD5-DD72-EA41-90DE-BC5D4D375366}" type="slidenum">
              <a:rPr lang="en-US"/>
              <a:t>55</a:t>
            </a:fld>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Some predictors are plausible causes, fish consumption for B12. Some are surrogates: the anemia and malaria surfaces predict better B12 in Malawi not because malaria protects anyone but because they mark the lakeshore and the south, where fish is eaten. The model finds both kinds; it cannot tell them apart, and a surrogate need not travel to the next country.</a:t>
            </a:r>
          </a:p>
          <a:p>
            <a:pPr marL="0" lvl="0" indent="0">
              <a:buNone/>
            </a:pPr>
            <a:endParaRPr/>
          </a:p>
          <a:p>
            <a:pPr marL="0" lvl="0" indent="0">
              <a:buNone/>
            </a:pPr>
            <a:r>
              <a:t>DETAIL: The story behind the forest plot on the previous slide. In Malawi the modeled anemia and malaria surfaces carry negative weights for B12: districts with MORE anemia and malaria have BETTER B12 status. No nutritional mechanism says that. The maps say why: the lakeshore and the southern lowlands are where malaria transmission and anemia are highest, and they are also where households eat fish, the main dietary B12 source in the country; the uplands have less malaria, less fish and worse B12. The anemia surface is a surrogate marker for that geography, not a cause, and it is a good one precisely because it is modeled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gray districts and smooths the survey’s single-cluster noise, and it visibly follows the anemia and fish geography. Each map is the within-country percentile of its variable so the four share one scale; rho is the Spearman correlation with B12 deficiency across the surveyed Traditional Authorities (negative for anemia and for fish: more of either, less deficiency).</a:t>
            </a:r>
          </a:p>
        </p:txBody>
      </p:sp>
      <p:sp>
        <p:nvSpPr>
          <p:cNvPr id="4" name="Slide Number Placeholder 3"/>
          <p:cNvSpPr>
            <a:spLocks noGrp="1"/>
          </p:cNvSpPr>
          <p:nvPr>
            <p:ph type="sldNum" sz="quarter" idx="10"/>
          </p:nvPr>
        </p:nvSpPr>
        <p:spPr/>
        <p:txBody>
          <a:bodyPr/>
          <a:lstStyle/>
          <a:p>
            <a:fld id="{57582FD5-DD72-EA41-90DE-BC5D4D375366}" type="slidenum">
              <a:rPr lang="en-US"/>
              <a:t>56</a:t>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Drop each domain in turn and see what the transported ranking loses. Climate and soil are load-bearing; the anemia surfaces, agriculture and greenness follow; the household-survey items help inside a country and not across a border. The physical environment is what carries, and it is also what a country without a survey can download.</a:t>
            </a:r>
          </a:p>
          <a:p>
            <a:pPr marL="0" lvl="0" indent="0">
              <a:buNone/>
            </a:pPr>
            <a:endParaRPr/>
          </a:p>
          <a:p>
            <a:pPr marL="0" lvl="0" indent="0">
              <a:buNone/>
            </a:pPr>
            <a:r>
              <a:t>DETAIL: Positive values mean the domain is load-bearing. Climate and soil carry most, with the anemia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57582FD5-DD72-EA41-90DE-BC5D4D375366}" type="slidenum">
              <a:rPr lang="en-US"/>
              <a:t>57</a:t>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standardized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57582FD5-DD72-EA41-90DE-BC5D4D375366}" type="slidenum">
              <a:rPr lang="en-US"/>
              <a:t>58</a:t>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57582FD5-DD72-EA41-90DE-BC5D4D375366}" type="slidenum">
              <a:rPr lang="en-US"/>
              <a:t>59</a:t>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A survey that samples one cluster per district gives a district number with a lot of noise in it. Even a model that knew the truth exactly would only correlate about 0.5 with that number. So when the model scores 0.4, it has most of what there is to get; the way to raise the bar is more clusters per district, which is a survey decision.</a:t>
            </a:r>
          </a:p>
          <a:p>
            <a:pPr marL="0" lvl="0" indent="0">
              <a:buNone/>
            </a:pPr>
            <a:endParaRPr/>
          </a:p>
          <a:p>
            <a:pPr marL="0" lvl="0" indent="0">
              <a:buNone/>
            </a:pPr>
            <a:r>
              <a:t>DETAIL: 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57582FD5-DD72-EA41-90DE-BC5D4D375366}" type="slidenum">
              <a:rPr lang="en-US"/>
              <a:t>61</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On the level of deficiency, a small national sample plus the ranking does as well as a district survey four to five times its size. On finding where the deficient people are, a district survey of any size still wins, because it measures the populous districts directly. So: not a replacement, a much cheaper first pass.</a:t>
            </a:r>
          </a:p>
          <a:p>
            <a:pPr marL="0" lvl="0" indent="0">
              <a:buNone/>
            </a:pPr>
            <a:endParaRPr/>
          </a:p>
          <a:p>
            <a:pPr marL="0" lvl="0" indent="0">
              <a:buNone/>
            </a:pPr>
            <a:r>
              <a:t>DETAIL: 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57582FD5-DD72-EA41-90DE-BC5D4D375366}" type="slidenum">
              <a:rPr lang="en-US"/>
              <a:t>62</a:t>
            </a:fld>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57582FD5-DD72-EA41-90DE-BC5D4D375366}" type="slidenum">
              <a:rPr lang="en-US"/>
              <a:t>63</a:t>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57582FD5-DD72-EA41-90DE-BC5D4D375366}" type="slidenum">
              <a:rPr lang="en-US"/>
              <a:t>65</a:t>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SAY: Public data can rank a country’s districts by micronutrient deficiency: inside a surveyed country better than the survey’s own regional averages, and in a country with no survey at all, where nothing else can. Where the survey resolves districts, the model is close to the best any model could be. A single national number puts a level on the ranking. The uncertainty on the maps is honest about what it is. Next: the fifth survey scores the two pre-registered indices, the survey design gets piloted, and every survey added improves every other country’s map.</a:t>
            </a:r>
          </a:p>
          <a:p>
            <a:pPr marL="0" lvl="0" indent="0">
              <a:buNone/>
            </a:pPr>
            <a:endParaRPr/>
          </a:p>
          <a:p>
            <a:pPr marL="0" lvl="0" indent="0">
              <a:buNone/>
            </a:pPr>
            <a:r>
              <a:t>DETAIL: The rows are the numbers from the optimiztic reading (TWO_READINGS_2026-09g.md). Not on the slide, said if asked: the honest product is a ranking, levels remain planning figures, and the per-outcome maps in an unsurveyed country are mostly one map of environmental deprivation.</a:t>
            </a:r>
          </a:p>
        </p:txBody>
      </p:sp>
      <p:sp>
        <p:nvSpPr>
          <p:cNvPr id="4" name="Slide Number Placeholder 3"/>
          <p:cNvSpPr>
            <a:spLocks noGrp="1"/>
          </p:cNvSpPr>
          <p:nvPr>
            <p:ph type="sldNum" sz="quarter" idx="10"/>
          </p:nvPr>
        </p:nvSpPr>
        <p:spPr/>
        <p:txBody>
          <a:bodyPr/>
          <a:lstStyle/>
          <a:p>
            <a:fld id="{57582FD5-DD72-EA41-90DE-BC5D4D375366}" type="slidenum">
              <a:rPr lang="en-US"/>
              <a:t>66</a:t>
            </a:fld>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Tier: open means downloadable by anyone; public survey microdata means a registration with the survey program;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57582FD5-DD72-EA41-90DE-BC5D4D375366}" type="slidenum">
              <a:rPr lang="en-US"/>
              <a:t>68</a:t>
            </a:fld>
            <a:endParaRPr 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57582FD5-DD72-EA41-90DE-BC5D4D375366}" type="slidenum">
              <a:rPr lang="en-US"/>
              <a:t>69</a:t>
            </a:fld>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INLA-SPDE Matern field with penalized-complexity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57582FD5-DD72-EA41-90DE-BC5D4D375366}" type="slidenum">
              <a:rPr lang="en-US"/>
              <a:t>70</a:t>
            </a:fld>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57582FD5-DD72-EA41-90DE-BC5D4D375366}" type="slidenum">
              <a:rPr lang="en-US"/>
              <a:t>71</a:t>
            </a:fld>
            <a:endParaRPr 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analyzes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57582FD5-DD72-EA41-90DE-BC5D4D375366}" type="slidenum">
              <a:rPr lang="en-US"/>
              <a:t>72</a:t>
            </a:fld>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index_importance_top.csv, child iron, biomarker level: the twenty largest standardized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57582FD5-DD72-EA41-90DE-BC5D4D375366}" type="slidenum">
              <a:rPr lang="en-US"/>
              <a:t>73</a:t>
            </a:fld>
            <a:endParaRPr 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57582FD5-DD72-EA41-90DE-BC5D4D375366}" type="slidenum">
              <a:rPr lang="en-US"/>
              <a:t>74</a:t>
            </a:fld>
            <a:endParaRPr 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Modeled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57582FD5-DD72-EA41-90DE-BC5D4D375366}" type="slidenum">
              <a:rPr lang="en-US"/>
              <a:t>75</a:t>
            </a:fld>
            <a:endParaRPr 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57582FD5-DD72-EA41-90DE-BC5D4D375366}" type="slidenum">
              <a:rPr lang="en-US"/>
              <a:t>76</a:t>
            </a:fld>
            <a:endParaRPr 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hemoglobin C allele frequency and cattle for child iron, the modeled anemia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57582FD5-DD72-EA41-90DE-BC5D4D375366}" type="slidenum">
              <a:rPr lang="en-US"/>
              <a:t>77</a:t>
            </a:fld>
            <a:endParaRPr 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outcome-country combinations as every other arm; five in-fill draws. The one-SE rules return the null model in some outcome-country combinations (18 of 22 transport outcome-country combinations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outcome-country combinations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78</a:t>
            </a:fld>
            <a:endParaRPr 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57582FD5-DD72-EA41-90DE-BC5D4D375366}" type="slidenum">
              <a:rPr lang="en-US"/>
              <a:t>79</a:t>
            </a:fld>
            <a:endParaRPr 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57582FD5-DD72-EA41-90DE-BC5D4D375366}" type="slidenum">
              <a:rPr lang="en-US"/>
              <a:t>80</a:t>
            </a:fld>
            <a:endParaRPr 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57582FD5-DD72-EA41-90DE-BC5D4D375366}" type="slidenum">
              <a:rPr lang="en-US"/>
              <a:t>81</a:t>
            </a:fld>
            <a:endParaRPr 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Bars are the interquartile range over outcome-country combinations.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57582FD5-DD72-EA41-90DE-BC5D4D375366}" type="slidenum">
              <a:rPr lang="en-US"/>
              <a:t>82</a:t>
            </a:fld>
            <a:endParaRPr 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57582FD5-DD72-EA41-90DE-BC5D4D375366}" type="slidenum">
              <a:rPr lang="en-US"/>
              <a:t>83</a:t>
            </a:fld>
            <a:endParaRPr 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Out-of-fold predictions averaged over ten draws; transport rows use the held-out country’s own national prevalence as the anchor (AR-01 design), the only honest way to put a transported ranking on the prevalence scale. The January deck’s child vitamin A outcome-country combination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57582FD5-DD72-EA41-90DE-BC5D4D375366}" type="slidenum">
              <a:rPr lang="en-US"/>
              <a:t>84</a:t>
            </a:fld>
            <a:endParaRPr 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LSMS block scored here is Ghana’s GLSS7 as a svyby object: 134 region-level household expenditure and asset means, broadcast to districts through the 16-to-10 region crosswalk, so the block varies only across ten regions. It does not improve any Ghana outcome-country combination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57582FD5-DD72-EA41-90DE-BC5D4D375366}" type="slidenum">
              <a:rPr lang="en-US"/>
              <a:t>85</a:t>
            </a:fld>
            <a:endParaRPr 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57582FD5-DD72-EA41-90DE-BC5D4D375366}" type="slidenum">
              <a:rPr lang="en-US"/>
              <a:t>86</a:t>
            </a:fld>
            <a:endParaRPr 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57582FD5-DD72-EA41-90DE-BC5D4D375366}" type="slidenum">
              <a:rPr lang="en-US"/>
              <a:t>87</a:t>
            </a:fld>
            <a:endParaRPr 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57582FD5-DD72-EA41-90DE-BC5D4D375366}" type="slidenum">
              <a:rPr lang="en-US"/>
              <a:t>88</a:t>
            </a:fld>
            <a:endParaRPr 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Prevalence target, same arms and folds as the biomarker-level figure. Mean Spearman over outcome-country combinations with a 95% interval across outcome-country combinations.</a:t>
            </a:r>
          </a:p>
        </p:txBody>
      </p:sp>
      <p:sp>
        <p:nvSpPr>
          <p:cNvPr id="4" name="Slide Number Placeholder 3"/>
          <p:cNvSpPr>
            <a:spLocks noGrp="1"/>
          </p:cNvSpPr>
          <p:nvPr>
            <p:ph type="sldNum" sz="quarter" idx="10"/>
          </p:nvPr>
        </p:nvSpPr>
        <p:spPr/>
        <p:txBody>
          <a:bodyPr/>
          <a:lstStyle/>
          <a:p>
            <a:fld id="{57582FD5-DD72-EA41-90DE-BC5D4D375366}" type="slidenum">
              <a:rPr lang="en-US"/>
              <a:t>89</a:t>
            </a:fld>
            <a:endParaRPr 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57582FD5-DD72-EA41-90DE-BC5D4D375366}" type="slidenum">
              <a:rPr lang="en-US"/>
              <a:t>90</a:t>
            </a:fld>
            <a:endParaRPr 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57582FD5-DD72-EA41-90DE-BC5D4D375366}" type="slidenum">
              <a:rPr lang="en-US"/>
              <a:t>91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9/17/2026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9/17/2026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9/17/2026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9/17/2026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9/17/2026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9/17/2026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9/17/2026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9/17/2026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9/17/2026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9/17/2026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9/17/2026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48000"/>
            <a:lum/>
          </a:blip>
          <a:srcRect/>
          <a:stretch>
            <a:fillRect t="-4000" b="-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34A5735-1510-7049-BCA2-D05BF1104DA2}" type="datetime1">
              <a:rPr lang="en-US" smtClean="0"/>
              <a:t>9/17/2026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6.png"/><Relationship Id="rId10" Type="http://schemas.openxmlformats.org/officeDocument/2006/relationships/image" Target="../media/image42.png"/><Relationship Id="rId4" Type="http://schemas.openxmlformats.org/officeDocument/2006/relationships/image" Target="../media/image25.png"/><Relationship Id="rId9" Type="http://schemas.openxmlformats.org/officeDocument/2006/relationships/image" Target="../media/image41.png"/></Relationships>
</file>

<file path=ppt/slides/_rels/slide1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3.png"/><Relationship Id="rId7"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2.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6.png"/><Relationship Id="rId7" Type="http://schemas.openxmlformats.org/officeDocument/2006/relationships/image" Target="../media/image49.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53.png"/><Relationship Id="rId5" Type="http://schemas.openxmlformats.org/officeDocument/2006/relationships/image" Target="../media/image48.png"/><Relationship Id="rId10" Type="http://schemas.openxmlformats.org/officeDocument/2006/relationships/image" Target="../media/image52.png"/><Relationship Id="rId4" Type="http://schemas.openxmlformats.org/officeDocument/2006/relationships/image" Target="../media/image47.png"/><Relationship Id="rId9" Type="http://schemas.openxmlformats.org/officeDocument/2006/relationships/image" Target="../media/image51.png"/></Relationships>
</file>

<file path=ppt/slides/_rels/slide2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6.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1.png"/><Relationship Id="rId4" Type="http://schemas.openxmlformats.org/officeDocument/2006/relationships/image" Target="../media/image52.png"/></Relationships>
</file>

<file path=ppt/slides/_rels/slide2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49.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2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74.png"/></Relationships>
</file>

<file path=ppt/slides/_rels/slide3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77.png"/><Relationship Id="rId4" Type="http://schemas.openxmlformats.org/officeDocument/2006/relationships/image" Target="../media/image76.png"/></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4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82.png"/><Relationship Id="rId4" Type="http://schemas.openxmlformats.org/officeDocument/2006/relationships/image" Target="../media/image81.png"/></Relationships>
</file>

<file path=ppt/slides/_rels/slide4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85.png"/><Relationship Id="rId4" Type="http://schemas.openxmlformats.org/officeDocument/2006/relationships/image" Target="../media/image78.png"/></Relationships>
</file>

<file path=ppt/slides/_rels/slide4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101.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31.png"/><Relationship Id="rId4" Type="http://schemas.openxmlformats.org/officeDocument/2006/relationships/image" Target="../media/image99.png"/></Relationships>
</file>

<file path=ppt/slides/_rels/slide5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82.png"/><Relationship Id="rId4" Type="http://schemas.openxmlformats.org/officeDocument/2006/relationships/image" Target="../media/image81.pn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7.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image" Target="../media/image11.png"/><Relationship Id="rId4" Type="http://schemas.openxmlformats.org/officeDocument/2006/relationships/image" Target="../media/image6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marL="0" lvl="0" indent="0">
              <a:buNone/>
            </a:pPr>
            <a:r>
              <a:rPr sz="3000"/>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188720"/>
          </a:xfrm>
        </p:spPr>
        <p:txBody>
          <a:bodyPr>
            <a:normAutofit lnSpcReduction="10000"/>
          </a:bodyPr>
          <a:lstStyle/>
          <a:p>
            <a:pPr marL="0" lvl="0" indent="0">
              <a:buNone/>
            </a:pPr>
            <a:br/>
            <a:br/>
            <a:r>
              <a:rPr sz="1800"/>
              <a:t>Andrew N. Mertens (University of California, Berkeley) and Sonja Y. Hess (University of California, Davis)</a:t>
            </a:r>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pPr marL="0" lvl="0" indent="0">
              <a:buNone/>
            </a:pPr>
            <a:r>
              <a:rPr sz="1800"/>
              <a:t>2026-09-16</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1</a:t>
            </a:fld>
            <a:endParaRPr lang="en-BG"/>
          </a:p>
        </p:txBody>
      </p:sp>
      <p:pic>
        <p:nvPicPr>
          <p:cNvPr id="7" name="Picture 6"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8" name="Picture 7"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9" name="Picture 8"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10" name="TextBox 9"/>
          <p:cNvSpPr txBox="1"/>
          <p:nvPr/>
        </p:nvSpPr>
        <p:spPr>
          <a:xfrm>
            <a:off x="841248" y="5577840"/>
            <a:ext cx="10515600" cy="365760"/>
          </a:xfrm>
          <a:prstGeom prst="rect">
            <a:avLst/>
          </a:prstGeom>
          <a:noFill/>
        </p:spPr>
        <p:txBody>
          <a:bodyPr wrap="square" lIns="45720" tIns="27432" rIns="45720" bIns="27432" anchor="t">
            <a:spAutoFit/>
          </a:bodyPr>
          <a:lstStyle/>
          <a:p>
            <a:pPr algn="ctr"/>
            <a:r>
              <a:rPr sz="1200" b="0">
                <a:solidFill>
                  <a:srgbClr val="666666"/>
                </a:solidFill>
                <a:latin typeface="Calibri"/>
              </a:rPr>
              <a:t>We are grateful for the funding support of the Gates Foundation.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Goals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a:t>
            </a:fld>
            <a:endParaRPr lang="en-BG"/>
          </a:p>
        </p:txBody>
      </p:sp>
      <p:pic>
        <p:nvPicPr>
          <p:cNvPr id="7" name="Picture 6"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8" name="TextBox 7"/>
          <p:cNvSpPr txBox="1"/>
          <p:nvPr/>
        </p:nvSpPr>
        <p:spPr>
          <a:xfrm>
            <a:off x="1984248" y="1691640"/>
            <a:ext cx="6995160" cy="1280160"/>
          </a:xfrm>
          <a:prstGeom prst="rect">
            <a:avLst/>
          </a:prstGeom>
          <a:noFill/>
        </p:spPr>
        <p:txBody>
          <a:bodyPr wrap="square" lIns="45720" tIns="27432" rIns="45720" bIns="27432" anchor="ctr">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9" name="Picture 8"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10" name="TextBox 9"/>
          <p:cNvSpPr txBox="1"/>
          <p:nvPr/>
        </p:nvSpPr>
        <p:spPr>
          <a:xfrm>
            <a:off x="1984248" y="3154680"/>
            <a:ext cx="6995160" cy="1280160"/>
          </a:xfrm>
          <a:prstGeom prst="rect">
            <a:avLst/>
          </a:prstGeom>
          <a:noFill/>
        </p:spPr>
        <p:txBody>
          <a:bodyPr wrap="square" lIns="45720" tIns="27432" rIns="45720" bIns="27432" anchor="ctr">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 can act on, and a level once anchored to a national number.</a:t>
            </a:r>
          </a:p>
        </p:txBody>
      </p:sp>
      <p:pic>
        <p:nvPicPr>
          <p:cNvPr id="11" name="Picture 10"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12" name="TextBox 11"/>
          <p:cNvSpPr txBox="1"/>
          <p:nvPr/>
        </p:nvSpPr>
        <p:spPr>
          <a:xfrm>
            <a:off x="1984248" y="4617720"/>
            <a:ext cx="6995160" cy="1280160"/>
          </a:xfrm>
          <a:prstGeom prst="rect">
            <a:avLst/>
          </a:prstGeom>
          <a:noFill/>
        </p:spPr>
        <p:txBody>
          <a:bodyPr wrap="square" lIns="45720" tIns="27432" rIns="45720" bIns="27432" anchor="ctr">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13" name="Picture 12" descr="goals_ghana_map.png"/>
          <p:cNvPicPr>
            <a:picLocks noChangeAspect="1"/>
          </p:cNvPicPr>
          <p:nvPr/>
        </p:nvPicPr>
        <p:blipFill>
          <a:blip r:embed="rId6"/>
          <a:stretch>
            <a:fillRect/>
          </a:stretch>
        </p:blipFill>
        <p:spPr>
          <a:xfrm>
            <a:off x="9345168" y="1783080"/>
            <a:ext cx="2011680" cy="280648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does a country have today, and what does the model add?</a:t>
            </a:r>
          </a:p>
        </p:txBody>
      </p:sp>
      <p:pic>
        <p:nvPicPr>
          <p:cNvPr id="3" name="Picture 1" descr="MN-proxy-full-talk-2026-09_files/figure-pptx/before-after-1.png"/>
          <p:cNvPicPr>
            <a:picLocks noGrp="1" noChangeAspect="1"/>
          </p:cNvPicPr>
          <p:nvPr/>
        </p:nvPicPr>
        <p:blipFill>
          <a:blip r:embed="rId3"/>
          <a:stretch>
            <a:fillRect/>
          </a:stretch>
        </p:blipFill>
        <p:spPr bwMode="auto">
          <a:xfrm>
            <a:off x="502920" y="1600200"/>
            <a:ext cx="11183112" cy="4565086"/>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3</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rPr dirty="0"/>
              <a:t>Surveys are rare</a:t>
            </a:r>
            <a:r>
              <a:rPr lang="en-US" dirty="0"/>
              <a:t>, but we have common proxy predictors</a:t>
            </a:r>
            <a:endParaRPr dirty="0"/>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a:t>
            </a:fld>
            <a:endParaRPr lang="en-BG"/>
          </a:p>
        </p:txBody>
      </p:sp>
      <p:pic>
        <p:nvPicPr>
          <p:cNvPr id="7" name="Picture 6" descr="vial_blue.png"/>
          <p:cNvPicPr>
            <a:picLocks noChangeAspect="1"/>
          </p:cNvPicPr>
          <p:nvPr/>
        </p:nvPicPr>
        <p:blipFill>
          <a:blip r:embed="rId3"/>
          <a:stretch>
            <a:fillRect/>
          </a:stretch>
        </p:blipFill>
        <p:spPr>
          <a:xfrm>
            <a:off x="932688" y="1920240"/>
            <a:ext cx="822960" cy="822960"/>
          </a:xfrm>
          <a:prstGeom prst="rect">
            <a:avLst/>
          </a:prstGeom>
        </p:spPr>
      </p:pic>
      <p:sp>
        <p:nvSpPr>
          <p:cNvPr id="8" name="TextBox 7"/>
          <p:cNvSpPr txBox="1"/>
          <p:nvPr/>
        </p:nvSpPr>
        <p:spPr>
          <a:xfrm>
            <a:off x="1984248" y="1691640"/>
            <a:ext cx="5074920" cy="1280160"/>
          </a:xfrm>
          <a:prstGeom prst="rect">
            <a:avLst/>
          </a:prstGeom>
          <a:noFill/>
        </p:spPr>
        <p:txBody>
          <a:bodyPr wrap="square" lIns="45720" tIns="27432" rIns="45720" bIns="27432" anchor="ctr">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programs need district estimates between them.</a:t>
            </a:r>
          </a:p>
        </p:txBody>
      </p:sp>
      <p:pic>
        <p:nvPicPr>
          <p:cNvPr id="9" name="Picture 8"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10" name="TextBox 9"/>
          <p:cNvSpPr txBox="1"/>
          <p:nvPr/>
        </p:nvSpPr>
        <p:spPr>
          <a:xfrm>
            <a:off x="1984248" y="3154680"/>
            <a:ext cx="5074920" cy="1280160"/>
          </a:xfrm>
          <a:prstGeom prst="rect">
            <a:avLst/>
          </a:prstGeom>
          <a:noFill/>
        </p:spPr>
        <p:txBody>
          <a:bodyPr wrap="square" lIns="45720" tIns="27432" rIns="45720" bIns="27432" anchor="ctr">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11" name="Picture 10"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12" name="TextBox 11"/>
          <p:cNvSpPr txBox="1"/>
          <p:nvPr/>
        </p:nvSpPr>
        <p:spPr>
          <a:xfrm>
            <a:off x="1984248" y="4617720"/>
            <a:ext cx="5074920" cy="1280160"/>
          </a:xfrm>
          <a:prstGeom prst="rect">
            <a:avLst/>
          </a:prstGeom>
          <a:noFill/>
        </p:spPr>
        <p:txBody>
          <a:bodyPr wrap="square" lIns="45720" tIns="27432" rIns="45720" bIns="27432" anchor="ctr">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13" name="Picture 12"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Both a big-data opportunity and a small-data problem</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a:t>
            </a:fld>
            <a:endParaRPr lang="en-BG"/>
          </a:p>
        </p:txBody>
      </p:sp>
      <p:sp>
        <p:nvSpPr>
          <p:cNvPr id="7" name="Rounded Rectangle 6"/>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10" name="TextBox 9"/>
          <p:cNvSpPr txBox="1"/>
          <p:nvPr/>
        </p:nvSpPr>
        <p:spPr>
          <a:xfrm>
            <a:off x="1527048" y="1691640"/>
            <a:ext cx="4251960" cy="640080"/>
          </a:xfrm>
          <a:prstGeom prst="rect">
            <a:avLst/>
          </a:prstGeom>
          <a:noFill/>
        </p:spPr>
        <p:txBody>
          <a:bodyPr wrap="square" lIns="45720" tIns="27432" rIns="45720" bIns="27432" anchor="ctr">
            <a:spAutoFit/>
          </a:bodyPr>
          <a:lstStyle/>
          <a:p>
            <a:pPr algn="l"/>
            <a:r>
              <a:rPr sz="1800" b="1">
                <a:solidFill>
                  <a:srgbClr val="FFFFFF"/>
                </a:solidFill>
                <a:latin typeface="Calibri"/>
              </a:rPr>
              <a:t>Big data: the predictors</a:t>
            </a:r>
          </a:p>
        </p:txBody>
      </p:sp>
      <p:sp>
        <p:nvSpPr>
          <p:cNvPr id="11" name="TextBox 10"/>
          <p:cNvSpPr txBox="1"/>
          <p:nvPr/>
        </p:nvSpPr>
        <p:spPr>
          <a:xfrm>
            <a:off x="1069848" y="2423160"/>
            <a:ext cx="4663440" cy="1127760"/>
          </a:xfrm>
          <a:prstGeom prst="rect">
            <a:avLst/>
          </a:prstGeom>
          <a:noFill/>
        </p:spPr>
        <p:txBody>
          <a:bodyPr wrap="square" lIns="45720" tIns="27432" rIns="45720" bIns="27432" anchor="ctr">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summarized over 554 districts; a 64-dimension satellite embedding; four household surveys aggregated from microdata.</a:t>
            </a:r>
          </a:p>
        </p:txBody>
      </p:sp>
      <p:sp>
        <p:nvSpPr>
          <p:cNvPr id="12" name="TextBox 11"/>
          <p:cNvSpPr txBox="1"/>
          <p:nvPr/>
        </p:nvSpPr>
        <p:spPr>
          <a:xfrm>
            <a:off x="1069848" y="3550920"/>
            <a:ext cx="4663440" cy="1127760"/>
          </a:xfrm>
          <a:prstGeom prst="rect">
            <a:avLst/>
          </a:prstGeom>
          <a:noFill/>
        </p:spPr>
        <p:txBody>
          <a:bodyPr wrap="square" lIns="45720" tIns="27432" rIns="45720" bIns="27432" anchor="ctr">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sp>
        <p:nvSpPr>
          <p:cNvPr id="13" name="TextBox 12"/>
          <p:cNvSpPr txBox="1"/>
          <p:nvPr/>
        </p:nvSpPr>
        <p:spPr>
          <a:xfrm>
            <a:off x="1069848" y="4678680"/>
            <a:ext cx="4663440" cy="1127760"/>
          </a:xfrm>
          <a:prstGeom prst="rect">
            <a:avLst/>
          </a:prstGeom>
          <a:noFill/>
        </p:spPr>
        <p:txBody>
          <a:bodyPr wrap="square" lIns="45720" tIns="27432" rIns="45720" bIns="27432" anchor="ctr">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4" name="Rounded Rectangle 13"/>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vial_white.png"/>
          <p:cNvPicPr>
            <a:picLocks noChangeAspect="1"/>
          </p:cNvPicPr>
          <p:nvPr/>
        </p:nvPicPr>
        <p:blipFill>
          <a:blip r:embed="rId4"/>
          <a:stretch>
            <a:fillRect/>
          </a:stretch>
        </p:blipFill>
        <p:spPr>
          <a:xfrm>
            <a:off x="6510528" y="1810512"/>
            <a:ext cx="402336" cy="402336"/>
          </a:xfrm>
          <a:prstGeom prst="rect">
            <a:avLst/>
          </a:prstGeom>
        </p:spPr>
      </p:pic>
      <p:sp>
        <p:nvSpPr>
          <p:cNvPr id="17" name="TextBox 16"/>
          <p:cNvSpPr txBox="1"/>
          <p:nvPr/>
        </p:nvSpPr>
        <p:spPr>
          <a:xfrm>
            <a:off x="7013448" y="1691640"/>
            <a:ext cx="4251960" cy="640080"/>
          </a:xfrm>
          <a:prstGeom prst="rect">
            <a:avLst/>
          </a:prstGeom>
          <a:noFill/>
        </p:spPr>
        <p:txBody>
          <a:bodyPr wrap="square" lIns="45720" tIns="27432" rIns="45720" bIns="27432" anchor="ctr">
            <a:spAutoFit/>
          </a:bodyPr>
          <a:lstStyle/>
          <a:p>
            <a:pPr algn="l"/>
            <a:r>
              <a:rPr sz="1800" b="1">
                <a:solidFill>
                  <a:srgbClr val="FFFFFF"/>
                </a:solidFill>
                <a:latin typeface="Calibri"/>
              </a:rPr>
              <a:t>Small data: the outcome</a:t>
            </a:r>
          </a:p>
        </p:txBody>
      </p:sp>
      <p:sp>
        <p:nvSpPr>
          <p:cNvPr id="18" name="TextBox 17"/>
          <p:cNvSpPr txBox="1"/>
          <p:nvPr/>
        </p:nvSpPr>
        <p:spPr>
          <a:xfrm>
            <a:off x="6556248" y="2423160"/>
            <a:ext cx="4663440" cy="1127760"/>
          </a:xfrm>
          <a:prstGeom prst="rect">
            <a:avLst/>
          </a:prstGeom>
          <a:noFill/>
        </p:spPr>
        <p:txBody>
          <a:bodyPr wrap="square" lIns="45720" tIns="27432" rIns="45720" bIns="27432" anchor="ctr">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sp>
        <p:nvSpPr>
          <p:cNvPr id="19" name="TextBox 18"/>
          <p:cNvSpPr txBox="1"/>
          <p:nvPr/>
        </p:nvSpPr>
        <p:spPr>
          <a:xfrm>
            <a:off x="6556248" y="3550920"/>
            <a:ext cx="4663440" cy="1127760"/>
          </a:xfrm>
          <a:prstGeom prst="rect">
            <a:avLst/>
          </a:prstGeom>
          <a:noFill/>
        </p:spPr>
        <p:txBody>
          <a:bodyPr wrap="square" lIns="45720" tIns="27432" rIns="45720" bIns="27432" anchor="ctr">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sp>
        <p:nvSpPr>
          <p:cNvPr id="20" name="TextBox 19"/>
          <p:cNvSpPr txBox="1"/>
          <p:nvPr/>
        </p:nvSpPr>
        <p:spPr>
          <a:xfrm>
            <a:off x="6556248" y="4678680"/>
            <a:ext cx="4663440" cy="1127760"/>
          </a:xfrm>
          <a:prstGeom prst="rect">
            <a:avLst/>
          </a:prstGeom>
          <a:noFill/>
        </p:spPr>
        <p:txBody>
          <a:bodyPr wrap="square" lIns="45720" tIns="27432" rIns="45720" bIns="27432" anchor="ctr">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Surveys and outcomes</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6</a:t>
            </a:fld>
            <a:endParaRPr lang="en-BG"/>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Which surveys did we learn from?</a:t>
            </a:r>
          </a:p>
        </p:txBody>
      </p:sp>
      <p:pic>
        <p:nvPicPr>
          <p:cNvPr id="3" name="Picture 1" descr="MN-proxy-full-talk-2026-09_files/figure-pptx/survey-maps-1.png"/>
          <p:cNvPicPr>
            <a:picLocks noGrp="1" noChangeAspect="1"/>
          </p:cNvPicPr>
          <p:nvPr/>
        </p:nvPicPr>
        <p:blipFill>
          <a:blip r:embed="rId3"/>
          <a:stretch>
            <a:fillRect/>
          </a:stretch>
        </p:blipFill>
        <p:spPr bwMode="auto">
          <a:xfrm>
            <a:off x="502920" y="1600200"/>
            <a:ext cx="11183112" cy="428145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7</a:t>
            </a:fld>
            <a:endParaRPr lang="en-BG"/>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Which deficiencies do we predict?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8</a:t>
            </a:fld>
            <a:endParaRPr lang="en-BG"/>
          </a:p>
        </p:txBody>
      </p:sp>
      <p:sp>
        <p:nvSpPr>
          <p:cNvPr id="7" name="Rounded Rectangle 6"/>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9" name="TextBox 8"/>
          <p:cNvSpPr txBox="1"/>
          <p:nvPr/>
        </p:nvSpPr>
        <p:spPr>
          <a:xfrm>
            <a:off x="932688" y="2743200"/>
            <a:ext cx="1737360" cy="457200"/>
          </a:xfrm>
          <a:prstGeom prst="rect">
            <a:avLst/>
          </a:prstGeom>
          <a:noFill/>
        </p:spPr>
        <p:txBody>
          <a:bodyPr wrap="square" lIns="45720" tIns="27432" rIns="45720" bIns="27432" anchor="t">
            <a:spAutoFit/>
          </a:bodyPr>
          <a:lstStyle/>
          <a:p>
            <a:pPr algn="ctr"/>
            <a:r>
              <a:rPr sz="1800" b="1">
                <a:solidFill>
                  <a:srgbClr val="1F4E79"/>
                </a:solidFill>
                <a:latin typeface="Calibri"/>
              </a:rPr>
              <a:t>Iron</a:t>
            </a:r>
          </a:p>
        </p:txBody>
      </p:sp>
      <p:sp>
        <p:nvSpPr>
          <p:cNvPr id="10" name="TextBox 9"/>
          <p:cNvSpPr txBox="1"/>
          <p:nvPr/>
        </p:nvSpPr>
        <p:spPr>
          <a:xfrm>
            <a:off x="978408" y="3291840"/>
            <a:ext cx="164592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Who:</a:t>
            </a:r>
            <a:r>
              <a:rPr sz="1300">
                <a:solidFill>
                  <a:srgbClr val="333333"/>
                </a:solidFill>
                <a:latin typeface="Calibri"/>
              </a:rPr>
              <a:t> children under five;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adjusted for inflammation</a:t>
            </a:r>
          </a:p>
          <a:p>
            <a:pPr algn="l">
              <a:spcBef>
                <a:spcPts val="300"/>
              </a:spcBef>
              <a:spcAft>
                <a:spcPts val="400"/>
              </a:spcAft>
            </a:pPr>
            <a:r>
              <a:rPr sz="1300" b="1">
                <a:solidFill>
                  <a:srgbClr val="1F4E79"/>
                </a:solidFill>
                <a:latin typeface="Calibri"/>
              </a:rPr>
              <a:t>Cut-off:</a:t>
            </a:r>
            <a:r>
              <a:rPr sz="1300">
                <a:solidFill>
                  <a:srgbClr val="333333"/>
                </a:solidFill>
                <a:latin typeface="Calibri"/>
              </a:rPr>
              <a:t> ferritin below 12 (children) or 15 (women) ug/L</a:t>
            </a:r>
          </a:p>
        </p:txBody>
      </p:sp>
      <p:sp>
        <p:nvSpPr>
          <p:cNvPr id="11" name="Rounded Rectangle 10"/>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carrot_blue.png"/>
          <p:cNvPicPr>
            <a:picLocks noChangeAspect="1"/>
          </p:cNvPicPr>
          <p:nvPr/>
        </p:nvPicPr>
        <p:blipFill>
          <a:blip r:embed="rId4"/>
          <a:stretch>
            <a:fillRect/>
          </a:stretch>
        </p:blipFill>
        <p:spPr>
          <a:xfrm>
            <a:off x="3607308" y="1920240"/>
            <a:ext cx="685800" cy="685800"/>
          </a:xfrm>
          <a:prstGeom prst="rect">
            <a:avLst/>
          </a:prstGeom>
        </p:spPr>
      </p:pic>
      <p:sp>
        <p:nvSpPr>
          <p:cNvPr id="13" name="TextBox 12"/>
          <p:cNvSpPr txBox="1"/>
          <p:nvPr/>
        </p:nvSpPr>
        <p:spPr>
          <a:xfrm>
            <a:off x="3081528" y="2743200"/>
            <a:ext cx="1737360" cy="457200"/>
          </a:xfrm>
          <a:prstGeom prst="rect">
            <a:avLst/>
          </a:prstGeom>
          <a:noFill/>
        </p:spPr>
        <p:txBody>
          <a:bodyPr wrap="square" lIns="45720" tIns="27432" rIns="45720" bIns="27432" anchor="t">
            <a:spAutoFit/>
          </a:bodyPr>
          <a:lstStyle/>
          <a:p>
            <a:pPr algn="ctr"/>
            <a:r>
              <a:rPr sz="1800" b="1">
                <a:solidFill>
                  <a:srgbClr val="1F4E79"/>
                </a:solidFill>
                <a:latin typeface="Calibri"/>
              </a:rPr>
              <a:t>Vitamin A</a:t>
            </a:r>
          </a:p>
        </p:txBody>
      </p:sp>
      <p:sp>
        <p:nvSpPr>
          <p:cNvPr id="14" name="TextBox 13"/>
          <p:cNvSpPr txBox="1"/>
          <p:nvPr/>
        </p:nvSpPr>
        <p:spPr>
          <a:xfrm>
            <a:off x="3127248" y="3291840"/>
            <a:ext cx="164592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Who:</a:t>
            </a:r>
            <a:r>
              <a:rPr sz="1300">
                <a:solidFill>
                  <a:srgbClr val="333333"/>
                </a:solidFill>
                <a:latin typeface="Calibri"/>
              </a:rPr>
              <a:t> children under five;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adjusted for inflammation</a:t>
            </a:r>
          </a:p>
          <a:p>
            <a:pPr algn="l">
              <a:spcBef>
                <a:spcPts val="300"/>
              </a:spcBef>
              <a:spcAft>
                <a:spcPts val="400"/>
              </a:spcAft>
            </a:pPr>
            <a:r>
              <a:rPr sz="1300" b="1">
                <a:solidFill>
                  <a:srgbClr val="1F4E79"/>
                </a:solidFill>
                <a:latin typeface="Calibri"/>
              </a:rPr>
              <a:t>Cut-off:</a:t>
            </a:r>
            <a:r>
              <a:rPr sz="1300">
                <a:solidFill>
                  <a:srgbClr val="333333"/>
                </a:solidFill>
                <a:latin typeface="Calibri"/>
              </a:rPr>
              <a:t> RBP below 0.70 umol/L</a:t>
            </a:r>
          </a:p>
        </p:txBody>
      </p:sp>
      <p:sp>
        <p:nvSpPr>
          <p:cNvPr id="15" name="Rounded Rectangle 14"/>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leaf_blue.png"/>
          <p:cNvPicPr>
            <a:picLocks noChangeAspect="1"/>
          </p:cNvPicPr>
          <p:nvPr/>
        </p:nvPicPr>
        <p:blipFill>
          <a:blip r:embed="rId5"/>
          <a:stretch>
            <a:fillRect/>
          </a:stretch>
        </p:blipFill>
        <p:spPr>
          <a:xfrm>
            <a:off x="5756148" y="1920240"/>
            <a:ext cx="685800" cy="685800"/>
          </a:xfrm>
          <a:prstGeom prst="rect">
            <a:avLst/>
          </a:prstGeom>
        </p:spPr>
      </p:pic>
      <p:sp>
        <p:nvSpPr>
          <p:cNvPr id="17" name="TextBox 16"/>
          <p:cNvSpPr txBox="1"/>
          <p:nvPr/>
        </p:nvSpPr>
        <p:spPr>
          <a:xfrm>
            <a:off x="5230368" y="2743200"/>
            <a:ext cx="1737360" cy="457200"/>
          </a:xfrm>
          <a:prstGeom prst="rect">
            <a:avLst/>
          </a:prstGeom>
          <a:noFill/>
        </p:spPr>
        <p:txBody>
          <a:bodyPr wrap="square" lIns="45720" tIns="27432" rIns="45720" bIns="27432" anchor="t">
            <a:spAutoFit/>
          </a:bodyPr>
          <a:lstStyle/>
          <a:p>
            <a:pPr algn="ctr"/>
            <a:r>
              <a:rPr sz="1800" b="1">
                <a:solidFill>
                  <a:srgbClr val="1F4E79"/>
                </a:solidFill>
                <a:latin typeface="Calibri"/>
              </a:rPr>
              <a:t>Folate</a:t>
            </a:r>
          </a:p>
        </p:txBody>
      </p:sp>
      <p:sp>
        <p:nvSpPr>
          <p:cNvPr id="18" name="TextBox 17"/>
          <p:cNvSpPr txBox="1"/>
          <p:nvPr/>
        </p:nvSpPr>
        <p:spPr>
          <a:xfrm>
            <a:off x="5276088" y="3291840"/>
            <a:ext cx="164592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a:t>
            </a:r>
          </a:p>
          <a:p>
            <a:pPr algn="l">
              <a:spcBef>
                <a:spcPts val="300"/>
              </a:spcBef>
              <a:spcAft>
                <a:spcPts val="400"/>
              </a:spcAft>
            </a:pPr>
            <a:r>
              <a:rPr sz="1300" b="1">
                <a:solidFill>
                  <a:srgbClr val="1F4E79"/>
                </a:solidFill>
                <a:latin typeface="Calibri"/>
              </a:rPr>
              <a:t>Cut-off:</a:t>
            </a:r>
            <a:r>
              <a:rPr sz="1300">
                <a:solidFill>
                  <a:srgbClr val="333333"/>
                </a:solidFill>
                <a:latin typeface="Calibri"/>
              </a:rPr>
              <a:t> below 10 nmol/L</a:t>
            </a:r>
          </a:p>
        </p:txBody>
      </p:sp>
      <p:sp>
        <p:nvSpPr>
          <p:cNvPr id="19" name="Rounded Rectangle 18"/>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drumstick-bite_blue.png"/>
          <p:cNvPicPr>
            <a:picLocks noChangeAspect="1"/>
          </p:cNvPicPr>
          <p:nvPr/>
        </p:nvPicPr>
        <p:blipFill>
          <a:blip r:embed="rId6"/>
          <a:stretch>
            <a:fillRect/>
          </a:stretch>
        </p:blipFill>
        <p:spPr>
          <a:xfrm>
            <a:off x="7904988" y="1920240"/>
            <a:ext cx="685800" cy="685800"/>
          </a:xfrm>
          <a:prstGeom prst="rect">
            <a:avLst/>
          </a:prstGeom>
        </p:spPr>
      </p:pic>
      <p:sp>
        <p:nvSpPr>
          <p:cNvPr id="21" name="TextBox 20"/>
          <p:cNvSpPr txBox="1"/>
          <p:nvPr/>
        </p:nvSpPr>
        <p:spPr>
          <a:xfrm>
            <a:off x="7379208" y="2743200"/>
            <a:ext cx="1737360" cy="457200"/>
          </a:xfrm>
          <a:prstGeom prst="rect">
            <a:avLst/>
          </a:prstGeom>
          <a:noFill/>
        </p:spPr>
        <p:txBody>
          <a:bodyPr wrap="square" lIns="45720" tIns="27432" rIns="45720" bIns="27432" anchor="t">
            <a:spAutoFit/>
          </a:bodyPr>
          <a:lstStyle/>
          <a:p>
            <a:pPr algn="ctr"/>
            <a:r>
              <a:rPr sz="1800" b="1">
                <a:solidFill>
                  <a:srgbClr val="1F4E79"/>
                </a:solidFill>
                <a:latin typeface="Calibri"/>
              </a:rPr>
              <a:t>B12</a:t>
            </a:r>
          </a:p>
        </p:txBody>
      </p:sp>
      <p:sp>
        <p:nvSpPr>
          <p:cNvPr id="22" name="TextBox 21"/>
          <p:cNvSpPr txBox="1"/>
          <p:nvPr/>
        </p:nvSpPr>
        <p:spPr>
          <a:xfrm>
            <a:off x="7424928" y="3291840"/>
            <a:ext cx="164592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below 150 pmol/L</a:t>
            </a:r>
          </a:p>
        </p:txBody>
      </p:sp>
      <p:sp>
        <p:nvSpPr>
          <p:cNvPr id="23" name="Rounded Rectangle 22"/>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5" name="TextBox 24"/>
          <p:cNvSpPr txBox="1"/>
          <p:nvPr/>
        </p:nvSpPr>
        <p:spPr>
          <a:xfrm>
            <a:off x="9528048" y="2743200"/>
            <a:ext cx="1737360" cy="457200"/>
          </a:xfrm>
          <a:prstGeom prst="rect">
            <a:avLst/>
          </a:prstGeom>
          <a:noFill/>
        </p:spPr>
        <p:txBody>
          <a:bodyPr wrap="square" lIns="45720" tIns="27432" rIns="45720" bIns="27432" anchor="t">
            <a:spAutoFit/>
          </a:bodyPr>
          <a:lstStyle/>
          <a:p>
            <a:pPr algn="ctr"/>
            <a:r>
              <a:rPr sz="1800" b="1">
                <a:solidFill>
                  <a:srgbClr val="1F4E79"/>
                </a:solidFill>
                <a:latin typeface="Calibri"/>
              </a:rPr>
              <a:t>Zinc</a:t>
            </a:r>
          </a:p>
        </p:txBody>
      </p:sp>
      <p:sp>
        <p:nvSpPr>
          <p:cNvPr id="26" name="TextBox 25"/>
          <p:cNvSpPr txBox="1"/>
          <p:nvPr/>
        </p:nvSpPr>
        <p:spPr>
          <a:xfrm>
            <a:off x="9573768" y="3291840"/>
            <a:ext cx="164592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Who:</a:t>
            </a:r>
            <a:r>
              <a:rPr sz="1300">
                <a:solidFill>
                  <a:srgbClr val="333333"/>
                </a:solidFill>
                <a:latin typeface="Calibri"/>
              </a:rPr>
              <a:t> children under five;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thresholds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causes iron deficiency?</a:t>
            </a:r>
          </a:p>
        </p:txBody>
      </p:sp>
      <p:pic>
        <p:nvPicPr>
          <p:cNvPr id="3" name="Picture 1" descr="img/old_s06_framework_1.png"/>
          <p:cNvPicPr>
            <a:picLocks noGrp="1" noChangeAspect="1"/>
          </p:cNvPicPr>
          <p:nvPr/>
        </p:nvPicPr>
        <p:blipFill>
          <a:blip r:embed="rId3"/>
          <a:stretch>
            <a:fillRect/>
          </a:stretch>
        </p:blipFill>
        <p:spPr bwMode="auto">
          <a:xfrm>
            <a:off x="2985516" y="1600200"/>
            <a:ext cx="621792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9</a:t>
            </a:fld>
            <a:endParaRPr lang="en-BG"/>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Where do we have proxy data for those causes?</a:t>
            </a:r>
          </a:p>
        </p:txBody>
      </p:sp>
      <p:pic>
        <p:nvPicPr>
          <p:cNvPr id="3" name="Picture 1" descr="MN-proxy-full-talk-2026-09_files/figure-pptx/framework-coverage-1.png"/>
          <p:cNvPicPr>
            <a:picLocks noGrp="1" noChangeAspect="1"/>
          </p:cNvPicPr>
          <p:nvPr/>
        </p:nvPicPr>
        <p:blipFill>
          <a:blip r:embed="rId3"/>
          <a:stretch>
            <a:fillRect/>
          </a:stretch>
        </p:blipFill>
        <p:spPr bwMode="auto">
          <a:xfrm>
            <a:off x="912876" y="1600200"/>
            <a:ext cx="1036320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10</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dirty="0">
                <a:solidFill>
                  <a:srgbClr val="808080"/>
                </a:solidFill>
              </a:rPr>
              <a:t>Unpublished data. Do not copy or distribute.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The proxy dataset</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11</a:t>
            </a:fld>
            <a:endParaRPr lang="en-BG"/>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rPr lang="en-US" dirty="0"/>
              <a:t>L</a:t>
            </a:r>
            <a:r>
              <a:rPr dirty="0"/>
              <a:t>and, climate and agriculture</a:t>
            </a:r>
            <a:r>
              <a:rPr lang="en-US" dirty="0"/>
              <a:t> predictors</a:t>
            </a:r>
            <a:endParaRPr dirty="0"/>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12</a:t>
            </a:fld>
            <a:endParaRPr lang="en-BG"/>
          </a:p>
        </p:txBody>
      </p:sp>
      <p:pic>
        <p:nvPicPr>
          <p:cNvPr id="7" name="Picture 6" descr="cloud-sun-rain_blue.png"/>
          <p:cNvPicPr>
            <a:picLocks noChangeAspect="1"/>
          </p:cNvPicPr>
          <p:nvPr/>
        </p:nvPicPr>
        <p:blipFill>
          <a:blip r:embed="rId3"/>
          <a:stretch>
            <a:fillRect/>
          </a:stretch>
        </p:blipFill>
        <p:spPr>
          <a:xfrm>
            <a:off x="932688" y="1783080"/>
            <a:ext cx="640080" cy="512064"/>
          </a:xfrm>
          <a:prstGeom prst="rect">
            <a:avLst/>
          </a:prstGeom>
        </p:spPr>
      </p:pic>
      <p:sp>
        <p:nvSpPr>
          <p:cNvPr id="8" name="TextBox 7"/>
          <p:cNvSpPr txBox="1"/>
          <p:nvPr/>
        </p:nvSpPr>
        <p:spPr>
          <a:xfrm>
            <a:off x="1984248" y="1691640"/>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Climate</a:t>
            </a:r>
          </a:p>
          <a:p>
            <a:pPr algn="l">
              <a:spcBef>
                <a:spcPts val="300"/>
              </a:spcBef>
            </a:pPr>
            <a:r>
              <a:rPr sz="1200" b="0">
                <a:solidFill>
                  <a:srgbClr val="333333"/>
                </a:solidFill>
                <a:latin typeface="Calibri"/>
              </a:rPr>
              <a:t>Monthly rainfall and temperature at the survey year and as 30-year normals; drought and evaporation (TerraClimate, MODIS).</a:t>
            </a:r>
          </a:p>
        </p:txBody>
      </p:sp>
      <p:pic>
        <p:nvPicPr>
          <p:cNvPr id="9" name="Picture 8" descr="mound_blue.png"/>
          <p:cNvPicPr>
            <a:picLocks noChangeAspect="1"/>
          </p:cNvPicPr>
          <p:nvPr/>
        </p:nvPicPr>
        <p:blipFill>
          <a:blip r:embed="rId4"/>
          <a:stretch>
            <a:fillRect/>
          </a:stretch>
        </p:blipFill>
        <p:spPr>
          <a:xfrm>
            <a:off x="932688" y="2660904"/>
            <a:ext cx="576072" cy="512064"/>
          </a:xfrm>
          <a:prstGeom prst="rect">
            <a:avLst/>
          </a:prstGeom>
        </p:spPr>
      </p:pic>
      <p:sp>
        <p:nvSpPr>
          <p:cNvPr id="10" name="TextBox 9"/>
          <p:cNvSpPr txBox="1"/>
          <p:nvPr/>
        </p:nvSpPr>
        <p:spPr>
          <a:xfrm>
            <a:off x="1984248" y="2569464"/>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Soil</a:t>
            </a:r>
          </a:p>
          <a:p>
            <a:pPr algn="l">
              <a:spcBef>
                <a:spcPts val="300"/>
              </a:spcBef>
            </a:pPr>
            <a:r>
              <a:rPr sz="1200" b="0">
                <a:solidFill>
                  <a:srgbClr val="333333"/>
                </a:solidFill>
                <a:latin typeface="Calibri"/>
              </a:rPr>
              <a:t>pH, organic carbon, texture and nutrients such as zinc and iron, at two depths (SoilGrids, iSDA).</a:t>
            </a:r>
          </a:p>
        </p:txBody>
      </p:sp>
      <p:pic>
        <p:nvPicPr>
          <p:cNvPr id="11" name="Picture 10" descr="tractor_blue.png"/>
          <p:cNvPicPr>
            <a:picLocks noChangeAspect="1"/>
          </p:cNvPicPr>
          <p:nvPr/>
        </p:nvPicPr>
        <p:blipFill>
          <a:blip r:embed="rId5"/>
          <a:stretch>
            <a:fillRect/>
          </a:stretch>
        </p:blipFill>
        <p:spPr>
          <a:xfrm>
            <a:off x="932688" y="3538728"/>
            <a:ext cx="640080" cy="512064"/>
          </a:xfrm>
          <a:prstGeom prst="rect">
            <a:avLst/>
          </a:prstGeom>
        </p:spPr>
      </p:pic>
      <p:sp>
        <p:nvSpPr>
          <p:cNvPr id="12" name="TextBox 11"/>
          <p:cNvSpPr txBox="1"/>
          <p:nvPr/>
        </p:nvSpPr>
        <p:spPr>
          <a:xfrm>
            <a:off x="1984248" y="3447288"/>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Crops and livestock</a:t>
            </a:r>
          </a:p>
          <a:p>
            <a:pPr algn="l">
              <a:spcBef>
                <a:spcPts val="300"/>
              </a:spcBef>
            </a:pPr>
            <a:r>
              <a:rPr sz="1200" b="0">
                <a:solidFill>
                  <a:srgbClr val="333333"/>
                </a:solidFill>
                <a:latin typeface="Calibri"/>
              </a:rPr>
              <a:t>What is grown and how much, cattle, goats, sheep, pigs and poultry per square kilometer (MapSPAM, Gridded Livestock).</a:t>
            </a:r>
          </a:p>
        </p:txBody>
      </p:sp>
      <p:pic>
        <p:nvPicPr>
          <p:cNvPr id="13" name="Picture 12" descr="satellite_blue.png"/>
          <p:cNvPicPr>
            <a:picLocks noChangeAspect="1"/>
          </p:cNvPicPr>
          <p:nvPr/>
        </p:nvPicPr>
        <p:blipFill>
          <a:blip r:embed="rId6"/>
          <a:stretch>
            <a:fillRect/>
          </a:stretch>
        </p:blipFill>
        <p:spPr>
          <a:xfrm>
            <a:off x="932688" y="4416552"/>
            <a:ext cx="512064" cy="512064"/>
          </a:xfrm>
          <a:prstGeom prst="rect">
            <a:avLst/>
          </a:prstGeom>
        </p:spPr>
      </p:pic>
      <p:sp>
        <p:nvSpPr>
          <p:cNvPr id="14" name="TextBox 13"/>
          <p:cNvSpPr txBox="1"/>
          <p:nvPr/>
        </p:nvSpPr>
        <p:spPr>
          <a:xfrm>
            <a:off x="1984248" y="4325112"/>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Land cover and satellite embedding</a:t>
            </a:r>
          </a:p>
          <a:p>
            <a:pPr algn="l">
              <a:spcBef>
                <a:spcPts val="300"/>
              </a:spcBef>
            </a:pPr>
            <a:r>
              <a:rPr sz="1200" b="0">
                <a:solidFill>
                  <a:srgbClr val="333333"/>
                </a:solidFill>
                <a:latin typeface="Calibri"/>
              </a:rPr>
              <a:t>Cropland, grassland, built-up area, night lights, plant productivity, and a 64-number summary of a year of satellite images (AlphaEarth).</a:t>
            </a:r>
          </a:p>
        </p:txBody>
      </p:sp>
      <p:pic>
        <p:nvPicPr>
          <p:cNvPr id="15" name="Picture 14" descr="water_blue.png"/>
          <p:cNvPicPr>
            <a:picLocks noChangeAspect="1"/>
          </p:cNvPicPr>
          <p:nvPr/>
        </p:nvPicPr>
        <p:blipFill>
          <a:blip r:embed="rId7"/>
          <a:stretch>
            <a:fillRect/>
          </a:stretch>
        </p:blipFill>
        <p:spPr>
          <a:xfrm>
            <a:off x="932688" y="5294376"/>
            <a:ext cx="576072" cy="512064"/>
          </a:xfrm>
          <a:prstGeom prst="rect">
            <a:avLst/>
          </a:prstGeom>
        </p:spPr>
      </p:pic>
      <p:sp>
        <p:nvSpPr>
          <p:cNvPr id="16" name="TextBox 15"/>
          <p:cNvSpPr txBox="1"/>
          <p:nvPr/>
        </p:nvSpPr>
        <p:spPr>
          <a:xfrm>
            <a:off x="1984248" y="5202936"/>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Water and terrain</a:t>
            </a:r>
          </a:p>
          <a:p>
            <a:pPr algn="l">
              <a:spcBef>
                <a:spcPts val="300"/>
              </a:spcBef>
            </a:pPr>
            <a:r>
              <a:rPr sz="1200" b="0">
                <a:solidFill>
                  <a:srgbClr val="333333"/>
                </a:solidFill>
                <a:latin typeface="Calibri"/>
              </a:rPr>
              <a:t>Distance to permanent water and the coast; elevation and slope.</a:t>
            </a:r>
          </a:p>
        </p:txBody>
      </p:sp>
      <p:pic>
        <p:nvPicPr>
          <p:cNvPr id="17" name="Picture 16" descr="ghana_sources_land.png"/>
          <p:cNvPicPr>
            <a:picLocks noChangeAspect="1"/>
          </p:cNvPicPr>
          <p:nvPr/>
        </p:nvPicPr>
        <p:blipFill>
          <a:blip r:embed="rId8"/>
          <a:stretch>
            <a:fillRect/>
          </a:stretch>
        </p:blipFill>
        <p:spPr>
          <a:xfrm>
            <a:off x="7699248" y="1783080"/>
            <a:ext cx="3559126" cy="40233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a:r>
              <a:rPr lang="en-US" dirty="0"/>
              <a:t>H</a:t>
            </a:r>
            <a:r>
              <a:rPr dirty="0"/>
              <a:t>ealth, food and household</a:t>
            </a:r>
            <a:r>
              <a:rPr lang="en-US" dirty="0"/>
              <a:t> predictors</a:t>
            </a:r>
            <a:endParaRPr dirty="0"/>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13</a:t>
            </a:fld>
            <a:endParaRPr lang="en-BG"/>
          </a:p>
        </p:txBody>
      </p:sp>
      <p:pic>
        <p:nvPicPr>
          <p:cNvPr id="7" name="Picture 6" descr="virus_blue.png"/>
          <p:cNvPicPr>
            <a:picLocks noChangeAspect="1"/>
          </p:cNvPicPr>
          <p:nvPr/>
        </p:nvPicPr>
        <p:blipFill>
          <a:blip r:embed="rId3"/>
          <a:stretch>
            <a:fillRect/>
          </a:stretch>
        </p:blipFill>
        <p:spPr>
          <a:xfrm>
            <a:off x="932688" y="1783080"/>
            <a:ext cx="512064" cy="512064"/>
          </a:xfrm>
          <a:prstGeom prst="rect">
            <a:avLst/>
          </a:prstGeom>
        </p:spPr>
      </p:pic>
      <p:sp>
        <p:nvSpPr>
          <p:cNvPr id="8" name="TextBox 7"/>
          <p:cNvSpPr txBox="1"/>
          <p:nvPr/>
        </p:nvSpPr>
        <p:spPr>
          <a:xfrm>
            <a:off x="1984248" y="1691640"/>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Modeled health surfaces</a:t>
            </a:r>
          </a:p>
          <a:p>
            <a:pPr algn="l">
              <a:spcBef>
                <a:spcPts val="300"/>
              </a:spcBef>
            </a:pPr>
            <a:r>
              <a:rPr sz="1200" b="0">
                <a:solidFill>
                  <a:srgbClr val="333333"/>
                </a:solidFill>
                <a:latin typeface="Calibri"/>
              </a:rPr>
              <a:t>Malaria, anemia, child growth, diarrhea, sanitation and vaccination, mapped at 5 km by IHME and the Malaria Atlas; helminths from WHO.</a:t>
            </a:r>
          </a:p>
        </p:txBody>
      </p:sp>
      <p:pic>
        <p:nvPicPr>
          <p:cNvPr id="9" name="Picture 8" descr="basket-shopping_blue.png"/>
          <p:cNvPicPr>
            <a:picLocks noChangeAspect="1"/>
          </p:cNvPicPr>
          <p:nvPr/>
        </p:nvPicPr>
        <p:blipFill>
          <a:blip r:embed="rId4"/>
          <a:stretch>
            <a:fillRect/>
          </a:stretch>
        </p:blipFill>
        <p:spPr>
          <a:xfrm>
            <a:off x="932688" y="2660904"/>
            <a:ext cx="576072" cy="512064"/>
          </a:xfrm>
          <a:prstGeom prst="rect">
            <a:avLst/>
          </a:prstGeom>
        </p:spPr>
      </p:pic>
      <p:sp>
        <p:nvSpPr>
          <p:cNvPr id="10" name="TextBox 9"/>
          <p:cNvSpPr txBox="1"/>
          <p:nvPr/>
        </p:nvSpPr>
        <p:spPr>
          <a:xfrm>
            <a:off x="1984248" y="2569464"/>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Food prices and supply</a:t>
            </a:r>
          </a:p>
          <a:p>
            <a:pPr algn="l">
              <a:spcBef>
                <a:spcPts val="300"/>
              </a:spcBef>
            </a:pPr>
            <a:r>
              <a:rPr sz="1200" b="0">
                <a:solidFill>
                  <a:srgbClr val="333333"/>
                </a:solidFill>
                <a:latin typeface="Calibri"/>
              </a:rPr>
              <a:t>Local staple prices against the national level (WFP, World Bank), food security phases, fortification standards.</a:t>
            </a:r>
          </a:p>
        </p:txBody>
      </p:sp>
      <p:pic>
        <p:nvPicPr>
          <p:cNvPr id="11" name="Picture 10" descr="people-roof_blue.png"/>
          <p:cNvPicPr>
            <a:picLocks noChangeAspect="1"/>
          </p:cNvPicPr>
          <p:nvPr/>
        </p:nvPicPr>
        <p:blipFill>
          <a:blip r:embed="rId5"/>
          <a:stretch>
            <a:fillRect/>
          </a:stretch>
        </p:blipFill>
        <p:spPr>
          <a:xfrm>
            <a:off x="932688" y="3538728"/>
            <a:ext cx="640080" cy="512064"/>
          </a:xfrm>
          <a:prstGeom prst="rect">
            <a:avLst/>
          </a:prstGeom>
        </p:spPr>
      </p:pic>
      <p:sp>
        <p:nvSpPr>
          <p:cNvPr id="12" name="TextBox 11"/>
          <p:cNvSpPr txBox="1"/>
          <p:nvPr/>
        </p:nvSpPr>
        <p:spPr>
          <a:xfrm>
            <a:off x="1984248" y="3447288"/>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Public household surveys</a:t>
            </a:r>
          </a:p>
          <a:p>
            <a:pPr algn="l">
              <a:spcBef>
                <a:spcPts val="300"/>
              </a:spcBef>
            </a:pPr>
            <a:r>
              <a:rPr sz="1200" b="0">
                <a:solidFill>
                  <a:srgbClr val="333333"/>
                </a:solidFill>
                <a:latin typeface="Calibri"/>
              </a:rPr>
              <a:t>MICS and the national budget surveys, aggregated to districts: wealth, schooling, water, infant feeding, what households ate last week.</a:t>
            </a:r>
          </a:p>
        </p:txBody>
      </p:sp>
      <p:pic>
        <p:nvPicPr>
          <p:cNvPr id="13" name="Picture 12" descr="users_blue.png"/>
          <p:cNvPicPr>
            <a:picLocks noChangeAspect="1"/>
          </p:cNvPicPr>
          <p:nvPr/>
        </p:nvPicPr>
        <p:blipFill>
          <a:blip r:embed="rId6"/>
          <a:stretch>
            <a:fillRect/>
          </a:stretch>
        </p:blipFill>
        <p:spPr>
          <a:xfrm>
            <a:off x="932688" y="4416552"/>
            <a:ext cx="640080" cy="512064"/>
          </a:xfrm>
          <a:prstGeom prst="rect">
            <a:avLst/>
          </a:prstGeom>
        </p:spPr>
      </p:pic>
      <p:sp>
        <p:nvSpPr>
          <p:cNvPr id="14" name="TextBox 13"/>
          <p:cNvSpPr txBox="1"/>
          <p:nvPr/>
        </p:nvSpPr>
        <p:spPr>
          <a:xfrm>
            <a:off x="1984248" y="4325112"/>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People and access</a:t>
            </a:r>
          </a:p>
          <a:p>
            <a:pPr algn="l">
              <a:spcBef>
                <a:spcPts val="300"/>
              </a:spcBef>
            </a:pPr>
            <a:r>
              <a:rPr sz="1200" b="0">
                <a:solidFill>
                  <a:srgbClr val="333333"/>
                </a:solidFill>
                <a:latin typeface="Calibri"/>
              </a:rPr>
              <a:t>Population and density, travel time to health care and markets, a relative wealth index from satellite and phone data.</a:t>
            </a:r>
          </a:p>
        </p:txBody>
      </p:sp>
      <p:pic>
        <p:nvPicPr>
          <p:cNvPr id="15" name="Picture 14" descr="lock_blue.png"/>
          <p:cNvPicPr>
            <a:picLocks noChangeAspect="1"/>
          </p:cNvPicPr>
          <p:nvPr/>
        </p:nvPicPr>
        <p:blipFill>
          <a:blip r:embed="rId7"/>
          <a:stretch>
            <a:fillRect/>
          </a:stretch>
        </p:blipFill>
        <p:spPr>
          <a:xfrm>
            <a:off x="932688" y="5294376"/>
            <a:ext cx="448056" cy="512064"/>
          </a:xfrm>
          <a:prstGeom prst="rect">
            <a:avLst/>
          </a:prstGeom>
        </p:spPr>
      </p:pic>
      <p:sp>
        <p:nvSpPr>
          <p:cNvPr id="16" name="TextBox 15"/>
          <p:cNvSpPr txBox="1"/>
          <p:nvPr/>
        </p:nvSpPr>
        <p:spPr>
          <a:xfrm>
            <a:off x="1984248" y="5202936"/>
            <a:ext cx="5349240" cy="694944"/>
          </a:xfrm>
          <a:prstGeom prst="rect">
            <a:avLst/>
          </a:prstGeom>
          <a:noFill/>
        </p:spPr>
        <p:txBody>
          <a:bodyPr wrap="square" lIns="45720" tIns="27432" rIns="45720" bIns="27432" anchor="ctr">
            <a:spAutoFit/>
          </a:bodyPr>
          <a:lstStyle/>
          <a:p>
            <a:pPr algn="l"/>
            <a:r>
              <a:rPr sz="1600" b="1">
                <a:solidFill>
                  <a:srgbClr val="1F4E79"/>
                </a:solidFill>
                <a:latin typeface="Calibri"/>
              </a:rPr>
              <a:t>What is kept out</a:t>
            </a:r>
          </a:p>
          <a:p>
            <a:pPr algn="l">
              <a:spcBef>
                <a:spcPts val="300"/>
              </a:spcBef>
            </a:pPr>
            <a:r>
              <a:rPr sz="1200" b="0">
                <a:solidFill>
                  <a:srgbClr val="333333"/>
                </a:solidFill>
                <a:latin typeface="Calibri"/>
              </a:rPr>
              <a:t>The DHS aggregates exist for all four countries and are used only as a check; the headline models use open and public data alone.</a:t>
            </a:r>
          </a:p>
        </p:txBody>
      </p:sp>
      <p:pic>
        <p:nvPicPr>
          <p:cNvPr id="17" name="Picture 16" descr="ghana_sources_health.png"/>
          <p:cNvPicPr>
            <a:picLocks noChangeAspect="1"/>
          </p:cNvPicPr>
          <p:nvPr/>
        </p:nvPicPr>
        <p:blipFill>
          <a:blip r:embed="rId8"/>
          <a:stretch>
            <a:fillRect/>
          </a:stretch>
        </p:blipFill>
        <p:spPr>
          <a:xfrm>
            <a:off x="7699248" y="1783080"/>
            <a:ext cx="3559126" cy="40233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Where do the 575 predictors come from?</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lvl="0"/>
            <a:r>
              <a:rPr sz="1800"/>
              <a:t>575 predictors from 28 sources, every one matched to the same list of 554 districts.</a:t>
            </a:r>
          </a:p>
          <a:p>
            <a:pPr lvl="0"/>
            <a:r>
              <a:rPr sz="1800"/>
              <a:t>518 exist in all four countries, so they can serve a model for a new country.</a:t>
            </a:r>
          </a:p>
          <a:p>
            <a:pPr lvl="0"/>
            <a:r>
              <a:rPr sz="1800"/>
              <a:t>The other 57 exist in one to three and are used only inside those countries.</a:t>
            </a:r>
          </a:p>
        </p:txBody>
      </p:sp>
      <p:pic>
        <p:nvPicPr>
          <p:cNvPr id="4" name="Picture 1" descr="MN-proxy-full-talk-2026-09_files/figure-pptx/sources-1.png"/>
          <p:cNvPicPr>
            <a:picLocks noGrp="1" noChangeAspect="1"/>
          </p:cNvPicPr>
          <p:nvPr/>
        </p:nvPicPr>
        <p:blipFill>
          <a:blip r:embed="rId3"/>
          <a:stretch>
            <a:fillRect/>
          </a:stretch>
        </p:blipFill>
        <p:spPr bwMode="auto">
          <a:xfrm>
            <a:off x="411480" y="1645920"/>
            <a:ext cx="6766560" cy="5888456"/>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14</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are the layers matched to districts in space and time?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15</a:t>
            </a:fld>
            <a:endParaRPr lang="en-BG"/>
          </a:p>
        </p:txBody>
      </p:sp>
      <p:pic>
        <p:nvPicPr>
          <p:cNvPr id="7" name="Picture 6" descr="map_blue.png"/>
          <p:cNvPicPr>
            <a:picLocks noChangeAspect="1"/>
          </p:cNvPicPr>
          <p:nvPr/>
        </p:nvPicPr>
        <p:blipFill>
          <a:blip r:embed="rId3"/>
          <a:stretch>
            <a:fillRect/>
          </a:stretch>
        </p:blipFill>
        <p:spPr>
          <a:xfrm>
            <a:off x="932688" y="1920240"/>
            <a:ext cx="925830" cy="822960"/>
          </a:xfrm>
          <a:prstGeom prst="rect">
            <a:avLst/>
          </a:prstGeom>
        </p:spPr>
      </p:pic>
      <p:sp>
        <p:nvSpPr>
          <p:cNvPr id="8" name="TextBox 7"/>
          <p:cNvSpPr txBox="1"/>
          <p:nvPr/>
        </p:nvSpPr>
        <p:spPr>
          <a:xfrm>
            <a:off x="1984248" y="169164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Space: one list of 554 districts</a:t>
            </a:r>
          </a:p>
          <a:p>
            <a:pPr algn="l">
              <a:spcBef>
                <a:spcPts val="300"/>
              </a:spcBef>
            </a:pPr>
            <a:r>
              <a:rPr sz="1400" b="0">
                <a:solidFill>
                  <a:srgbClr val="333333"/>
                </a:solidFill>
                <a:latin typeface="Calibri"/>
              </a:rPr>
              <a:t>Every layer is joined to it by a district code, never by a district's name, so a renamed or split district cannot silently drop out.</a:t>
            </a:r>
          </a:p>
        </p:txBody>
      </p:sp>
      <p:pic>
        <p:nvPicPr>
          <p:cNvPr id="9" name="Picture 8" descr="calendar-check_blue.png"/>
          <p:cNvPicPr>
            <a:picLocks noChangeAspect="1"/>
          </p:cNvPicPr>
          <p:nvPr/>
        </p:nvPicPr>
        <p:blipFill>
          <a:blip r:embed="rId4"/>
          <a:stretch>
            <a:fillRect/>
          </a:stretch>
        </p:blipFill>
        <p:spPr>
          <a:xfrm>
            <a:off x="932688" y="3383280"/>
            <a:ext cx="720090" cy="822960"/>
          </a:xfrm>
          <a:prstGeom prst="rect">
            <a:avLst/>
          </a:prstGeom>
        </p:spPr>
      </p:pic>
      <p:sp>
        <p:nvSpPr>
          <p:cNvPr id="10" name="TextBox 9"/>
          <p:cNvSpPr txBox="1"/>
          <p:nvPr/>
        </p:nvSpPr>
        <p:spPr>
          <a:xfrm>
            <a:off x="1984248" y="315468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Time: every layer at the survey year, or the nearest</a:t>
            </a:r>
          </a:p>
          <a:p>
            <a:pPr algn="l">
              <a:spcBef>
                <a:spcPts val="300"/>
              </a:spcBef>
            </a:pPr>
            <a:r>
              <a:rPr sz="1400" b="0">
                <a:solidFill>
                  <a:srgbClr val="333333"/>
                </a:solidFill>
                <a:latin typeface="Calibri"/>
              </a:rPr>
              <a:t>Climate enters as a 30-year normal plus the survey year's anomaly; household surveys as the round nearest the biomarker survey.</a:t>
            </a:r>
          </a:p>
        </p:txBody>
      </p:sp>
      <p:pic>
        <p:nvPicPr>
          <p:cNvPr id="11" name="Picture 10" descr="file-lines_blue.png"/>
          <p:cNvPicPr>
            <a:picLocks noChangeAspect="1"/>
          </p:cNvPicPr>
          <p:nvPr/>
        </p:nvPicPr>
        <p:blipFill>
          <a:blip r:embed="rId5"/>
          <a:stretch>
            <a:fillRect/>
          </a:stretch>
        </p:blipFill>
        <p:spPr>
          <a:xfrm>
            <a:off x="932688" y="4846320"/>
            <a:ext cx="617220" cy="822960"/>
          </a:xfrm>
          <a:prstGeom prst="rect">
            <a:avLst/>
          </a:prstGeom>
        </p:spPr>
      </p:pic>
      <p:sp>
        <p:nvSpPr>
          <p:cNvPr id="12" name="TextBox 11"/>
          <p:cNvSpPr txBox="1"/>
          <p:nvPr/>
        </p:nvSpPr>
        <p:spPr>
          <a:xfrm>
            <a:off x="1984248" y="461772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The gap is recorded for every column</a:t>
            </a:r>
          </a:p>
          <a:p>
            <a:pPr algn="l">
              <a:spcBef>
                <a:spcPts val="300"/>
              </a:spcBef>
            </a:pPr>
            <a:r>
              <a:rPr sz="1400" b="0">
                <a:solidFill>
                  <a:srgbClr val="333333"/>
                </a:solidFill>
                <a:latin typeface="Calibri"/>
              </a:rPr>
              <a:t>136 columns sit exactly on the survey year in every country, 78 are static layers; where a source is years off, the gap travels with the column.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29 conceptual domains of proxy variables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16</a:t>
            </a:fld>
            <a:endParaRPr lang="en-BG"/>
          </a:p>
        </p:txBody>
      </p:sp>
      <p:sp>
        <p:nvSpPr>
          <p:cNvPr id="7" name="Rounded Rectangle 6"/>
          <p:cNvSpPr/>
          <p:nvPr/>
        </p:nvSpPr>
        <p:spPr>
          <a:xfrm>
            <a:off x="84124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satellite_blue.png"/>
          <p:cNvPicPr>
            <a:picLocks noChangeAspect="1"/>
          </p:cNvPicPr>
          <p:nvPr/>
        </p:nvPicPr>
        <p:blipFill>
          <a:blip r:embed="rId3"/>
          <a:stretch>
            <a:fillRect/>
          </a:stretch>
        </p:blipFill>
        <p:spPr>
          <a:xfrm>
            <a:off x="978408" y="1828800"/>
            <a:ext cx="548640" cy="548640"/>
          </a:xfrm>
          <a:prstGeom prst="rect">
            <a:avLst/>
          </a:prstGeom>
        </p:spPr>
      </p:pic>
      <p:sp>
        <p:nvSpPr>
          <p:cNvPr id="9" name="TextBox 8"/>
          <p:cNvSpPr txBox="1"/>
          <p:nvPr/>
        </p:nvSpPr>
        <p:spPr>
          <a:xfrm>
            <a:off x="1664208" y="169164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10" name="Rounded Rectangle 9"/>
          <p:cNvSpPr/>
          <p:nvPr/>
        </p:nvSpPr>
        <p:spPr>
          <a:xfrm>
            <a:off x="625906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mound_blue.png"/>
          <p:cNvPicPr>
            <a:picLocks noChangeAspect="1"/>
          </p:cNvPicPr>
          <p:nvPr/>
        </p:nvPicPr>
        <p:blipFill>
          <a:blip r:embed="rId4"/>
          <a:stretch>
            <a:fillRect/>
          </a:stretch>
        </p:blipFill>
        <p:spPr>
          <a:xfrm>
            <a:off x="6396228" y="1828800"/>
            <a:ext cx="617220" cy="548640"/>
          </a:xfrm>
          <a:prstGeom prst="rect">
            <a:avLst/>
          </a:prstGeom>
        </p:spPr>
      </p:pic>
      <p:sp>
        <p:nvSpPr>
          <p:cNvPr id="12" name="TextBox 11"/>
          <p:cNvSpPr txBox="1"/>
          <p:nvPr/>
        </p:nvSpPr>
        <p:spPr>
          <a:xfrm>
            <a:off x="7082028" y="169164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13" name="Rounded Rectangle 12"/>
          <p:cNvSpPr/>
          <p:nvPr/>
        </p:nvSpPr>
        <p:spPr>
          <a:xfrm>
            <a:off x="84124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tractor_blue.png"/>
          <p:cNvPicPr>
            <a:picLocks noChangeAspect="1"/>
          </p:cNvPicPr>
          <p:nvPr/>
        </p:nvPicPr>
        <p:blipFill>
          <a:blip r:embed="rId5"/>
          <a:stretch>
            <a:fillRect/>
          </a:stretch>
        </p:blipFill>
        <p:spPr>
          <a:xfrm>
            <a:off x="978408" y="2788920"/>
            <a:ext cx="685800" cy="548640"/>
          </a:xfrm>
          <a:prstGeom prst="rect">
            <a:avLst/>
          </a:prstGeom>
        </p:spPr>
      </p:pic>
      <p:sp>
        <p:nvSpPr>
          <p:cNvPr id="15" name="TextBox 14"/>
          <p:cNvSpPr txBox="1"/>
          <p:nvPr/>
        </p:nvSpPr>
        <p:spPr>
          <a:xfrm>
            <a:off x="1664208" y="265176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6" name="Rounded Rectangle 15"/>
          <p:cNvSpPr/>
          <p:nvPr/>
        </p:nvSpPr>
        <p:spPr>
          <a:xfrm>
            <a:off x="625906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basket-shopping_blue.png"/>
          <p:cNvPicPr>
            <a:picLocks noChangeAspect="1"/>
          </p:cNvPicPr>
          <p:nvPr/>
        </p:nvPicPr>
        <p:blipFill>
          <a:blip r:embed="rId6"/>
          <a:stretch>
            <a:fillRect/>
          </a:stretch>
        </p:blipFill>
        <p:spPr>
          <a:xfrm>
            <a:off x="6396228" y="2788920"/>
            <a:ext cx="617220" cy="548640"/>
          </a:xfrm>
          <a:prstGeom prst="rect">
            <a:avLst/>
          </a:prstGeom>
        </p:spPr>
      </p:pic>
      <p:sp>
        <p:nvSpPr>
          <p:cNvPr id="18" name="TextBox 17"/>
          <p:cNvSpPr txBox="1"/>
          <p:nvPr/>
        </p:nvSpPr>
        <p:spPr>
          <a:xfrm>
            <a:off x="7082028" y="265176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9" name="Rounded Rectangle 18"/>
          <p:cNvSpPr/>
          <p:nvPr/>
        </p:nvSpPr>
        <p:spPr>
          <a:xfrm>
            <a:off x="84124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virus_blue.png"/>
          <p:cNvPicPr>
            <a:picLocks noChangeAspect="1"/>
          </p:cNvPicPr>
          <p:nvPr/>
        </p:nvPicPr>
        <p:blipFill>
          <a:blip r:embed="rId7"/>
          <a:stretch>
            <a:fillRect/>
          </a:stretch>
        </p:blipFill>
        <p:spPr>
          <a:xfrm>
            <a:off x="978408" y="3749040"/>
            <a:ext cx="548640" cy="548640"/>
          </a:xfrm>
          <a:prstGeom prst="rect">
            <a:avLst/>
          </a:prstGeom>
        </p:spPr>
      </p:pic>
      <p:sp>
        <p:nvSpPr>
          <p:cNvPr id="21" name="TextBox 20"/>
          <p:cNvSpPr txBox="1"/>
          <p:nvPr/>
        </p:nvSpPr>
        <p:spPr>
          <a:xfrm>
            <a:off x="1664208" y="361188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22" name="Rounded Rectangle 21"/>
          <p:cNvSpPr/>
          <p:nvPr/>
        </p:nvSpPr>
        <p:spPr>
          <a:xfrm>
            <a:off x="625906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hild_blue.png"/>
          <p:cNvPicPr>
            <a:picLocks noChangeAspect="1"/>
          </p:cNvPicPr>
          <p:nvPr/>
        </p:nvPicPr>
        <p:blipFill>
          <a:blip r:embed="rId8"/>
          <a:stretch>
            <a:fillRect/>
          </a:stretch>
        </p:blipFill>
        <p:spPr>
          <a:xfrm>
            <a:off x="6396228" y="3749040"/>
            <a:ext cx="342900" cy="548640"/>
          </a:xfrm>
          <a:prstGeom prst="rect">
            <a:avLst/>
          </a:prstGeom>
        </p:spPr>
      </p:pic>
      <p:sp>
        <p:nvSpPr>
          <p:cNvPr id="24" name="TextBox 23"/>
          <p:cNvSpPr txBox="1"/>
          <p:nvPr/>
        </p:nvSpPr>
        <p:spPr>
          <a:xfrm>
            <a:off x="7082028" y="361188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anemia surfaces; infant and young child feeding</a:t>
            </a:r>
          </a:p>
        </p:txBody>
      </p:sp>
      <p:sp>
        <p:nvSpPr>
          <p:cNvPr id="25" name="Rounded Rectangle 24"/>
          <p:cNvSpPr/>
          <p:nvPr/>
        </p:nvSpPr>
        <p:spPr>
          <a:xfrm>
            <a:off x="84124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house-chimney_blue.png"/>
          <p:cNvPicPr>
            <a:picLocks noChangeAspect="1"/>
          </p:cNvPicPr>
          <p:nvPr/>
        </p:nvPicPr>
        <p:blipFill>
          <a:blip r:embed="rId9"/>
          <a:stretch>
            <a:fillRect/>
          </a:stretch>
        </p:blipFill>
        <p:spPr>
          <a:xfrm>
            <a:off x="978408" y="4709160"/>
            <a:ext cx="617220" cy="548640"/>
          </a:xfrm>
          <a:prstGeom prst="rect">
            <a:avLst/>
          </a:prstGeom>
        </p:spPr>
      </p:pic>
      <p:sp>
        <p:nvSpPr>
          <p:cNvPr id="27" name="TextBox 26"/>
          <p:cNvSpPr txBox="1"/>
          <p:nvPr/>
        </p:nvSpPr>
        <p:spPr>
          <a:xfrm>
            <a:off x="1664208" y="457200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8" name="Rounded Rectangle 27"/>
          <p:cNvSpPr/>
          <p:nvPr/>
        </p:nvSpPr>
        <p:spPr>
          <a:xfrm>
            <a:off x="625906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city_blue.png"/>
          <p:cNvPicPr>
            <a:picLocks noChangeAspect="1"/>
          </p:cNvPicPr>
          <p:nvPr/>
        </p:nvPicPr>
        <p:blipFill>
          <a:blip r:embed="rId10"/>
          <a:stretch>
            <a:fillRect/>
          </a:stretch>
        </p:blipFill>
        <p:spPr>
          <a:xfrm>
            <a:off x="6396228" y="4709160"/>
            <a:ext cx="685800" cy="548640"/>
          </a:xfrm>
          <a:prstGeom prst="rect">
            <a:avLst/>
          </a:prstGeom>
        </p:spPr>
      </p:pic>
      <p:sp>
        <p:nvSpPr>
          <p:cNvPr id="30" name="TextBox 29"/>
          <p:cNvSpPr txBox="1"/>
          <p:nvPr/>
        </p:nvSpPr>
        <p:spPr>
          <a:xfrm>
            <a:off x="7082028" y="4572000"/>
            <a:ext cx="4183380" cy="822960"/>
          </a:xfrm>
          <a:prstGeom prst="rect">
            <a:avLst/>
          </a:prstGeom>
          <a:noFill/>
        </p:spPr>
        <p:txBody>
          <a:bodyPr wrap="square" lIns="45720" tIns="27432" rIns="45720" bIns="27432" anchor="ctr">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
        <p:nvSpPr>
          <p:cNvPr id="31" name="TextBox 30"/>
          <p:cNvSpPr txBox="1"/>
          <p:nvPr/>
        </p:nvSpPr>
        <p:spPr>
          <a:xfrm>
            <a:off x="841248" y="5440680"/>
            <a:ext cx="10515600" cy="457200"/>
          </a:xfrm>
          <a:prstGeom prst="rect">
            <a:avLst/>
          </a:prstGeom>
          <a:noFill/>
        </p:spPr>
        <p:txBody>
          <a:bodyPr wrap="square" lIns="45720" tIns="27432" rIns="45720" bIns="27432" anchor="t">
            <a:spAutoFit/>
          </a:bodyPr>
          <a:lstStyle/>
          <a:p>
            <a:pPr algn="l"/>
            <a:r>
              <a:rPr sz="800" b="0">
                <a:solidFill>
                  <a:srgbClr val="666666"/>
                </a:solidFill>
                <a:latin typeface="Calibri"/>
              </a:rPr>
              <a:t>Grouped into eight for the slide; number of predictors in brackets. The 29 domains: satellite embedding; climate and weather; soil; ecosystem productivity; water and coast proximity; agricultural production and land use; livestock density; food prices and supply; market prices; household diet (HCES); dietary inadequacy; fortification and supplementation; infection and inflammation; malaria; helminths; infant and child morbidity and mortality; child mortality; adult and maternal mortality; immunization; child anthropometry; adult nutrition; nutrition status surfaces; anemia and hemoglobin; infant and young child feeding; household assets; education, employment and SES; water and sanitation; fertility and reproductive health; healthcare access; built environment; ruralness and population density; conflict.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is the district table built?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17</a:t>
            </a:fld>
            <a:endParaRPr lang="en-BG"/>
          </a:p>
        </p:txBody>
      </p:sp>
      <p:sp>
        <p:nvSpPr>
          <p:cNvPr id="7" name="Rounded Rectangle 6"/>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vials_blue.png"/>
          <p:cNvPicPr>
            <a:picLocks noChangeAspect="1"/>
          </p:cNvPicPr>
          <p:nvPr/>
        </p:nvPicPr>
        <p:blipFill>
          <a:blip r:embed="rId3"/>
          <a:stretch>
            <a:fillRect/>
          </a:stretch>
        </p:blipFill>
        <p:spPr>
          <a:xfrm>
            <a:off x="1024128" y="1856232"/>
            <a:ext cx="566928" cy="566928"/>
          </a:xfrm>
          <a:prstGeom prst="rect">
            <a:avLst/>
          </a:prstGeom>
        </p:spPr>
      </p:pic>
      <p:sp>
        <p:nvSpPr>
          <p:cNvPr id="9" name="TextBox 8"/>
          <p:cNvSpPr txBox="1"/>
          <p:nvPr/>
        </p:nvSpPr>
        <p:spPr>
          <a:xfrm>
            <a:off x="1709928" y="1801368"/>
            <a:ext cx="2209800" cy="685800"/>
          </a:xfrm>
          <a:prstGeom prst="rect">
            <a:avLst/>
          </a:prstGeom>
          <a:noFill/>
        </p:spPr>
        <p:txBody>
          <a:bodyPr wrap="square" lIns="45720" tIns="27432" rIns="45720" bIns="27432" anchor="ctr">
            <a:spAutoFit/>
          </a:bodyPr>
          <a:lstStyle/>
          <a:p>
            <a:pPr algn="l"/>
            <a:r>
              <a:rPr sz="1700" b="1">
                <a:solidFill>
                  <a:srgbClr val="1F4E79"/>
                </a:solidFill>
                <a:latin typeface="Calibri"/>
              </a:rPr>
              <a:t>1. Clean and merge the surveys</a:t>
            </a:r>
          </a:p>
        </p:txBody>
      </p:sp>
      <p:sp>
        <p:nvSpPr>
          <p:cNvPr id="10" name="TextBox 9"/>
          <p:cNvSpPr txBox="1"/>
          <p:nvPr/>
        </p:nvSpPr>
        <p:spPr>
          <a:xfrm>
            <a:off x="1024128" y="2532888"/>
            <a:ext cx="2849880" cy="1051560"/>
          </a:xfrm>
          <a:prstGeom prst="rect">
            <a:avLst/>
          </a:prstGeom>
          <a:noFill/>
        </p:spPr>
        <p:txBody>
          <a:bodyPr wrap="square" lIns="45720" tIns="27432" rIns="45720" bIns="27432" anchor="t">
            <a:spAutoFit/>
          </a:bodyPr>
          <a:lstStyle/>
          <a:p>
            <a:pPr algn="l"/>
            <a:r>
              <a:rPr sz="1300" b="0">
                <a:solidFill>
                  <a:srgbClr val="333333"/>
                </a:solidFill>
                <a:latin typeface="Calibri"/>
              </a:rPr>
              <a:t>Four surveys, one definition per nutrient.</a:t>
            </a:r>
          </a:p>
        </p:txBody>
      </p:sp>
      <p:sp>
        <p:nvSpPr>
          <p:cNvPr id="11" name="Chevron 10"/>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4" name="TextBox 13"/>
          <p:cNvSpPr txBox="1"/>
          <p:nvPr/>
        </p:nvSpPr>
        <p:spPr>
          <a:xfrm>
            <a:off x="5382768" y="1801368"/>
            <a:ext cx="2209800" cy="685800"/>
          </a:xfrm>
          <a:prstGeom prst="rect">
            <a:avLst/>
          </a:prstGeom>
          <a:noFill/>
        </p:spPr>
        <p:txBody>
          <a:bodyPr wrap="square" lIns="45720" tIns="27432" rIns="45720" bIns="27432" anchor="ctr">
            <a:spAutoFit/>
          </a:bodyPr>
          <a:lstStyle/>
          <a:p>
            <a:pPr algn="l"/>
            <a:r>
              <a:rPr sz="1700" b="1">
                <a:solidFill>
                  <a:srgbClr val="1F4E79"/>
                </a:solidFill>
                <a:latin typeface="Calibri"/>
              </a:rPr>
              <a:t>2. Link gridded layers</a:t>
            </a:r>
          </a:p>
        </p:txBody>
      </p:sp>
      <p:sp>
        <p:nvSpPr>
          <p:cNvPr id="15" name="TextBox 14"/>
          <p:cNvSpPr txBox="1"/>
          <p:nvPr/>
        </p:nvSpPr>
        <p:spPr>
          <a:xfrm>
            <a:off x="4696968" y="2532888"/>
            <a:ext cx="2849880" cy="1051560"/>
          </a:xfrm>
          <a:prstGeom prst="rect">
            <a:avLst/>
          </a:prstGeom>
          <a:noFill/>
        </p:spPr>
        <p:txBody>
          <a:bodyPr wrap="square" lIns="45720" tIns="27432" rIns="45720" bIns="27432" anchor="t">
            <a:spAutoFit/>
          </a:bodyPr>
          <a:lstStyle/>
          <a:p>
            <a:pPr algn="l"/>
            <a:r>
              <a:rPr sz="1300" b="0">
                <a:solidFill>
                  <a:srgbClr val="333333"/>
                </a:solidFill>
                <a:latin typeface="Calibri"/>
              </a:rPr>
              <a:t>Each layer averaged over each district.</a:t>
            </a:r>
          </a:p>
        </p:txBody>
      </p:sp>
      <p:sp>
        <p:nvSpPr>
          <p:cNvPr id="16" name="Chevron 15"/>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9" name="TextBox 18"/>
          <p:cNvSpPr txBox="1"/>
          <p:nvPr/>
        </p:nvSpPr>
        <p:spPr>
          <a:xfrm>
            <a:off x="9055608" y="1801368"/>
            <a:ext cx="2209800" cy="685800"/>
          </a:xfrm>
          <a:prstGeom prst="rect">
            <a:avLst/>
          </a:prstGeom>
          <a:noFill/>
        </p:spPr>
        <p:txBody>
          <a:bodyPr wrap="square" lIns="45720" tIns="27432" rIns="45720" bIns="27432" anchor="ctr">
            <a:spAutoFit/>
          </a:bodyPr>
          <a:lstStyle/>
          <a:p>
            <a:pPr algn="l"/>
            <a:r>
              <a:rPr sz="1700" b="1">
                <a:solidFill>
                  <a:srgbClr val="1F4E79"/>
                </a:solidFill>
                <a:latin typeface="Calibri"/>
              </a:rPr>
              <a:t>3. Aggregate household surveys</a:t>
            </a:r>
          </a:p>
        </p:txBody>
      </p:sp>
      <p:sp>
        <p:nvSpPr>
          <p:cNvPr id="20" name="TextBox 19"/>
          <p:cNvSpPr txBox="1"/>
          <p:nvPr/>
        </p:nvSpPr>
        <p:spPr>
          <a:xfrm>
            <a:off x="8369808" y="2532888"/>
            <a:ext cx="2849880" cy="1051560"/>
          </a:xfrm>
          <a:prstGeom prst="rect">
            <a:avLst/>
          </a:prstGeom>
          <a:noFill/>
        </p:spPr>
        <p:txBody>
          <a:bodyPr wrap="square" lIns="45720" tIns="27432" rIns="45720" bIns="27432" anchor="t">
            <a:spAutoFit/>
          </a:bodyPr>
          <a:lstStyle/>
          <a:p>
            <a:pPr algn="l"/>
            <a:r>
              <a:rPr sz="1300" b="0">
                <a:solidFill>
                  <a:srgbClr val="333333"/>
                </a:solidFill>
                <a:latin typeface="Calibri"/>
              </a:rPr>
              <a:t>MICS and budget-survey microdata averaged to districts.</a:t>
            </a:r>
          </a:p>
        </p:txBody>
      </p:sp>
      <p:sp>
        <p:nvSpPr>
          <p:cNvPr id="21" name="Rounded Rectangle 20"/>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23" name="TextBox 22"/>
          <p:cNvSpPr txBox="1"/>
          <p:nvPr/>
        </p:nvSpPr>
        <p:spPr>
          <a:xfrm>
            <a:off x="1709928" y="4041648"/>
            <a:ext cx="2209800" cy="685800"/>
          </a:xfrm>
          <a:prstGeom prst="rect">
            <a:avLst/>
          </a:prstGeom>
          <a:noFill/>
        </p:spPr>
        <p:txBody>
          <a:bodyPr wrap="square" lIns="45720" tIns="27432" rIns="45720" bIns="27432" anchor="ctr">
            <a:spAutoFit/>
          </a:bodyPr>
          <a:lstStyle/>
          <a:p>
            <a:pPr algn="l"/>
            <a:r>
              <a:rPr sz="1700" b="1">
                <a:solidFill>
                  <a:srgbClr val="1F4E79"/>
                </a:solidFill>
                <a:latin typeface="Calibri"/>
              </a:rPr>
              <a:t>4. Align in time</a:t>
            </a:r>
          </a:p>
        </p:txBody>
      </p:sp>
      <p:sp>
        <p:nvSpPr>
          <p:cNvPr id="24" name="TextBox 23"/>
          <p:cNvSpPr txBox="1"/>
          <p:nvPr/>
        </p:nvSpPr>
        <p:spPr>
          <a:xfrm>
            <a:off x="1024128" y="4773168"/>
            <a:ext cx="2849880" cy="1051560"/>
          </a:xfrm>
          <a:prstGeom prst="rect">
            <a:avLst/>
          </a:prstGeom>
          <a:noFill/>
        </p:spPr>
        <p:txBody>
          <a:bodyPr wrap="square" lIns="45720" tIns="27432" rIns="45720" bIns="27432" anchor="t">
            <a:spAutoFit/>
          </a:bodyPr>
          <a:lstStyle/>
          <a:p>
            <a:pPr algn="l"/>
            <a:r>
              <a:rPr sz="1300" b="0">
                <a:solidFill>
                  <a:srgbClr val="333333"/>
                </a:solidFill>
                <a:latin typeface="Calibri"/>
              </a:rPr>
              <a:t>Every layer at the survey year or the nearest year available.</a:t>
            </a:r>
          </a:p>
        </p:txBody>
      </p:sp>
      <p:sp>
        <p:nvSpPr>
          <p:cNvPr id="25" name="Chevron 24"/>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8" name="TextBox 27"/>
          <p:cNvSpPr txBox="1"/>
          <p:nvPr/>
        </p:nvSpPr>
        <p:spPr>
          <a:xfrm>
            <a:off x="5382768" y="4041648"/>
            <a:ext cx="2209800" cy="685800"/>
          </a:xfrm>
          <a:prstGeom prst="rect">
            <a:avLst/>
          </a:prstGeom>
          <a:noFill/>
        </p:spPr>
        <p:txBody>
          <a:bodyPr wrap="square" lIns="45720" tIns="27432" rIns="45720" bIns="27432" anchor="ctr">
            <a:spAutoFit/>
          </a:bodyPr>
          <a:lstStyle/>
          <a:p>
            <a:pPr algn="l"/>
            <a:r>
              <a:rPr sz="1700" b="1">
                <a:solidFill>
                  <a:srgbClr val="1F4E79"/>
                </a:solidFill>
                <a:latin typeface="Calibri"/>
              </a:rPr>
              <a:t>5. Open data only</a:t>
            </a:r>
          </a:p>
        </p:txBody>
      </p:sp>
      <p:sp>
        <p:nvSpPr>
          <p:cNvPr id="29" name="TextBox 28"/>
          <p:cNvSpPr txBox="1"/>
          <p:nvPr/>
        </p:nvSpPr>
        <p:spPr>
          <a:xfrm>
            <a:off x="4696968" y="4773168"/>
            <a:ext cx="2849880" cy="1051560"/>
          </a:xfrm>
          <a:prstGeom prst="rect">
            <a:avLst/>
          </a:prstGeom>
          <a:noFill/>
        </p:spPr>
        <p:txBody>
          <a:bodyPr wrap="square" lIns="45720" tIns="27432" rIns="45720" bIns="27432" anchor="t">
            <a:spAutoFit/>
          </a:bodyPr>
          <a:lstStyle/>
          <a:p>
            <a:pPr algn="l"/>
            <a:r>
              <a:rPr sz="1300" b="0">
                <a:solidFill>
                  <a:srgbClr val="333333"/>
                </a:solidFill>
                <a:latin typeface="Calibri"/>
              </a:rPr>
              <a:t>Headline models use open layers and public microdata.</a:t>
            </a:r>
          </a:p>
        </p:txBody>
      </p:sp>
      <p:sp>
        <p:nvSpPr>
          <p:cNvPr id="30" name="Chevron 29"/>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33" name="TextBox 32"/>
          <p:cNvSpPr txBox="1"/>
          <p:nvPr/>
        </p:nvSpPr>
        <p:spPr>
          <a:xfrm>
            <a:off x="9055608" y="4041648"/>
            <a:ext cx="2209800" cy="685800"/>
          </a:xfrm>
          <a:prstGeom prst="rect">
            <a:avLst/>
          </a:prstGeom>
          <a:noFill/>
        </p:spPr>
        <p:txBody>
          <a:bodyPr wrap="square" lIns="45720" tIns="27432" rIns="45720" bIns="27432" anchor="ctr">
            <a:spAutoFit/>
          </a:bodyPr>
          <a:lstStyle/>
          <a:p>
            <a:pPr algn="l"/>
            <a:r>
              <a:rPr sz="1700" b="1">
                <a:solidFill>
                  <a:srgbClr val="1F4E79"/>
                </a:solidFill>
                <a:latin typeface="Calibri"/>
              </a:rPr>
              <a:t>6. Rank-normalize and reduce</a:t>
            </a:r>
          </a:p>
        </p:txBody>
      </p:sp>
      <p:sp>
        <p:nvSpPr>
          <p:cNvPr id="34" name="TextBox 33"/>
          <p:cNvSpPr txBox="1"/>
          <p:nvPr/>
        </p:nvSpPr>
        <p:spPr>
          <a:xfrm>
            <a:off x="8369808" y="4773168"/>
            <a:ext cx="2849880" cy="1051560"/>
          </a:xfrm>
          <a:prstGeom prst="rect">
            <a:avLst/>
          </a:prstGeom>
          <a:noFill/>
        </p:spPr>
        <p:txBody>
          <a:bodyPr wrap="square" lIns="45720" tIns="27432" rIns="45720" bIns="27432" anchor="t">
            <a:spAutoFit/>
          </a:bodyPr>
          <a:lstStyle/>
          <a:p>
            <a:pPr algn="l"/>
            <a:r>
              <a:rPr sz="1300" b="0">
                <a:solidFill>
                  <a:srgbClr val="333333"/>
                </a:solidFill>
                <a:latin typeface="Calibri"/>
              </a:rPr>
              <a:t>Rank within country; each of the 29 domains to its leading components. Nothing chosen on the outcome.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Models and protocol</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18</a:t>
            </a:fld>
            <a:endParaRPr lang="en-BG"/>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Which algorithms did we compare?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19</a:t>
            </a:fld>
            <a:endParaRPr lang="en-BG"/>
          </a:p>
        </p:txBody>
      </p:sp>
      <p:sp>
        <p:nvSpPr>
          <p:cNvPr id="7" name="Rounded Rectangle 6"/>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book-open_white.png"/>
          <p:cNvPicPr>
            <a:picLocks noChangeAspect="1"/>
          </p:cNvPicPr>
          <p:nvPr/>
        </p:nvPicPr>
        <p:blipFill>
          <a:blip r:embed="rId3"/>
          <a:stretch>
            <a:fillRect/>
          </a:stretch>
        </p:blipFill>
        <p:spPr>
          <a:xfrm>
            <a:off x="1024128" y="1810512"/>
            <a:ext cx="452628" cy="402336"/>
          </a:xfrm>
          <a:prstGeom prst="rect">
            <a:avLst/>
          </a:prstGeom>
        </p:spPr>
      </p:pic>
      <p:sp>
        <p:nvSpPr>
          <p:cNvPr id="10" name="TextBox 9"/>
          <p:cNvSpPr txBox="1"/>
          <p:nvPr/>
        </p:nvSpPr>
        <p:spPr>
          <a:xfrm>
            <a:off x="1527048" y="1691640"/>
            <a:ext cx="4251960" cy="640080"/>
          </a:xfrm>
          <a:prstGeom prst="rect">
            <a:avLst/>
          </a:prstGeom>
          <a:noFill/>
        </p:spPr>
        <p:txBody>
          <a:bodyPr wrap="square" lIns="45720" tIns="27432" rIns="45720" bIns="27432" anchor="ctr">
            <a:spAutoFit/>
          </a:bodyPr>
          <a:lstStyle/>
          <a:p>
            <a:pPr algn="l"/>
            <a:r>
              <a:rPr sz="1800" b="1">
                <a:solidFill>
                  <a:srgbClr val="FFFFFF"/>
                </a:solidFill>
                <a:latin typeface="Calibri"/>
              </a:rPr>
              <a:t>The candidate library</a:t>
            </a:r>
          </a:p>
        </p:txBody>
      </p:sp>
      <p:pic>
        <p:nvPicPr>
          <p:cNvPr id="11" name="Picture 10" descr="minus_blue.png"/>
          <p:cNvPicPr>
            <a:picLocks noChangeAspect="1"/>
          </p:cNvPicPr>
          <p:nvPr/>
        </p:nvPicPr>
        <p:blipFill>
          <a:blip r:embed="rId4"/>
          <a:stretch>
            <a:fillRect/>
          </a:stretch>
        </p:blipFill>
        <p:spPr>
          <a:xfrm>
            <a:off x="1069848" y="2594610"/>
            <a:ext cx="440055" cy="502920"/>
          </a:xfrm>
          <a:prstGeom prst="rect">
            <a:avLst/>
          </a:prstGeom>
        </p:spPr>
      </p:pic>
      <p:sp>
        <p:nvSpPr>
          <p:cNvPr id="12" name="TextBox 11"/>
          <p:cNvSpPr txBox="1"/>
          <p:nvPr/>
        </p:nvSpPr>
        <p:spPr>
          <a:xfrm>
            <a:off x="1755648" y="2423160"/>
            <a:ext cx="3977640" cy="845820"/>
          </a:xfrm>
          <a:prstGeom prst="rect">
            <a:avLst/>
          </a:prstGeom>
          <a:noFill/>
        </p:spPr>
        <p:txBody>
          <a:bodyPr wrap="square" lIns="45720" tIns="27432" rIns="45720" bIns="27432" anchor="ctr">
            <a:spAutoFit/>
          </a:bodyPr>
          <a:lstStyle/>
          <a:p>
            <a:pPr algn="l"/>
            <a:r>
              <a:rPr sz="1500" b="1">
                <a:solidFill>
                  <a:srgbClr val="1F4E79"/>
                </a:solidFill>
                <a:latin typeface="Calibri"/>
              </a:rPr>
              <a:t>Simple mean and penalized regressions</a:t>
            </a:r>
          </a:p>
          <a:p>
            <a:pPr algn="l">
              <a:spcBef>
                <a:spcPts val="300"/>
              </a:spcBef>
            </a:pPr>
            <a:r>
              <a:rPr sz="1200" b="0">
                <a:solidFill>
                  <a:srgbClr val="333333"/>
                </a:solidFill>
                <a:latin typeface="Calibri"/>
              </a:rPr>
              <a:t>The floor, and the elastic net on domain components or on all columns.</a:t>
            </a:r>
          </a:p>
        </p:txBody>
      </p:sp>
      <p:pic>
        <p:nvPicPr>
          <p:cNvPr id="13" name="Picture 12" descr="tree_blue.png"/>
          <p:cNvPicPr>
            <a:picLocks noChangeAspect="1"/>
          </p:cNvPicPr>
          <p:nvPr/>
        </p:nvPicPr>
        <p:blipFill>
          <a:blip r:embed="rId5"/>
          <a:stretch>
            <a:fillRect/>
          </a:stretch>
        </p:blipFill>
        <p:spPr>
          <a:xfrm>
            <a:off x="1069848" y="3440430"/>
            <a:ext cx="440055" cy="502920"/>
          </a:xfrm>
          <a:prstGeom prst="rect">
            <a:avLst/>
          </a:prstGeom>
        </p:spPr>
      </p:pic>
      <p:sp>
        <p:nvSpPr>
          <p:cNvPr id="14" name="TextBox 13"/>
          <p:cNvSpPr txBox="1"/>
          <p:nvPr/>
        </p:nvSpPr>
        <p:spPr>
          <a:xfrm>
            <a:off x="1755648" y="3268980"/>
            <a:ext cx="3977640" cy="845820"/>
          </a:xfrm>
          <a:prstGeom prst="rect">
            <a:avLst/>
          </a:prstGeom>
          <a:noFill/>
        </p:spPr>
        <p:txBody>
          <a:bodyPr wrap="square" lIns="45720" tIns="27432" rIns="45720" bIns="27432" anchor="ctr">
            <a:spAutoFit/>
          </a:bodyPr>
          <a:lstStyle/>
          <a:p>
            <a:pPr algn="l"/>
            <a:r>
              <a:rPr sz="1500" b="1">
                <a:solidFill>
                  <a:srgbClr val="1F4E79"/>
                </a:solidFill>
                <a:latin typeface="Calibri"/>
              </a:rPr>
              <a:t>Random forest, gradient boosting, additive trees</a:t>
            </a:r>
          </a:p>
          <a:p>
            <a:pPr algn="l">
              <a:spcBef>
                <a:spcPts val="300"/>
              </a:spcBef>
            </a:pPr>
            <a:r>
              <a:rPr sz="1200" b="0">
                <a:solidFill>
                  <a:srgbClr val="333333"/>
                </a:solidFill>
                <a:latin typeface="Calibri"/>
              </a:rPr>
              <a:t>Flexible learners that can find interactions.</a:t>
            </a:r>
          </a:p>
        </p:txBody>
      </p:sp>
      <p:pic>
        <p:nvPicPr>
          <p:cNvPr id="15" name="Picture 14" descr="map-location-dot_blue.png"/>
          <p:cNvPicPr>
            <a:picLocks noChangeAspect="1"/>
          </p:cNvPicPr>
          <p:nvPr/>
        </p:nvPicPr>
        <p:blipFill>
          <a:blip r:embed="rId6"/>
          <a:stretch>
            <a:fillRect/>
          </a:stretch>
        </p:blipFill>
        <p:spPr>
          <a:xfrm>
            <a:off x="1069848" y="4286250"/>
            <a:ext cx="565785" cy="502920"/>
          </a:xfrm>
          <a:prstGeom prst="rect">
            <a:avLst/>
          </a:prstGeom>
        </p:spPr>
      </p:pic>
      <p:sp>
        <p:nvSpPr>
          <p:cNvPr id="16" name="TextBox 15"/>
          <p:cNvSpPr txBox="1"/>
          <p:nvPr/>
        </p:nvSpPr>
        <p:spPr>
          <a:xfrm>
            <a:off x="1755648" y="4114800"/>
            <a:ext cx="3977640" cy="845820"/>
          </a:xfrm>
          <a:prstGeom prst="rect">
            <a:avLst/>
          </a:prstGeom>
          <a:noFill/>
        </p:spPr>
        <p:txBody>
          <a:bodyPr wrap="square" lIns="45720" tIns="27432" rIns="45720" bIns="27432" anchor="ctr">
            <a:spAutoFit/>
          </a:bodyPr>
          <a:lstStyle/>
          <a:p>
            <a:pPr algn="l"/>
            <a:r>
              <a:rPr sz="1500" b="1">
                <a:solidFill>
                  <a:srgbClr val="1F4E79"/>
                </a:solidFill>
                <a:latin typeface="Calibri"/>
              </a:rPr>
              <a:t>Spatial smoother and geostatistical model</a:t>
            </a:r>
          </a:p>
          <a:p>
            <a:pPr algn="l">
              <a:spcBef>
                <a:spcPts val="300"/>
              </a:spcBef>
            </a:pPr>
            <a:r>
              <a:rPr sz="1200" b="0">
                <a:solidFill>
                  <a:srgbClr val="333333"/>
                </a:solidFill>
                <a:latin typeface="Calibri"/>
              </a:rPr>
              <a:t>Neighbors only, or a spatial field plus covariates (the DHS Program's method).</a:t>
            </a:r>
          </a:p>
        </p:txBody>
      </p:sp>
      <p:pic>
        <p:nvPicPr>
          <p:cNvPr id="17" name="Picture 16" descr="scale-balanced_blue.png"/>
          <p:cNvPicPr>
            <a:picLocks noChangeAspect="1"/>
          </p:cNvPicPr>
          <p:nvPr/>
        </p:nvPicPr>
        <p:blipFill>
          <a:blip r:embed="rId7"/>
          <a:stretch>
            <a:fillRect/>
          </a:stretch>
        </p:blipFill>
        <p:spPr>
          <a:xfrm>
            <a:off x="1069848" y="5132070"/>
            <a:ext cx="628650" cy="502920"/>
          </a:xfrm>
          <a:prstGeom prst="rect">
            <a:avLst/>
          </a:prstGeom>
        </p:spPr>
      </p:pic>
      <p:sp>
        <p:nvSpPr>
          <p:cNvPr id="18" name="TextBox 17"/>
          <p:cNvSpPr txBox="1"/>
          <p:nvPr/>
        </p:nvSpPr>
        <p:spPr>
          <a:xfrm>
            <a:off x="1755648" y="4960620"/>
            <a:ext cx="3977640" cy="845820"/>
          </a:xfrm>
          <a:prstGeom prst="rect">
            <a:avLst/>
          </a:prstGeom>
          <a:noFill/>
        </p:spPr>
        <p:txBody>
          <a:bodyPr wrap="square" lIns="45720" tIns="27432" rIns="45720" bIns="27432" anchor="ctr">
            <a:spAutoFit/>
          </a:bodyPr>
          <a:lstStyle/>
          <a:p>
            <a:pPr algn="l"/>
            <a:r>
              <a:rPr sz="1500" b="1">
                <a:solidFill>
                  <a:srgbClr val="1F4E79"/>
                </a:solidFill>
                <a:latin typeface="Calibri"/>
              </a:rPr>
              <a:t>Principal-component index</a:t>
            </a:r>
          </a:p>
          <a:p>
            <a:pPr algn="l">
              <a:spcBef>
                <a:spcPts val="300"/>
              </a:spcBef>
            </a:pPr>
            <a:r>
              <a:rPr sz="1200" b="0">
                <a:solidFill>
                  <a:srgbClr val="333333"/>
                </a:solidFill>
                <a:latin typeface="Calibri"/>
              </a:rPr>
              <a:t>Domain components weighted by their training-fold rank correlation; nothing tuned.</a:t>
            </a:r>
          </a:p>
        </p:txBody>
      </p:sp>
      <p:sp>
        <p:nvSpPr>
          <p:cNvPr id="19" name="Rounded Rectangle 18"/>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check-double_white.png"/>
          <p:cNvPicPr>
            <a:picLocks noChangeAspect="1"/>
          </p:cNvPicPr>
          <p:nvPr/>
        </p:nvPicPr>
        <p:blipFill>
          <a:blip r:embed="rId8"/>
          <a:stretch>
            <a:fillRect/>
          </a:stretch>
        </p:blipFill>
        <p:spPr>
          <a:xfrm>
            <a:off x="6510528" y="1810512"/>
            <a:ext cx="352044" cy="402336"/>
          </a:xfrm>
          <a:prstGeom prst="rect">
            <a:avLst/>
          </a:prstGeom>
        </p:spPr>
      </p:pic>
      <p:sp>
        <p:nvSpPr>
          <p:cNvPr id="22" name="TextBox 21"/>
          <p:cNvSpPr txBox="1"/>
          <p:nvPr/>
        </p:nvSpPr>
        <p:spPr>
          <a:xfrm>
            <a:off x="7013448" y="1691640"/>
            <a:ext cx="4251960" cy="640080"/>
          </a:xfrm>
          <a:prstGeom prst="rect">
            <a:avLst/>
          </a:prstGeom>
          <a:noFill/>
        </p:spPr>
        <p:txBody>
          <a:bodyPr wrap="square" lIns="45720" tIns="27432" rIns="45720" bIns="27432" anchor="ctr">
            <a:spAutoFit/>
          </a:bodyPr>
          <a:lstStyle/>
          <a:p>
            <a:pPr algn="l"/>
            <a:r>
              <a:rPr sz="1800" b="1">
                <a:solidFill>
                  <a:srgbClr val="FFFFFF"/>
                </a:solidFill>
                <a:latin typeface="Calibri"/>
              </a:rPr>
              <a:t>How they were compared, and who won</a:t>
            </a:r>
          </a:p>
        </p:txBody>
      </p:sp>
      <p:pic>
        <p:nvPicPr>
          <p:cNvPr id="23" name="Picture 22" descr="shuffle_blue.png"/>
          <p:cNvPicPr>
            <a:picLocks noChangeAspect="1"/>
          </p:cNvPicPr>
          <p:nvPr/>
        </p:nvPicPr>
        <p:blipFill>
          <a:blip r:embed="rId9"/>
          <a:stretch>
            <a:fillRect/>
          </a:stretch>
        </p:blipFill>
        <p:spPr>
          <a:xfrm>
            <a:off x="6556248" y="2735580"/>
            <a:ext cx="502920" cy="502920"/>
          </a:xfrm>
          <a:prstGeom prst="rect">
            <a:avLst/>
          </a:prstGeom>
        </p:spPr>
      </p:pic>
      <p:sp>
        <p:nvSpPr>
          <p:cNvPr id="24" name="TextBox 23"/>
          <p:cNvSpPr txBox="1"/>
          <p:nvPr/>
        </p:nvSpPr>
        <p:spPr>
          <a:xfrm>
            <a:off x="7242048" y="2423160"/>
            <a:ext cx="3977640" cy="1127760"/>
          </a:xfrm>
          <a:prstGeom prst="rect">
            <a:avLst/>
          </a:prstGeom>
          <a:noFill/>
        </p:spPr>
        <p:txBody>
          <a:bodyPr wrap="square" lIns="45720" tIns="27432" rIns="45720" bIns="27432" anchor="ctr">
            <a:spAutoFit/>
          </a:bodyPr>
          <a:lstStyle/>
          <a:p>
            <a:pPr algn="l"/>
            <a:r>
              <a:rPr sz="1500" b="1">
                <a:solidFill>
                  <a:srgbClr val="1F4E79"/>
                </a:solidFill>
                <a:latin typeface="Calibri"/>
              </a:rPr>
              <a:t>Same honest folds for every algorithm</a:t>
            </a:r>
          </a:p>
          <a:p>
            <a:pPr algn="l">
              <a:spcBef>
                <a:spcPts val="300"/>
              </a:spcBef>
            </a:pPr>
            <a:r>
              <a:rPr sz="1200" b="0">
                <a:solidFill>
                  <a:srgbClr val="333333"/>
                </a:solidFill>
                <a:latin typeface="Calibri"/>
              </a:rPr>
              <a:t>Cut by district, region and country; no district split between training and test.</a:t>
            </a:r>
          </a:p>
        </p:txBody>
      </p:sp>
      <p:pic>
        <p:nvPicPr>
          <p:cNvPr id="25" name="Picture 24" descr="trophy_blue.png"/>
          <p:cNvPicPr>
            <a:picLocks noChangeAspect="1"/>
          </p:cNvPicPr>
          <p:nvPr/>
        </p:nvPicPr>
        <p:blipFill>
          <a:blip r:embed="rId10"/>
          <a:stretch>
            <a:fillRect/>
          </a:stretch>
        </p:blipFill>
        <p:spPr>
          <a:xfrm>
            <a:off x="6556248" y="3863340"/>
            <a:ext cx="565785" cy="502920"/>
          </a:xfrm>
          <a:prstGeom prst="rect">
            <a:avLst/>
          </a:prstGeom>
        </p:spPr>
      </p:pic>
      <p:sp>
        <p:nvSpPr>
          <p:cNvPr id="26" name="TextBox 25"/>
          <p:cNvSpPr txBox="1"/>
          <p:nvPr/>
        </p:nvSpPr>
        <p:spPr>
          <a:xfrm>
            <a:off x="7242048" y="3550920"/>
            <a:ext cx="3977640" cy="1127760"/>
          </a:xfrm>
          <a:prstGeom prst="rect">
            <a:avLst/>
          </a:prstGeom>
          <a:noFill/>
        </p:spPr>
        <p:txBody>
          <a:bodyPr wrap="square" lIns="45720" tIns="27432" rIns="45720" bIns="27432" anchor="ctr">
            <a:spAutoFit/>
          </a:bodyPr>
          <a:lstStyle/>
          <a:p>
            <a:pPr algn="l"/>
            <a:r>
              <a:rPr sz="1500" b="1">
                <a:solidFill>
                  <a:srgbClr val="1F4E79"/>
                </a:solidFill>
                <a:latin typeface="Calibri"/>
              </a:rPr>
              <a:t>The index wins: 0.29 against 0.28 for the ensemble</a:t>
            </a:r>
          </a:p>
          <a:p>
            <a:pPr algn="l">
              <a:spcBef>
                <a:spcPts val="300"/>
              </a:spcBef>
            </a:pPr>
            <a:r>
              <a:rPr sz="1200" b="0">
                <a:solidFill>
                  <a:srgbClr val="333333"/>
                </a:solidFill>
                <a:latin typeface="Calibri"/>
              </a:rPr>
              <a:t>Random forest 0.27; the smoother ties inside a country and cannot cross a border.</a:t>
            </a:r>
          </a:p>
        </p:txBody>
      </p:sp>
      <p:pic>
        <p:nvPicPr>
          <p:cNvPr id="27" name="Picture 26" descr="circle-info_blue.png"/>
          <p:cNvPicPr>
            <a:picLocks noChangeAspect="1"/>
          </p:cNvPicPr>
          <p:nvPr/>
        </p:nvPicPr>
        <p:blipFill>
          <a:blip r:embed="rId11"/>
          <a:stretch>
            <a:fillRect/>
          </a:stretch>
        </p:blipFill>
        <p:spPr>
          <a:xfrm>
            <a:off x="6556248" y="4991100"/>
            <a:ext cx="502920" cy="502920"/>
          </a:xfrm>
          <a:prstGeom prst="rect">
            <a:avLst/>
          </a:prstGeom>
        </p:spPr>
      </p:pic>
      <p:sp>
        <p:nvSpPr>
          <p:cNvPr id="28" name="TextBox 27"/>
          <p:cNvSpPr txBox="1"/>
          <p:nvPr/>
        </p:nvSpPr>
        <p:spPr>
          <a:xfrm>
            <a:off x="7242048" y="4678680"/>
            <a:ext cx="3977640" cy="1127760"/>
          </a:xfrm>
          <a:prstGeom prst="rect">
            <a:avLst/>
          </a:prstGeom>
          <a:noFill/>
        </p:spPr>
        <p:txBody>
          <a:bodyPr wrap="square" lIns="45720" tIns="27432" rIns="45720" bIns="27432" anchor="ctr">
            <a:spAutoFit/>
          </a:bodyPr>
          <a:lstStyle/>
          <a:p>
            <a:pPr algn="l"/>
            <a:r>
              <a:rPr sz="1500" b="1">
                <a:solidFill>
                  <a:srgbClr val="1F4E79"/>
                </a:solidFill>
                <a:latin typeface="Calibri"/>
              </a:rPr>
              <a:t>Why the simplest wins</a:t>
            </a:r>
          </a:p>
          <a:p>
            <a:pPr algn="l">
              <a:spcBef>
                <a:spcPts val="300"/>
              </a:spcBef>
            </a:pPr>
            <a:r>
              <a:rPr sz="1200" b="0">
                <a:solidFill>
                  <a:srgbClr val="333333"/>
                </a:solidFill>
                <a:latin typeface="Calibri"/>
              </a:rPr>
              <a:t>With 14 to 87 districts, every algorithm that tunes a parameter shrinks toward the constant; the index has none.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do we choose among algorithms?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20</a:t>
            </a:fld>
            <a:endParaRPr lang="en-BG"/>
          </a:p>
        </p:txBody>
      </p:sp>
      <p:pic>
        <p:nvPicPr>
          <p:cNvPr id="7" name="Picture 6"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8" name="TextBox 7"/>
          <p:cNvSpPr txBox="1"/>
          <p:nvPr/>
        </p:nvSpPr>
        <p:spPr>
          <a:xfrm>
            <a:off x="1984248" y="1691640"/>
            <a:ext cx="6812280" cy="914400"/>
          </a:xfrm>
          <a:prstGeom prst="rect">
            <a:avLst/>
          </a:prstGeom>
          <a:noFill/>
        </p:spPr>
        <p:txBody>
          <a:bodyPr wrap="square" lIns="45720" tIns="27432" rIns="45720" bIns="27432" anchor="ctr">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9" name="Picture 8" descr="trophy_blue.png"/>
          <p:cNvPicPr>
            <a:picLocks noChangeAspect="1"/>
          </p:cNvPicPr>
          <p:nvPr/>
        </p:nvPicPr>
        <p:blipFill>
          <a:blip r:embed="rId4"/>
          <a:stretch>
            <a:fillRect/>
          </a:stretch>
        </p:blipFill>
        <p:spPr>
          <a:xfrm>
            <a:off x="932688" y="2880360"/>
            <a:ext cx="822960" cy="731520"/>
          </a:xfrm>
          <a:prstGeom prst="rect">
            <a:avLst/>
          </a:prstGeom>
        </p:spPr>
      </p:pic>
      <p:sp>
        <p:nvSpPr>
          <p:cNvPr id="10" name="TextBox 9"/>
          <p:cNvSpPr txBox="1"/>
          <p:nvPr/>
        </p:nvSpPr>
        <p:spPr>
          <a:xfrm>
            <a:off x="1984248" y="2788920"/>
            <a:ext cx="6812280" cy="914400"/>
          </a:xfrm>
          <a:prstGeom prst="rect">
            <a:avLst/>
          </a:prstGeom>
          <a:noFill/>
        </p:spPr>
        <p:txBody>
          <a:bodyPr wrap="square" lIns="45720" tIns="27432" rIns="45720" bIns="27432" anchor="ctr">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11" name="Picture 10" descr="shuffle_blue.png"/>
          <p:cNvPicPr>
            <a:picLocks noChangeAspect="1"/>
          </p:cNvPicPr>
          <p:nvPr/>
        </p:nvPicPr>
        <p:blipFill>
          <a:blip r:embed="rId5"/>
          <a:stretch>
            <a:fillRect/>
          </a:stretch>
        </p:blipFill>
        <p:spPr>
          <a:xfrm>
            <a:off x="932688" y="3977640"/>
            <a:ext cx="731520" cy="731520"/>
          </a:xfrm>
          <a:prstGeom prst="rect">
            <a:avLst/>
          </a:prstGeom>
        </p:spPr>
      </p:pic>
      <p:sp>
        <p:nvSpPr>
          <p:cNvPr id="12" name="TextBox 11"/>
          <p:cNvSpPr txBox="1"/>
          <p:nvPr/>
        </p:nvSpPr>
        <p:spPr>
          <a:xfrm>
            <a:off x="1984248" y="3886200"/>
            <a:ext cx="6812280" cy="914400"/>
          </a:xfrm>
          <a:prstGeom prst="rect">
            <a:avLst/>
          </a:prstGeom>
          <a:noFill/>
        </p:spPr>
        <p:txBody>
          <a:bodyPr wrap="square" lIns="45720" tIns="27432" rIns="45720" bIns="27432" anchor="ctr">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13" name="Picture 12"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4" name="TextBox 13"/>
          <p:cNvSpPr txBox="1"/>
          <p:nvPr/>
        </p:nvSpPr>
        <p:spPr>
          <a:xfrm>
            <a:off x="1984248" y="4983480"/>
            <a:ext cx="6812280" cy="914400"/>
          </a:xfrm>
          <a:prstGeom prst="rect">
            <a:avLst/>
          </a:prstGeom>
          <a:noFill/>
        </p:spPr>
        <p:txBody>
          <a:bodyPr wrap="square" lIns="45720" tIns="27432" rIns="45720" bIns="27432" anchor="ctr">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penalized regressions, random forest, gradient boosting, additive trees, geostatistical models, and the principal-component index that wins.</a:t>
            </a:r>
          </a:p>
        </p:txBody>
      </p:sp>
      <p:pic>
        <p:nvPicPr>
          <p:cNvPr id="15" name="Picture 14" descr="ensemble_vfold.png"/>
          <p:cNvPicPr>
            <a:picLocks noChangeAspect="1"/>
          </p:cNvPicPr>
          <p:nvPr/>
        </p:nvPicPr>
        <p:blipFill>
          <a:blip r:embed="rId7"/>
          <a:stretch>
            <a:fillRect/>
          </a:stretch>
        </p:blipFill>
        <p:spPr>
          <a:xfrm>
            <a:off x="9162288" y="1783080"/>
            <a:ext cx="2194560" cy="35323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does the best-performing model work?</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21</a:t>
            </a:fld>
            <a:endParaRPr lang="en-BG"/>
          </a:p>
        </p:txBody>
      </p:sp>
      <p:sp>
        <p:nvSpPr>
          <p:cNvPr id="7" name="Rounded Rectangle 6"/>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9" name="TextBox 8"/>
          <p:cNvSpPr txBox="1"/>
          <p:nvPr/>
        </p:nvSpPr>
        <p:spPr>
          <a:xfrm>
            <a:off x="950976" y="2468880"/>
            <a:ext cx="2032254" cy="731520"/>
          </a:xfrm>
          <a:prstGeom prst="rect">
            <a:avLst/>
          </a:prstGeom>
          <a:noFill/>
        </p:spPr>
        <p:txBody>
          <a:bodyPr wrap="square" lIns="45720" tIns="27432" rIns="45720" bIns="27432" anchor="ctr">
            <a:spAutoFit/>
          </a:bodyPr>
          <a:lstStyle/>
          <a:p>
            <a:pPr algn="ctr"/>
            <a:r>
              <a:rPr sz="1500" b="1">
                <a:solidFill>
                  <a:srgbClr val="1F4E79"/>
                </a:solidFill>
                <a:latin typeface="Calibri"/>
              </a:rPr>
              <a:t>1. Rank-normalize within country</a:t>
            </a:r>
          </a:p>
        </p:txBody>
      </p:sp>
      <p:sp>
        <p:nvSpPr>
          <p:cNvPr id="10" name="TextBox 9"/>
          <p:cNvSpPr txBox="1"/>
          <p:nvPr/>
        </p:nvSpPr>
        <p:spPr>
          <a:xfrm>
            <a:off x="978408" y="3246120"/>
            <a:ext cx="1977390" cy="1645920"/>
          </a:xfrm>
          <a:prstGeom prst="rect">
            <a:avLst/>
          </a:prstGeom>
          <a:noFill/>
        </p:spPr>
        <p:txBody>
          <a:bodyPr wrap="square" lIns="45720" tIns="27432" rIns="45720" bIns="27432" anchor="t">
            <a:spAutoFit/>
          </a:bodyPr>
          <a:lstStyle/>
          <a:p>
            <a:pPr algn="l"/>
            <a:r>
              <a:rPr sz="1250" b="0">
                <a:solidFill>
                  <a:srgbClr val="333333"/>
                </a:solidFill>
                <a:latin typeface="Calibri"/>
              </a:rPr>
              <a:t>Every predictor becomes a within-country rank, so a level offset between surveys cannot act as signal.</a:t>
            </a:r>
          </a:p>
        </p:txBody>
      </p:sp>
      <p:sp>
        <p:nvSpPr>
          <p:cNvPr id="11" name="Chevron 10"/>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4" name="TextBox 13"/>
          <p:cNvSpPr txBox="1"/>
          <p:nvPr/>
        </p:nvSpPr>
        <p:spPr>
          <a:xfrm>
            <a:off x="3705606" y="2468880"/>
            <a:ext cx="2032254" cy="731520"/>
          </a:xfrm>
          <a:prstGeom prst="rect">
            <a:avLst/>
          </a:prstGeom>
          <a:noFill/>
        </p:spPr>
        <p:txBody>
          <a:bodyPr wrap="square" lIns="45720" tIns="27432" rIns="45720" bIns="27432" anchor="ctr">
            <a:spAutoFit/>
          </a:bodyPr>
          <a:lstStyle/>
          <a:p>
            <a:pPr algn="ctr"/>
            <a:r>
              <a:rPr sz="1500" b="1">
                <a:solidFill>
                  <a:srgbClr val="1F4E79"/>
                </a:solidFill>
                <a:latin typeface="Calibri"/>
              </a:rPr>
              <a:t>2. Domain components</a:t>
            </a:r>
          </a:p>
        </p:txBody>
      </p:sp>
      <p:sp>
        <p:nvSpPr>
          <p:cNvPr id="15" name="TextBox 14"/>
          <p:cNvSpPr txBox="1"/>
          <p:nvPr/>
        </p:nvSpPr>
        <p:spPr>
          <a:xfrm>
            <a:off x="3733038" y="3246120"/>
            <a:ext cx="1977390" cy="1645920"/>
          </a:xfrm>
          <a:prstGeom prst="rect">
            <a:avLst/>
          </a:prstGeom>
          <a:noFill/>
        </p:spPr>
        <p:txBody>
          <a:bodyPr wrap="square" lIns="45720" tIns="27432" rIns="45720" bIns="27432" anchor="t">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6" name="Chevron 15"/>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9" name="TextBox 18"/>
          <p:cNvSpPr txBox="1"/>
          <p:nvPr/>
        </p:nvSpPr>
        <p:spPr>
          <a:xfrm>
            <a:off x="6460236" y="2468880"/>
            <a:ext cx="2032254" cy="731520"/>
          </a:xfrm>
          <a:prstGeom prst="rect">
            <a:avLst/>
          </a:prstGeom>
          <a:noFill/>
        </p:spPr>
        <p:txBody>
          <a:bodyPr wrap="square" lIns="45720" tIns="27432" rIns="45720" bIns="27432" anchor="ctr">
            <a:spAutoFit/>
          </a:bodyPr>
          <a:lstStyle/>
          <a:p>
            <a:pPr algn="ctr"/>
            <a:r>
              <a:rPr sz="1500" b="1">
                <a:solidFill>
                  <a:srgbClr val="1F4E79"/>
                </a:solidFill>
                <a:latin typeface="Calibri"/>
              </a:rPr>
              <a:t>3. Weight by rank correlation</a:t>
            </a:r>
          </a:p>
        </p:txBody>
      </p:sp>
      <p:sp>
        <p:nvSpPr>
          <p:cNvPr id="20" name="TextBox 19"/>
          <p:cNvSpPr txBox="1"/>
          <p:nvPr/>
        </p:nvSpPr>
        <p:spPr>
          <a:xfrm>
            <a:off x="6487668" y="3246120"/>
            <a:ext cx="1977390" cy="1645920"/>
          </a:xfrm>
          <a:prstGeom prst="rect">
            <a:avLst/>
          </a:prstGeom>
          <a:noFill/>
        </p:spPr>
        <p:txBody>
          <a:bodyPr wrap="square" lIns="45720" tIns="27432" rIns="45720" bIns="27432" anchor="t">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21" name="Chevron 20"/>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plus_blue.png"/>
          <p:cNvPicPr>
            <a:picLocks noChangeAspect="1"/>
          </p:cNvPicPr>
          <p:nvPr/>
        </p:nvPicPr>
        <p:blipFill>
          <a:blip r:embed="rId6"/>
          <a:stretch>
            <a:fillRect/>
          </a:stretch>
        </p:blipFill>
        <p:spPr>
          <a:xfrm>
            <a:off x="9956673" y="1874520"/>
            <a:ext cx="480060" cy="548640"/>
          </a:xfrm>
          <a:prstGeom prst="rect">
            <a:avLst/>
          </a:prstGeom>
        </p:spPr>
      </p:pic>
      <p:sp>
        <p:nvSpPr>
          <p:cNvPr id="24" name="TextBox 23"/>
          <p:cNvSpPr txBox="1"/>
          <p:nvPr/>
        </p:nvSpPr>
        <p:spPr>
          <a:xfrm>
            <a:off x="9214866" y="2468880"/>
            <a:ext cx="2032254" cy="731520"/>
          </a:xfrm>
          <a:prstGeom prst="rect">
            <a:avLst/>
          </a:prstGeom>
          <a:noFill/>
        </p:spPr>
        <p:txBody>
          <a:bodyPr wrap="square" lIns="45720" tIns="27432" rIns="45720" bIns="27432" anchor="ctr">
            <a:spAutoFit/>
          </a:bodyPr>
          <a:lstStyle/>
          <a:p>
            <a:pPr algn="ctr"/>
            <a:r>
              <a:rPr sz="1500" b="1">
                <a:solidFill>
                  <a:srgbClr val="1F4E79"/>
                </a:solidFill>
                <a:latin typeface="Calibri"/>
              </a:rPr>
              <a:t>4. Sum and rescale</a:t>
            </a:r>
          </a:p>
        </p:txBody>
      </p:sp>
      <p:sp>
        <p:nvSpPr>
          <p:cNvPr id="25" name="TextBox 24"/>
          <p:cNvSpPr txBox="1"/>
          <p:nvPr/>
        </p:nvSpPr>
        <p:spPr>
          <a:xfrm>
            <a:off x="9242298" y="3246120"/>
            <a:ext cx="1977390" cy="1645920"/>
          </a:xfrm>
          <a:prstGeom prst="rect">
            <a:avLst/>
          </a:prstGeom>
          <a:noFill/>
        </p:spPr>
        <p:txBody>
          <a:bodyPr wrap="square" lIns="45720" tIns="27432" rIns="45720" bIns="27432" anchor="t">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Three levels of prediction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22</a:t>
            </a:fld>
            <a:endParaRPr lang="en-BG"/>
          </a:p>
        </p:txBody>
      </p:sp>
      <p:sp>
        <p:nvSpPr>
          <p:cNvPr id="7" name="Rounded Rectangle 6"/>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9" name="TextBox 8"/>
          <p:cNvSpPr txBox="1"/>
          <p:nvPr/>
        </p:nvSpPr>
        <p:spPr>
          <a:xfrm>
            <a:off x="93268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District in-fill</a:t>
            </a:r>
          </a:p>
        </p:txBody>
      </p:sp>
      <p:sp>
        <p:nvSpPr>
          <p:cNvPr id="10" name="TextBox 9"/>
          <p:cNvSpPr txBox="1"/>
          <p:nvPr/>
        </p:nvSpPr>
        <p:spPr>
          <a:xfrm>
            <a:off x="111556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Question:</a:t>
            </a:r>
            <a:r>
              <a:rPr sz="1400">
                <a:solidFill>
                  <a:srgbClr val="333333"/>
                </a:solidFill>
                <a:latin typeface="Calibri"/>
              </a:rPr>
              <a:t> a district the survey missed, in a country it visited</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Compared with:</a:t>
            </a:r>
            <a:r>
              <a:rPr sz="1400">
                <a:solidFill>
                  <a:srgbClr val="333333"/>
                </a:solidFill>
                <a:latin typeface="Calibri"/>
              </a:rPr>
              <a:t> the region's average (without that district); a spatial smoother</a:t>
            </a:r>
          </a:p>
        </p:txBody>
      </p:sp>
      <p:sp>
        <p:nvSpPr>
          <p:cNvPr id="11" name="Rounded Rectangle 10"/>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13" name="TextBox 12"/>
          <p:cNvSpPr txBox="1"/>
          <p:nvPr/>
        </p:nvSpPr>
        <p:spPr>
          <a:xfrm>
            <a:off x="457504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Region extrapolation</a:t>
            </a:r>
          </a:p>
        </p:txBody>
      </p:sp>
      <p:sp>
        <p:nvSpPr>
          <p:cNvPr id="14" name="TextBox 13"/>
          <p:cNvSpPr txBox="1"/>
          <p:nvPr/>
        </p:nvSpPr>
        <p:spPr>
          <a:xfrm>
            <a:off x="475792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Compared with:</a:t>
            </a:r>
            <a:r>
              <a:rPr sz="1400">
                <a:solidFill>
                  <a:srgbClr val="333333"/>
                </a:solidFill>
                <a:latin typeface="Calibri"/>
              </a:rPr>
              <a:t> a spatial smoother</a:t>
            </a:r>
          </a:p>
        </p:txBody>
      </p:sp>
      <p:sp>
        <p:nvSpPr>
          <p:cNvPr id="15" name="Rounded Rectangle 14"/>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7" name="TextBox 16"/>
          <p:cNvSpPr txBox="1"/>
          <p:nvPr/>
        </p:nvSpPr>
        <p:spPr>
          <a:xfrm>
            <a:off x="821740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Cross-country transport</a:t>
            </a:r>
          </a:p>
        </p:txBody>
      </p:sp>
      <p:sp>
        <p:nvSpPr>
          <p:cNvPr id="18" name="TextBox 17"/>
          <p:cNvSpPr txBox="1"/>
          <p:nvPr/>
        </p:nvSpPr>
        <p:spPr>
          <a:xfrm>
            <a:off x="840028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Compared with:</a:t>
            </a:r>
            <a:r>
              <a:rPr sz="1400">
                <a:solidFill>
                  <a:srgbClr val="333333"/>
                </a:solidFill>
                <a:latin typeface="Calibri"/>
              </a:rPr>
              <a:t> chance (permutation with countries kept whole)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is held out at each level?</a:t>
            </a:r>
          </a:p>
        </p:txBody>
      </p:sp>
      <p:pic>
        <p:nvPicPr>
          <p:cNvPr id="3" name="Picture 1" descr="MN-proxy-full-talk-2026-09_files/figure-pptx/silhouettes-1.png"/>
          <p:cNvPicPr>
            <a:picLocks noGrp="1" noChangeAspect="1"/>
          </p:cNvPicPr>
          <p:nvPr/>
        </p:nvPicPr>
        <p:blipFill>
          <a:blip r:embed="rId3"/>
          <a:stretch>
            <a:fillRect/>
          </a:stretch>
        </p:blipFill>
        <p:spPr bwMode="auto">
          <a:xfrm>
            <a:off x="502920" y="1600200"/>
            <a:ext cx="11183112" cy="428145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23</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Results</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24</a:t>
            </a:fld>
            <a:endParaRPr lang="en-BG"/>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Where does the ranking work, outcome by outcome and country by country?</a:t>
            </a:r>
          </a:p>
        </p:txBody>
      </p:sp>
      <p:pic>
        <p:nvPicPr>
          <p:cNvPr id="3" name="Picture 1" descr="MN-proxy-full-talk-2026-09_files/figure-pptx/cells-rank-1.png"/>
          <p:cNvPicPr>
            <a:picLocks noGrp="1" noChangeAspect="1"/>
          </p:cNvPicPr>
          <p:nvPr/>
        </p:nvPicPr>
        <p:blipFill>
          <a:blip r:embed="rId3"/>
          <a:stretch>
            <a:fillRect/>
          </a:stretch>
        </p:blipFill>
        <p:spPr bwMode="auto">
          <a:xfrm>
            <a:off x="1240135" y="1600200"/>
            <a:ext cx="970868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25</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far off is the predicted prevalence, outcome by outcome?</a:t>
            </a:r>
          </a:p>
        </p:txBody>
      </p:sp>
      <p:pic>
        <p:nvPicPr>
          <p:cNvPr id="3" name="Picture 1" descr="MN-proxy-full-talk-2026-09_files/figure-pptx/cells-prev-1.png"/>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26</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far off is the predicted mean concentration, outcome by outcome?</a:t>
            </a:r>
          </a:p>
        </p:txBody>
      </p:sp>
      <p:pic>
        <p:nvPicPr>
          <p:cNvPr id="3" name="Picture 1" descr="MN-proxy-full-talk-2026-09_files/figure-pptx/cells-level-1.png"/>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27</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Where do the rankings work?</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Where it works: iron, B12 and vitamin A where the deficiency is common, and everywhere the survey has several clusters per district.</a:t>
            </a:r>
          </a:p>
          <a:p>
            <a:pPr marL="0" lvl="0" indent="0">
              <a:buNone/>
            </a:pPr>
            <a:r>
              <a:rPr sz="1800"/>
              <a:t>Why not elsewhere: an outcome under 1% prevalence has nothing to rank, zinc carries no district signal, and a single-cluster district gives the survey too little to be compared with.</a:t>
            </a:r>
          </a:p>
        </p:txBody>
      </p:sp>
      <p:pic>
        <p:nvPicPr>
          <p:cNvPr id="4" name="Picture 1" descr="MN-proxy-full-talk-2026-09_files/figure-pptx/cells-scatter-1.png"/>
          <p:cNvPicPr>
            <a:picLocks noGrp="1" noChangeAspect="1"/>
          </p:cNvPicPr>
          <p:nvPr/>
        </p:nvPicPr>
        <p:blipFill>
          <a:blip r:embed="rId3"/>
          <a:stretch>
            <a:fillRect/>
          </a:stretch>
        </p:blipFill>
        <p:spPr bwMode="auto">
          <a:xfrm>
            <a:off x="411480" y="1645920"/>
            <a:ext cx="6766560" cy="475981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28</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The strongest outcome-country combinations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29</a:t>
            </a:fld>
            <a:endParaRPr lang="en-BG"/>
          </a:p>
        </p:txBody>
      </p:sp>
      <p:sp>
        <p:nvSpPr>
          <p:cNvPr id="7" name="Rounded Rectangle 6"/>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9" name="TextBox 8"/>
          <p:cNvSpPr txBox="1"/>
          <p:nvPr/>
        </p:nvSpPr>
        <p:spPr>
          <a:xfrm>
            <a:off x="932688" y="2743200"/>
            <a:ext cx="2274570" cy="457200"/>
          </a:xfrm>
          <a:prstGeom prst="rect">
            <a:avLst/>
          </a:prstGeom>
          <a:noFill/>
        </p:spPr>
        <p:txBody>
          <a:bodyPr wrap="square" lIns="45720" tIns="27432" rIns="45720" bIns="27432" anchor="t">
            <a:spAutoFit/>
          </a:bodyPr>
          <a:lstStyle/>
          <a:p>
            <a:pPr algn="ctr"/>
            <a:r>
              <a:rPr sz="1700" b="1">
                <a:solidFill>
                  <a:srgbClr val="1F4E79"/>
                </a:solidFill>
                <a:latin typeface="Calibri"/>
              </a:rPr>
              <a:t>Malawi: women's B12</a:t>
            </a:r>
          </a:p>
        </p:txBody>
      </p:sp>
      <p:sp>
        <p:nvSpPr>
          <p:cNvPr id="10" name="TextBox 9"/>
          <p:cNvSpPr txBox="1"/>
          <p:nvPr/>
        </p:nvSpPr>
        <p:spPr>
          <a:xfrm>
            <a:off x="978408" y="3291840"/>
            <a:ext cx="218313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 (the region's average does as well)</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11" name="Rounded Rectangle 10"/>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13" name="TextBox 12"/>
          <p:cNvSpPr txBox="1"/>
          <p:nvPr/>
        </p:nvSpPr>
        <p:spPr>
          <a:xfrm>
            <a:off x="3618738" y="2743200"/>
            <a:ext cx="2274570" cy="457200"/>
          </a:xfrm>
          <a:prstGeom prst="rect">
            <a:avLst/>
          </a:prstGeom>
          <a:noFill/>
        </p:spPr>
        <p:txBody>
          <a:bodyPr wrap="square" lIns="45720" tIns="27432" rIns="45720" bIns="27432" anchor="t">
            <a:spAutoFit/>
          </a:bodyPr>
          <a:lstStyle/>
          <a:p>
            <a:pPr algn="ctr"/>
            <a:r>
              <a:rPr sz="1700" b="1">
                <a:solidFill>
                  <a:srgbClr val="1F4E79"/>
                </a:solidFill>
                <a:latin typeface="Calibri"/>
              </a:rPr>
              <a:t>The Gambia: women's vitamin A</a:t>
            </a:r>
          </a:p>
        </p:txBody>
      </p:sp>
      <p:sp>
        <p:nvSpPr>
          <p:cNvPr id="14" name="TextBox 13"/>
          <p:cNvSpPr txBox="1"/>
          <p:nvPr/>
        </p:nvSpPr>
        <p:spPr>
          <a:xfrm>
            <a:off x="3664458" y="3291840"/>
            <a:ext cx="218313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5" name="Rounded Rectangle 14"/>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7" name="TextBox 16"/>
          <p:cNvSpPr txBox="1"/>
          <p:nvPr/>
        </p:nvSpPr>
        <p:spPr>
          <a:xfrm>
            <a:off x="6304788" y="2743200"/>
            <a:ext cx="2274570" cy="457200"/>
          </a:xfrm>
          <a:prstGeom prst="rect">
            <a:avLst/>
          </a:prstGeom>
          <a:noFill/>
        </p:spPr>
        <p:txBody>
          <a:bodyPr wrap="square" lIns="45720" tIns="27432" rIns="45720" bIns="27432" anchor="t">
            <a:spAutoFit/>
          </a:bodyPr>
          <a:lstStyle/>
          <a:p>
            <a:pPr algn="ctr"/>
            <a:r>
              <a:rPr sz="1700" b="1">
                <a:solidFill>
                  <a:srgbClr val="1F4E79"/>
                </a:solidFill>
                <a:latin typeface="Calibri"/>
              </a:rPr>
              <a:t>The Gambia: child vitamin A</a:t>
            </a:r>
          </a:p>
        </p:txBody>
      </p:sp>
      <p:sp>
        <p:nvSpPr>
          <p:cNvPr id="18" name="TextBox 17"/>
          <p:cNvSpPr txBox="1"/>
          <p:nvPr/>
        </p:nvSpPr>
        <p:spPr>
          <a:xfrm>
            <a:off x="6350508" y="3291840"/>
            <a:ext cx="218313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9" name="Rounded Rectangle 18"/>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21" name="TextBox 20"/>
          <p:cNvSpPr txBox="1"/>
          <p:nvPr/>
        </p:nvSpPr>
        <p:spPr>
          <a:xfrm>
            <a:off x="8990838" y="2743200"/>
            <a:ext cx="2274570" cy="457200"/>
          </a:xfrm>
          <a:prstGeom prst="rect">
            <a:avLst/>
          </a:prstGeom>
          <a:noFill/>
        </p:spPr>
        <p:txBody>
          <a:bodyPr wrap="square" lIns="45720" tIns="27432" rIns="45720" bIns="27432" anchor="t">
            <a:spAutoFit/>
          </a:bodyPr>
          <a:lstStyle/>
          <a:p>
            <a:pPr algn="ctr"/>
            <a:r>
              <a:rPr sz="1700" b="1">
                <a:solidFill>
                  <a:srgbClr val="1F4E79"/>
                </a:solidFill>
                <a:latin typeface="Calibri"/>
              </a:rPr>
              <a:t>The Gambia: women's iron</a:t>
            </a:r>
          </a:p>
        </p:txBody>
      </p:sp>
      <p:sp>
        <p:nvSpPr>
          <p:cNvPr id="22" name="TextBox 21"/>
          <p:cNvSpPr txBox="1"/>
          <p:nvPr/>
        </p:nvSpPr>
        <p:spPr>
          <a:xfrm>
            <a:off x="9036558" y="3291840"/>
            <a:ext cx="2183130" cy="2514600"/>
          </a:xfrm>
          <a:prstGeom prst="rect">
            <a:avLst/>
          </a:prstGeom>
          <a:noFill/>
        </p:spPr>
        <p:txBody>
          <a:bodyPr wrap="square" lIns="45720" tIns="27432" rIns="45720" bIns="27432" anchor="t">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How well does the model rank districts inside a surveyed country?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Mean rank correlation over the outcome-country combinations, with a 95% interval. The model reaches 0.40 against 0.31 for the survey’s own regional averages (better in 13 of 18). In plain terms: it puts 60% of district pairs in the survey’s order, the regional averages 56%, a random ordering 50%.</a:t>
            </a:r>
          </a:p>
        </p:txBody>
      </p:sp>
      <p:pic>
        <p:nvPicPr>
          <p:cNvPr id="4" name="Picture 1" descr="MN-proxy-full-talk-2026-09_files/figure-pptx/infill-1.png"/>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30</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Ghana: survey, held-out prediction, extrapolation and uncertainty</a:t>
            </a:r>
          </a:p>
        </p:txBody>
      </p:sp>
      <p:pic>
        <p:nvPicPr>
          <p:cNvPr id="3" name="Picture 1" descr="MN-proxy-full-talk-2026-09_files/figure-pptx/ghana-four-1.png"/>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31</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A whole unsurveyed region: the ranking holds at 0.39</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Leave-one-region-out, mean over outcome-country combinations with a 95% interval. The index scores 0.39 on the level and 0.26 on prevalence; the penalized fits fall to 0.07 and -0.05 on prevalence.</a:t>
            </a:r>
          </a:p>
        </p:txBody>
      </p:sp>
      <p:pic>
        <p:nvPicPr>
          <p:cNvPr id="4" name="Picture 1" descr="MN-proxy-full-talk-2026-09_files/figure-pptx/region-1.png"/>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32</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Does the model work in a country it has never seen?</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Leave-one-country-out, 22 outcome-country combinations. The full index scores 0.30 at district level (positive in 18 of 22) and 0.28 at regional level; the climate-and-soil index scores 0.38 and 0.45. Dashed lines are the 95th percentile of the permutation null.</a:t>
            </a:r>
          </a:p>
        </p:txBody>
      </p:sp>
      <p:pic>
        <p:nvPicPr>
          <p:cNvPr id="4" name="Picture 1" descr="MN-proxy-full-talk-2026-09_files/figure-pptx/transport-1.png"/>
          <p:cNvPicPr>
            <a:picLocks noGrp="1" noChangeAspect="1"/>
          </p:cNvPicPr>
          <p:nvPr/>
        </p:nvPicPr>
        <p:blipFill>
          <a:blip r:embed="rId3"/>
          <a:stretch>
            <a:fillRect/>
          </a:stretch>
        </p:blipFill>
        <p:spPr bwMode="auto">
          <a:xfrm>
            <a:off x="411480" y="1645920"/>
            <a:ext cx="6766560" cy="676656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33</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Can the transport model be improved by adding domains?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Leave-one-country-out, 22 outcome-country combinations, mean with a 95% interval across outcome-country combinations. Climate and soil alone: 0.38. Adding the next load-bearing domains of the ablation (anemia surfaces, agriculture, infection) reaches 0.41 (better in 15 of 22, median +0.01). Chosen on these same outcome-country combinations, so a candidate for the next country, not a replacement. Honest nested selection: 0.31.</a:t>
            </a:r>
          </a:p>
        </p:txBody>
      </p:sp>
      <p:pic>
        <p:nvPicPr>
          <p:cNvPr id="4" name="Picture 1" descr="MN-proxy-full-talk-2026-09_files/figure-pptx/cs-domains-1.png"/>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34</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What does the model say for Cote d’Ivoire, which has no survey?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Children’s iron, from climate and soil layers only. The model has never seen a Cote d’Ivoire biomarker.</a:t>
            </a:r>
          </a:p>
          <a:p>
            <a:pPr marL="0" lvl="0" indent="0">
              <a:buNone/>
            </a:pPr>
            <a:r>
              <a:rPr sz="1800"/>
              <a:t>Left: which districts to reach first. Right: how firmly each is placed, the width of the 90% rank range over 400 refits on resampled training districts (median 5 places out of 33; the five worst-ranked stay in the worst third every time).</a:t>
            </a:r>
          </a:p>
        </p:txBody>
      </p:sp>
      <p:pic>
        <p:nvPicPr>
          <p:cNvPr id="4" name="Picture 1" descr="../../results/figures/policy_deck/fig10_civ_ranking.png"/>
          <p:cNvPicPr>
            <a:picLocks noGrp="1" noChangeAspect="1"/>
          </p:cNvPicPr>
          <p:nvPr/>
        </p:nvPicPr>
        <p:blipFill>
          <a:blip r:embed="rId3"/>
          <a:stretch>
            <a:fillRect/>
          </a:stretch>
        </p:blipFill>
        <p:spPr bwMode="auto">
          <a:xfrm>
            <a:off x="411480" y="1645920"/>
            <a:ext cx="6766560" cy="344961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35</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How much of the burden does the worst-ranked fifth reach?</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If a program went to the fifth of districts the model ranks worst, what share of the country’s deficient people would it reach? On average 22%, against 20% for the survey’s regional averages and 48% with perfect knowledge; the dashed line is a random fifth. Right: the same for the six strongest outcome-country combinations.</a:t>
            </a:r>
          </a:p>
        </p:txBody>
      </p:sp>
      <p:pic>
        <p:nvPicPr>
          <p:cNvPr id="4" name="Picture 1" descr="MN-proxy-full-talk-2026-09_files/figure-pptx/burden-1.png"/>
          <p:cNvPicPr>
            <a:picLocks noGrp="1" noChangeAspect="1"/>
          </p:cNvPicPr>
          <p:nvPr/>
        </p:nvPicPr>
        <p:blipFill>
          <a:blip r:embed="rId3"/>
          <a:stretch>
            <a:fillRect/>
          </a:stretch>
        </p:blipFill>
        <p:spPr bwMode="auto">
          <a:xfrm>
            <a:off x="411480" y="1645920"/>
            <a:ext cx="6766560" cy="5025165"/>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36</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How good are the models? One table, two readings</a:t>
            </a:r>
          </a:p>
        </p:txBody>
      </p:sp>
      <p:graphicFrame>
        <p:nvGraphicFramePr>
          <p:cNvPr id="6" name="Content Placeholder 5"/>
          <p:cNvGraphicFramePr>
            <a:graphicFrameLocks noGrp="1"/>
          </p:cNvGraphicFramePr>
          <p:nvPr>
            <p:ph idx="1"/>
          </p:nvPr>
        </p:nvGraphicFramePr>
        <p:xfrm>
          <a:off x="838200" y="1816100"/>
          <a:ext cx="5181600" cy="4343400"/>
        </p:xfrm>
        <a:graphic>
          <a:graphicData uri="http://schemas.openxmlformats.org/drawingml/2006/table">
            <a:tbl>
              <a:tblPr firstRow="1" bandRow="1">
                <a:tableStyleId>{5C22544A-7EE6-4342-B048-85BDC9FD1C3A}</a:tableStyleId>
              </a:tblPr>
              <a:tblGrid>
                <a:gridCol w="1054100">
                  <a:extLst>
                    <a:ext uri="{9D8B030D-6E8A-4147-A177-3AD203B41FA5}">
                      <a16:colId xmlns:a16="http://schemas.microsoft.com/office/drawing/2014/main" val="20000"/>
                    </a:ext>
                  </a:extLst>
                </a:gridCol>
                <a:gridCol w="15113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tblGrid>
              <a:tr h="0">
                <a:tc>
                  <a:txBody>
                    <a:bodyPr/>
                    <a:lstStyle/>
                    <a:p>
                      <a:pPr marL="0" lvl="0" indent="0" algn="l">
                        <a:buNone/>
                      </a:pPr>
                      <a:r>
                        <a:rPr sz="1000"/>
                        <a:t>Outcome</a:t>
                      </a:r>
                    </a:p>
                  </a:txBody>
                  <a:tcPr/>
                </a:tc>
                <a:tc>
                  <a:txBody>
                    <a:bodyPr/>
                    <a:lstStyle/>
                    <a:p>
                      <a:pPr marL="0" lvl="0" indent="0" algn="r">
                        <a:buNone/>
                      </a:pPr>
                      <a:r>
                        <a:rPr sz="1000"/>
                        <a:t>Ranking, surveyed country</a:t>
                      </a:r>
                    </a:p>
                  </a:txBody>
                  <a:tcPr/>
                </a:tc>
                <a:tc>
                  <a:txBody>
                    <a:bodyPr/>
                    <a:lstStyle/>
                    <a:p>
                      <a:pPr marL="0" lvl="0" indent="0" algn="r">
                        <a:buNone/>
                      </a:pPr>
                      <a:r>
                        <a:rPr sz="1000"/>
                        <a:t>Ranking, new country</a:t>
                      </a:r>
                    </a:p>
                  </a:txBody>
                  <a:tcPr/>
                </a:tc>
                <a:tc>
                  <a:txBody>
                    <a:bodyPr/>
                    <a:lstStyle/>
                    <a:p>
                      <a:pPr marL="0" lvl="0" indent="0" algn="r">
                        <a:buNone/>
                      </a:pPr>
                      <a:r>
                        <a:rPr sz="1000"/>
                        <a:t>District error (points)</a:t>
                      </a:r>
                    </a:p>
                  </a:txBody>
                  <a:tcPr/>
                </a:tc>
                <a:extLst>
                  <a:ext uri="{0D108BD9-81ED-4DB2-BD59-A6C34878D82A}">
                    <a16:rowId xmlns:a16="http://schemas.microsoft.com/office/drawing/2014/main" val="10000"/>
                  </a:ext>
                </a:extLst>
              </a:tr>
              <a:tr h="0">
                <a:tc>
                  <a:txBody>
                    <a:bodyPr/>
                    <a:lstStyle/>
                    <a:p>
                      <a:pPr marL="0" lvl="0" indent="0" algn="l">
                        <a:buNone/>
                      </a:pPr>
                      <a:r>
                        <a:rPr sz="1000"/>
                        <a:t>Women’s B12</a:t>
                      </a:r>
                    </a:p>
                  </a:txBody>
                  <a:tcPr/>
                </a:tc>
                <a:tc>
                  <a:txBody>
                    <a:bodyPr/>
                    <a:lstStyle/>
                    <a:p>
                      <a:pPr marL="0" lvl="0" indent="0" algn="r">
                        <a:buNone/>
                      </a:pPr>
                      <a:r>
                        <a:rPr sz="1000"/>
                        <a:t>0.63</a:t>
                      </a:r>
                    </a:p>
                  </a:txBody>
                  <a:tcPr/>
                </a:tc>
                <a:tc>
                  <a:txBody>
                    <a:bodyPr/>
                    <a:lstStyle/>
                    <a:p>
                      <a:pPr marL="0" lvl="0" indent="0" algn="r">
                        <a:buNone/>
                      </a:pPr>
                      <a:r>
                        <a:rPr sz="1000"/>
                        <a:t>0.53</a:t>
                      </a:r>
                    </a:p>
                  </a:txBody>
                  <a:tcPr/>
                </a:tc>
                <a:tc>
                  <a:txBody>
                    <a:bodyPr/>
                    <a:lstStyle/>
                    <a:p>
                      <a:pPr marL="0" lvl="0" indent="0" algn="r">
                        <a:buNone/>
                      </a:pPr>
                      <a:r>
                        <a:rPr sz="1000"/>
                        <a:t>10.1</a:t>
                      </a:r>
                    </a:p>
                  </a:txBody>
                  <a:tcPr/>
                </a:tc>
                <a:extLst>
                  <a:ext uri="{0D108BD9-81ED-4DB2-BD59-A6C34878D82A}">
                    <a16:rowId xmlns:a16="http://schemas.microsoft.com/office/drawing/2014/main" val="10001"/>
                  </a:ext>
                </a:extLst>
              </a:tr>
              <a:tr h="0">
                <a:tc>
                  <a:txBody>
                    <a:bodyPr/>
                    <a:lstStyle/>
                    <a:p>
                      <a:pPr marL="0" lvl="0" indent="0" algn="l">
                        <a:buNone/>
                      </a:pPr>
                      <a:r>
                        <a:rPr sz="1000"/>
                        <a:t>Women’s vitamin A</a:t>
                      </a:r>
                    </a:p>
                  </a:txBody>
                  <a:tcPr/>
                </a:tc>
                <a:tc>
                  <a:txBody>
                    <a:bodyPr/>
                    <a:lstStyle/>
                    <a:p>
                      <a:pPr marL="0" lvl="0" indent="0" algn="r">
                        <a:buNone/>
                      </a:pPr>
                      <a:r>
                        <a:rPr sz="1000"/>
                        <a:t>0.49</a:t>
                      </a:r>
                    </a:p>
                  </a:txBody>
                  <a:tcPr/>
                </a:tc>
                <a:tc>
                  <a:txBody>
                    <a:bodyPr/>
                    <a:lstStyle/>
                    <a:p>
                      <a:pPr marL="0" lvl="0" indent="0" algn="r">
                        <a:buNone/>
                      </a:pPr>
                      <a:r>
                        <a:rPr sz="1000"/>
                        <a:t>0.32</a:t>
                      </a:r>
                    </a:p>
                  </a:txBody>
                  <a:tcPr/>
                </a:tc>
                <a:tc>
                  <a:txBody>
                    <a:bodyPr/>
                    <a:lstStyle/>
                    <a:p>
                      <a:pPr marL="0" lvl="0" indent="0" algn="r">
                        <a:buNone/>
                      </a:pPr>
                      <a:r>
                        <a:rPr sz="1000"/>
                        <a:t>2.5</a:t>
                      </a:r>
                    </a:p>
                  </a:txBody>
                  <a:tcPr/>
                </a:tc>
                <a:extLst>
                  <a:ext uri="{0D108BD9-81ED-4DB2-BD59-A6C34878D82A}">
                    <a16:rowId xmlns:a16="http://schemas.microsoft.com/office/drawing/2014/main" val="10002"/>
                  </a:ext>
                </a:extLst>
              </a:tr>
              <a:tr h="0">
                <a:tc>
                  <a:txBody>
                    <a:bodyPr/>
                    <a:lstStyle/>
                    <a:p>
                      <a:pPr marL="0" lvl="0" indent="0" algn="l">
                        <a:buNone/>
                      </a:pPr>
                      <a:r>
                        <a:rPr sz="1000"/>
                        <a:t>Women’s iron</a:t>
                      </a:r>
                    </a:p>
                  </a:txBody>
                  <a:tcPr/>
                </a:tc>
                <a:tc>
                  <a:txBody>
                    <a:bodyPr/>
                    <a:lstStyle/>
                    <a:p>
                      <a:pPr marL="0" lvl="0" indent="0" algn="r">
                        <a:buNone/>
                      </a:pPr>
                      <a:r>
                        <a:rPr sz="1000"/>
                        <a:t>0.44</a:t>
                      </a:r>
                    </a:p>
                  </a:txBody>
                  <a:tcPr/>
                </a:tc>
                <a:tc>
                  <a:txBody>
                    <a:bodyPr/>
                    <a:lstStyle/>
                    <a:p>
                      <a:pPr marL="0" lvl="0" indent="0" algn="r">
                        <a:buNone/>
                      </a:pPr>
                      <a:r>
                        <a:rPr sz="1000"/>
                        <a:t>0.28</a:t>
                      </a:r>
                    </a:p>
                  </a:txBody>
                  <a:tcPr/>
                </a:tc>
                <a:tc>
                  <a:txBody>
                    <a:bodyPr/>
                    <a:lstStyle/>
                    <a:p>
                      <a:pPr marL="0" lvl="0" indent="0" algn="r">
                        <a:buNone/>
                      </a:pPr>
                      <a:r>
                        <a:rPr sz="1000"/>
                        <a:t>14.1</a:t>
                      </a:r>
                    </a:p>
                  </a:txBody>
                  <a:tcPr/>
                </a:tc>
                <a:extLst>
                  <a:ext uri="{0D108BD9-81ED-4DB2-BD59-A6C34878D82A}">
                    <a16:rowId xmlns:a16="http://schemas.microsoft.com/office/drawing/2014/main" val="10003"/>
                  </a:ext>
                </a:extLst>
              </a:tr>
              <a:tr h="0">
                <a:tc>
                  <a:txBody>
                    <a:bodyPr/>
                    <a:lstStyle/>
                    <a:p>
                      <a:pPr marL="0" lvl="0" indent="0" algn="l">
                        <a:buNone/>
                      </a:pPr>
                      <a:r>
                        <a:rPr sz="1000"/>
                        <a:t>Child iron</a:t>
                      </a:r>
                    </a:p>
                  </a:txBody>
                  <a:tcPr/>
                </a:tc>
                <a:tc>
                  <a:txBody>
                    <a:bodyPr/>
                    <a:lstStyle/>
                    <a:p>
                      <a:pPr marL="0" lvl="0" indent="0" algn="r">
                        <a:buNone/>
                      </a:pPr>
                      <a:r>
                        <a:rPr sz="1000"/>
                        <a:t>0.43</a:t>
                      </a:r>
                    </a:p>
                  </a:txBody>
                  <a:tcPr/>
                </a:tc>
                <a:tc>
                  <a:txBody>
                    <a:bodyPr/>
                    <a:lstStyle/>
                    <a:p>
                      <a:pPr marL="0" lvl="0" indent="0" algn="r">
                        <a:buNone/>
                      </a:pPr>
                      <a:r>
                        <a:rPr sz="1000"/>
                        <a:t>0.28</a:t>
                      </a:r>
                    </a:p>
                  </a:txBody>
                  <a:tcPr/>
                </a:tc>
                <a:tc>
                  <a:txBody>
                    <a:bodyPr/>
                    <a:lstStyle/>
                    <a:p>
                      <a:pPr marL="0" lvl="0" indent="0" algn="r">
                        <a:buNone/>
                      </a:pPr>
                      <a:r>
                        <a:rPr sz="1000"/>
                        <a:t>14.8</a:t>
                      </a:r>
                    </a:p>
                  </a:txBody>
                  <a:tcPr/>
                </a:tc>
                <a:extLst>
                  <a:ext uri="{0D108BD9-81ED-4DB2-BD59-A6C34878D82A}">
                    <a16:rowId xmlns:a16="http://schemas.microsoft.com/office/drawing/2014/main" val="10004"/>
                  </a:ext>
                </a:extLst>
              </a:tr>
              <a:tr h="0">
                <a:tc>
                  <a:txBody>
                    <a:bodyPr/>
                    <a:lstStyle/>
                    <a:p>
                      <a:pPr marL="0" lvl="0" indent="0" algn="l">
                        <a:buNone/>
                      </a:pPr>
                      <a:r>
                        <a:rPr sz="1000"/>
                        <a:t>Child vitamin A</a:t>
                      </a:r>
                    </a:p>
                  </a:txBody>
                  <a:tcPr/>
                </a:tc>
                <a:tc>
                  <a:txBody>
                    <a:bodyPr/>
                    <a:lstStyle/>
                    <a:p>
                      <a:pPr marL="0" lvl="0" indent="0" algn="r">
                        <a:buNone/>
                      </a:pPr>
                      <a:r>
                        <a:rPr sz="1000"/>
                        <a:t>0.40</a:t>
                      </a:r>
                    </a:p>
                  </a:txBody>
                  <a:tcPr/>
                </a:tc>
                <a:tc>
                  <a:txBody>
                    <a:bodyPr/>
                    <a:lstStyle/>
                    <a:p>
                      <a:pPr marL="0" lvl="0" indent="0" algn="r">
                        <a:buNone/>
                      </a:pPr>
                      <a:r>
                        <a:rPr sz="1000"/>
                        <a:t>0.32</a:t>
                      </a:r>
                    </a:p>
                  </a:txBody>
                  <a:tcPr/>
                </a:tc>
                <a:tc>
                  <a:txBody>
                    <a:bodyPr/>
                    <a:lstStyle/>
                    <a:p>
                      <a:pPr marL="0" lvl="0" indent="0" algn="r">
                        <a:buNone/>
                      </a:pPr>
                      <a:r>
                        <a:rPr sz="1000"/>
                        <a:t>10.8</a:t>
                      </a:r>
                    </a:p>
                  </a:txBody>
                  <a:tcPr/>
                </a:tc>
                <a:extLst>
                  <a:ext uri="{0D108BD9-81ED-4DB2-BD59-A6C34878D82A}">
                    <a16:rowId xmlns:a16="http://schemas.microsoft.com/office/drawing/2014/main" val="10005"/>
                  </a:ext>
                </a:extLst>
              </a:tr>
              <a:tr h="0">
                <a:tc>
                  <a:txBody>
                    <a:bodyPr/>
                    <a:lstStyle/>
                    <a:p>
                      <a:pPr marL="0" lvl="0" indent="0" algn="l">
                        <a:buNone/>
                      </a:pPr>
                      <a:r>
                        <a:rPr sz="1000"/>
                        <a:t>Women’s folate</a:t>
                      </a:r>
                    </a:p>
                  </a:txBody>
                  <a:tcPr/>
                </a:tc>
                <a:tc>
                  <a:txBody>
                    <a:bodyPr/>
                    <a:lstStyle/>
                    <a:p>
                      <a:pPr marL="0" lvl="0" indent="0" algn="r">
                        <a:buNone/>
                      </a:pPr>
                      <a:r>
                        <a:rPr sz="1000"/>
                        <a:t>0.40</a:t>
                      </a:r>
                    </a:p>
                  </a:txBody>
                  <a:tcPr/>
                </a:tc>
                <a:tc>
                  <a:txBody>
                    <a:bodyPr/>
                    <a:lstStyle/>
                    <a:p>
                      <a:pPr marL="0" lvl="0" indent="0" algn="r">
                        <a:buNone/>
                      </a:pPr>
                      <a:r>
                        <a:rPr sz="1000"/>
                        <a:t>0.07</a:t>
                      </a:r>
                    </a:p>
                  </a:txBody>
                  <a:tcPr/>
                </a:tc>
                <a:tc>
                  <a:txBody>
                    <a:bodyPr/>
                    <a:lstStyle/>
                    <a:p>
                      <a:pPr marL="0" lvl="0" indent="0" algn="r">
                        <a:buNone/>
                      </a:pPr>
                      <a:r>
                        <a:rPr sz="1000"/>
                        <a:t>24.8</a:t>
                      </a:r>
                    </a:p>
                  </a:txBody>
                  <a:tcPr/>
                </a:tc>
                <a:extLst>
                  <a:ext uri="{0D108BD9-81ED-4DB2-BD59-A6C34878D82A}">
                    <a16:rowId xmlns:a16="http://schemas.microsoft.com/office/drawing/2014/main" val="10006"/>
                  </a:ext>
                </a:extLst>
              </a:tr>
              <a:tr h="0">
                <a:tc>
                  <a:txBody>
                    <a:bodyPr/>
                    <a:lstStyle/>
                    <a:p>
                      <a:pPr marL="0" lvl="0" indent="0" algn="l">
                        <a:buNone/>
                      </a:pPr>
                      <a:r>
                        <a:rPr sz="1000"/>
                        <a:t>Women’s zinc</a:t>
                      </a:r>
                    </a:p>
                  </a:txBody>
                  <a:tcPr/>
                </a:tc>
                <a:tc>
                  <a:txBody>
                    <a:bodyPr/>
                    <a:lstStyle/>
                    <a:p>
                      <a:pPr marL="0" lvl="0" indent="0" algn="r">
                        <a:buNone/>
                      </a:pPr>
                      <a:r>
                        <a:rPr sz="1000"/>
                        <a:t>-0.03</a:t>
                      </a:r>
                    </a:p>
                  </a:txBody>
                  <a:tcPr/>
                </a:tc>
                <a:tc>
                  <a:txBody>
                    <a:bodyPr/>
                    <a:lstStyle/>
                    <a:p>
                      <a:pPr marL="0" lvl="0" indent="0" algn="r">
                        <a:buNone/>
                      </a:pPr>
                      <a:r>
                        <a:rPr sz="1000"/>
                        <a:t>NA</a:t>
                      </a:r>
                    </a:p>
                  </a:txBody>
                  <a:tcPr/>
                </a:tc>
                <a:tc>
                  <a:txBody>
                    <a:bodyPr/>
                    <a:lstStyle/>
                    <a:p>
                      <a:pPr marL="0" lvl="0" indent="0" algn="r">
                        <a:buNone/>
                      </a:pPr>
                      <a:r>
                        <a:rPr sz="1000"/>
                        <a:t>31.6</a:t>
                      </a:r>
                    </a:p>
                  </a:txBody>
                  <a:tcPr/>
                </a:tc>
                <a:extLst>
                  <a:ext uri="{0D108BD9-81ED-4DB2-BD59-A6C34878D82A}">
                    <a16:rowId xmlns:a16="http://schemas.microsoft.com/office/drawing/2014/main" val="10007"/>
                  </a:ext>
                </a:extLst>
              </a:tr>
              <a:tr h="0">
                <a:tc>
                  <a:txBody>
                    <a:bodyPr/>
                    <a:lstStyle/>
                    <a:p>
                      <a:pPr marL="0" lvl="0" indent="0" algn="l">
                        <a:buNone/>
                      </a:pPr>
                      <a:r>
                        <a:rPr sz="1000"/>
                        <a:t>Child zinc</a:t>
                      </a:r>
                    </a:p>
                  </a:txBody>
                  <a:tcPr/>
                </a:tc>
                <a:tc>
                  <a:txBody>
                    <a:bodyPr/>
                    <a:lstStyle/>
                    <a:p>
                      <a:pPr marL="0" lvl="0" indent="0" algn="r">
                        <a:buNone/>
                      </a:pPr>
                      <a:r>
                        <a:rPr sz="1000"/>
                        <a:t>-0.11</a:t>
                      </a:r>
                    </a:p>
                  </a:txBody>
                  <a:tcPr/>
                </a:tc>
                <a:tc>
                  <a:txBody>
                    <a:bodyPr/>
                    <a:lstStyle/>
                    <a:p>
                      <a:pPr marL="0" lvl="0" indent="0" algn="r">
                        <a:buNone/>
                      </a:pPr>
                      <a:r>
                        <a:rPr sz="1000"/>
                        <a:t>NA</a:t>
                      </a:r>
                    </a:p>
                  </a:txBody>
                  <a:tcPr/>
                </a:tc>
                <a:tc>
                  <a:txBody>
                    <a:bodyPr/>
                    <a:lstStyle/>
                    <a:p>
                      <a:pPr marL="0" lvl="0" indent="0" algn="r">
                        <a:buNone/>
                      </a:pPr>
                      <a:r>
                        <a:rPr sz="1000"/>
                        <a:t>28.5</a:t>
                      </a:r>
                    </a:p>
                  </a:txBody>
                  <a:tcPr/>
                </a:tc>
                <a:extLst>
                  <a:ext uri="{0D108BD9-81ED-4DB2-BD59-A6C34878D82A}">
                    <a16:rowId xmlns:a16="http://schemas.microsoft.com/office/drawing/2014/main" val="10008"/>
                  </a:ext>
                </a:extLst>
              </a:tr>
            </a:tbl>
          </a:graphicData>
        </a:graphic>
      </p:graphicFrame>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p:txBody>
          <a:bodyPr/>
          <a:lstStyle/>
          <a:p>
            <a:pPr marL="0" lvl="0" indent="0">
              <a:buNone/>
            </a:pPr>
            <a:r>
              <a:rPr sz="1800" b="1"/>
              <a:t>Ranking.</a:t>
            </a:r>
            <a:r>
              <a:rPr sz="1800"/>
              <a:t> For every pair of districts, the survey says which is worse and so does the model, predicting each district with it held out. They agree on 60% of pairs inside a surveyed country: six in ten, against five in ten for a random ordering and 56% for the best you can do with survey data alone, the region’s average. In a country the model has never seen, 55%.</a:t>
            </a:r>
          </a:p>
          <a:p>
            <a:pPr marL="0" lvl="0" indent="0">
              <a:buNone/>
            </a:pPr>
            <a:r>
              <a:rPr sz="1800" b="1"/>
              <a:t>Level.</a:t>
            </a:r>
            <a:r>
              <a:rPr sz="1800"/>
              <a:t> Inside a surveyed country a district’s predicted prevalence is off by 13 to 16 percentage points on average (child iron), no better than the region’s average. In a new country, one small national sample (5% of a survey) plus the ranking gives 9.3 points; a district survey needs 25% of its full size to match that. Read levels as planning figures; the ranking is the product.</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37</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does a rank correlation of 0.40 mean on the ground?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38</a:t>
            </a:fld>
            <a:endParaRPr lang="en-BG"/>
          </a:p>
        </p:txBody>
      </p:sp>
      <p:pic>
        <p:nvPicPr>
          <p:cNvPr id="7" name="Picture 6"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8" name="TextBox 7"/>
          <p:cNvSpPr txBox="1"/>
          <p:nvPr/>
        </p:nvSpPr>
        <p:spPr>
          <a:xfrm>
            <a:off x="1984248" y="169164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Take any two districts: the best model orders them the way the survey does 60% of the time</a:t>
            </a:r>
          </a:p>
          <a:p>
            <a:pPr algn="l">
              <a:spcBef>
                <a:spcPts val="300"/>
              </a:spcBef>
            </a:pPr>
            <a:r>
              <a:rPr sz="1400" b="0">
                <a:solidFill>
                  <a:srgbClr val="333333"/>
                </a:solidFill>
                <a:latin typeface="Calibri"/>
              </a:rPr>
              <a:t>Counted over every pair of districts. A random ordering gets 50% on average, the survey's own regional averages 56%; in a country the model has never seen, 55%.</a:t>
            </a:r>
          </a:p>
        </p:txBody>
      </p:sp>
      <p:pic>
        <p:nvPicPr>
          <p:cNvPr id="9" name="Picture 8" descr="flag_blue.png"/>
          <p:cNvPicPr>
            <a:picLocks noChangeAspect="1"/>
          </p:cNvPicPr>
          <p:nvPr/>
        </p:nvPicPr>
        <p:blipFill>
          <a:blip r:embed="rId4"/>
          <a:stretch>
            <a:fillRect/>
          </a:stretch>
        </p:blipFill>
        <p:spPr>
          <a:xfrm>
            <a:off x="932688" y="3383280"/>
            <a:ext cx="720090" cy="822960"/>
          </a:xfrm>
          <a:prstGeom prst="rect">
            <a:avLst/>
          </a:prstGeom>
        </p:spPr>
      </p:pic>
      <p:sp>
        <p:nvSpPr>
          <p:cNvPr id="10" name="TextBox 9"/>
          <p:cNvSpPr txBox="1"/>
          <p:nvPr/>
        </p:nvSpPr>
        <p:spPr>
          <a:xfrm>
            <a:off x="1984248" y="315468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11" name="Picture 10"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12" name="TextBox 11"/>
          <p:cNvSpPr txBox="1"/>
          <p:nvPr/>
        </p:nvSpPr>
        <p:spPr>
          <a:xfrm>
            <a:off x="1984248" y="461772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much of what a survey can see does the model recover?</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39</a:t>
            </a:fld>
            <a:endParaRPr lang="en-BG"/>
          </a:p>
        </p:txBody>
      </p:sp>
      <p:pic>
        <p:nvPicPr>
          <p:cNvPr id="7" name="Picture 6"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8" name="TextBox 7"/>
          <p:cNvSpPr txBox="1"/>
          <p:nvPr/>
        </p:nvSpPr>
        <p:spPr>
          <a:xfrm>
            <a:off x="1984248" y="169164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Known from a variance model of respondents within clusters within districts: it says how much of the district-to-district variation is real.</a:t>
            </a:r>
          </a:p>
        </p:txBody>
      </p:sp>
      <p:pic>
        <p:nvPicPr>
          <p:cNvPr id="9" name="Picture 8"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10" name="TextBox 9"/>
          <p:cNvSpPr txBox="1"/>
          <p:nvPr/>
        </p:nvSpPr>
        <p:spPr>
          <a:xfrm>
            <a:off x="1984248" y="315468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11" name="Picture 10"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12" name="TextBox 11"/>
          <p:cNvSpPr txBox="1"/>
          <p:nvPr/>
        </p:nvSpPr>
        <p:spPr>
          <a:xfrm>
            <a:off x="1984248" y="4617720"/>
            <a:ext cx="9326880" cy="1280160"/>
          </a:xfrm>
          <a:prstGeom prst="rect">
            <a:avLst/>
          </a:prstGeom>
          <a:noFill/>
        </p:spPr>
        <p:txBody>
          <a:bodyPr wrap="square" lIns="45720" tIns="27432" rIns="45720" bIns="27432" anchor="ctr">
            <a:spAutoFit/>
          </a:bodyPr>
          <a:lstStyle/>
          <a:p>
            <a:pPr algn="l"/>
            <a:r>
              <a:rPr sz="2000" b="1">
                <a:solidFill>
                  <a:srgbClr val="1F4E79"/>
                </a:solidFill>
                <a:latin typeface="Calibri"/>
              </a:rPr>
              <a:t>And beats the best prediction you can make from survey data alone</a:t>
            </a:r>
          </a:p>
          <a:p>
            <a:pPr algn="l">
              <a:spcBef>
                <a:spcPts val="300"/>
              </a:spcBef>
            </a:pPr>
            <a:r>
              <a:rPr sz="1400" b="0">
                <a:solidFill>
                  <a:srgbClr val="333333"/>
                </a:solidFill>
                <a:latin typeface="Calibri"/>
              </a:rPr>
              <a:t>The region's average, computed without the district itself: 0.31; the model 0.40, better in 13 of 18 outcome-country combinations.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Does the model put districts in the right severity band?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40</a:t>
            </a:fld>
            <a:endParaRPr lang="en-BG"/>
          </a:p>
        </p:txBody>
      </p:sp>
      <p:sp>
        <p:nvSpPr>
          <p:cNvPr id="7" name="Rounded Rectangle 6"/>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9" name="TextBox 8"/>
          <p:cNvSpPr txBox="1"/>
          <p:nvPr/>
        </p:nvSpPr>
        <p:spPr>
          <a:xfrm>
            <a:off x="93268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Exact WHO band</a:t>
            </a:r>
          </a:p>
        </p:txBody>
      </p:sp>
      <p:sp>
        <p:nvSpPr>
          <p:cNvPr id="10" name="TextBox 9"/>
          <p:cNvSpPr txBox="1"/>
          <p:nvPr/>
        </p:nvSpPr>
        <p:spPr>
          <a:xfrm>
            <a:off x="111556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11" name="Rounded Rectangle 10"/>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13" name="TextBox 12"/>
          <p:cNvSpPr txBox="1"/>
          <p:nvPr/>
        </p:nvSpPr>
        <p:spPr>
          <a:xfrm>
            <a:off x="457504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Within one band</a:t>
            </a:r>
          </a:p>
        </p:txBody>
      </p:sp>
      <p:sp>
        <p:nvSpPr>
          <p:cNvPr id="14" name="TextBox 13"/>
          <p:cNvSpPr txBox="1"/>
          <p:nvPr/>
        </p:nvSpPr>
        <p:spPr>
          <a:xfrm>
            <a:off x="475792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5" name="Rounded Rectangle 14"/>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7" name="TextBox 16"/>
          <p:cNvSpPr txBox="1"/>
          <p:nvPr/>
        </p:nvSpPr>
        <p:spPr>
          <a:xfrm>
            <a:off x="821740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Two or more bands wrong</a:t>
            </a:r>
          </a:p>
        </p:txBody>
      </p:sp>
      <p:sp>
        <p:nvSpPr>
          <p:cNvPr id="18" name="TextBox 17"/>
          <p:cNvSpPr txBox="1"/>
          <p:nvPr/>
        </p:nvSpPr>
        <p:spPr>
          <a:xfrm>
            <a:off x="840028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Which decisions are our models good enough for?</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41</a:t>
            </a:fld>
            <a:endParaRPr lang="en-BG"/>
          </a:p>
        </p:txBody>
      </p:sp>
      <p:sp>
        <p:nvSpPr>
          <p:cNvPr id="7" name="Rounded Rectangle 6"/>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check_green.png"/>
          <p:cNvPicPr>
            <a:picLocks noChangeAspect="1"/>
          </p:cNvPicPr>
          <p:nvPr/>
        </p:nvPicPr>
        <p:blipFill>
          <a:blip r:embed="rId3"/>
          <a:stretch>
            <a:fillRect/>
          </a:stretch>
        </p:blipFill>
        <p:spPr>
          <a:xfrm>
            <a:off x="1069848" y="1900123"/>
            <a:ext cx="320040" cy="365760"/>
          </a:xfrm>
          <a:prstGeom prst="rect">
            <a:avLst/>
          </a:prstGeom>
        </p:spPr>
      </p:pic>
      <p:sp>
        <p:nvSpPr>
          <p:cNvPr id="9" name="TextBox 8"/>
          <p:cNvSpPr txBox="1"/>
          <p:nvPr/>
        </p:nvSpPr>
        <p:spPr>
          <a:xfrm>
            <a:off x="1618488" y="1691640"/>
            <a:ext cx="5120640" cy="782726"/>
          </a:xfrm>
          <a:prstGeom prst="rect">
            <a:avLst/>
          </a:prstGeom>
          <a:noFill/>
        </p:spPr>
        <p:txBody>
          <a:bodyPr wrap="square" lIns="45720" tIns="27432" rIns="45720" bIns="27432" anchor="ctr">
            <a:spAutoFit/>
          </a:bodyPr>
          <a:lstStyle/>
          <a:p>
            <a:pPr algn="l"/>
            <a:r>
              <a:rPr sz="1600" b="1">
                <a:solidFill>
                  <a:srgbClr val="1F4E79"/>
                </a:solidFill>
                <a:latin typeface="Calibri"/>
              </a:rPr>
              <a:t>Which districts to visit, assess or enrol first</a:t>
            </a:r>
          </a:p>
        </p:txBody>
      </p:sp>
      <p:sp>
        <p:nvSpPr>
          <p:cNvPr id="10" name="TextBox 9"/>
          <p:cNvSpPr txBox="1"/>
          <p:nvPr/>
        </p:nvSpPr>
        <p:spPr>
          <a:xfrm>
            <a:off x="6784848" y="1691640"/>
            <a:ext cx="4480560" cy="782726"/>
          </a:xfrm>
          <a:prstGeom prst="rect">
            <a:avLst/>
          </a:prstGeom>
          <a:noFill/>
        </p:spPr>
        <p:txBody>
          <a:bodyPr wrap="square" lIns="45720" tIns="27432" rIns="45720" bIns="27432" anchor="ctr">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11" name="Rounded Rectangle 10"/>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check_green.png"/>
          <p:cNvPicPr>
            <a:picLocks noChangeAspect="1"/>
          </p:cNvPicPr>
          <p:nvPr/>
        </p:nvPicPr>
        <p:blipFill>
          <a:blip r:embed="rId3"/>
          <a:stretch>
            <a:fillRect/>
          </a:stretch>
        </p:blipFill>
        <p:spPr>
          <a:xfrm>
            <a:off x="1069848" y="2756001"/>
            <a:ext cx="320040" cy="365760"/>
          </a:xfrm>
          <a:prstGeom prst="rect">
            <a:avLst/>
          </a:prstGeom>
        </p:spPr>
      </p:pic>
      <p:sp>
        <p:nvSpPr>
          <p:cNvPr id="13" name="TextBox 12"/>
          <p:cNvSpPr txBox="1"/>
          <p:nvPr/>
        </p:nvSpPr>
        <p:spPr>
          <a:xfrm>
            <a:off x="1618488" y="2547518"/>
            <a:ext cx="5120640" cy="782726"/>
          </a:xfrm>
          <a:prstGeom prst="rect">
            <a:avLst/>
          </a:prstGeom>
          <a:noFill/>
        </p:spPr>
        <p:txBody>
          <a:bodyPr wrap="square" lIns="45720" tIns="27432" rIns="45720" bIns="27432" anchor="ctr">
            <a:spAutoFit/>
          </a:bodyPr>
          <a:lstStyle/>
          <a:p>
            <a:pPr algn="l"/>
            <a:r>
              <a:rPr sz="1600" b="1">
                <a:solidFill>
                  <a:srgbClr val="1F4E79"/>
                </a:solidFill>
                <a:latin typeface="Calibri"/>
              </a:rPr>
              <a:t>Where the next survey puts its clusters</a:t>
            </a:r>
          </a:p>
        </p:txBody>
      </p:sp>
      <p:sp>
        <p:nvSpPr>
          <p:cNvPr id="14" name="TextBox 13"/>
          <p:cNvSpPr txBox="1"/>
          <p:nvPr/>
        </p:nvSpPr>
        <p:spPr>
          <a:xfrm>
            <a:off x="6784848" y="2547518"/>
            <a:ext cx="4480560" cy="782726"/>
          </a:xfrm>
          <a:prstGeom prst="rect">
            <a:avLst/>
          </a:prstGeom>
          <a:noFill/>
        </p:spPr>
        <p:txBody>
          <a:bodyPr wrap="square" lIns="45720" tIns="27432" rIns="45720" bIns="27432" anchor="ctr">
            <a:spAutoFit/>
          </a:bodyPr>
          <a:lstStyle/>
          <a:p>
            <a:pPr algn="l"/>
            <a:r>
              <a:rPr sz="1500" b="0">
                <a:solidFill>
                  <a:srgbClr val="333333"/>
                </a:solidFill>
                <a:latin typeface="Calibri"/>
              </a:rPr>
              <a:t>The ranking is the input to the anchor-and-rank design.</a:t>
            </a:r>
          </a:p>
        </p:txBody>
      </p:sp>
      <p:sp>
        <p:nvSpPr>
          <p:cNvPr id="15" name="Rounded Rectangle 14"/>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7" name="TextBox 16"/>
          <p:cNvSpPr txBox="1"/>
          <p:nvPr/>
        </p:nvSpPr>
        <p:spPr>
          <a:xfrm>
            <a:off x="1618488" y="3403396"/>
            <a:ext cx="5120640" cy="782726"/>
          </a:xfrm>
          <a:prstGeom prst="rect">
            <a:avLst/>
          </a:prstGeom>
          <a:noFill/>
        </p:spPr>
        <p:txBody>
          <a:bodyPr wrap="square" lIns="45720" tIns="27432" rIns="45720" bIns="27432" anchor="ctr">
            <a:spAutoFit/>
          </a:bodyPr>
          <a:lstStyle/>
          <a:p>
            <a:pPr algn="l"/>
            <a:r>
              <a:rPr sz="1600" b="1">
                <a:solidFill>
                  <a:srgbClr val="1F4E79"/>
                </a:solidFill>
                <a:latin typeface="Calibri"/>
              </a:rPr>
              <a:t>Sequencing a program roll-out across districts</a:t>
            </a:r>
          </a:p>
        </p:txBody>
      </p:sp>
      <p:sp>
        <p:nvSpPr>
          <p:cNvPr id="18" name="TextBox 17"/>
          <p:cNvSpPr txBox="1"/>
          <p:nvPr/>
        </p:nvSpPr>
        <p:spPr>
          <a:xfrm>
            <a:off x="6784848" y="3403396"/>
            <a:ext cx="4480560" cy="782726"/>
          </a:xfrm>
          <a:prstGeom prst="rect">
            <a:avLst/>
          </a:prstGeom>
          <a:noFill/>
        </p:spPr>
        <p:txBody>
          <a:bodyPr wrap="square" lIns="45720" tIns="27432" rIns="45720" bIns="27432" anchor="ctr">
            <a:spAutoFit/>
          </a:bodyPr>
          <a:lstStyle/>
          <a:p>
            <a:pPr algn="l"/>
            <a:r>
              <a:rPr sz="1500" b="0">
                <a:solidFill>
                  <a:srgbClr val="333333"/>
                </a:solidFill>
                <a:latin typeface="Calibri"/>
              </a:rPr>
              <a:t>Same reason; the order is what the roll-out needs.</a:t>
            </a:r>
          </a:p>
        </p:txBody>
      </p:sp>
      <p:sp>
        <p:nvSpPr>
          <p:cNvPr id="19" name="Rounded Rectangle 18"/>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21" name="TextBox 20"/>
          <p:cNvSpPr txBox="1"/>
          <p:nvPr/>
        </p:nvSpPr>
        <p:spPr>
          <a:xfrm>
            <a:off x="1618488" y="4259275"/>
            <a:ext cx="5120640" cy="782726"/>
          </a:xfrm>
          <a:prstGeom prst="rect">
            <a:avLst/>
          </a:prstGeom>
          <a:noFill/>
        </p:spPr>
        <p:txBody>
          <a:bodyPr wrap="square" lIns="45720" tIns="27432" rIns="45720" bIns="27432" anchor="ctr">
            <a:spAutoFit/>
          </a:bodyPr>
          <a:lstStyle/>
          <a:p>
            <a:pPr algn="l"/>
            <a:r>
              <a:rPr sz="1600" b="1">
                <a:solidFill>
                  <a:srgbClr val="1F4E79"/>
                </a:solidFill>
                <a:latin typeface="Calibri"/>
              </a:rPr>
              <a:t>A planning prevalence for a district</a:t>
            </a:r>
          </a:p>
        </p:txBody>
      </p:sp>
      <p:sp>
        <p:nvSpPr>
          <p:cNvPr id="22" name="TextBox 21"/>
          <p:cNvSpPr txBox="1"/>
          <p:nvPr/>
        </p:nvSpPr>
        <p:spPr>
          <a:xfrm>
            <a:off x="6784848" y="4259275"/>
            <a:ext cx="4480560" cy="782726"/>
          </a:xfrm>
          <a:prstGeom prst="rect">
            <a:avLst/>
          </a:prstGeom>
          <a:noFill/>
        </p:spPr>
        <p:txBody>
          <a:bodyPr wrap="square" lIns="45720" tIns="27432" rIns="45720" bIns="27432" anchor="ctr">
            <a:spAutoFit/>
          </a:bodyPr>
          <a:lstStyle/>
          <a:p>
            <a:pPr algn="l"/>
            <a:r>
              <a:rPr sz="1500" b="0">
                <a:solidFill>
                  <a:srgbClr val="333333"/>
                </a:solidFill>
                <a:latin typeface="Calibri"/>
              </a:rPr>
              <a:t>Only with a national anchor: 9.3 points median error at a 5% national sample.</a:t>
            </a:r>
          </a:p>
        </p:txBody>
      </p:sp>
      <p:sp>
        <p:nvSpPr>
          <p:cNvPr id="23" name="Rounded Rectangle 22"/>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xmark_grey.png"/>
          <p:cNvPicPr>
            <a:picLocks noChangeAspect="1"/>
          </p:cNvPicPr>
          <p:nvPr/>
        </p:nvPicPr>
        <p:blipFill>
          <a:blip r:embed="rId5"/>
          <a:stretch>
            <a:fillRect/>
          </a:stretch>
        </p:blipFill>
        <p:spPr>
          <a:xfrm>
            <a:off x="1069848" y="5323636"/>
            <a:ext cx="274320" cy="365760"/>
          </a:xfrm>
          <a:prstGeom prst="rect">
            <a:avLst/>
          </a:prstGeom>
        </p:spPr>
      </p:pic>
      <p:sp>
        <p:nvSpPr>
          <p:cNvPr id="25" name="TextBox 24"/>
          <p:cNvSpPr txBox="1"/>
          <p:nvPr/>
        </p:nvSpPr>
        <p:spPr>
          <a:xfrm>
            <a:off x="1618488" y="5115153"/>
            <a:ext cx="5120640" cy="782726"/>
          </a:xfrm>
          <a:prstGeom prst="rect">
            <a:avLst/>
          </a:prstGeom>
          <a:noFill/>
        </p:spPr>
        <p:txBody>
          <a:bodyPr wrap="square" lIns="45720" tIns="27432" rIns="45720" bIns="27432" anchor="ctr">
            <a:spAutoFit/>
          </a:bodyPr>
          <a:lstStyle/>
          <a:p>
            <a:pPr algn="l"/>
            <a:r>
              <a:rPr sz="1600" b="1">
                <a:solidFill>
                  <a:srgbClr val="1F4E79"/>
                </a:solidFill>
                <a:latin typeface="Calibri"/>
              </a:rPr>
              <a:t>A district prevalence with no survey at all, or whether a program worked</a:t>
            </a:r>
          </a:p>
        </p:txBody>
      </p:sp>
      <p:sp>
        <p:nvSpPr>
          <p:cNvPr id="26" name="TextBox 25"/>
          <p:cNvSpPr txBox="1"/>
          <p:nvPr/>
        </p:nvSpPr>
        <p:spPr>
          <a:xfrm>
            <a:off x="6784848" y="5115153"/>
            <a:ext cx="4480560" cy="782726"/>
          </a:xfrm>
          <a:prstGeom prst="rect">
            <a:avLst/>
          </a:prstGeom>
          <a:noFill/>
        </p:spPr>
        <p:txBody>
          <a:bodyPr wrap="square" lIns="45720" tIns="27432" rIns="45720" bIns="27432" anchor="ctr">
            <a:spAutoFit/>
          </a:bodyPr>
          <a:lstStyle/>
          <a:p>
            <a:pPr algn="l"/>
            <a:r>
              <a:rPr sz="1500" b="0">
                <a:solidFill>
                  <a:srgbClr val="333333"/>
                </a:solidFill>
                <a:latin typeface="Calibri"/>
              </a:rPr>
              <a:t>The model has no level of its own and is validated on one point in time, not on change.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Malawi: survey, held-out prediction, extrapolation and uncertainty</a:t>
            </a:r>
          </a:p>
        </p:txBody>
      </p:sp>
      <p:pic>
        <p:nvPicPr>
          <p:cNvPr id="3" name="Picture 1" descr="MN-proxy-full-talk-2026-09_files/figure-pptx/malawi-four-1.png"/>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42</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Seeing the results</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43</a:t>
            </a:fld>
            <a:endParaRPr lang="en-BG"/>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should every map in this deck be read?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44</a:t>
            </a:fld>
            <a:endParaRPr lang="en-BG"/>
          </a:p>
        </p:txBody>
      </p:sp>
      <p:sp>
        <p:nvSpPr>
          <p:cNvPr id="7" name="Rounded Rectangle 6"/>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circle-check_blue.png"/>
          <p:cNvPicPr>
            <a:picLocks noChangeAspect="1"/>
          </p:cNvPicPr>
          <p:nvPr/>
        </p:nvPicPr>
        <p:blipFill>
          <a:blip r:embed="rId3"/>
          <a:stretch>
            <a:fillRect/>
          </a:stretch>
        </p:blipFill>
        <p:spPr>
          <a:xfrm>
            <a:off x="1999488" y="1920240"/>
            <a:ext cx="914400" cy="914400"/>
          </a:xfrm>
          <a:prstGeom prst="rect">
            <a:avLst/>
          </a:prstGeom>
        </p:spPr>
      </p:pic>
      <p:sp>
        <p:nvSpPr>
          <p:cNvPr id="9" name="TextBox 8"/>
          <p:cNvSpPr txBox="1"/>
          <p:nvPr/>
        </p:nvSpPr>
        <p:spPr>
          <a:xfrm>
            <a:off x="93268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Grade A: several clusters</a:t>
            </a:r>
          </a:p>
        </p:txBody>
      </p:sp>
      <p:sp>
        <p:nvSpPr>
          <p:cNvPr id="10" name="TextBox 9"/>
          <p:cNvSpPr txBox="1"/>
          <p:nvPr/>
        </p:nvSpPr>
        <p:spPr>
          <a:xfrm>
            <a:off x="111556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more than one survey cluster (39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solid fill</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own district value is worth comparing with</a:t>
            </a:r>
          </a:p>
        </p:txBody>
      </p:sp>
      <p:sp>
        <p:nvSpPr>
          <p:cNvPr id="11" name="Rounded Rectangle 10"/>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13" name="TextBox 12"/>
          <p:cNvSpPr txBox="1"/>
          <p:nvPr/>
        </p:nvSpPr>
        <p:spPr>
          <a:xfrm>
            <a:off x="457504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Grade B: one cluster</a:t>
            </a:r>
          </a:p>
        </p:txBody>
      </p:sp>
      <p:sp>
        <p:nvSpPr>
          <p:cNvPr id="14" name="TextBox 13"/>
          <p:cNvSpPr txBox="1"/>
          <p:nvPr/>
        </p:nvSpPr>
        <p:spPr>
          <a:xfrm>
            <a:off x="475792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a single cluster (80% of surveyed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hatched</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district value is itself a noisy estimate; the ceiling slide says how noisy</a:t>
            </a:r>
          </a:p>
        </p:txBody>
      </p:sp>
      <p:sp>
        <p:nvSpPr>
          <p:cNvPr id="15" name="Rounded Rectangle 14"/>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circle-question_blue.png"/>
          <p:cNvPicPr>
            <a:picLocks noChangeAspect="1"/>
          </p:cNvPicPr>
          <p:nvPr/>
        </p:nvPicPr>
        <p:blipFill>
          <a:blip r:embed="rId5"/>
          <a:stretch>
            <a:fillRect/>
          </a:stretch>
        </p:blipFill>
        <p:spPr>
          <a:xfrm>
            <a:off x="9284208" y="1920240"/>
            <a:ext cx="914400" cy="914400"/>
          </a:xfrm>
          <a:prstGeom prst="rect">
            <a:avLst/>
          </a:prstGeom>
        </p:spPr>
      </p:pic>
      <p:sp>
        <p:nvSpPr>
          <p:cNvPr id="17" name="TextBox 16"/>
          <p:cNvSpPr txBox="1"/>
          <p:nvPr/>
        </p:nvSpPr>
        <p:spPr>
          <a:xfrm>
            <a:off x="8217408" y="2971800"/>
            <a:ext cx="3048000" cy="457200"/>
          </a:xfrm>
          <a:prstGeom prst="rect">
            <a:avLst/>
          </a:prstGeom>
          <a:noFill/>
        </p:spPr>
        <p:txBody>
          <a:bodyPr wrap="square" lIns="45720" tIns="27432" rIns="45720" bIns="27432" anchor="t">
            <a:spAutoFit/>
          </a:bodyPr>
          <a:lstStyle/>
          <a:p>
            <a:pPr algn="ctr"/>
            <a:r>
              <a:rPr sz="2000" b="1">
                <a:solidFill>
                  <a:srgbClr val="1F4E79"/>
                </a:solidFill>
                <a:latin typeface="Calibri"/>
              </a:rPr>
              <a:t>Grade C: no survey</a:t>
            </a:r>
          </a:p>
        </p:txBody>
      </p:sp>
      <p:sp>
        <p:nvSpPr>
          <p:cNvPr id="18" name="TextBox 17"/>
          <p:cNvSpPr txBox="1"/>
          <p:nvPr/>
        </p:nvSpPr>
        <p:spPr>
          <a:xfrm>
            <a:off x="8400288" y="3520440"/>
            <a:ext cx="2682240" cy="2286000"/>
          </a:xfrm>
          <a:prstGeom prst="rect">
            <a:avLst/>
          </a:prstGeom>
          <a:noFill/>
        </p:spPr>
        <p:txBody>
          <a:bodyPr wrap="square" lIns="45720" tIns="27432" rIns="45720" bIns="27432" anchor="t">
            <a:spAutoFit/>
          </a:bodyPr>
          <a:lstStyle/>
          <a:p>
            <a:pPr algn="l">
              <a:spcAft>
                <a:spcPts val="600"/>
              </a:spcAft>
            </a:pPr>
            <a:r>
              <a:rPr sz="1400" b="1">
                <a:solidFill>
                  <a:srgbClr val="1F4E79"/>
                </a:solidFill>
                <a:latin typeface="Calibri"/>
              </a:rPr>
              <a:t>What:</a:t>
            </a:r>
            <a:r>
              <a:rPr sz="1400">
                <a:solidFill>
                  <a:srgbClr val="333333"/>
                </a:solidFill>
                <a:latin typeface="Calibri"/>
              </a:rPr>
              <a:t> districts the survey never reached, and every district of a country with no survey</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gray on survey maps, filled on model maps</a:t>
            </a:r>
          </a:p>
          <a:p>
            <a:pPr algn="l">
              <a:spcBef>
                <a:spcPts val="300"/>
              </a:spcBef>
              <a:spcAft>
                <a:spcPts val="600"/>
              </a:spcAft>
            </a:pPr>
            <a:r>
              <a:rPr sz="1400" b="1">
                <a:solidFill>
                  <a:srgbClr val="1F4E79"/>
                </a:solidFill>
                <a:latin typeface="Calibri"/>
              </a:rPr>
              <a:t>Read:</a:t>
            </a:r>
            <a:r>
              <a:rPr sz="1400">
                <a:solidFill>
                  <a:srgbClr val="333333"/>
                </a:solidFill>
                <a:latin typeface="Calibri"/>
              </a:rPr>
              <a:t> only the model speaks; its intervals say how stable it is, not how right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reliable is the survey’s own district map?</a:t>
            </a:r>
          </a:p>
        </p:txBody>
      </p:sp>
      <p:pic>
        <p:nvPicPr>
          <p:cNvPr id="3" name="Picture 1" descr="MN-proxy-full-talk-2026-09_files/figure-pptx/hatched-maps-1.png"/>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45</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Does the model track the survey, district by district?</a:t>
            </a:r>
          </a:p>
        </p:txBody>
      </p:sp>
      <p:pic>
        <p:nvPicPr>
          <p:cNvPr id="3" name="Picture 1" descr="MN-proxy-full-talk-2026-09_files/figure-pptx/pred-obs-1.png"/>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46</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Does it match the survey at the regional level?</a:t>
            </a:r>
          </a:p>
        </p:txBody>
      </p:sp>
      <p:pic>
        <p:nvPicPr>
          <p:cNvPr id="3" name="Picture 1" descr="MN-proxy-full-talk-2026-09_files/figure-pptx/admin1-pairs-1.png"/>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47</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likely is a district to be above the 20% line?</a:t>
            </a:r>
          </a:p>
        </p:txBody>
      </p:sp>
      <p:pic>
        <p:nvPicPr>
          <p:cNvPr id="3" name="Picture 1" descr="MN-proxy-full-talk-2026-09_files/figure-pptx/exceedance-map-1.png"/>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48</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How bad, and how sure, on one map?</a:t>
            </a:r>
          </a:p>
        </p:txBody>
      </p:sp>
      <p:pic>
        <p:nvPicPr>
          <p:cNvPr id="3" name="Picture 1" descr="MN-proxy-full-talk-2026-09_files/figure-pptx/bivariate-civ-1.png"/>
          <p:cNvPicPr>
            <a:picLocks noGrp="1" noChangeAspect="1"/>
          </p:cNvPicPr>
          <p:nvPr/>
        </p:nvPicPr>
        <p:blipFill>
          <a:blip r:embed="rId3"/>
          <a:stretch>
            <a:fillRect/>
          </a:stretch>
        </p:blipFill>
        <p:spPr bwMode="auto">
          <a:xfrm>
            <a:off x="1928742" y="1600200"/>
            <a:ext cx="833146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49</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do the rank intervals promise, and what do they not?</a:t>
            </a:r>
          </a:p>
        </p:txBody>
      </p:sp>
      <p:pic>
        <p:nvPicPr>
          <p:cNvPr id="3" name="Picture 1" descr="MN-proxy-full-talk-2026-09_files/figure-pptx/coverage-1.png"/>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50</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moves each district, predictor by predictor?</a:t>
            </a:r>
          </a:p>
        </p:txBody>
      </p:sp>
      <p:pic>
        <p:nvPicPr>
          <p:cNvPr id="3" name="Picture 1" descr="MN-proxy-full-talk-2026-09_files/figure-pptx/beeswarm-1.png"/>
          <p:cNvPicPr>
            <a:picLocks noGrp="1" noChangeAspect="1"/>
          </p:cNvPicPr>
          <p:nvPr/>
        </p:nvPicPr>
        <p:blipFill>
          <a:blip r:embed="rId3"/>
          <a:stretch>
            <a:fillRect/>
          </a:stretch>
        </p:blipFill>
        <p:spPr bwMode="auto">
          <a:xfrm>
            <a:off x="1308314" y="1600200"/>
            <a:ext cx="957232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51</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Does each survey added improve every other map?</a:t>
            </a:r>
          </a:p>
        </p:txBody>
      </p:sp>
      <p:pic>
        <p:nvPicPr>
          <p:cNvPr id="3" name="Picture 1" descr="MN-proxy-full-talk-2026-09_files/figure-pptx/curve-argument-1.png"/>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52</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What carries the signal</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53</a:t>
            </a:fld>
            <a:endParaRPr lang="en-BG"/>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Which predictors carry the most weight?</a:t>
            </a:r>
          </a:p>
        </p:txBody>
      </p:sp>
      <p:pic>
        <p:nvPicPr>
          <p:cNvPr id="3" name="Picture 1" descr="MN-proxy-full-talk-2026-09_files/figure-pptx/top-weights-one-1.png"/>
          <p:cNvPicPr>
            <a:picLocks noGrp="1" noChangeAspect="1"/>
          </p:cNvPicPr>
          <p:nvPr/>
        </p:nvPicPr>
        <p:blipFill>
          <a:blip r:embed="rId3"/>
          <a:stretch>
            <a:fillRect/>
          </a:stretch>
        </p:blipFill>
        <p:spPr bwMode="auto">
          <a:xfrm>
            <a:off x="1608301" y="1600200"/>
            <a:ext cx="897234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54</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are the weights behind the best ranking? Malawi, women’s B12</a:t>
            </a:r>
          </a:p>
        </p:txBody>
      </p:sp>
      <p:pic>
        <p:nvPicPr>
          <p:cNvPr id="3" name="Picture 1" descr="MN-proxy-full-talk-2026-09_files/figure-pptx/vim-b12-1.png"/>
          <p:cNvPicPr>
            <a:picLocks noGrp="1" noChangeAspect="1"/>
          </p:cNvPicPr>
          <p:nvPr/>
        </p:nvPicPr>
        <p:blipFill>
          <a:blip r:embed="rId3"/>
          <a:stretch>
            <a:fillRect/>
          </a:stretch>
        </p:blipFill>
        <p:spPr bwMode="auto">
          <a:xfrm>
            <a:off x="1096959" y="1600200"/>
            <a:ext cx="999503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55</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Causal driver or surrogate marker? Fish, anemia and B12 in Malawi</a:t>
            </a:r>
          </a:p>
        </p:txBody>
      </p:sp>
      <p:pic>
        <p:nvPicPr>
          <p:cNvPr id="3" name="Picture 1" descr="MN-proxy-full-talk-2026-09_files/figure-pptx/b12-surrogate-1.png"/>
          <p:cNvPicPr>
            <a:picLocks noGrp="1" noChangeAspect="1"/>
          </p:cNvPicPr>
          <p:nvPr/>
        </p:nvPicPr>
        <p:blipFill>
          <a:blip r:embed="rId3"/>
          <a:stretch>
            <a:fillRect/>
          </a:stretch>
        </p:blipFill>
        <p:spPr bwMode="auto">
          <a:xfrm>
            <a:off x="715157" y="1600200"/>
            <a:ext cx="1075863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56</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What travels across borders, and what does not?</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Loss in transported Spearman (biomarker level, 22 outcome-country combinations) when each domain is dropped and the components rebuilt, mean over outcome-country combinations with a 95% interval. The load-bearing domains are Climate and weather, Soil characteristics, Anaemia and haemoglobin; removing 7 of the 21 domains costs nothing or helps.</a:t>
            </a:r>
          </a:p>
        </p:txBody>
      </p:sp>
      <p:pic>
        <p:nvPicPr>
          <p:cNvPr id="4" name="Picture 1" descr="MN-proxy-full-talk-2026-09_files/figure-pptx/ablation-1.png"/>
          <p:cNvPicPr>
            <a:picLocks noGrp="1" noChangeAspect="1"/>
          </p:cNvPicPr>
          <p:nvPr/>
        </p:nvPicPr>
        <p:blipFill>
          <a:blip r:embed="rId3"/>
          <a:stretch>
            <a:fillRect/>
          </a:stretch>
        </p:blipFill>
        <p:spPr bwMode="auto">
          <a:xfrm>
            <a:off x="411480" y="1645920"/>
            <a:ext cx="6766560" cy="6537185"/>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57</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drives the transport models?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58</a:t>
            </a:fld>
            <a:endParaRPr lang="en-BG"/>
          </a:p>
        </p:txBody>
      </p:sp>
      <p:pic>
        <p:nvPicPr>
          <p:cNvPr id="7" name="Picture 6"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8" name="TextBox 7"/>
          <p:cNvSpPr txBox="1"/>
          <p:nvPr/>
        </p:nvSpPr>
        <p:spPr>
          <a:xfrm>
            <a:off x="1984248" y="1691640"/>
            <a:ext cx="9326880" cy="694944"/>
          </a:xfrm>
          <a:prstGeom prst="rect">
            <a:avLst/>
          </a:prstGeom>
          <a:noFill/>
        </p:spPr>
        <p:txBody>
          <a:bodyPr wrap="square" lIns="45720" tIns="27432" rIns="45720" bIns="27432" anchor="ctr">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9" name="Picture 8"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10" name="TextBox 9"/>
          <p:cNvSpPr txBox="1"/>
          <p:nvPr/>
        </p:nvSpPr>
        <p:spPr>
          <a:xfrm>
            <a:off x="1984248" y="2569464"/>
            <a:ext cx="9326880" cy="694944"/>
          </a:xfrm>
          <a:prstGeom prst="rect">
            <a:avLst/>
          </a:prstGeom>
          <a:noFill/>
        </p:spPr>
        <p:txBody>
          <a:bodyPr wrap="square" lIns="45720" tIns="27432" rIns="45720" bIns="27432" anchor="ctr">
            <a:spAutoFit/>
          </a:bodyPr>
          <a:lstStyle/>
          <a:p>
            <a:pPr algn="l"/>
            <a:r>
              <a:rPr sz="1700" b="1">
                <a:solidFill>
                  <a:srgbClr val="1F4E79"/>
                </a:solidFill>
                <a:latin typeface="Calibri"/>
              </a:rPr>
              <a:t>The modeled child-growth and anemia surfaces</a:t>
            </a:r>
          </a:p>
          <a:p>
            <a:pPr algn="l">
              <a:spcBef>
                <a:spcPts val="300"/>
              </a:spcBef>
            </a:pPr>
            <a:r>
              <a:rPr sz="1250" b="0">
                <a:solidFill>
                  <a:srgbClr val="333333"/>
                </a:solidFill>
                <a:latin typeface="Calibri"/>
              </a:rPr>
              <a:t>Wasting, underweight and anemia point to worse status; overweight points the other way and behaves as a wealth proxy.</a:t>
            </a:r>
          </a:p>
        </p:txBody>
      </p:sp>
      <p:pic>
        <p:nvPicPr>
          <p:cNvPr id="11" name="Picture 10"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12" name="TextBox 11"/>
          <p:cNvSpPr txBox="1"/>
          <p:nvPr/>
        </p:nvSpPr>
        <p:spPr>
          <a:xfrm>
            <a:off x="1984248" y="3447288"/>
            <a:ext cx="9326880" cy="694944"/>
          </a:xfrm>
          <a:prstGeom prst="rect">
            <a:avLst/>
          </a:prstGeom>
          <a:noFill/>
        </p:spPr>
        <p:txBody>
          <a:bodyPr wrap="square" lIns="45720" tIns="27432" rIns="45720" bIns="27432" anchor="ctr">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13" name="Picture 12" descr="road_blue.png"/>
          <p:cNvPicPr>
            <a:picLocks noChangeAspect="1"/>
          </p:cNvPicPr>
          <p:nvPr/>
        </p:nvPicPr>
        <p:blipFill>
          <a:blip r:embed="rId6"/>
          <a:stretch>
            <a:fillRect/>
          </a:stretch>
        </p:blipFill>
        <p:spPr>
          <a:xfrm>
            <a:off x="932688" y="4416552"/>
            <a:ext cx="576072" cy="512064"/>
          </a:xfrm>
          <a:prstGeom prst="rect">
            <a:avLst/>
          </a:prstGeom>
        </p:spPr>
      </p:pic>
      <p:sp>
        <p:nvSpPr>
          <p:cNvPr id="14" name="TextBox 13"/>
          <p:cNvSpPr txBox="1"/>
          <p:nvPr/>
        </p:nvSpPr>
        <p:spPr>
          <a:xfrm>
            <a:off x="1984248" y="4325112"/>
            <a:ext cx="9326880" cy="694944"/>
          </a:xfrm>
          <a:prstGeom prst="rect">
            <a:avLst/>
          </a:prstGeom>
          <a:noFill/>
        </p:spPr>
        <p:txBody>
          <a:bodyPr wrap="square" lIns="45720" tIns="27432" rIns="45720" bIns="27432" anchor="ctr">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5" name="Picture 14"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6" name="TextBox 15"/>
          <p:cNvSpPr txBox="1"/>
          <p:nvPr/>
        </p:nvSpPr>
        <p:spPr>
          <a:xfrm>
            <a:off x="1984248" y="5202936"/>
            <a:ext cx="9326880" cy="694944"/>
          </a:xfrm>
          <a:prstGeom prst="rect">
            <a:avLst/>
          </a:prstGeom>
          <a:noFill/>
        </p:spPr>
        <p:txBody>
          <a:bodyPr wrap="square" lIns="45720" tIns="27432" rIns="45720" bIns="27432" anchor="ctr">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Which associations replicate in every country?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Indicators whose district-level association with the outcome has the same sign in every country with the outcome, ranked by pooled meta-analytic z. Positive z means more deficiency.</a:t>
            </a:r>
          </a:p>
        </p:txBody>
      </p:sp>
      <p:pic>
        <p:nvPicPr>
          <p:cNvPr id="4" name="Picture 1" descr="MN-proxy-full-talk-2026-09_files/figure-pptx/signal-1.png"/>
          <p:cNvPicPr>
            <a:picLocks noGrp="1" noChangeAspect="1"/>
          </p:cNvPicPr>
          <p:nvPr/>
        </p:nvPicPr>
        <p:blipFill>
          <a:blip r:embed="rId3"/>
          <a:stretch>
            <a:fillRect/>
          </a:stretch>
        </p:blipFill>
        <p:spPr bwMode="auto">
          <a:xfrm>
            <a:off x="411480" y="1645920"/>
            <a:ext cx="6766560" cy="571398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59</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Limits and survey design</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60</a:t>
            </a:fld>
            <a:endParaRPr lang="en-BG"/>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How good could any model be against this survey?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The survey’s own district numbers are estimates, mostly from one cluster each. This shows how well even a perfect predictor of the true district value could match them: on average 0.48, by country. The model’s 0.28 on the same scale is 59% of that. The gap between the model and 1.0 is mostly the survey’s noise, not the model’s ignorance.</a:t>
            </a:r>
          </a:p>
        </p:txBody>
      </p:sp>
      <p:pic>
        <p:nvPicPr>
          <p:cNvPr id="4" name="Picture 1" descr="MN-proxy-full-talk-2026-09_files/figure-pptx/ceiling-1.png"/>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61</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Could a small national survey plus the model replace a district survey?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Four ways to get district numbers, costed against the size of survey each needs. A small national sample, 5% of a full survey, with the model’s ranking spread across districts gives a median district error of 9.3 points. A survey designed to measure each district directly needs about 25% of its full size to do as well.</a:t>
            </a:r>
          </a:p>
        </p:txBody>
      </p:sp>
      <p:pic>
        <p:nvPicPr>
          <p:cNvPr id="4" name="Picture 1" descr="MN-proxy-full-talk-2026-09_files/figure-pptx/anchor-1.png"/>
          <p:cNvPicPr>
            <a:picLocks noGrp="1" noChangeAspect="1"/>
          </p:cNvPicPr>
          <p:nvPr/>
        </p:nvPicPr>
        <p:blipFill>
          <a:blip r:embed="rId3"/>
          <a:stretch>
            <a:fillRect/>
          </a:stretch>
        </p:blipFill>
        <p:spPr bwMode="auto">
          <a:xfrm>
            <a:off x="411480" y="1645920"/>
            <a:ext cx="6766560" cy="514125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62</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Does each survey added help the others?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id="4" name="Picture 1" descr="MN-proxy-full-talk-2026-09_files/figure-pptx/curve-1.png"/>
          <p:cNvPicPr>
            <a:picLocks noGrp="1" noChangeAspect="1"/>
          </p:cNvPicPr>
          <p:nvPr/>
        </p:nvPicPr>
        <p:blipFill>
          <a:blip r:embed="rId3"/>
          <a:stretch>
            <a:fillRect/>
          </a:stretch>
        </p:blipFill>
        <p:spPr bwMode="auto">
          <a:xfrm>
            <a:off x="411480" y="1645920"/>
            <a:ext cx="6766560" cy="514125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63</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Closing</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64</a:t>
            </a:fld>
            <a:endParaRPr lang="en-BG"/>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the models can and cannot do yet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65</a:t>
            </a:fld>
            <a:endParaRPr lang="en-BG"/>
          </a:p>
        </p:txBody>
      </p:sp>
      <p:sp>
        <p:nvSpPr>
          <p:cNvPr id="7" name="Rounded Rectangle 6"/>
          <p:cNvSpPr/>
          <p:nvPr/>
        </p:nvSpPr>
        <p:spPr>
          <a:xfrm>
            <a:off x="841248" y="1691640"/>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check_green.png"/>
          <p:cNvPicPr>
            <a:picLocks noChangeAspect="1"/>
          </p:cNvPicPr>
          <p:nvPr/>
        </p:nvPicPr>
        <p:blipFill>
          <a:blip r:embed="rId3"/>
          <a:stretch>
            <a:fillRect/>
          </a:stretch>
        </p:blipFill>
        <p:spPr>
          <a:xfrm>
            <a:off x="1069848" y="1764792"/>
            <a:ext cx="276034" cy="315468"/>
          </a:xfrm>
          <a:prstGeom prst="rect">
            <a:avLst/>
          </a:prstGeom>
        </p:spPr>
      </p:pic>
      <p:sp>
        <p:nvSpPr>
          <p:cNvPr id="9" name="TextBox 8"/>
          <p:cNvSpPr txBox="1"/>
          <p:nvPr/>
        </p:nvSpPr>
        <p:spPr>
          <a:xfrm>
            <a:off x="1618488" y="1691640"/>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Rank districts in a surveyed country?</a:t>
            </a:r>
          </a:p>
        </p:txBody>
      </p:sp>
      <p:sp>
        <p:nvSpPr>
          <p:cNvPr id="10" name="TextBox 9"/>
          <p:cNvSpPr txBox="1"/>
          <p:nvPr/>
        </p:nvSpPr>
        <p:spPr>
          <a:xfrm>
            <a:off x="6784848" y="1691640"/>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Yes: 0.40, null 0.08.</a:t>
            </a:r>
          </a:p>
        </p:txBody>
      </p:sp>
      <p:sp>
        <p:nvSpPr>
          <p:cNvPr id="11" name="Rounded Rectangle 10"/>
          <p:cNvSpPr/>
          <p:nvPr/>
        </p:nvSpPr>
        <p:spPr>
          <a:xfrm>
            <a:off x="841248" y="2226564"/>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triangle-exclamation_amber.png"/>
          <p:cNvPicPr>
            <a:picLocks noChangeAspect="1"/>
          </p:cNvPicPr>
          <p:nvPr/>
        </p:nvPicPr>
        <p:blipFill>
          <a:blip r:embed="rId4"/>
          <a:stretch>
            <a:fillRect/>
          </a:stretch>
        </p:blipFill>
        <p:spPr>
          <a:xfrm>
            <a:off x="1069848" y="2299716"/>
            <a:ext cx="315468" cy="315468"/>
          </a:xfrm>
          <a:prstGeom prst="rect">
            <a:avLst/>
          </a:prstGeom>
        </p:spPr>
      </p:pic>
      <p:sp>
        <p:nvSpPr>
          <p:cNvPr id="13" name="TextBox 12"/>
          <p:cNvSpPr txBox="1"/>
          <p:nvPr/>
        </p:nvSpPr>
        <p:spPr>
          <a:xfrm>
            <a:off x="1618488" y="2226564"/>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Rank districts in a new country?</a:t>
            </a:r>
          </a:p>
        </p:txBody>
      </p:sp>
      <p:sp>
        <p:nvSpPr>
          <p:cNvPr id="14" name="TextBox 13"/>
          <p:cNvSpPr txBox="1"/>
          <p:nvPr/>
        </p:nvSpPr>
        <p:spPr>
          <a:xfrm>
            <a:off x="6784848" y="2226564"/>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Yes, less well: 0.30 against 0.08.</a:t>
            </a:r>
          </a:p>
        </p:txBody>
      </p:sp>
      <p:sp>
        <p:nvSpPr>
          <p:cNvPr id="15" name="Rounded Rectangle 14"/>
          <p:cNvSpPr/>
          <p:nvPr/>
        </p:nvSpPr>
        <p:spPr>
          <a:xfrm>
            <a:off x="841248" y="2761488"/>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check_green.png"/>
          <p:cNvPicPr>
            <a:picLocks noChangeAspect="1"/>
          </p:cNvPicPr>
          <p:nvPr/>
        </p:nvPicPr>
        <p:blipFill>
          <a:blip r:embed="rId3"/>
          <a:stretch>
            <a:fillRect/>
          </a:stretch>
        </p:blipFill>
        <p:spPr>
          <a:xfrm>
            <a:off x="1069848" y="2834640"/>
            <a:ext cx="276034" cy="315468"/>
          </a:xfrm>
          <a:prstGeom prst="rect">
            <a:avLst/>
          </a:prstGeom>
        </p:spPr>
      </p:pic>
      <p:sp>
        <p:nvSpPr>
          <p:cNvPr id="17" name="TextBox 16"/>
          <p:cNvSpPr txBox="1"/>
          <p:nvPr/>
        </p:nvSpPr>
        <p:spPr>
          <a:xfrm>
            <a:off x="1618488" y="2761488"/>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Which predictors carry the signal?</a:t>
            </a:r>
          </a:p>
        </p:txBody>
      </p:sp>
      <p:sp>
        <p:nvSpPr>
          <p:cNvPr id="18" name="TextBox 17"/>
          <p:cNvSpPr txBox="1"/>
          <p:nvPr/>
        </p:nvSpPr>
        <p:spPr>
          <a:xfrm>
            <a:off x="6784848" y="2761488"/>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Satellite, climate and soil.</a:t>
            </a:r>
          </a:p>
        </p:txBody>
      </p:sp>
      <p:sp>
        <p:nvSpPr>
          <p:cNvPr id="19" name="Rounded Rectangle 18"/>
          <p:cNvSpPr/>
          <p:nvPr/>
        </p:nvSpPr>
        <p:spPr>
          <a:xfrm>
            <a:off x="841248" y="3296412"/>
            <a:ext cx="10515600" cy="461772"/>
          </a:xfrm>
          <a:prstGeom prst="roundRect">
            <a:avLst>
              <a:gd name="adj" fmla="val 15841"/>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xmark_grey.png"/>
          <p:cNvPicPr>
            <a:picLocks noChangeAspect="1"/>
          </p:cNvPicPr>
          <p:nvPr/>
        </p:nvPicPr>
        <p:blipFill>
          <a:blip r:embed="rId5"/>
          <a:stretch>
            <a:fillRect/>
          </a:stretch>
        </p:blipFill>
        <p:spPr>
          <a:xfrm>
            <a:off x="1069848" y="3369564"/>
            <a:ext cx="236601" cy="315468"/>
          </a:xfrm>
          <a:prstGeom prst="rect">
            <a:avLst/>
          </a:prstGeom>
        </p:spPr>
      </p:pic>
      <p:sp>
        <p:nvSpPr>
          <p:cNvPr id="21" name="TextBox 20"/>
          <p:cNvSpPr txBox="1"/>
          <p:nvPr/>
        </p:nvSpPr>
        <p:spPr>
          <a:xfrm>
            <a:off x="1618488" y="3296412"/>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Prevalence in a new country from the model alone?</a:t>
            </a:r>
          </a:p>
        </p:txBody>
      </p:sp>
      <p:sp>
        <p:nvSpPr>
          <p:cNvPr id="22" name="TextBox 21"/>
          <p:cNvSpPr txBox="1"/>
          <p:nvPr/>
        </p:nvSpPr>
        <p:spPr>
          <a:xfrm>
            <a:off x="6784848" y="3296412"/>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Not yet.</a:t>
            </a:r>
          </a:p>
        </p:txBody>
      </p:sp>
      <p:sp>
        <p:nvSpPr>
          <p:cNvPr id="23" name="Rounded Rectangle 22"/>
          <p:cNvSpPr/>
          <p:nvPr/>
        </p:nvSpPr>
        <p:spPr>
          <a:xfrm>
            <a:off x="841248" y="3831336"/>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check_green.png"/>
          <p:cNvPicPr>
            <a:picLocks noChangeAspect="1"/>
          </p:cNvPicPr>
          <p:nvPr/>
        </p:nvPicPr>
        <p:blipFill>
          <a:blip r:embed="rId3"/>
          <a:stretch>
            <a:fillRect/>
          </a:stretch>
        </p:blipFill>
        <p:spPr>
          <a:xfrm>
            <a:off x="1069848" y="3904488"/>
            <a:ext cx="276034" cy="315468"/>
          </a:xfrm>
          <a:prstGeom prst="rect">
            <a:avLst/>
          </a:prstGeom>
        </p:spPr>
      </p:pic>
      <p:sp>
        <p:nvSpPr>
          <p:cNvPr id="25" name="TextBox 24"/>
          <p:cNvSpPr txBox="1"/>
          <p:nvPr/>
        </p:nvSpPr>
        <p:spPr>
          <a:xfrm>
            <a:off x="1618488" y="3831336"/>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Prevalence with one national anchor?</a:t>
            </a:r>
          </a:p>
        </p:txBody>
      </p:sp>
      <p:sp>
        <p:nvSpPr>
          <p:cNvPr id="26" name="TextBox 25"/>
          <p:cNvSpPr txBox="1"/>
          <p:nvPr/>
        </p:nvSpPr>
        <p:spPr>
          <a:xfrm>
            <a:off x="6784848" y="3831336"/>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Yes: 9.3 points at a 5% sample.</a:t>
            </a:r>
          </a:p>
        </p:txBody>
      </p:sp>
      <p:sp>
        <p:nvSpPr>
          <p:cNvPr id="27" name="Rounded Rectangle 26"/>
          <p:cNvSpPr/>
          <p:nvPr/>
        </p:nvSpPr>
        <p:spPr>
          <a:xfrm>
            <a:off x="841248" y="4366260"/>
            <a:ext cx="10515600" cy="461772"/>
          </a:xfrm>
          <a:prstGeom prst="roundRect">
            <a:avLst>
              <a:gd name="adj" fmla="val 15841"/>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xmark_grey.png"/>
          <p:cNvPicPr>
            <a:picLocks noChangeAspect="1"/>
          </p:cNvPicPr>
          <p:nvPr/>
        </p:nvPicPr>
        <p:blipFill>
          <a:blip r:embed="rId5"/>
          <a:stretch>
            <a:fillRect/>
          </a:stretch>
        </p:blipFill>
        <p:spPr>
          <a:xfrm>
            <a:off x="1069848" y="4439412"/>
            <a:ext cx="236601" cy="315468"/>
          </a:xfrm>
          <a:prstGeom prst="rect">
            <a:avLst/>
          </a:prstGeom>
        </p:spPr>
      </p:pic>
      <p:sp>
        <p:nvSpPr>
          <p:cNvPr id="29" name="TextBox 28"/>
          <p:cNvSpPr txBox="1"/>
          <p:nvPr/>
        </p:nvSpPr>
        <p:spPr>
          <a:xfrm>
            <a:off x="1618488" y="4366260"/>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Replace biomarker surveys?</a:t>
            </a:r>
          </a:p>
        </p:txBody>
      </p:sp>
      <p:sp>
        <p:nvSpPr>
          <p:cNvPr id="30" name="TextBox 29"/>
          <p:cNvSpPr txBox="1"/>
          <p:nvPr/>
        </p:nvSpPr>
        <p:spPr>
          <a:xfrm>
            <a:off x="6784848" y="4366260"/>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No: the ceiling is the survey's.</a:t>
            </a:r>
          </a:p>
        </p:txBody>
      </p:sp>
      <p:sp>
        <p:nvSpPr>
          <p:cNvPr id="31" name="Rounded Rectangle 30"/>
          <p:cNvSpPr/>
          <p:nvPr/>
        </p:nvSpPr>
        <p:spPr>
          <a:xfrm>
            <a:off x="841248" y="4901184"/>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triangle-exclamation_amber.png"/>
          <p:cNvPicPr>
            <a:picLocks noChangeAspect="1"/>
          </p:cNvPicPr>
          <p:nvPr/>
        </p:nvPicPr>
        <p:blipFill>
          <a:blip r:embed="rId4"/>
          <a:stretch>
            <a:fillRect/>
          </a:stretch>
        </p:blipFill>
        <p:spPr>
          <a:xfrm>
            <a:off x="1069848" y="4974336"/>
            <a:ext cx="315468" cy="315468"/>
          </a:xfrm>
          <a:prstGeom prst="rect">
            <a:avLst/>
          </a:prstGeom>
        </p:spPr>
      </p:pic>
      <p:sp>
        <p:nvSpPr>
          <p:cNvPr id="33" name="TextBox 32"/>
          <p:cNvSpPr txBox="1"/>
          <p:nvPr/>
        </p:nvSpPr>
        <p:spPr>
          <a:xfrm>
            <a:off x="1618488" y="4901184"/>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Guide where the next survey samples?</a:t>
            </a:r>
          </a:p>
        </p:txBody>
      </p:sp>
      <p:sp>
        <p:nvSpPr>
          <p:cNvPr id="34" name="TextBox 33"/>
          <p:cNvSpPr txBox="1"/>
          <p:nvPr/>
        </p:nvSpPr>
        <p:spPr>
          <a:xfrm>
            <a:off x="6784848" y="4901184"/>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In design, not piloted.</a:t>
            </a:r>
          </a:p>
        </p:txBody>
      </p:sp>
      <p:sp>
        <p:nvSpPr>
          <p:cNvPr id="35" name="Rounded Rectangle 34"/>
          <p:cNvSpPr/>
          <p:nvPr/>
        </p:nvSpPr>
        <p:spPr>
          <a:xfrm>
            <a:off x="841248" y="5436108"/>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6" name="Picture 35" descr="triangle-exclamation_amber.png"/>
          <p:cNvPicPr>
            <a:picLocks noChangeAspect="1"/>
          </p:cNvPicPr>
          <p:nvPr/>
        </p:nvPicPr>
        <p:blipFill>
          <a:blip r:embed="rId4"/>
          <a:stretch>
            <a:fillRect/>
          </a:stretch>
        </p:blipFill>
        <p:spPr>
          <a:xfrm>
            <a:off x="1069848" y="5509260"/>
            <a:ext cx="315468" cy="315468"/>
          </a:xfrm>
          <a:prstGeom prst="rect">
            <a:avLst/>
          </a:prstGeom>
        </p:spPr>
      </p:pic>
      <p:sp>
        <p:nvSpPr>
          <p:cNvPr id="37" name="TextBox 36"/>
          <p:cNvSpPr txBox="1"/>
          <p:nvPr/>
        </p:nvSpPr>
        <p:spPr>
          <a:xfrm>
            <a:off x="1618488" y="5436108"/>
            <a:ext cx="5120640" cy="461772"/>
          </a:xfrm>
          <a:prstGeom prst="rect">
            <a:avLst/>
          </a:prstGeom>
          <a:noFill/>
        </p:spPr>
        <p:txBody>
          <a:bodyPr wrap="square" lIns="45720" tIns="27432" rIns="45720" bIns="27432" anchor="ctr">
            <a:spAutoFit/>
          </a:bodyPr>
          <a:lstStyle/>
          <a:p>
            <a:pPr algn="l"/>
            <a:r>
              <a:rPr sz="1600" b="1">
                <a:solidFill>
                  <a:srgbClr val="1F4E79"/>
                </a:solidFill>
                <a:latin typeface="Calibri"/>
              </a:rPr>
              <a:t>Say how sure each map is?</a:t>
            </a:r>
          </a:p>
        </p:txBody>
      </p:sp>
      <p:sp>
        <p:nvSpPr>
          <p:cNvPr id="38" name="TextBox 37"/>
          <p:cNvSpPr txBox="1"/>
          <p:nvPr/>
        </p:nvSpPr>
        <p:spPr>
          <a:xfrm>
            <a:off x="6784848" y="5436108"/>
            <a:ext cx="4480560" cy="461772"/>
          </a:xfrm>
          <a:prstGeom prst="rect">
            <a:avLst/>
          </a:prstGeom>
          <a:noFill/>
        </p:spPr>
        <p:txBody>
          <a:bodyPr wrap="square" lIns="45720" tIns="27432" rIns="45720" bIns="27432" anchor="ctr">
            <a:spAutoFit/>
          </a:bodyPr>
          <a:lstStyle/>
          <a:p>
            <a:pPr algn="l"/>
            <a:r>
              <a:rPr sz="1500" b="0">
                <a:solidFill>
                  <a:srgbClr val="333333"/>
                </a:solidFill>
                <a:latin typeface="Calibri"/>
              </a:rPr>
              <a:t>Stable, yes; verified, no: coverage 38%, not 90%; a calibrated 90% interval is ±55% of the list. A worst-third call is right 52% of the time (chance 33%).</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have we learned, and what comes next?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66</a:t>
            </a:fld>
            <a:endParaRPr lang="en-BG"/>
          </a:p>
        </p:txBody>
      </p:sp>
      <p:pic>
        <p:nvPicPr>
          <p:cNvPr id="7" name="Picture 6" descr="map-location-dot_blue.png"/>
          <p:cNvPicPr>
            <a:picLocks noChangeAspect="1"/>
          </p:cNvPicPr>
          <p:nvPr/>
        </p:nvPicPr>
        <p:blipFill>
          <a:blip r:embed="rId3"/>
          <a:stretch>
            <a:fillRect/>
          </a:stretch>
        </p:blipFill>
        <p:spPr>
          <a:xfrm>
            <a:off x="932688" y="1783080"/>
            <a:ext cx="576072" cy="512064"/>
          </a:xfrm>
          <a:prstGeom prst="rect">
            <a:avLst/>
          </a:prstGeom>
        </p:spPr>
      </p:pic>
      <p:sp>
        <p:nvSpPr>
          <p:cNvPr id="8" name="TextBox 7"/>
          <p:cNvSpPr txBox="1"/>
          <p:nvPr/>
        </p:nvSpPr>
        <p:spPr>
          <a:xfrm>
            <a:off x="1984248" y="1691640"/>
            <a:ext cx="9326880" cy="694944"/>
          </a:xfrm>
          <a:prstGeom prst="rect">
            <a:avLst/>
          </a:prstGeom>
          <a:noFill/>
        </p:spPr>
        <p:txBody>
          <a:bodyPr wrap="square" lIns="45720" tIns="27432" rIns="45720" bIns="27432" anchor="ctr">
            <a:spAutoFit/>
          </a:bodyPr>
          <a:lstStyle/>
          <a:p>
            <a:pPr algn="l"/>
            <a:r>
              <a:rPr sz="1600" b="1">
                <a:solidFill>
                  <a:srgbClr val="1F4E79"/>
                </a:solidFill>
                <a:latin typeface="Calibri"/>
              </a:rPr>
              <a:t>Public data can rank a country's districts by deficiency</a:t>
            </a:r>
          </a:p>
          <a:p>
            <a:pPr algn="l">
              <a:spcBef>
                <a:spcPts val="300"/>
              </a:spcBef>
            </a:pPr>
            <a:r>
              <a:rPr sz="1200" b="0">
                <a:solidFill>
                  <a:srgbClr val="333333"/>
                </a:solidFill>
                <a:latin typeface="Calibri"/>
              </a:rPr>
              <a:t>Inside a surveyed country better than the survey's own regional averages (0.40 vs 0.31); six district pairs in ten in the survey's order.</a:t>
            </a:r>
          </a:p>
        </p:txBody>
      </p:sp>
      <p:pic>
        <p:nvPicPr>
          <p:cNvPr id="9" name="Picture 8" descr="earth-africa_blue.png"/>
          <p:cNvPicPr>
            <a:picLocks noChangeAspect="1"/>
          </p:cNvPicPr>
          <p:nvPr/>
        </p:nvPicPr>
        <p:blipFill>
          <a:blip r:embed="rId4"/>
          <a:stretch>
            <a:fillRect/>
          </a:stretch>
        </p:blipFill>
        <p:spPr>
          <a:xfrm>
            <a:off x="932688" y="2660904"/>
            <a:ext cx="512064" cy="512064"/>
          </a:xfrm>
          <a:prstGeom prst="rect">
            <a:avLst/>
          </a:prstGeom>
        </p:spPr>
      </p:pic>
      <p:sp>
        <p:nvSpPr>
          <p:cNvPr id="10" name="TextBox 9"/>
          <p:cNvSpPr txBox="1"/>
          <p:nvPr/>
        </p:nvSpPr>
        <p:spPr>
          <a:xfrm>
            <a:off x="1984248" y="2569464"/>
            <a:ext cx="9326880" cy="694944"/>
          </a:xfrm>
          <a:prstGeom prst="rect">
            <a:avLst/>
          </a:prstGeom>
          <a:noFill/>
        </p:spPr>
        <p:txBody>
          <a:bodyPr wrap="square" lIns="45720" tIns="27432" rIns="45720" bIns="27432" anchor="ctr">
            <a:spAutoFit/>
          </a:bodyPr>
          <a:lstStyle/>
          <a:p>
            <a:pPr algn="l"/>
            <a:r>
              <a:rPr sz="1600" b="1">
                <a:solidFill>
                  <a:srgbClr val="1F4E79"/>
                </a:solidFill>
                <a:latin typeface="Calibri"/>
              </a:rPr>
              <a:t>And in a country with no survey, where nothing else can</a:t>
            </a:r>
          </a:p>
          <a:p>
            <a:pPr algn="l">
              <a:spcBef>
                <a:spcPts val="300"/>
              </a:spcBef>
            </a:pPr>
            <a:r>
              <a:rPr sz="1200" b="0">
                <a:solidFill>
                  <a:srgbClr val="333333"/>
                </a:solidFill>
                <a:latin typeface="Calibri"/>
              </a:rPr>
              <a:t>Rankings carry across borders (0.38 from climate and soil); Cote d'Ivoire has its map. Levels need one national number.</a:t>
            </a:r>
          </a:p>
        </p:txBody>
      </p:sp>
      <p:pic>
        <p:nvPicPr>
          <p:cNvPr id="11" name="Picture 10" descr="layer-group_blue.png"/>
          <p:cNvPicPr>
            <a:picLocks noChangeAspect="1"/>
          </p:cNvPicPr>
          <p:nvPr/>
        </p:nvPicPr>
        <p:blipFill>
          <a:blip r:embed="rId5"/>
          <a:stretch>
            <a:fillRect/>
          </a:stretch>
        </p:blipFill>
        <p:spPr>
          <a:xfrm>
            <a:off x="932688" y="3538728"/>
            <a:ext cx="576072" cy="512064"/>
          </a:xfrm>
          <a:prstGeom prst="rect">
            <a:avLst/>
          </a:prstGeom>
        </p:spPr>
      </p:pic>
      <p:sp>
        <p:nvSpPr>
          <p:cNvPr id="12" name="TextBox 11"/>
          <p:cNvSpPr txBox="1"/>
          <p:nvPr/>
        </p:nvSpPr>
        <p:spPr>
          <a:xfrm>
            <a:off x="1984248" y="3447288"/>
            <a:ext cx="9326880" cy="694944"/>
          </a:xfrm>
          <a:prstGeom prst="rect">
            <a:avLst/>
          </a:prstGeom>
          <a:noFill/>
        </p:spPr>
        <p:txBody>
          <a:bodyPr wrap="square" lIns="45720" tIns="27432" rIns="45720" bIns="27432" anchor="ctr">
            <a:spAutoFit/>
          </a:bodyPr>
          <a:lstStyle/>
          <a:p>
            <a:pPr algn="l"/>
            <a:r>
              <a:rPr sz="1600" b="1">
                <a:solidFill>
                  <a:srgbClr val="1F4E79"/>
                </a:solidFill>
                <a:latin typeface="Calibri"/>
              </a:rPr>
              <a:t>Where the survey can see districts, the model is close to the best any model could be</a:t>
            </a:r>
          </a:p>
          <a:p>
            <a:pPr algn="l">
              <a:spcBef>
                <a:spcPts val="300"/>
              </a:spcBef>
            </a:pPr>
            <a:r>
              <a:rPr sz="1200" b="0">
                <a:solidFill>
                  <a:srgbClr val="333333"/>
                </a:solidFill>
                <a:latin typeface="Calibri"/>
              </a:rPr>
              <a:t>Six outcome-country combinations at 0.64; The Gambia, with several clusters per district, 0.41 to 0.70.</a:t>
            </a:r>
          </a:p>
        </p:txBody>
      </p:sp>
      <p:pic>
        <p:nvPicPr>
          <p:cNvPr id="13" name="Picture 12" descr="shield-halved_blue.png"/>
          <p:cNvPicPr>
            <a:picLocks noChangeAspect="1"/>
          </p:cNvPicPr>
          <p:nvPr/>
        </p:nvPicPr>
        <p:blipFill>
          <a:blip r:embed="rId6"/>
          <a:stretch>
            <a:fillRect/>
          </a:stretch>
        </p:blipFill>
        <p:spPr>
          <a:xfrm>
            <a:off x="932688" y="4416552"/>
            <a:ext cx="512064" cy="512064"/>
          </a:xfrm>
          <a:prstGeom prst="rect">
            <a:avLst/>
          </a:prstGeom>
        </p:spPr>
      </p:pic>
      <p:sp>
        <p:nvSpPr>
          <p:cNvPr id="14" name="TextBox 13"/>
          <p:cNvSpPr txBox="1"/>
          <p:nvPr/>
        </p:nvSpPr>
        <p:spPr>
          <a:xfrm>
            <a:off x="1984248" y="4325112"/>
            <a:ext cx="9326880" cy="694944"/>
          </a:xfrm>
          <a:prstGeom prst="rect">
            <a:avLst/>
          </a:prstGeom>
          <a:noFill/>
        </p:spPr>
        <p:txBody>
          <a:bodyPr wrap="square" lIns="45720" tIns="27432" rIns="45720" bIns="27432" anchor="ctr">
            <a:spAutoFit/>
          </a:bodyPr>
          <a:lstStyle/>
          <a:p>
            <a:pPr algn="l"/>
            <a:r>
              <a:rPr sz="1600" b="1">
                <a:solidFill>
                  <a:srgbClr val="1F4E79"/>
                </a:solidFill>
                <a:latin typeface="Calibri"/>
              </a:rPr>
              <a:t>The uncertainty on every map is honest about what it is</a:t>
            </a:r>
          </a:p>
          <a:p>
            <a:pPr algn="l">
              <a:spcBef>
                <a:spcPts val="300"/>
              </a:spcBef>
            </a:pPr>
            <a:r>
              <a:rPr sz="1200" b="0">
                <a:solidFill>
                  <a:srgbClr val="333333"/>
                </a:solidFill>
                <a:latin typeface="Calibri"/>
              </a:rPr>
              <a:t>Stable under resampling, not verified: a worst-third call is right 52% of the time, chance 33%.</a:t>
            </a:r>
          </a:p>
        </p:txBody>
      </p:sp>
      <p:pic>
        <p:nvPicPr>
          <p:cNvPr id="15" name="Picture 14" descr="flag-checkered_blue.png"/>
          <p:cNvPicPr>
            <a:picLocks noChangeAspect="1"/>
          </p:cNvPicPr>
          <p:nvPr/>
        </p:nvPicPr>
        <p:blipFill>
          <a:blip r:embed="rId7"/>
          <a:stretch>
            <a:fillRect/>
          </a:stretch>
        </p:blipFill>
        <p:spPr>
          <a:xfrm>
            <a:off x="932688" y="5294376"/>
            <a:ext cx="448056" cy="512064"/>
          </a:xfrm>
          <a:prstGeom prst="rect">
            <a:avLst/>
          </a:prstGeom>
        </p:spPr>
      </p:pic>
      <p:sp>
        <p:nvSpPr>
          <p:cNvPr id="16" name="TextBox 15"/>
          <p:cNvSpPr txBox="1"/>
          <p:nvPr/>
        </p:nvSpPr>
        <p:spPr>
          <a:xfrm>
            <a:off x="1984248" y="5202936"/>
            <a:ext cx="9326880" cy="694944"/>
          </a:xfrm>
          <a:prstGeom prst="rect">
            <a:avLst/>
          </a:prstGeom>
          <a:noFill/>
        </p:spPr>
        <p:txBody>
          <a:bodyPr wrap="square" lIns="45720" tIns="27432" rIns="45720" bIns="27432" anchor="ctr">
            <a:spAutoFit/>
          </a:bodyPr>
          <a:lstStyle/>
          <a:p>
            <a:pPr algn="l"/>
            <a:r>
              <a:rPr sz="1600" b="1">
                <a:solidFill>
                  <a:srgbClr val="1F4E79"/>
                </a:solidFill>
                <a:latin typeface="Calibri"/>
              </a:rPr>
              <a:t>Next: the fifth survey scores two pre-registered indices; the survey design gets piloted</a:t>
            </a:r>
          </a:p>
          <a:p>
            <a:pPr algn="l">
              <a:spcBef>
                <a:spcPts val="300"/>
              </a:spcBef>
            </a:pPr>
            <a:r>
              <a:rPr sz="1200" b="0">
                <a:solidFill>
                  <a:srgbClr val="333333"/>
                </a:solidFill>
                <a:latin typeface="Calibri"/>
              </a:rPr>
              <a:t>Every survey added improves every other country's map (0.20 with one training survey, 0.30 with three).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marL="0" lvl="0" indent="0">
              <a:buNone/>
            </a:pPr>
            <a: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67</a:t>
            </a:fld>
            <a:endParaRPr lang="en-BG"/>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16764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4279900">
                  <a:extLst>
                    <a:ext uri="{9D8B030D-6E8A-4147-A177-3AD203B41FA5}">
                      <a16:colId xmlns:a16="http://schemas.microsoft.com/office/drawing/2014/main" val="20004"/>
                    </a:ext>
                  </a:extLst>
                </a:gridCol>
                <a:gridCol w="1397000">
                  <a:extLst>
                    <a:ext uri="{9D8B030D-6E8A-4147-A177-3AD203B41FA5}">
                      <a16:colId xmlns:a16="http://schemas.microsoft.com/office/drawing/2014/main" val="20005"/>
                    </a:ext>
                  </a:extLst>
                </a:gridCol>
              </a:tblGrid>
              <a:tr h="0">
                <a:tc>
                  <a:txBody>
                    <a:bodyPr/>
                    <a:lstStyle/>
                    <a:p>
                      <a:pPr marL="0" lvl="0" indent="0" algn="l">
                        <a:buNone/>
                      </a:pPr>
                      <a:r>
                        <a:rPr sz="1000"/>
                        <a:t>Source</a:t>
                      </a:r>
                    </a:p>
                  </a:txBody>
                  <a:tcPr/>
                </a:tc>
                <a:tc>
                  <a:txBody>
                    <a:bodyPr/>
                    <a:lstStyle/>
                    <a:p>
                      <a:pPr marL="0" lvl="0" indent="0" algn="r">
                        <a:buNone/>
                      </a:pPr>
                      <a:r>
                        <a:rPr sz="1000"/>
                        <a:t>Columns</a:t>
                      </a:r>
                    </a:p>
                  </a:txBody>
                  <a:tcPr/>
                </a:tc>
                <a:tc>
                  <a:txBody>
                    <a:bodyPr/>
                    <a:lstStyle/>
                    <a:p>
                      <a:pPr marL="0" lvl="0" indent="0" algn="l">
                        <a:buNone/>
                      </a:pPr>
                      <a:r>
                        <a:rPr sz="1000"/>
                        <a:t>Tier</a:t>
                      </a:r>
                    </a:p>
                  </a:txBody>
                  <a:tcPr/>
                </a:tc>
                <a:tc>
                  <a:txBody>
                    <a:bodyPr/>
                    <a:lstStyle/>
                    <a:p>
                      <a:pPr marL="0" lvl="0" indent="0" algn="r">
                        <a:buNone/>
                      </a:pPr>
                      <a:r>
                        <a:rPr sz="1000"/>
                        <a:t>Domains</a:t>
                      </a:r>
                    </a:p>
                  </a:txBody>
                  <a:tcPr/>
                </a:tc>
                <a:tc>
                  <a:txBody>
                    <a:bodyPr/>
                    <a:lstStyle/>
                    <a:p>
                      <a:pPr marL="0" lvl="0" indent="0" algn="l">
                        <a:buNone/>
                      </a:pPr>
                      <a:r>
                        <a:rPr sz="1000"/>
                        <a:t>Year rule</a:t>
                      </a:r>
                    </a:p>
                  </a:txBody>
                  <a:tcPr/>
                </a:tc>
                <a:tc>
                  <a:txBody>
                    <a:bodyPr/>
                    <a:lstStyle/>
                    <a:p>
                      <a:pPr marL="0" lvl="0" indent="0" algn="l">
                        <a:buNone/>
                      </a:pPr>
                      <a:r>
                        <a:rPr sz="1000"/>
                        <a:t>Largest gap (years)</a:t>
                      </a:r>
                    </a:p>
                  </a:txBody>
                  <a:tcPr/>
                </a:tc>
                <a:extLst>
                  <a:ext uri="{0D108BD9-81ED-4DB2-BD59-A6C34878D82A}">
                    <a16:rowId xmlns:a16="http://schemas.microsoft.com/office/drawing/2014/main" val="10000"/>
                  </a:ext>
                </a:extLst>
              </a:tr>
              <a:tr h="0">
                <a:tc>
                  <a:txBody>
                    <a:bodyPr/>
                    <a:lstStyle/>
                    <a:p>
                      <a:pPr marL="0" lvl="0" indent="0" algn="l">
                        <a:buNone/>
                      </a:pPr>
                      <a:r>
                        <a:rPr sz="1000"/>
                        <a:t>DHS indicators</a:t>
                      </a:r>
                    </a:p>
                  </a:txBody>
                  <a:tcPr/>
                </a:tc>
                <a:tc>
                  <a:txBody>
                    <a:bodyPr/>
                    <a:lstStyle/>
                    <a:p>
                      <a:pPr marL="0" lvl="0" indent="0" algn="r">
                        <a:buNone/>
                      </a:pPr>
                      <a:r>
                        <a:rPr sz="1000"/>
                        <a:t>150</a:t>
                      </a:r>
                    </a:p>
                  </a:txBody>
                  <a:tcPr/>
                </a:tc>
                <a:tc>
                  <a:txBody>
                    <a:bodyPr/>
                    <a:lstStyle/>
                    <a:p>
                      <a:pPr marL="0" lvl="0" indent="0" algn="l">
                        <a:buNone/>
                      </a:pPr>
                      <a:r>
                        <a:rPr sz="1000"/>
                        <a:t>DHS (access agreement)</a:t>
                      </a:r>
                    </a:p>
                  </a:txBody>
                  <a:tcPr/>
                </a:tc>
                <a:tc>
                  <a:txBody>
                    <a:bodyPr/>
                    <a:lstStyle/>
                    <a:p>
                      <a:pPr marL="0" lvl="0" indent="0" algn="r">
                        <a:buNone/>
                      </a:pPr>
                      <a:r>
                        <a:rPr sz="1000"/>
                        <a:t>16</a:t>
                      </a:r>
                    </a:p>
                  </a:txBody>
                  <a:tcPr/>
                </a:tc>
                <a:tc>
                  <a:txBody>
                    <a:bodyPr/>
                    <a:lstStyle/>
                    <a:p>
                      <a:pPr marL="0" lvl="0" indent="0" algn="l">
                        <a:buNone/>
                      </a:pPr>
                      <a:r>
                        <a:rPr sz="1000"/>
                        <a:t>dhs_round</a:t>
                      </a:r>
                    </a:p>
                  </a:txBody>
                  <a:tcPr/>
                </a:tc>
                <a:tc>
                  <a:txBody>
                    <a:bodyPr/>
                    <a:lstStyle/>
                    <a:p>
                      <a:pPr marL="0" lvl="0" indent="0" algn="l">
                        <a:buNone/>
                      </a:pPr>
                      <a:r>
                        <a:rPr sz="1000"/>
                        <a:t>3</a:t>
                      </a:r>
                    </a:p>
                  </a:txBody>
                  <a:tcPr/>
                </a:tc>
                <a:extLst>
                  <a:ext uri="{0D108BD9-81ED-4DB2-BD59-A6C34878D82A}">
                    <a16:rowId xmlns:a16="http://schemas.microsoft.com/office/drawing/2014/main" val="10001"/>
                  </a:ext>
                </a:extLst>
              </a:tr>
              <a:tr h="0">
                <a:tc>
                  <a:txBody>
                    <a:bodyPr/>
                    <a:lstStyle/>
                    <a:p>
                      <a:pPr marL="0" lvl="0" indent="0" algn="l">
                        <a:buNone/>
                      </a:pPr>
                      <a:r>
                        <a:rPr sz="1000"/>
                        <a:t>Earth Engine (climate, land)</a:t>
                      </a:r>
                    </a:p>
                  </a:txBody>
                  <a:tcPr/>
                </a:tc>
                <a:tc>
                  <a:txBody>
                    <a:bodyPr/>
                    <a:lstStyle/>
                    <a:p>
                      <a:pPr marL="0" lvl="0" indent="0" algn="r">
                        <a:buNone/>
                      </a:pPr>
                      <a:r>
                        <a:rPr sz="1000"/>
                        <a:t>80</a:t>
                      </a:r>
                    </a:p>
                  </a:txBody>
                  <a:tcPr/>
                </a:tc>
                <a:tc>
                  <a:txBody>
                    <a:bodyPr/>
                    <a:lstStyle/>
                    <a:p>
                      <a:pPr marL="0" lvl="0" indent="0" algn="l">
                        <a:buNone/>
                      </a:pPr>
                      <a:r>
                        <a:rPr sz="1000"/>
                        <a:t>Open data</a:t>
                      </a:r>
                    </a:p>
                  </a:txBody>
                  <a:tcPr/>
                </a:tc>
                <a:tc>
                  <a:txBody>
                    <a:bodyPr/>
                    <a:lstStyle/>
                    <a:p>
                      <a:pPr marL="0" lvl="0" indent="0" algn="r">
                        <a:buNone/>
                      </a:pPr>
                      <a:r>
                        <a:rPr sz="1000"/>
                        <a:t>4</a:t>
                      </a:r>
                    </a:p>
                  </a:txBody>
                  <a:tcPr/>
                </a:tc>
                <a:tc>
                  <a:txBody>
                    <a:bodyPr/>
                    <a:lstStyle/>
                    <a:p>
                      <a:pPr marL="0" lvl="0" indent="0" algn="l">
                        <a:buNone/>
                      </a:pPr>
                      <a:r>
                        <a:rPr sz="1000"/>
                        <a:t>access_2019, ccnl_2013, clim_anomaly, clim_normals, gee_t…</a:t>
                      </a:r>
                    </a:p>
                  </a:txBody>
                  <a:tcPr/>
                </a:tc>
                <a:tc>
                  <a:txBody>
                    <a:bodyPr/>
                    <a:lstStyle/>
                    <a:p>
                      <a:pPr marL="0" lvl="0" indent="0" algn="l">
                        <a:buNone/>
                      </a:pPr>
                      <a:r>
                        <a:rPr sz="1000"/>
                        <a:t>6</a:t>
                      </a:r>
                    </a:p>
                  </a:txBody>
                  <a:tcPr/>
                </a:tc>
                <a:extLst>
                  <a:ext uri="{0D108BD9-81ED-4DB2-BD59-A6C34878D82A}">
                    <a16:rowId xmlns:a16="http://schemas.microsoft.com/office/drawing/2014/main" val="10002"/>
                  </a:ext>
                </a:extLst>
              </a:tr>
              <a:tr h="0">
                <a:tc>
                  <a:txBody>
                    <a:bodyPr/>
                    <a:lstStyle/>
                    <a:p>
                      <a:pPr marL="0" lvl="0" indent="0" algn="l">
                        <a:buNone/>
                      </a:pPr>
                      <a:r>
                        <a:rPr sz="1000"/>
                        <a:t>Satellite embedding</a:t>
                      </a:r>
                    </a:p>
                  </a:txBody>
                  <a:tcPr/>
                </a:tc>
                <a:tc>
                  <a:txBody>
                    <a:bodyPr/>
                    <a:lstStyle/>
                    <a:p>
                      <a:pPr marL="0" lvl="0" indent="0" algn="r">
                        <a:buNone/>
                      </a:pPr>
                      <a:r>
                        <a:rPr sz="1000"/>
                        <a:t>64</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alphaearth_2017</a:t>
                      </a:r>
                    </a:p>
                  </a:txBody>
                  <a:tcPr/>
                </a:tc>
                <a:tc>
                  <a:txBody>
                    <a:bodyPr/>
                    <a:lstStyle/>
                    <a:p>
                      <a:pPr marL="0" lvl="0" indent="0" algn="l">
                        <a:buNone/>
                      </a:pPr>
                      <a:r>
                        <a:rPr sz="1000"/>
                        <a:t>4</a:t>
                      </a:r>
                    </a:p>
                  </a:txBody>
                  <a:tcPr/>
                </a:tc>
                <a:extLst>
                  <a:ext uri="{0D108BD9-81ED-4DB2-BD59-A6C34878D82A}">
                    <a16:rowId xmlns:a16="http://schemas.microsoft.com/office/drawing/2014/main" val="10003"/>
                  </a:ext>
                </a:extLst>
              </a:tr>
              <a:tr h="0">
                <a:tc>
                  <a:txBody>
                    <a:bodyPr/>
                    <a:lstStyle/>
                    <a:p>
                      <a:pPr marL="0" lvl="0" indent="0" algn="l">
                        <a:buNone/>
                      </a:pPr>
                      <a:r>
                        <a:rPr sz="1000"/>
                        <a:t>Soil</a:t>
                      </a:r>
                    </a:p>
                  </a:txBody>
                  <a:tcPr/>
                </a:tc>
                <a:tc>
                  <a:txBody>
                    <a:bodyPr/>
                    <a:lstStyle/>
                    <a:p>
                      <a:pPr marL="0" lvl="0" indent="0" algn="r">
                        <a:buNone/>
                      </a:pPr>
                      <a:r>
                        <a:rPr sz="1000"/>
                        <a:t>45</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soil_static</a:t>
                      </a:r>
                    </a:p>
                  </a:txBody>
                  <a:tcPr/>
                </a:tc>
                <a:tc>
                  <a:txBody>
                    <a:bodyPr/>
                    <a:lstStyle/>
                    <a:p>
                      <a:pPr marL="0" lvl="0" indent="0" algn="l">
                        <a:buNone/>
                      </a:pPr>
                      <a:r>
                        <a:rPr sz="1000"/>
                        <a:t>static</a:t>
                      </a:r>
                    </a:p>
                  </a:txBody>
                  <a:tcPr/>
                </a:tc>
                <a:extLst>
                  <a:ext uri="{0D108BD9-81ED-4DB2-BD59-A6C34878D82A}">
                    <a16:rowId xmlns:a16="http://schemas.microsoft.com/office/drawing/2014/main" val="10004"/>
                  </a:ext>
                </a:extLst>
              </a:tr>
              <a:tr h="0">
                <a:tc>
                  <a:txBody>
                    <a:bodyPr/>
                    <a:lstStyle/>
                    <a:p>
                      <a:pPr marL="0" lvl="0" indent="0" algn="l">
                        <a:buNone/>
                      </a:pPr>
                      <a:r>
                        <a:rPr sz="1000"/>
                        <a:t>IHME modeled surfaces</a:t>
                      </a:r>
                    </a:p>
                  </a:txBody>
                  <a:tcPr/>
                </a:tc>
                <a:tc>
                  <a:txBody>
                    <a:bodyPr/>
                    <a:lstStyle/>
                    <a:p>
                      <a:pPr marL="0" lvl="0" indent="0" algn="r">
                        <a:buNone/>
                      </a:pPr>
                      <a:r>
                        <a:rPr sz="1000"/>
                        <a:t>34</a:t>
                      </a:r>
                    </a:p>
                  </a:txBody>
                  <a:tcPr/>
                </a:tc>
                <a:tc>
                  <a:txBody>
                    <a:bodyPr/>
                    <a:lstStyle/>
                    <a:p>
                      <a:pPr marL="0" lvl="0" indent="0" algn="l">
                        <a:buNone/>
                      </a:pPr>
                      <a:r>
                        <a:rPr sz="1000"/>
                        <a:t>Open data</a:t>
                      </a:r>
                    </a:p>
                  </a:txBody>
                  <a:tcPr/>
                </a:tc>
                <a:tc>
                  <a:txBody>
                    <a:bodyPr/>
                    <a:lstStyle/>
                    <a:p>
                      <a:pPr marL="0" lvl="0" indent="0" algn="r">
                        <a:buNone/>
                      </a:pPr>
                      <a:r>
                        <a:rPr sz="1000"/>
                        <a:t>7</a:t>
                      </a:r>
                    </a:p>
                  </a:txBody>
                  <a:tcPr/>
                </a:tc>
                <a:tc>
                  <a:txBody>
                    <a:bodyPr/>
                    <a:lstStyle/>
                    <a:p>
                      <a:pPr marL="0" lvl="0" indent="0" algn="l">
                        <a:buNone/>
                      </a:pPr>
                      <a:r>
                        <a:rPr sz="1000"/>
                        <a:t>ihme_to_2017, ihme_to_2018, ihme_to_2019</a:t>
                      </a:r>
                    </a:p>
                  </a:txBody>
                  <a:tcPr/>
                </a:tc>
                <a:tc>
                  <a:txBody>
                    <a:bodyPr/>
                    <a:lstStyle/>
                    <a:p>
                      <a:pPr marL="0" lvl="0" indent="0" algn="l">
                        <a:buNone/>
                      </a:pPr>
                      <a:r>
                        <a:rPr sz="1000"/>
                        <a:t>1</a:t>
                      </a:r>
                    </a:p>
                  </a:txBody>
                  <a:tcPr/>
                </a:tc>
                <a:extLst>
                  <a:ext uri="{0D108BD9-81ED-4DB2-BD59-A6C34878D82A}">
                    <a16:rowId xmlns:a16="http://schemas.microsoft.com/office/drawing/2014/main" val="10005"/>
                  </a:ext>
                </a:extLst>
              </a:tr>
              <a:tr h="0">
                <a:tc>
                  <a:txBody>
                    <a:bodyPr/>
                    <a:lstStyle/>
                    <a:p>
                      <a:pPr marL="0" lvl="0" indent="0" algn="l">
                        <a:buNone/>
                      </a:pPr>
                      <a:r>
                        <a:rPr sz="1000"/>
                        <a:t>MICS microdata</a:t>
                      </a:r>
                    </a:p>
                  </a:txBody>
                  <a:tcPr/>
                </a:tc>
                <a:tc>
                  <a:txBody>
                    <a:bodyPr/>
                    <a:lstStyle/>
                    <a:p>
                      <a:pPr marL="0" lvl="0" indent="0" algn="r">
                        <a:buNone/>
                      </a:pPr>
                      <a:r>
                        <a:rPr sz="1000"/>
                        <a:t>30</a:t>
                      </a:r>
                    </a:p>
                  </a:txBody>
                  <a:tcPr/>
                </a:tc>
                <a:tc>
                  <a:txBody>
                    <a:bodyPr/>
                    <a:lstStyle/>
                    <a:p>
                      <a:pPr marL="0" lvl="0" indent="0" algn="l">
                        <a:buNone/>
                      </a:pPr>
                      <a:r>
                        <a:rPr sz="1000"/>
                        <a:t>Public survey microdata</a:t>
                      </a:r>
                    </a:p>
                  </a:txBody>
                  <a:tcPr/>
                </a:tc>
                <a:tc>
                  <a:txBody>
                    <a:bodyPr/>
                    <a:lstStyle/>
                    <a:p>
                      <a:pPr marL="0" lvl="0" indent="0" algn="r">
                        <a:buNone/>
                      </a:pPr>
                      <a:r>
                        <a:rPr sz="1000"/>
                        <a:t>7</a:t>
                      </a:r>
                    </a:p>
                  </a:txBody>
                  <a:tcPr/>
                </a:tc>
                <a:tc>
                  <a:txBody>
                    <a:bodyPr/>
                    <a:lstStyle/>
                    <a:p>
                      <a:pPr marL="0" lvl="0" indent="0" algn="l">
                        <a:buNone/>
                      </a:pPr>
                      <a:r>
                        <a:rPr sz="1000"/>
                        <a:t>mics_microdata</a:t>
                      </a:r>
                    </a:p>
                  </a:txBody>
                  <a:tcPr/>
                </a:tc>
                <a:tc>
                  <a:txBody>
                    <a:bodyPr/>
                    <a:lstStyle/>
                    <a:p>
                      <a:pPr marL="0" lvl="0" indent="0" algn="l">
                        <a:buNone/>
                      </a:pPr>
                      <a:r>
                        <a:rPr sz="1000"/>
                        <a:t>4</a:t>
                      </a:r>
                    </a:p>
                  </a:txBody>
                  <a:tcPr/>
                </a:tc>
                <a:extLst>
                  <a:ext uri="{0D108BD9-81ED-4DB2-BD59-A6C34878D82A}">
                    <a16:rowId xmlns:a16="http://schemas.microsoft.com/office/drawing/2014/main" val="10006"/>
                  </a:ext>
                </a:extLst>
              </a:tr>
              <a:tr h="0">
                <a:tc>
                  <a:txBody>
                    <a:bodyPr/>
                    <a:lstStyle/>
                    <a:p>
                      <a:pPr marL="0" lvl="0" indent="0" algn="l">
                        <a:buNone/>
                      </a:pPr>
                      <a:r>
                        <a:rPr sz="1000"/>
                        <a:t>Fortification (GFDx)</a:t>
                      </a:r>
                    </a:p>
                  </a:txBody>
                  <a:tcPr/>
                </a:tc>
                <a:tc>
                  <a:txBody>
                    <a:bodyPr/>
                    <a:lstStyle/>
                    <a:p>
                      <a:pPr marL="0" lvl="0" indent="0" algn="r">
                        <a:buNone/>
                      </a:pPr>
                      <a:r>
                        <a:rPr sz="1000"/>
                        <a:t>27</a:t>
                      </a:r>
                    </a:p>
                  </a:txBody>
                  <a:tcPr/>
                </a:tc>
                <a:tc>
                  <a:txBody>
                    <a:bodyPr/>
                    <a:lstStyle/>
                    <a:p>
                      <a:pPr marL="0" lvl="0" indent="0" algn="l">
                        <a:buNone/>
                      </a:pPr>
                      <a:r>
                        <a:rPr sz="1000"/>
                        <a:t>Open data</a:t>
                      </a:r>
                    </a:p>
                  </a:txBody>
                  <a:tcPr/>
                </a:tc>
                <a:tc>
                  <a:txBody>
                    <a:bodyPr/>
                    <a:lstStyle/>
                    <a:p>
                      <a:pPr marL="0" lvl="0" indent="0" algn="r">
                        <a:buNone/>
                      </a:pPr>
                      <a:r>
                        <a:rPr sz="1000"/>
                        <a:t>3</a:t>
                      </a:r>
                    </a:p>
                  </a:txBody>
                  <a:tcPr/>
                </a:tc>
                <a:tc>
                  <a:txBody>
                    <a:bodyPr/>
                    <a:lstStyle/>
                    <a:p>
                      <a:pPr marL="0" lvl="0" indent="0" algn="l">
                        <a:buNone/>
                      </a:pPr>
                      <a:r>
                        <a:rPr sz="1000"/>
                        <a:t>gfdx_ntd_2015, gfdx_survey_year, gfdx_who_anaemia_2011, g…</a:t>
                      </a:r>
                    </a:p>
                  </a:txBody>
                  <a:tcPr/>
                </a:tc>
                <a:tc>
                  <a:txBody>
                    <a:bodyPr/>
                    <a:lstStyle/>
                    <a:p>
                      <a:pPr marL="0" lvl="0" indent="0" algn="l">
                        <a:buNone/>
                      </a:pPr>
                      <a:r>
                        <a:rPr sz="1000"/>
                        <a:t>6</a:t>
                      </a:r>
                    </a:p>
                  </a:txBody>
                  <a:tcPr/>
                </a:tc>
                <a:extLst>
                  <a:ext uri="{0D108BD9-81ED-4DB2-BD59-A6C34878D82A}">
                    <a16:rowId xmlns:a16="http://schemas.microsoft.com/office/drawing/2014/main" val="10007"/>
                  </a:ext>
                </a:extLst>
              </a:tr>
              <a:tr h="0">
                <a:tc>
                  <a:txBody>
                    <a:bodyPr/>
                    <a:lstStyle/>
                    <a:p>
                      <a:pPr marL="0" lvl="0" indent="0" algn="l">
                        <a:buNone/>
                      </a:pPr>
                      <a:r>
                        <a:rPr sz="1000"/>
                        <a:t>MICS (WHO HEAT)</a:t>
                      </a:r>
                    </a:p>
                  </a:txBody>
                  <a:tcPr/>
                </a:tc>
                <a:tc>
                  <a:txBody>
                    <a:bodyPr/>
                    <a:lstStyle/>
                    <a:p>
                      <a:pPr marL="0" lvl="0" indent="0" algn="r">
                        <a:buNone/>
                      </a:pPr>
                      <a:r>
                        <a:rPr sz="1000"/>
                        <a:t>19</a:t>
                      </a:r>
                    </a:p>
                  </a:txBody>
                  <a:tcPr/>
                </a:tc>
                <a:tc>
                  <a:txBody>
                    <a:bodyPr/>
                    <a:lstStyle/>
                    <a:p>
                      <a:pPr marL="0" lvl="0" indent="0" algn="l">
                        <a:buNone/>
                      </a:pPr>
                      <a:r>
                        <a:rPr sz="1000"/>
                        <a:t>Public survey microdata</a:t>
                      </a:r>
                    </a:p>
                  </a:txBody>
                  <a:tcPr/>
                </a:tc>
                <a:tc>
                  <a:txBody>
                    <a:bodyPr/>
                    <a:lstStyle/>
                    <a:p>
                      <a:pPr marL="0" lvl="0" indent="0" algn="r">
                        <a:buNone/>
                      </a:pPr>
                      <a:r>
                        <a:rPr sz="1000"/>
                        <a:t>1</a:t>
                      </a:r>
                    </a:p>
                  </a:txBody>
                  <a:tcPr/>
                </a:tc>
                <a:tc>
                  <a:txBody>
                    <a:bodyPr/>
                    <a:lstStyle/>
                    <a:p>
                      <a:pPr marL="0" lvl="0" indent="0" algn="l">
                        <a:buNone/>
                      </a:pPr>
                      <a:r>
                        <a:rPr sz="1000"/>
                        <a:t>mics_heat_round</a:t>
                      </a:r>
                    </a:p>
                  </a:txBody>
                  <a:tcPr/>
                </a:tc>
                <a:tc>
                  <a:txBody>
                    <a:bodyPr/>
                    <a:lstStyle/>
                    <a:p>
                      <a:pPr marL="0" lvl="0" indent="0" algn="l">
                        <a:buNone/>
                      </a:pPr>
                      <a:r>
                        <a:rPr sz="1000"/>
                        <a:t>3</a:t>
                      </a:r>
                    </a:p>
                  </a:txBody>
                  <a:tcPr/>
                </a:tc>
                <a:extLst>
                  <a:ext uri="{0D108BD9-81ED-4DB2-BD59-A6C34878D82A}">
                    <a16:rowId xmlns:a16="http://schemas.microsoft.com/office/drawing/2014/main" val="10008"/>
                  </a:ext>
                </a:extLst>
              </a:tr>
              <a:tr h="0">
                <a:tc>
                  <a:txBody>
                    <a:bodyPr/>
                    <a:lstStyle/>
                    <a:p>
                      <a:pPr marL="0" lvl="0" indent="0" algn="l">
                        <a:buNone/>
                      </a:pPr>
                      <a:r>
                        <a:rPr sz="1000"/>
                        <a:t>Population, wealth index</a:t>
                      </a:r>
                    </a:p>
                  </a:txBody>
                  <a:tcPr/>
                </a:tc>
                <a:tc>
                  <a:txBody>
                    <a:bodyPr/>
                    <a:lstStyle/>
                    <a:p>
                      <a:pPr marL="0" lvl="0" indent="0" algn="r">
                        <a:buNone/>
                      </a:pPr>
                      <a:r>
                        <a:rPr sz="1000"/>
                        <a:t>18</a:t>
                      </a:r>
                    </a:p>
                  </a:txBody>
                  <a:tcPr/>
                </a:tc>
                <a:tc>
                  <a:txBody>
                    <a:bodyPr/>
                    <a:lstStyle/>
                    <a:p>
                      <a:pPr marL="0" lvl="0" indent="0" algn="l">
                        <a:buNone/>
                      </a:pPr>
                      <a:r>
                        <a:rPr sz="1000"/>
                        <a:t>Open data</a:t>
                      </a:r>
                    </a:p>
                  </a:txBody>
                  <a:tcPr/>
                </a:tc>
                <a:tc>
                  <a:txBody>
                    <a:bodyPr/>
                    <a:lstStyle/>
                    <a:p>
                      <a:pPr marL="0" lvl="0" indent="0" algn="r">
                        <a:buNone/>
                      </a:pPr>
                      <a:r>
                        <a:rPr sz="1000"/>
                        <a:t>4</a:t>
                      </a:r>
                    </a:p>
                  </a:txBody>
                  <a:tcPr/>
                </a:tc>
                <a:tc>
                  <a:txBody>
                    <a:bodyPr/>
                    <a:lstStyle/>
                    <a:p>
                      <a:pPr marL="0" lvl="0" indent="0" algn="l">
                        <a:buNone/>
                      </a:pPr>
                      <a:r>
                        <a:rPr sz="1000"/>
                        <a:t>acled_36m, ghsl_epoch, rwi_2019, wpop_2020, wpop_density_sy</a:t>
                      </a:r>
                    </a:p>
                  </a:txBody>
                  <a:tcPr/>
                </a:tc>
                <a:tc>
                  <a:txBody>
                    <a:bodyPr/>
                    <a:lstStyle/>
                    <a:p>
                      <a:pPr marL="0" lvl="0" indent="0" algn="l">
                        <a:buNone/>
                      </a:pPr>
                      <a:r>
                        <a:rPr sz="1000"/>
                        <a:t>7</a:t>
                      </a:r>
                    </a:p>
                  </a:txBody>
                  <a:tcPr/>
                </a:tc>
                <a:extLst>
                  <a:ext uri="{0D108BD9-81ED-4DB2-BD59-A6C34878D82A}">
                    <a16:rowId xmlns:a16="http://schemas.microsoft.com/office/drawing/2014/main" val="10009"/>
                  </a:ext>
                </a:extLst>
              </a:tr>
              <a:tr h="0">
                <a:tc>
                  <a:txBody>
                    <a:bodyPr/>
                    <a:lstStyle/>
                    <a:p>
                      <a:pPr marL="0" lvl="0" indent="0" algn="l">
                        <a:buNone/>
                      </a:pPr>
                      <a:r>
                        <a:rPr sz="1000"/>
                        <a:t>Household budget surveys</a:t>
                      </a:r>
                    </a:p>
                  </a:txBody>
                  <a:tcPr/>
                </a:tc>
                <a:tc>
                  <a:txBody>
                    <a:bodyPr/>
                    <a:lstStyle/>
                    <a:p>
                      <a:pPr marL="0" lvl="0" indent="0" algn="r">
                        <a:buNone/>
                      </a:pPr>
                      <a:r>
                        <a:rPr sz="1000"/>
                        <a:t>15</a:t>
                      </a:r>
                    </a:p>
                  </a:txBody>
                  <a:tcPr/>
                </a:tc>
                <a:tc>
                  <a:txBody>
                    <a:bodyPr/>
                    <a:lstStyle/>
                    <a:p>
                      <a:pPr marL="0" lvl="0" indent="0" algn="l">
                        <a:buNone/>
                      </a:pPr>
                      <a:r>
                        <a:rPr sz="1000"/>
                        <a:t>Public survey microdata</a:t>
                      </a:r>
                    </a:p>
                  </a:txBody>
                  <a:tcPr/>
                </a:tc>
                <a:tc>
                  <a:txBody>
                    <a:bodyPr/>
                    <a:lstStyle/>
                    <a:p>
                      <a:pPr marL="0" lvl="0" indent="0" algn="r">
                        <a:buNone/>
                      </a:pPr>
                      <a:r>
                        <a:rPr sz="1000"/>
                        <a:t>1</a:t>
                      </a:r>
                    </a:p>
                  </a:txBody>
                  <a:tcPr/>
                </a:tc>
                <a:tc>
                  <a:txBody>
                    <a:bodyPr/>
                    <a:lstStyle/>
                    <a:p>
                      <a:pPr marL="0" lvl="0" indent="0" algn="l">
                        <a:buNone/>
                      </a:pPr>
                      <a:r>
                        <a:rPr sz="1000"/>
                        <a:t>hces_year</a:t>
                      </a:r>
                    </a:p>
                  </a:txBody>
                  <a:tcPr/>
                </a:tc>
                <a:tc>
                  <a:txBody>
                    <a:bodyPr/>
                    <a:lstStyle/>
                    <a:p>
                      <a:pPr marL="0" lvl="0" indent="0" algn="l">
                        <a:buNone/>
                      </a:pPr>
                      <a:r>
                        <a:rPr sz="1000"/>
                        <a:t>3</a:t>
                      </a:r>
                    </a:p>
                  </a:txBody>
                  <a:tcPr/>
                </a:tc>
                <a:extLst>
                  <a:ext uri="{0D108BD9-81ED-4DB2-BD59-A6C34878D82A}">
                    <a16:rowId xmlns:a16="http://schemas.microsoft.com/office/drawing/2014/main" val="10010"/>
                  </a:ext>
                </a:extLst>
              </a:tr>
              <a:tr h="0">
                <a:tc>
                  <a:txBody>
                    <a:bodyPr/>
                    <a:lstStyle/>
                    <a:p>
                      <a:pPr marL="0" lvl="0" indent="0" algn="l">
                        <a:buNone/>
                      </a:pPr>
                      <a:r>
                        <a:rPr sz="1000"/>
                        <a:t>Crops (MapSPAM)</a:t>
                      </a:r>
                    </a:p>
                  </a:txBody>
                  <a:tcPr/>
                </a:tc>
                <a:tc>
                  <a:txBody>
                    <a:bodyPr/>
                    <a:lstStyle/>
                    <a:p>
                      <a:pPr marL="0" lvl="0" indent="0" algn="r">
                        <a:buNone/>
                      </a:pPr>
                      <a:r>
                        <a:rPr sz="1000"/>
                        <a:t>12</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spam_2010</a:t>
                      </a:r>
                    </a:p>
                  </a:txBody>
                  <a:tcPr/>
                </a:tc>
                <a:tc>
                  <a:txBody>
                    <a:bodyPr/>
                    <a:lstStyle/>
                    <a:p>
                      <a:pPr marL="0" lvl="0" indent="0" algn="l">
                        <a:buNone/>
                      </a:pPr>
                      <a:r>
                        <a:rPr sz="1000"/>
                        <a:t>8</a:t>
                      </a:r>
                    </a:p>
                  </a:txBody>
                  <a:tcPr/>
                </a:tc>
                <a:extLst>
                  <a:ext uri="{0D108BD9-81ED-4DB2-BD59-A6C34878D82A}">
                    <a16:rowId xmlns:a16="http://schemas.microsoft.com/office/drawing/2014/main" val="10011"/>
                  </a:ext>
                </a:extLst>
              </a:tr>
              <a:tr h="0">
                <a:tc>
                  <a:txBody>
                    <a:bodyPr/>
                    <a:lstStyle/>
                    <a:p>
                      <a:pPr marL="0" lvl="0" indent="0" algn="l">
                        <a:buNone/>
                      </a:pPr>
                      <a:r>
                        <a:rPr sz="1000"/>
                        <a:t>Malaria Atlas Project</a:t>
                      </a:r>
                    </a:p>
                  </a:txBody>
                  <a:tcPr/>
                </a:tc>
                <a:tc>
                  <a:txBody>
                    <a:bodyPr/>
                    <a:lstStyle/>
                    <a:p>
                      <a:pPr marL="0" lvl="0" indent="0" algn="r">
                        <a:buNone/>
                      </a:pPr>
                      <a:r>
                        <a:rPr sz="1000"/>
                        <a:t>11</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map_blood_2012, map_survey_year</a:t>
                      </a:r>
                    </a:p>
                  </a:txBody>
                  <a:tcPr/>
                </a:tc>
                <a:tc>
                  <a:txBody>
                    <a:bodyPr/>
                    <a:lstStyle/>
                    <a:p>
                      <a:pPr marL="0" lvl="0" indent="0" algn="l">
                        <a:buNone/>
                      </a:pPr>
                      <a:r>
                        <a:rPr sz="1000"/>
                        <a:t>6</a:t>
                      </a:r>
                    </a:p>
                  </a:txBody>
                  <a:tcPr/>
                </a:tc>
                <a:extLst>
                  <a:ext uri="{0D108BD9-81ED-4DB2-BD59-A6C34878D82A}">
                    <a16:rowId xmlns:a16="http://schemas.microsoft.com/office/drawing/2014/main" val="10012"/>
                  </a:ext>
                </a:extLst>
              </a:tr>
              <a:tr h="0">
                <a:tc>
                  <a:txBody>
                    <a:bodyPr/>
                    <a:lstStyle/>
                    <a:p>
                      <a:pPr marL="0" lvl="0" indent="0" algn="l">
                        <a:buNone/>
                      </a:pPr>
                      <a:r>
                        <a:rPr sz="1000"/>
                        <a:t>Climate zones</a:t>
                      </a:r>
                    </a:p>
                  </a:txBody>
                  <a:tcPr/>
                </a:tc>
                <a:tc>
                  <a:txBody>
                    <a:bodyPr/>
                    <a:lstStyle/>
                    <a:p>
                      <a:pPr marL="0" lvl="0" indent="0" algn="r">
                        <a:buNone/>
                      </a:pPr>
                      <a:r>
                        <a:rPr sz="1000"/>
                        <a:t>9</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aez_static, koppen_static</a:t>
                      </a:r>
                    </a:p>
                  </a:txBody>
                  <a:tcPr/>
                </a:tc>
                <a:tc>
                  <a:txBody>
                    <a:bodyPr/>
                    <a:lstStyle/>
                    <a:p>
                      <a:pPr marL="0" lvl="0" indent="0" algn="l">
                        <a:buNone/>
                      </a:pPr>
                      <a:r>
                        <a:rPr sz="1000"/>
                        <a:t>static</a:t>
                      </a:r>
                    </a:p>
                  </a:txBody>
                  <a:tcPr/>
                </a:tc>
                <a:extLst>
                  <a:ext uri="{0D108BD9-81ED-4DB2-BD59-A6C34878D82A}">
                    <a16:rowId xmlns:a16="http://schemas.microsoft.com/office/drawing/2014/main" val="10013"/>
                  </a:ext>
                </a:extLst>
              </a:tr>
              <a:tr h="0">
                <a:tc>
                  <a:txBody>
                    <a:bodyPr/>
                    <a:lstStyle/>
                    <a:p>
                      <a:pPr marL="0" lvl="0" indent="0" algn="l">
                        <a:buNone/>
                      </a:pPr>
                      <a:r>
                        <a:rPr sz="1000"/>
                        <a:t>Market prices (WFP)</a:t>
                      </a:r>
                    </a:p>
                  </a:txBody>
                  <a:tcPr/>
                </a:tc>
                <a:tc>
                  <a:txBody>
                    <a:bodyPr/>
                    <a:lstStyle/>
                    <a:p>
                      <a:pPr marL="0" lvl="0" indent="0" algn="r">
                        <a:buNone/>
                      </a:pPr>
                      <a:r>
                        <a:rPr sz="1000"/>
                        <a:t>9</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fprice_window</a:t>
                      </a:r>
                    </a:p>
                  </a:txBody>
                  <a:tcPr/>
                </a:tc>
                <a:tc>
                  <a:txBody>
                    <a:bodyPr/>
                    <a:lstStyle/>
                    <a:p>
                      <a:pPr marL="0" lvl="0" indent="0" algn="l">
                        <a:buNone/>
                      </a:pPr>
                      <a:r>
                        <a:rPr sz="1000"/>
                        <a:t>0</a:t>
                      </a:r>
                    </a:p>
                  </a:txBody>
                  <a:tcPr/>
                </a:tc>
                <a:extLst>
                  <a:ext uri="{0D108BD9-81ED-4DB2-BD59-A6C34878D82A}">
                    <a16:rowId xmlns:a16="http://schemas.microsoft.com/office/drawing/2014/main" val="10014"/>
                  </a:ext>
                </a:extLst>
              </a:tr>
              <a:tr h="0">
                <a:tc>
                  <a:txBody>
                    <a:bodyPr/>
                    <a:lstStyle/>
                    <a:p>
                      <a:pPr marL="0" lvl="0" indent="0" algn="l">
                        <a:buNone/>
                      </a:pPr>
                      <a:r>
                        <a:rPr sz="1000"/>
                        <a:t>Food balance (national)</a:t>
                      </a:r>
                    </a:p>
                  </a:txBody>
                  <a:tcPr/>
                </a:tc>
                <a:tc>
                  <a:txBody>
                    <a:bodyPr/>
                    <a:lstStyle/>
                    <a:p>
                      <a:pPr marL="0" lvl="0" indent="0" algn="r">
                        <a:buNone/>
                      </a:pPr>
                      <a:r>
                        <a:rPr sz="1000"/>
                        <a:t>8</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fao_supply</a:t>
                      </a:r>
                    </a:p>
                  </a:txBody>
                  <a:tcPr/>
                </a:tc>
                <a:tc>
                  <a:txBody>
                    <a:bodyPr/>
                    <a:lstStyle/>
                    <a:p>
                      <a:pPr marL="0" lvl="0" indent="0" algn="l">
                        <a:buNone/>
                      </a:pPr>
                      <a:r>
                        <a:rPr sz="1000"/>
                        <a:t>0</a:t>
                      </a:r>
                    </a:p>
                  </a:txBody>
                  <a:tcPr/>
                </a:tc>
                <a:extLst>
                  <a:ext uri="{0D108BD9-81ED-4DB2-BD59-A6C34878D82A}">
                    <a16:rowId xmlns:a16="http://schemas.microsoft.com/office/drawing/2014/main" val="10015"/>
                  </a:ext>
                </a:extLst>
              </a:tr>
              <a:tr h="0">
                <a:tc>
                  <a:txBody>
                    <a:bodyPr/>
                    <a:lstStyle/>
                    <a:p>
                      <a:pPr marL="0" lvl="0" indent="0" algn="l">
                        <a:buNone/>
                      </a:pPr>
                      <a:r>
                        <a:rPr sz="1000"/>
                        <a:t>Livestock density</a:t>
                      </a:r>
                    </a:p>
                  </a:txBody>
                  <a:tcPr/>
                </a:tc>
                <a:tc>
                  <a:txBody>
                    <a:bodyPr/>
                    <a:lstStyle/>
                    <a:p>
                      <a:pPr marL="0" lvl="0" indent="0" algn="r">
                        <a:buNone/>
                      </a:pPr>
                      <a:r>
                        <a:rPr sz="1000"/>
                        <a:t>8</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glw4</a:t>
                      </a:r>
                    </a:p>
                  </a:txBody>
                  <a:tcPr/>
                </a:tc>
                <a:tc>
                  <a:txBody>
                    <a:bodyPr/>
                    <a:lstStyle/>
                    <a:p>
                      <a:pPr marL="0" lvl="0" indent="0" algn="l">
                        <a:buNone/>
                      </a:pPr>
                      <a:r>
                        <a:rPr sz="1000"/>
                        <a:t>3</a:t>
                      </a:r>
                    </a:p>
                  </a:txBody>
                  <a:tcPr/>
                </a:tc>
                <a:extLst>
                  <a:ext uri="{0D108BD9-81ED-4DB2-BD59-A6C34878D82A}">
                    <a16:rowId xmlns:a16="http://schemas.microsoft.com/office/drawing/2014/main" val="10016"/>
                  </a:ext>
                </a:extLst>
              </a:tr>
              <a:tr h="0">
                <a:tc>
                  <a:txBody>
                    <a:bodyPr/>
                    <a:lstStyle/>
                    <a:p>
                      <a:pPr marL="0" lvl="0" indent="0" algn="l">
                        <a:buNone/>
                      </a:pPr>
                      <a:r>
                        <a:rPr sz="1000"/>
                        <a:t>Dietary inadequacy (Ghana)</a:t>
                      </a:r>
                    </a:p>
                  </a:txBody>
                  <a:tcPr/>
                </a:tc>
                <a:tc>
                  <a:txBody>
                    <a:bodyPr/>
                    <a:lstStyle/>
                    <a:p>
                      <a:pPr marL="0" lvl="0" indent="0" algn="r">
                        <a:buNone/>
                      </a:pPr>
                      <a:r>
                        <a:rPr sz="1000"/>
                        <a:t>6</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mimi_glss7</a:t>
                      </a:r>
                    </a:p>
                  </a:txBody>
                  <a:tcPr/>
                </a:tc>
                <a:tc>
                  <a:txBody>
                    <a:bodyPr/>
                    <a:lstStyle/>
                    <a:p>
                      <a:pPr marL="0" lvl="0" indent="0" algn="l">
                        <a:buNone/>
                      </a:pPr>
                      <a:r>
                        <a:rPr sz="1000"/>
                        <a:t>1</a:t>
                      </a:r>
                    </a:p>
                  </a:txBody>
                  <a:tcPr/>
                </a:tc>
                <a:extLst>
                  <a:ext uri="{0D108BD9-81ED-4DB2-BD59-A6C34878D82A}">
                    <a16:rowId xmlns:a16="http://schemas.microsoft.com/office/drawing/2014/main" val="10017"/>
                  </a:ext>
                </a:extLst>
              </a:tr>
              <a:tr h="0">
                <a:tc>
                  <a:txBody>
                    <a:bodyPr/>
                    <a:lstStyle/>
                    <a:p>
                      <a:pPr marL="0" lvl="0" indent="0" algn="l">
                        <a:buNone/>
                      </a:pPr>
                      <a:r>
                        <a:rPr sz="1000"/>
                        <a:t>Helminths (WHO)</a:t>
                      </a:r>
                    </a:p>
                  </a:txBody>
                  <a:tcPr/>
                </a:tc>
                <a:tc>
                  <a:txBody>
                    <a:bodyPr/>
                    <a:lstStyle/>
                    <a:p>
                      <a:pPr marL="0" lvl="0" indent="0" algn="r">
                        <a:buNone/>
                      </a:pPr>
                      <a:r>
                        <a:rPr sz="1000"/>
                        <a:t>6</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espen_mda, espen_nearest</a:t>
                      </a:r>
                    </a:p>
                  </a:txBody>
                  <a:tcPr/>
                </a:tc>
                <a:tc>
                  <a:txBody>
                    <a:bodyPr/>
                    <a:lstStyle/>
                    <a:p>
                      <a:pPr marL="0" lvl="0" indent="0" algn="l">
                        <a:buNone/>
                      </a:pPr>
                      <a:r>
                        <a:rPr sz="1000"/>
                        <a:t>3</a:t>
                      </a:r>
                    </a:p>
                  </a:txBody>
                  <a:tcPr/>
                </a:tc>
                <a:extLst>
                  <a:ext uri="{0D108BD9-81ED-4DB2-BD59-A6C34878D82A}">
                    <a16:rowId xmlns:a16="http://schemas.microsoft.com/office/drawing/2014/main" val="10018"/>
                  </a:ext>
                </a:extLst>
              </a:tr>
              <a:tr h="0">
                <a:tc>
                  <a:txBody>
                    <a:bodyPr/>
                    <a:lstStyle/>
                    <a:p>
                      <a:pPr marL="0" lvl="0" indent="0" algn="l">
                        <a:buNone/>
                      </a:pPr>
                      <a:r>
                        <a:rPr sz="1000"/>
                        <a:t>Market prices (World Bank)</a:t>
                      </a:r>
                    </a:p>
                  </a:txBody>
                  <a:tcPr/>
                </a:tc>
                <a:tc>
                  <a:txBody>
                    <a:bodyPr/>
                    <a:lstStyle/>
                    <a:p>
                      <a:pPr marL="0" lvl="0" indent="0" algn="r">
                        <a:buNone/>
                      </a:pPr>
                      <a:r>
                        <a:rPr sz="1000"/>
                        <a:t>6</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rtfp_window</a:t>
                      </a:r>
                    </a:p>
                  </a:txBody>
                  <a:tcPr/>
                </a:tc>
                <a:tc>
                  <a:txBody>
                    <a:bodyPr/>
                    <a:lstStyle/>
                    <a:p>
                      <a:pPr marL="0" lvl="0" indent="0" algn="l">
                        <a:buNone/>
                      </a:pPr>
                      <a:r>
                        <a:rPr sz="1000"/>
                        <a:t>0</a:t>
                      </a:r>
                    </a:p>
                  </a:txBody>
                  <a:tcPr/>
                </a:tc>
                <a:extLst>
                  <a:ext uri="{0D108BD9-81ED-4DB2-BD59-A6C34878D82A}">
                    <a16:rowId xmlns:a16="http://schemas.microsoft.com/office/drawing/2014/main" val="10019"/>
                  </a:ext>
                </a:extLst>
              </a:tr>
              <a:tr h="0">
                <a:tc>
                  <a:txBody>
                    <a:bodyPr/>
                    <a:lstStyle/>
                    <a:p>
                      <a:pPr marL="0" lvl="0" indent="0" algn="l">
                        <a:buNone/>
                      </a:pPr>
                      <a:r>
                        <a:rPr sz="1000"/>
                        <a:t>Water and coast distance</a:t>
                      </a:r>
                    </a:p>
                  </a:txBody>
                  <a:tcPr/>
                </a:tc>
                <a:tc>
                  <a:txBody>
                    <a:bodyPr/>
                    <a:lstStyle/>
                    <a:p>
                      <a:pPr marL="0" lvl="0" indent="0" algn="r">
                        <a:buNone/>
                      </a:pPr>
                      <a:r>
                        <a:rPr sz="1000"/>
                        <a:t>6</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water_static</a:t>
                      </a:r>
                    </a:p>
                  </a:txBody>
                  <a:tcPr/>
                </a:tc>
                <a:tc>
                  <a:txBody>
                    <a:bodyPr/>
                    <a:lstStyle/>
                    <a:p>
                      <a:pPr marL="0" lvl="0" indent="0" algn="l">
                        <a:buNone/>
                      </a:pPr>
                      <a:r>
                        <a:rPr sz="1000"/>
                        <a:t>static</a:t>
                      </a:r>
                    </a:p>
                  </a:txBody>
                  <a:tcPr/>
                </a:tc>
                <a:extLst>
                  <a:ext uri="{0D108BD9-81ED-4DB2-BD59-A6C34878D82A}">
                    <a16:rowId xmlns:a16="http://schemas.microsoft.com/office/drawing/2014/main" val="10020"/>
                  </a:ext>
                </a:extLst>
              </a:tr>
              <a:tr h="0">
                <a:tc>
                  <a:txBody>
                    <a:bodyPr/>
                    <a:lstStyle/>
                    <a:p>
                      <a:pPr marL="0" lvl="0" indent="0" algn="l">
                        <a:buNone/>
                      </a:pPr>
                      <a:r>
                        <a:rPr sz="1000"/>
                        <a:t>Anemia (WHO)</a:t>
                      </a:r>
                    </a:p>
                  </a:txBody>
                  <a:tcPr/>
                </a:tc>
                <a:tc>
                  <a:txBody>
                    <a:bodyPr/>
                    <a:lstStyle/>
                    <a:p>
                      <a:pPr marL="0" lvl="0" indent="0" algn="r">
                        <a:buNone/>
                      </a:pPr>
                      <a:r>
                        <a:rPr sz="1000"/>
                        <a:t>5</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who_anaemia_sy</a:t>
                      </a:r>
                    </a:p>
                  </a:txBody>
                  <a:tcPr/>
                </a:tc>
                <a:tc>
                  <a:txBody>
                    <a:bodyPr/>
                    <a:lstStyle/>
                    <a:p>
                      <a:pPr marL="0" lvl="0" indent="0" algn="l">
                        <a:buNone/>
                      </a:pPr>
                      <a:r>
                        <a:rPr sz="1000"/>
                        <a:t>0</a:t>
                      </a:r>
                    </a:p>
                  </a:txBody>
                  <a:tcPr/>
                </a:tc>
                <a:extLst>
                  <a:ext uri="{0D108BD9-81ED-4DB2-BD59-A6C34878D82A}">
                    <a16:rowId xmlns:a16="http://schemas.microsoft.com/office/drawing/2014/main" val="10021"/>
                  </a:ext>
                </a:extLst>
              </a:tr>
              <a:tr h="0">
                <a:tc>
                  <a:txBody>
                    <a:bodyPr/>
                    <a:lstStyle/>
                    <a:p>
                      <a:pPr marL="0" lvl="0" indent="0" algn="l">
                        <a:buNone/>
                      </a:pPr>
                      <a:r>
                        <a:rPr sz="1000"/>
                        <a:t>Food security</a:t>
                      </a:r>
                    </a:p>
                  </a:txBody>
                  <a:tcPr/>
                </a:tc>
                <a:tc>
                  <a:txBody>
                    <a:bodyPr/>
                    <a:lstStyle/>
                    <a:p>
                      <a:pPr marL="0" lvl="0" indent="0" algn="r">
                        <a:buNone/>
                      </a:pPr>
                      <a:r>
                        <a:rPr sz="1000"/>
                        <a:t>4</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fsec_window</a:t>
                      </a:r>
                    </a:p>
                  </a:txBody>
                  <a:tcPr/>
                </a:tc>
                <a:tc>
                  <a:txBody>
                    <a:bodyPr/>
                    <a:lstStyle/>
                    <a:p>
                      <a:pPr marL="0" lvl="0" indent="0" algn="l">
                        <a:buNone/>
                      </a:pPr>
                      <a:r>
                        <a:rPr sz="1000"/>
                        <a:t>0</a:t>
                      </a:r>
                    </a:p>
                  </a:txBody>
                  <a:tcPr/>
                </a:tc>
                <a:extLst>
                  <a:ext uri="{0D108BD9-81ED-4DB2-BD59-A6C34878D82A}">
                    <a16:rowId xmlns:a16="http://schemas.microsoft.com/office/drawing/2014/main" val="10022"/>
                  </a:ext>
                </a:extLst>
              </a:tr>
              <a:tr h="0">
                <a:tc>
                  <a:txBody>
                    <a:bodyPr/>
                    <a:lstStyle/>
                    <a:p>
                      <a:pPr marL="0" lvl="0" indent="0" algn="l">
                        <a:buNone/>
                      </a:pPr>
                      <a:r>
                        <a:rPr sz="1000"/>
                        <a:t>Subnational HDI</a:t>
                      </a:r>
                    </a:p>
                  </a:txBody>
                  <a:tcPr/>
                </a:tc>
                <a:tc>
                  <a:txBody>
                    <a:bodyPr/>
                    <a:lstStyle/>
                    <a:p>
                      <a:pPr marL="0" lvl="0" indent="0" algn="r">
                        <a:buNone/>
                      </a:pPr>
                      <a:r>
                        <a:rPr sz="1000"/>
                        <a:t>2</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gdl_sy</a:t>
                      </a:r>
                    </a:p>
                  </a:txBody>
                  <a:tcPr/>
                </a:tc>
                <a:tc>
                  <a:txBody>
                    <a:bodyPr/>
                    <a:lstStyle/>
                    <a:p>
                      <a:pPr marL="0" lvl="0" indent="0" algn="l">
                        <a:buNone/>
                      </a:pPr>
                      <a:r>
                        <a:rPr sz="1000"/>
                        <a:t>0</a:t>
                      </a:r>
                    </a:p>
                  </a:txBody>
                  <a:tcPr/>
                </a:tc>
                <a:extLst>
                  <a:ext uri="{0D108BD9-81ED-4DB2-BD59-A6C34878D82A}">
                    <a16:rowId xmlns:a16="http://schemas.microsoft.com/office/drawing/2014/main" val="10023"/>
                  </a:ext>
                </a:extLst>
              </a:tr>
              <a:tr h="0">
                <a:tc>
                  <a:txBody>
                    <a:bodyPr/>
                    <a:lstStyle/>
                    <a:p>
                      <a:pPr marL="0" lvl="0" indent="0" algn="l">
                        <a:buNone/>
                      </a:pPr>
                      <a:r>
                        <a:rPr sz="1000"/>
                        <a:t>Vitamin A supplementation</a:t>
                      </a:r>
                    </a:p>
                  </a:txBody>
                  <a:tcPr/>
                </a:tc>
                <a:tc>
                  <a:txBody>
                    <a:bodyPr/>
                    <a:lstStyle/>
                    <a:p>
                      <a:pPr marL="0" lvl="0" indent="0" algn="r">
                        <a:buNone/>
                      </a:pPr>
                      <a:r>
                        <a:rPr sz="1000"/>
                        <a:t>1</a:t>
                      </a:r>
                    </a:p>
                  </a:txBody>
                  <a:tcPr/>
                </a:tc>
                <a:tc>
                  <a:txBody>
                    <a:bodyPr/>
                    <a:lstStyle/>
                    <a:p>
                      <a:pPr marL="0" lvl="0" indent="0" algn="l">
                        <a:buNone/>
                      </a:pPr>
                      <a:r>
                        <a:rPr sz="1000"/>
                        <a:t>Open data</a:t>
                      </a:r>
                    </a:p>
                  </a:txBody>
                  <a:tcPr/>
                </a:tc>
                <a:tc>
                  <a:txBody>
                    <a:bodyPr/>
                    <a:lstStyle/>
                    <a:p>
                      <a:pPr marL="0" lvl="0" indent="0" algn="r">
                        <a:buNone/>
                      </a:pPr>
                      <a:r>
                        <a:rPr sz="1000"/>
                        <a:t>1</a:t>
                      </a:r>
                    </a:p>
                  </a:txBody>
                  <a:tcPr/>
                </a:tc>
                <a:tc>
                  <a:txBody>
                    <a:bodyPr/>
                    <a:lstStyle/>
                    <a:p>
                      <a:pPr marL="0" lvl="0" indent="0" algn="l">
                        <a:buNone/>
                      </a:pPr>
                      <a:r>
                        <a:rPr sz="1000"/>
                        <a:t>vas_sy</a:t>
                      </a:r>
                    </a:p>
                  </a:txBody>
                  <a:tcPr/>
                </a:tc>
                <a:tc>
                  <a:txBody>
                    <a:bodyPr/>
                    <a:lstStyle/>
                    <a:p>
                      <a:pPr marL="0" lvl="0" indent="0" algn="l">
                        <a:buNone/>
                      </a:pPr>
                      <a:r>
                        <a:rPr sz="1000"/>
                        <a:t>0</a:t>
                      </a:r>
                    </a:p>
                  </a:txBody>
                  <a:tcPr/>
                </a:tc>
                <a:extLst>
                  <a:ext uri="{0D108BD9-81ED-4DB2-BD59-A6C34878D82A}">
                    <a16:rowId xmlns:a16="http://schemas.microsoft.com/office/drawing/2014/main" val="10024"/>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68</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The dashboard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69</a:t>
            </a:fld>
            <a:endParaRPr lang="en-BG"/>
          </a:p>
        </p:txBody>
      </p:sp>
      <p:pic>
        <p:nvPicPr>
          <p:cNvPr id="7" name="Picture 6" descr="link_blue.png"/>
          <p:cNvPicPr>
            <a:picLocks noChangeAspect="1"/>
          </p:cNvPicPr>
          <p:nvPr/>
        </p:nvPicPr>
        <p:blipFill>
          <a:blip r:embed="rId3"/>
          <a:stretch>
            <a:fillRect/>
          </a:stretch>
        </p:blipFill>
        <p:spPr>
          <a:xfrm>
            <a:off x="932688" y="1783080"/>
            <a:ext cx="914400" cy="731520"/>
          </a:xfrm>
          <a:prstGeom prst="rect">
            <a:avLst/>
          </a:prstGeom>
        </p:spPr>
      </p:pic>
      <p:sp>
        <p:nvSpPr>
          <p:cNvPr id="8" name="TextBox 7"/>
          <p:cNvSpPr txBox="1"/>
          <p:nvPr/>
        </p:nvSpPr>
        <p:spPr>
          <a:xfrm>
            <a:off x="1984248" y="1691640"/>
            <a:ext cx="3520440" cy="914400"/>
          </a:xfrm>
          <a:prstGeom prst="rect">
            <a:avLst/>
          </a:prstGeom>
          <a:noFill/>
        </p:spPr>
        <p:txBody>
          <a:bodyPr wrap="square" lIns="45720" tIns="27432" rIns="45720" bIns="27432" anchor="ctr">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9" name="Picture 8"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10" name="TextBox 9"/>
          <p:cNvSpPr txBox="1"/>
          <p:nvPr/>
        </p:nvSpPr>
        <p:spPr>
          <a:xfrm>
            <a:off x="1984248" y="2788920"/>
            <a:ext cx="3520440" cy="914400"/>
          </a:xfrm>
          <a:prstGeom prst="rect">
            <a:avLst/>
          </a:prstGeom>
          <a:noFill/>
        </p:spPr>
        <p:txBody>
          <a:bodyPr wrap="square" lIns="45720" tIns="27432" rIns="45720" bIns="27432" anchor="ctr">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11" name="Picture 10"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12" name="TextBox 11"/>
          <p:cNvSpPr txBox="1"/>
          <p:nvPr/>
        </p:nvSpPr>
        <p:spPr>
          <a:xfrm>
            <a:off x="1984248" y="3886200"/>
            <a:ext cx="3520440" cy="914400"/>
          </a:xfrm>
          <a:prstGeom prst="rect">
            <a:avLst/>
          </a:prstGeom>
          <a:noFill/>
        </p:spPr>
        <p:txBody>
          <a:bodyPr wrap="square" lIns="45720" tIns="27432" rIns="45720" bIns="27432" anchor="ctr">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 of 575 predictors; the three tests and the ceiling.</a:t>
            </a:r>
          </a:p>
        </p:txBody>
      </p:sp>
      <p:pic>
        <p:nvPicPr>
          <p:cNvPr id="13" name="Picture 12"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4" name="TextBox 13"/>
          <p:cNvSpPr txBox="1"/>
          <p:nvPr/>
        </p:nvSpPr>
        <p:spPr>
          <a:xfrm>
            <a:off x="1984248" y="4983480"/>
            <a:ext cx="3520440" cy="914400"/>
          </a:xfrm>
          <a:prstGeom prst="rect">
            <a:avLst/>
          </a:prstGeom>
          <a:noFill/>
        </p:spPr>
        <p:txBody>
          <a:bodyPr wrap="square" lIns="45720" tIns="27432" rIns="45720" bIns="27432" anchor="ctr">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5" name="Picture 14" descr="dashboard_map.png"/>
          <p:cNvPicPr>
            <a:picLocks noChangeAspect="1"/>
          </p:cNvPicPr>
          <p:nvPr/>
        </p:nvPicPr>
        <p:blipFill>
          <a:blip r:embed="rId7"/>
          <a:stretch>
            <a:fillRect/>
          </a:stretch>
        </p:blipFill>
        <p:spPr>
          <a:xfrm>
            <a:off x="5870448" y="1783080"/>
            <a:ext cx="5486400" cy="308610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The geostatistical model estimates levels better and ranks worse</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The DHS Program’s model-based geostatistics fitted at the survey clusters (a spatial field plus covariates), scored on the same district folds. On the level it scores 0.27 against 0.38 for the index (index better in 20 of 24 outcome-country combinations); on prevalence 0.21 against 0.21.</a:t>
            </a:r>
          </a:p>
        </p:txBody>
      </p:sp>
      <p:pic>
        <p:nvPicPr>
          <p:cNvPr id="4" name="Picture 1" descr="MN-proxy-full-talk-2026-09_files/figure-pptx/geostat-1.png"/>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70</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Every column kept or dropped has a written reason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extLst>
                    <a:ext uri="{9D8B030D-6E8A-4147-A177-3AD203B41FA5}">
                      <a16:colId xmlns:a16="http://schemas.microsoft.com/office/drawing/2014/main" val="20000"/>
                    </a:ext>
                  </a:extLst>
                </a:gridCol>
                <a:gridCol w="8343900">
                  <a:extLst>
                    <a:ext uri="{9D8B030D-6E8A-4147-A177-3AD203B41FA5}">
                      <a16:colId xmlns:a16="http://schemas.microsoft.com/office/drawing/2014/main" val="20001"/>
                    </a:ext>
                  </a:extLst>
                </a:gridCol>
                <a:gridCol w="698500">
                  <a:extLst>
                    <a:ext uri="{9D8B030D-6E8A-4147-A177-3AD203B41FA5}">
                      <a16:colId xmlns:a16="http://schemas.microsoft.com/office/drawing/2014/main" val="20002"/>
                    </a:ext>
                  </a:extLst>
                </a:gridCol>
              </a:tblGrid>
              <a:tr h="0">
                <a:tc>
                  <a:txBody>
                    <a:bodyPr/>
                    <a:lstStyle/>
                    <a:p>
                      <a:pPr marL="0" lvl="0" indent="0" algn="l">
                        <a:buNone/>
                      </a:pPr>
                      <a:r>
                        <a:rPr sz="1000"/>
                        <a:t>Step</a:t>
                      </a:r>
                    </a:p>
                  </a:txBody>
                  <a:tcPr/>
                </a:tc>
                <a:tc>
                  <a:txBody>
                    <a:bodyPr/>
                    <a:lstStyle/>
                    <a:p>
                      <a:pPr marL="0" lvl="0" indent="0" algn="l">
                        <a:buNone/>
                      </a:pPr>
                      <a:r>
                        <a:rPr sz="1000"/>
                        <a:t>What happens</a:t>
                      </a:r>
                    </a:p>
                  </a:txBody>
                  <a:tcPr/>
                </a:tc>
                <a:tc>
                  <a:txBody>
                    <a:bodyPr/>
                    <a:lstStyle/>
                    <a:p>
                      <a:pPr marL="0" lvl="0" indent="0" algn="l">
                        <a:buNone/>
                      </a:pPr>
                      <a:r>
                        <a:rPr sz="1000"/>
                        <a:t>Columns</a:t>
                      </a:r>
                    </a:p>
                  </a:txBody>
                  <a:tcPr/>
                </a:tc>
                <a:extLst>
                  <a:ext uri="{0D108BD9-81ED-4DB2-BD59-A6C34878D82A}">
                    <a16:rowId xmlns:a16="http://schemas.microsoft.com/office/drawing/2014/main" val="10000"/>
                  </a:ext>
                </a:extLst>
              </a:tr>
              <a:tr h="0">
                <a:tc>
                  <a:txBody>
                    <a:bodyPr/>
                    <a:lstStyle/>
                    <a:p>
                      <a:pPr marL="0" lvl="0" indent="0" algn="l">
                        <a:buNone/>
                      </a:pPr>
                      <a:r>
                        <a:rPr sz="1000"/>
                        <a:t>Assemble</a:t>
                      </a:r>
                    </a:p>
                  </a:txBody>
                  <a:tcPr/>
                </a:tc>
                <a:tc>
                  <a:txBody>
                    <a:bodyPr/>
                    <a:lstStyle/>
                    <a:p>
                      <a:pPr marL="0" lvl="0" indent="0" algn="l">
                        <a:buNone/>
                      </a:pPr>
                      <a:r>
                        <a:rPr sz="1000"/>
                        <a:t>Base extraction on the spine, food environment, extra sources, add-back sources</a:t>
                      </a:r>
                    </a:p>
                  </a:txBody>
                  <a:tcPr/>
                </a:tc>
                <a:tc>
                  <a:txBody>
                    <a:bodyPr/>
                    <a:lstStyle/>
                    <a:p>
                      <a:endParaRPr/>
                    </a:p>
                  </a:txBody>
                  <a:tcPr/>
                </a:tc>
                <a:extLst>
                  <a:ext uri="{0D108BD9-81ED-4DB2-BD59-A6C34878D82A}">
                    <a16:rowId xmlns:a16="http://schemas.microsoft.com/office/drawing/2014/main" val="10001"/>
                  </a:ext>
                </a:extLst>
              </a:tr>
              <a:tr h="0">
                <a:tc>
                  <a:txBody>
                    <a:bodyPr/>
                    <a:lstStyle/>
                    <a:p>
                      <a:pPr marL="0" lvl="0" indent="0" algn="l">
                        <a:buNone/>
                      </a:pPr>
                      <a:r>
                        <a:rPr sz="1000"/>
                        <a:t>Append blocks</a:t>
                      </a:r>
                    </a:p>
                  </a:txBody>
                  <a:tcPr/>
                </a:tc>
                <a:tc>
                  <a:txBody>
                    <a:bodyPr/>
                    <a:lstStyle/>
                    <a:p>
                      <a:pPr marL="0" lvl="0" indent="0" algn="l">
                        <a:buNone/>
                      </a:pPr>
                      <a:r>
                        <a:rPr sz="1000"/>
                        <a:t>Household budget surveys, MICS microdata, RTFP prices, MODIS NDVI, climate normals</a:t>
                      </a:r>
                    </a:p>
                  </a:txBody>
                  <a:tcPr/>
                </a:tc>
                <a:tc>
                  <a:txBody>
                    <a:bodyPr/>
                    <a:lstStyle/>
                    <a:p>
                      <a:pPr marL="0" lvl="0" indent="0" algn="l">
                        <a:buNone/>
                      </a:pPr>
                      <a:r>
                        <a:rPr sz="1000"/>
                        <a:t>614</a:t>
                      </a:r>
                    </a:p>
                  </a:txBody>
                  <a:tcPr/>
                </a:tc>
                <a:extLst>
                  <a:ext uri="{0D108BD9-81ED-4DB2-BD59-A6C34878D82A}">
                    <a16:rowId xmlns:a16="http://schemas.microsoft.com/office/drawing/2014/main" val="10002"/>
                  </a:ext>
                </a:extLst>
              </a:tr>
              <a:tr h="0">
                <a:tc>
                  <a:txBody>
                    <a:bodyPr/>
                    <a:lstStyle/>
                    <a:p>
                      <a:pPr marL="0" lvl="0" indent="0" algn="l">
                        <a:buNone/>
                      </a:pPr>
                      <a:r>
                        <a:rPr sz="1000"/>
                        <a:t>Exclude</a:t>
                      </a:r>
                    </a:p>
                  </a:txBody>
                  <a:tcPr/>
                </a:tc>
                <a:tc>
                  <a:txBody>
                    <a:bodyPr/>
                    <a:lstStyle/>
                    <a:p>
                      <a:pPr marL="0" lvl="0" indent="0" algn="l">
                        <a:buNone/>
                      </a:pPr>
                      <a:r>
                        <a:rPr sz="1000"/>
                        <a:t>Rules with a written reason: data defects, superseded layers, redundant twins</a:t>
                      </a:r>
                    </a:p>
                  </a:txBody>
                  <a:tcPr/>
                </a:tc>
                <a:tc>
                  <a:txBody>
                    <a:bodyPr/>
                    <a:lstStyle/>
                    <a:p>
                      <a:pPr marL="0" lvl="0" indent="0" algn="l">
                        <a:buNone/>
                      </a:pPr>
                      <a:r>
                        <a:rPr sz="1000"/>
                        <a:t>575</a:t>
                      </a:r>
                    </a:p>
                  </a:txBody>
                  <a:tcPr/>
                </a:tc>
                <a:extLst>
                  <a:ext uri="{0D108BD9-81ED-4DB2-BD59-A6C34878D82A}">
                    <a16:rowId xmlns:a16="http://schemas.microsoft.com/office/drawing/2014/main" val="10003"/>
                  </a:ext>
                </a:extLst>
              </a:tr>
              <a:tr h="0">
                <a:tc>
                  <a:txBody>
                    <a:bodyPr/>
                    <a:lstStyle/>
                    <a:p>
                      <a:pPr marL="0" lvl="0" indent="0" algn="l">
                        <a:buNone/>
                      </a:pPr>
                      <a:r>
                        <a:rPr sz="1000"/>
                        <a:t>Stamp</a:t>
                      </a:r>
                    </a:p>
                  </a:txBody>
                  <a:tcPr/>
                </a:tc>
                <a:tc>
                  <a:txBody>
                    <a:bodyPr/>
                    <a:lstStyle/>
                    <a:p>
                      <a:pPr marL="0" lvl="0" indent="0" algn="l">
                        <a:buNone/>
                      </a:pPr>
                      <a:r>
                        <a:rPr sz="1000"/>
                        <a:t>Access tier, within-country variation, alignment rule, year used and gap, modelled-surface flag</a:t>
                      </a:r>
                    </a:p>
                  </a:txBody>
                  <a:tcPr/>
                </a:tc>
                <a:tc>
                  <a:txBody>
                    <a:bodyPr/>
                    <a:lstStyle/>
                    <a:p>
                      <a:pPr marL="0" lvl="0" indent="0" algn="l">
                        <a:buNone/>
                      </a:pPr>
                      <a:r>
                        <a:rPr sz="1000"/>
                        <a:t>575</a:t>
                      </a:r>
                    </a:p>
                  </a:txBody>
                  <a:tcPr/>
                </a:tc>
                <a:extLst>
                  <a:ext uri="{0D108BD9-81ED-4DB2-BD59-A6C34878D82A}">
                    <a16:rowId xmlns:a16="http://schemas.microsoft.com/office/drawing/2014/main" val="10004"/>
                  </a:ext>
                </a:extLst>
              </a:tr>
              <a:tr h="0">
                <a:tc>
                  <a:txBody>
                    <a:bodyPr/>
                    <a:lstStyle/>
                    <a:p>
                      <a:pPr marL="0" lvl="0" indent="0" algn="l">
                        <a:buNone/>
                      </a:pPr>
                      <a:r>
                        <a:rPr sz="1000"/>
                        <a:t>Fit-time policy</a:t>
                      </a:r>
                    </a:p>
                  </a:txBody>
                  <a:tcPr/>
                </a:tc>
                <a:tc>
                  <a:txBody>
                    <a:bodyPr/>
                    <a:lstStyle/>
                    <a:p>
                      <a:pPr marL="0" lvl="0" indent="0" algn="l">
                        <a:buNone/>
                      </a:pPr>
                      <a:r>
                        <a:rPr sz="1000"/>
                        <a:t>Drop national constants and leakage columns</a:t>
                      </a:r>
                    </a:p>
                  </a:txBody>
                  <a:tcPr/>
                </a:tc>
                <a:tc>
                  <a:txBody>
                    <a:bodyPr/>
                    <a:lstStyle/>
                    <a:p>
                      <a:pPr marL="0" lvl="0" indent="0" algn="l">
                        <a:buNone/>
                      </a:pPr>
                      <a:r>
                        <a:rPr sz="1000"/>
                        <a:t>525</a:t>
                      </a:r>
                    </a:p>
                  </a:txBody>
                  <a:tcPr/>
                </a:tc>
                <a:extLst>
                  <a:ext uri="{0D108BD9-81ED-4DB2-BD59-A6C34878D82A}">
                    <a16:rowId xmlns:a16="http://schemas.microsoft.com/office/drawing/2014/main" val="10005"/>
                  </a:ext>
                </a:extLst>
              </a:tr>
              <a:tr h="0">
                <a:tc>
                  <a:txBody>
                    <a:bodyPr/>
                    <a:lstStyle/>
                    <a:p>
                      <a:pPr marL="0" lvl="0" indent="0" algn="l">
                        <a:buNone/>
                      </a:pPr>
                      <a:r>
                        <a:rPr sz="1000"/>
                        <a:t>Transport matrix</a:t>
                      </a:r>
                    </a:p>
                  </a:txBody>
                  <a:tcPr/>
                </a:tc>
                <a:tc>
                  <a:txBody>
                    <a:bodyPr/>
                    <a:lstStyle/>
                    <a:p>
                      <a:pPr marL="0" lvl="0" indent="0" algn="l">
                        <a:buNone/>
                      </a:pPr>
                      <a:r>
                        <a:rPr sz="1000"/>
                        <a:t>Per country: coverage of at least 70% and some variation; then the four-country intersection</a:t>
                      </a:r>
                    </a:p>
                  </a:txBody>
                  <a:tcPr/>
                </a:tc>
                <a:tc>
                  <a:txBody>
                    <a:bodyPr/>
                    <a:lstStyle/>
                    <a:p>
                      <a:pPr marL="0" lvl="0" indent="0" algn="l">
                        <a:buNone/>
                      </a:pPr>
                      <a:r>
                        <a:rPr sz="1000"/>
                        <a:t>464</a:t>
                      </a:r>
                    </a:p>
                  </a:txBody>
                  <a:tcPr/>
                </a:tc>
                <a:extLst>
                  <a:ext uri="{0D108BD9-81ED-4DB2-BD59-A6C34878D82A}">
                    <a16:rowId xmlns:a16="http://schemas.microsoft.com/office/drawing/2014/main" val="10006"/>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71</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From columns to domains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id="4" name="Picture 1" descr="MN-proxy-full-talk-2026-09_files/figure-pptx/domains-1.png"/>
          <p:cNvPicPr>
            <a:picLocks noGrp="1" noChangeAspect="1"/>
          </p:cNvPicPr>
          <p:nvPr/>
        </p:nvPicPr>
        <p:blipFill>
          <a:blip r:embed="rId3"/>
          <a:stretch>
            <a:fillRect/>
          </a:stretch>
        </p:blipFill>
        <p:spPr bwMode="auto">
          <a:xfrm>
            <a:off x="411480" y="1645920"/>
            <a:ext cx="6766560" cy="6105972"/>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72</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The twenty layers behind child iron, and how much each carries</a:t>
            </a:r>
          </a:p>
        </p:txBody>
      </p:sp>
      <p:pic>
        <p:nvPicPr>
          <p:cNvPr id="3" name="Picture 1" descr="MN-proxy-full-talk-2026-09_files/figure-pptx/twenty-iron-1.png"/>
          <p:cNvPicPr>
            <a:picLocks noGrp="1" noChangeAspect="1"/>
          </p:cNvPicPr>
          <p:nvPr/>
        </p:nvPicPr>
        <p:blipFill>
          <a:blip r:embed="rId3"/>
          <a:stretch>
            <a:fillRect/>
          </a:stretch>
        </p:blipFill>
        <p:spPr bwMode="auto">
          <a:xfrm>
            <a:off x="2085554" y="1600200"/>
            <a:ext cx="801784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73</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4152900">
                  <a:extLst>
                    <a:ext uri="{9D8B030D-6E8A-4147-A177-3AD203B41FA5}">
                      <a16:colId xmlns:a16="http://schemas.microsoft.com/office/drawing/2014/main" val="20002"/>
                    </a:ext>
                  </a:extLst>
                </a:gridCol>
              </a:tblGrid>
              <a:tr h="0">
                <a:tc>
                  <a:txBody>
                    <a:bodyPr/>
                    <a:lstStyle/>
                    <a:p>
                      <a:pPr marL="0" lvl="0" indent="0" algn="l">
                        <a:buNone/>
                      </a:pPr>
                      <a:r>
                        <a:rPr sz="1000"/>
                        <a:t>Rule</a:t>
                      </a:r>
                    </a:p>
                  </a:txBody>
                  <a:tcPr/>
                </a:tc>
                <a:tc>
                  <a:txBody>
                    <a:bodyPr/>
                    <a:lstStyle/>
                    <a:p>
                      <a:pPr marL="0" lvl="0" indent="0" algn="l">
                        <a:buNone/>
                      </a:pPr>
                      <a:r>
                        <a:rPr sz="1000"/>
                        <a:t>Policy</a:t>
                      </a:r>
                    </a:p>
                  </a:txBody>
                  <a:tcPr/>
                </a:tc>
                <a:tc>
                  <a:txBody>
                    <a:bodyPr/>
                    <a:lstStyle/>
                    <a:p>
                      <a:pPr marL="0" lvl="0" indent="0" algn="l">
                        <a:buNone/>
                      </a:pPr>
                      <a:r>
                        <a:rPr sz="1000"/>
                        <a:t>Reason</a:t>
                      </a:r>
                    </a:p>
                  </a:txBody>
                  <a:tcPr/>
                </a:tc>
                <a:extLst>
                  <a:ext uri="{0D108BD9-81ED-4DB2-BD59-A6C34878D82A}">
                    <a16:rowId xmlns:a16="http://schemas.microsoft.com/office/drawing/2014/main" val="10000"/>
                  </a:ext>
                </a:extLst>
              </a:tr>
              <a:tr h="0">
                <a:tc>
                  <a:txBody>
                    <a:bodyPr/>
                    <a:lstStyle/>
                    <a:p>
                      <a:pPr marL="0" lvl="0" indent="0" algn="l">
                        <a:buNone/>
                      </a:pPr>
                      <a:r>
                        <a:rPr sz="1000"/>
                        <a:t>^soil_nitrogen_</a:t>
                      </a:r>
                    </a:p>
                  </a:txBody>
                  <a:tcPr/>
                </a:tc>
                <a:tc>
                  <a:txBody>
                    <a:bodyPr/>
                    <a:lstStyle/>
                    <a:p>
                      <a:pPr marL="0" lvl="0" indent="0" algn="l">
                        <a:buNone/>
                      </a:pPr>
                      <a:r>
                        <a:rPr sz="1000"/>
                        <a:t>data_defect</a:t>
                      </a:r>
                    </a:p>
                  </a:txBody>
                  <a:tcPr/>
                </a:tc>
                <a:tc>
                  <a:txBody>
                    <a:bodyPr/>
                    <a:lstStyle/>
                    <a:p>
                      <a:pPr marL="0" lvl="0" indent="0" algn="l">
                        <a:buNone/>
                      </a:pPr>
                      <a:r>
                        <a:rPr sz="1000"/>
                        <a:t>Cross-country values are irreconcilable by any constant factor: medians 742 (Gambia) 1090 (Malawi) 2455 (Ta…</a:t>
                      </a:r>
                    </a:p>
                  </a:txBody>
                  <a:tcPr/>
                </a:tc>
                <a:extLst>
                  <a:ext uri="{0D108BD9-81ED-4DB2-BD59-A6C34878D82A}">
                    <a16:rowId xmlns:a16="http://schemas.microsoft.com/office/drawing/2014/main" val="10001"/>
                  </a:ext>
                </a:extLst>
              </a:tr>
              <a:tr h="0">
                <a:tc>
                  <a:txBody>
                    <a:bodyPr/>
                    <a:lstStyle/>
                    <a:p>
                      <a:pPr marL="0" lvl="0" indent="0" algn="l">
                        <a:buNone/>
                      </a:pPr>
                      <a:r>
                        <a:rPr sz="1000"/>
                        <a:t>^soil_totalcarbon_stdev_</a:t>
                      </a:r>
                    </a:p>
                  </a:txBody>
                  <a:tcPr/>
                </a:tc>
                <a:tc>
                  <a:txBody>
                    <a:bodyPr/>
                    <a:lstStyle/>
                    <a:p>
                      <a:pPr marL="0" lvl="0" indent="0" algn="l">
                        <a:buNone/>
                      </a:pPr>
                      <a:r>
                        <a:rPr sz="1000"/>
                        <a:t>data_defect</a:t>
                      </a:r>
                    </a:p>
                  </a:txBody>
                  <a:tcPr/>
                </a:tc>
                <a:tc>
                  <a:txBody>
                    <a:bodyPr/>
                    <a:lstStyle/>
                    <a:p>
                      <a:pPr marL="0" lvl="0" indent="0" algn="l">
                        <a:buNone/>
                      </a:pPr>
                      <a:r>
                        <a:rPr sz="1000"/>
                        <a:t>Dispersion columns diverge &gt;100x across countries while the matching depth MEANS agree; the stdev bands are…</a:t>
                      </a:r>
                    </a:p>
                  </a:txBody>
                  <a:tcPr/>
                </a:tc>
                <a:extLst>
                  <a:ext uri="{0D108BD9-81ED-4DB2-BD59-A6C34878D82A}">
                    <a16:rowId xmlns:a16="http://schemas.microsoft.com/office/drawing/2014/main" val="10002"/>
                  </a:ext>
                </a:extLst>
              </a:tr>
              <a:tr h="0">
                <a:tc>
                  <a:txBody>
                    <a:bodyPr/>
                    <a:lstStyle/>
                    <a:p>
                      <a:pPr marL="0" lvl="0" indent="0" algn="l">
                        <a:buNone/>
                      </a:pPr>
                      <a:r>
                        <a:rPr sz="1000"/>
                        <a:t>^ndvi_y2010$</a:t>
                      </a:r>
                    </a:p>
                  </a:txBody>
                  <a:tcPr/>
                </a:tc>
                <a:tc>
                  <a:txBody>
                    <a:bodyPr/>
                    <a:lstStyle/>
                    <a:p>
                      <a:pPr marL="0" lvl="0" indent="0" algn="l">
                        <a:buNone/>
                      </a:pPr>
                      <a:r>
                        <a:rPr sz="1000"/>
                        <a:t>data_defect</a:t>
                      </a:r>
                    </a:p>
                  </a:txBody>
                  <a:tcPr/>
                </a:tc>
                <a:tc>
                  <a:txBody>
                    <a:bodyPr/>
                    <a:lstStyle/>
                    <a:p>
                      <a:pPr marL="0" lvl="0" indent="0" algn="l">
                        <a:buNone/>
                      </a:pPr>
                      <a:r>
                        <a:rPr sz="1000"/>
                        <a:t>Tanzania median 5.4e-05 against 0.22-0.26 elsewhere while every other year agrees - a defective 2010 slice …</a:t>
                      </a:r>
                    </a:p>
                  </a:txBody>
                  <a:tcPr/>
                </a:tc>
                <a:extLst>
                  <a:ext uri="{0D108BD9-81ED-4DB2-BD59-A6C34878D82A}">
                    <a16:rowId xmlns:a16="http://schemas.microsoft.com/office/drawing/2014/main" val="10003"/>
                  </a:ext>
                </a:extLst>
              </a:tr>
              <a:tr h="0">
                <a:tc>
                  <a:txBody>
                    <a:bodyPr/>
                    <a:lstStyle/>
                    <a:p>
                      <a:pPr marL="0" lvl="0" indent="0" algn="l">
                        <a:buNone/>
                      </a:pPr>
                      <a:r>
                        <a:rPr sz="1000"/>
                        <a:t>^ndvi_y(2019|2020|2021|2022)$</a:t>
                      </a:r>
                    </a:p>
                  </a:txBody>
                  <a:tcPr/>
                </a:tc>
                <a:tc>
                  <a:txBody>
                    <a:bodyPr/>
                    <a:lstStyle/>
                    <a:p>
                      <a:pPr marL="0" lvl="0" indent="0" algn="l">
                        <a:buNone/>
                      </a:pPr>
                      <a:r>
                        <a:rPr sz="1000"/>
                        <a:t>data_defect</a:t>
                      </a:r>
                    </a:p>
                  </a:txBody>
                  <a:tcPr/>
                </a:tc>
                <a:tc>
                  <a:txBody>
                    <a:bodyPr/>
                    <a:lstStyle/>
                    <a:p>
                      <a:pPr marL="0" lvl="0" indent="0" algn="l">
                        <a:buNone/>
                      </a:pPr>
                      <a:r>
                        <a:rPr sz="1000"/>
                        <a:t>NDVI collapses country-dependently after 2018 (2021 medians 0.008 Malawi / 0.018 Gambia / 0.25 Sierra Leone…</a:t>
                      </a:r>
                    </a:p>
                  </a:txBody>
                  <a:tcPr/>
                </a:tc>
                <a:extLst>
                  <a:ext uri="{0D108BD9-81ED-4DB2-BD59-A6C34878D82A}">
                    <a16:rowId xmlns:a16="http://schemas.microsoft.com/office/drawing/2014/main" val="10004"/>
                  </a:ext>
                </a:extLst>
              </a:tr>
              <a:tr h="0">
                <a:tc>
                  <a:txBody>
                    <a:bodyPr/>
                    <a:lstStyle/>
                    <a:p>
                      <a:pPr marL="0" lvl="0" indent="0" algn="l">
                        <a:buNone/>
                      </a:pPr>
                      <a:r>
                        <a:rPr sz="1000"/>
                        <a:t>^(lcover_(snow|moss)</a:t>
                      </a:r>
                      <a:r>
                        <a:rPr sz="1000" i="1"/>
                        <a:t>frac</a:t>
                      </a:r>
                      <a:r>
                        <a:rPr sz="1000"/>
                        <a:t>|tclim_swe_)</a:t>
                      </a:r>
                    </a:p>
                  </a:txBody>
                  <a:tcPr/>
                </a:tc>
                <a:tc>
                  <a:txBody>
                    <a:bodyPr/>
                    <a:lstStyle/>
                    <a:p>
                      <a:pPr marL="0" lvl="0" indent="0" algn="l">
                        <a:buNone/>
                      </a:pPr>
                      <a:r>
                        <a:rPr sz="1000"/>
                        <a:t>data_defect</a:t>
                      </a:r>
                    </a:p>
                  </a:txBody>
                  <a:tcPr/>
                </a:tc>
                <a:tc>
                  <a:txBody>
                    <a:bodyPr/>
                    <a:lstStyle/>
                    <a:p>
                      <a:pPr marL="0" lvl="0" indent="0" algn="l">
                        <a:buNone/>
                      </a:pPr>
                      <a:r>
                        <a:rPr sz="1000"/>
                        <a:t>Identically zero in every district of every country: these are snow cover, moss cover and snow water equiva…</a:t>
                      </a:r>
                    </a:p>
                  </a:txBody>
                  <a:tcPr/>
                </a:tc>
                <a:extLst>
                  <a:ext uri="{0D108BD9-81ED-4DB2-BD59-A6C34878D82A}">
                    <a16:rowId xmlns:a16="http://schemas.microsoft.com/office/drawing/2014/main" val="10005"/>
                  </a:ext>
                </a:extLst>
              </a:tr>
              <a:tr h="0">
                <a:tc>
                  <a:txBody>
                    <a:bodyPr/>
                    <a:lstStyle/>
                    <a:p>
                      <a:pPr marL="0" lvl="0" indent="0" algn="l">
                        <a:buNone/>
                      </a:pPr>
                      <a:r>
                        <a:rPr sz="1000"/>
                        <a:t>^dhs_c_ort_diarrhea$</a:t>
                      </a:r>
                    </a:p>
                  </a:txBody>
                  <a:tcPr/>
                </a:tc>
                <a:tc>
                  <a:txBody>
                    <a:bodyPr/>
                    <a:lstStyle/>
                    <a:p>
                      <a:pPr marL="0" lvl="0" indent="0" algn="l">
                        <a:buNone/>
                      </a:pPr>
                      <a:r>
                        <a:rPr sz="1000"/>
                        <a:t>data_defect</a:t>
                      </a:r>
                    </a:p>
                  </a:txBody>
                  <a:tcPr/>
                </a:tc>
                <a:tc>
                  <a:txBody>
                    <a:bodyPr/>
                    <a:lstStyle/>
                    <a:p>
                      <a:pPr marL="0" lvl="0" indent="0" algn="l">
                        <a:buNone/>
                      </a:pPr>
                      <a:r>
                        <a:rPr sz="1000"/>
                        <a:t>Identically zero in every district - the indicator did not populate in these DHS rounds. A constant cannot …</a:t>
                      </a:r>
                    </a:p>
                  </a:txBody>
                  <a:tcPr/>
                </a:tc>
                <a:extLst>
                  <a:ext uri="{0D108BD9-81ED-4DB2-BD59-A6C34878D82A}">
                    <a16:rowId xmlns:a16="http://schemas.microsoft.com/office/drawing/2014/main" val="10006"/>
                  </a:ext>
                </a:extLst>
              </a:tr>
              <a:tr h="0">
                <a:tc>
                  <a:txBody>
                    <a:bodyPr/>
                    <a:lstStyle/>
                    <a:p>
                      <a:pPr marL="0" lvl="0" indent="0" algn="l">
                        <a:buNone/>
                      </a:pPr>
                      <a:r>
                        <a:rPr sz="1000"/>
                        <a:t>^dhs_w_barrier_transport$</a:t>
                      </a:r>
                    </a:p>
                  </a:txBody>
                  <a:tcPr/>
                </a:tc>
                <a:tc>
                  <a:txBody>
                    <a:bodyPr/>
                    <a:lstStyle/>
                    <a:p>
                      <a:pPr marL="0" lvl="0" indent="0" algn="l">
                        <a:buNone/>
                      </a:pPr>
                      <a:r>
                        <a:rPr sz="1000"/>
                        <a:t>data_defect</a:t>
                      </a:r>
                    </a:p>
                  </a:txBody>
                  <a:tcPr/>
                </a:tc>
                <a:tc>
                  <a:txBody>
                    <a:bodyPr/>
                    <a:lstStyle/>
                    <a:p>
                      <a:pPr marL="0" lvl="0" indent="0" algn="l">
                        <a:buNone/>
                      </a:pPr>
                      <a:r>
                        <a:rPr sz="1000"/>
                        <a:t>All-NA in every district of every country (the transport-barrier item did not populate in these DHS rounds)…</a:t>
                      </a:r>
                    </a:p>
                  </a:txBody>
                  <a:tcPr/>
                </a:tc>
                <a:extLst>
                  <a:ext uri="{0D108BD9-81ED-4DB2-BD59-A6C34878D82A}">
                    <a16:rowId xmlns:a16="http://schemas.microsoft.com/office/drawing/2014/main" val="10007"/>
                  </a:ext>
                </a:extLst>
              </a:tr>
              <a:tr h="0">
                <a:tc>
                  <a:txBody>
                    <a:bodyPr/>
                    <a:lstStyle/>
                    <a:p>
                      <a:pPr marL="0" lvl="0" indent="0" algn="l">
                        <a:buNone/>
                      </a:pPr>
                      <a:r>
                        <a:rPr sz="1000"/>
                        <a:t>^ndvi_y20(1[1-8])$</a:t>
                      </a:r>
                    </a:p>
                  </a:txBody>
                  <a:tcPr/>
                </a:tc>
                <a:tc>
                  <a:txBody>
                    <a:bodyPr/>
                    <a:lstStyle/>
                    <a:p>
                      <a:pPr marL="0" lvl="0" indent="0" algn="l">
                        <a:buNone/>
                      </a:pPr>
                      <a:r>
                        <a:rPr sz="1000"/>
                        <a:t>superseded</a:t>
                      </a:r>
                    </a:p>
                  </a:txBody>
                  <a:tcPr/>
                </a:tc>
                <a:tc>
                  <a:txBody>
                    <a:bodyPr/>
                    <a:lstStyle/>
                    <a:p>
                      <a:pPr marL="0" lvl="0" indent="0" algn="l">
                        <a:buNone/>
                      </a:pPr>
                      <a:r>
                        <a:rPr sz="1000"/>
                        <a:t>Superseded (NV-01, 2026-09-15) by MOD13Q1 NDVI at the survey year (ndvi_modis_t0/win/peak/amp/clim/anom): t…</a:t>
                      </a:r>
                    </a:p>
                  </a:txBody>
                  <a:tcPr/>
                </a:tc>
                <a:extLst>
                  <a:ext uri="{0D108BD9-81ED-4DB2-BD59-A6C34878D82A}">
                    <a16:rowId xmlns:a16="http://schemas.microsoft.com/office/drawing/2014/main" val="10008"/>
                  </a:ext>
                </a:extLst>
              </a:tr>
              <a:tr h="0">
                <a:tc>
                  <a:txBody>
                    <a:bodyPr/>
                    <a:lstStyle/>
                    <a:p>
                      <a:pPr marL="0" lvl="0" indent="0" algn="l">
                        <a:buNone/>
                      </a:pPr>
                      <a:r>
                        <a:rPr sz="1000"/>
                        <a:t>^precip_y20(1[0-9])$</a:t>
                      </a:r>
                    </a:p>
                  </a:txBody>
                  <a:tcPr/>
                </a:tc>
                <a:tc>
                  <a:txBody>
                    <a:bodyPr/>
                    <a:lstStyle/>
                    <a:p>
                      <a:pPr marL="0" lvl="0" indent="0" algn="l">
                        <a:buNone/>
                      </a:pPr>
                      <a:r>
                        <a:rPr sz="1000"/>
                        <a:t>superseded</a:t>
                      </a:r>
                    </a:p>
                  </a:txBody>
                  <a:tcPr/>
                </a:tc>
                <a:tc>
                  <a:txBody>
                    <a:bodyPr/>
                    <a:lstStyle/>
                    <a:p>
                      <a:pPr marL="0" lvl="0" indent="0" algn="l">
                        <a:buNone/>
                      </a:pPr>
                      <a:r>
                        <a:rPr sz="1000"/>
                        <a:t>Superseded (2026-09-15): TRMM 3B43 annual precipitation at a calendar year 2010-2019 lags the survey by up …</a:t>
                      </a:r>
                    </a:p>
                  </a:txBody>
                  <a:tcPr/>
                </a:tc>
                <a:extLst>
                  <a:ext uri="{0D108BD9-81ED-4DB2-BD59-A6C34878D82A}">
                    <a16:rowId xmlns:a16="http://schemas.microsoft.com/office/drawing/2014/main" val="10009"/>
                  </a:ext>
                </a:extLst>
              </a:tr>
              <a:tr h="0">
                <a:tc>
                  <a:txBody>
                    <a:bodyPr/>
                    <a:lstStyle/>
                    <a:p>
                      <a:pPr marL="0" lvl="0" indent="0" algn="l">
                        <a:buNone/>
                      </a:pPr>
                      <a:r>
                        <a:rPr sz="1000"/>
                        <a:t>^popdens_y(2010|2015|2020)$</a:t>
                      </a:r>
                    </a:p>
                  </a:txBody>
                  <a:tcPr/>
                </a:tc>
                <a:tc>
                  <a:txBody>
                    <a:bodyPr/>
                    <a:lstStyle/>
                    <a:p>
                      <a:pPr marL="0" lvl="0" indent="0" algn="l">
                        <a:buNone/>
                      </a:pPr>
                      <a:r>
                        <a:rPr sz="1000"/>
                        <a:t>superseded</a:t>
                      </a:r>
                    </a:p>
                  </a:txBody>
                  <a:tcPr/>
                </a:tc>
                <a:tc>
                  <a:txBody>
                    <a:bodyPr/>
                    <a:lstStyle/>
                    <a:p>
                      <a:pPr marL="0" lvl="0" indent="0" algn="l">
                        <a:buNone/>
                      </a:pPr>
                      <a:r>
                        <a:rPr sz="1000"/>
                        <a:t>Superseded (2026-09-15): GPW v4.11 density at fixed epochs (up to 8 years from the survey); wpop_log_densit…</a:t>
                      </a:r>
                    </a:p>
                  </a:txBody>
                  <a:tcPr/>
                </a:tc>
                <a:extLst>
                  <a:ext uri="{0D108BD9-81ED-4DB2-BD59-A6C34878D82A}">
                    <a16:rowId xmlns:a16="http://schemas.microsoft.com/office/drawing/2014/main" val="10010"/>
                  </a:ext>
                </a:extLst>
              </a:tr>
              <a:tr h="0">
                <a:tc>
                  <a:txBody>
                    <a:bodyPr/>
                    <a:lstStyle/>
                    <a:p>
                      <a:pPr marL="0" lvl="0" indent="0" algn="l">
                        <a:buNone/>
                      </a:pPr>
                      <a:r>
                        <a:rPr sz="1000"/>
                        <a:t>^gpw2010_</a:t>
                      </a:r>
                    </a:p>
                  </a:txBody>
                  <a:tcPr/>
                </a:tc>
                <a:tc>
                  <a:txBody>
                    <a:bodyPr/>
                    <a:lstStyle/>
                    <a:p>
                      <a:pPr marL="0" lvl="0" indent="0" algn="l">
                        <a:buNone/>
                      </a:pPr>
                      <a:r>
                        <a:rPr sz="1000"/>
                        <a:t>superseded</a:t>
                      </a:r>
                    </a:p>
                  </a:txBody>
                  <a:tcPr/>
                </a:tc>
                <a:tc>
                  <a:txBody>
                    <a:bodyPr/>
                    <a:lstStyle/>
                    <a:p>
                      <a:pPr marL="0" lvl="0" indent="0" algn="l">
                        <a:buNone/>
                      </a:pPr>
                      <a:r>
                        <a:rPr sz="1000"/>
                        <a:t>Superseded (2026-09-15): GPW 2010 age-sex shares are 3-8 years from the surveys; the WorldPop 2020 shares (…</a:t>
                      </a:r>
                    </a:p>
                  </a:txBody>
                  <a:tcPr/>
                </a:tc>
                <a:extLst>
                  <a:ext uri="{0D108BD9-81ED-4DB2-BD59-A6C34878D82A}">
                    <a16:rowId xmlns:a16="http://schemas.microsoft.com/office/drawing/2014/main" val="10011"/>
                  </a:ext>
                </a:extLst>
              </a:tr>
              <a:tr h="0">
                <a:tc>
                  <a:txBody>
                    <a:bodyPr/>
                    <a:lstStyle/>
                    <a:p>
                      <a:pPr marL="0" lvl="0" indent="0" algn="l">
                        <a:buNone/>
                      </a:pPr>
                      <a:r>
                        <a:rPr sz="1000"/>
                        <a:t>^ihme_proportionofpopulationachievingyearseducation$</a:t>
                      </a:r>
                    </a:p>
                  </a:txBody>
                  <a:tcPr/>
                </a:tc>
                <a:tc>
                  <a:txBody>
                    <a:bodyPr/>
                    <a:lstStyle/>
                    <a:p>
                      <a:pPr marL="0" lvl="0" indent="0" algn="l">
                        <a:buNone/>
                      </a:pPr>
                      <a:r>
                        <a:rPr sz="1000"/>
                        <a:t>data_defect</a:t>
                      </a:r>
                    </a:p>
                  </a:txBody>
                  <a:tcPr/>
                </a:tc>
                <a:tc>
                  <a:txBody>
                    <a:bodyPr/>
                    <a:lstStyle/>
                    <a:p>
                      <a:pPr marL="0" lvl="0" indent="0" algn="l">
                        <a:buNone/>
                      </a:pPr>
                      <a:r>
                        <a:rPr sz="1000"/>
                        <a:t>Data defect (2026-09-15): script 08’s key normaliser dropped the digits from three IHME education categorie…</a:t>
                      </a:r>
                    </a:p>
                  </a:txBody>
                  <a:tcPr/>
                </a:tc>
                <a:extLst>
                  <a:ext uri="{0D108BD9-81ED-4DB2-BD59-A6C34878D82A}">
                    <a16:rowId xmlns:a16="http://schemas.microsoft.com/office/drawing/2014/main" val="10012"/>
                  </a:ext>
                </a:extLst>
              </a:tr>
              <a:tr h="0">
                <a:tc>
                  <a:txBody>
                    <a:bodyPr/>
                    <a:lstStyle/>
                    <a:p>
                      <a:pPr marL="0" lvl="0" indent="0" algn="l">
                        <a:buNone/>
                      </a:pPr>
                      <a:r>
                        <a:rPr sz="1000"/>
                        <a:t>^dhs_(FP_CUSA_W_MOD|FP_NADA_W_UNT|AN_ANEM_W_ANY|CN_NUTS_C_WH2|CN_ANMC_C_ANY|CN_NUTS_C_HA2|AN_NUTS_W_THN|RH_ANCN_W_N4P)$</a:t>
                      </a:r>
                    </a:p>
                  </a:txBody>
                  <a:tcPr/>
                </a:tc>
                <a:tc>
                  <a:txBody>
                    <a:bodyPr/>
                    <a:lstStyle/>
                    <a:p>
                      <a:pPr marL="0" lvl="0" indent="0" algn="l">
                        <a:buNone/>
                      </a:pPr>
                      <a:r>
                        <a:rPr sz="1000"/>
                        <a:t>redundant</a:t>
                      </a:r>
                    </a:p>
                  </a:txBody>
                  <a:tcPr/>
                </a:tc>
                <a:tc>
                  <a:txBody>
                    <a:bodyPr/>
                    <a:lstStyle/>
                    <a:p>
                      <a:pPr marL="0" lvl="0" indent="0" algn="l">
                        <a:buNone/>
                      </a:pPr>
                      <a:r>
                        <a:rPr sz="1000"/>
                        <a:t>Redundant (RV-01, 2026-09-15): STATcompiler-style DHS indicators that duplicate the custom recode indicator…</a:t>
                      </a:r>
                    </a:p>
                  </a:txBody>
                  <a:tcPr/>
                </a:tc>
                <a:extLst>
                  <a:ext uri="{0D108BD9-81ED-4DB2-BD59-A6C34878D82A}">
                    <a16:rowId xmlns:a16="http://schemas.microsoft.com/office/drawing/2014/main" val="10013"/>
                  </a:ext>
                </a:extLst>
              </a:tr>
              <a:tr h="0">
                <a:tc>
                  <a:txBody>
                    <a:bodyPr/>
                    <a:lstStyle/>
                    <a:p>
                      <a:pPr marL="0" lvl="0" indent="0" algn="l">
                        <a:buNone/>
                      </a:pPr>
                      <a:r>
                        <a:rPr sz="1000"/>
                        <a:t>^dhs_w_primary_edu$</a:t>
                      </a:r>
                    </a:p>
                  </a:txBody>
                  <a:tcPr/>
                </a:tc>
                <a:tc>
                  <a:txBody>
                    <a:bodyPr/>
                    <a:lstStyle/>
                    <a:p>
                      <a:pPr marL="0" lvl="0" indent="0" algn="l">
                        <a:buNone/>
                      </a:pPr>
                      <a:r>
                        <a:rPr sz="1000"/>
                        <a:t>redundant</a:t>
                      </a:r>
                    </a:p>
                  </a:txBody>
                  <a:tcPr/>
                </a:tc>
                <a:tc>
                  <a:txBody>
                    <a:bodyPr/>
                    <a:lstStyle/>
                    <a:p>
                      <a:pPr marL="0" lvl="0" indent="0" algn="l">
                        <a:buNone/>
                      </a:pPr>
                      <a:r>
                        <a:rPr sz="1000"/>
                        <a:t>Redundant (RV-01): r = -1.000 with dhs_w_no_education (its complement).</a:t>
                      </a:r>
                    </a:p>
                  </a:txBody>
                  <a:tcPr/>
                </a:tc>
                <a:extLst>
                  <a:ext uri="{0D108BD9-81ED-4DB2-BD59-A6C34878D82A}">
                    <a16:rowId xmlns:a16="http://schemas.microsoft.com/office/drawing/2014/main" val="10014"/>
                  </a:ext>
                </a:extLst>
              </a:tr>
              <a:tr h="0">
                <a:tc>
                  <a:txBody>
                    <a:bodyPr/>
                    <a:lstStyle/>
                    <a:p>
                      <a:pPr marL="0" lvl="0" indent="0" algn="l">
                        <a:buNone/>
                      </a:pPr>
                      <a:r>
                        <a:rPr sz="1000"/>
                        <a:t>^dhs_w_iron_supplement$</a:t>
                      </a:r>
                    </a:p>
                  </a:txBody>
                  <a:tcPr/>
                </a:tc>
                <a:tc>
                  <a:txBody>
                    <a:bodyPr/>
                    <a:lstStyle/>
                    <a:p>
                      <a:pPr marL="0" lvl="0" indent="0" algn="l">
                        <a:buNone/>
                      </a:pPr>
                      <a:r>
                        <a:rPr sz="1000"/>
                        <a:t>redundant</a:t>
                      </a:r>
                    </a:p>
                  </a:txBody>
                  <a:tcPr/>
                </a:tc>
                <a:tc>
                  <a:txBody>
                    <a:bodyPr/>
                    <a:lstStyle/>
                    <a:p>
                      <a:pPr marL="0" lvl="0" indent="0" algn="l">
                        <a:buNone/>
                      </a:pPr>
                      <a:r>
                        <a:rPr sz="1000"/>
                        <a:t>Redundant (RV-01): r = 1.000 with dhs_w_iron_pregnancy.</a:t>
                      </a:r>
                    </a:p>
                  </a:txBody>
                  <a:tcPr/>
                </a:tc>
                <a:extLst>
                  <a:ext uri="{0D108BD9-81ED-4DB2-BD59-A6C34878D82A}">
                    <a16:rowId xmlns:a16="http://schemas.microsoft.com/office/drawing/2014/main" val="10015"/>
                  </a:ext>
                </a:extLst>
              </a:tr>
              <a:tr h="0">
                <a:tc>
                  <a:txBody>
                    <a:bodyPr/>
                    <a:lstStyle/>
                    <a:p>
                      <a:pPr marL="0" lvl="0" indent="0" algn="l">
                        <a:buNone/>
                      </a:pPr>
                      <a:r>
                        <a:rPr sz="1000"/>
                        <a:t>^dhs_c_vita_rich_food$</a:t>
                      </a:r>
                    </a:p>
                  </a:txBody>
                  <a:tcPr/>
                </a:tc>
                <a:tc>
                  <a:txBody>
                    <a:bodyPr/>
                    <a:lstStyle/>
                    <a:p>
                      <a:pPr marL="0" lvl="0" indent="0" algn="l">
                        <a:buNone/>
                      </a:pPr>
                      <a:r>
                        <a:rPr sz="1000"/>
                        <a:t>redundant</a:t>
                      </a:r>
                    </a:p>
                  </a:txBody>
                  <a:tcPr/>
                </a:tc>
                <a:tc>
                  <a:txBody>
                    <a:bodyPr/>
                    <a:lstStyle/>
                    <a:p>
                      <a:pPr marL="0" lvl="0" indent="0" algn="l">
                        <a:buNone/>
                      </a:pPr>
                      <a:r>
                        <a:rPr sz="1000"/>
                        <a:t>Redundant (RV-01): r = 1.000 with dhs_c_fg_vitA_fruitveg.</a:t>
                      </a:r>
                    </a:p>
                  </a:txBody>
                  <a:tcPr/>
                </a:tc>
                <a:extLst>
                  <a:ext uri="{0D108BD9-81ED-4DB2-BD59-A6C34878D82A}">
                    <a16:rowId xmlns:a16="http://schemas.microsoft.com/office/drawing/2014/main" val="10016"/>
                  </a:ext>
                </a:extLst>
              </a:tr>
              <a:tr h="0">
                <a:tc>
                  <a:txBody>
                    <a:bodyPr/>
                    <a:lstStyle/>
                    <a:p>
                      <a:pPr marL="0" lvl="0" indent="0" algn="l">
                        <a:buNone/>
                      </a:pPr>
                      <a:r>
                        <a:rPr sz="1000"/>
                        <a:t>^espen_(sth|sch)_prev_mid_base$</a:t>
                      </a:r>
                    </a:p>
                  </a:txBody>
                  <a:tcPr/>
                </a:tc>
                <a:tc>
                  <a:txBody>
                    <a:bodyPr/>
                    <a:lstStyle/>
                    <a:p>
                      <a:pPr marL="0" lvl="0" indent="0" algn="l">
                        <a:buNone/>
                      </a:pPr>
                      <a:r>
                        <a:rPr sz="1000"/>
                        <a:t>redundant</a:t>
                      </a:r>
                    </a:p>
                  </a:txBody>
                  <a:tcPr/>
                </a:tc>
                <a:tc>
                  <a:txBody>
                    <a:bodyPr/>
                    <a:lstStyle/>
                    <a:p>
                      <a:pPr marL="0" lvl="0" indent="0" algn="l">
                        <a:buNone/>
                      </a:pPr>
                      <a:r>
                        <a:rPr sz="1000"/>
                        <a:t>Redundant (RV-01): the earliest ESPEN year is the year nearest every survey, so _base equals _prev_mid (r &gt;…</a:t>
                      </a:r>
                    </a:p>
                  </a:txBody>
                  <a:tcPr/>
                </a:tc>
                <a:extLst>
                  <a:ext uri="{0D108BD9-81ED-4DB2-BD59-A6C34878D82A}">
                    <a16:rowId xmlns:a16="http://schemas.microsoft.com/office/drawing/2014/main" val="10017"/>
                  </a:ext>
                </a:extLst>
              </a:tr>
              <a:tr h="0">
                <a:tc>
                  <a:txBody>
                    <a:bodyPr/>
                    <a:lstStyle/>
                    <a:p>
                      <a:pPr marL="0" lvl="0" indent="0" algn="l">
                        <a:buNone/>
                      </a:pPr>
                      <a:r>
                        <a:rPr sz="1000"/>
                        <a:t>^(map_sy_pf_incidence_rate|ihme_malaria_incidence_rate)$</a:t>
                      </a:r>
                    </a:p>
                  </a:txBody>
                  <a:tcPr/>
                </a:tc>
                <a:tc>
                  <a:txBody>
                    <a:bodyPr/>
                    <a:lstStyle/>
                    <a:p>
                      <a:pPr marL="0" lvl="0" indent="0" algn="l">
                        <a:buNone/>
                      </a:pPr>
                      <a:r>
                        <a:rPr sz="1000"/>
                        <a:t>redundant</a:t>
                      </a:r>
                    </a:p>
                  </a:txBody>
                  <a:tcPr/>
                </a:tc>
                <a:tc>
                  <a:txBody>
                    <a:bodyPr/>
                    <a:lstStyle/>
                    <a:p>
                      <a:pPr marL="0" lvl="0" indent="0" algn="l">
                        <a:buNone/>
                      </a:pPr>
                      <a:r>
                        <a:rPr sz="1000"/>
                        <a:t>Redundant (RV-01): incidence is a deterministic function of the parasite rate in both products (r 0.998-0.9…</a:t>
                      </a:r>
                    </a:p>
                  </a:txBody>
                  <a:tcPr/>
                </a:tc>
                <a:extLst>
                  <a:ext uri="{0D108BD9-81ED-4DB2-BD59-A6C34878D82A}">
                    <a16:rowId xmlns:a16="http://schemas.microsoft.com/office/drawing/2014/main" val="10018"/>
                  </a:ext>
                </a:extLst>
              </a:tr>
              <a:tr h="0">
                <a:tc>
                  <a:txBody>
                    <a:bodyPr/>
                    <a:lstStyle/>
                    <a:p>
                      <a:pPr marL="0" lvl="0" indent="0" algn="l">
                        <a:buNone/>
                      </a:pPr>
                      <a:r>
                        <a:rPr sz="1000"/>
                        <a:t>^wpop_log_density$</a:t>
                      </a:r>
                    </a:p>
                  </a:txBody>
                  <a:tcPr/>
                </a:tc>
                <a:tc>
                  <a:txBody>
                    <a:bodyPr/>
                    <a:lstStyle/>
                    <a:p>
                      <a:pPr marL="0" lvl="0" indent="0" algn="l">
                        <a:buNone/>
                      </a:pPr>
                      <a:r>
                        <a:rPr sz="1000"/>
                        <a:t>superseded</a:t>
                      </a:r>
                    </a:p>
                  </a:txBody>
                  <a:tcPr/>
                </a:tc>
                <a:tc>
                  <a:txBody>
                    <a:bodyPr/>
                    <a:lstStyle/>
                    <a:p>
                      <a:pPr marL="0" lvl="0" indent="0" algn="l">
                        <a:buNone/>
                      </a:pPr>
                      <a:r>
                        <a:rPr sz="1000"/>
                        <a:t>Superseded (RV-01): 2020-vintage WorldPop density; r = 0.999 with wpop_log_density_survey_year, which is at…</a:t>
                      </a:r>
                    </a:p>
                  </a:txBody>
                  <a:tcPr/>
                </a:tc>
                <a:extLst>
                  <a:ext uri="{0D108BD9-81ED-4DB2-BD59-A6C34878D82A}">
                    <a16:rowId xmlns:a16="http://schemas.microsoft.com/office/drawing/2014/main" val="10019"/>
                  </a:ext>
                </a:extLst>
              </a:tr>
              <a:tr h="0">
                <a:tc>
                  <a:txBody>
                    <a:bodyPr/>
                    <a:lstStyle/>
                    <a:p>
                      <a:pPr marL="0" lvl="0" indent="0" algn="l">
                        <a:buNone/>
                      </a:pPr>
                      <a:r>
                        <a:rPr sz="1000"/>
                        <a:t>^wsf$</a:t>
                      </a:r>
                    </a:p>
                  </a:txBody>
                  <a:tcPr/>
                </a:tc>
                <a:tc>
                  <a:txBody>
                    <a:bodyPr/>
                    <a:lstStyle/>
                    <a:p>
                      <a:pPr marL="0" lvl="0" indent="0" algn="l">
                        <a:buNone/>
                      </a:pPr>
                      <a:r>
                        <a:rPr sz="1000"/>
                        <a:t>redundant</a:t>
                      </a:r>
                    </a:p>
                  </a:txBody>
                  <a:tcPr/>
                </a:tc>
                <a:tc>
                  <a:txBody>
                    <a:bodyPr/>
                    <a:lstStyle/>
                    <a:p>
                      <a:pPr marL="0" lvl="0" indent="0" algn="l">
                        <a:buNone/>
                      </a:pPr>
                      <a:r>
                        <a:rPr sz="1000"/>
                        <a:t>Redundant (RV-01): World Settlement Footprint 2015 has r = 0.992 with lcover_urban_frac_t0, which is at the…</a:t>
                      </a:r>
                    </a:p>
                  </a:txBody>
                  <a:tcPr/>
                </a:tc>
                <a:extLst>
                  <a:ext uri="{0D108BD9-81ED-4DB2-BD59-A6C34878D82A}">
                    <a16:rowId xmlns:a16="http://schemas.microsoft.com/office/drawing/2014/main" val="10020"/>
                  </a:ext>
                </a:extLst>
              </a:tr>
              <a:tr h="0">
                <a:tc>
                  <a:txBody>
                    <a:bodyPr/>
                    <a:lstStyle/>
                    <a:p>
                      <a:pPr marL="0" lvl="0" indent="0" algn="l">
                        <a:buNone/>
                      </a:pPr>
                      <a:r>
                        <a:rPr sz="1000"/>
                        <a:t>^mics_heat_vhib_sy$</a:t>
                      </a:r>
                    </a:p>
                  </a:txBody>
                  <a:tcPr/>
                </a:tc>
                <a:tc>
                  <a:txBody>
                    <a:bodyPr/>
                    <a:lstStyle/>
                    <a:p>
                      <a:pPr marL="0" lvl="0" indent="0" algn="l">
                        <a:buNone/>
                      </a:pPr>
                      <a:r>
                        <a:rPr sz="1000"/>
                        <a:t>redundant</a:t>
                      </a:r>
                    </a:p>
                  </a:txBody>
                  <a:tcPr/>
                </a:tc>
                <a:tc>
                  <a:txBody>
                    <a:bodyPr/>
                    <a:lstStyle/>
                    <a:p>
                      <a:pPr marL="0" lvl="0" indent="0" algn="l">
                        <a:buNone/>
                      </a:pPr>
                      <a:r>
                        <a:rPr sz="1000"/>
                        <a:t>Redundant (RV-01): Hib is given as the pentavalent vaccine, r = 0.990 with mics_heat_vdpt_sy.</a:t>
                      </a:r>
                    </a:p>
                  </a:txBody>
                  <a:tcPr/>
                </a:tc>
                <a:extLst>
                  <a:ext uri="{0D108BD9-81ED-4DB2-BD59-A6C34878D82A}">
                    <a16:rowId xmlns:a16="http://schemas.microsoft.com/office/drawing/2014/main" val="10021"/>
                  </a:ext>
                </a:extLst>
              </a:tr>
              <a:tr h="0">
                <a:tc>
                  <a:txBody>
                    <a:bodyPr/>
                    <a:lstStyle/>
                    <a:p>
                      <a:pPr marL="0" lvl="0" indent="0" algn="l">
                        <a:buNone/>
                      </a:pPr>
                      <a:r>
                        <a:rPr sz="1000"/>
                        <a:t>^rtfp_dist_market_km$</a:t>
                      </a:r>
                    </a:p>
                  </a:txBody>
                  <a:tcPr/>
                </a:tc>
                <a:tc>
                  <a:txBody>
                    <a:bodyPr/>
                    <a:lstStyle/>
                    <a:p>
                      <a:pPr marL="0" lvl="0" indent="0" algn="l">
                        <a:buNone/>
                      </a:pPr>
                      <a:r>
                        <a:rPr sz="1000"/>
                        <a:t>redundant</a:t>
                      </a:r>
                    </a:p>
                  </a:txBody>
                  <a:tcPr/>
                </a:tc>
                <a:tc>
                  <a:txBody>
                    <a:bodyPr/>
                    <a:lstStyle/>
                    <a:p>
                      <a:pPr marL="0" lvl="0" indent="0" algn="l">
                        <a:buNone/>
                      </a:pPr>
                      <a:r>
                        <a:rPr sz="1000"/>
                        <a:t>Redundant (RV-01): r = 0.984 with fprice_dist_nearest_market_km (the same WFP markets), which covers all fo…</a:t>
                      </a:r>
                    </a:p>
                  </a:txBody>
                  <a:tcPr/>
                </a:tc>
                <a:extLst>
                  <a:ext uri="{0D108BD9-81ED-4DB2-BD59-A6C34878D82A}">
                    <a16:rowId xmlns:a16="http://schemas.microsoft.com/office/drawing/2014/main" val="10022"/>
                  </a:ext>
                </a:extLst>
              </a:tr>
              <a:tr h="0">
                <a:tc>
                  <a:txBody>
                    <a:bodyPr/>
                    <a:lstStyle/>
                    <a:p>
                      <a:pPr marL="0" lvl="0" indent="0" algn="l">
                        <a:buNone/>
                      </a:pPr>
                      <a:r>
                        <a:rPr sz="1000"/>
                        <a:t>^flunet_</a:t>
                      </a:r>
                    </a:p>
                  </a:txBody>
                  <a:tcPr/>
                </a:tc>
                <a:tc>
                  <a:txBody>
                    <a:bodyPr/>
                    <a:lstStyle/>
                    <a:p>
                      <a:pPr marL="0" lvl="0" indent="0" algn="l">
                        <a:buNone/>
                      </a:pPr>
                      <a:r>
                        <a:rPr sz="1000"/>
                        <a:t>national_track</a:t>
                      </a:r>
                    </a:p>
                  </a:txBody>
                  <a:tcPr/>
                </a:tc>
                <a:tc>
                  <a:txBody>
                    <a:bodyPr/>
                    <a:lstStyle/>
                    <a:p>
                      <a:pPr marL="0" lvl="0" indent="0" algn="l">
                        <a:buNone/>
                      </a:pPr>
                      <a:r>
                        <a:rPr sz="1000"/>
                        <a:t>National track only (2026-09-16): the three FluNet indicators are national constants in the district set (d…</a:t>
                      </a:r>
                    </a:p>
                  </a:txBody>
                  <a:tcPr/>
                </a:tc>
                <a:extLst>
                  <a:ext uri="{0D108BD9-81ED-4DB2-BD59-A6C34878D82A}">
                    <a16:rowId xmlns:a16="http://schemas.microsoft.com/office/drawing/2014/main" val="10023"/>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74</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431800">
                  <a:extLst>
                    <a:ext uri="{9D8B030D-6E8A-4147-A177-3AD203B41FA5}">
                      <a16:colId xmlns:a16="http://schemas.microsoft.com/office/drawing/2014/main" val="20002"/>
                    </a:ext>
                  </a:extLst>
                </a:gridCol>
                <a:gridCol w="1473200">
                  <a:extLst>
                    <a:ext uri="{9D8B030D-6E8A-4147-A177-3AD203B41FA5}">
                      <a16:colId xmlns:a16="http://schemas.microsoft.com/office/drawing/2014/main" val="20003"/>
                    </a:ext>
                  </a:extLst>
                </a:gridCol>
                <a:gridCol w="342900">
                  <a:extLst>
                    <a:ext uri="{9D8B030D-6E8A-4147-A177-3AD203B41FA5}">
                      <a16:colId xmlns:a16="http://schemas.microsoft.com/office/drawing/2014/main" val="20004"/>
                    </a:ext>
                  </a:extLst>
                </a:gridCol>
                <a:gridCol w="1739900">
                  <a:extLst>
                    <a:ext uri="{9D8B030D-6E8A-4147-A177-3AD203B41FA5}">
                      <a16:colId xmlns:a16="http://schemas.microsoft.com/office/drawing/2014/main" val="20005"/>
                    </a:ext>
                  </a:extLst>
                </a:gridCol>
                <a:gridCol w="1562100">
                  <a:extLst>
                    <a:ext uri="{9D8B030D-6E8A-4147-A177-3AD203B41FA5}">
                      <a16:colId xmlns:a16="http://schemas.microsoft.com/office/drawing/2014/main" val="20006"/>
                    </a:ext>
                  </a:extLst>
                </a:gridCol>
              </a:tblGrid>
              <a:tr h="0">
                <a:tc>
                  <a:txBody>
                    <a:bodyPr/>
                    <a:lstStyle/>
                    <a:p>
                      <a:pPr marL="0" lvl="0" indent="0" algn="l">
                        <a:buNone/>
                      </a:pPr>
                      <a:r>
                        <a:rPr sz="1000"/>
                        <a:t>Domain</a:t>
                      </a:r>
                    </a:p>
                  </a:txBody>
                  <a:tcPr/>
                </a:tc>
                <a:tc>
                  <a:txBody>
                    <a:bodyPr/>
                    <a:lstStyle/>
                    <a:p>
                      <a:pPr marL="0" lvl="0" indent="0" algn="r">
                        <a:buNone/>
                      </a:pPr>
                      <a:r>
                        <a:rPr sz="1000"/>
                        <a:t>Columns</a:t>
                      </a:r>
                    </a:p>
                  </a:txBody>
                  <a:tcPr/>
                </a:tc>
                <a:tc>
                  <a:txBody>
                    <a:bodyPr/>
                    <a:lstStyle/>
                    <a:p>
                      <a:pPr marL="0" lvl="0" indent="0" algn="r">
                        <a:buNone/>
                      </a:pPr>
                      <a:r>
                        <a:rPr sz="1000"/>
                        <a:t>Open</a:t>
                      </a:r>
                    </a:p>
                  </a:txBody>
                  <a:tcPr/>
                </a:tc>
                <a:tc>
                  <a:txBody>
                    <a:bodyPr/>
                    <a:lstStyle/>
                    <a:p>
                      <a:pPr marL="0" lvl="0" indent="0" algn="r">
                        <a:buNone/>
                      </a:pPr>
                      <a:r>
                        <a:rPr sz="1000"/>
                        <a:t>Public microdata</a:t>
                      </a:r>
                    </a:p>
                  </a:txBody>
                  <a:tcPr/>
                </a:tc>
                <a:tc>
                  <a:txBody>
                    <a:bodyPr/>
                    <a:lstStyle/>
                    <a:p>
                      <a:pPr marL="0" lvl="0" indent="0" algn="r">
                        <a:buNone/>
                      </a:pPr>
                      <a:r>
                        <a:rPr sz="1000"/>
                        <a:t>DHS</a:t>
                      </a:r>
                    </a:p>
                  </a:txBody>
                  <a:tcPr/>
                </a:tc>
                <a:tc>
                  <a:txBody>
                    <a:bodyPr/>
                    <a:lstStyle/>
                    <a:p>
                      <a:pPr marL="0" lvl="0" indent="0" algn="r">
                        <a:buNone/>
                      </a:pPr>
                      <a:r>
                        <a:rPr sz="1000"/>
                        <a:t>Vary within country</a:t>
                      </a:r>
                    </a:p>
                  </a:txBody>
                  <a:tcPr/>
                </a:tc>
                <a:tc>
                  <a:txBody>
                    <a:bodyPr/>
                    <a:lstStyle/>
                    <a:p>
                      <a:pPr marL="0" lvl="0" indent="0" algn="r">
                        <a:buNone/>
                      </a:pPr>
                      <a:r>
                        <a:rPr sz="1000"/>
                        <a:t>Modelled surfaces</a:t>
                      </a:r>
                    </a:p>
                  </a:txBody>
                  <a:tcPr/>
                </a:tc>
                <a:extLst>
                  <a:ext uri="{0D108BD9-81ED-4DB2-BD59-A6C34878D82A}">
                    <a16:rowId xmlns:a16="http://schemas.microsoft.com/office/drawing/2014/main" val="10000"/>
                  </a:ext>
                </a:extLst>
              </a:tr>
              <a:tr h="0">
                <a:tc>
                  <a:txBody>
                    <a:bodyPr/>
                    <a:lstStyle/>
                    <a:p>
                      <a:pPr marL="0" lvl="0" indent="0" algn="l">
                        <a:buNone/>
                      </a:pPr>
                      <a:r>
                        <a:rPr sz="1000"/>
                        <a:t>Satellite embedding</a:t>
                      </a:r>
                    </a:p>
                  </a:txBody>
                  <a:tcPr/>
                </a:tc>
                <a:tc>
                  <a:txBody>
                    <a:bodyPr/>
                    <a:lstStyle/>
                    <a:p>
                      <a:pPr marL="0" lvl="0" indent="0" algn="r">
                        <a:buNone/>
                      </a:pPr>
                      <a:r>
                        <a:rPr sz="1000"/>
                        <a:t>64</a:t>
                      </a:r>
                    </a:p>
                  </a:txBody>
                  <a:tcPr/>
                </a:tc>
                <a:tc>
                  <a:txBody>
                    <a:bodyPr/>
                    <a:lstStyle/>
                    <a:p>
                      <a:pPr marL="0" lvl="0" indent="0" algn="r">
                        <a:buNone/>
                      </a:pPr>
                      <a:r>
                        <a:rPr sz="1000"/>
                        <a:t>64</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64</a:t>
                      </a:r>
                    </a:p>
                  </a:txBody>
                  <a:tcPr/>
                </a:tc>
                <a:tc>
                  <a:txBody>
                    <a:bodyPr/>
                    <a:lstStyle/>
                    <a:p>
                      <a:pPr marL="0" lvl="0" indent="0" algn="r">
                        <a:buNone/>
                      </a:pPr>
                      <a:r>
                        <a:rPr sz="1000"/>
                        <a:t>0</a:t>
                      </a:r>
                    </a:p>
                  </a:txBody>
                  <a:tcPr/>
                </a:tc>
                <a:extLst>
                  <a:ext uri="{0D108BD9-81ED-4DB2-BD59-A6C34878D82A}">
                    <a16:rowId xmlns:a16="http://schemas.microsoft.com/office/drawing/2014/main" val="10001"/>
                  </a:ext>
                </a:extLst>
              </a:tr>
              <a:tr h="0">
                <a:tc>
                  <a:txBody>
                    <a:bodyPr/>
                    <a:lstStyle/>
                    <a:p>
                      <a:pPr marL="0" lvl="0" indent="0" algn="l">
                        <a:buNone/>
                      </a:pPr>
                      <a:r>
                        <a:rPr sz="1000"/>
                        <a:t>Climate and weather</a:t>
                      </a:r>
                    </a:p>
                  </a:txBody>
                  <a:tcPr/>
                </a:tc>
                <a:tc>
                  <a:txBody>
                    <a:bodyPr/>
                    <a:lstStyle/>
                    <a:p>
                      <a:pPr marL="0" lvl="0" indent="0" algn="r">
                        <a:buNone/>
                      </a:pPr>
                      <a:r>
                        <a:rPr sz="1000"/>
                        <a:t>60</a:t>
                      </a:r>
                    </a:p>
                  </a:txBody>
                  <a:tcPr/>
                </a:tc>
                <a:tc>
                  <a:txBody>
                    <a:bodyPr/>
                    <a:lstStyle/>
                    <a:p>
                      <a:pPr marL="0" lvl="0" indent="0" algn="r">
                        <a:buNone/>
                      </a:pPr>
                      <a:r>
                        <a:rPr sz="1000"/>
                        <a:t>60</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60</a:t>
                      </a:r>
                    </a:p>
                  </a:txBody>
                  <a:tcPr/>
                </a:tc>
                <a:tc>
                  <a:txBody>
                    <a:bodyPr/>
                    <a:lstStyle/>
                    <a:p>
                      <a:pPr marL="0" lvl="0" indent="0" algn="r">
                        <a:buNone/>
                      </a:pPr>
                      <a:r>
                        <a:rPr sz="1000"/>
                        <a:t>0</a:t>
                      </a:r>
                    </a:p>
                  </a:txBody>
                  <a:tcPr/>
                </a:tc>
                <a:extLst>
                  <a:ext uri="{0D108BD9-81ED-4DB2-BD59-A6C34878D82A}">
                    <a16:rowId xmlns:a16="http://schemas.microsoft.com/office/drawing/2014/main" val="10002"/>
                  </a:ext>
                </a:extLst>
              </a:tr>
              <a:tr h="0">
                <a:tc>
                  <a:txBody>
                    <a:bodyPr/>
                    <a:lstStyle/>
                    <a:p>
                      <a:pPr marL="0" lvl="0" indent="0" algn="l">
                        <a:buNone/>
                      </a:pPr>
                      <a:r>
                        <a:rPr sz="1000"/>
                        <a:t>Soil characteristics</a:t>
                      </a:r>
                    </a:p>
                  </a:txBody>
                  <a:tcPr/>
                </a:tc>
                <a:tc>
                  <a:txBody>
                    <a:bodyPr/>
                    <a:lstStyle/>
                    <a:p>
                      <a:pPr marL="0" lvl="0" indent="0" algn="r">
                        <a:buNone/>
                      </a:pPr>
                      <a:r>
                        <a:rPr sz="1000"/>
                        <a:t>45</a:t>
                      </a:r>
                    </a:p>
                  </a:txBody>
                  <a:tcPr/>
                </a:tc>
                <a:tc>
                  <a:txBody>
                    <a:bodyPr/>
                    <a:lstStyle/>
                    <a:p>
                      <a:pPr marL="0" lvl="0" indent="0" algn="r">
                        <a:buNone/>
                      </a:pPr>
                      <a:r>
                        <a:rPr sz="1000"/>
                        <a:t>45</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45</a:t>
                      </a:r>
                    </a:p>
                  </a:txBody>
                  <a:tcPr/>
                </a:tc>
                <a:tc>
                  <a:txBody>
                    <a:bodyPr/>
                    <a:lstStyle/>
                    <a:p>
                      <a:pPr marL="0" lvl="0" indent="0" algn="r">
                        <a:buNone/>
                      </a:pPr>
                      <a:r>
                        <a:rPr sz="1000"/>
                        <a:t>0</a:t>
                      </a:r>
                    </a:p>
                  </a:txBody>
                  <a:tcPr/>
                </a:tc>
                <a:extLst>
                  <a:ext uri="{0D108BD9-81ED-4DB2-BD59-A6C34878D82A}">
                    <a16:rowId xmlns:a16="http://schemas.microsoft.com/office/drawing/2014/main" val="10003"/>
                  </a:ext>
                </a:extLst>
              </a:tr>
              <a:tr h="0">
                <a:tc>
                  <a:txBody>
                    <a:bodyPr/>
                    <a:lstStyle/>
                    <a:p>
                      <a:pPr marL="0" lvl="0" indent="0" algn="l">
                        <a:buNone/>
                      </a:pPr>
                      <a:r>
                        <a:rPr sz="1000"/>
                        <a:t>Infection and inflammation burden</a:t>
                      </a:r>
                    </a:p>
                  </a:txBody>
                  <a:tcPr/>
                </a:tc>
                <a:tc>
                  <a:txBody>
                    <a:bodyPr/>
                    <a:lstStyle/>
                    <a:p>
                      <a:pPr marL="0" lvl="0" indent="0" algn="r">
                        <a:buNone/>
                      </a:pPr>
                      <a:r>
                        <a:rPr sz="1000"/>
                        <a:t>39</a:t>
                      </a:r>
                    </a:p>
                  </a:txBody>
                  <a:tcPr/>
                </a:tc>
                <a:tc>
                  <a:txBody>
                    <a:bodyPr/>
                    <a:lstStyle/>
                    <a:p>
                      <a:pPr marL="0" lvl="0" indent="0" algn="r">
                        <a:buNone/>
                      </a:pPr>
                      <a:r>
                        <a:rPr sz="1000"/>
                        <a:t>27</a:t>
                      </a:r>
                    </a:p>
                  </a:txBody>
                  <a:tcPr/>
                </a:tc>
                <a:tc>
                  <a:txBody>
                    <a:bodyPr/>
                    <a:lstStyle/>
                    <a:p>
                      <a:pPr marL="0" lvl="0" indent="0" algn="r">
                        <a:buNone/>
                      </a:pPr>
                      <a:r>
                        <a:rPr sz="1000"/>
                        <a:t>4</a:t>
                      </a:r>
                    </a:p>
                  </a:txBody>
                  <a:tcPr/>
                </a:tc>
                <a:tc>
                  <a:txBody>
                    <a:bodyPr/>
                    <a:lstStyle/>
                    <a:p>
                      <a:pPr marL="0" lvl="0" indent="0" algn="r">
                        <a:buNone/>
                      </a:pPr>
                      <a:r>
                        <a:rPr sz="1000"/>
                        <a:t>8</a:t>
                      </a:r>
                    </a:p>
                  </a:txBody>
                  <a:tcPr/>
                </a:tc>
                <a:tc>
                  <a:txBody>
                    <a:bodyPr/>
                    <a:lstStyle/>
                    <a:p>
                      <a:pPr marL="0" lvl="0" indent="0" algn="r">
                        <a:buNone/>
                      </a:pPr>
                      <a:r>
                        <a:rPr sz="1000"/>
                        <a:t>39</a:t>
                      </a:r>
                    </a:p>
                  </a:txBody>
                  <a:tcPr/>
                </a:tc>
                <a:tc>
                  <a:txBody>
                    <a:bodyPr/>
                    <a:lstStyle/>
                    <a:p>
                      <a:pPr marL="0" lvl="0" indent="0" algn="r">
                        <a:buNone/>
                      </a:pPr>
                      <a:r>
                        <a:rPr sz="1000"/>
                        <a:t>10</a:t>
                      </a:r>
                    </a:p>
                  </a:txBody>
                  <a:tcPr/>
                </a:tc>
                <a:extLst>
                  <a:ext uri="{0D108BD9-81ED-4DB2-BD59-A6C34878D82A}">
                    <a16:rowId xmlns:a16="http://schemas.microsoft.com/office/drawing/2014/main" val="10004"/>
                  </a:ext>
                </a:extLst>
              </a:tr>
              <a:tr h="0">
                <a:tc>
                  <a:txBody>
                    <a:bodyPr/>
                    <a:lstStyle/>
                    <a:p>
                      <a:pPr marL="0" lvl="0" indent="0" algn="l">
                        <a:buNone/>
                      </a:pPr>
                      <a:r>
                        <a:rPr sz="1000"/>
                        <a:t>Food fortification and supplementation</a:t>
                      </a:r>
                    </a:p>
                  </a:txBody>
                  <a:tcPr/>
                </a:tc>
                <a:tc>
                  <a:txBody>
                    <a:bodyPr/>
                    <a:lstStyle/>
                    <a:p>
                      <a:pPr marL="0" lvl="0" indent="0" algn="r">
                        <a:buNone/>
                      </a:pPr>
                      <a:r>
                        <a:rPr sz="1000"/>
                        <a:t>35</a:t>
                      </a:r>
                    </a:p>
                  </a:txBody>
                  <a:tcPr/>
                </a:tc>
                <a:tc>
                  <a:txBody>
                    <a:bodyPr/>
                    <a:lstStyle/>
                    <a:p>
                      <a:pPr marL="0" lvl="0" indent="0" algn="r">
                        <a:buNone/>
                      </a:pPr>
                      <a:r>
                        <a:rPr sz="1000"/>
                        <a:t>25</a:t>
                      </a:r>
                    </a:p>
                  </a:txBody>
                  <a:tcPr/>
                </a:tc>
                <a:tc>
                  <a:txBody>
                    <a:bodyPr/>
                    <a:lstStyle/>
                    <a:p>
                      <a:pPr marL="0" lvl="0" indent="0" algn="r">
                        <a:buNone/>
                      </a:pPr>
                      <a:r>
                        <a:rPr sz="1000"/>
                        <a:t>3</a:t>
                      </a:r>
                    </a:p>
                  </a:txBody>
                  <a:tcPr/>
                </a:tc>
                <a:tc>
                  <a:txBody>
                    <a:bodyPr/>
                    <a:lstStyle/>
                    <a:p>
                      <a:pPr marL="0" lvl="0" indent="0" algn="r">
                        <a:buNone/>
                      </a:pPr>
                      <a:r>
                        <a:rPr sz="1000"/>
                        <a:t>7</a:t>
                      </a:r>
                    </a:p>
                  </a:txBody>
                  <a:tcPr/>
                </a:tc>
                <a:tc>
                  <a:txBody>
                    <a:bodyPr/>
                    <a:lstStyle/>
                    <a:p>
                      <a:pPr marL="0" lvl="0" indent="0" algn="r">
                        <a:buNone/>
                      </a:pPr>
                      <a:r>
                        <a:rPr sz="1000"/>
                        <a:t>10</a:t>
                      </a:r>
                    </a:p>
                  </a:txBody>
                  <a:tcPr/>
                </a:tc>
                <a:tc>
                  <a:txBody>
                    <a:bodyPr/>
                    <a:lstStyle/>
                    <a:p>
                      <a:pPr marL="0" lvl="0" indent="0" algn="r">
                        <a:buNone/>
                      </a:pPr>
                      <a:r>
                        <a:rPr sz="1000"/>
                        <a:t>0</a:t>
                      </a:r>
                    </a:p>
                  </a:txBody>
                  <a:tcPr/>
                </a:tc>
                <a:extLst>
                  <a:ext uri="{0D108BD9-81ED-4DB2-BD59-A6C34878D82A}">
                    <a16:rowId xmlns:a16="http://schemas.microsoft.com/office/drawing/2014/main" val="10005"/>
                  </a:ext>
                </a:extLst>
              </a:tr>
              <a:tr h="0">
                <a:tc>
                  <a:txBody>
                    <a:bodyPr/>
                    <a:lstStyle/>
                    <a:p>
                      <a:pPr marL="0" lvl="0" indent="0" algn="l">
                        <a:buNone/>
                      </a:pPr>
                      <a:r>
                        <a:rPr sz="1000"/>
                        <a:t>Immunisation</a:t>
                      </a:r>
                    </a:p>
                  </a:txBody>
                  <a:tcPr/>
                </a:tc>
                <a:tc>
                  <a:txBody>
                    <a:bodyPr/>
                    <a:lstStyle/>
                    <a:p>
                      <a:pPr marL="0" lvl="0" indent="0" algn="r">
                        <a:buNone/>
                      </a:pPr>
                      <a:r>
                        <a:rPr sz="1000"/>
                        <a:t>32</a:t>
                      </a:r>
                    </a:p>
                  </a:txBody>
                  <a:tcPr/>
                </a:tc>
                <a:tc>
                  <a:txBody>
                    <a:bodyPr/>
                    <a:lstStyle/>
                    <a:p>
                      <a:pPr marL="0" lvl="0" indent="0" algn="r">
                        <a:buNone/>
                      </a:pPr>
                      <a:r>
                        <a:rPr sz="1000"/>
                        <a:t>1</a:t>
                      </a:r>
                    </a:p>
                  </a:txBody>
                  <a:tcPr/>
                </a:tc>
                <a:tc>
                  <a:txBody>
                    <a:bodyPr/>
                    <a:lstStyle/>
                    <a:p>
                      <a:pPr marL="0" lvl="0" indent="0" algn="r">
                        <a:buNone/>
                      </a:pPr>
                      <a:r>
                        <a:rPr sz="1000"/>
                        <a:t>19</a:t>
                      </a:r>
                    </a:p>
                  </a:txBody>
                  <a:tcPr/>
                </a:tc>
                <a:tc>
                  <a:txBody>
                    <a:bodyPr/>
                    <a:lstStyle/>
                    <a:p>
                      <a:pPr marL="0" lvl="0" indent="0" algn="r">
                        <a:buNone/>
                      </a:pPr>
                      <a:r>
                        <a:rPr sz="1000"/>
                        <a:t>12</a:t>
                      </a:r>
                    </a:p>
                  </a:txBody>
                  <a:tcPr/>
                </a:tc>
                <a:tc>
                  <a:txBody>
                    <a:bodyPr/>
                    <a:lstStyle/>
                    <a:p>
                      <a:pPr marL="0" lvl="0" indent="0" algn="r">
                        <a:buNone/>
                      </a:pPr>
                      <a:r>
                        <a:rPr sz="1000"/>
                        <a:t>32</a:t>
                      </a:r>
                    </a:p>
                  </a:txBody>
                  <a:tcPr/>
                </a:tc>
                <a:tc>
                  <a:txBody>
                    <a:bodyPr/>
                    <a:lstStyle/>
                    <a:p>
                      <a:pPr marL="0" lvl="0" indent="0" algn="r">
                        <a:buNone/>
                      </a:pPr>
                      <a:r>
                        <a:rPr sz="1000"/>
                        <a:t>1</a:t>
                      </a:r>
                    </a:p>
                  </a:txBody>
                  <a:tcPr/>
                </a:tc>
                <a:extLst>
                  <a:ext uri="{0D108BD9-81ED-4DB2-BD59-A6C34878D82A}">
                    <a16:rowId xmlns:a16="http://schemas.microsoft.com/office/drawing/2014/main" val="10006"/>
                  </a:ext>
                </a:extLst>
              </a:tr>
              <a:tr h="0">
                <a:tc>
                  <a:txBody>
                    <a:bodyPr/>
                    <a:lstStyle/>
                    <a:p>
                      <a:pPr marL="0" lvl="0" indent="0" algn="l">
                        <a:buNone/>
                      </a:pPr>
                      <a:r>
                        <a:rPr sz="1000"/>
                        <a:t>Agricultural production, land use</a:t>
                      </a:r>
                    </a:p>
                  </a:txBody>
                  <a:tcPr/>
                </a:tc>
                <a:tc>
                  <a:txBody>
                    <a:bodyPr/>
                    <a:lstStyle/>
                    <a:p>
                      <a:pPr marL="0" lvl="0" indent="0" algn="r">
                        <a:buNone/>
                      </a:pPr>
                      <a:r>
                        <a:rPr sz="1000"/>
                        <a:t>29</a:t>
                      </a:r>
                    </a:p>
                  </a:txBody>
                  <a:tcPr/>
                </a:tc>
                <a:tc>
                  <a:txBody>
                    <a:bodyPr/>
                    <a:lstStyle/>
                    <a:p>
                      <a:pPr marL="0" lvl="0" indent="0" algn="r">
                        <a:buNone/>
                      </a:pPr>
                      <a:r>
                        <a:rPr sz="1000"/>
                        <a:t>12</a:t>
                      </a:r>
                    </a:p>
                  </a:txBody>
                  <a:tcPr/>
                </a:tc>
                <a:tc>
                  <a:txBody>
                    <a:bodyPr/>
                    <a:lstStyle/>
                    <a:p>
                      <a:pPr marL="0" lvl="0" indent="0" algn="r">
                        <a:buNone/>
                      </a:pPr>
                      <a:r>
                        <a:rPr sz="1000"/>
                        <a:t>0</a:t>
                      </a:r>
                    </a:p>
                  </a:txBody>
                  <a:tcPr/>
                </a:tc>
                <a:tc>
                  <a:txBody>
                    <a:bodyPr/>
                    <a:lstStyle/>
                    <a:p>
                      <a:pPr marL="0" lvl="0" indent="0" algn="r">
                        <a:buNone/>
                      </a:pPr>
                      <a:r>
                        <a:rPr sz="1000"/>
                        <a:t>17</a:t>
                      </a:r>
                    </a:p>
                  </a:txBody>
                  <a:tcPr/>
                </a:tc>
                <a:tc>
                  <a:txBody>
                    <a:bodyPr/>
                    <a:lstStyle/>
                    <a:p>
                      <a:pPr marL="0" lvl="0" indent="0" algn="r">
                        <a:buNone/>
                      </a:pPr>
                      <a:r>
                        <a:rPr sz="1000"/>
                        <a:t>29</a:t>
                      </a:r>
                    </a:p>
                  </a:txBody>
                  <a:tcPr/>
                </a:tc>
                <a:tc>
                  <a:txBody>
                    <a:bodyPr/>
                    <a:lstStyle/>
                    <a:p>
                      <a:pPr marL="0" lvl="0" indent="0" algn="r">
                        <a:buNone/>
                      </a:pPr>
                      <a:r>
                        <a:rPr sz="1000"/>
                        <a:t>0</a:t>
                      </a:r>
                    </a:p>
                  </a:txBody>
                  <a:tcPr/>
                </a:tc>
                <a:extLst>
                  <a:ext uri="{0D108BD9-81ED-4DB2-BD59-A6C34878D82A}">
                    <a16:rowId xmlns:a16="http://schemas.microsoft.com/office/drawing/2014/main" val="10007"/>
                  </a:ext>
                </a:extLst>
              </a:tr>
              <a:tr h="0">
                <a:tc>
                  <a:txBody>
                    <a:bodyPr/>
                    <a:lstStyle/>
                    <a:p>
                      <a:pPr marL="0" lvl="0" indent="0" algn="l">
                        <a:buNone/>
                      </a:pPr>
                      <a:r>
                        <a:rPr sz="1000"/>
                        <a:t>Education, employment, SES</a:t>
                      </a:r>
                    </a:p>
                  </a:txBody>
                  <a:tcPr/>
                </a:tc>
                <a:tc>
                  <a:txBody>
                    <a:bodyPr/>
                    <a:lstStyle/>
                    <a:p>
                      <a:pPr marL="0" lvl="0" indent="0" algn="r">
                        <a:buNone/>
                      </a:pPr>
                      <a:r>
                        <a:rPr sz="1000"/>
                        <a:t>26</a:t>
                      </a:r>
                    </a:p>
                  </a:txBody>
                  <a:tcPr/>
                </a:tc>
                <a:tc>
                  <a:txBody>
                    <a:bodyPr/>
                    <a:lstStyle/>
                    <a:p>
                      <a:pPr marL="0" lvl="0" indent="0" algn="r">
                        <a:buNone/>
                      </a:pPr>
                      <a:r>
                        <a:rPr sz="1000"/>
                        <a:t>9</a:t>
                      </a:r>
                    </a:p>
                  </a:txBody>
                  <a:tcPr/>
                </a:tc>
                <a:tc>
                  <a:txBody>
                    <a:bodyPr/>
                    <a:lstStyle/>
                    <a:p>
                      <a:pPr marL="0" lvl="0" indent="0" algn="r">
                        <a:buNone/>
                      </a:pPr>
                      <a:r>
                        <a:rPr sz="1000"/>
                        <a:t>4</a:t>
                      </a:r>
                    </a:p>
                  </a:txBody>
                  <a:tcPr/>
                </a:tc>
                <a:tc>
                  <a:txBody>
                    <a:bodyPr/>
                    <a:lstStyle/>
                    <a:p>
                      <a:pPr marL="0" lvl="0" indent="0" algn="r">
                        <a:buNone/>
                      </a:pPr>
                      <a:r>
                        <a:rPr sz="1000"/>
                        <a:t>13</a:t>
                      </a:r>
                    </a:p>
                  </a:txBody>
                  <a:tcPr/>
                </a:tc>
                <a:tc>
                  <a:txBody>
                    <a:bodyPr/>
                    <a:lstStyle/>
                    <a:p>
                      <a:pPr marL="0" lvl="0" indent="0" algn="r">
                        <a:buNone/>
                      </a:pPr>
                      <a:r>
                        <a:rPr sz="1000"/>
                        <a:t>26</a:t>
                      </a:r>
                    </a:p>
                  </a:txBody>
                  <a:tcPr/>
                </a:tc>
                <a:tc>
                  <a:txBody>
                    <a:bodyPr/>
                    <a:lstStyle/>
                    <a:p>
                      <a:pPr marL="0" lvl="0" indent="0" algn="r">
                        <a:buNone/>
                      </a:pPr>
                      <a:r>
                        <a:rPr sz="1000"/>
                        <a:t>4</a:t>
                      </a:r>
                    </a:p>
                  </a:txBody>
                  <a:tcPr/>
                </a:tc>
                <a:extLst>
                  <a:ext uri="{0D108BD9-81ED-4DB2-BD59-A6C34878D82A}">
                    <a16:rowId xmlns:a16="http://schemas.microsoft.com/office/drawing/2014/main" val="10008"/>
                  </a:ext>
                </a:extLst>
              </a:tr>
              <a:tr h="0">
                <a:tc>
                  <a:txBody>
                    <a:bodyPr/>
                    <a:lstStyle/>
                    <a:p>
                      <a:pPr marL="0" lvl="0" indent="0" algn="l">
                        <a:buNone/>
                      </a:pPr>
                      <a:r>
                        <a:rPr sz="1000"/>
                        <a:t>Infant and young child feeding</a:t>
                      </a:r>
                    </a:p>
                  </a:txBody>
                  <a:tcPr/>
                </a:tc>
                <a:tc>
                  <a:txBody>
                    <a:bodyPr/>
                    <a:lstStyle/>
                    <a:p>
                      <a:pPr marL="0" lvl="0" indent="0" algn="r">
                        <a:buNone/>
                      </a:pPr>
                      <a:r>
                        <a:rPr sz="1000"/>
                        <a:t>24</a:t>
                      </a:r>
                    </a:p>
                  </a:txBody>
                  <a:tcPr/>
                </a:tc>
                <a:tc>
                  <a:txBody>
                    <a:bodyPr/>
                    <a:lstStyle/>
                    <a:p>
                      <a:pPr marL="0" lvl="0" indent="0" algn="r">
                        <a:buNone/>
                      </a:pPr>
                      <a:r>
                        <a:rPr sz="1000"/>
                        <a:t>1</a:t>
                      </a:r>
                    </a:p>
                  </a:txBody>
                  <a:tcPr/>
                </a:tc>
                <a:tc>
                  <a:txBody>
                    <a:bodyPr/>
                    <a:lstStyle/>
                    <a:p>
                      <a:pPr marL="0" lvl="0" indent="0" algn="r">
                        <a:buNone/>
                      </a:pPr>
                      <a:r>
                        <a:rPr sz="1000"/>
                        <a:t>7</a:t>
                      </a:r>
                    </a:p>
                  </a:txBody>
                  <a:tcPr/>
                </a:tc>
                <a:tc>
                  <a:txBody>
                    <a:bodyPr/>
                    <a:lstStyle/>
                    <a:p>
                      <a:pPr marL="0" lvl="0" indent="0" algn="r">
                        <a:buNone/>
                      </a:pPr>
                      <a:r>
                        <a:rPr sz="1000"/>
                        <a:t>16</a:t>
                      </a:r>
                    </a:p>
                  </a:txBody>
                  <a:tcPr/>
                </a:tc>
                <a:tc>
                  <a:txBody>
                    <a:bodyPr/>
                    <a:lstStyle/>
                    <a:p>
                      <a:pPr marL="0" lvl="0" indent="0" algn="r">
                        <a:buNone/>
                      </a:pPr>
                      <a:r>
                        <a:rPr sz="1000"/>
                        <a:t>24</a:t>
                      </a:r>
                    </a:p>
                  </a:txBody>
                  <a:tcPr/>
                </a:tc>
                <a:tc>
                  <a:txBody>
                    <a:bodyPr/>
                    <a:lstStyle/>
                    <a:p>
                      <a:pPr marL="0" lvl="0" indent="0" algn="r">
                        <a:buNone/>
                      </a:pPr>
                      <a:r>
                        <a:rPr sz="1000"/>
                        <a:t>1</a:t>
                      </a:r>
                    </a:p>
                  </a:txBody>
                  <a:tcPr/>
                </a:tc>
                <a:extLst>
                  <a:ext uri="{0D108BD9-81ED-4DB2-BD59-A6C34878D82A}">
                    <a16:rowId xmlns:a16="http://schemas.microsoft.com/office/drawing/2014/main" val="10009"/>
                  </a:ext>
                </a:extLst>
              </a:tr>
              <a:tr h="0">
                <a:tc>
                  <a:txBody>
                    <a:bodyPr/>
                    <a:lstStyle/>
                    <a:p>
                      <a:pPr marL="0" lvl="0" indent="0" algn="l">
                        <a:buNone/>
                      </a:pPr>
                      <a:r>
                        <a:rPr sz="1000"/>
                        <a:t>Water and sanitation</a:t>
                      </a:r>
                    </a:p>
                  </a:txBody>
                  <a:tcPr/>
                </a:tc>
                <a:tc>
                  <a:txBody>
                    <a:bodyPr/>
                    <a:lstStyle/>
                    <a:p>
                      <a:pPr marL="0" lvl="0" indent="0" algn="r">
                        <a:buNone/>
                      </a:pPr>
                      <a:r>
                        <a:rPr sz="1000"/>
                        <a:t>24</a:t>
                      </a:r>
                    </a:p>
                  </a:txBody>
                  <a:tcPr/>
                </a:tc>
                <a:tc>
                  <a:txBody>
                    <a:bodyPr/>
                    <a:lstStyle/>
                    <a:p>
                      <a:pPr marL="0" lvl="0" indent="0" algn="r">
                        <a:buNone/>
                      </a:pPr>
                      <a:r>
                        <a:rPr sz="1000"/>
                        <a:t>10</a:t>
                      </a:r>
                    </a:p>
                  </a:txBody>
                  <a:tcPr/>
                </a:tc>
                <a:tc>
                  <a:txBody>
                    <a:bodyPr/>
                    <a:lstStyle/>
                    <a:p>
                      <a:pPr marL="0" lvl="0" indent="0" algn="r">
                        <a:buNone/>
                      </a:pPr>
                      <a:r>
                        <a:rPr sz="1000"/>
                        <a:t>5</a:t>
                      </a:r>
                    </a:p>
                  </a:txBody>
                  <a:tcPr/>
                </a:tc>
                <a:tc>
                  <a:txBody>
                    <a:bodyPr/>
                    <a:lstStyle/>
                    <a:p>
                      <a:pPr marL="0" lvl="0" indent="0" algn="r">
                        <a:buNone/>
                      </a:pPr>
                      <a:r>
                        <a:rPr sz="1000"/>
                        <a:t>9</a:t>
                      </a:r>
                    </a:p>
                  </a:txBody>
                  <a:tcPr/>
                </a:tc>
                <a:tc>
                  <a:txBody>
                    <a:bodyPr/>
                    <a:lstStyle/>
                    <a:p>
                      <a:pPr marL="0" lvl="0" indent="0" algn="r">
                        <a:buNone/>
                      </a:pPr>
                      <a:r>
                        <a:rPr sz="1000"/>
                        <a:t>24</a:t>
                      </a:r>
                    </a:p>
                  </a:txBody>
                  <a:tcPr/>
                </a:tc>
                <a:tc>
                  <a:txBody>
                    <a:bodyPr/>
                    <a:lstStyle/>
                    <a:p>
                      <a:pPr marL="0" lvl="0" indent="0" algn="r">
                        <a:buNone/>
                      </a:pPr>
                      <a:r>
                        <a:rPr sz="1000"/>
                        <a:t>10</a:t>
                      </a:r>
                    </a:p>
                  </a:txBody>
                  <a:tcPr/>
                </a:tc>
                <a:extLst>
                  <a:ext uri="{0D108BD9-81ED-4DB2-BD59-A6C34878D82A}">
                    <a16:rowId xmlns:a16="http://schemas.microsoft.com/office/drawing/2014/main" val="10010"/>
                  </a:ext>
                </a:extLst>
              </a:tr>
              <a:tr h="0">
                <a:tc>
                  <a:txBody>
                    <a:bodyPr/>
                    <a:lstStyle/>
                    <a:p>
                      <a:pPr marL="0" lvl="0" indent="0" algn="l">
                        <a:buNone/>
                      </a:pPr>
                      <a:r>
                        <a:rPr sz="1000"/>
                        <a:t>Food prices and supply</a:t>
                      </a:r>
                    </a:p>
                  </a:txBody>
                  <a:tcPr/>
                </a:tc>
                <a:tc>
                  <a:txBody>
                    <a:bodyPr/>
                    <a:lstStyle/>
                    <a:p>
                      <a:pPr marL="0" lvl="0" indent="0" algn="r">
                        <a:buNone/>
                      </a:pPr>
                      <a:r>
                        <a:rPr sz="1000"/>
                        <a:t>21</a:t>
                      </a:r>
                    </a:p>
                  </a:txBody>
                  <a:tcPr/>
                </a:tc>
                <a:tc>
                  <a:txBody>
                    <a:bodyPr/>
                    <a:lstStyle/>
                    <a:p>
                      <a:pPr marL="0" lvl="0" indent="0" algn="r">
                        <a:buNone/>
                      </a:pPr>
                      <a:r>
                        <a:rPr sz="1000"/>
                        <a:t>21</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12</a:t>
                      </a:r>
                    </a:p>
                  </a:txBody>
                  <a:tcPr/>
                </a:tc>
                <a:tc>
                  <a:txBody>
                    <a:bodyPr/>
                    <a:lstStyle/>
                    <a:p>
                      <a:pPr marL="0" lvl="0" indent="0" algn="r">
                        <a:buNone/>
                      </a:pPr>
                      <a:r>
                        <a:rPr sz="1000"/>
                        <a:t>0</a:t>
                      </a:r>
                    </a:p>
                  </a:txBody>
                  <a:tcPr/>
                </a:tc>
                <a:extLst>
                  <a:ext uri="{0D108BD9-81ED-4DB2-BD59-A6C34878D82A}">
                    <a16:rowId xmlns:a16="http://schemas.microsoft.com/office/drawing/2014/main" val="10011"/>
                  </a:ext>
                </a:extLst>
              </a:tr>
              <a:tr h="0">
                <a:tc>
                  <a:txBody>
                    <a:bodyPr/>
                    <a:lstStyle/>
                    <a:p>
                      <a:pPr marL="0" lvl="0" indent="0" algn="l">
                        <a:buNone/>
                      </a:pPr>
                      <a:r>
                        <a:rPr sz="1000"/>
                        <a:t>Child anthropometry</a:t>
                      </a:r>
                    </a:p>
                  </a:txBody>
                  <a:tcPr/>
                </a:tc>
                <a:tc>
                  <a:txBody>
                    <a:bodyPr/>
                    <a:lstStyle/>
                    <a:p>
                      <a:pPr marL="0" lvl="0" indent="0" algn="r">
                        <a:buNone/>
                      </a:pPr>
                      <a:r>
                        <a:rPr sz="1000"/>
                        <a:t>20</a:t>
                      </a:r>
                    </a:p>
                  </a:txBody>
                  <a:tcPr/>
                </a:tc>
                <a:tc>
                  <a:txBody>
                    <a:bodyPr/>
                    <a:lstStyle/>
                    <a:p>
                      <a:pPr marL="0" lvl="0" indent="0" algn="r">
                        <a:buNone/>
                      </a:pPr>
                      <a:r>
                        <a:rPr sz="1000"/>
                        <a:t>4</a:t>
                      </a:r>
                    </a:p>
                  </a:txBody>
                  <a:tcPr/>
                </a:tc>
                <a:tc>
                  <a:txBody>
                    <a:bodyPr/>
                    <a:lstStyle/>
                    <a:p>
                      <a:pPr marL="0" lvl="0" indent="0" algn="r">
                        <a:buNone/>
                      </a:pPr>
                      <a:r>
                        <a:rPr sz="1000"/>
                        <a:t>4</a:t>
                      </a:r>
                    </a:p>
                  </a:txBody>
                  <a:tcPr/>
                </a:tc>
                <a:tc>
                  <a:txBody>
                    <a:bodyPr/>
                    <a:lstStyle/>
                    <a:p>
                      <a:pPr marL="0" lvl="0" indent="0" algn="r">
                        <a:buNone/>
                      </a:pPr>
                      <a:r>
                        <a:rPr sz="1000"/>
                        <a:t>12</a:t>
                      </a:r>
                    </a:p>
                  </a:txBody>
                  <a:tcPr/>
                </a:tc>
                <a:tc>
                  <a:txBody>
                    <a:bodyPr/>
                    <a:lstStyle/>
                    <a:p>
                      <a:pPr marL="0" lvl="0" indent="0" algn="r">
                        <a:buNone/>
                      </a:pPr>
                      <a:r>
                        <a:rPr sz="1000"/>
                        <a:t>20</a:t>
                      </a:r>
                    </a:p>
                  </a:txBody>
                  <a:tcPr/>
                </a:tc>
                <a:tc>
                  <a:txBody>
                    <a:bodyPr/>
                    <a:lstStyle/>
                    <a:p>
                      <a:pPr marL="0" lvl="0" indent="0" algn="r">
                        <a:buNone/>
                      </a:pPr>
                      <a:r>
                        <a:rPr sz="1000"/>
                        <a:t>4</a:t>
                      </a:r>
                    </a:p>
                  </a:txBody>
                  <a:tcPr/>
                </a:tc>
                <a:extLst>
                  <a:ext uri="{0D108BD9-81ED-4DB2-BD59-A6C34878D82A}">
                    <a16:rowId xmlns:a16="http://schemas.microsoft.com/office/drawing/2014/main" val="10012"/>
                  </a:ext>
                </a:extLst>
              </a:tr>
              <a:tr h="0">
                <a:tc>
                  <a:txBody>
                    <a:bodyPr/>
                    <a:lstStyle/>
                    <a:p>
                      <a:pPr marL="0" lvl="0" indent="0" algn="l">
                        <a:buNone/>
                      </a:pPr>
                      <a:r>
                        <a:rPr sz="1000"/>
                        <a:t>Household assets and characteristics</a:t>
                      </a:r>
                    </a:p>
                  </a:txBody>
                  <a:tcPr/>
                </a:tc>
                <a:tc>
                  <a:txBody>
                    <a:bodyPr/>
                    <a:lstStyle/>
                    <a:p>
                      <a:pPr marL="0" lvl="0" indent="0" algn="r">
                        <a:buNone/>
                      </a:pPr>
                      <a:r>
                        <a:rPr sz="1000"/>
                        <a:t>19</a:t>
                      </a:r>
                    </a:p>
                  </a:txBody>
                  <a:tcPr/>
                </a:tc>
                <a:tc>
                  <a:txBody>
                    <a:bodyPr/>
                    <a:lstStyle/>
                    <a:p>
                      <a:pPr marL="0" lvl="0" indent="0" algn="r">
                        <a:buNone/>
                      </a:pPr>
                      <a:r>
                        <a:rPr sz="1000"/>
                        <a:t>5</a:t>
                      </a:r>
                    </a:p>
                  </a:txBody>
                  <a:tcPr/>
                </a:tc>
                <a:tc>
                  <a:txBody>
                    <a:bodyPr/>
                    <a:lstStyle/>
                    <a:p>
                      <a:pPr marL="0" lvl="0" indent="0" algn="r">
                        <a:buNone/>
                      </a:pPr>
                      <a:r>
                        <a:rPr sz="1000"/>
                        <a:t>3</a:t>
                      </a:r>
                    </a:p>
                  </a:txBody>
                  <a:tcPr/>
                </a:tc>
                <a:tc>
                  <a:txBody>
                    <a:bodyPr/>
                    <a:lstStyle/>
                    <a:p>
                      <a:pPr marL="0" lvl="0" indent="0" algn="r">
                        <a:buNone/>
                      </a:pPr>
                      <a:r>
                        <a:rPr sz="1000"/>
                        <a:t>11</a:t>
                      </a:r>
                    </a:p>
                  </a:txBody>
                  <a:tcPr/>
                </a:tc>
                <a:tc>
                  <a:txBody>
                    <a:bodyPr/>
                    <a:lstStyle/>
                    <a:p>
                      <a:pPr marL="0" lvl="0" indent="0" algn="r">
                        <a:buNone/>
                      </a:pPr>
                      <a:r>
                        <a:rPr sz="1000"/>
                        <a:t>19</a:t>
                      </a:r>
                    </a:p>
                  </a:txBody>
                  <a:tcPr/>
                </a:tc>
                <a:tc>
                  <a:txBody>
                    <a:bodyPr/>
                    <a:lstStyle/>
                    <a:p>
                      <a:pPr marL="0" lvl="0" indent="0" algn="r">
                        <a:buNone/>
                      </a:pPr>
                      <a:r>
                        <a:rPr sz="1000"/>
                        <a:t>0</a:t>
                      </a:r>
                    </a:p>
                  </a:txBody>
                  <a:tcPr/>
                </a:tc>
                <a:extLst>
                  <a:ext uri="{0D108BD9-81ED-4DB2-BD59-A6C34878D82A}">
                    <a16:rowId xmlns:a16="http://schemas.microsoft.com/office/drawing/2014/main" val="10013"/>
                  </a:ext>
                </a:extLst>
              </a:tr>
              <a:tr h="0">
                <a:tc>
                  <a:txBody>
                    <a:bodyPr/>
                    <a:lstStyle/>
                    <a:p>
                      <a:pPr marL="0" lvl="0" indent="0" algn="l">
                        <a:buNone/>
                      </a:pPr>
                      <a:r>
                        <a:rPr sz="1000"/>
                        <a:t>Anaemia and haemoglobin</a:t>
                      </a:r>
                    </a:p>
                  </a:txBody>
                  <a:tcPr/>
                </a:tc>
                <a:tc>
                  <a:txBody>
                    <a:bodyPr/>
                    <a:lstStyle/>
                    <a:p>
                      <a:pPr marL="0" lvl="0" indent="0" algn="r">
                        <a:buNone/>
                      </a:pPr>
                      <a:r>
                        <a:rPr sz="1000"/>
                        <a:t>16</a:t>
                      </a:r>
                    </a:p>
                  </a:txBody>
                  <a:tcPr/>
                </a:tc>
                <a:tc>
                  <a:txBody>
                    <a:bodyPr/>
                    <a:lstStyle/>
                    <a:p>
                      <a:pPr marL="0" lvl="0" indent="0" algn="r">
                        <a:buNone/>
                      </a:pPr>
                      <a:r>
                        <a:rPr sz="1000"/>
                        <a:t>11</a:t>
                      </a:r>
                    </a:p>
                  </a:txBody>
                  <a:tcPr/>
                </a:tc>
                <a:tc>
                  <a:txBody>
                    <a:bodyPr/>
                    <a:lstStyle/>
                    <a:p>
                      <a:pPr marL="0" lvl="0" indent="0" algn="r">
                        <a:buNone/>
                      </a:pPr>
                      <a:r>
                        <a:rPr sz="1000"/>
                        <a:t>0</a:t>
                      </a:r>
                    </a:p>
                  </a:txBody>
                  <a:tcPr/>
                </a:tc>
                <a:tc>
                  <a:txBody>
                    <a:bodyPr/>
                    <a:lstStyle/>
                    <a:p>
                      <a:pPr marL="0" lvl="0" indent="0" algn="r">
                        <a:buNone/>
                      </a:pPr>
                      <a:r>
                        <a:rPr sz="1000"/>
                        <a:t>5</a:t>
                      </a:r>
                    </a:p>
                  </a:txBody>
                  <a:tcPr/>
                </a:tc>
                <a:tc>
                  <a:txBody>
                    <a:bodyPr/>
                    <a:lstStyle/>
                    <a:p>
                      <a:pPr marL="0" lvl="0" indent="0" algn="r">
                        <a:buNone/>
                      </a:pPr>
                      <a:r>
                        <a:rPr sz="1000"/>
                        <a:t>9</a:t>
                      </a:r>
                    </a:p>
                  </a:txBody>
                  <a:tcPr/>
                </a:tc>
                <a:tc>
                  <a:txBody>
                    <a:bodyPr/>
                    <a:lstStyle/>
                    <a:p>
                      <a:pPr marL="0" lvl="0" indent="0" algn="r">
                        <a:buNone/>
                      </a:pPr>
                      <a:r>
                        <a:rPr sz="1000"/>
                        <a:t>11</a:t>
                      </a:r>
                    </a:p>
                  </a:txBody>
                  <a:tcPr/>
                </a:tc>
                <a:extLst>
                  <a:ext uri="{0D108BD9-81ED-4DB2-BD59-A6C34878D82A}">
                    <a16:rowId xmlns:a16="http://schemas.microsoft.com/office/drawing/2014/main" val="10014"/>
                  </a:ext>
                </a:extLst>
              </a:tr>
              <a:tr h="0">
                <a:tc>
                  <a:txBody>
                    <a:bodyPr/>
                    <a:lstStyle/>
                    <a:p>
                      <a:pPr marL="0" lvl="0" indent="0" algn="l">
                        <a:buNone/>
                      </a:pPr>
                      <a:r>
                        <a:rPr sz="1000"/>
                        <a:t>Fertility, reproductive health</a:t>
                      </a:r>
                    </a:p>
                  </a:txBody>
                  <a:tcPr/>
                </a:tc>
                <a:tc>
                  <a:txBody>
                    <a:bodyPr/>
                    <a:lstStyle/>
                    <a:p>
                      <a:pPr marL="0" lvl="0" indent="0" algn="r">
                        <a:buNone/>
                      </a:pPr>
                      <a:r>
                        <a:rPr sz="1000"/>
                        <a:t>15</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15</a:t>
                      </a:r>
                    </a:p>
                  </a:txBody>
                  <a:tcPr/>
                </a:tc>
                <a:tc>
                  <a:txBody>
                    <a:bodyPr/>
                    <a:lstStyle/>
                    <a:p>
                      <a:pPr marL="0" lvl="0" indent="0" algn="r">
                        <a:buNone/>
                      </a:pPr>
                      <a:r>
                        <a:rPr sz="1000"/>
                        <a:t>15</a:t>
                      </a:r>
                    </a:p>
                  </a:txBody>
                  <a:tcPr/>
                </a:tc>
                <a:tc>
                  <a:txBody>
                    <a:bodyPr/>
                    <a:lstStyle/>
                    <a:p>
                      <a:pPr marL="0" lvl="0" indent="0" algn="r">
                        <a:buNone/>
                      </a:pPr>
                      <a:r>
                        <a:rPr sz="1000"/>
                        <a:t>0</a:t>
                      </a:r>
                    </a:p>
                  </a:txBody>
                  <a:tcPr/>
                </a:tc>
                <a:extLst>
                  <a:ext uri="{0D108BD9-81ED-4DB2-BD59-A6C34878D82A}">
                    <a16:rowId xmlns:a16="http://schemas.microsoft.com/office/drawing/2014/main" val="10015"/>
                  </a:ext>
                </a:extLst>
              </a:tr>
              <a:tr h="0">
                <a:tc>
                  <a:txBody>
                    <a:bodyPr/>
                    <a:lstStyle/>
                    <a:p>
                      <a:pPr marL="0" lvl="0" indent="0" algn="l">
                        <a:buNone/>
                      </a:pPr>
                      <a:r>
                        <a:rPr sz="1000"/>
                        <a:t>Household diet and consumption (HCES)</a:t>
                      </a:r>
                    </a:p>
                  </a:txBody>
                  <a:tcPr/>
                </a:tc>
                <a:tc>
                  <a:txBody>
                    <a:bodyPr/>
                    <a:lstStyle/>
                    <a:p>
                      <a:pPr marL="0" lvl="0" indent="0" algn="r">
                        <a:buNone/>
                      </a:pPr>
                      <a:r>
                        <a:rPr sz="1000"/>
                        <a:t>15</a:t>
                      </a:r>
                    </a:p>
                  </a:txBody>
                  <a:tcPr/>
                </a:tc>
                <a:tc>
                  <a:txBody>
                    <a:bodyPr/>
                    <a:lstStyle/>
                    <a:p>
                      <a:pPr marL="0" lvl="0" indent="0" algn="r">
                        <a:buNone/>
                      </a:pPr>
                      <a:r>
                        <a:rPr sz="1000"/>
                        <a:t>0</a:t>
                      </a:r>
                    </a:p>
                  </a:txBody>
                  <a:tcPr/>
                </a:tc>
                <a:tc>
                  <a:txBody>
                    <a:bodyPr/>
                    <a:lstStyle/>
                    <a:p>
                      <a:pPr marL="0" lvl="0" indent="0" algn="r">
                        <a:buNone/>
                      </a:pPr>
                      <a:r>
                        <a:rPr sz="1000"/>
                        <a:t>15</a:t>
                      </a:r>
                    </a:p>
                  </a:txBody>
                  <a:tcPr/>
                </a:tc>
                <a:tc>
                  <a:txBody>
                    <a:bodyPr/>
                    <a:lstStyle/>
                    <a:p>
                      <a:pPr marL="0" lvl="0" indent="0" algn="r">
                        <a:buNone/>
                      </a:pPr>
                      <a:r>
                        <a:rPr sz="1000"/>
                        <a:t>0</a:t>
                      </a:r>
                    </a:p>
                  </a:txBody>
                  <a:tcPr/>
                </a:tc>
                <a:tc>
                  <a:txBody>
                    <a:bodyPr/>
                    <a:lstStyle/>
                    <a:p>
                      <a:pPr marL="0" lvl="0" indent="0" algn="r">
                        <a:buNone/>
                      </a:pPr>
                      <a:r>
                        <a:rPr sz="1000"/>
                        <a:t>15</a:t>
                      </a:r>
                    </a:p>
                  </a:txBody>
                  <a:tcPr/>
                </a:tc>
                <a:tc>
                  <a:txBody>
                    <a:bodyPr/>
                    <a:lstStyle/>
                    <a:p>
                      <a:pPr marL="0" lvl="0" indent="0" algn="r">
                        <a:buNone/>
                      </a:pPr>
                      <a:r>
                        <a:rPr sz="1000"/>
                        <a:t>0</a:t>
                      </a:r>
                    </a:p>
                  </a:txBody>
                  <a:tcPr/>
                </a:tc>
                <a:extLst>
                  <a:ext uri="{0D108BD9-81ED-4DB2-BD59-A6C34878D82A}">
                    <a16:rowId xmlns:a16="http://schemas.microsoft.com/office/drawing/2014/main" val="10016"/>
                  </a:ext>
                </a:extLst>
              </a:tr>
              <a:tr h="0">
                <a:tc>
                  <a:txBody>
                    <a:bodyPr/>
                    <a:lstStyle/>
                    <a:p>
                      <a:pPr marL="0" lvl="0" indent="0" algn="l">
                        <a:buNone/>
                      </a:pPr>
                      <a:r>
                        <a:rPr sz="1000"/>
                        <a:t>Ecosystem productivity/greenness</a:t>
                      </a:r>
                    </a:p>
                  </a:txBody>
                  <a:tcPr/>
                </a:tc>
                <a:tc>
                  <a:txBody>
                    <a:bodyPr/>
                    <a:lstStyle/>
                    <a:p>
                      <a:pPr marL="0" lvl="0" indent="0" algn="r">
                        <a:buNone/>
                      </a:pPr>
                      <a:r>
                        <a:rPr sz="1000"/>
                        <a:t>14</a:t>
                      </a:r>
                    </a:p>
                  </a:txBody>
                  <a:tcPr/>
                </a:tc>
                <a:tc>
                  <a:txBody>
                    <a:bodyPr/>
                    <a:lstStyle/>
                    <a:p>
                      <a:pPr marL="0" lvl="0" indent="0" algn="r">
                        <a:buNone/>
                      </a:pPr>
                      <a:r>
                        <a:rPr sz="1000"/>
                        <a:t>14</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14</a:t>
                      </a:r>
                    </a:p>
                  </a:txBody>
                  <a:tcPr/>
                </a:tc>
                <a:tc>
                  <a:txBody>
                    <a:bodyPr/>
                    <a:lstStyle/>
                    <a:p>
                      <a:pPr marL="0" lvl="0" indent="0" algn="r">
                        <a:buNone/>
                      </a:pPr>
                      <a:r>
                        <a:rPr sz="1000"/>
                        <a:t>0</a:t>
                      </a:r>
                    </a:p>
                  </a:txBody>
                  <a:tcPr/>
                </a:tc>
                <a:extLst>
                  <a:ext uri="{0D108BD9-81ED-4DB2-BD59-A6C34878D82A}">
                    <a16:rowId xmlns:a16="http://schemas.microsoft.com/office/drawing/2014/main" val="10017"/>
                  </a:ext>
                </a:extLst>
              </a:tr>
              <a:tr h="0">
                <a:tc>
                  <a:txBody>
                    <a:bodyPr/>
                    <a:lstStyle/>
                    <a:p>
                      <a:pPr marL="0" lvl="0" indent="0" algn="l">
                        <a:buNone/>
                      </a:pPr>
                      <a:r>
                        <a:rPr sz="1000"/>
                        <a:t>Built environment</a:t>
                      </a:r>
                    </a:p>
                  </a:txBody>
                  <a:tcPr/>
                </a:tc>
                <a:tc>
                  <a:txBody>
                    <a:bodyPr/>
                    <a:lstStyle/>
                    <a:p>
                      <a:pPr marL="0" lvl="0" indent="0" algn="r">
                        <a:buNone/>
                      </a:pPr>
                      <a:r>
                        <a:rPr sz="1000"/>
                        <a:t>13</a:t>
                      </a:r>
                    </a:p>
                  </a:txBody>
                  <a:tcPr/>
                </a:tc>
                <a:tc>
                  <a:txBody>
                    <a:bodyPr/>
                    <a:lstStyle/>
                    <a:p>
                      <a:pPr marL="0" lvl="0" indent="0" algn="r">
                        <a:buNone/>
                      </a:pPr>
                      <a:r>
                        <a:rPr sz="1000"/>
                        <a:t>10</a:t>
                      </a:r>
                    </a:p>
                  </a:txBody>
                  <a:tcPr/>
                </a:tc>
                <a:tc>
                  <a:txBody>
                    <a:bodyPr/>
                    <a:lstStyle/>
                    <a:p>
                      <a:pPr marL="0" lvl="0" indent="0" algn="r">
                        <a:buNone/>
                      </a:pPr>
                      <a:r>
                        <a:rPr sz="1000"/>
                        <a:t>0</a:t>
                      </a:r>
                    </a:p>
                  </a:txBody>
                  <a:tcPr/>
                </a:tc>
                <a:tc>
                  <a:txBody>
                    <a:bodyPr/>
                    <a:lstStyle/>
                    <a:p>
                      <a:pPr marL="0" lvl="0" indent="0" algn="r">
                        <a:buNone/>
                      </a:pPr>
                      <a:r>
                        <a:rPr sz="1000"/>
                        <a:t>3</a:t>
                      </a:r>
                    </a:p>
                  </a:txBody>
                  <a:tcPr/>
                </a:tc>
                <a:tc>
                  <a:txBody>
                    <a:bodyPr/>
                    <a:lstStyle/>
                    <a:p>
                      <a:pPr marL="0" lvl="0" indent="0" algn="r">
                        <a:buNone/>
                      </a:pPr>
                      <a:r>
                        <a:rPr sz="1000"/>
                        <a:t>13</a:t>
                      </a:r>
                    </a:p>
                  </a:txBody>
                  <a:tcPr/>
                </a:tc>
                <a:tc>
                  <a:txBody>
                    <a:bodyPr/>
                    <a:lstStyle/>
                    <a:p>
                      <a:pPr marL="0" lvl="0" indent="0" algn="r">
                        <a:buNone/>
                      </a:pPr>
                      <a:r>
                        <a:rPr sz="1000"/>
                        <a:t>0</a:t>
                      </a:r>
                    </a:p>
                  </a:txBody>
                  <a:tcPr/>
                </a:tc>
                <a:extLst>
                  <a:ext uri="{0D108BD9-81ED-4DB2-BD59-A6C34878D82A}">
                    <a16:rowId xmlns:a16="http://schemas.microsoft.com/office/drawing/2014/main" val="10018"/>
                  </a:ext>
                </a:extLst>
              </a:tr>
              <a:tr h="0">
                <a:tc>
                  <a:txBody>
                    <a:bodyPr/>
                    <a:lstStyle/>
                    <a:p>
                      <a:pPr marL="0" lvl="0" indent="0" algn="l">
                        <a:buNone/>
                      </a:pPr>
                      <a:r>
                        <a:rPr sz="1000"/>
                        <a:t>Adult and maternal mortality</a:t>
                      </a:r>
                    </a:p>
                  </a:txBody>
                  <a:tcPr/>
                </a:tc>
                <a:tc>
                  <a:txBody>
                    <a:bodyPr/>
                    <a:lstStyle/>
                    <a:p>
                      <a:pPr marL="0" lvl="0" indent="0" algn="r">
                        <a:buNone/>
                      </a:pPr>
                      <a:r>
                        <a:rPr sz="1000"/>
                        <a:t>9</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9</a:t>
                      </a:r>
                    </a:p>
                  </a:txBody>
                  <a:tcPr/>
                </a:tc>
                <a:tc>
                  <a:txBody>
                    <a:bodyPr/>
                    <a:lstStyle/>
                    <a:p>
                      <a:pPr marL="0" lvl="0" indent="0" algn="r">
                        <a:buNone/>
                      </a:pPr>
                      <a:r>
                        <a:rPr sz="1000"/>
                        <a:t>9</a:t>
                      </a:r>
                    </a:p>
                  </a:txBody>
                  <a:tcPr/>
                </a:tc>
                <a:tc>
                  <a:txBody>
                    <a:bodyPr/>
                    <a:lstStyle/>
                    <a:p>
                      <a:pPr marL="0" lvl="0" indent="0" algn="r">
                        <a:buNone/>
                      </a:pPr>
                      <a:r>
                        <a:rPr sz="1000"/>
                        <a:t>0</a:t>
                      </a:r>
                    </a:p>
                  </a:txBody>
                  <a:tcPr/>
                </a:tc>
                <a:extLst>
                  <a:ext uri="{0D108BD9-81ED-4DB2-BD59-A6C34878D82A}">
                    <a16:rowId xmlns:a16="http://schemas.microsoft.com/office/drawing/2014/main" val="10019"/>
                  </a:ext>
                </a:extLst>
              </a:tr>
              <a:tr h="0">
                <a:tc>
                  <a:txBody>
                    <a:bodyPr/>
                    <a:lstStyle/>
                    <a:p>
                      <a:pPr marL="0" lvl="0" indent="0" algn="l">
                        <a:buNone/>
                      </a:pPr>
                      <a:r>
                        <a:rPr sz="1000"/>
                        <a:t>Conflict and insecurity</a:t>
                      </a:r>
                    </a:p>
                  </a:txBody>
                  <a:tcPr/>
                </a:tc>
                <a:tc>
                  <a:txBody>
                    <a:bodyPr/>
                    <a:lstStyle/>
                    <a:p>
                      <a:pPr marL="0" lvl="0" indent="0" algn="r">
                        <a:buNone/>
                      </a:pPr>
                      <a:r>
                        <a:rPr sz="1000"/>
                        <a:t>8</a:t>
                      </a:r>
                    </a:p>
                  </a:txBody>
                  <a:tcPr/>
                </a:tc>
                <a:tc>
                  <a:txBody>
                    <a:bodyPr/>
                    <a:lstStyle/>
                    <a:p>
                      <a:pPr marL="0" lvl="0" indent="0" algn="r">
                        <a:buNone/>
                      </a:pPr>
                      <a:r>
                        <a:rPr sz="1000"/>
                        <a:t>8</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8</a:t>
                      </a:r>
                    </a:p>
                  </a:txBody>
                  <a:tcPr/>
                </a:tc>
                <a:tc>
                  <a:txBody>
                    <a:bodyPr/>
                    <a:lstStyle/>
                    <a:p>
                      <a:pPr marL="0" lvl="0" indent="0" algn="r">
                        <a:buNone/>
                      </a:pPr>
                      <a:r>
                        <a:rPr sz="1000"/>
                        <a:t>0</a:t>
                      </a:r>
                    </a:p>
                  </a:txBody>
                  <a:tcPr/>
                </a:tc>
                <a:extLst>
                  <a:ext uri="{0D108BD9-81ED-4DB2-BD59-A6C34878D82A}">
                    <a16:rowId xmlns:a16="http://schemas.microsoft.com/office/drawing/2014/main" val="10020"/>
                  </a:ext>
                </a:extLst>
              </a:tr>
              <a:tr h="0">
                <a:tc>
                  <a:txBody>
                    <a:bodyPr/>
                    <a:lstStyle/>
                    <a:p>
                      <a:pPr marL="0" lvl="0" indent="0" algn="l">
                        <a:buNone/>
                      </a:pPr>
                      <a:r>
                        <a:rPr sz="1000"/>
                        <a:t>Livestock density</a:t>
                      </a:r>
                    </a:p>
                  </a:txBody>
                  <a:tcPr/>
                </a:tc>
                <a:tc>
                  <a:txBody>
                    <a:bodyPr/>
                    <a:lstStyle/>
                    <a:p>
                      <a:pPr marL="0" lvl="0" indent="0" algn="r">
                        <a:buNone/>
                      </a:pPr>
                      <a:r>
                        <a:rPr sz="1000"/>
                        <a:t>8</a:t>
                      </a:r>
                    </a:p>
                  </a:txBody>
                  <a:tcPr/>
                </a:tc>
                <a:tc>
                  <a:txBody>
                    <a:bodyPr/>
                    <a:lstStyle/>
                    <a:p>
                      <a:pPr marL="0" lvl="0" indent="0" algn="r">
                        <a:buNone/>
                      </a:pPr>
                      <a:r>
                        <a:rPr sz="1000"/>
                        <a:t>8</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8</a:t>
                      </a:r>
                    </a:p>
                  </a:txBody>
                  <a:tcPr/>
                </a:tc>
                <a:tc>
                  <a:txBody>
                    <a:bodyPr/>
                    <a:lstStyle/>
                    <a:p>
                      <a:pPr marL="0" lvl="0" indent="0" algn="r">
                        <a:buNone/>
                      </a:pPr>
                      <a:r>
                        <a:rPr sz="1000"/>
                        <a:t>0</a:t>
                      </a:r>
                    </a:p>
                  </a:txBody>
                  <a:tcPr/>
                </a:tc>
                <a:extLst>
                  <a:ext uri="{0D108BD9-81ED-4DB2-BD59-A6C34878D82A}">
                    <a16:rowId xmlns:a16="http://schemas.microsoft.com/office/drawing/2014/main" val="10021"/>
                  </a:ext>
                </a:extLst>
              </a:tr>
              <a:tr h="0">
                <a:tc>
                  <a:txBody>
                    <a:bodyPr/>
                    <a:lstStyle/>
                    <a:p>
                      <a:pPr marL="0" lvl="0" indent="0" algn="l">
                        <a:buNone/>
                      </a:pPr>
                      <a:r>
                        <a:rPr sz="1000"/>
                        <a:t>Ruralness, population density, built environment</a:t>
                      </a:r>
                    </a:p>
                  </a:txBody>
                  <a:tcPr/>
                </a:tc>
                <a:tc>
                  <a:txBody>
                    <a:bodyPr/>
                    <a:lstStyle/>
                    <a:p>
                      <a:pPr marL="0" lvl="0" indent="0" algn="r">
                        <a:buNone/>
                      </a:pPr>
                      <a:r>
                        <a:rPr sz="1000"/>
                        <a:t>7</a:t>
                      </a:r>
                    </a:p>
                  </a:txBody>
                  <a:tcPr/>
                </a:tc>
                <a:tc>
                  <a:txBody>
                    <a:bodyPr/>
                    <a:lstStyle/>
                    <a:p>
                      <a:pPr marL="0" lvl="0" indent="0" algn="r">
                        <a:buNone/>
                      </a:pPr>
                      <a:r>
                        <a:rPr sz="1000"/>
                        <a:t>7</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7</a:t>
                      </a:r>
                    </a:p>
                  </a:txBody>
                  <a:tcPr/>
                </a:tc>
                <a:tc>
                  <a:txBody>
                    <a:bodyPr/>
                    <a:lstStyle/>
                    <a:p>
                      <a:pPr marL="0" lvl="0" indent="0" algn="r">
                        <a:buNone/>
                      </a:pPr>
                      <a:r>
                        <a:rPr sz="1000"/>
                        <a:t>0</a:t>
                      </a:r>
                    </a:p>
                  </a:txBody>
                  <a:tcPr/>
                </a:tc>
                <a:extLst>
                  <a:ext uri="{0D108BD9-81ED-4DB2-BD59-A6C34878D82A}">
                    <a16:rowId xmlns:a16="http://schemas.microsoft.com/office/drawing/2014/main" val="10022"/>
                  </a:ext>
                </a:extLst>
              </a:tr>
              <a:tr h="0">
                <a:tc>
                  <a:txBody>
                    <a:bodyPr/>
                    <a:lstStyle/>
                    <a:p>
                      <a:pPr marL="0" lvl="0" indent="0" algn="l">
                        <a:buNone/>
                      </a:pPr>
                      <a:r>
                        <a:rPr sz="1000"/>
                        <a:t>Dietary inadequacy (MODELLED SURFACE, HCES)</a:t>
                      </a:r>
                    </a:p>
                  </a:txBody>
                  <a:tcPr/>
                </a:tc>
                <a:tc>
                  <a:txBody>
                    <a:bodyPr/>
                    <a:lstStyle/>
                    <a:p>
                      <a:pPr marL="0" lvl="0" indent="0" algn="r">
                        <a:buNone/>
                      </a:pPr>
                      <a:r>
                        <a:rPr sz="1000"/>
                        <a:t>6</a:t>
                      </a:r>
                    </a:p>
                  </a:txBody>
                  <a:tcPr/>
                </a:tc>
                <a:tc>
                  <a:txBody>
                    <a:bodyPr/>
                    <a:lstStyle/>
                    <a:p>
                      <a:pPr marL="0" lvl="0" indent="0" algn="r">
                        <a:buNone/>
                      </a:pPr>
                      <a:r>
                        <a:rPr sz="1000"/>
                        <a:t>6</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6</a:t>
                      </a:r>
                    </a:p>
                  </a:txBody>
                  <a:tcPr/>
                </a:tc>
                <a:tc>
                  <a:txBody>
                    <a:bodyPr/>
                    <a:lstStyle/>
                    <a:p>
                      <a:pPr marL="0" lvl="0" indent="0" algn="r">
                        <a:buNone/>
                      </a:pPr>
                      <a:r>
                        <a:rPr sz="1000"/>
                        <a:t>6</a:t>
                      </a:r>
                    </a:p>
                  </a:txBody>
                  <a:tcPr/>
                </a:tc>
                <a:extLst>
                  <a:ext uri="{0D108BD9-81ED-4DB2-BD59-A6C34878D82A}">
                    <a16:rowId xmlns:a16="http://schemas.microsoft.com/office/drawing/2014/main" val="10023"/>
                  </a:ext>
                </a:extLst>
              </a:tr>
              <a:tr h="0">
                <a:tc>
                  <a:txBody>
                    <a:bodyPr/>
                    <a:lstStyle/>
                    <a:p>
                      <a:pPr marL="0" lvl="0" indent="0" algn="l">
                        <a:buNone/>
                      </a:pPr>
                      <a:r>
                        <a:rPr sz="1000"/>
                        <a:t>Healthcare access</a:t>
                      </a:r>
                    </a:p>
                  </a:txBody>
                  <a:tcPr/>
                </a:tc>
                <a:tc>
                  <a:txBody>
                    <a:bodyPr/>
                    <a:lstStyle/>
                    <a:p>
                      <a:pPr marL="0" lvl="0" indent="0" algn="r">
                        <a:buNone/>
                      </a:pPr>
                      <a:r>
                        <a:rPr sz="1000"/>
                        <a:t>6</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6</a:t>
                      </a:r>
                    </a:p>
                  </a:txBody>
                  <a:tcPr/>
                </a:tc>
                <a:tc>
                  <a:txBody>
                    <a:bodyPr/>
                    <a:lstStyle/>
                    <a:p>
                      <a:pPr marL="0" lvl="0" indent="0" algn="r">
                        <a:buNone/>
                      </a:pPr>
                      <a:r>
                        <a:rPr sz="1000"/>
                        <a:t>6</a:t>
                      </a:r>
                    </a:p>
                  </a:txBody>
                  <a:tcPr/>
                </a:tc>
                <a:tc>
                  <a:txBody>
                    <a:bodyPr/>
                    <a:lstStyle/>
                    <a:p>
                      <a:pPr marL="0" lvl="0" indent="0" algn="r">
                        <a:buNone/>
                      </a:pPr>
                      <a:r>
                        <a:rPr sz="1000"/>
                        <a:t>0</a:t>
                      </a:r>
                    </a:p>
                  </a:txBody>
                  <a:tcPr/>
                </a:tc>
                <a:extLst>
                  <a:ext uri="{0D108BD9-81ED-4DB2-BD59-A6C34878D82A}">
                    <a16:rowId xmlns:a16="http://schemas.microsoft.com/office/drawing/2014/main" val="10024"/>
                  </a:ext>
                </a:extLst>
              </a:tr>
              <a:tr h="0">
                <a:tc>
                  <a:txBody>
                    <a:bodyPr/>
                    <a:lstStyle/>
                    <a:p>
                      <a:pPr marL="0" lvl="0" indent="0" algn="l">
                        <a:buNone/>
                      </a:pPr>
                      <a:r>
                        <a:rPr sz="1000"/>
                        <a:t>Market prices (RTFP)</a:t>
                      </a:r>
                    </a:p>
                  </a:txBody>
                  <a:tcPr/>
                </a:tc>
                <a:tc>
                  <a:txBody>
                    <a:bodyPr/>
                    <a:lstStyle/>
                    <a:p>
                      <a:pPr marL="0" lvl="0" indent="0" algn="r">
                        <a:buNone/>
                      </a:pPr>
                      <a:r>
                        <a:rPr sz="1000"/>
                        <a:t>6</a:t>
                      </a:r>
                    </a:p>
                  </a:txBody>
                  <a:tcPr/>
                </a:tc>
                <a:tc>
                  <a:txBody>
                    <a:bodyPr/>
                    <a:lstStyle/>
                    <a:p>
                      <a:pPr marL="0" lvl="0" indent="0" algn="r">
                        <a:buNone/>
                      </a:pPr>
                      <a:r>
                        <a:rPr sz="1000"/>
                        <a:t>6</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6</a:t>
                      </a:r>
                    </a:p>
                  </a:txBody>
                  <a:tcPr/>
                </a:tc>
                <a:tc>
                  <a:txBody>
                    <a:bodyPr/>
                    <a:lstStyle/>
                    <a:p>
                      <a:pPr marL="0" lvl="0" indent="0" algn="r">
                        <a:buNone/>
                      </a:pPr>
                      <a:r>
                        <a:rPr sz="1000"/>
                        <a:t>0</a:t>
                      </a:r>
                    </a:p>
                  </a:txBody>
                  <a:tcPr/>
                </a:tc>
                <a:extLst>
                  <a:ext uri="{0D108BD9-81ED-4DB2-BD59-A6C34878D82A}">
                    <a16:rowId xmlns:a16="http://schemas.microsoft.com/office/drawing/2014/main" val="10025"/>
                  </a:ext>
                </a:extLst>
              </a:tr>
              <a:tr h="0">
                <a:tc>
                  <a:txBody>
                    <a:bodyPr/>
                    <a:lstStyle/>
                    <a:p>
                      <a:pPr marL="0" lvl="0" indent="0" algn="l">
                        <a:buNone/>
                      </a:pPr>
                      <a:r>
                        <a:rPr sz="1000"/>
                        <a:t>Water and coast proximity</a:t>
                      </a:r>
                    </a:p>
                  </a:txBody>
                  <a:tcPr/>
                </a:tc>
                <a:tc>
                  <a:txBody>
                    <a:bodyPr/>
                    <a:lstStyle/>
                    <a:p>
                      <a:pPr marL="0" lvl="0" indent="0" algn="r">
                        <a:buNone/>
                      </a:pPr>
                      <a:r>
                        <a:rPr sz="1000"/>
                        <a:t>6</a:t>
                      </a:r>
                    </a:p>
                  </a:txBody>
                  <a:tcPr/>
                </a:tc>
                <a:tc>
                  <a:txBody>
                    <a:bodyPr/>
                    <a:lstStyle/>
                    <a:p>
                      <a:pPr marL="0" lvl="0" indent="0" algn="r">
                        <a:buNone/>
                      </a:pPr>
                      <a:r>
                        <a:rPr sz="1000"/>
                        <a:t>6</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6</a:t>
                      </a:r>
                    </a:p>
                  </a:txBody>
                  <a:tcPr/>
                </a:tc>
                <a:tc>
                  <a:txBody>
                    <a:bodyPr/>
                    <a:lstStyle/>
                    <a:p>
                      <a:pPr marL="0" lvl="0" indent="0" algn="r">
                        <a:buNone/>
                      </a:pPr>
                      <a:r>
                        <a:rPr sz="1000"/>
                        <a:t>0</a:t>
                      </a:r>
                    </a:p>
                  </a:txBody>
                  <a:tcPr/>
                </a:tc>
                <a:extLst>
                  <a:ext uri="{0D108BD9-81ED-4DB2-BD59-A6C34878D82A}">
                    <a16:rowId xmlns:a16="http://schemas.microsoft.com/office/drawing/2014/main" val="10026"/>
                  </a:ext>
                </a:extLst>
              </a:tr>
              <a:tr h="0">
                <a:tc>
                  <a:txBody>
                    <a:bodyPr/>
                    <a:lstStyle/>
                    <a:p>
                      <a:pPr marL="0" lvl="0" indent="0" algn="l">
                        <a:buNone/>
                      </a:pPr>
                      <a:r>
                        <a:rPr sz="1000"/>
                        <a:t>Child mortality</a:t>
                      </a:r>
                    </a:p>
                  </a:txBody>
                  <a:tcPr/>
                </a:tc>
                <a:tc>
                  <a:txBody>
                    <a:bodyPr/>
                    <a:lstStyle/>
                    <a:p>
                      <a:pPr marL="0" lvl="0" indent="0" algn="r">
                        <a:buNone/>
                      </a:pPr>
                      <a:r>
                        <a:rPr sz="1000"/>
                        <a:t>4</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4</a:t>
                      </a:r>
                    </a:p>
                  </a:txBody>
                  <a:tcPr/>
                </a:tc>
                <a:tc>
                  <a:txBody>
                    <a:bodyPr/>
                    <a:lstStyle/>
                    <a:p>
                      <a:pPr marL="0" lvl="0" indent="0" algn="r">
                        <a:buNone/>
                      </a:pPr>
                      <a:r>
                        <a:rPr sz="1000"/>
                        <a:t>4</a:t>
                      </a:r>
                    </a:p>
                  </a:txBody>
                  <a:tcPr/>
                </a:tc>
                <a:tc>
                  <a:txBody>
                    <a:bodyPr/>
                    <a:lstStyle/>
                    <a:p>
                      <a:pPr marL="0" lvl="0" indent="0" algn="r">
                        <a:buNone/>
                      </a:pPr>
                      <a:r>
                        <a:rPr sz="1000"/>
                        <a:t>0</a:t>
                      </a:r>
                    </a:p>
                  </a:txBody>
                  <a:tcPr/>
                </a:tc>
                <a:extLst>
                  <a:ext uri="{0D108BD9-81ED-4DB2-BD59-A6C34878D82A}">
                    <a16:rowId xmlns:a16="http://schemas.microsoft.com/office/drawing/2014/main" val="10027"/>
                  </a:ext>
                </a:extLst>
              </a:tr>
              <a:tr h="0">
                <a:tc>
                  <a:txBody>
                    <a:bodyPr/>
                    <a:lstStyle/>
                    <a:p>
                      <a:pPr marL="0" lvl="0" indent="0" algn="l">
                        <a:buNone/>
                      </a:pPr>
                      <a:r>
                        <a:rPr sz="1000"/>
                        <a:t>Adult nutrition</a:t>
                      </a:r>
                    </a:p>
                  </a:txBody>
                  <a:tcPr/>
                </a:tc>
                <a:tc>
                  <a:txBody>
                    <a:bodyPr/>
                    <a:lstStyle/>
                    <a:p>
                      <a:pPr marL="0" lvl="0" indent="0" algn="r">
                        <a:buNone/>
                      </a:pPr>
                      <a:r>
                        <a:rPr sz="1000"/>
                        <a:t>3</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3</a:t>
                      </a:r>
                    </a:p>
                  </a:txBody>
                  <a:tcPr/>
                </a:tc>
                <a:tc>
                  <a:txBody>
                    <a:bodyPr/>
                    <a:lstStyle/>
                    <a:p>
                      <a:pPr marL="0" lvl="0" indent="0" algn="r">
                        <a:buNone/>
                      </a:pPr>
                      <a:r>
                        <a:rPr sz="1000"/>
                        <a:t>3</a:t>
                      </a:r>
                    </a:p>
                  </a:txBody>
                  <a:tcPr/>
                </a:tc>
                <a:tc>
                  <a:txBody>
                    <a:bodyPr/>
                    <a:lstStyle/>
                    <a:p>
                      <a:pPr marL="0" lvl="0" indent="0" algn="r">
                        <a:buNone/>
                      </a:pPr>
                      <a:r>
                        <a:rPr sz="1000"/>
                        <a:t>0</a:t>
                      </a:r>
                    </a:p>
                  </a:txBody>
                  <a:tcPr/>
                </a:tc>
                <a:extLst>
                  <a:ext uri="{0D108BD9-81ED-4DB2-BD59-A6C34878D82A}">
                    <a16:rowId xmlns:a16="http://schemas.microsoft.com/office/drawing/2014/main" val="10028"/>
                  </a:ext>
                </a:extLst>
              </a:tr>
              <a:tr h="0">
                <a:tc>
                  <a:txBody>
                    <a:bodyPr/>
                    <a:lstStyle/>
                    <a:p>
                      <a:pPr marL="0" lvl="0" indent="0" algn="l">
                        <a:buNone/>
                      </a:pPr>
                      <a:r>
                        <a:rPr sz="1000"/>
                        <a:t>Nutrition status (MODELLED SURFACE)</a:t>
                      </a:r>
                    </a:p>
                  </a:txBody>
                  <a:tcPr/>
                </a:tc>
                <a:tc>
                  <a:txBody>
                    <a:bodyPr/>
                    <a:lstStyle/>
                    <a:p>
                      <a:pPr marL="0" lvl="0" indent="0" algn="r">
                        <a:buNone/>
                      </a:pPr>
                      <a:r>
                        <a:rPr sz="1000"/>
                        <a:t>1</a:t>
                      </a:r>
                    </a:p>
                  </a:txBody>
                  <a:tcPr/>
                </a:tc>
                <a:tc>
                  <a:txBody>
                    <a:bodyPr/>
                    <a:lstStyle/>
                    <a:p>
                      <a:pPr marL="0" lvl="0" indent="0" algn="r">
                        <a:buNone/>
                      </a:pPr>
                      <a:r>
                        <a:rPr sz="1000"/>
                        <a:t>1</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0</a:t>
                      </a:r>
                    </a:p>
                  </a:txBody>
                  <a:tcPr/>
                </a:tc>
                <a:tc>
                  <a:txBody>
                    <a:bodyPr/>
                    <a:lstStyle/>
                    <a:p>
                      <a:pPr marL="0" lvl="0" indent="0" algn="r">
                        <a:buNone/>
                      </a:pPr>
                      <a:r>
                        <a:rPr sz="1000"/>
                        <a:t>1</a:t>
                      </a:r>
                    </a:p>
                  </a:txBody>
                  <a:tcPr/>
                </a:tc>
                <a:extLst>
                  <a:ext uri="{0D108BD9-81ED-4DB2-BD59-A6C34878D82A}">
                    <a16:rowId xmlns:a16="http://schemas.microsoft.com/office/drawing/2014/main" val="10029"/>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75</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What we would add next, and the rule for adding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76</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extLst>
                    <a:ext uri="{9D8B030D-6E8A-4147-A177-3AD203B41FA5}">
                      <a16:colId xmlns:a16="http://schemas.microsoft.com/office/drawing/2014/main" val="20000"/>
                    </a:ext>
                  </a:extLst>
                </a:gridCol>
                <a:gridCol w="3759200">
                  <a:extLst>
                    <a:ext uri="{9D8B030D-6E8A-4147-A177-3AD203B41FA5}">
                      <a16:colId xmlns:a16="http://schemas.microsoft.com/office/drawing/2014/main" val="20001"/>
                    </a:ext>
                  </a:extLst>
                </a:gridCol>
                <a:gridCol w="1993900">
                  <a:extLst>
                    <a:ext uri="{9D8B030D-6E8A-4147-A177-3AD203B41FA5}">
                      <a16:colId xmlns:a16="http://schemas.microsoft.com/office/drawing/2014/main" val="20002"/>
                    </a:ext>
                  </a:extLst>
                </a:gridCol>
                <a:gridCol w="6604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tblGrid>
              <a:tr h="0">
                <a:tc>
                  <a:txBody>
                    <a:bodyPr/>
                    <a:lstStyle/>
                    <a:p>
                      <a:pPr marL="0" lvl="0" indent="0" algn="l">
                        <a:buNone/>
                      </a:pPr>
                      <a:r>
                        <a:rPr sz="1000"/>
                        <a:t>Predictor</a:t>
                      </a:r>
                    </a:p>
                  </a:txBody>
                  <a:tcPr/>
                </a:tc>
                <a:tc>
                  <a:txBody>
                    <a:bodyPr/>
                    <a:lstStyle/>
                    <a:p>
                      <a:pPr marL="0" lvl="0" indent="0" algn="l">
                        <a:buNone/>
                      </a:pPr>
                      <a:r>
                        <a:rPr sz="1000"/>
                        <a:t>Domain</a:t>
                      </a:r>
                    </a:p>
                  </a:txBody>
                  <a:tcPr/>
                </a:tc>
                <a:tc>
                  <a:txBody>
                    <a:bodyPr/>
                    <a:lstStyle/>
                    <a:p>
                      <a:pPr marL="0" lvl="0" indent="0" algn="r">
                        <a:buNone/>
                      </a:pPr>
                      <a:r>
                        <a:rPr sz="1000"/>
                        <a:t>Outcomes (top 20)</a:t>
                      </a:r>
                    </a:p>
                  </a:txBody>
                  <a:tcPr/>
                </a:tc>
                <a:tc>
                  <a:txBody>
                    <a:bodyPr/>
                    <a:lstStyle/>
                    <a:p>
                      <a:pPr marL="0" lvl="0" indent="0" algn="l">
                        <a:buNone/>
                      </a:pPr>
                      <a:r>
                        <a:rPr sz="1000"/>
                        <a:t>Signs</a:t>
                      </a:r>
                    </a:p>
                  </a:txBody>
                  <a:tcPr/>
                </a:tc>
                <a:tc>
                  <a:txBody>
                    <a:bodyPr/>
                    <a:lstStyle/>
                    <a:p>
                      <a:pPr marL="0" lvl="0" indent="0" algn="r">
                        <a:buNone/>
                      </a:pPr>
                      <a:r>
                        <a:rPr sz="1000"/>
                        <a:t>Mean rank</a:t>
                      </a:r>
                    </a:p>
                  </a:txBody>
                  <a:tcPr/>
                </a:tc>
                <a:extLst>
                  <a:ext uri="{0D108BD9-81ED-4DB2-BD59-A6C34878D82A}">
                    <a16:rowId xmlns:a16="http://schemas.microsoft.com/office/drawing/2014/main" val="10000"/>
                  </a:ext>
                </a:extLst>
              </a:tr>
              <a:tr h="0">
                <a:tc>
                  <a:txBody>
                    <a:bodyPr/>
                    <a:lstStyle/>
                    <a:p>
                      <a:pPr marL="0" lvl="0" indent="0" algn="l">
                        <a:buNone/>
                      </a:pPr>
                      <a:r>
                        <a:rPr sz="1000"/>
                        <a:t>fprice_staple_rel</a:t>
                      </a:r>
                    </a:p>
                  </a:txBody>
                  <a:tcPr/>
                </a:tc>
                <a:tc>
                  <a:txBody>
                    <a:bodyPr/>
                    <a:lstStyle/>
                    <a:p>
                      <a:pPr marL="0" lvl="0" indent="0" algn="l">
                        <a:buNone/>
                      </a:pPr>
                      <a:r>
                        <a:rPr sz="1000"/>
                        <a:t>Food prices and supply</a:t>
                      </a:r>
                    </a:p>
                  </a:txBody>
                  <a:tcPr/>
                </a:tc>
                <a:tc>
                  <a:txBody>
                    <a:bodyPr/>
                    <a:lstStyle/>
                    <a:p>
                      <a:pPr marL="0" lvl="0" indent="0" algn="r">
                        <a:buNone/>
                      </a:pPr>
                      <a:r>
                        <a:rPr sz="1000"/>
                        <a:t>5</a:t>
                      </a:r>
                    </a:p>
                  </a:txBody>
                  <a:tcPr/>
                </a:tc>
                <a:tc>
                  <a:txBody>
                    <a:bodyPr/>
                    <a:lstStyle/>
                    <a:p>
                      <a:pPr marL="0" lvl="0" indent="0" algn="l">
                        <a:buNone/>
                      </a:pPr>
                      <a:r>
                        <a:rPr sz="1000"/>
                        <a:t>—–</a:t>
                      </a:r>
                    </a:p>
                  </a:txBody>
                  <a:tcPr/>
                </a:tc>
                <a:tc>
                  <a:txBody>
                    <a:bodyPr/>
                    <a:lstStyle/>
                    <a:p>
                      <a:pPr marL="0" lvl="0" indent="0" algn="r">
                        <a:buNone/>
                      </a:pPr>
                      <a:r>
                        <a:rPr sz="1000"/>
                        <a:t>10.2</a:t>
                      </a:r>
                    </a:p>
                  </a:txBody>
                  <a:tcPr/>
                </a:tc>
                <a:extLst>
                  <a:ext uri="{0D108BD9-81ED-4DB2-BD59-A6C34878D82A}">
                    <a16:rowId xmlns:a16="http://schemas.microsoft.com/office/drawing/2014/main" val="10001"/>
                  </a:ext>
                </a:extLst>
              </a:tr>
              <a:tr h="0">
                <a:tc>
                  <a:txBody>
                    <a:bodyPr/>
                    <a:lstStyle/>
                    <a:p>
                      <a:pPr marL="0" lvl="0" indent="0" algn="l">
                        <a:buNone/>
                      </a:pPr>
                      <a:r>
                        <a:rPr sz="1000"/>
                        <a:t>ihme_overweightprevalence</a:t>
                      </a:r>
                    </a:p>
                  </a:txBody>
                  <a:tcPr/>
                </a:tc>
                <a:tc>
                  <a:txBody>
                    <a:bodyPr/>
                    <a:lstStyle/>
                    <a:p>
                      <a:pPr marL="0" lvl="0" indent="0" algn="l">
                        <a:buNone/>
                      </a:pPr>
                      <a:r>
                        <a:rPr sz="1000"/>
                        <a:t>Child anthropometry</a:t>
                      </a:r>
                    </a:p>
                  </a:txBody>
                  <a:tcPr/>
                </a:tc>
                <a:tc>
                  <a:txBody>
                    <a:bodyPr/>
                    <a:lstStyle/>
                    <a:p>
                      <a:pPr marL="0" lvl="0" indent="0" algn="r">
                        <a:buNone/>
                      </a:pPr>
                      <a:r>
                        <a:rPr sz="1000"/>
                        <a:t>4</a:t>
                      </a:r>
                    </a:p>
                  </a:txBody>
                  <a:tcPr/>
                </a:tc>
                <a:tc>
                  <a:txBody>
                    <a:bodyPr/>
                    <a:lstStyle/>
                    <a:p>
                      <a:pPr marL="0" lvl="0" indent="0" algn="l">
                        <a:buNone/>
                      </a:pPr>
                      <a:r>
                        <a:rPr sz="1000"/>
                        <a:t>—-</a:t>
                      </a:r>
                    </a:p>
                  </a:txBody>
                  <a:tcPr/>
                </a:tc>
                <a:tc>
                  <a:txBody>
                    <a:bodyPr/>
                    <a:lstStyle/>
                    <a:p>
                      <a:pPr marL="0" lvl="0" indent="0" algn="r">
                        <a:buNone/>
                      </a:pPr>
                      <a:r>
                        <a:rPr sz="1000"/>
                        <a:t>6.0</a:t>
                      </a:r>
                    </a:p>
                  </a:txBody>
                  <a:tcPr/>
                </a:tc>
                <a:extLst>
                  <a:ext uri="{0D108BD9-81ED-4DB2-BD59-A6C34878D82A}">
                    <a16:rowId xmlns:a16="http://schemas.microsoft.com/office/drawing/2014/main" val="10002"/>
                  </a:ext>
                </a:extLst>
              </a:tr>
              <a:tr h="0">
                <a:tc>
                  <a:txBody>
                    <a:bodyPr/>
                    <a:lstStyle/>
                    <a:p>
                      <a:pPr marL="0" lvl="0" indent="0" algn="l">
                        <a:buNone/>
                      </a:pPr>
                      <a:r>
                        <a:rPr sz="1000"/>
                        <a:t>map_sy_pf_mortality_rate</a:t>
                      </a:r>
                    </a:p>
                  </a:txBody>
                  <a:tcPr/>
                </a:tc>
                <a:tc>
                  <a:txBody>
                    <a:bodyPr/>
                    <a:lstStyle/>
                    <a:p>
                      <a:pPr marL="0" lvl="0" indent="0" algn="l">
                        <a:buNone/>
                      </a:pPr>
                      <a:r>
                        <a:rPr sz="1000"/>
                        <a:t>Infection and inflammation burden</a:t>
                      </a:r>
                    </a:p>
                  </a:txBody>
                  <a:tcPr/>
                </a:tc>
                <a:tc>
                  <a:txBody>
                    <a:bodyPr/>
                    <a:lstStyle/>
                    <a:p>
                      <a:pPr marL="0" lvl="0" indent="0" algn="r">
                        <a:buNone/>
                      </a:pPr>
                      <a:r>
                        <a:rPr sz="1000"/>
                        <a:t>4</a:t>
                      </a:r>
                    </a:p>
                  </a:txBody>
                  <a:tcPr/>
                </a:tc>
                <a:tc>
                  <a:txBody>
                    <a:bodyPr/>
                    <a:lstStyle/>
                    <a:p>
                      <a:pPr marL="0" lvl="0" indent="0" algn="l">
                        <a:buNone/>
                      </a:pPr>
                      <a:r>
                        <a:rPr sz="1000"/>
                        <a:t>—-</a:t>
                      </a:r>
                    </a:p>
                  </a:txBody>
                  <a:tcPr/>
                </a:tc>
                <a:tc>
                  <a:txBody>
                    <a:bodyPr/>
                    <a:lstStyle/>
                    <a:p>
                      <a:pPr marL="0" lvl="0" indent="0" algn="r">
                        <a:buNone/>
                      </a:pPr>
                      <a:r>
                        <a:rPr sz="1000"/>
                        <a:t>8.0</a:t>
                      </a:r>
                    </a:p>
                  </a:txBody>
                  <a:tcPr/>
                </a:tc>
                <a:extLst>
                  <a:ext uri="{0D108BD9-81ED-4DB2-BD59-A6C34878D82A}">
                    <a16:rowId xmlns:a16="http://schemas.microsoft.com/office/drawing/2014/main" val="10003"/>
                  </a:ext>
                </a:extLst>
              </a:tr>
              <a:tr h="0">
                <a:tc>
                  <a:txBody>
                    <a:bodyPr/>
                    <a:lstStyle/>
                    <a:p>
                      <a:pPr marL="0" lvl="0" indent="0" algn="l">
                        <a:buNone/>
                      </a:pPr>
                      <a:r>
                        <a:rPr sz="1000"/>
                        <a:t>npp_gpp_t0</a:t>
                      </a:r>
                    </a:p>
                  </a:txBody>
                  <a:tcPr/>
                </a:tc>
                <a:tc>
                  <a:txBody>
                    <a:bodyPr/>
                    <a:lstStyle/>
                    <a:p>
                      <a:pPr marL="0" lvl="0" indent="0" algn="l">
                        <a:buNone/>
                      </a:pPr>
                      <a:r>
                        <a:rPr sz="1000"/>
                        <a:t>Ecosystem productivity/greenness</a:t>
                      </a:r>
                    </a:p>
                  </a:txBody>
                  <a:tcPr/>
                </a:tc>
                <a:tc>
                  <a:txBody>
                    <a:bodyPr/>
                    <a:lstStyle/>
                    <a:p>
                      <a:pPr marL="0" lvl="0" indent="0" algn="r">
                        <a:buNone/>
                      </a:pPr>
                      <a:r>
                        <a:rPr sz="1000"/>
                        <a:t>4</a:t>
                      </a:r>
                    </a:p>
                  </a:txBody>
                  <a:tcPr/>
                </a:tc>
                <a:tc>
                  <a:txBody>
                    <a:bodyPr/>
                    <a:lstStyle/>
                    <a:p>
                      <a:pPr marL="0" lvl="0" indent="0" algn="l">
                        <a:buNone/>
                      </a:pPr>
                      <a:r>
                        <a:rPr sz="1000"/>
                        <a:t>—-</a:t>
                      </a:r>
                    </a:p>
                  </a:txBody>
                  <a:tcPr/>
                </a:tc>
                <a:tc>
                  <a:txBody>
                    <a:bodyPr/>
                    <a:lstStyle/>
                    <a:p>
                      <a:pPr marL="0" lvl="0" indent="0" algn="r">
                        <a:buNone/>
                      </a:pPr>
                      <a:r>
                        <a:rPr sz="1000"/>
                        <a:t>14.2</a:t>
                      </a:r>
                    </a:p>
                  </a:txBody>
                  <a:tcPr/>
                </a:tc>
                <a:extLst>
                  <a:ext uri="{0D108BD9-81ED-4DB2-BD59-A6C34878D82A}">
                    <a16:rowId xmlns:a16="http://schemas.microsoft.com/office/drawing/2014/main" val="10004"/>
                  </a:ext>
                </a:extLst>
              </a:tr>
              <a:tr h="0">
                <a:tc>
                  <a:txBody>
                    <a:bodyPr/>
                    <a:lstStyle/>
                    <a:p>
                      <a:pPr marL="0" lvl="0" indent="0" algn="l">
                        <a:buNone/>
                      </a:pPr>
                      <a:r>
                        <a:rPr sz="1000"/>
                        <a:t>npp_npp_t0</a:t>
                      </a:r>
                    </a:p>
                  </a:txBody>
                  <a:tcPr/>
                </a:tc>
                <a:tc>
                  <a:txBody>
                    <a:bodyPr/>
                    <a:lstStyle/>
                    <a:p>
                      <a:pPr marL="0" lvl="0" indent="0" algn="l">
                        <a:buNone/>
                      </a:pPr>
                      <a:r>
                        <a:rPr sz="1000"/>
                        <a:t>Ecosystem productivity/greenness</a:t>
                      </a:r>
                    </a:p>
                  </a:txBody>
                  <a:tcPr/>
                </a:tc>
                <a:tc>
                  <a:txBody>
                    <a:bodyPr/>
                    <a:lstStyle/>
                    <a:p>
                      <a:pPr marL="0" lvl="0" indent="0" algn="r">
                        <a:buNone/>
                      </a:pPr>
                      <a:r>
                        <a:rPr sz="1000"/>
                        <a:t>4</a:t>
                      </a:r>
                    </a:p>
                  </a:txBody>
                  <a:tcPr/>
                </a:tc>
                <a:tc>
                  <a:txBody>
                    <a:bodyPr/>
                    <a:lstStyle/>
                    <a:p>
                      <a:pPr marL="0" lvl="0" indent="0" algn="l">
                        <a:buNone/>
                      </a:pPr>
                      <a:r>
                        <a:rPr sz="1000"/>
                        <a:t>—-</a:t>
                      </a:r>
                    </a:p>
                  </a:txBody>
                  <a:tcPr/>
                </a:tc>
                <a:tc>
                  <a:txBody>
                    <a:bodyPr/>
                    <a:lstStyle/>
                    <a:p>
                      <a:pPr marL="0" lvl="0" indent="0" algn="r">
                        <a:buNone/>
                      </a:pPr>
                      <a:r>
                        <a:rPr sz="1000"/>
                        <a:t>14.8</a:t>
                      </a:r>
                    </a:p>
                  </a:txBody>
                  <a:tcPr/>
                </a:tc>
                <a:extLst>
                  <a:ext uri="{0D108BD9-81ED-4DB2-BD59-A6C34878D82A}">
                    <a16:rowId xmlns:a16="http://schemas.microsoft.com/office/drawing/2014/main" val="10005"/>
                  </a:ext>
                </a:extLst>
              </a:tr>
              <a:tr h="0">
                <a:tc>
                  <a:txBody>
                    <a:bodyPr/>
                    <a:lstStyle/>
                    <a:p>
                      <a:pPr marL="0" lvl="0" indent="0" algn="l">
                        <a:buNone/>
                      </a:pPr>
                      <a:r>
                        <a:rPr sz="1000"/>
                        <a:t>mics_w_iptp_sp</a:t>
                      </a:r>
                    </a:p>
                  </a:txBody>
                  <a:tcPr/>
                </a:tc>
                <a:tc>
                  <a:txBody>
                    <a:bodyPr/>
                    <a:lstStyle/>
                    <a:p>
                      <a:pPr marL="0" lvl="0" indent="0" algn="l">
                        <a:buNone/>
                      </a:pPr>
                      <a:r>
                        <a:rPr sz="1000"/>
                        <a:t>Infection and inflammation burden</a:t>
                      </a:r>
                    </a:p>
                  </a:txBody>
                  <a:tcPr/>
                </a:tc>
                <a:tc>
                  <a:txBody>
                    <a:bodyPr/>
                    <a:lstStyle/>
                    <a:p>
                      <a:pPr marL="0" lvl="0" indent="0" algn="r">
                        <a:buNone/>
                      </a:pPr>
                      <a:r>
                        <a:rPr sz="1000"/>
                        <a:t>3</a:t>
                      </a:r>
                    </a:p>
                  </a:txBody>
                  <a:tcPr/>
                </a:tc>
                <a:tc>
                  <a:txBody>
                    <a:bodyPr/>
                    <a:lstStyle/>
                    <a:p>
                      <a:pPr marL="0" lvl="0" indent="0" algn="l">
                        <a:buNone/>
                      </a:pPr>
                      <a:r>
                        <a:rPr sz="1000"/>
                        <a:t>+++</a:t>
                      </a:r>
                    </a:p>
                  </a:txBody>
                  <a:tcPr/>
                </a:tc>
                <a:tc>
                  <a:txBody>
                    <a:bodyPr/>
                    <a:lstStyle/>
                    <a:p>
                      <a:pPr marL="0" lvl="0" indent="0" algn="r">
                        <a:buNone/>
                      </a:pPr>
                      <a:r>
                        <a:rPr sz="1000"/>
                        <a:t>3.0</a:t>
                      </a:r>
                    </a:p>
                  </a:txBody>
                  <a:tcPr/>
                </a:tc>
                <a:extLst>
                  <a:ext uri="{0D108BD9-81ED-4DB2-BD59-A6C34878D82A}">
                    <a16:rowId xmlns:a16="http://schemas.microsoft.com/office/drawing/2014/main" val="10006"/>
                  </a:ext>
                </a:extLst>
              </a:tr>
              <a:tr h="0">
                <a:tc>
                  <a:txBody>
                    <a:bodyPr/>
                    <a:lstStyle/>
                    <a:p>
                      <a:pPr marL="0" lvl="0" indent="0" algn="l">
                        <a:buNone/>
                      </a:pPr>
                      <a:r>
                        <a:rPr sz="1000"/>
                        <a:t>glw_ruminant_share</a:t>
                      </a:r>
                    </a:p>
                  </a:txBody>
                  <a:tcPr/>
                </a:tc>
                <a:tc>
                  <a:txBody>
                    <a:bodyPr/>
                    <a:lstStyle/>
                    <a:p>
                      <a:pPr marL="0" lvl="0" indent="0" algn="l">
                        <a:buNone/>
                      </a:pPr>
                      <a:r>
                        <a:rPr sz="1000"/>
                        <a:t>Livestock density</a:t>
                      </a:r>
                    </a:p>
                  </a:txBody>
                  <a:tcPr/>
                </a:tc>
                <a:tc>
                  <a:txBody>
                    <a:bodyPr/>
                    <a:lstStyle/>
                    <a:p>
                      <a:pPr marL="0" lvl="0" indent="0" algn="r">
                        <a:buNone/>
                      </a:pPr>
                      <a:r>
                        <a:rPr sz="1000"/>
                        <a:t>3</a:t>
                      </a:r>
                    </a:p>
                  </a:txBody>
                  <a:tcPr/>
                </a:tc>
                <a:tc>
                  <a:txBody>
                    <a:bodyPr/>
                    <a:lstStyle/>
                    <a:p>
                      <a:pPr marL="0" lvl="0" indent="0" algn="l">
                        <a:buNone/>
                      </a:pPr>
                      <a:r>
                        <a:rPr sz="1000"/>
                        <a:t>+++</a:t>
                      </a:r>
                    </a:p>
                  </a:txBody>
                  <a:tcPr/>
                </a:tc>
                <a:tc>
                  <a:txBody>
                    <a:bodyPr/>
                    <a:lstStyle/>
                    <a:p>
                      <a:pPr marL="0" lvl="0" indent="0" algn="r">
                        <a:buNone/>
                      </a:pPr>
                      <a:r>
                        <a:rPr sz="1000"/>
                        <a:t>6.3</a:t>
                      </a:r>
                    </a:p>
                  </a:txBody>
                  <a:tcPr/>
                </a:tc>
                <a:extLst>
                  <a:ext uri="{0D108BD9-81ED-4DB2-BD59-A6C34878D82A}">
                    <a16:rowId xmlns:a16="http://schemas.microsoft.com/office/drawing/2014/main" val="10007"/>
                  </a:ext>
                </a:extLst>
              </a:tr>
              <a:tr h="0">
                <a:tc>
                  <a:txBody>
                    <a:bodyPr/>
                    <a:lstStyle/>
                    <a:p>
                      <a:pPr marL="0" lvl="0" indent="0" algn="l">
                        <a:buNone/>
                      </a:pPr>
                      <a:r>
                        <a:rPr sz="1000"/>
                        <a:t>ihme_underweightprevalence</a:t>
                      </a:r>
                    </a:p>
                  </a:txBody>
                  <a:tcPr/>
                </a:tc>
                <a:tc>
                  <a:txBody>
                    <a:bodyPr/>
                    <a:lstStyle/>
                    <a:p>
                      <a:pPr marL="0" lvl="0" indent="0" algn="l">
                        <a:buNone/>
                      </a:pPr>
                      <a:r>
                        <a:rPr sz="1000"/>
                        <a:t>Child anthropometry</a:t>
                      </a:r>
                    </a:p>
                  </a:txBody>
                  <a:tcPr/>
                </a:tc>
                <a:tc>
                  <a:txBody>
                    <a:bodyPr/>
                    <a:lstStyle/>
                    <a:p>
                      <a:pPr marL="0" lvl="0" indent="0" algn="r">
                        <a:buNone/>
                      </a:pPr>
                      <a:r>
                        <a:rPr sz="1000"/>
                        <a:t>3</a:t>
                      </a:r>
                    </a:p>
                  </a:txBody>
                  <a:tcPr/>
                </a:tc>
                <a:tc>
                  <a:txBody>
                    <a:bodyPr/>
                    <a:lstStyle/>
                    <a:p>
                      <a:pPr marL="0" lvl="0" indent="0" algn="l">
                        <a:buNone/>
                      </a:pPr>
                      <a:r>
                        <a:rPr sz="1000"/>
                        <a:t>+++</a:t>
                      </a:r>
                    </a:p>
                  </a:txBody>
                  <a:tcPr/>
                </a:tc>
                <a:tc>
                  <a:txBody>
                    <a:bodyPr/>
                    <a:lstStyle/>
                    <a:p>
                      <a:pPr marL="0" lvl="0" indent="0" algn="r">
                        <a:buNone/>
                      </a:pPr>
                      <a:r>
                        <a:rPr sz="1000"/>
                        <a:t>7.0</a:t>
                      </a:r>
                    </a:p>
                  </a:txBody>
                  <a:tcPr/>
                </a:tc>
                <a:extLst>
                  <a:ext uri="{0D108BD9-81ED-4DB2-BD59-A6C34878D82A}">
                    <a16:rowId xmlns:a16="http://schemas.microsoft.com/office/drawing/2014/main" val="10008"/>
                  </a:ext>
                </a:extLst>
              </a:tr>
              <a:tr h="0">
                <a:tc>
                  <a:txBody>
                    <a:bodyPr/>
                    <a:lstStyle/>
                    <a:p>
                      <a:pPr marL="0" lvl="0" indent="0" algn="l">
                        <a:buNone/>
                      </a:pPr>
                      <a:r>
                        <a:rPr sz="1000"/>
                        <a:t>lcover_grass_frac_t0</a:t>
                      </a:r>
                    </a:p>
                  </a:txBody>
                  <a:tcPr/>
                </a:tc>
                <a:tc>
                  <a:txBody>
                    <a:bodyPr/>
                    <a:lstStyle/>
                    <a:p>
                      <a:pPr marL="0" lvl="0" indent="0" algn="l">
                        <a:buNone/>
                      </a:pPr>
                      <a:r>
                        <a:rPr sz="1000"/>
                        <a:t>Built environment</a:t>
                      </a:r>
                    </a:p>
                  </a:txBody>
                  <a:tcPr/>
                </a:tc>
                <a:tc>
                  <a:txBody>
                    <a:bodyPr/>
                    <a:lstStyle/>
                    <a:p>
                      <a:pPr marL="0" lvl="0" indent="0" algn="r">
                        <a:buNone/>
                      </a:pPr>
                      <a:r>
                        <a:rPr sz="1000"/>
                        <a:t>3</a:t>
                      </a:r>
                    </a:p>
                  </a:txBody>
                  <a:tcPr/>
                </a:tc>
                <a:tc>
                  <a:txBody>
                    <a:bodyPr/>
                    <a:lstStyle/>
                    <a:p>
                      <a:pPr marL="0" lvl="0" indent="0" algn="l">
                        <a:buNone/>
                      </a:pPr>
                      <a:r>
                        <a:rPr sz="1000"/>
                        <a:t>+++</a:t>
                      </a:r>
                    </a:p>
                  </a:txBody>
                  <a:tcPr/>
                </a:tc>
                <a:tc>
                  <a:txBody>
                    <a:bodyPr/>
                    <a:lstStyle/>
                    <a:p>
                      <a:pPr marL="0" lvl="0" indent="0" algn="r">
                        <a:buNone/>
                      </a:pPr>
                      <a:r>
                        <a:rPr sz="1000"/>
                        <a:t>7.3</a:t>
                      </a:r>
                    </a:p>
                  </a:txBody>
                  <a:tcPr/>
                </a:tc>
                <a:extLst>
                  <a:ext uri="{0D108BD9-81ED-4DB2-BD59-A6C34878D82A}">
                    <a16:rowId xmlns:a16="http://schemas.microsoft.com/office/drawing/2014/main" val="10009"/>
                  </a:ext>
                </a:extLst>
              </a:tr>
              <a:tr h="0">
                <a:tc>
                  <a:txBody>
                    <a:bodyPr/>
                    <a:lstStyle/>
                    <a:p>
                      <a:pPr marL="0" lvl="0" indent="0" algn="l">
                        <a:buNone/>
                      </a:pPr>
                      <a:r>
                        <a:rPr sz="1000"/>
                        <a:t>lcover_crops_frac_t0</a:t>
                      </a:r>
                    </a:p>
                  </a:txBody>
                  <a:tcPr/>
                </a:tc>
                <a:tc>
                  <a:txBody>
                    <a:bodyPr/>
                    <a:lstStyle/>
                    <a:p>
                      <a:pPr marL="0" lvl="0" indent="0" algn="l">
                        <a:buNone/>
                      </a:pPr>
                      <a:r>
                        <a:rPr sz="1000"/>
                        <a:t>Built environment</a:t>
                      </a:r>
                    </a:p>
                  </a:txBody>
                  <a:tcPr/>
                </a:tc>
                <a:tc>
                  <a:txBody>
                    <a:bodyPr/>
                    <a:lstStyle/>
                    <a:p>
                      <a:pPr marL="0" lvl="0" indent="0" algn="r">
                        <a:buNone/>
                      </a:pPr>
                      <a:r>
                        <a:rPr sz="1000"/>
                        <a:t>3</a:t>
                      </a:r>
                    </a:p>
                  </a:txBody>
                  <a:tcPr/>
                </a:tc>
                <a:tc>
                  <a:txBody>
                    <a:bodyPr/>
                    <a:lstStyle/>
                    <a:p>
                      <a:pPr marL="0" lvl="0" indent="0" algn="l">
                        <a:buNone/>
                      </a:pPr>
                      <a:r>
                        <a:rPr sz="1000"/>
                        <a:t>+++</a:t>
                      </a:r>
                    </a:p>
                  </a:txBody>
                  <a:tcPr/>
                </a:tc>
                <a:tc>
                  <a:txBody>
                    <a:bodyPr/>
                    <a:lstStyle/>
                    <a:p>
                      <a:pPr marL="0" lvl="0" indent="0" algn="r">
                        <a:buNone/>
                      </a:pPr>
                      <a:r>
                        <a:rPr sz="1000"/>
                        <a:t>7.7</a:t>
                      </a:r>
                    </a:p>
                  </a:txBody>
                  <a:tcPr/>
                </a:tc>
                <a:extLst>
                  <a:ext uri="{0D108BD9-81ED-4DB2-BD59-A6C34878D82A}">
                    <a16:rowId xmlns:a16="http://schemas.microsoft.com/office/drawing/2014/main" val="10010"/>
                  </a:ext>
                </a:extLst>
              </a:tr>
              <a:tr h="0">
                <a:tc>
                  <a:txBody>
                    <a:bodyPr/>
                    <a:lstStyle/>
                    <a:p>
                      <a:pPr marL="0" lvl="0" indent="0" algn="l">
                        <a:buNone/>
                      </a:pPr>
                      <a:r>
                        <a:rPr sz="1000"/>
                        <a:t>glw_tlu_per_capita</a:t>
                      </a:r>
                    </a:p>
                  </a:txBody>
                  <a:tcPr/>
                </a:tc>
                <a:tc>
                  <a:txBody>
                    <a:bodyPr/>
                    <a:lstStyle/>
                    <a:p>
                      <a:pPr marL="0" lvl="0" indent="0" algn="l">
                        <a:buNone/>
                      </a:pPr>
                      <a:r>
                        <a:rPr sz="1000"/>
                        <a:t>Livestock density</a:t>
                      </a:r>
                    </a:p>
                  </a:txBody>
                  <a:tcPr/>
                </a:tc>
                <a:tc>
                  <a:txBody>
                    <a:bodyPr/>
                    <a:lstStyle/>
                    <a:p>
                      <a:pPr marL="0" lvl="0" indent="0" algn="r">
                        <a:buNone/>
                      </a:pPr>
                      <a:r>
                        <a:rPr sz="1000"/>
                        <a:t>3</a:t>
                      </a:r>
                    </a:p>
                  </a:txBody>
                  <a:tcPr/>
                </a:tc>
                <a:tc>
                  <a:txBody>
                    <a:bodyPr/>
                    <a:lstStyle/>
                    <a:p>
                      <a:pPr marL="0" lvl="0" indent="0" algn="l">
                        <a:buNone/>
                      </a:pPr>
                      <a:r>
                        <a:rPr sz="1000"/>
                        <a:t>+++</a:t>
                      </a:r>
                    </a:p>
                  </a:txBody>
                  <a:tcPr/>
                </a:tc>
                <a:tc>
                  <a:txBody>
                    <a:bodyPr/>
                    <a:lstStyle/>
                    <a:p>
                      <a:pPr marL="0" lvl="0" indent="0" algn="r">
                        <a:buNone/>
                      </a:pPr>
                      <a:r>
                        <a:rPr sz="1000"/>
                        <a:t>8.3</a:t>
                      </a:r>
                    </a:p>
                  </a:txBody>
                  <a:tcPr/>
                </a:tc>
                <a:extLst>
                  <a:ext uri="{0D108BD9-81ED-4DB2-BD59-A6C34878D82A}">
                    <a16:rowId xmlns:a16="http://schemas.microsoft.com/office/drawing/2014/main" val="10011"/>
                  </a:ext>
                </a:extLst>
              </a:tr>
              <a:tr h="0">
                <a:tc>
                  <a:txBody>
                    <a:bodyPr/>
                    <a:lstStyle/>
                    <a:p>
                      <a:pPr marL="0" lvl="0" indent="0" algn="l">
                        <a:buNone/>
                      </a:pPr>
                      <a:r>
                        <a:rPr sz="1000"/>
                        <a:t>ihme_allanemia</a:t>
                      </a:r>
                    </a:p>
                  </a:txBody>
                  <a:tcPr/>
                </a:tc>
                <a:tc>
                  <a:txBody>
                    <a:bodyPr/>
                    <a:lstStyle/>
                    <a:p>
                      <a:pPr marL="0" lvl="0" indent="0" algn="l">
                        <a:buNone/>
                      </a:pPr>
                      <a:r>
                        <a:rPr sz="1000"/>
                        <a:t>Anaemia and haemoglobin</a:t>
                      </a:r>
                    </a:p>
                  </a:txBody>
                  <a:tcPr/>
                </a:tc>
                <a:tc>
                  <a:txBody>
                    <a:bodyPr/>
                    <a:lstStyle/>
                    <a:p>
                      <a:pPr marL="0" lvl="0" indent="0" algn="r">
                        <a:buNone/>
                      </a:pPr>
                      <a:r>
                        <a:rPr sz="1000"/>
                        <a:t>3</a:t>
                      </a:r>
                    </a:p>
                  </a:txBody>
                  <a:tcPr/>
                </a:tc>
                <a:tc>
                  <a:txBody>
                    <a:bodyPr/>
                    <a:lstStyle/>
                    <a:p>
                      <a:pPr marL="0" lvl="0" indent="0" algn="l">
                        <a:buNone/>
                      </a:pPr>
                      <a:r>
                        <a:rPr sz="1000"/>
                        <a:t>+++</a:t>
                      </a:r>
                    </a:p>
                  </a:txBody>
                  <a:tcPr/>
                </a:tc>
                <a:tc>
                  <a:txBody>
                    <a:bodyPr/>
                    <a:lstStyle/>
                    <a:p>
                      <a:pPr marL="0" lvl="0" indent="0" algn="r">
                        <a:buNone/>
                      </a:pPr>
                      <a:r>
                        <a:rPr sz="1000"/>
                        <a:t>8.7</a:t>
                      </a:r>
                    </a:p>
                  </a:txBody>
                  <a:tcPr/>
                </a:tc>
                <a:extLst>
                  <a:ext uri="{0D108BD9-81ED-4DB2-BD59-A6C34878D82A}">
                    <a16:rowId xmlns:a16="http://schemas.microsoft.com/office/drawing/2014/main" val="10012"/>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77</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Weighting of the domain components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id="4" name="Picture 1" descr="MN-proxy-full-talk-2026-09_files/figure-pptx/weights-1.png"/>
          <p:cNvPicPr>
            <a:picLocks noGrp="1" noChangeAspect="1"/>
          </p:cNvPicPr>
          <p:nvPr/>
        </p:nvPicPr>
        <p:blipFill>
          <a:blip r:embed="rId3"/>
          <a:stretch>
            <a:fillRect/>
          </a:stretch>
        </p:blipFill>
        <p:spPr bwMode="auto">
          <a:xfrm>
            <a:off x="411480" y="1645920"/>
            <a:ext cx="6766560" cy="607392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78</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Sparse composites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id="4" name="Picture 1" descr="MN-proxy-full-talk-2026-09_files/figure-pptx/sparse-1.png"/>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79</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extLst>
                    <a:ext uri="{9D8B030D-6E8A-4147-A177-3AD203B41FA5}">
                      <a16:colId xmlns:a16="http://schemas.microsoft.com/office/drawing/2014/main" val="20000"/>
                    </a:ext>
                  </a:extLst>
                </a:gridCol>
                <a:gridCol w="2324100">
                  <a:extLst>
                    <a:ext uri="{9D8B030D-6E8A-4147-A177-3AD203B41FA5}">
                      <a16:colId xmlns:a16="http://schemas.microsoft.com/office/drawing/2014/main" val="20001"/>
                    </a:ext>
                  </a:extLst>
                </a:gridCol>
                <a:gridCol w="2184400">
                  <a:extLst>
                    <a:ext uri="{9D8B030D-6E8A-4147-A177-3AD203B41FA5}">
                      <a16:colId xmlns:a16="http://schemas.microsoft.com/office/drawing/2014/main" val="20002"/>
                    </a:ext>
                  </a:extLst>
                </a:gridCol>
                <a:gridCol w="3594100">
                  <a:extLst>
                    <a:ext uri="{9D8B030D-6E8A-4147-A177-3AD203B41FA5}">
                      <a16:colId xmlns:a16="http://schemas.microsoft.com/office/drawing/2014/main" val="20003"/>
                    </a:ext>
                  </a:extLst>
                </a:gridCol>
              </a:tblGrid>
              <a:tr h="0">
                <a:tc>
                  <a:txBody>
                    <a:bodyPr/>
                    <a:lstStyle/>
                    <a:p>
                      <a:pPr marL="0" lvl="0" indent="0" algn="l">
                        <a:buNone/>
                      </a:pPr>
                      <a:r>
                        <a:rPr sz="1000"/>
                        <a:t>Predictor</a:t>
                      </a:r>
                    </a:p>
                  </a:txBody>
                  <a:tcPr/>
                </a:tc>
                <a:tc>
                  <a:txBody>
                    <a:bodyPr/>
                    <a:lstStyle/>
                    <a:p>
                      <a:pPr marL="0" lvl="0" indent="0" algn="l">
                        <a:buNone/>
                      </a:pPr>
                      <a:r>
                        <a:rPr sz="1000"/>
                        <a:t>Source</a:t>
                      </a:r>
                    </a:p>
                  </a:txBody>
                  <a:tcPr/>
                </a:tc>
                <a:tc>
                  <a:txBody>
                    <a:bodyPr/>
                    <a:lstStyle/>
                    <a:p>
                      <a:pPr marL="0" lvl="0" indent="0" algn="l">
                        <a:buNone/>
                      </a:pPr>
                      <a:r>
                        <a:rPr sz="1000"/>
                        <a:t>Predictor</a:t>
                      </a:r>
                    </a:p>
                  </a:txBody>
                  <a:tcPr/>
                </a:tc>
                <a:tc>
                  <a:txBody>
                    <a:bodyPr/>
                    <a:lstStyle/>
                    <a:p>
                      <a:pPr marL="0" lvl="0" indent="0" algn="l">
                        <a:buNone/>
                      </a:pPr>
                      <a:r>
                        <a:rPr sz="1000"/>
                        <a:t>Source</a:t>
                      </a:r>
                    </a:p>
                  </a:txBody>
                  <a:tcPr/>
                </a:tc>
                <a:extLst>
                  <a:ext uri="{0D108BD9-81ED-4DB2-BD59-A6C34878D82A}">
                    <a16:rowId xmlns:a16="http://schemas.microsoft.com/office/drawing/2014/main" val="10000"/>
                  </a:ext>
                </a:extLst>
              </a:tr>
              <a:tr h="0">
                <a:tc>
                  <a:txBody>
                    <a:bodyPr/>
                    <a:lstStyle/>
                    <a:p>
                      <a:pPr marL="0" lvl="0" indent="0" algn="l">
                        <a:buNone/>
                      </a:pPr>
                      <a:r>
                        <a:rPr sz="1000"/>
                        <a:t>ihme_overweightprevalence (-)</a:t>
                      </a:r>
                    </a:p>
                  </a:txBody>
                  <a:tcPr/>
                </a:tc>
                <a:tc>
                  <a:txBody>
                    <a:bodyPr/>
                    <a:lstStyle/>
                    <a:p>
                      <a:pPr marL="0" lvl="0" indent="0" algn="l">
                        <a:buNone/>
                      </a:pPr>
                      <a:r>
                        <a:rPr sz="1000"/>
                        <a:t>IHME</a:t>
                      </a:r>
                    </a:p>
                  </a:txBody>
                  <a:tcPr/>
                </a:tc>
                <a:tc>
                  <a:txBody>
                    <a:bodyPr/>
                    <a:lstStyle/>
                    <a:p>
                      <a:pPr marL="0" lvl="0" indent="0" algn="l">
                        <a:buNone/>
                      </a:pPr>
                      <a:r>
                        <a:rPr sz="1000"/>
                        <a:t>map_sy_pf_parasite_rate (-)</a:t>
                      </a:r>
                    </a:p>
                  </a:txBody>
                  <a:tcPr/>
                </a:tc>
                <a:tc>
                  <a:txBody>
                    <a:bodyPr/>
                    <a:lstStyle/>
                    <a:p>
                      <a:pPr marL="0" lvl="0" indent="0" algn="l">
                        <a:buNone/>
                      </a:pPr>
                      <a:r>
                        <a:rPr sz="1000"/>
                        <a:t>Malaria Atlas Project</a:t>
                      </a:r>
                    </a:p>
                  </a:txBody>
                  <a:tcPr/>
                </a:tc>
                <a:extLst>
                  <a:ext uri="{0D108BD9-81ED-4DB2-BD59-A6C34878D82A}">
                    <a16:rowId xmlns:a16="http://schemas.microsoft.com/office/drawing/2014/main" val="10001"/>
                  </a:ext>
                </a:extLst>
              </a:tr>
              <a:tr h="0">
                <a:tc>
                  <a:txBody>
                    <a:bodyPr/>
                    <a:lstStyle/>
                    <a:p>
                      <a:pPr marL="0" lvl="0" indent="0" algn="l">
                        <a:buNone/>
                      </a:pPr>
                      <a:r>
                        <a:rPr sz="1000"/>
                        <a:t>spam_share_cereals (+)</a:t>
                      </a:r>
                    </a:p>
                  </a:txBody>
                  <a:tcPr/>
                </a:tc>
                <a:tc>
                  <a:txBody>
                    <a:bodyPr/>
                    <a:lstStyle/>
                    <a:p>
                      <a:pPr marL="0" lvl="0" indent="0" algn="l">
                        <a:buNone/>
                      </a:pPr>
                      <a:r>
                        <a:rPr sz="1000"/>
                        <a:t>MapSPAM</a:t>
                      </a:r>
                    </a:p>
                  </a:txBody>
                  <a:tcPr/>
                </a:tc>
                <a:tc>
                  <a:txBody>
                    <a:bodyPr/>
                    <a:lstStyle/>
                    <a:p>
                      <a:pPr marL="0" lvl="0" indent="0" algn="l">
                        <a:buNone/>
                      </a:pPr>
                      <a:r>
                        <a:rPr sz="1000"/>
                        <a:t>soil_phosphorus_stdev_0_20 (+)</a:t>
                      </a:r>
                    </a:p>
                  </a:txBody>
                  <a:tcPr/>
                </a:tc>
                <a:tc>
                  <a:txBody>
                    <a:bodyPr/>
                    <a:lstStyle/>
                    <a:p>
                      <a:pPr marL="0" lvl="0" indent="0" algn="l">
                        <a:buNone/>
                      </a:pPr>
                      <a:r>
                        <a:rPr sz="1000"/>
                        <a:t>SoilGrids / iSDA</a:t>
                      </a:r>
                    </a:p>
                  </a:txBody>
                  <a:tcPr/>
                </a:tc>
                <a:extLst>
                  <a:ext uri="{0D108BD9-81ED-4DB2-BD59-A6C34878D82A}">
                    <a16:rowId xmlns:a16="http://schemas.microsoft.com/office/drawing/2014/main" val="10002"/>
                  </a:ext>
                </a:extLst>
              </a:tr>
              <a:tr h="0">
                <a:tc>
                  <a:txBody>
                    <a:bodyPr/>
                    <a:lstStyle/>
                    <a:p>
                      <a:pPr marL="0" lvl="0" indent="0" algn="l">
                        <a:buNone/>
                      </a:pPr>
                      <a:r>
                        <a:rPr sz="1000"/>
                        <a:t>glw_ruminant_share (+)</a:t>
                      </a:r>
                    </a:p>
                  </a:txBody>
                  <a:tcPr/>
                </a:tc>
                <a:tc>
                  <a:txBody>
                    <a:bodyPr/>
                    <a:lstStyle/>
                    <a:p>
                      <a:pPr marL="0" lvl="0" indent="0" algn="l">
                        <a:buNone/>
                      </a:pPr>
                      <a:r>
                        <a:rPr sz="1000"/>
                        <a:t>Gridded Livestock of the World 4</a:t>
                      </a:r>
                    </a:p>
                  </a:txBody>
                  <a:tcPr/>
                </a:tc>
                <a:tc>
                  <a:txBody>
                    <a:bodyPr/>
                    <a:lstStyle/>
                    <a:p>
                      <a:pPr marL="0" lvl="0" indent="0" algn="l">
                        <a:buNone/>
                      </a:pPr>
                      <a:r>
                        <a:rPr sz="1000"/>
                        <a:t>wdist_coast_km_mean (+)</a:t>
                      </a:r>
                    </a:p>
                  </a:txBody>
                  <a:tcPr/>
                </a:tc>
                <a:tc>
                  <a:txBody>
                    <a:bodyPr/>
                    <a:lstStyle/>
                    <a:p>
                      <a:pPr marL="0" lvl="0" indent="0" algn="l">
                        <a:buNone/>
                      </a:pPr>
                      <a:r>
                        <a:rPr sz="1000"/>
                        <a:t>JRC Global Surface Water 1.4; USDOS LSIB 2017</a:t>
                      </a:r>
                    </a:p>
                  </a:txBody>
                  <a:tcPr/>
                </a:tc>
                <a:extLst>
                  <a:ext uri="{0D108BD9-81ED-4DB2-BD59-A6C34878D82A}">
                    <a16:rowId xmlns:a16="http://schemas.microsoft.com/office/drawing/2014/main" val="10003"/>
                  </a:ext>
                </a:extLst>
              </a:tr>
              <a:tr h="0">
                <a:tc>
                  <a:txBody>
                    <a:bodyPr/>
                    <a:lstStyle/>
                    <a:p>
                      <a:pPr marL="0" lvl="0" indent="0" algn="l">
                        <a:buNone/>
                      </a:pPr>
                      <a:r>
                        <a:rPr sz="1000"/>
                        <a:t>spam_share_roots (-)</a:t>
                      </a:r>
                    </a:p>
                  </a:txBody>
                  <a:tcPr/>
                </a:tc>
                <a:tc>
                  <a:txBody>
                    <a:bodyPr/>
                    <a:lstStyle/>
                    <a:p>
                      <a:pPr marL="0" lvl="0" indent="0" algn="l">
                        <a:buNone/>
                      </a:pPr>
                      <a:r>
                        <a:rPr sz="1000"/>
                        <a:t>MapSPAM</a:t>
                      </a:r>
                    </a:p>
                  </a:txBody>
                  <a:tcPr/>
                </a:tc>
                <a:tc>
                  <a:txBody>
                    <a:bodyPr/>
                    <a:lstStyle/>
                    <a:p>
                      <a:pPr marL="0" lvl="0" indent="0" algn="l">
                        <a:buNone/>
                      </a:pPr>
                      <a:r>
                        <a:rPr sz="1000"/>
                        <a:t>mics_c_fg_legumes (+)</a:t>
                      </a:r>
                    </a:p>
                  </a:txBody>
                  <a:tcPr/>
                </a:tc>
                <a:tc>
                  <a:txBody>
                    <a:bodyPr/>
                    <a:lstStyle/>
                    <a:p>
                      <a:pPr marL="0" lvl="0" indent="0" algn="l">
                        <a:buNone/>
                      </a:pPr>
                      <a:r>
                        <a:rPr sz="1000"/>
                        <a:t>MICS microdata</a:t>
                      </a:r>
                    </a:p>
                  </a:txBody>
                  <a:tcPr/>
                </a:tc>
                <a:extLst>
                  <a:ext uri="{0D108BD9-81ED-4DB2-BD59-A6C34878D82A}">
                    <a16:rowId xmlns:a16="http://schemas.microsoft.com/office/drawing/2014/main" val="10004"/>
                  </a:ext>
                </a:extLst>
              </a:tr>
              <a:tr h="0">
                <a:tc>
                  <a:txBody>
                    <a:bodyPr/>
                    <a:lstStyle/>
                    <a:p>
                      <a:pPr marL="0" lvl="0" indent="0" algn="l">
                        <a:buNone/>
                      </a:pPr>
                      <a:r>
                        <a:rPr sz="1000"/>
                        <a:t>fprice_staple_rel (-)</a:t>
                      </a:r>
                    </a:p>
                  </a:txBody>
                  <a:tcPr/>
                </a:tc>
                <a:tc>
                  <a:txBody>
                    <a:bodyPr/>
                    <a:lstStyle/>
                    <a:p>
                      <a:pPr marL="0" lvl="0" indent="0" algn="l">
                        <a:buNone/>
                      </a:pPr>
                      <a:r>
                        <a:rPr sz="1000"/>
                        <a:t>WFP / HDX market prices</a:t>
                      </a:r>
                    </a:p>
                  </a:txBody>
                  <a:tcPr/>
                </a:tc>
                <a:tc>
                  <a:txBody>
                    <a:bodyPr/>
                    <a:lstStyle/>
                    <a:p>
                      <a:pPr marL="0" lvl="0" indent="0" algn="l">
                        <a:buNone/>
                      </a:pPr>
                      <a:r>
                        <a:rPr sz="1000"/>
                        <a:t>wdist_coast_km_min (+)</a:t>
                      </a:r>
                    </a:p>
                  </a:txBody>
                  <a:tcPr/>
                </a:tc>
                <a:tc>
                  <a:txBody>
                    <a:bodyPr/>
                    <a:lstStyle/>
                    <a:p>
                      <a:pPr marL="0" lvl="0" indent="0" algn="l">
                        <a:buNone/>
                      </a:pPr>
                      <a:r>
                        <a:rPr sz="1000"/>
                        <a:t>JRC Global Surface Water 1.4; USDOS LSIB 2017</a:t>
                      </a:r>
                    </a:p>
                  </a:txBody>
                  <a:tcPr/>
                </a:tc>
                <a:extLst>
                  <a:ext uri="{0D108BD9-81ED-4DB2-BD59-A6C34878D82A}">
                    <a16:rowId xmlns:a16="http://schemas.microsoft.com/office/drawing/2014/main" val="10005"/>
                  </a:ext>
                </a:extLst>
              </a:tr>
              <a:tr h="0">
                <a:tc>
                  <a:txBody>
                    <a:bodyPr/>
                    <a:lstStyle/>
                    <a:p>
                      <a:pPr marL="0" lvl="0" indent="0" algn="l">
                        <a:buNone/>
                      </a:pPr>
                      <a:r>
                        <a:rPr sz="1000"/>
                        <a:t>map_sy_pf_mortality_rate (-)</a:t>
                      </a:r>
                    </a:p>
                  </a:txBody>
                  <a:tcPr/>
                </a:tc>
                <a:tc>
                  <a:txBody>
                    <a:bodyPr/>
                    <a:lstStyle/>
                    <a:p>
                      <a:pPr marL="0" lvl="0" indent="0" algn="l">
                        <a:buNone/>
                      </a:pPr>
                      <a:r>
                        <a:rPr sz="1000"/>
                        <a:t>Malaria Atlas Project</a:t>
                      </a:r>
                    </a:p>
                  </a:txBody>
                  <a:tcPr/>
                </a:tc>
                <a:tc>
                  <a:txBody>
                    <a:bodyPr/>
                    <a:lstStyle/>
                    <a:p>
                      <a:pPr marL="0" lvl="0" indent="0" algn="l">
                        <a:buNone/>
                      </a:pPr>
                      <a:r>
                        <a:rPr sz="1000"/>
                        <a:t>rwi_sd (-)</a:t>
                      </a:r>
                    </a:p>
                  </a:txBody>
                  <a:tcPr/>
                </a:tc>
                <a:tc>
                  <a:txBody>
                    <a:bodyPr/>
                    <a:lstStyle/>
                    <a:p>
                      <a:pPr marL="0" lvl="0" indent="0" algn="l">
                        <a:buNone/>
                      </a:pPr>
                      <a:r>
                        <a:rPr sz="1000"/>
                        <a:t>Meta/Data for Good RWI; WorldPop; CIESIN GPW v4.11</a:t>
                      </a:r>
                    </a:p>
                  </a:txBody>
                  <a:tcPr/>
                </a:tc>
                <a:extLst>
                  <a:ext uri="{0D108BD9-81ED-4DB2-BD59-A6C34878D82A}">
                    <a16:rowId xmlns:a16="http://schemas.microsoft.com/office/drawing/2014/main" val="10006"/>
                  </a:ext>
                </a:extLst>
              </a:tr>
              <a:tr h="0">
                <a:tc>
                  <a:txBody>
                    <a:bodyPr/>
                    <a:lstStyle/>
                    <a:p>
                      <a:pPr marL="0" lvl="0" indent="0" algn="l">
                        <a:buNone/>
                      </a:pPr>
                      <a:r>
                        <a:rPr sz="1000"/>
                        <a:t>glw_cattle_km2 (+)</a:t>
                      </a:r>
                    </a:p>
                  </a:txBody>
                  <a:tcPr/>
                </a:tc>
                <a:tc>
                  <a:txBody>
                    <a:bodyPr/>
                    <a:lstStyle/>
                    <a:p>
                      <a:pPr marL="0" lvl="0" indent="0" algn="l">
                        <a:buNone/>
                      </a:pPr>
                      <a:r>
                        <a:rPr sz="1000"/>
                        <a:t>Gridded Livestock of the World 4</a:t>
                      </a:r>
                    </a:p>
                  </a:txBody>
                  <a:tcPr/>
                </a:tc>
                <a:tc>
                  <a:txBody>
                    <a:bodyPr/>
                    <a:lstStyle/>
                    <a:p>
                      <a:pPr marL="0" lvl="0" indent="0" algn="l">
                        <a:buNone/>
                      </a:pPr>
                      <a:r>
                        <a:rPr sz="1000"/>
                        <a:t>ihme_simpother (-)</a:t>
                      </a:r>
                    </a:p>
                  </a:txBody>
                  <a:tcPr/>
                </a:tc>
                <a:tc>
                  <a:txBody>
                    <a:bodyPr/>
                    <a:lstStyle/>
                    <a:p>
                      <a:pPr marL="0" lvl="0" indent="0" algn="l">
                        <a:buNone/>
                      </a:pPr>
                      <a:r>
                        <a:rPr sz="1000"/>
                        <a:t>IHME</a:t>
                      </a:r>
                    </a:p>
                  </a:txBody>
                  <a:tcPr/>
                </a:tc>
                <a:extLst>
                  <a:ext uri="{0D108BD9-81ED-4DB2-BD59-A6C34878D82A}">
                    <a16:rowId xmlns:a16="http://schemas.microsoft.com/office/drawing/2014/main" val="10007"/>
                  </a:ext>
                </a:extLst>
              </a:tr>
              <a:tr h="0">
                <a:tc>
                  <a:txBody>
                    <a:bodyPr/>
                    <a:lstStyle/>
                    <a:p>
                      <a:pPr marL="0" lvl="0" indent="0" algn="l">
                        <a:buNone/>
                      </a:pPr>
                      <a:r>
                        <a:rPr sz="1000"/>
                        <a:t>lcover_crops_frac_t0 (+)</a:t>
                      </a:r>
                    </a:p>
                  </a:txBody>
                  <a:tcPr/>
                </a:tc>
                <a:tc>
                  <a:txBody>
                    <a:bodyPr/>
                    <a:lstStyle/>
                    <a:p>
                      <a:pPr marL="0" lvl="0" indent="0" algn="l">
                        <a:buNone/>
                      </a:pPr>
                      <a:r>
                        <a:rPr sz="1000"/>
                        <a:t>GEE</a:t>
                      </a:r>
                    </a:p>
                  </a:txBody>
                  <a:tcPr/>
                </a:tc>
                <a:tc>
                  <a:txBody>
                    <a:bodyPr/>
                    <a:lstStyle/>
                    <a:p>
                      <a:pPr marL="0" lvl="0" indent="0" algn="l">
                        <a:buNone/>
                      </a:pPr>
                      <a:r>
                        <a:rPr sz="1000"/>
                        <a:t>npp_npp_t0 (-)</a:t>
                      </a:r>
                    </a:p>
                  </a:txBody>
                  <a:tcPr/>
                </a:tc>
                <a:tc>
                  <a:txBody>
                    <a:bodyPr/>
                    <a:lstStyle/>
                    <a:p>
                      <a:pPr marL="0" lvl="0" indent="0" algn="l">
                        <a:buNone/>
                      </a:pPr>
                      <a:r>
                        <a:rPr sz="1000"/>
                        <a:t>GEE</a:t>
                      </a:r>
                    </a:p>
                  </a:txBody>
                  <a:tcPr/>
                </a:tc>
                <a:extLst>
                  <a:ext uri="{0D108BD9-81ED-4DB2-BD59-A6C34878D82A}">
                    <a16:rowId xmlns:a16="http://schemas.microsoft.com/office/drawing/2014/main" val="10008"/>
                  </a:ext>
                </a:extLst>
              </a:tr>
              <a:tr h="0">
                <a:tc>
                  <a:txBody>
                    <a:bodyPr/>
                    <a:lstStyle/>
                    <a:p>
                      <a:pPr marL="0" lvl="0" indent="0" algn="l">
                        <a:buNone/>
                      </a:pPr>
                      <a:r>
                        <a:rPr sz="1000"/>
                        <a:t>mics_c_fg_vita_fv (+)</a:t>
                      </a:r>
                    </a:p>
                  </a:txBody>
                  <a:tcPr/>
                </a:tc>
                <a:tc>
                  <a:txBody>
                    <a:bodyPr/>
                    <a:lstStyle/>
                    <a:p>
                      <a:pPr marL="0" lvl="0" indent="0" algn="l">
                        <a:buNone/>
                      </a:pPr>
                      <a:r>
                        <a:rPr sz="1000"/>
                        <a:t>MICS microdata</a:t>
                      </a:r>
                    </a:p>
                  </a:txBody>
                  <a:tcPr/>
                </a:tc>
                <a:tc>
                  <a:txBody>
                    <a:bodyPr/>
                    <a:lstStyle/>
                    <a:p>
                      <a:pPr marL="0" lvl="0" indent="0" algn="l">
                        <a:buNone/>
                      </a:pPr>
                      <a:r>
                        <a:rPr sz="1000"/>
                        <a:t>wpop_dependency_ratio (+)</a:t>
                      </a:r>
                    </a:p>
                  </a:txBody>
                  <a:tcPr/>
                </a:tc>
                <a:tc>
                  <a:txBody>
                    <a:bodyPr/>
                    <a:lstStyle/>
                    <a:p>
                      <a:pPr marL="0" lvl="0" indent="0" algn="l">
                        <a:buNone/>
                      </a:pPr>
                      <a:r>
                        <a:rPr sz="1000"/>
                        <a:t>WorldPop age-sex / JRC GHS-SMOD</a:t>
                      </a:r>
                    </a:p>
                  </a:txBody>
                  <a:tcPr/>
                </a:tc>
                <a:extLst>
                  <a:ext uri="{0D108BD9-81ED-4DB2-BD59-A6C34878D82A}">
                    <a16:rowId xmlns:a16="http://schemas.microsoft.com/office/drawing/2014/main" val="10009"/>
                  </a:ext>
                </a:extLst>
              </a:tr>
              <a:tr h="0">
                <a:tc>
                  <a:txBody>
                    <a:bodyPr/>
                    <a:lstStyle/>
                    <a:p>
                      <a:pPr marL="0" lvl="0" indent="0" algn="l">
                        <a:buNone/>
                      </a:pPr>
                      <a:r>
                        <a:rPr sz="1000"/>
                        <a:t>map_sy_pf_reproductive_number (-)</a:t>
                      </a:r>
                    </a:p>
                  </a:txBody>
                  <a:tcPr/>
                </a:tc>
                <a:tc>
                  <a:txBody>
                    <a:bodyPr/>
                    <a:lstStyle/>
                    <a:p>
                      <a:pPr marL="0" lvl="0" indent="0" algn="l">
                        <a:buNone/>
                      </a:pPr>
                      <a:r>
                        <a:rPr sz="1000"/>
                        <a:t>Malaria Atlas Project</a:t>
                      </a:r>
                    </a:p>
                  </a:txBody>
                  <a:tcPr/>
                </a:tc>
                <a:tc>
                  <a:txBody>
                    <a:bodyPr/>
                    <a:lstStyle/>
                    <a:p>
                      <a:pPr marL="0" lvl="0" indent="0" algn="l">
                        <a:buNone/>
                      </a:pPr>
                      <a:r>
                        <a:rPr sz="1000"/>
                        <a:t>npp_gpp_t0 (-)</a:t>
                      </a:r>
                    </a:p>
                  </a:txBody>
                  <a:tcPr/>
                </a:tc>
                <a:tc>
                  <a:txBody>
                    <a:bodyPr/>
                    <a:lstStyle/>
                    <a:p>
                      <a:pPr marL="0" lvl="0" indent="0" algn="l">
                        <a:buNone/>
                      </a:pPr>
                      <a:r>
                        <a:rPr sz="1000"/>
                        <a:t>GEE</a:t>
                      </a:r>
                    </a:p>
                  </a:txBody>
                  <a:tcPr/>
                </a:tc>
                <a:extLst>
                  <a:ext uri="{0D108BD9-81ED-4DB2-BD59-A6C34878D82A}">
                    <a16:rowId xmlns:a16="http://schemas.microsoft.com/office/drawing/2014/main" val="10010"/>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80</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Urbanicity conditioning</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Transported Spearman of the climate-and-soil index at district level (0.38), the same after partialling out an urbanicity composite (0.36), and urbanicity alone (-0.07).</a:t>
            </a:r>
          </a:p>
        </p:txBody>
      </p:sp>
      <p:pic>
        <p:nvPicPr>
          <p:cNvPr id="4" name="Picture 1" descr="MN-proxy-full-talk-2026-09_files/figure-pptx/urban-1.png"/>
          <p:cNvPicPr>
            <a:picLocks noGrp="1" noChangeAspect="1"/>
          </p:cNvPicPr>
          <p:nvPr/>
        </p:nvPicPr>
        <p:blipFill>
          <a:blip r:embed="rId3"/>
          <a:stretch>
            <a:fillRect/>
          </a:stretch>
        </p:blipFill>
        <p:spPr bwMode="auto">
          <a:xfrm>
            <a:off x="411480" y="1645920"/>
            <a:ext cx="6766560" cy="4660302"/>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81</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Add-on predictor blocks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Median change in Spearman when a block is added to the base vocabulary, in-fill and district transport on the biomarker level, scored under one harness with the same folds.</a:t>
            </a:r>
          </a:p>
        </p:txBody>
      </p:sp>
      <p:pic>
        <p:nvPicPr>
          <p:cNvPr id="4" name="Picture 1" descr="MN-proxy-full-talk-2026-09_files/figure-pptx/addons-1.png"/>
          <p:cNvPicPr>
            <a:picLocks noGrp="1" noChangeAspect="1"/>
          </p:cNvPicPr>
          <p:nvPr/>
        </p:nvPicPr>
        <p:blipFill>
          <a:blip r:embed="rId3"/>
          <a:stretch>
            <a:fillRect/>
          </a:stretch>
        </p:blipFill>
        <p:spPr bwMode="auto">
          <a:xfrm>
            <a:off x="411480" y="1645920"/>
            <a:ext cx="6766560" cy="560563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82</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Cluster-level fitting</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The same index fitted at the survey cluster and aggregated to districts, against the district fit, on the same outcome-country combinations. In-fill on the level: 0.38 cluster-fitted against 0.40 district-fitted.</a:t>
            </a:r>
          </a:p>
        </p:txBody>
      </p:sp>
      <p:pic>
        <p:nvPicPr>
          <p:cNvPr id="4" name="Picture 1" descr="MN-proxy-full-talk-2026-09_files/figure-pptx/cluster-1.png"/>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83</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Risk-class accuracy</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Share of districts placed in the correct WHO vitamin A band (under 2%, 2 to 10, 10 to 20, 20 or more), and within one band, mean over the vitamin A outcome-country combinations. The index in-fill: 64% exact and 91% within one band.</a:t>
            </a:r>
          </a:p>
        </p:txBody>
      </p:sp>
      <p:pic>
        <p:nvPicPr>
          <p:cNvPr id="4" name="Picture 1" descr="MN-proxy-full-talk-2026-09_files/figure-pptx/riskcat-1.png"/>
          <p:cNvPicPr>
            <a:picLocks noGrp="1" noChangeAspect="1"/>
          </p:cNvPicPr>
          <p:nvPr/>
        </p:nvPicPr>
        <p:blipFill>
          <a:blip r:embed="rId3"/>
          <a:stretch>
            <a:fillRect/>
          </a:stretch>
        </p:blipFill>
        <p:spPr bwMode="auto">
          <a:xfrm>
            <a:off x="411480" y="1645920"/>
            <a:ext cx="6766560" cy="514125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84</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LSMS and FluNet predictors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Ghana in-fill on the biomarker level with the base vocabulary, the base plus the LSMS block, and the LSMS block alone, median over ten draws.</a:t>
            </a:r>
          </a:p>
        </p:txBody>
      </p:sp>
      <p:pic>
        <p:nvPicPr>
          <p:cNvPr id="4" name="Picture 1" descr="MN-proxy-full-talk-2026-09_files/figure-pptx/lsms-1.png"/>
          <p:cNvPicPr>
            <a:picLocks noGrp="1" noChangeAspect="1"/>
          </p:cNvPicPr>
          <p:nvPr/>
        </p:nvPicPr>
        <p:blipFill>
          <a:blip r:embed="rId3"/>
          <a:stretch>
            <a:fillRect/>
          </a:stretch>
        </p:blipFill>
        <p:spPr bwMode="auto">
          <a:xfrm>
            <a:off x="411480" y="1645920"/>
            <a:ext cx="6766560" cy="4892488"/>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85</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marL="0" lvl="0" indent="0">
              <a:buNone/>
            </a:pPr>
            <a:r>
              <a:t>Individual-level models</a:t>
            </a:r>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7360920" y="1645920"/>
            <a:ext cx="4434840" cy="4572000"/>
          </a:xfrm>
        </p:spPr>
        <p:txBody>
          <a:bodyPr/>
          <a:lstStyle/>
          <a:p>
            <a:pPr marL="0" lvl="0" indent="0">
              <a:buNone/>
            </a:pPr>
            <a:r>
              <a:rPr sz="1800"/>
              <a:t>Person-level SuperLearner under district-blocked folds, Brier skill over the national prevalence, by country and outcome. Mean AUC over 18 outcome-country combinations: 0.52 for survey variables, 0.50 for district proxies, 0.53 for both.</a:t>
            </a:r>
          </a:p>
        </p:txBody>
      </p:sp>
      <p:pic>
        <p:nvPicPr>
          <p:cNvPr id="4" name="Picture 1" descr="MN-proxy-full-talk-2026-09_files/figure-pptx/individual-1.png"/>
          <p:cNvPicPr>
            <a:picLocks noGrp="1" noChangeAspect="1"/>
          </p:cNvPicPr>
          <p:nvPr/>
        </p:nvPicPr>
        <p:blipFill>
          <a:blip r:embed="rId3"/>
          <a:stretch>
            <a:fillRect/>
          </a:stretch>
        </p:blipFill>
        <p:spPr bwMode="auto">
          <a:xfrm>
            <a:off x="411480" y="1645920"/>
            <a:ext cx="6766560" cy="5373444"/>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86</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extLst>
                    <a:ext uri="{9D8B030D-6E8A-4147-A177-3AD203B41FA5}">
                      <a16:colId xmlns:a16="http://schemas.microsoft.com/office/drawing/2014/main" val="20000"/>
                    </a:ext>
                  </a:extLst>
                </a:gridCol>
                <a:gridCol w="1219200">
                  <a:extLst>
                    <a:ext uri="{9D8B030D-6E8A-4147-A177-3AD203B41FA5}">
                      <a16:colId xmlns:a16="http://schemas.microsoft.com/office/drawing/2014/main" val="20001"/>
                    </a:ext>
                  </a:extLst>
                </a:gridCol>
                <a:gridCol w="1955800">
                  <a:extLst>
                    <a:ext uri="{9D8B030D-6E8A-4147-A177-3AD203B41FA5}">
                      <a16:colId xmlns:a16="http://schemas.microsoft.com/office/drawing/2014/main" val="20002"/>
                    </a:ext>
                  </a:extLst>
                </a:gridCol>
                <a:gridCol w="2082800">
                  <a:extLst>
                    <a:ext uri="{9D8B030D-6E8A-4147-A177-3AD203B41FA5}">
                      <a16:colId xmlns:a16="http://schemas.microsoft.com/office/drawing/2014/main" val="20003"/>
                    </a:ext>
                  </a:extLst>
                </a:gridCol>
                <a:gridCol w="3060700">
                  <a:extLst>
                    <a:ext uri="{9D8B030D-6E8A-4147-A177-3AD203B41FA5}">
                      <a16:colId xmlns:a16="http://schemas.microsoft.com/office/drawing/2014/main" val="20004"/>
                    </a:ext>
                  </a:extLst>
                </a:gridCol>
              </a:tblGrid>
              <a:tr h="0">
                <a:tc>
                  <a:txBody>
                    <a:bodyPr/>
                    <a:lstStyle/>
                    <a:p>
                      <a:pPr marL="0" lvl="0" indent="0" algn="l">
                        <a:buNone/>
                      </a:pPr>
                      <a:r>
                        <a:rPr sz="1000"/>
                        <a:t>Outcome</a:t>
                      </a:r>
                    </a:p>
                  </a:txBody>
                  <a:tcPr/>
                </a:tc>
                <a:tc>
                  <a:txBody>
                    <a:bodyPr/>
                    <a:lstStyle/>
                    <a:p>
                      <a:pPr marL="0" lvl="0" indent="0" algn="r">
                        <a:buNone/>
                      </a:pPr>
                      <a:r>
                        <a:rPr sz="1000"/>
                        <a:t>Countries</a:t>
                      </a:r>
                    </a:p>
                  </a:txBody>
                  <a:tcPr/>
                </a:tc>
                <a:tc>
                  <a:txBody>
                    <a:bodyPr/>
                    <a:lstStyle/>
                    <a:p>
                      <a:pPr marL="0" lvl="0" indent="0" algn="r">
                        <a:buNone/>
                      </a:pPr>
                      <a:r>
                        <a:rPr sz="1000"/>
                        <a:t>Observed (mean)</a:t>
                      </a:r>
                    </a:p>
                  </a:txBody>
                  <a:tcPr/>
                </a:tc>
                <a:tc>
                  <a:txBody>
                    <a:bodyPr/>
                    <a:lstStyle/>
                    <a:p>
                      <a:pPr marL="0" lvl="0" indent="0" algn="r">
                        <a:buNone/>
                      </a:pPr>
                      <a:r>
                        <a:rPr sz="1000"/>
                        <a:t>Predicted (mean)</a:t>
                      </a:r>
                    </a:p>
                  </a:txBody>
                  <a:tcPr/>
                </a:tc>
                <a:tc>
                  <a:txBody>
                    <a:bodyPr/>
                    <a:lstStyle/>
                    <a:p>
                      <a:pPr marL="0" lvl="0" indent="0" algn="r">
                        <a:buNone/>
                      </a:pPr>
                      <a:r>
                        <a:rPr sz="1000"/>
                        <a:t>Mean absolute error (pp)</a:t>
                      </a:r>
                    </a:p>
                  </a:txBody>
                  <a:tcPr/>
                </a:tc>
                <a:extLst>
                  <a:ext uri="{0D108BD9-81ED-4DB2-BD59-A6C34878D82A}">
                    <a16:rowId xmlns:a16="http://schemas.microsoft.com/office/drawing/2014/main" val="10000"/>
                  </a:ext>
                </a:extLst>
              </a:tr>
              <a:tr h="0">
                <a:tc>
                  <a:txBody>
                    <a:bodyPr/>
                    <a:lstStyle/>
                    <a:p>
                      <a:pPr marL="0" lvl="0" indent="0" algn="l">
                        <a:buNone/>
                      </a:pPr>
                      <a:r>
                        <a:rPr sz="1000"/>
                        <a:t>Child iron</a:t>
                      </a:r>
                    </a:p>
                  </a:txBody>
                  <a:tcPr/>
                </a:tc>
                <a:tc>
                  <a:txBody>
                    <a:bodyPr/>
                    <a:lstStyle/>
                    <a:p>
                      <a:pPr marL="0" lvl="0" indent="0" algn="r">
                        <a:buNone/>
                      </a:pPr>
                      <a:r>
                        <a:rPr sz="1000"/>
                        <a:t>4</a:t>
                      </a:r>
                    </a:p>
                  </a:txBody>
                  <a:tcPr/>
                </a:tc>
                <a:tc>
                  <a:txBody>
                    <a:bodyPr/>
                    <a:lstStyle/>
                    <a:p>
                      <a:pPr marL="0" lvl="0" indent="0" algn="r">
                        <a:buNone/>
                      </a:pPr>
                      <a:r>
                        <a:rPr sz="1000"/>
                        <a:t>0.19</a:t>
                      </a:r>
                    </a:p>
                  </a:txBody>
                  <a:tcPr/>
                </a:tc>
                <a:tc>
                  <a:txBody>
                    <a:bodyPr/>
                    <a:lstStyle/>
                    <a:p>
                      <a:pPr marL="0" lvl="0" indent="0" algn="r">
                        <a:buNone/>
                      </a:pPr>
                      <a:r>
                        <a:rPr sz="1000"/>
                        <a:t>0.21</a:t>
                      </a:r>
                    </a:p>
                  </a:txBody>
                  <a:tcPr/>
                </a:tc>
                <a:tc>
                  <a:txBody>
                    <a:bodyPr/>
                    <a:lstStyle/>
                    <a:p>
                      <a:pPr marL="0" lvl="0" indent="0" algn="r">
                        <a:buNone/>
                      </a:pPr>
                      <a:r>
                        <a:rPr sz="1000"/>
                        <a:t>2.09</a:t>
                      </a:r>
                    </a:p>
                  </a:txBody>
                  <a:tcPr/>
                </a:tc>
                <a:extLst>
                  <a:ext uri="{0D108BD9-81ED-4DB2-BD59-A6C34878D82A}">
                    <a16:rowId xmlns:a16="http://schemas.microsoft.com/office/drawing/2014/main" val="10001"/>
                  </a:ext>
                </a:extLst>
              </a:tr>
              <a:tr h="0">
                <a:tc>
                  <a:txBody>
                    <a:bodyPr/>
                    <a:lstStyle/>
                    <a:p>
                      <a:pPr marL="0" lvl="0" indent="0" algn="l">
                        <a:buNone/>
                      </a:pPr>
                      <a:r>
                        <a:rPr sz="1000"/>
                        <a:t>Child vitamin A</a:t>
                      </a:r>
                    </a:p>
                  </a:txBody>
                  <a:tcPr/>
                </a:tc>
                <a:tc>
                  <a:txBody>
                    <a:bodyPr/>
                    <a:lstStyle/>
                    <a:p>
                      <a:pPr marL="0" lvl="0" indent="0" algn="r">
                        <a:buNone/>
                      </a:pPr>
                      <a:r>
                        <a:rPr sz="1000"/>
                        <a:t>4</a:t>
                      </a:r>
                    </a:p>
                  </a:txBody>
                  <a:tcPr/>
                </a:tc>
                <a:tc>
                  <a:txBody>
                    <a:bodyPr/>
                    <a:lstStyle/>
                    <a:p>
                      <a:pPr marL="0" lvl="0" indent="0" algn="r">
                        <a:buNone/>
                      </a:pPr>
                      <a:r>
                        <a:rPr sz="1000"/>
                        <a:t>0.14</a:t>
                      </a:r>
                    </a:p>
                  </a:txBody>
                  <a:tcPr/>
                </a:tc>
                <a:tc>
                  <a:txBody>
                    <a:bodyPr/>
                    <a:lstStyle/>
                    <a:p>
                      <a:pPr marL="0" lvl="0" indent="0" algn="r">
                        <a:buNone/>
                      </a:pPr>
                      <a:r>
                        <a:rPr sz="1000"/>
                        <a:t>0.14</a:t>
                      </a:r>
                    </a:p>
                  </a:txBody>
                  <a:tcPr/>
                </a:tc>
                <a:tc>
                  <a:txBody>
                    <a:bodyPr/>
                    <a:lstStyle/>
                    <a:p>
                      <a:pPr marL="0" lvl="0" indent="0" algn="r">
                        <a:buNone/>
                      </a:pPr>
                      <a:r>
                        <a:rPr sz="1000"/>
                        <a:t>0.94</a:t>
                      </a:r>
                    </a:p>
                  </a:txBody>
                  <a:tcPr/>
                </a:tc>
                <a:extLst>
                  <a:ext uri="{0D108BD9-81ED-4DB2-BD59-A6C34878D82A}">
                    <a16:rowId xmlns:a16="http://schemas.microsoft.com/office/drawing/2014/main" val="10002"/>
                  </a:ext>
                </a:extLst>
              </a:tr>
              <a:tr h="0">
                <a:tc>
                  <a:txBody>
                    <a:bodyPr/>
                    <a:lstStyle/>
                    <a:p>
                      <a:pPr marL="0" lvl="0" indent="0" algn="l">
                        <a:buNone/>
                      </a:pPr>
                      <a:r>
                        <a:rPr sz="1000"/>
                        <a:t>Women’s iron</a:t>
                      </a:r>
                    </a:p>
                  </a:txBody>
                  <a:tcPr/>
                </a:tc>
                <a:tc>
                  <a:txBody>
                    <a:bodyPr/>
                    <a:lstStyle/>
                    <a:p>
                      <a:pPr marL="0" lvl="0" indent="0" algn="r">
                        <a:buNone/>
                      </a:pPr>
                      <a:r>
                        <a:rPr sz="1000"/>
                        <a:t>4</a:t>
                      </a:r>
                    </a:p>
                  </a:txBody>
                  <a:tcPr/>
                </a:tc>
                <a:tc>
                  <a:txBody>
                    <a:bodyPr/>
                    <a:lstStyle/>
                    <a:p>
                      <a:pPr marL="0" lvl="0" indent="0" algn="r">
                        <a:buNone/>
                      </a:pPr>
                      <a:r>
                        <a:rPr sz="1000"/>
                        <a:t>0.14</a:t>
                      </a:r>
                    </a:p>
                  </a:txBody>
                  <a:tcPr/>
                </a:tc>
                <a:tc>
                  <a:txBody>
                    <a:bodyPr/>
                    <a:lstStyle/>
                    <a:p>
                      <a:pPr marL="0" lvl="0" indent="0" algn="r">
                        <a:buNone/>
                      </a:pPr>
                      <a:r>
                        <a:rPr sz="1000"/>
                        <a:t>0.14</a:t>
                      </a:r>
                    </a:p>
                  </a:txBody>
                  <a:tcPr/>
                </a:tc>
                <a:tc>
                  <a:txBody>
                    <a:bodyPr/>
                    <a:lstStyle/>
                    <a:p>
                      <a:pPr marL="0" lvl="0" indent="0" algn="r">
                        <a:buNone/>
                      </a:pPr>
                      <a:r>
                        <a:rPr sz="1000"/>
                        <a:t>0.63</a:t>
                      </a:r>
                    </a:p>
                  </a:txBody>
                  <a:tcPr/>
                </a:tc>
                <a:extLst>
                  <a:ext uri="{0D108BD9-81ED-4DB2-BD59-A6C34878D82A}">
                    <a16:rowId xmlns:a16="http://schemas.microsoft.com/office/drawing/2014/main" val="10003"/>
                  </a:ext>
                </a:extLst>
              </a:tr>
              <a:tr h="0">
                <a:tc>
                  <a:txBody>
                    <a:bodyPr/>
                    <a:lstStyle/>
                    <a:p>
                      <a:pPr marL="0" lvl="0" indent="0" algn="l">
                        <a:buNone/>
                      </a:pPr>
                      <a:r>
                        <a:rPr sz="1000"/>
                        <a:t>Women’s vitamin A</a:t>
                      </a:r>
                    </a:p>
                  </a:txBody>
                  <a:tcPr/>
                </a:tc>
                <a:tc>
                  <a:txBody>
                    <a:bodyPr/>
                    <a:lstStyle/>
                    <a:p>
                      <a:pPr marL="0" lvl="0" indent="0" algn="r">
                        <a:buNone/>
                      </a:pPr>
                      <a:r>
                        <a:rPr sz="1000"/>
                        <a:t>4</a:t>
                      </a:r>
                    </a:p>
                  </a:txBody>
                  <a:tcPr/>
                </a:tc>
                <a:tc>
                  <a:txBody>
                    <a:bodyPr/>
                    <a:lstStyle/>
                    <a:p>
                      <a:pPr marL="0" lvl="0" indent="0" algn="r">
                        <a:buNone/>
                      </a:pPr>
                      <a:r>
                        <a:rPr sz="1000"/>
                        <a:t>0.02</a:t>
                      </a:r>
                    </a:p>
                  </a:txBody>
                  <a:tcPr/>
                </a:tc>
                <a:tc>
                  <a:txBody>
                    <a:bodyPr/>
                    <a:lstStyle/>
                    <a:p>
                      <a:pPr marL="0" lvl="0" indent="0" algn="r">
                        <a:buNone/>
                      </a:pPr>
                      <a:r>
                        <a:rPr sz="1000"/>
                        <a:t>0.02</a:t>
                      </a:r>
                    </a:p>
                  </a:txBody>
                  <a:tcPr/>
                </a:tc>
                <a:tc>
                  <a:txBody>
                    <a:bodyPr/>
                    <a:lstStyle/>
                    <a:p>
                      <a:pPr marL="0" lvl="0" indent="0" algn="r">
                        <a:buNone/>
                      </a:pPr>
                      <a:r>
                        <a:rPr sz="1000"/>
                        <a:t>0.23</a:t>
                      </a:r>
                    </a:p>
                  </a:txBody>
                  <a:tcPr/>
                </a:tc>
                <a:extLst>
                  <a:ext uri="{0D108BD9-81ED-4DB2-BD59-A6C34878D82A}">
                    <a16:rowId xmlns:a16="http://schemas.microsoft.com/office/drawing/2014/main" val="10004"/>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87</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6383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gridCol w="1714500">
                  <a:extLst>
                    <a:ext uri="{9D8B030D-6E8A-4147-A177-3AD203B41FA5}">
                      <a16:colId xmlns:a16="http://schemas.microsoft.com/office/drawing/2014/main" val="20004"/>
                    </a:ext>
                  </a:extLst>
                </a:gridCol>
                <a:gridCol w="2032000">
                  <a:extLst>
                    <a:ext uri="{9D8B030D-6E8A-4147-A177-3AD203B41FA5}">
                      <a16:colId xmlns:a16="http://schemas.microsoft.com/office/drawing/2014/main" val="20005"/>
                    </a:ext>
                  </a:extLst>
                </a:gridCol>
              </a:tblGrid>
              <a:tr h="0">
                <a:tc>
                  <a:txBody>
                    <a:bodyPr/>
                    <a:lstStyle/>
                    <a:p>
                      <a:pPr marL="0" lvl="0" indent="0" algn="l">
                        <a:buNone/>
                      </a:pPr>
                      <a:r>
                        <a:rPr sz="1000"/>
                        <a:t>Model</a:t>
                      </a:r>
                    </a:p>
                  </a:txBody>
                  <a:tcPr/>
                </a:tc>
                <a:tc>
                  <a:txBody>
                    <a:bodyPr/>
                    <a:lstStyle/>
                    <a:p>
                      <a:pPr marL="0" lvl="0" indent="0" algn="l">
                        <a:buNone/>
                      </a:pPr>
                      <a:r>
                        <a:rPr sz="1000"/>
                        <a:t>Gambia UIC &lt; 100, in-fill</a:t>
                      </a:r>
                    </a:p>
                  </a:txBody>
                  <a:tcPr/>
                </a:tc>
                <a:tc>
                  <a:txBody>
                    <a:bodyPr/>
                    <a:lstStyle/>
                    <a:p>
                      <a:pPr marL="0" lvl="0" indent="0" algn="l">
                        <a:buNone/>
                      </a:pPr>
                      <a:r>
                        <a:rPr sz="1000"/>
                        <a:t>Gambia UIC &lt; 100, region</a:t>
                      </a:r>
                    </a:p>
                  </a:txBody>
                  <a:tcPr/>
                </a:tc>
                <a:tc>
                  <a:txBody>
                    <a:bodyPr/>
                    <a:lstStyle/>
                    <a:p>
                      <a:pPr marL="0" lvl="0" indent="0" algn="l">
                        <a:buNone/>
                      </a:pPr>
                      <a:r>
                        <a:rPr sz="1000"/>
                        <a:t>Gambia median UIC, in-fill</a:t>
                      </a:r>
                    </a:p>
                  </a:txBody>
                  <a:tcPr/>
                </a:tc>
                <a:tc>
                  <a:txBody>
                    <a:bodyPr/>
                    <a:lstStyle/>
                    <a:p>
                      <a:pPr marL="0" lvl="0" indent="0" algn="l">
                        <a:buNone/>
                      </a:pPr>
                      <a:r>
                        <a:rPr sz="1000"/>
                        <a:t>Gambia median UIC, region</a:t>
                      </a:r>
                    </a:p>
                  </a:txBody>
                  <a:tcPr/>
                </a:tc>
                <a:tc>
                  <a:txBody>
                    <a:bodyPr/>
                    <a:lstStyle/>
                    <a:p>
                      <a:pPr marL="0" lvl="0" indent="0" algn="l">
                        <a:buNone/>
                      </a:pPr>
                      <a:r>
                        <a:rPr sz="1000"/>
                        <a:t>Sierra Leone UIC &lt; 100, region</a:t>
                      </a:r>
                    </a:p>
                  </a:txBody>
                  <a:tcPr/>
                </a:tc>
                <a:extLst>
                  <a:ext uri="{0D108BD9-81ED-4DB2-BD59-A6C34878D82A}">
                    <a16:rowId xmlns:a16="http://schemas.microsoft.com/office/drawing/2014/main" val="10000"/>
                  </a:ext>
                </a:extLst>
              </a:tr>
              <a:tr h="0">
                <a:tc>
                  <a:txBody>
                    <a:bodyPr/>
                    <a:lstStyle/>
                    <a:p>
                      <a:pPr marL="0" lvl="0" indent="0" algn="l">
                        <a:buNone/>
                      </a:pPr>
                      <a:r>
                        <a:rPr sz="1000"/>
                        <a:t>Training mean</a:t>
                      </a:r>
                    </a:p>
                  </a:txBody>
                  <a:tcPr/>
                </a:tc>
                <a:tc>
                  <a:txBody>
                    <a:bodyPr/>
                    <a:lstStyle/>
                    <a:p>
                      <a:pPr marL="0" lvl="0" indent="0" algn="l">
                        <a:buNone/>
                      </a:pPr>
                      <a:r>
                        <a:rPr sz="1000"/>
                        <a:t>-0.31</a:t>
                      </a:r>
                    </a:p>
                  </a:txBody>
                  <a:tcPr/>
                </a:tc>
                <a:tc>
                  <a:txBody>
                    <a:bodyPr/>
                    <a:lstStyle/>
                    <a:p>
                      <a:pPr marL="0" lvl="0" indent="0" algn="l">
                        <a:buNone/>
                      </a:pPr>
                      <a:r>
                        <a:rPr sz="1000"/>
                        <a:t>-0.55</a:t>
                      </a:r>
                    </a:p>
                  </a:txBody>
                  <a:tcPr/>
                </a:tc>
                <a:tc>
                  <a:txBody>
                    <a:bodyPr/>
                    <a:lstStyle/>
                    <a:p>
                      <a:pPr marL="0" lvl="0" indent="0" algn="l">
                        <a:buNone/>
                      </a:pPr>
                      <a:r>
                        <a:rPr sz="1000"/>
                        <a:t>-0.29</a:t>
                      </a:r>
                    </a:p>
                  </a:txBody>
                  <a:tcPr/>
                </a:tc>
                <a:tc>
                  <a:txBody>
                    <a:bodyPr/>
                    <a:lstStyle/>
                    <a:p>
                      <a:pPr marL="0" lvl="0" indent="0" algn="l">
                        <a:buNone/>
                      </a:pPr>
                      <a:r>
                        <a:rPr sz="1000"/>
                        <a:t>-0.60</a:t>
                      </a:r>
                    </a:p>
                  </a:txBody>
                  <a:tcPr/>
                </a:tc>
                <a:tc>
                  <a:txBody>
                    <a:bodyPr/>
                    <a:lstStyle/>
                    <a:p>
                      <a:pPr marL="0" lvl="0" indent="0" algn="l">
                        <a:buNone/>
                      </a:pPr>
                      <a:r>
                        <a:rPr sz="1000"/>
                        <a:t>-0.34</a:t>
                      </a:r>
                    </a:p>
                  </a:txBody>
                  <a:tcPr/>
                </a:tc>
                <a:extLst>
                  <a:ext uri="{0D108BD9-81ED-4DB2-BD59-A6C34878D82A}">
                    <a16:rowId xmlns:a16="http://schemas.microsoft.com/office/drawing/2014/main" val="10001"/>
                  </a:ext>
                </a:extLst>
              </a:tr>
              <a:tr h="0">
                <a:tc>
                  <a:txBody>
                    <a:bodyPr/>
                    <a:lstStyle/>
                    <a:p>
                      <a:pPr marL="0" lvl="0" indent="0" algn="l">
                        <a:buNone/>
                      </a:pPr>
                      <a:r>
                        <a:rPr sz="1000"/>
                        <a:t>Jackknifed regional mean</a:t>
                      </a:r>
                    </a:p>
                  </a:txBody>
                  <a:tcPr/>
                </a:tc>
                <a:tc>
                  <a:txBody>
                    <a:bodyPr/>
                    <a:lstStyle/>
                    <a:p>
                      <a:pPr marL="0" lvl="0" indent="0" algn="l">
                        <a:buNone/>
                      </a:pPr>
                      <a:r>
                        <a:rPr sz="1000"/>
                        <a:t>0.33</a:t>
                      </a:r>
                    </a:p>
                  </a:txBody>
                  <a:tcPr/>
                </a:tc>
                <a:tc>
                  <a:txBody>
                    <a:bodyPr/>
                    <a:lstStyle/>
                    <a:p>
                      <a:pPr marL="0" lvl="0" indent="0" algn="l">
                        <a:buNone/>
                      </a:pPr>
                      <a:r>
                        <a:rPr sz="1000"/>
                        <a:t>-</a:t>
                      </a:r>
                    </a:p>
                  </a:txBody>
                  <a:tcPr/>
                </a:tc>
                <a:tc>
                  <a:txBody>
                    <a:bodyPr/>
                    <a:lstStyle/>
                    <a:p>
                      <a:pPr marL="0" lvl="0" indent="0" algn="l">
                        <a:buNone/>
                      </a:pPr>
                      <a:r>
                        <a:rPr sz="1000"/>
                        <a:t>0.35</a:t>
                      </a:r>
                    </a:p>
                  </a:txBody>
                  <a:tcPr/>
                </a:tc>
                <a:tc>
                  <a:txBody>
                    <a:bodyPr/>
                    <a:lstStyle/>
                    <a:p>
                      <a:pPr marL="0" lvl="0" indent="0" algn="l">
                        <a:buNone/>
                      </a:pPr>
                      <a:r>
                        <a:rPr sz="1000"/>
                        <a:t>-</a:t>
                      </a:r>
                    </a:p>
                  </a:txBody>
                  <a:tcPr/>
                </a:tc>
                <a:tc>
                  <a:txBody>
                    <a:bodyPr/>
                    <a:lstStyle/>
                    <a:p>
                      <a:pPr marL="0" lvl="0" indent="0" algn="l">
                        <a:buNone/>
                      </a:pPr>
                      <a:r>
                        <a:rPr sz="1000"/>
                        <a:t>-</a:t>
                      </a:r>
                    </a:p>
                  </a:txBody>
                  <a:tcPr/>
                </a:tc>
                <a:extLst>
                  <a:ext uri="{0D108BD9-81ED-4DB2-BD59-A6C34878D82A}">
                    <a16:rowId xmlns:a16="http://schemas.microsoft.com/office/drawing/2014/main" val="10002"/>
                  </a:ext>
                </a:extLst>
              </a:tr>
              <a:tr h="0">
                <a:tc>
                  <a:txBody>
                    <a:bodyPr/>
                    <a:lstStyle/>
                    <a:p>
                      <a:pPr marL="0" lvl="0" indent="0" algn="l">
                        <a:buNone/>
                      </a:pPr>
                      <a:r>
                        <a:rPr sz="1000"/>
                        <a:t>Spatial smoother</a:t>
                      </a:r>
                    </a:p>
                  </a:txBody>
                  <a:tcPr/>
                </a:tc>
                <a:tc>
                  <a:txBody>
                    <a:bodyPr/>
                    <a:lstStyle/>
                    <a:p>
                      <a:pPr marL="0" lvl="0" indent="0" algn="l">
                        <a:buNone/>
                      </a:pPr>
                      <a:r>
                        <a:rPr sz="1000"/>
                        <a:t>0.31</a:t>
                      </a:r>
                    </a:p>
                  </a:txBody>
                  <a:tcPr/>
                </a:tc>
                <a:tc>
                  <a:txBody>
                    <a:bodyPr/>
                    <a:lstStyle/>
                    <a:p>
                      <a:pPr marL="0" lvl="0" indent="0" algn="l">
                        <a:buNone/>
                      </a:pPr>
                      <a:r>
                        <a:rPr sz="1000"/>
                        <a:t>0.50</a:t>
                      </a:r>
                    </a:p>
                  </a:txBody>
                  <a:tcPr/>
                </a:tc>
                <a:tc>
                  <a:txBody>
                    <a:bodyPr/>
                    <a:lstStyle/>
                    <a:p>
                      <a:pPr marL="0" lvl="0" indent="0" algn="l">
                        <a:buNone/>
                      </a:pPr>
                      <a:r>
                        <a:rPr sz="1000"/>
                        <a:t>0.27</a:t>
                      </a:r>
                    </a:p>
                  </a:txBody>
                  <a:tcPr/>
                </a:tc>
                <a:tc>
                  <a:txBody>
                    <a:bodyPr/>
                    <a:lstStyle/>
                    <a:p>
                      <a:pPr marL="0" lvl="0" indent="0" algn="l">
                        <a:buNone/>
                      </a:pPr>
                      <a:r>
                        <a:rPr sz="1000"/>
                        <a:t>0.27</a:t>
                      </a:r>
                    </a:p>
                  </a:txBody>
                  <a:tcPr/>
                </a:tc>
                <a:tc>
                  <a:txBody>
                    <a:bodyPr/>
                    <a:lstStyle/>
                    <a:p>
                      <a:pPr marL="0" lvl="0" indent="0" algn="l">
                        <a:buNone/>
                      </a:pPr>
                      <a:r>
                        <a:rPr sz="1000"/>
                        <a:t>-0.35</a:t>
                      </a:r>
                    </a:p>
                  </a:txBody>
                  <a:tcPr/>
                </a:tc>
                <a:extLst>
                  <a:ext uri="{0D108BD9-81ED-4DB2-BD59-A6C34878D82A}">
                    <a16:rowId xmlns:a16="http://schemas.microsoft.com/office/drawing/2014/main" val="10003"/>
                  </a:ext>
                </a:extLst>
              </a:tr>
              <a:tr h="0">
                <a:tc>
                  <a:txBody>
                    <a:bodyPr/>
                    <a:lstStyle/>
                    <a:p>
                      <a:pPr marL="0" lvl="0" indent="0" algn="l">
                        <a:buNone/>
                      </a:pPr>
                      <a:r>
                        <a:rPr sz="1000"/>
                        <a:t>Zero-tuning index</a:t>
                      </a:r>
                    </a:p>
                  </a:txBody>
                  <a:tcPr/>
                </a:tc>
                <a:tc>
                  <a:txBody>
                    <a:bodyPr/>
                    <a:lstStyle/>
                    <a:p>
                      <a:pPr marL="0" lvl="0" indent="0" algn="l">
                        <a:buNone/>
                      </a:pPr>
                      <a:r>
                        <a:rPr sz="1000"/>
                        <a:t>0.45</a:t>
                      </a:r>
                    </a:p>
                  </a:txBody>
                  <a:tcPr/>
                </a:tc>
                <a:tc>
                  <a:txBody>
                    <a:bodyPr/>
                    <a:lstStyle/>
                    <a:p>
                      <a:pPr marL="0" lvl="0" indent="0" algn="l">
                        <a:buNone/>
                      </a:pPr>
                      <a:r>
                        <a:rPr sz="1000"/>
                        <a:t>0.48</a:t>
                      </a:r>
                    </a:p>
                  </a:txBody>
                  <a:tcPr/>
                </a:tc>
                <a:tc>
                  <a:txBody>
                    <a:bodyPr/>
                    <a:lstStyle/>
                    <a:p>
                      <a:pPr marL="0" lvl="0" indent="0" algn="l">
                        <a:buNone/>
                      </a:pPr>
                      <a:r>
                        <a:rPr sz="1000"/>
                        <a:t>0.55</a:t>
                      </a:r>
                    </a:p>
                  </a:txBody>
                  <a:tcPr/>
                </a:tc>
                <a:tc>
                  <a:txBody>
                    <a:bodyPr/>
                    <a:lstStyle/>
                    <a:p>
                      <a:pPr marL="0" lvl="0" indent="0" algn="l">
                        <a:buNone/>
                      </a:pPr>
                      <a:r>
                        <a:rPr sz="1000"/>
                        <a:t>0.56</a:t>
                      </a:r>
                    </a:p>
                  </a:txBody>
                  <a:tcPr/>
                </a:tc>
                <a:tc>
                  <a:txBody>
                    <a:bodyPr/>
                    <a:lstStyle/>
                    <a:p>
                      <a:pPr marL="0" lvl="0" indent="0" algn="l">
                        <a:buNone/>
                      </a:pPr>
                      <a:r>
                        <a:rPr sz="1000"/>
                        <a:t>0.10</a:t>
                      </a:r>
                    </a:p>
                  </a:txBody>
                  <a:tcPr/>
                </a:tc>
                <a:extLst>
                  <a:ext uri="{0D108BD9-81ED-4DB2-BD59-A6C34878D82A}">
                    <a16:rowId xmlns:a16="http://schemas.microsoft.com/office/drawing/2014/main" val="10004"/>
                  </a:ext>
                </a:extLst>
              </a:tr>
              <a:tr h="0">
                <a:tc>
                  <a:txBody>
                    <a:bodyPr/>
                    <a:lstStyle/>
                    <a:p>
                      <a:pPr marL="0" lvl="0" indent="0" algn="l">
                        <a:buNone/>
                      </a:pPr>
                      <a:r>
                        <a:rPr sz="1000"/>
                        <a:t>Smoother + covariates</a:t>
                      </a:r>
                    </a:p>
                  </a:txBody>
                  <a:tcPr/>
                </a:tc>
                <a:tc>
                  <a:txBody>
                    <a:bodyPr/>
                    <a:lstStyle/>
                    <a:p>
                      <a:pPr marL="0" lvl="0" indent="0" algn="l">
                        <a:buNone/>
                      </a:pPr>
                      <a:r>
                        <a:rPr sz="1000"/>
                        <a:t>0.30</a:t>
                      </a:r>
                    </a:p>
                  </a:txBody>
                  <a:tcPr/>
                </a:tc>
                <a:tc>
                  <a:txBody>
                    <a:bodyPr/>
                    <a:lstStyle/>
                    <a:p>
                      <a:pPr marL="0" lvl="0" indent="0" algn="l">
                        <a:buNone/>
                      </a:pPr>
                      <a:r>
                        <a:rPr sz="1000"/>
                        <a:t>0.47</a:t>
                      </a:r>
                    </a:p>
                  </a:txBody>
                  <a:tcPr/>
                </a:tc>
                <a:tc>
                  <a:txBody>
                    <a:bodyPr/>
                    <a:lstStyle/>
                    <a:p>
                      <a:pPr marL="0" lvl="0" indent="0" algn="l">
                        <a:buNone/>
                      </a:pPr>
                      <a:r>
                        <a:rPr sz="1000"/>
                        <a:t>0.32</a:t>
                      </a:r>
                    </a:p>
                  </a:txBody>
                  <a:tcPr/>
                </a:tc>
                <a:tc>
                  <a:txBody>
                    <a:bodyPr/>
                    <a:lstStyle/>
                    <a:p>
                      <a:pPr marL="0" lvl="0" indent="0" algn="l">
                        <a:buNone/>
                      </a:pPr>
                      <a:r>
                        <a:rPr sz="1000"/>
                        <a:t>0.32</a:t>
                      </a:r>
                    </a:p>
                  </a:txBody>
                  <a:tcPr/>
                </a:tc>
                <a:tc>
                  <a:txBody>
                    <a:bodyPr/>
                    <a:lstStyle/>
                    <a:p>
                      <a:pPr marL="0" lvl="0" indent="0" algn="l">
                        <a:buNone/>
                      </a:pPr>
                      <a:r>
                        <a:rPr sz="1000"/>
                        <a:t>0.19</a:t>
                      </a:r>
                    </a:p>
                  </a:txBody>
                  <a:tcPr/>
                </a:tc>
                <a:extLst>
                  <a:ext uri="{0D108BD9-81ED-4DB2-BD59-A6C34878D82A}">
                    <a16:rowId xmlns:a16="http://schemas.microsoft.com/office/drawing/2014/main" val="10005"/>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88</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Weighting of the domain components: prevalence</a:t>
            </a:r>
          </a:p>
        </p:txBody>
      </p:sp>
      <p:pic>
        <p:nvPicPr>
          <p:cNvPr id="3" name="Picture 1" descr="MN-proxy-full-talk-2026-09_files/figure-pptx/weights-prev-1.png"/>
          <p:cNvPicPr>
            <a:picLocks noGrp="1" noChangeAspect="1"/>
          </p:cNvPicPr>
          <p:nvPr/>
        </p:nvPicPr>
        <p:blipFill>
          <a:blip r:embed="rId3"/>
          <a:stretch>
            <a:fillRect/>
          </a:stretch>
        </p:blipFill>
        <p:spPr bwMode="auto">
          <a:xfrm>
            <a:off x="1431036" y="1600200"/>
            <a:ext cx="932688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89</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Geostatistical comparator: absolute error</a:t>
            </a:r>
          </a:p>
        </p:txBody>
      </p:sp>
      <p:pic>
        <p:nvPicPr>
          <p:cNvPr id="3" name="Picture 1" descr="MN-proxy-full-talk-2026-09_files/figure-pptx/geostat-wmae-1.png"/>
          <p:cNvPicPr>
            <a:picLocks noGrp="1" noChangeAspect="1"/>
          </p:cNvPicPr>
          <p:nvPr/>
        </p:nvPicPr>
        <p:blipFill>
          <a:blip r:embed="rId3"/>
          <a:stretch>
            <a:fillRect/>
          </a:stretch>
        </p:blipFill>
        <p:spPr bwMode="auto">
          <a:xfrm>
            <a:off x="1028780" y="1600200"/>
            <a:ext cx="1013139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90</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Status of the January analyzes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extLst>
                    <a:ext uri="{9D8B030D-6E8A-4147-A177-3AD203B41FA5}">
                      <a16:colId xmlns:a16="http://schemas.microsoft.com/office/drawing/2014/main" val="20000"/>
                    </a:ext>
                  </a:extLst>
                </a:gridCol>
                <a:gridCol w="3378200">
                  <a:extLst>
                    <a:ext uri="{9D8B030D-6E8A-4147-A177-3AD203B41FA5}">
                      <a16:colId xmlns:a16="http://schemas.microsoft.com/office/drawing/2014/main" val="20001"/>
                    </a:ext>
                  </a:extLst>
                </a:gridCol>
                <a:gridCol w="2311400">
                  <a:extLst>
                    <a:ext uri="{9D8B030D-6E8A-4147-A177-3AD203B41FA5}">
                      <a16:colId xmlns:a16="http://schemas.microsoft.com/office/drawing/2014/main" val="20002"/>
                    </a:ext>
                  </a:extLst>
                </a:gridCol>
              </a:tblGrid>
              <a:tr h="0">
                <a:tc>
                  <a:txBody>
                    <a:bodyPr/>
                    <a:lstStyle/>
                    <a:p>
                      <a:pPr marL="0" lvl="0" indent="0" algn="l">
                        <a:buNone/>
                      </a:pPr>
                      <a:r>
                        <a:rPr sz="1000"/>
                        <a:t>January slide</a:t>
                      </a:r>
                    </a:p>
                  </a:txBody>
                  <a:tcPr/>
                </a:tc>
                <a:tc>
                  <a:txBody>
                    <a:bodyPr/>
                    <a:lstStyle/>
                    <a:p>
                      <a:pPr marL="0" lvl="0" indent="0" algn="l">
                        <a:buNone/>
                      </a:pPr>
                      <a:r>
                        <a:rPr sz="1000"/>
                        <a:t>Status</a:t>
                      </a:r>
                    </a:p>
                  </a:txBody>
                  <a:tcPr/>
                </a:tc>
                <a:tc>
                  <a:txBody>
                    <a:bodyPr/>
                    <a:lstStyle/>
                    <a:p>
                      <a:pPr marL="0" lvl="0" indent="0" algn="l">
                        <a:buNone/>
                      </a:pPr>
                      <a:r>
                        <a:rPr sz="1000"/>
                        <a:t>Where</a:t>
                      </a:r>
                    </a:p>
                  </a:txBody>
                  <a:tcPr/>
                </a:tc>
                <a:extLst>
                  <a:ext uri="{0D108BD9-81ED-4DB2-BD59-A6C34878D82A}">
                    <a16:rowId xmlns:a16="http://schemas.microsoft.com/office/drawing/2014/main" val="10000"/>
                  </a:ext>
                </a:extLst>
              </a:tr>
              <a:tr h="0">
                <a:tc>
                  <a:txBody>
                    <a:bodyPr/>
                    <a:lstStyle/>
                    <a:p>
                      <a:pPr marL="0" lvl="0" indent="0" algn="l">
                        <a:buNone/>
                      </a:pPr>
                      <a:r>
                        <a:rPr sz="1000"/>
                        <a:t>Individual-level proxy versus survey-only models (Brier skill, AUC, PR gain)</a:t>
                      </a:r>
                    </a:p>
                  </a:txBody>
                  <a:tcPr/>
                </a:tc>
                <a:tc>
                  <a:txBody>
                    <a:bodyPr/>
                    <a:lstStyle/>
                    <a:p>
                      <a:pPr marL="0" lvl="0" indent="0" algn="l">
                        <a:buNone/>
                      </a:pPr>
                      <a:r>
                        <a:rPr sz="1000"/>
                        <a:t>Sensitivity layer; rerun under district-blocked folds</a:t>
                      </a:r>
                    </a:p>
                  </a:txBody>
                  <a:tcPr/>
                </a:tc>
                <a:tc>
                  <a:txBody>
                    <a:bodyPr/>
                    <a:lstStyle/>
                    <a:p>
                      <a:pPr marL="0" lvl="0" indent="0" algn="l">
                        <a:buNone/>
                      </a:pPr>
                      <a:r>
                        <a:rPr sz="1000"/>
                        <a:t>Individual-level models</a:t>
                      </a:r>
                    </a:p>
                  </a:txBody>
                  <a:tcPr/>
                </a:tc>
                <a:extLst>
                  <a:ext uri="{0D108BD9-81ED-4DB2-BD59-A6C34878D82A}">
                    <a16:rowId xmlns:a16="http://schemas.microsoft.com/office/drawing/2014/main" val="10001"/>
                  </a:ext>
                </a:extLst>
              </a:tr>
              <a:tr h="0">
                <a:tc>
                  <a:txBody>
                    <a:bodyPr/>
                    <a:lstStyle/>
                    <a:p>
                      <a:pPr marL="0" lvl="0" indent="0" algn="l">
                        <a:buNone/>
                      </a:pPr>
                      <a:r>
                        <a:rPr sz="1000"/>
                        <a:t>National-level VMNIS / BRINDA predictions</a:t>
                      </a:r>
                    </a:p>
                  </a:txBody>
                  <a:tcPr/>
                </a:tc>
                <a:tc>
                  <a:txBody>
                    <a:bodyPr/>
                    <a:lstStyle/>
                    <a:p>
                      <a:pPr marL="0" lvl="0" indent="0" algn="l">
                        <a:buNone/>
                      </a:pPr>
                      <a:r>
                        <a:rPr sz="1000"/>
                        <a:t>Separate sub-pipeline, last run April 2026</a:t>
                      </a:r>
                    </a:p>
                  </a:txBody>
                  <a:tcPr/>
                </a:tc>
                <a:tc>
                  <a:txBody>
                    <a:bodyPr/>
                    <a:lstStyle/>
                    <a:p>
                      <a:pPr marL="0" lvl="0" indent="0" algn="l">
                        <a:buNone/>
                      </a:pPr>
                      <a:r>
                        <a:rPr sz="1000"/>
                        <a:t>National-level track; not re-audited</a:t>
                      </a:r>
                    </a:p>
                  </a:txBody>
                  <a:tcPr/>
                </a:tc>
                <a:extLst>
                  <a:ext uri="{0D108BD9-81ED-4DB2-BD59-A6C34878D82A}">
                    <a16:rowId xmlns:a16="http://schemas.microsoft.com/office/drawing/2014/main" val="10002"/>
                  </a:ext>
                </a:extLst>
              </a:tr>
              <a:tr h="0">
                <a:tc>
                  <a:txBody>
                    <a:bodyPr/>
                    <a:lstStyle/>
                    <a:p>
                      <a:pPr marL="0" lvl="0" indent="0" algn="l">
                        <a:buNone/>
                      </a:pPr>
                      <a:r>
                        <a:rPr sz="1000"/>
                        <a:t>Iodine (Sierra Leone)</a:t>
                      </a:r>
                    </a:p>
                  </a:txBody>
                  <a:tcPr/>
                </a:tc>
                <a:tc>
                  <a:txBody>
                    <a:bodyPr/>
                    <a:lstStyle/>
                    <a:p>
                      <a:pPr marL="0" lvl="0" indent="0" algn="l">
                        <a:buNone/>
                      </a:pPr>
                      <a:r>
                        <a:rPr sz="1000"/>
                        <a:t>Rerun within country (The Gambia, Sierra Leone)</a:t>
                      </a:r>
                    </a:p>
                  </a:txBody>
                  <a:tcPr/>
                </a:tc>
                <a:tc>
                  <a:txBody>
                    <a:bodyPr/>
                    <a:lstStyle/>
                    <a:p>
                      <a:pPr marL="0" lvl="0" indent="0" algn="l">
                        <a:buNone/>
                      </a:pPr>
                      <a:r>
                        <a:rPr sz="1000"/>
                        <a:t>Iodine</a:t>
                      </a:r>
                    </a:p>
                  </a:txBody>
                  <a:tcPr/>
                </a:tc>
                <a:extLst>
                  <a:ext uri="{0D108BD9-81ED-4DB2-BD59-A6C34878D82A}">
                    <a16:rowId xmlns:a16="http://schemas.microsoft.com/office/drawing/2014/main" val="10003"/>
                  </a:ext>
                </a:extLst>
              </a:tr>
              <a:tr h="0">
                <a:tc>
                  <a:txBody>
                    <a:bodyPr/>
                    <a:lstStyle/>
                    <a:p>
                      <a:pPr marL="0" lvl="0" indent="0" algn="l">
                        <a:buNone/>
                      </a:pPr>
                      <a:r>
                        <a:rPr sz="1000"/>
                        <a:t>Risk-category accuracy (none / mild / moderate / severe)</a:t>
                      </a:r>
                    </a:p>
                  </a:txBody>
                  <a:tcPr/>
                </a:tc>
                <a:tc>
                  <a:txBody>
                    <a:bodyPr/>
                    <a:lstStyle/>
                    <a:p>
                      <a:pPr marL="0" lvl="0" indent="0" algn="l">
                        <a:buNone/>
                      </a:pPr>
                      <a:r>
                        <a:rPr sz="1000"/>
                        <a:t>Rerun under the protocol, WHO bands</a:t>
                      </a:r>
                    </a:p>
                  </a:txBody>
                  <a:tcPr/>
                </a:tc>
                <a:tc>
                  <a:txBody>
                    <a:bodyPr/>
                    <a:lstStyle/>
                    <a:p>
                      <a:pPr marL="0" lvl="0" indent="0" algn="l">
                        <a:buNone/>
                      </a:pPr>
                      <a:r>
                        <a:rPr sz="1000"/>
                        <a:t>Risk-class accuracy</a:t>
                      </a:r>
                    </a:p>
                  </a:txBody>
                  <a:tcPr/>
                </a:tc>
                <a:extLst>
                  <a:ext uri="{0D108BD9-81ED-4DB2-BD59-A6C34878D82A}">
                    <a16:rowId xmlns:a16="http://schemas.microsoft.com/office/drawing/2014/main" val="10004"/>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91</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marL="0" lvl="0" indent="0">
              <a:buNone/>
            </a:pPr>
            <a:r>
              <a:t>Status of the January analyzes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extLst>
                    <a:ext uri="{9D8B030D-6E8A-4147-A177-3AD203B41FA5}">
                      <a16:colId xmlns:a16="http://schemas.microsoft.com/office/drawing/2014/main" val="20000"/>
                    </a:ext>
                  </a:extLst>
                </a:gridCol>
                <a:gridCol w="70358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tblGrid>
              <a:tr h="0">
                <a:tc>
                  <a:txBody>
                    <a:bodyPr/>
                    <a:lstStyle/>
                    <a:p>
                      <a:pPr marL="0" lvl="0" indent="0" algn="l">
                        <a:buNone/>
                      </a:pPr>
                      <a:r>
                        <a:rPr sz="1000"/>
                        <a:t>January slide</a:t>
                      </a:r>
                    </a:p>
                  </a:txBody>
                  <a:tcPr/>
                </a:tc>
                <a:tc>
                  <a:txBody>
                    <a:bodyPr/>
                    <a:lstStyle/>
                    <a:p>
                      <a:pPr marL="0" lvl="0" indent="0" algn="l">
                        <a:buNone/>
                      </a:pPr>
                      <a:r>
                        <a:rPr sz="1000"/>
                        <a:t>Status</a:t>
                      </a:r>
                    </a:p>
                  </a:txBody>
                  <a:tcPr/>
                </a:tc>
                <a:tc>
                  <a:txBody>
                    <a:bodyPr/>
                    <a:lstStyle/>
                    <a:p>
                      <a:pPr marL="0" lvl="0" indent="0" algn="l">
                        <a:buNone/>
                      </a:pPr>
                      <a:r>
                        <a:rPr sz="1000"/>
                        <a:t>Where</a:t>
                      </a:r>
                    </a:p>
                  </a:txBody>
                  <a:tcPr/>
                </a:tc>
                <a:extLst>
                  <a:ext uri="{0D108BD9-81ED-4DB2-BD59-A6C34878D82A}">
                    <a16:rowId xmlns:a16="http://schemas.microsoft.com/office/drawing/2014/main" val="10000"/>
                  </a:ext>
                </a:extLst>
              </a:tr>
              <a:tr h="0">
                <a:tc>
                  <a:txBody>
                    <a:bodyPr/>
                    <a:lstStyle/>
                    <a:p>
                      <a:pPr marL="0" lvl="0" indent="0" algn="l">
                        <a:buNone/>
                      </a:pPr>
                      <a:r>
                        <a:rPr sz="1000"/>
                        <a:t>LSMS (275) and FluNet (3) predictors</a:t>
                      </a:r>
                    </a:p>
                  </a:txBody>
                  <a:tcPr/>
                </a:tc>
                <a:tc>
                  <a:txBody>
                    <a:bodyPr/>
                    <a:lstStyle/>
                    <a:p>
                      <a:pPr marL="0" lvl="0" indent="0" algn="l">
                        <a:buNone/>
                      </a:pPr>
                      <a:r>
                        <a:rPr sz="1000"/>
                        <a:t>Re-added: the GLSS7 region means add no skill; household budget survey microdata for all four countries are now in the base set; FluNet is national and inert</a:t>
                      </a:r>
                    </a:p>
                  </a:txBody>
                  <a:tcPr/>
                </a:tc>
                <a:tc>
                  <a:txBody>
                    <a:bodyPr/>
                    <a:lstStyle/>
                    <a:p>
                      <a:pPr marL="0" lvl="0" indent="0" algn="l">
                        <a:buNone/>
                      </a:pPr>
                      <a:r>
                        <a:rPr sz="1000"/>
                        <a:t>LSMS and FluNet predictors</a:t>
                      </a:r>
                    </a:p>
                  </a:txBody>
                  <a:tcPr/>
                </a:tc>
                <a:extLst>
                  <a:ext uri="{0D108BD9-81ED-4DB2-BD59-A6C34878D82A}">
                    <a16:rowId xmlns:a16="http://schemas.microsoft.com/office/drawing/2014/main" val="10001"/>
                  </a:ext>
                </a:extLst>
              </a:tr>
              <a:tr h="0">
                <a:tc>
                  <a:txBody>
                    <a:bodyPr/>
                    <a:lstStyle/>
                    <a:p>
                      <a:pPr marL="0" lvl="0" indent="0" algn="l">
                        <a:buNone/>
                      </a:pPr>
                      <a:r>
                        <a:rPr sz="1000"/>
                        <a:t>Data-source importance by change in MSE</a:t>
                      </a:r>
                    </a:p>
                  </a:txBody>
                  <a:tcPr/>
                </a:tc>
                <a:tc>
                  <a:txBody>
                    <a:bodyPr/>
                    <a:lstStyle/>
                    <a:p>
                      <a:pPr marL="0" lvl="0" indent="0" algn="l">
                        <a:buNone/>
                      </a:pPr>
                      <a:r>
                        <a:rPr sz="1000"/>
                        <a:t>Replaced by domain and source ablation under transport</a:t>
                      </a:r>
                    </a:p>
                  </a:txBody>
                  <a:tcPr/>
                </a:tc>
                <a:tc>
                  <a:txBody>
                    <a:bodyPr/>
                    <a:lstStyle/>
                    <a:p>
                      <a:pPr marL="0" lvl="0" indent="0" algn="l">
                        <a:buNone/>
                      </a:pPr>
                      <a:r>
                        <a:rPr sz="1000"/>
                        <a:t>Domain and source ablation</a:t>
                      </a:r>
                    </a:p>
                  </a:txBody>
                  <a:tcPr/>
                </a:tc>
                <a:extLst>
                  <a:ext uri="{0D108BD9-81ED-4DB2-BD59-A6C34878D82A}">
                    <a16:rowId xmlns:a16="http://schemas.microsoft.com/office/drawing/2014/main" val="10002"/>
                  </a:ext>
                </a:extLst>
              </a:tr>
              <a:tr h="0">
                <a:tc>
                  <a:txBody>
                    <a:bodyPr/>
                    <a:lstStyle/>
                    <a:p>
                      <a:pPr marL="0" lvl="0" indent="0" algn="l">
                        <a:buNone/>
                      </a:pPr>
                      <a:r>
                        <a:rPr sz="1000"/>
                        <a:t>Admin-1 women’s iron maps, predicted versus survey</a:t>
                      </a:r>
                    </a:p>
                  </a:txBody>
                  <a:tcPr/>
                </a:tc>
                <a:tc>
                  <a:txBody>
                    <a:bodyPr/>
                    <a:lstStyle/>
                    <a:p>
                      <a:pPr marL="0" lvl="0" indent="0" algn="l">
                        <a:buNone/>
                      </a:pPr>
                      <a:r>
                        <a:rPr sz="1000"/>
                        <a:t>Replaced by district maps with held-out predictions</a:t>
                      </a:r>
                    </a:p>
                  </a:txBody>
                  <a:tcPr/>
                </a:tc>
                <a:tc>
                  <a:txBody>
                    <a:bodyPr/>
                    <a:lstStyle/>
                    <a:p>
                      <a:pPr marL="0" lvl="0" indent="0" algn="l">
                        <a:buNone/>
                      </a:pPr>
                      <a:r>
                        <a:rPr sz="1000"/>
                        <a:t>Ghana maps</a:t>
                      </a:r>
                    </a:p>
                  </a:txBody>
                  <a:tcPr/>
                </a:tc>
                <a:extLst>
                  <a:ext uri="{0D108BD9-81ED-4DB2-BD59-A6C34878D82A}">
                    <a16:rowId xmlns:a16="http://schemas.microsoft.com/office/drawing/2014/main" val="10003"/>
                  </a:ext>
                </a:extLst>
              </a:tr>
              <a:tr h="0">
                <a:tc>
                  <a:txBody>
                    <a:bodyPr/>
                    <a:lstStyle/>
                    <a:p>
                      <a:pPr marL="0" lvl="0" indent="0" algn="l">
                        <a:buNone/>
                      </a:pPr>
                      <a:r>
                        <a:rPr sz="1000"/>
                        <a:t>Prescreened SuperLearner as the model</a:t>
                      </a:r>
                    </a:p>
                  </a:txBody>
                  <a:tcPr/>
                </a:tc>
                <a:tc>
                  <a:txBody>
                    <a:bodyPr/>
                    <a:lstStyle/>
                    <a:p>
                      <a:pPr marL="0" lvl="0" indent="0" algn="l">
                        <a:buNone/>
                      </a:pPr>
                      <a:r>
                        <a:rPr sz="1000"/>
                        <a:t>Retained as comparison; does not beat the zero-tuning index</a:t>
                      </a:r>
                    </a:p>
                  </a:txBody>
                  <a:tcPr/>
                </a:tc>
                <a:tc>
                  <a:txBody>
                    <a:bodyPr/>
                    <a:lstStyle/>
                    <a:p>
                      <a:pPr marL="0" lvl="0" indent="0" algn="l">
                        <a:buNone/>
                      </a:pPr>
                      <a:r>
                        <a:rPr sz="1000"/>
                        <a:t>Estimators</a:t>
                      </a:r>
                    </a:p>
                  </a:txBody>
                  <a:tcPr/>
                </a:tc>
                <a:extLst>
                  <a:ext uri="{0D108BD9-81ED-4DB2-BD59-A6C34878D82A}">
                    <a16:rowId xmlns:a16="http://schemas.microsoft.com/office/drawing/2014/main" val="10004"/>
                  </a:ext>
                </a:extLst>
              </a:tr>
            </a:tbl>
          </a:graphicData>
        </a:graphic>
      </p:graphicFrame>
      <p:sp>
        <p:nvSpPr>
          <p:cNvPr id="3"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92</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800">
                <a:solidFill>
                  <a:srgbClr val="808080"/>
                </a:solidFill>
              </a:rPr>
              <a:t>Unpublished data. Do not copy or distribute.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23574</Words>
  <Application>Microsoft Office PowerPoint</Application>
  <PresentationFormat>Widescreen</PresentationFormat>
  <Paragraphs>1467</Paragraphs>
  <Slides>92</Slides>
  <Notes>81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Aptos</vt:lpstr>
      <vt:lpstr>Aptos Display</vt:lpstr>
      <vt:lpstr>Arial</vt:lpstr>
      <vt:lpstr>Calibri</vt:lpstr>
      <vt:lpstr>Office Theme</vt:lpstr>
      <vt:lpstr>Predicting Micronutrient Deficiency Prevalence in Sub-Saharan Africa Using Proxy Indicators: A Multi-country Machine Learning Framework</vt:lpstr>
      <vt:lpstr>Goals</vt:lpstr>
      <vt:lpstr>What does a country have today, and what does the model add?</vt:lpstr>
      <vt:lpstr>Surveys are rare, but we have common proxy predictors</vt:lpstr>
      <vt:lpstr>Both a big-data opportunity and a small-data problem</vt:lpstr>
      <vt:lpstr>Surveys and outcomes</vt:lpstr>
      <vt:lpstr>Which surveys did we learn from?</vt:lpstr>
      <vt:lpstr>Which deficiencies do we predict?</vt:lpstr>
      <vt:lpstr>What causes iron deficiency?</vt:lpstr>
      <vt:lpstr>Where do we have proxy data for those causes?</vt:lpstr>
      <vt:lpstr>The proxy dataset</vt:lpstr>
      <vt:lpstr>Land, climate and agriculture predictors</vt:lpstr>
      <vt:lpstr>Health, food and household predictors</vt:lpstr>
      <vt:lpstr>Where do the 575 predictors come from?</vt:lpstr>
      <vt:lpstr>How are the layers matched to districts in space and time?</vt:lpstr>
      <vt:lpstr>29 conceptual domains of proxy variables</vt:lpstr>
      <vt:lpstr>How is the district table built?</vt:lpstr>
      <vt:lpstr>Models and protocol</vt:lpstr>
      <vt:lpstr>Which algorithms did we compare?</vt:lpstr>
      <vt:lpstr>How do we choose among algorithms?</vt:lpstr>
      <vt:lpstr>How does the best-performing model work?</vt:lpstr>
      <vt:lpstr>Three levels of prediction</vt:lpstr>
      <vt:lpstr>What is held out at each level?</vt:lpstr>
      <vt:lpstr>Results</vt:lpstr>
      <vt:lpstr>Where does the ranking work, outcome by outcome and country by country?</vt:lpstr>
      <vt:lpstr>How far off is the predicted prevalence, outcome by outcome?</vt:lpstr>
      <vt:lpstr>How far off is the predicted mean concentration, outcome by outcome?</vt:lpstr>
      <vt:lpstr>Where do the rankings work?</vt:lpstr>
      <vt:lpstr>The strongest outcome-country combinations</vt:lpstr>
      <vt:lpstr>How well does the model rank districts inside a surveyed country?</vt:lpstr>
      <vt:lpstr>Ghana: survey, held-out prediction, extrapolation and uncertainty</vt:lpstr>
      <vt:lpstr>A whole unsurveyed region: the ranking holds at 0.39</vt:lpstr>
      <vt:lpstr>Does the model work in a country it has never seen?</vt:lpstr>
      <vt:lpstr>Can the transport model be improved by adding domains?</vt:lpstr>
      <vt:lpstr>What does the model say for Cote d’Ivoire, which has no survey?</vt:lpstr>
      <vt:lpstr>How much of the burden does the worst-ranked fifth reach?</vt:lpstr>
      <vt:lpstr>How good are the models? One table, two readings</vt:lpstr>
      <vt:lpstr>What does a rank correlation of 0.40 mean on the ground?</vt:lpstr>
      <vt:lpstr>How much of what a survey can see does the model recover?</vt:lpstr>
      <vt:lpstr>Does the model put districts in the right severity band?</vt:lpstr>
      <vt:lpstr>Which decisions are our models good enough for?</vt:lpstr>
      <vt:lpstr>Malawi: survey, held-out prediction, extrapolation and uncertainty</vt:lpstr>
      <vt:lpstr>Seeing the results</vt:lpstr>
      <vt:lpstr>How should every map in this deck be read?</vt:lpstr>
      <vt:lpstr>How reliable is the survey’s own district map?</vt:lpstr>
      <vt:lpstr>Does the model track the survey, district by district?</vt:lpstr>
      <vt:lpstr>Does it match the survey at the regional level?</vt:lpstr>
      <vt:lpstr>How likely is a district to be above the 20% line?</vt:lpstr>
      <vt:lpstr>How bad, and how sure, on one map?</vt:lpstr>
      <vt:lpstr>What do the rank intervals promise, and what do they not?</vt:lpstr>
      <vt:lpstr>What moves each district, predictor by predictor?</vt:lpstr>
      <vt:lpstr>Does each survey added improve every other map?</vt:lpstr>
      <vt:lpstr>What carries the signal</vt:lpstr>
      <vt:lpstr>Which predictors carry the most weight?</vt:lpstr>
      <vt:lpstr>What are the weights behind the best ranking? Malawi, women’s B12</vt:lpstr>
      <vt:lpstr>Causal driver or surrogate marker? Fish, anemia and B12 in Malawi</vt:lpstr>
      <vt:lpstr>What travels across borders, and what does not?</vt:lpstr>
      <vt:lpstr>What drives the transport models?</vt:lpstr>
      <vt:lpstr>Which associations replicate in every country?</vt:lpstr>
      <vt:lpstr>Limits and survey design</vt:lpstr>
      <vt:lpstr>How good could any model be against this survey?</vt:lpstr>
      <vt:lpstr>Could a small national survey plus the model replace a district survey?</vt:lpstr>
      <vt:lpstr>Does each survey added help the others?</vt:lpstr>
      <vt:lpstr>Closing</vt:lpstr>
      <vt:lpstr>What the models can and cannot do yet</vt:lpstr>
      <vt:lpstr>What have we learned, and what comes next?</vt:lpstr>
      <vt:lpstr>Appendix</vt:lpstr>
      <vt:lpstr>Sources, tiers and alignment</vt:lpstr>
      <vt:lpstr>The dashboard</vt:lpstr>
      <vt:lpstr>The geostatistical model estimates levels better and ranks worse</vt:lpstr>
      <vt:lpstr>Every column kept or dropped has a written reason</vt:lpstr>
      <vt:lpstr>From columns to domains</vt:lpstr>
      <vt:lpstr>The twenty layers behind child iron, and how much each carries</vt:lpstr>
      <vt:lpstr>Exclusions, with their reasons</vt:lpstr>
      <vt:lpstr>Predictor set by domain and tier</vt:lpstr>
      <vt:lpstr>What we would add next, and the rule for adding it</vt:lpstr>
      <vt:lpstr>Predictors recurring across outcomes</vt:lpstr>
      <vt:lpstr>Weighting of the domain components</vt:lpstr>
      <vt:lpstr>Sparse composites</vt:lpstr>
      <vt:lpstr>Child iron composite</vt:lpstr>
      <vt:lpstr>Urbanicity conditioning</vt:lpstr>
      <vt:lpstr>Add-on predictor blocks</vt:lpstr>
      <vt:lpstr>Cluster-level fitting</vt:lpstr>
      <vt:lpstr>Risk-class accuracy</vt:lpstr>
      <vt:lpstr>LSMS and FluNet predictors</vt:lpstr>
      <vt:lpstr>Individual-level models</vt:lpstr>
      <vt:lpstr>National-level track</vt:lpstr>
      <vt:lpstr>Iodine</vt:lpstr>
      <vt:lpstr>Weighting of the domain components: prevalence</vt:lpstr>
      <vt:lpstr>Geostatistical comparator: absolute error</vt:lpstr>
      <vt:lpstr>Status of the January analyzes (1)</vt:lpstr>
      <vt:lpstr>Status of the January analyzes (2)</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Andrew N. Mertens (University of California, Berkeley) and Sonja Y. Hess (University of California, Davis)</dc:creator>
  <cp:keywords/>
  <cp:lastModifiedBy>Andrew Mertens</cp:lastModifiedBy>
  <cp:revision>4</cp:revision>
  <dcterms:created xsi:type="dcterms:W3CDTF">2026-09-17T17:50:22Z</dcterms:created>
  <dcterms:modified xsi:type="dcterms:W3CDTF">2026-09-17T18:20:10Z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