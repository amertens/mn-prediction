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0.29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0.33 (domain components) and 0.31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0.23 at district level (19 of 22 positive) and 0.32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14 of 22). Since 9 September the DHS-derived predictors are cluster-level spatial estimates at every district (DS-01), which changed nothing in-country and cost the full index 0.01 across borders. Likely question: what a correlation of 0.31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a Spearman correlation of 0.40 corresponds to about 63% of district pairs ordered the right way (Kendall’s tau from the correlation under a bivariate-normal approximation), against 50% for a coin toss; across borders (0.31) it is 60%.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63% of districts in the band the survey puts them in and 91% within one band (risk_category_accuracy.csv, mean over the vitamin A cells); the survey’s own regional averages give 66% exact and 94% within one band. So the model is almost never two bands wrong: a district the survey calls severe is not called mild. The bands here use the country’s own survey to set the level; in a new country the level comes from the national anchor (risk-class slide in the appendix has the transport rows). This is the slide to use if the audience is used to reading vitamin A or anaemia severity maps.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63%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0.31 without. A fixed climate-and-soil index transports at 0.38 at district level and 0.45 regionally against 0.31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0.31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Concept slide: content in MN-proxy-full-talk-2026-09.concept.yaml.</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7.png"/><Relationship Id="rId4" Type="http://schemas.openxmlformats.org/officeDocument/2006/relationships/image" Target="../media/image14.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15.png"/><Relationship Id="rId8"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3.png"/><Relationship Id="rId4" Type="http://schemas.openxmlformats.org/officeDocument/2006/relationships/image" Target="../media/image10.png"/><Relationship Id="rId5" Type="http://schemas.openxmlformats.org/officeDocument/2006/relationships/image" Target="../media/image75.png"/><Relationship Id="rId6" Type="http://schemas.openxmlformats.org/officeDocument/2006/relationships/image" Target="../media/image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5.png"/><Relationship Id="rId5" Type="http://schemas.openxmlformats.org/officeDocument/2006/relationships/image" Target="../media/image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92.png"/><Relationship Id="rId5" Type="http://schemas.openxmlformats.org/officeDocument/2006/relationships/image" Target="../media/image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62.png"/><Relationship Id="rId6" Type="http://schemas.openxmlformats.org/officeDocument/2006/relationships/image" Target="../media/image99.png"/><Relationship Id="rId7" Type="http://schemas.openxmlformats.org/officeDocument/2006/relationships/image" Target="../media/image10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01.png"/><Relationship Id="rId4" Type="http://schemas.openxmlformats.org/officeDocument/2006/relationships/image" Target="../media/image5.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86.png"/><Relationship Id="rId5" Type="http://schemas.openxmlformats.org/officeDocument/2006/relationships/image" Target="../media/image14.png"/><Relationship Id="rId6" Type="http://schemas.openxmlformats.org/officeDocument/2006/relationships/image" Target="../media/image10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90.png"/><Relationship Id="rId9" Type="http://schemas.openxmlformats.org/officeDocument/2006/relationships/image" Target="../media/image111.png"/><Relationship Id="rId10" Type="http://schemas.openxmlformats.org/officeDocument/2006/relationships/image" Target="../media/image1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4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5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0.29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0.38 on the level and 0.26 on prevalence; the penalised fits fall to 0.08 and -0.04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0.31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correctly about 63% of the time</a:t>
            </a:r>
          </a:p>
          <a:p>
            <a:pPr algn="l">
              <a:spcBef>
                <a:spcPts val="300"/>
              </a:spcBef>
            </a:pPr>
            <a:r>
              <a:rPr sz="1400" b="0">
                <a:solidFill>
                  <a:srgbClr val="333333"/>
                </a:solidFill>
                <a:latin typeface="Calibri"/>
              </a:rPr>
              <a:t>A coin toss gets 50%. In a country the model has never seen, 60%.</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63%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63% of pairs right, better than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5 of the 20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0.31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0.31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82296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In-fill: the index ranks districts (0.40)</a:t>
            </a:r>
          </a:p>
          <a:p>
            <a:pPr algn="l">
              <a:spcBef>
                <a:spcPts val="300"/>
              </a:spcBef>
            </a:pPr>
            <a:r>
              <a:rPr sz="140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Transport: rankings carry (0.31), levels do not</a:t>
            </a:r>
          </a:p>
          <a:p>
            <a:pPr algn="l">
              <a:spcBef>
                <a:spcPts val="300"/>
              </a:spcBef>
            </a:pPr>
            <a:r>
              <a:rPr sz="140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Across borders, lean on the environment</a:t>
            </a:r>
          </a:p>
          <a:p>
            <a:pPr algn="l">
              <a:spcBef>
                <a:spcPts val="300"/>
              </a:spcBef>
            </a:pPr>
            <a:r>
              <a:rPr sz="140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 national anchor puts levels on the ranking</a:t>
            </a:r>
          </a:p>
          <a:p>
            <a:pPr algn="l">
              <a:spcBef>
                <a:spcPts val="300"/>
              </a:spcBef>
            </a:pPr>
            <a:r>
              <a:rPr sz="1400" b="0">
                <a:solidFill>
                  <a:srgbClr val="333333"/>
                </a:solidFill>
                <a:latin typeface="Calibri"/>
              </a:rPr>
              <a:t>District error 9.3 points at 5% of a full sample, matched by a district survey at 25%.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10.0</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15.8</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7.8</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14.0</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63%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0.51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0.47</a:t>
                      </a:r>
                    </a:p>
                  </a:txBody>
                </a:tc>
                <a:tc>
                  <a:txBody>
                    <a:bodyPr/>
                    <a:lstStyle/>
                    <a:p>
                      <a:pPr lvl="0" indent="0" marL="0" algn="l">
                        <a:buNone/>
                      </a:pPr>
                      <a:r>
                        <a:rPr sz="1000"/>
                        <a:t>0.54</a:t>
                      </a:r>
                    </a:p>
                  </a:txBody>
                </a:tc>
                <a:tc>
                  <a:txBody>
                    <a:bodyPr/>
                    <a:lstStyle/>
                    <a:p>
                      <a:pPr lvl="0" indent="0" marL="0" algn="l">
                        <a:buNone/>
                      </a:pPr>
                      <a:r>
                        <a:rPr sz="1000"/>
                        <a:t>0.54</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0.27</a:t>
                      </a:r>
                    </a:p>
                  </a:txBody>
                </a:tc>
                <a:tc>
                  <a:txBody>
                    <a:bodyPr/>
                    <a:lstStyle/>
                    <a:p>
                      <a:pPr lvl="0" indent="0" marL="0" algn="l">
                        <a:buNone/>
                      </a:pPr>
                      <a:r>
                        <a:rPr sz="1000"/>
                        <a:t>0.25</a:t>
                      </a:r>
                    </a:p>
                  </a:txBody>
                </a:tc>
                <a:tc>
                  <a:txBody>
                    <a:bodyPr/>
                    <a:lstStyle/>
                    <a:p>
                      <a:pPr lvl="0" indent="0" marL="0" algn="l">
                        <a:buNone/>
                      </a:pPr>
                      <a:r>
                        <a:rPr sz="1000"/>
                        <a:t>0.19</a:t>
                      </a:r>
                    </a:p>
                  </a:txBody>
                </a:tc>
              </a:tr>
            </a:tbl>
          </a:graphicData>
        </a:graphic>
      </p:graphicFrame>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2026-09-17T00:55:16Z</dcterms:created>
  <dcterms:modified xsi:type="dcterms:W3CDTF">2026-09-17T00:55:16Z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