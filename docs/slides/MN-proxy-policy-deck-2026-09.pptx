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notesMaster" Target="notesMasters/notesMaster1.xml" /><Relationship Id="rId28" Type="http://schemas.openxmlformats.org/officeDocument/2006/relationships/theme" Target="theme/theme1.xml" /><Relationship Id="rId27" Type="http://schemas.openxmlformats.org/officeDocument/2006/relationships/viewProps" Target="viewProps.xml" /><Relationship Id="rId26" Type="http://schemas.openxmlformats.org/officeDocument/2006/relationships/presProps" Target="presProps.xml" /><Relationship Id="rId4" Type="http://schemas.openxmlformats.org/officeDocument/2006/relationships/slideMaster" Target="slideMasters/slideMaster1.xml" /><Relationship Id="rId2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the absence of data; it is the absence of data at the level where money is allocated. Cluster counts per district come from results/tables/protocol_v2/variance_components_ceiling.csv (share_single_cluster). The four surveys: The Gambia 2018, Ghana 2017, Malawi 2015-16, Sierra Leone 2013, with vitamin A, iron, folate and B12 measured in children and women, 206 districts with a measured value in all. Everything in this talk is scored against those 206 districts.</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estimator is a zero-tuning index over domain principal components; the technical deck has the definition. Likely question: why so simple. With 14 to 87 districts per country, every method that learns its own settings does worse (appendix slide).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in docs/findings (TWO_READINGS_2026-09f.md and SANDBOX_LOG_2026-09.md). Likely question: what changed. The within-country headline moved from a median of 0.06 on one split to 0.40 replicated; a regional transport figure of 0.50 to 0.56 was withdrawn when a spelling mismatch turned out to have dropped Sierra Leone from every population-joined run. Saying this out loud is what lets the rest of the deck be believed.</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the correlation a perfect predictor of the true district value could reach given the survey’s sampling noise; the model reaches the ceiling in 5 of 48 cells and about two-thirds of it at the median).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That is worth saying plainly: if you already have a survey, smoothing between neighbours gets you most of the way. The right-hand column is the point of the project. The smoothers and the survey’s regional average need survey data in the country; only the proxy methods produce anything at all there, at 0.26 to 0.37 against a chance level of 0.08. Grey band: the 95th percentile of the permutation null (transport_null_calibration.csv).</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three training countries. This is the argument for pooling surveys across the region: a survey a country runs for itself improves every other country’s map. Two things to state here. Rankings cross borders and absolute levels do not; raw ferritin differs several-fold between these surveys, so the model tells a new country which districts are worst, not how bad. And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next slide says how.</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2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(Add submitted title)</a:t>
            </a:r>
          </a:p>
        </p:txBody>
      </p:sp>
      <p:sp>
        <p:nvSpPr>
          <p:cNvPr id="3" name="Subtitle 2"/>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gaps and motivations</a:t>
            </a:r>
          </a:p>
        </p:txBody>
      </p:sp>
      <p:sp>
        <p:nvSpPr>
          <p:cNvPr id="3" name="Content Placeholder 2"/>
          <p:cNvSpPr>
            <a:spLocks noGrp="1"/>
          </p:cNvSpPr>
          <p:nvPr>
            <p:ph idx="1"/>
          </p:nvPr>
        </p:nvSpPr>
        <p:spPr/>
        <p:txBody>
          <a:bodyPr/>
          <a:lstStyle/>
          <a:p>
            <a:pPr lvl="0"/>
            <a:r>
              <a:rPr/>
              <a:t>A national micronutrient survey draws blood from a few thousand people, costs millions, and happens about once a decade. Most LMIC countries have none from the last ten years. (Check statement accuracy)</a:t>
            </a:r>
          </a:p>
          <a:p>
            <a:pPr lvl="0"/>
            <a:r>
              <a:rPr/>
              <a:t>Local decisions are needed: which districts get fortified food, supplements, or the next survey team.</a:t>
            </a:r>
          </a:p>
          <a:p>
            <a:pPr lvl="0"/>
            <a:r>
              <a:rPr/>
              <a:t>Even where a survey exists, it describes regions. In the 2016 Ghana National Survey, 83% of districts hold a single sampled community.</a:t>
            </a:r>
          </a:p>
          <a:p>
            <a:pPr lvl="0"/>
            <a:r>
              <a:rPr/>
              <a:t>We ask what public data can say about the districts nobody surveyed, and test the answer against four surveys that did draw blood.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built: a series of models predicting deficiency prevalence and rankings from public data</a:t>
            </a:r>
          </a:p>
        </p:txBody>
      </p:sp>
      <p:sp>
        <p:nvSpPr>
          <p:cNvPr id="3" name="Content Placeholder 2"/>
          <p:cNvSpPr>
            <a:spLocks noGrp="1"/>
          </p:cNvSpPr>
          <p:nvPr>
            <p:ph idx="1"/>
          </p:nvPr>
        </p:nvSpPr>
        <p:spPr/>
        <p:txBody>
          <a:bodyPr/>
          <a:lstStyle/>
          <a:p>
            <a:pPr lvl="0"/>
            <a:r>
              <a:rPr/>
              <a:t>To every district we attach 454 indicators: satellite imagery, climate, soil, crops, livestock, SES malaria and other morbitity, prices and household-survey results.</a:t>
            </a:r>
          </a:p>
          <a:p>
            <a:pPr lvl="0"/>
            <a:r>
              <a:rPr/>
              <a:t>Each kind of data is summarised, weighted by how well it tracked deficiency where we had blood results, and added up to rank districts.</a:t>
            </a:r>
          </a:p>
          <a:p>
            <a:pPr lvl="0"/>
            <a:r>
              <a:rPr/>
              <a:t>We predict within-country deficiencies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these numbers can be trusted</a:t>
            </a:r>
          </a:p>
        </p:txBody>
      </p:sp>
      <p:sp>
        <p:nvSpPr>
          <p:cNvPr id="3" name="Content Placeholder 2"/>
          <p:cNvSpPr>
            <a:spLocks noGrp="1"/>
          </p:cNvSpPr>
          <p:nvPr>
            <p:ph idx="1"/>
          </p:nvPr>
        </p:nvSpPr>
        <p:spPr/>
        <p:txBody>
          <a:bodyPr/>
          <a:lstStyle/>
          <a:p>
            <a:pPr lvl="0"/>
            <a:r>
              <a:rPr/>
              <a:t>Every district is scored with itself hidden from the model, averaged over repeated random splits; one split alone can move a result by 0.1.</a:t>
            </a:r>
          </a:p>
          <a:p>
            <a:pPr lvl="0"/>
            <a:r>
              <a:rPr/>
              <a:t>Each method is compared with what a programme could do without it: the survey’s own regional average, or smoothing between neighbours.</a:t>
            </a:r>
          </a:p>
          <a:p>
            <a:pPr lvl="0"/>
            <a:r>
              <a:rPr/>
              <a:t>Chance is measured, not assumed. Shuffling the outcome across countries shows what a ranking reaches with no information.</a:t>
            </a:r>
          </a:p>
          <a:p>
            <a:pPr lvl="0"/>
            <a:r>
              <a:rPr/>
              <a:t>An earlier version rested on one split and a baseline that had seen the answer. An audit found it; these are the corrected numbers.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the numbers in this talk</a:t>
            </a:r>
          </a:p>
        </p:txBody>
      </p:sp>
      <p:sp>
        <p:nvSpPr>
          <p:cNvPr id="3" name="Content Placeholder 2"/>
          <p:cNvSpPr>
            <a:spLocks noGrp="1"/>
          </p:cNvSpPr>
          <p:nvPr>
            <p:ph idx="1"/>
          </p:nvPr>
        </p:nvSpPr>
        <p:spPr/>
        <p:txBody>
          <a:bodyPr/>
          <a:lstStyle/>
          <a:p>
            <a:pPr lvl="0"/>
            <a:r>
              <a:rPr/>
              <a:t>The score is ranking accuracy: how closely the model’s order of districts matches the survey’s, from 0 to 1. With no information at all a ranking still reaches 0.08.</a:t>
            </a:r>
          </a:p>
          <a:p>
            <a:pPr lvl="0"/>
            <a:r>
              <a:rPr/>
              <a:t>In plainer terms: of the truly worst quarter of districts the model finds 43% (a random pick finds 25%), and it places a district in the correct WHO vitamin A band 64% of the time, within one band 92%.</a:t>
            </a:r>
          </a:p>
          <a:p>
            <a:pPr lvl="0"/>
            <a:r>
              <a:rPr/>
              <a:t>The survey’s own district values are noisy, so even a perfect predictor could not score 1. On the biomarker level the ceiling is about 0.56 and the model reaches 0.40; on prevalence 0.44 and 0.28. About two-thirds of the way in both.</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1181100" y="1816100"/>
            <a:ext cx="98425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survey we add improves the map for the next country</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a ministry</a:t>
            </a:r>
          </a:p>
        </p:txBody>
      </p:sp>
      <p:sp>
        <p:nvSpPr>
          <p:cNvPr id="3" name="Content Placeholder 2"/>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this goes next</a:t>
            </a:r>
          </a:p>
        </p:txBody>
      </p:sp>
      <p:sp>
        <p:nvSpPr>
          <p:cNvPr id="3" name="Content Placeholder 2"/>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submitted title)</dc:title>
  <dc:creator>Sonja Hess and Andrew N. Mertens</dc:creator>
  <cp:keywords/>
  <dcterms:created xsi:type="dcterms:W3CDTF">2026-09-10T18:17:35Z</dcterms:created>
  <dcterms:modified xsi:type="dcterms:W3CDTF">2026-09-10T18:17:35Z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