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2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Sonja’s opening (this slide and the next): background, motivation, what the earlier work could and could not do, and the partnership. She is sending her own slides; these bullets are a stand-in from the previous version of the deck so the run-through works without them. Check the claim about the last ten years before it is spoken. The Ghana cluster share comes from results/tables/protocol_v2/variance_components_ceiling.csv (share_single_cluster). The four surveys: The Gambia 2018, Ghana 2017, Malawi 2015 to 16, Sierra Leone 2013, with vitamin A, iron, folate and B12 in children and women, 206 districts with a measured value in all.</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with Sonja’s slide. The workshop point matters for the closing slide, which promises a workshop with partners on how the ranking should be used.</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Hand-over from Sonja. The big-and-small framing is the one-sentence description of the project: modern methods and as much public data as we can download on one side, a few hundred districts of gold-standard biomarker data on the other. Predictor list: data/covariates/harmonized/predictors_admin2_shared_metadata.csv (454 columns in 24 groups: satellite imagery, climate, soil, crops, livestock, malaria and other morbidity, prices, household surveys); plain descriptions in results/tables/protocol_v2/variable_sheet.csv. The estimator is a zero-tuning index over group principal components (the technical deck has the definition); it keeps the weak, correlated signal of many layers instead of screening for a few. Likely question: why so simple. With 14 to 87 districts per country, every method that learns its own settings does worse (appendix slide “More complicated models do not do better”). A country can rebuild the ranking from twenty public layers (appendix).</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score is ranking accuracy: how closely the model’s order of districts matches the survey’s, from 0 to 1. One split on its own can move a result by 0.1, so everything is averaged over repeated splits. Plainer versions of the same accuracy are in the appendix: of the survey’s worst quarter of districts the model finds 43% (a random pick finds 25%), and it places a district in the correct WHO vitamin A band 64% of the time, within one band 92%. The ceiling: most districts hold one or two survey clusters, so the survey’s own district value is itself an estimate; from the variance components we can say what correlation a perfect predictor of the true district value could reach (variance_components_ceiling.csv, ceiling_vc). On the biomarker level the ceiling is about 0.56 and the model reaches 0.40; on prevalence 0.44 and 0.28; the model is at the ceiling in 5 of 48 cells. What Reid raised in the meeting belongs here too: the model estimates status as a survey would measure it, and part of any between-country difference is survey difference (different years, seasons and teams). An earlier version of this work rested on one split and a baseline that had seen the answer; an audit found it and everything here is from the corrected protocol (docs/findings/TWO_READINGS_2026-09f.md, SANDBOX_LOG_2026-09.md).</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in the middle map is fitted to the district it scores. Ranking accuracy 0.31 for this cell, against 0.08 for chance. The north comes out as the worst region in both maps without the model being told anything about survey results; no single district should be read as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 How firmly each district is placed is the appendix slide “How sure is the model about each district?”.</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If you already have a survey, smoothing between neighbours gets you most of the way, and the survey’s own regional average reaches 0.31. The right-hand column is why the project exists: the smoothers and the regional average need survey data in the country, and only the proxy methods produce anything at all there, at 0.26 to 0.37 against a chance level of 0.08, positive in 17 of 22 country-outcome combinations. Grey band: the 95th percentile of the permutation null (transport_null_calibration.csv). Rankings cross borders and absolute levels do not: raw ferritin differs several-fold between these surveys, so the model tells a new country which districts are worst, not how bad. The country with no survey we have actually ranked, Cote d’Ivoire, is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0.18 with one training country, 0.28 with three, and the curve has not flattened. This is the argument for pooling surveys across the region: a survey a country runs for itself improves every other country’s map. Surveys and models improve each other: the model says which districts are uncertain or likely worst, the next survey places clusters there, and the added survey sharpens the model for everyone. Third bullet from anchor_and_rank_summary.csv (AR-01): at 5 percent of a full sample, one national estimate plus the ranking gives a median district error of 10.3 percentage points, a regional survey of the same size 12.8 and a district survey 19.7; a district survey needs about a quarter of a full sample to match the anchored ranking. Say this cautiously: it is a design result on these four surveys, not a pilot.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checklist Sonja asked for, one line per question. Numbers behind each answer, if asked. Inside a surveyed country: 0.40 against 0.31 for the survey’s own regional averages and 0.08 for chance. A country with no survey: 0.26 with everything, 0.37 with climate and soil only, positive in 17 of 22 combinations. Which data: satellite imagery, climate and soil carry 30 to 48 percent of the index inside a country and are what travels; household-survey layers help at home and hurt abroad (appendix, “Different data support within-country and across-country prediction”). Prevalence: levels do not cross borders, and the anchored design gives district levels within 10.3 points at 5 percent of a full sample. Replace surveys: no; the ranking is scored against surveys and the ceiling is set by them. Next: the pre-registered predictions are in docs/findings/PREREGISTRATION_NEW_COUNTRIES_2026-09.md; Tanzania’s 2010 module is staged; the workshop is the partners’ request for a say in how a ranking is used, trusted and shared. The 3-minute short-oral talk takes the variable-importance story further.</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an engineering job.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 The last bullet is the reason levels do not transport and rankings do.</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A priority list should be shown this way, with the firm districts separated from the uncertain middle.</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marks the kind of data; bar length is the weight. This slide and the next are the 3-minute short-oral talk.</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policy slide says how.</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0.31 and the ensemble tuned for ranking 0.30, a tie under our 0.03 rule; the ensemble is ahead in 4 of the 17. The ensemble tuned for squared error, random forest and penalised regression trail by 0.03 to 0.11. The reason is sample size: 14 to 87 districts per country is not enough for a method to learn its own settings. Rerun on 10 September with the DHS-style survey columns; every tuned method gained a little from the cleaner inputs and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Why district-level micronutrient data are missing</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the 2017 Ghana survey, 83% of districts hold a single sampled community.</a:t>
            </a:r>
          </a:p>
          <a:p>
            <a:pPr lvl="0"/>
            <a:r>
              <a:rPr/>
              <a:t>Four surveys that did draw blood let us test what public data can say about the districts nobody surveyed.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partnership and the workshop</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Placeholder for Sonja’s slide: the earlier work with the survey teams, the partner workshop, and what partners asked about how a district ranking should be used, trusted and shared.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built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We have 454 public data layers for every district but blood results for only 206 districts in four countries, so this is a big-data and a small-data problem at once.</a:t>
            </a:r>
          </a:p>
          <a:p>
            <a:pPr lvl="0"/>
            <a:r>
              <a:rPr/>
              <a:t>Each kind of data is summarised, weighted by how well it tracked deficiency where blood was drawn, and added up. The sum ranks districts from worst to best.</a:t>
            </a:r>
          </a:p>
          <a:p>
            <a:pPr lvl="0"/>
            <a:r>
              <a:rPr/>
              <a:t>The simplest version won. With a few dozen districts per country, every method that tunes itself did worse.</a:t>
            </a:r>
          </a:p>
          <a:p>
            <a:pPr lvl="0"/>
            <a:r>
              <a:rPr/>
              <a:t>The output is an ordering. One national number on top turns it into prevalence.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we tested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Every district is scored with itself hidden from the model, over repeated random splits, and every country with the whole country hidden.</a:t>
            </a:r>
          </a:p>
          <a:p>
            <a:pPr lvl="0"/>
            <a:r>
              <a:rPr/>
              <a:t>Each method is compared with what a programme could do without it: the survey’s own regional average, or smoothing between neighbouring districts.</a:t>
            </a:r>
          </a:p>
          <a:p>
            <a:pPr lvl="0"/>
            <a:r>
              <a:rPr/>
              <a:t>Shuffling the outcome measures chance: with no information at all a ranking still reaches 0.08 on a scale of 0 to 1.</a:t>
            </a:r>
          </a:p>
          <a:p>
            <a:pPr lvl="0"/>
            <a:r>
              <a:rPr/>
              <a:t>Survey district values are themselves noisy, so a perfect predictor could only reach about 0.56. The model reaches 0.40, two-thirds of the way.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In Ghana the model recovers the regional pattern but misplaces single districts</a:t>
            </a:r>
          </a:p>
        </p:txBody>
      </p:sp>
      <p:pic>
        <p:nvPicPr>
          <p:cNvPr descr="../../results/figures/policy_deck/fig7_ghana_map.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With a survey every method ties; without one only the proxy index can run</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Every survey added improves the next country’s map</a:t>
            </a:r>
          </a:p>
        </p:txBody>
      </p:sp>
      <p:pic>
        <p:nvPicPr>
          <p:cNvPr descr="../../results/figures/policy_deck/fig5_learning_curve.png" id="0" name="Picture 1"/>
          <p:cNvPicPr>
            <a:picLocks noGrp="1" noChangeAspect="1"/>
          </p:cNvPicPr>
          <p:nvPr/>
        </p:nvPicPr>
        <p:blipFill>
          <a:blip r:embed="rId3"/>
          <a:stretch>
            <a:fillRect/>
          </a:stretch>
        </p:blipFill>
        <p:spPr bwMode="auto">
          <a:xfrm>
            <a:off x="411480" y="1645920"/>
            <a:ext cx="6766560" cy="3433034"/>
          </a:xfrm>
          <a:prstGeom prst="rect">
            <a:avLst/>
          </a:prstGeom>
          <a:noFill/>
          <a:ln w="9525">
            <a:noFill/>
            <a:headEnd/>
            <a:tailEnd/>
          </a:ln>
        </p:spPr>
      </p:pic>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a:xfrm>
            <a:off x="7360920" y="1645920"/>
            <a:ext cx="4434840" cy="4572000"/>
          </a:xfrm>
        </p:spPr>
        <p:txBody>
          <a:bodyPr/>
          <a:lstStyle/>
          <a:p>
            <a:pPr lvl="0"/>
            <a:r>
              <a:rPr/>
              <a:t>Each survey added buys about 0.05 of accuracy in a country never seen.</a:t>
            </a:r>
          </a:p>
          <a:p>
            <a:pPr lvl="0"/>
            <a:r>
              <a:rPr/>
              <a:t>The ranking can say where the next survey should sample, so surveys and models improve each other.</a:t>
            </a:r>
          </a:p>
          <a:p>
            <a:pPr lvl="0"/>
            <a:r>
              <a:rPr/>
              <a:t>A 5 percent national sample plus the ranking gives district levels within 10.3 points.</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can and cannot do yet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Rank districts inside a surveyed country? Yes.</a:t>
            </a:r>
          </a:p>
          <a:p>
            <a:pPr lvl="0"/>
            <a:r>
              <a:rPr/>
              <a:t>Rank districts in a country with no survey? Yes, more roughly.</a:t>
            </a:r>
          </a:p>
          <a:p>
            <a:pPr lvl="0"/>
            <a:r>
              <a:rPr/>
              <a:t>Say which public data carry the signal? Yes: climate, soil and satellite imagery, in every country.</a:t>
            </a:r>
          </a:p>
          <a:p>
            <a:pPr lvl="0"/>
            <a:r>
              <a:rPr/>
              <a:t>Give a prevalence figure for a new country? Not from the model alone. Yes, with one national blood sample added.</a:t>
            </a:r>
          </a:p>
          <a:p>
            <a:pPr lvl="0"/>
            <a:r>
              <a:rPr/>
              <a:t>Replace biomarker surveys? No. Tell the next survey where to go? Yes.</a:t>
            </a:r>
          </a:p>
          <a:p>
            <a:pPr lvl="0"/>
            <a:r>
              <a:rPr/>
              <a:t>Next: a fifth country to confirm it, and a workshop with partners on how a ranking should be used.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this goes next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a:p>
            <a:pPr lvl="0"/>
            <a:r>
              <a:rPr/>
              <a:t>Try a data-rich outcome such as wasting or anaemia, to see how much of the limit comes from rare outcomes.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Limitations and context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a:p>
            <a:pPr lvl="0"/>
            <a:r>
              <a:rPr/>
              <a:t>Part of any between-country difference is survey difference: different years, seasons and teams.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Two plainer measures of accuracy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Of the survey’s worst quarter of districts, the model finds 43% inside a surveyed country and 41% in a country never seen. A random pick finds 25%.</a:t>
            </a:r>
          </a:p>
          <a:p>
            <a:pPr lvl="0"/>
            <a:r>
              <a:rPr/>
              <a:t>It places a district in the correct WHO vitamin A band 64% of the time, and within one band 92%.</a:t>
            </a:r>
          </a:p>
          <a:p>
            <a:pPr lvl="0"/>
            <a:r>
              <a:rPr/>
              <a:t>On the biomarker level the ceiling set by survey noise is about 0.56 and the model reaches 0.40; on prevalence 0.44 and 0.28.</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649209" y="1600200"/>
            <a:ext cx="889053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Targeting the model’s worst fifth reaches more deficient people</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Variable importance: 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031011" y="1600200"/>
            <a:ext cx="812693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predictive variables are consistent across countries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this means for policy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More complicated models do not do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Different data support within-country and across-country prediction</a:t>
            </a:r>
          </a:p>
        </p:txBody>
      </p:sp>
      <p:pic>
        <p:nvPicPr>
          <p:cNvPr descr="../../results/figures/policy_deck/fig4_domain_scatter.png" id="0" name="Picture 1"/>
          <p:cNvPicPr>
            <a:picLocks noGrp="1" noChangeAspect="1"/>
          </p:cNvPicPr>
          <p:nvPr/>
        </p:nvPicPr>
        <p:blipFill>
          <a:blip r:embed="rId3"/>
          <a:stretch>
            <a:fillRect/>
          </a:stretch>
        </p:blipFill>
        <p:spPr bwMode="auto">
          <a:xfrm>
            <a:off x="1717388" y="1600200"/>
            <a:ext cx="875417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Sonja Hess and Andrew N. Mertens</dc:creator>
  <cp:keywords/>
  <dcterms:created xsi:type="dcterms:W3CDTF">2026-09-11T19:55:19Z</dcterms:created>
  <dcterms:modified xsi:type="dcterms:W3CDTF">2026-09-11T19:55:19Z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