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876" r:id="rId4"/>
  </p:sldMasterIdLst>
  <p:notesMasterIdLst>
    <p:notesMasterId r:id="rId29"/>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Lst>
  <p:sldSz cx="12192000" cy="6858000"/>
  <p:notesSz cx="6858000" cy="9144000"/>
  <p:defaultText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5963"/>
    <p:restoredTop sz="94694"/>
  </p:normalViewPr>
  <p:slideViewPr>
    <p:cSldViewPr snapToGrid="0">
      <p:cViewPr varScale="1">
        <p:scale>
          <a:sx d="100" n="105"/>
          <a:sy d="100" n="105"/>
        </p:scale>
        <p:origin x="204" y="96"/>
      </p:cViewPr>
      <p:guideLst/>
    </p:cSldViewPr>
  </p:slideViewPr>
  <p:outlineViewPr>
    <p:cViewPr>
      <p:scale>
        <a:sx d="100" n="33"/>
        <a:sy d="100" n="33"/>
      </p:scale>
      <p:origin x="0" y="0"/>
    </p:cViewPr>
  </p:outlineViewPr>
  <p:notesTextViewPr>
    <p:cViewPr>
      <p:scale>
        <a:sx d="100" n="20"/>
        <a:sy d="100" n="20"/>
      </p:scale>
      <p:origin x="0" y="0"/>
    </p:cViewPr>
  </p:notesTextViewPr>
  <p:sorterViewPr>
    <p:cViewPr>
      <p:scale>
        <a:sx d="100" n="80"/>
        <a:sy d="100" n="80"/>
      </p:scale>
      <p:origin x="0" y="0"/>
    </p:cViewPr>
  </p:sorter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06/15/2026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Sonja’s opening (this slide and the next): background, motivation, what the earlier work could and could not do, and the partnership. She is sending her own slides; these bullets are a stand-in from the previous version of the deck so the run-through works without them. Check the claim about the last ten years before it is spoken. The Ghana cluster share comes from results/tables/protocol_v2/variance_components_ceiling.csv (share_single_cluster). The four surveys: The Gambia 2018, Ghana 2017, Malawi 2015 to 16, Sierra Leone 2013, with vitamin A, iron, folate and B12 in children and women, 206 districts with a measured value in all.</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Replace with Sonja’s slide. The workshop point matters for the closing slide, which promises a workshop with partners on how the ranking should be used.</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Hand-over from Sonja. The big-and-small framing is the one-sentence description of the project: modern methods and as much public data as we can download on one side, a few hundred districts of gold-standard biomarker data on the other. Predictor list: data/covariates/harmonized/predictors_admin2_shared_metadata.csv (454 columns in 24 groups: satellite imagery, climate, soil, crops, livestock, malaria and other morbidity, prices, household surveys); plain descriptions in results/tables/protocol_v2/variable_sheet.csv. The estimator is a zero-tuning index over group principal components (the technical deck has the definition); it keeps the weak, correlated signal of many layers instead of screening for a few. Likely question: why so simple. With 14 to 87 districts per country, every method that learns its own settings does worse (appendix slide “More complicated models do not do better”). A country can rebuild the ranking from twenty public layers (appendix).</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score is ranking accuracy: how closely the model’s order of districts matches the survey’s, from 0 to 1. One split on its own can move a result by 0.1, so everything is averaged over repeated splits. Plainer versions of the same accuracy are in the appendix: of the survey’s worst quarter of districts the model finds 43% (a random pick finds 25%), and it places a district in the correct WHO vitamin A band 64% of the time, within one band 92%. The ceiling: most districts hold one or two survey clusters, so the survey’s own district value is itself an estimate; from the variance components we can say what correlation a perfect predictor of the true district value could reach (variance_components_ceiling.csv, ceiling_vc). On the biomarker level the ceiling is about 0.56 and the model reaches 0.40; on prevalence 0.44 and 0.28; the model is at the ceiling in 5 of 48 cells. What Reid raised in the meeting belongs here too: the model estimates status as a survey would measure it, and part of any between-country difference is survey difference (different years, seasons and teams). An earlier version of this work rested on one split and a baseline that had seen the answer; an audit found it and everything here is from the corrected protocol (docs/findings/TWO_READINGS_2026-09f.md, SANDBOX_LOG_2026-09.md).</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in the middle map is fitted to the district it scores. Ranking accuracy 0.31 for this cell, against 0.08 for chance. The north comes out as the worst region in both maps without the model being told anything about survey results; no single district should be read as correctly placed. The third map is the deployment case: the model fitted on all 75 surveyed districts and applied to every one of Ghana’s districts, so the grey gaps in the middle map are filled. Surveyed districts are in-sample in that panel; the honest check of the model is the middle panel. How firmly each district is placed is the appendix slide “How sure is the model about each district?”.</a:t>
            </a:r>
          </a:p>
        </p:txBody>
      </p:sp>
      <p:sp>
        <p:nvSpPr>
          <p:cNvPr id="4" name="Slide Number Placeholder 3"/>
          <p:cNvSpPr>
            <a:spLocks noGrp="1"/>
          </p:cNvSpPr>
          <p:nvPr>
            <p:ph type="sldNum" sz="quarter" idx="10"/>
          </p:nvPr>
        </p:nvSpPr>
        <p:spPr/>
        <p:txBody>
          <a:bodyPr/>
          <a:lstStyle/>
          <a:p>
            <a:fld id="{57582FD5-DD72-EA41-90DE-BC5D4D375366}"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If you already have a survey, smoothing between neighbours gets you most of the way, and the survey’s own regional average reaches 0.31. The right-hand column is why the project exists: the smoothers and the regional average need survey data in the country, and only the proxy methods produce anything at all there, at 0.26 to 0.37 against a chance level of 0.08, positive in 17 of 22 country-outcome combinations. Grey band: the 95th percentile of the permutation null (transport_null_calibration.csv). Rankings cross borders and absolute levels do not: raw ferritin differs several-fold between these surveys, so the model tells a new country which districts are worst, not how bad. The country with no survey we have actually ranked, Cote d’Ivoire, is in the appendix.</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0.18 with one training country, 0.28 with three, and the curve has not flattened. This is the argument for pooling surveys across the region: a survey a country runs for itself improves every other country’s map. Surveys and models improve each other: the model says which districts are uncertain or likely worst, the next survey places clusters there, and the added survey sharpens the model for everyone. Third bullet from anchor_and_rank_summary.csv (AR-01): at 5 percent of a full sample, one national estimate plus the ranking gives a median district error of 10.3 percentage points, a regional survey of the same size 12.8 and a district survey 19.7; a district survey needs about a quarter of a full sample to match the anchored ranking. Say this cautiously: it is a design result on these four surveys, not a pilot. An index built only from climate and soil reaches 0.37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checklist Sonja asked for, one line per question. Numbers behind each answer, if asked. Inside a surveyed country: 0.40 against 0.31 for the survey’s own regional averages and 0.08 for chance. A country with no survey: 0.26 with everything, 0.37 with climate and soil only, positive in 17 of 22 combinations. Which data: satellite imagery, climate and soil carry 30 to 48 percent of the index inside a country and are what travels; household-survey layers help at home and hurt abroad (appendix, “Different data support within-country and across-country prediction”). Prevalence: levels do not cross borders, and the anchored design gives district levels within 10.3 points at 5 percent of a full sample. Replace surveys: no; the ranking is scored against surveys and the ceiling is set by them. Next: the pre-registered predictions are in docs/findings/PREREGISTRATION_NEW_COUNTRIES_2026-09.md; Tanzania’s 2010 module is staged; the workshop is the partners’ request for a say in how a ranking is used, trusted and shared. The 3-minute short-oral talk takes the variable-importance story further.</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and simplified on 14 September for a reader with no statistics.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(81 of 454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57582FD5-DD72-EA41-90DE-BC5D4D375366}"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as the dashboard on the previous slide; the ranking, the probability map, the anchored planning prevalence, the survey design and the catalogue are joined. What remains is engineering (URL state, boundary simplification, the geostatistical layer) and annotation.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Reconciled against the four final reports and the 21 papers that re-analyse them on 15 September 2026 (docs/survey_report_reconciliation.md): every iron, zinc, folate and B12 national estimate now matches its report to the decimal, and the Gambia LGA estimates track the report at r = 0.98 to 0.99. What changed: the iron binaries had been the surveys’ iron-deficiency-anaemia columns (ferritin plus haemoglobin) in three countries; Malawi’s iron flag came from a mis-specified local BRINDA that under-counted by half; pregnant women and children outside 6 to 59 months had been kept; and vitamin A had been converted to retinol-equivalents with each survey’s own RBP-to-retinol line. That conversion is now a sensitivity analysis: the four lines were fitted in different directions on 14 to 300 specimens, Malawi’s has an R-squared of 0.13, and the survey’s own re-analysis (Likoswe 2021, Nutrients) recommends BRINDA-adjusted RBP below 0.70, which is what is used. Why “low RBP”: Ghana’s MRDR test found 6.7 percent of children with depleted liver stores and Malawi’s found none, so RBP below 0.70 (15 and 10 percent) is a marker of low status, not a deficiency count. Likely question: does the adjustment matter. Yes, a lot: the Ghana report gives child vitamin A as 29, 21 or 13 percent depending on none, Thurnham or BRINDA, and child iron as 17, 22 or 30; one method everywhere is the only way the countries compare. Caveats if asked: Sierra Leone’s child file as supplied contains only the survey’s anaemic children (532 of 654 assayed), so its child cells are anaemic-subgroup estimates until the full file arrives; folate was measured on an immunoassay in Ghana and Sierra Leone and a microbiologic assay in Malawi, which read differently, so its cross-border numbers are indicative only. National values under these definitions: child low RBP 17 percent in The Gambia, 15 in Ghana, 12 in Sierra Leone (anaemic children), 10 in Malawi; child iron deficiency 59, 22, 5 and 22; women’s iron deficiency 41, 14, 13 and 15.</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0.03 tie rule is ours and applies to every comparison in the deck, including the one where our own method comes first. The household-survey point is the appendix slide on what carries the model and what travels; dropping every DHS column improves new-country accuracy by 0.07. Person-level prediction reaches AUC 0.51 to 0.53 (individual_level_models.csv), a coin toss. The seasons bullet is the reason levels do not transport and rankings do: the four surveys ran from the dry season (The Gambia, malaria under 1 percent) to the end of the rains (Sierra Leone, 53 percent), and the inflammation adjustment does not remove all of that. The Sierra Leone bullet: the child file holds 532 children, all with haemoglobin under 11 g/dL, against 654 children with assays in the report, so the child cells there are estimates for anaemic children (docs/survey_report_reconciliation.md).</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Likely question: what closes the remaining third. Better predictors could, up to the ceiling; more clusters per district in the next survey would raise the ceiling itself.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12 of 75 districts are in the worst fifth on at least 80 percent of refits and 56 on at most 20 percent; the middle is the uncertain part and should be treated as such. The black outlines are the survey’s own worst fifth. Across all countries and outcomes, districts the model puts at 80 percent or above are in the survey’s worst fifth 40% of the time, against 16% for districts at 20 percent or below and a base rate of 20 percent (worst_fifth_calibration.csv). The survey’s own worst fifth is noisy at one cluster per district, so 100 percent agreement is not the ceiling. A priority list should be shown this way, with the firm districts separated from the uncertain middle.</a:t>
            </a:r>
          </a:p>
        </p:txBody>
      </p:sp>
      <p:sp>
        <p:nvSpPr>
          <p:cNvPr id="4" name="Slide Number Placeholder 3"/>
          <p:cNvSpPr>
            <a:spLocks noGrp="1"/>
          </p:cNvSpPr>
          <p:nvPr>
            <p:ph type="sldNum" sz="quarter" idx="10"/>
          </p:nvPr>
        </p:nvSpPr>
        <p:spPr/>
        <p:txBody>
          <a:bodyPr/>
          <a:lstStyle/>
          <a:p>
            <a:fld id="{57582FD5-DD72-EA41-90DE-BC5D4D375366}"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0.37. Two guards ran first: the same code with each surveyed country held out reproduces the published transport figure exactly (0.369 over 22 cells, 22 positive), and adding CIV to the column intersection costs seven of the 95 climate-and-soil columns without degrading transport (0.386, still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47%. So the model closes about a fifth of the gap between guessing and knowing. Likely question: why perfect knowledge captures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57582FD5-DD72-EA41-90DE-BC5D4D375366}"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marks the kind of data; bar length is the weight. This slide and the next are the 3-minute short-oral talk.</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thirteen of the twenty also keep it in each country’s own separate fit, which is the stricter test. None of these requires a blood sample. The twenty-layer equal-weight composite scores 0.29 for a new country, slightly above the full 454-column index at 0.26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policy slide says how.</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10.3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and, in this figure, on the same 17 country-outcome cells (the rank ensemble fails one near-empty vitamin A cell; comparing on different cells would flatter it). On those cells the untuned index averages 0.31 and the ensemble tuned for ranking 0.30, a tie under our 0.03 rule; the ensemble is ahead in 4 of the 17. The ensemble tuned for squared error, random forest and penalised regression trail by 0.03 to 0.11. The reason is sample size: 14 to 87 districts per country is not enough for a method to learn its own settings. Rerun on 10 September with the DHS-style survey columns; every tuned method gained a little from the cleaner inputs and the ordering did not change.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57582FD5-DD72-EA41-90DE-BC5D4D375366}"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and climate and soil are the two whose removal costs a new country most, with the modelled nutrition surfaces, agriculture and livestock behind. The household-survey domains sit below the line: they hold several of the largest single weights, yet removing all of them improves new-country accuracy from 0.26 to 0.33 (source_ablation_loco_summary.csv). Household-survey indicators are country-specific in a way that does not export; the physical environment does.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57582FD5-DD72-EA41-90DE-BC5D4D375366}" type="slidenum">
              <a:rPr lang="en-US"/>
              <a:t>24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36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6/15/2026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6/15/2026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6/15/2026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6/15/2026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6/15/2026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6/15/2026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6/15/2026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6/15/2026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6/15/2026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6/15/2026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6/15/2026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alphaModFix amt="48000"/>
            <a:lum/>
          </a:blip>
          <a:srcRect/>
          <a:stretch>
            <a:fillRect b="-4000" t="-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E34A5735-1510-7049-BCA2-D05BF1104DA2}" type="datetime1">
              <a:rPr lang="en-US" smtClean="0"/>
              <a:t>6/15/2026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accent1="accent1" accent2="accent2" accent3="accent3" accent4="accent4" accent5="accent5" accent6="accent6" bg1="lt1" bg2="lt2" folHlink="folHlink" hlink="hlink" tx1="dk1" tx2="dk2"/>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dt="0" ftr="0" hdr="0"/>
  <p:txStyles>
    <p:titleStyle>
      <a:lvl1pPr algn="l" defTabSz="914400" eaLnBrk="1" hangingPunct="1" latinLnBrk="0" rtl="0">
        <a:lnSpc>
          <a:spcPct val="90000"/>
        </a:lnSpc>
        <a:spcBef>
          <a:spcPct val="0"/>
        </a:spcBef>
        <a:buNone/>
        <a:defRPr kern="1200" sz="36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4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lvl="0" indent="0" marL="0">
              <a:buNone/>
            </a:pPr>
            <a:r>
              <a:rPr/>
              <a:t>Predicting Micronutrient Deficiency Prevalence in Sub-Saharan Africa Using Proxy Indicators: A Multi-country Machine Learning Framework</a:t>
            </a:r>
          </a:p>
        </p:txBody>
      </p:sp>
      <p:sp>
        <p:nvSpPr>
          <p:cNvPr id="3" name="Subtitle 2">
            <a:extLst>
              <a:ext uri="{FF2B5EF4-FFF2-40B4-BE49-F238E27FC236}">
                <a16:creationId xmlns:a16="http://schemas.microsoft.com/office/drawing/2014/main" id="{BFE7854F-01CE-7662-EA6B-3FD1C4D423B6}"/>
              </a:ext>
            </a:extLst>
          </p:cNvPr>
          <p:cNvSpPr>
            <a:spLocks noGrp="1"/>
          </p:cNvSpPr>
          <p:nvPr>
            <p:ph idx="1" type="subTitle"/>
          </p:nvPr>
        </p:nvSpPr>
        <p:spPr>
          <a:xfrm>
            <a:off x="1524000" y="3602038"/>
            <a:ext cx="9144000" cy="1655762"/>
          </a:xfrm>
        </p:spPr>
        <p:txBody>
          <a:bodyPr/>
          <a:lstStyle/>
          <a:p>
            <a:pPr lvl="0" indent="0" marL="0">
              <a:buNone/>
            </a:pPr>
            <a:br/>
            <a:br/>
            <a:r>
              <a:rPr/>
              <a:t>Sonja Hess and Andrew N. Mertens</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Why district-level micronutrient data are missing</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national micronutrient survey draws blood from a few thousand people, costs millions, and happens about once a decade. Most countries in the region have none from the last ten years.</a:t>
            </a:r>
          </a:p>
          <a:p>
            <a:pPr lvl="0"/>
            <a:r>
              <a:rPr/>
              <a:t>The decisions are local: which districts get fortified food, supplements, or the next survey team.</a:t>
            </a:r>
          </a:p>
          <a:p>
            <a:pPr lvl="0"/>
            <a:r>
              <a:rPr/>
              <a:t>Even where a survey exists, it describes regions. In the 2017 Ghana survey, 83% of districts hold a single sampled community.</a:t>
            </a:r>
          </a:p>
          <a:p>
            <a:pPr lvl="0"/>
            <a:r>
              <a:rPr/>
              <a:t>Four surveys that did draw blood let us test what public data can say about the districts nobody surveyed.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partnership and the workshop</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Placeholder for Sonja’s slide: the earlier work with the survey teams, the partner workshop, and what partners asked about how a district ranking should be used, trusted and shared.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built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We have 454 public data layers for every district but blood results for only 206 districts in four countries, so this is a big-data and a small-data problem at once.</a:t>
            </a:r>
          </a:p>
          <a:p>
            <a:pPr lvl="0"/>
            <a:r>
              <a:rPr/>
              <a:t>Each kind of data is summarised, weighted by how well it tracked deficiency where blood was drawn, and added up. The sum ranks districts from worst to best.</a:t>
            </a:r>
          </a:p>
          <a:p>
            <a:pPr lvl="0"/>
            <a:r>
              <a:rPr/>
              <a:t>The simplest version won. With a few dozen districts per country, every method that tunes itself did worse.</a:t>
            </a:r>
          </a:p>
          <a:p>
            <a:pPr lvl="0"/>
            <a:r>
              <a:rPr/>
              <a:t>The output is an ordering. One national number on top turns it into prevalence.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we tested it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Every district is scored with itself hidden from the model, over repeated random splits, and every country with the whole country hidden.</a:t>
            </a:r>
          </a:p>
          <a:p>
            <a:pPr lvl="0"/>
            <a:r>
              <a:rPr/>
              <a:t>Each method is compared with what a programme could do without it: the survey’s own regional average, or smoothing between neighbouring districts.</a:t>
            </a:r>
          </a:p>
          <a:p>
            <a:pPr lvl="0"/>
            <a:r>
              <a:rPr/>
              <a:t>Shuffling the outcome measures chance: with no information at all a ranking still reaches 0.08 on a scale of 0 to 1.</a:t>
            </a:r>
          </a:p>
          <a:p>
            <a:pPr lvl="0"/>
            <a:r>
              <a:rPr/>
              <a:t>Survey district values are themselves noisy, so a perfect predictor could only reach about 0.56. The model reaches 0.40, two-thirds of the way.</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In Ghana the model recovers the regional pattern but misplaces single districts</a:t>
            </a:r>
          </a:p>
        </p:txBody>
      </p:sp>
      <p:pic>
        <p:nvPicPr>
          <p:cNvPr descr="../../results/figures/policy_deck/fig7_ghana_map.png" id="0" name="Picture 1"/>
          <p:cNvPicPr>
            <a:picLocks noGrp="1" noChangeAspect="1"/>
          </p:cNvPicPr>
          <p:nvPr/>
        </p:nvPicPr>
        <p:blipFill>
          <a:blip r:embed="rId3"/>
          <a:stretch>
            <a:fillRect/>
          </a:stretch>
        </p:blipFill>
        <p:spPr bwMode="auto">
          <a:xfrm>
            <a:off x="810608" y="1600200"/>
            <a:ext cx="1056773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With a survey every method ties; without one only the proxy index can run</a:t>
            </a:r>
          </a:p>
        </p:txBody>
      </p:sp>
      <p:pic>
        <p:nvPicPr>
          <p:cNvPr descr="../../results/figures/policy_deck/fig1_model_comparison.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Every survey added improves the next country’s map</a:t>
            </a:r>
          </a:p>
        </p:txBody>
      </p:sp>
      <p:pic>
        <p:nvPicPr>
          <p:cNvPr descr="../../results/figures/policy_deck/fig5_learning_curve.png" id="0" name="Picture 1"/>
          <p:cNvPicPr>
            <a:picLocks noGrp="1" noChangeAspect="1"/>
          </p:cNvPicPr>
          <p:nvPr/>
        </p:nvPicPr>
        <p:blipFill>
          <a:blip r:embed="rId3"/>
          <a:stretch>
            <a:fillRect/>
          </a:stretch>
        </p:blipFill>
        <p:spPr bwMode="auto">
          <a:xfrm>
            <a:off x="411480" y="1645920"/>
            <a:ext cx="6766560" cy="3433034"/>
          </a:xfrm>
          <a:prstGeom prst="rect">
            <a:avLst/>
          </a:prstGeom>
          <a:noFill/>
          <a:ln w="9525">
            <a:noFill/>
            <a:headEnd/>
            <a:tailEnd/>
          </a:ln>
        </p:spPr>
      </p:pic>
      <p:sp>
        <p:nvSpPr>
          <p:cNvPr id="4" name="Content Placeholder 3">
            <a:extLst>
              <a:ext uri="{FF2B5EF4-FFF2-40B4-BE49-F238E27FC236}">
                <a16:creationId xmlns:a16="http://schemas.microsoft.com/office/drawing/2014/main" id="{4327201C-1AB1-5155-A12D-BBF575B2CA50}"/>
              </a:ext>
            </a:extLst>
          </p:cNvPr>
          <p:cNvSpPr>
            <a:spLocks noGrp="1"/>
          </p:cNvSpPr>
          <p:nvPr>
            <p:ph idx="2" sz="half"/>
          </p:nvPr>
        </p:nvSpPr>
        <p:spPr>
          <a:xfrm>
            <a:off x="7360920" y="1645920"/>
            <a:ext cx="4434840" cy="4572000"/>
          </a:xfrm>
        </p:spPr>
        <p:txBody>
          <a:bodyPr/>
          <a:lstStyle/>
          <a:p>
            <a:pPr lvl="0"/>
            <a:r>
              <a:rPr/>
              <a:t>Each survey added buys about 0.05 of accuracy in a country never seen.</a:t>
            </a:r>
          </a:p>
          <a:p>
            <a:pPr lvl="0"/>
            <a:r>
              <a:rPr/>
              <a:t>The ranking can say where the next survey should sample, so surveys and models improve each other.</a:t>
            </a:r>
          </a:p>
          <a:p>
            <a:pPr lvl="0"/>
            <a:r>
              <a:rPr/>
              <a:t>A 5 percent national sample plus the ranking gives district levels within 10.3 points.</a:t>
            </a:r>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can and cannot do yet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Rank districts inside a surveyed country? Yes.</a:t>
            </a:r>
          </a:p>
          <a:p>
            <a:pPr lvl="0"/>
            <a:r>
              <a:rPr/>
              <a:t>Rank districts in a country with no survey? Yes, more roughly.</a:t>
            </a:r>
          </a:p>
          <a:p>
            <a:pPr lvl="0"/>
            <a:r>
              <a:rPr/>
              <a:t>Say which public data carry the signal? Yes: climate, soil and satellite imagery, in every country.</a:t>
            </a:r>
          </a:p>
          <a:p>
            <a:pPr lvl="0"/>
            <a:r>
              <a:rPr/>
              <a:t>Give a prevalence figure for a new country? Not from the model alone. Yes, with one national blood sample added.</a:t>
            </a:r>
          </a:p>
          <a:p>
            <a:pPr lvl="0"/>
            <a:r>
              <a:rPr/>
              <a:t>Replace biomarker surveys? No. Tell the next survey where to go? Yes.</a:t>
            </a:r>
          </a:p>
          <a:p>
            <a:pPr lvl="0"/>
            <a:r>
              <a:rPr/>
              <a:t>Next: a fifth country to confirm it, and a workshop with partners on how a ranking should be used.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dashboard: every number in this talk, for every district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amertens.shinyapps.io/micronutrient-burden</a:t>
            </a:r>
          </a:p>
          <a:p>
            <a:pPr lvl="0"/>
            <a:r>
              <a:rPr/>
              <a:t>Start here: the project, the four training surveys, how the model was built, three headline numbers, the closing checklist.</a:t>
            </a:r>
          </a:p>
          <a:p>
            <a:pPr lvl="0"/>
            <a:r>
              <a:rPr/>
              <a:t>Where is deficiency? A priority score for every district, how sure the model is, a planning prevalence; click for what drives it. Cote d’Ivoire from climate and soil.</a:t>
            </a:r>
          </a:p>
          <a:p>
            <a:pPr lvl="0"/>
            <a:r>
              <a:rPr/>
              <a:t>What drives it? Leading predictors, which data travel across borders, a catalogue of all 530 predictors.</a:t>
            </a:r>
          </a:p>
          <a:p>
            <a:pPr lvl="0"/>
            <a:r>
              <a:rPr/>
              <a:t>Can we trust it? Three tests, the ceiling, what the ranking buys, methods. Plan a survey: the anchor-and-rank design.</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this goes next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Confirm on a fifth country. The protocol is pre-registered; the next survey added is the real test.</a:t>
            </a:r>
          </a:p>
          <a:p>
            <a:pPr lvl="0"/>
            <a:r>
              <a:rPr/>
              <a:t>Pool surveys. Each one added improves every other country’s map.</a:t>
            </a:r>
          </a:p>
          <a:p>
            <a:pPr lvl="0"/>
            <a:r>
              <a:rPr/>
              <a:t>Pilot the survey design: sample nationally, rank districts with the model, and compare with a district survey in one country.</a:t>
            </a:r>
          </a:p>
          <a:p>
            <a:pPr lvl="0"/>
            <a:r>
              <a:rPr/>
              <a:t>Finish the product: shareable views, the geostatistical prevalence with an interval where a survey exists, and plain-language descriptions for every predictor.</a:t>
            </a:r>
          </a:p>
          <a:p>
            <a:pPr lvl="0"/>
            <a:r>
              <a:rPr/>
              <a:t>Try a data-rich outcome such as wasting or anaemia, to see how much of the limit comes from rare outcomes.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the model is trained to rank</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Iron deficiency: inflammation-adjusted ferritin under 12 µg/L (children) or 15 µg/L (women); not iron-deficiency anaemia.</a:t>
            </a:r>
          </a:p>
          <a:p>
            <a:pPr lvl="0"/>
            <a:r>
              <a:rPr/>
              <a:t>Low vitamin A: BRINDA-adjusted retinol-binding protein under 0.70 µmol/L, one adjustment for all four surveys.</a:t>
            </a:r>
          </a:p>
          <a:p>
            <a:pPr lvl="0"/>
            <a:r>
              <a:rPr/>
              <a:t>Folate under 10 nmol/L, B12 under 148 pmol/L (women); zinc by IZiNCG cut-offs (Malawi).</a:t>
            </a:r>
          </a:p>
          <a:p>
            <a:pPr lvl="0"/>
            <a:r>
              <a:rPr/>
              <a:t>Children 6 to 59 months and non-pregnant women 15 to 49, as the survey reports tabulate.</a:t>
            </a:r>
          </a:p>
          <a:p>
            <a:pPr lvl="0"/>
            <a:r>
              <a:rPr/>
              <a:t>Sierra Leone’s child data as supplied cover the survey’s anaemic children only.</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Limitations and context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Differences under 0.03 are ties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Household-survey inputs help at home and hurt abroad; person-level prediction does not work here.</a:t>
            </a:r>
          </a:p>
          <a:p>
            <a:pPr lvl="0"/>
            <a:r>
              <a:rPr/>
              <a:t>Part of any between-country difference is survey difference: different years, seasons, teams and assays.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Two plainer measures of accuracy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Of the survey’s worst quarter of districts, the model finds 43% inside a surveyed country and 41% in a country never seen. A random pick finds 25%.</a:t>
            </a:r>
          </a:p>
          <a:p>
            <a:pPr lvl="0"/>
            <a:r>
              <a:rPr/>
              <a:t>It places a district in the correct WHO vitamin A band 64% of the time, and within one band 92%.</a:t>
            </a:r>
          </a:p>
          <a:p>
            <a:pPr lvl="0"/>
            <a:r>
              <a:rPr/>
              <a:t>On the biomarker level the ceiling set by survey noise is about 0.56 and the model reaches 0.40; on prevalence 0.44 and 0.28.</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649209" y="1600200"/>
            <a:ext cx="889053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Targeting the model’s worst fifth reaches more deficient people</a:t>
            </a:r>
          </a:p>
        </p:txBody>
      </p:sp>
      <p:pic>
        <p:nvPicPr>
          <p:cNvPr descr="../../results/figures/policy_deck/fig6_targeting.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Variable importance: 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031011" y="1600200"/>
            <a:ext cx="812693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predictive variables are consistent across countries (child iron)</a:t>
            </a:r>
          </a:p>
        </p:txBody>
      </p:sp>
      <p:pic>
        <p:nvPicPr>
          <p:cNvPr descr="../../results/figures/policy_deck/fig8_twenty_layers.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581030" y="1600200"/>
            <a:ext cx="902689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this means for policy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10.3 points. A district survey needs about a quarter of a full sample to match that.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More complicated models do not do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Different data support within-country and across-country prediction</a:t>
            </a:r>
          </a:p>
        </p:txBody>
      </p:sp>
      <p:pic>
        <p:nvPicPr>
          <p:cNvPr descr="../../results/figures/policy_deck/fig4_domain_scatter.png" id="0" name="Picture 1"/>
          <p:cNvPicPr>
            <a:picLocks noGrp="1" noChangeAspect="1"/>
          </p:cNvPicPr>
          <p:nvPr/>
        </p:nvPicPr>
        <p:blipFill>
          <a:blip r:embed="rId3"/>
          <a:stretch>
            <a:fillRect/>
          </a:stretch>
        </p:blipFill>
        <p:spPr bwMode="auto">
          <a:xfrm>
            <a:off x="1717388" y="1600200"/>
            <a:ext cx="875417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Prevalence in Sub-Saharan Africa Using Proxy Indicators: A Multi-country Machine Learning Framework</dc:title>
  <dc:creator>Sonja Hess and Andrew N. Mertens</dc:creator>
  <cp:keywords/>
  <dcterms:created xsi:type="dcterms:W3CDTF">2026-09-15T18:25:07Z</dcterms:created>
  <dcterms:modified xsi:type="dcterms:W3CDTF">2026-09-15T18:25:07Z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
  </property>
  <property fmtid="{D5CDD505-2E9C-101B-9397-08002B2CF9AE}" pid="11" name="toc-title">
    <vt:lpwstr>Table of contents</vt:lpwstr>
  </property>
</Properties>
</file>