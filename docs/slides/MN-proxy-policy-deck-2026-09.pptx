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2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Sonja’s opening (this slide and the next): background, motivation, what the earlier work could and could not do, and the partnership. She is sending her own slides; these bullets are a stand-in from the previous version of the deck so the run-through works without them. Check the claim about the last ten years before it is spoken. The Ghana cluster share comes from results/tables/protocol_v2/variance_components_ceiling.csv (share_single_cluster). The four surveys: The Gambia 2018, Ghana 2017, Malawi 2015 to 16, Sierra Leone 2013, with vitamin A, iron, folate and B12 in children and women, 206 districts with a measured value in all.</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Replace with Sonja’s slide. The workshop point matters for the closing slide, which promises a workshop with partners on how the ranking should be used.</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Hand-over from Sonja. The big-and-small framing is the one-sentence description of the project: modern methods and as much public data as we can download on one side, a few hundred districts of gold-standard biomarker data on the other. Predictor list: data/covariates/harmonized/predictors_admin2_shared_metadata.csv (454 columns in 24 groups: satellite imagery, climate, soil, crops, livestock, malaria and other morbidity, prices, household surveys); plain descriptions in results/tables/protocol_v2/variable_sheet.csv. The estimator is a zero-tuning index over group principal components (the technical deck has the definition); it keeps the weak, correlated signal of many layers instead of screening for a few. Likely question: why so simple. With 14 to 87 districts per country, every method that learns its own settings does worse (appendix slide “More complicated models do not do better”). A country can rebuild the ranking from twenty public layers (appendix).</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score is ranking accuracy: how closely the model’s order of districts matches the survey’s, from 0 to 1. One split on its own can move a result by 0.1, so everything is averaged over repeated splits. Plainer versions of the same accuracy are in the appendix: of the survey’s worst quarter of districts the model finds 43% (a random pick finds 25%), and it places a district in the correct WHO vitamin A band 64% of the time, within one band 92%. The ceiling: most districts hold one or two survey clusters, so the survey’s own district value is itself an estimate; from the variance components we can say what correlation a perfect predictor of the true district value could reach (variance_components_ceiling.csv, ceiling_vc). On the biomarker level the ceiling is about 0.56 and the model reaches 0.40; on prevalence 0.44 and 0.28; the model is at the ceiling in 5 of 48 cells. What Reid raised in the meeting belongs here too: the model estimates status as a survey would measure it, and part of any between-country difference is survey difference (different years, seasons and teams). An earlier version of this work rested on one split and a baseline that had seen the answer; an audit found it and everything here is from the corrected protocol (docs/findings/TWO_READINGS_2026-09f.md, SANDBOX_LOG_2026-09.md).</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in the middle map is fitted to the district it scores. Ranking accuracy 0.31 for this cell, against 0.08 for chance. What the eye should take: the north comes out as the worst region in both maps without the model being told anything about survey results. What it should not take: that any single district is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 How firmly each district is placed is the appendix slide “How sure is the model about each district?”.</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Worth saying plainly: if you already have a survey, smoothing between neighbours gets you most of the way, and the survey’s own regional average reaches 0.31. The right-hand column is the point of the project. The smoothers and the regional average need survey data in the country; only the proxy methods produce anything at all there, at 0.26 to 0.37 against a chance level of 0.08, positive in 17 of 22 country-outcome combinations. Grey band: the 95th percentile of the permutation null (transport_null_calibration.csv). Rankings cross borders and absolute levels do not: raw ferritin differs several-fold between these surveys, so the model tells a new country which districts are worst, not how bad. The country with no survey we have actually ranked, Cote d’Ivoire, is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0.18 with one training country, 0.28 with three, and the curve has not flattened. This is the argument for pooling surveys across the region: a survey a country runs for itself improves every other country’s map. The feedback loop: the model says which districts are uncertain or likely worst, the next survey places clusters there, and the added survey sharpens the model for everyone. Third bullet from anchor_and_rank_summary.csv (AR-01): at 5 percent of a full sample, one national estimate plus the ranking gives a median district error of 10.3 percentage points, a regional survey of the same size 12.8 and a district survey 19.7; a district survey needs about a quarter of a full sample to match the anchored ranking. Say this cautiously: it is a design result on these four surveys, not a pilot.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checklist Sonja asked for, one line per question. Numbers behind each answer, if asked. Inside a surveyed country: 0.40 against 0.31 for the survey’s own regional averages and 0.08 for chance. A country with no survey: 0.26 with everything, 0.37 with climate and soil only, positive in 17 of 22 combinations. Which data: satellite imagery, climate and soil carry 30 to 48 percent of the index inside a country and are what travels; household-survey layers help at home and hurt abroad (appendix, “Different data support within-country and across-country prediction”). Prevalence: levels do not cross borders, and the anchored design gives district levels within 10.3 points at 5 percent of a full sample. Replace surveys: no; the ranking is scored against surveys and the ceiling is set by them. Next: the pre-registered predictions are in docs/findings/PREREGISTRATION_NEW_COUNTRIES_2026-09.md; Tanzania’s 2010 module is staged; the workshop is the partners’ request for a say in how a ranking is used, trusted and shared. The 3-minute short-oral talk takes the variable-importance story further.</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in pieces (the ranking, the probability map, the anchor-and-rank design, the geostatistical comparator on the cluster track); joining them is engineering, not research.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 The last bullet is the reason levels do not transport and rankings do.</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Likely question: what closes the remaining third. Better predictors could, up to the ceiling; more clusters per district in the next survey would raise the ceiling itself.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This is the form a priority list should take: firm at the top, honest about the middle.</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Useful, and worth saying in exactly those terms.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57582FD5-DD72-EA41-90DE-BC5D4D375366}"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groups the kind of data, not its strength. This slide and the next are the 3-minute short-oral talk.</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policy slide says how.</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and, in this figure, on the same 17 country-outcome cells (the rank ensemble fails one near-empty vitamin A cell; comparing on different cells would flatter it). On those cells the untuned index averages 0.31 and the ensemble tuned for ranking 0.30, a tie under our 0.03 rule; the ensemble is ahead in 4 of the 17. The ensemble tuned for squared error, random forest and penalised regression trail by 0.03 to 0.11. The reason is sample size: 14 to 87 districts per country is not enough for a method to learn its own settings. Rerun on 10 September with the DHS-style survey columns; every tuned method gained a little from the cleaner inputs and the ordering did not change.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Why district-level micronutrient data are missing</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national micronutrient survey draws blood from a few thousand people, costs millions, and happens about once a decade. Most countries in the region have none from the last ten years.</a:t>
            </a:r>
          </a:p>
          <a:p>
            <a:pPr lvl="0"/>
            <a:r>
              <a:rPr/>
              <a:t>The decisions are local: which districts get fortified food, supplements, or the next survey team.</a:t>
            </a:r>
          </a:p>
          <a:p>
            <a:pPr lvl="0"/>
            <a:r>
              <a:rPr/>
              <a:t>Even where a survey exists, it describes regions. In the 2017 Ghana survey, 83% of districts hold a single sampled community.</a:t>
            </a:r>
          </a:p>
          <a:p>
            <a:pPr lvl="0"/>
            <a:r>
              <a:rPr/>
              <a:t>Four surveys that did draw blood let us test what public data can say about the districts nobody surveyed.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partnership and the workshop</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Placeholder for Sonja’s slide: the earlier work with the survey teams, the partner workshop, and what partners asked about how a district ranking should be used, trusted and shared.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built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We have 454 public data layers for every district but blood results for only 206 districts in four countries, so this is a big-data and a small-data problem at once.</a:t>
            </a:r>
          </a:p>
          <a:p>
            <a:pPr lvl="0"/>
            <a:r>
              <a:rPr/>
              <a:t>Each kind of data is summarised, weighted by how well it tracked deficiency where blood was drawn, and added up. The sum ranks districts from worst to best.</a:t>
            </a:r>
          </a:p>
          <a:p>
            <a:pPr lvl="0"/>
            <a:r>
              <a:rPr/>
              <a:t>The simplest version won. With a few dozen districts per country, every method that tunes itself did worse.</a:t>
            </a:r>
          </a:p>
          <a:p>
            <a:pPr lvl="0"/>
            <a:r>
              <a:rPr/>
              <a:t>The output is an ordering. One national number on top turns it into prevalence.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we tested it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Every district is scored with itself hidden from the model, over repeated random splits, and every country with the whole country hidden.</a:t>
            </a:r>
          </a:p>
          <a:p>
            <a:pPr lvl="0"/>
            <a:r>
              <a:rPr/>
              <a:t>Each method is compared with what a programme could do without it: the survey’s own regional average, or smoothing between neighbouring districts.</a:t>
            </a:r>
          </a:p>
          <a:p>
            <a:pPr lvl="0"/>
            <a:r>
              <a:rPr/>
              <a:t>Shuffling the outcome measures chance: with no information at all a ranking still reaches 0.08 on a scale of 0 to 1.</a:t>
            </a:r>
          </a:p>
          <a:p>
            <a:pPr lvl="0"/>
            <a:r>
              <a:rPr/>
              <a:t>Survey district values are themselves noisy, so a perfect predictor could only reach about 0.56. The model reaches 0.40, two-thirds of the way.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In Ghana the model recovers the regional pattern but misplaces single districts</a:t>
            </a:r>
          </a:p>
        </p:txBody>
      </p:sp>
      <p:pic>
        <p:nvPicPr>
          <p:cNvPr descr="../../results/figures/policy_deck/fig7_ghana_map.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With a survey every method ties; without one only the proxy index can run</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Every survey added improves the next country’s map</a:t>
            </a:r>
          </a:p>
        </p:txBody>
      </p:sp>
      <p:pic>
        <p:nvPicPr>
          <p:cNvPr descr="../../results/figures/policy_deck/fig5_learning_curve.png" id="0" name="Picture 1"/>
          <p:cNvPicPr>
            <a:picLocks noGrp="1" noChangeAspect="1"/>
          </p:cNvPicPr>
          <p:nvPr/>
        </p:nvPicPr>
        <p:blipFill>
          <a:blip r:embed="rId3"/>
          <a:stretch>
            <a:fillRect/>
          </a:stretch>
        </p:blipFill>
        <p:spPr bwMode="auto">
          <a:xfrm>
            <a:off x="411480" y="1645920"/>
            <a:ext cx="6766560" cy="3433034"/>
          </a:xfrm>
          <a:prstGeom prst="rect">
            <a:avLst/>
          </a:prstGeom>
          <a:noFill/>
          <a:ln w="9525">
            <a:noFill/>
            <a:headEnd/>
            <a:tailEnd/>
          </a:ln>
        </p:spPr>
      </p:pic>
      <p:sp>
        <p:nvSpPr>
          <p:cNvPr id="4" name="Content Placeholder 3">
            <a:extLst>
              <a:ext uri="{FF2B5EF4-FFF2-40B4-BE49-F238E27FC236}">
                <a16:creationId xmlns:a16="http://schemas.microsoft.com/office/drawing/2014/main" id="{4327201C-1AB1-5155-A12D-BBF575B2CA50}"/>
              </a:ext>
            </a:extLst>
          </p:cNvPr>
          <p:cNvSpPr>
            <a:spLocks noGrp="1"/>
          </p:cNvSpPr>
          <p:nvPr>
            <p:ph idx="2" sz="half"/>
          </p:nvPr>
        </p:nvSpPr>
        <p:spPr>
          <a:xfrm>
            <a:off x="7360920" y="1645920"/>
            <a:ext cx="4434840" cy="4572000"/>
          </a:xfrm>
        </p:spPr>
        <p:txBody>
          <a:bodyPr/>
          <a:lstStyle/>
          <a:p>
            <a:pPr lvl="0"/>
            <a:r>
              <a:rPr/>
              <a:t>Each survey added buys about 0.05 of accuracy in a country never seen.</a:t>
            </a:r>
          </a:p>
          <a:p>
            <a:pPr lvl="0"/>
            <a:r>
              <a:rPr/>
              <a:t>The ranking can say where the next survey should sample, so surveys and models improve each other.</a:t>
            </a:r>
          </a:p>
          <a:p>
            <a:pPr lvl="0"/>
            <a:r>
              <a:rPr/>
              <a:t>A 5 percent national sample plus the ranking gives district levels within 10.3 points.</a:t>
            </a:r>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can and cannot do yet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Rank districts inside a surveyed country? Yes.</a:t>
            </a:r>
          </a:p>
          <a:p>
            <a:pPr lvl="0"/>
            <a:r>
              <a:rPr/>
              <a:t>Rank districts in a country with no survey? Yes, more roughly.</a:t>
            </a:r>
          </a:p>
          <a:p>
            <a:pPr lvl="0"/>
            <a:r>
              <a:rPr/>
              <a:t>Say which public data carry the signal? Yes: climate, soil and satellite imagery, in every country.</a:t>
            </a:r>
          </a:p>
          <a:p>
            <a:pPr lvl="0"/>
            <a:r>
              <a:rPr/>
              <a:t>Give a prevalence figure for a new country? Not from the model alone. Yes, with one national blood sample added.</a:t>
            </a:r>
          </a:p>
          <a:p>
            <a:pPr lvl="0"/>
            <a:r>
              <a:rPr/>
              <a:t>Replace biomarker surveys? No. Tell the next survey where to go? Yes.</a:t>
            </a:r>
          </a:p>
          <a:p>
            <a:pPr lvl="0"/>
            <a:r>
              <a:rPr/>
              <a:t>Next: a fifth country to confirm it, and a workshop with partners on how a ranking should be used.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this goes next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Confirm on a fifth country. The protocol is pre-registered; the next survey added is the real test.</a:t>
            </a:r>
          </a:p>
          <a:p>
            <a:pPr lvl="0"/>
            <a:r>
              <a:rPr/>
              <a:t>Build the product: a priority list with a probability per district, one national number for levels, and the DHS-style figure where a survey exists.</a:t>
            </a:r>
          </a:p>
          <a:p>
            <a:pPr lvl="0"/>
            <a:r>
              <a:rPr/>
              <a:t>Pool surveys. Each one added improves every other country’s map.</a:t>
            </a:r>
          </a:p>
          <a:p>
            <a:pPr lvl="0"/>
            <a:r>
              <a:rPr/>
              <a:t>Pilot the survey design: sample nationally, rank districts with the model, and compare with a district survey in one country.</a:t>
            </a:r>
          </a:p>
          <a:p>
            <a:pPr lvl="0"/>
            <a:r>
              <a:rPr/>
              <a:t>Try a data-rich outcome such as wasting or anaemia, to see how much of the limit comes from rare outcomes.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Limitations and context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a:p>
            <a:pPr lvl="0"/>
            <a:r>
              <a:rPr/>
              <a:t>Part of any between-country difference is survey difference: different years, seasons and teams.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Two plainer measures of accuracy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Of the survey’s worst quarter of districts, the model finds 43% inside a surveyed country and 41% in a country never seen. A random pick finds 25%.</a:t>
            </a:r>
          </a:p>
          <a:p>
            <a:pPr lvl="0"/>
            <a:r>
              <a:rPr/>
              <a:t>It places a district in the correct WHO vitamin A band 64% of the time, and within one band 92%.</a:t>
            </a:r>
          </a:p>
          <a:p>
            <a:pPr lvl="0"/>
            <a:r>
              <a:rPr/>
              <a:t>On the biomarker level the ceiling set by survey noise is about 0.56 and the model reaches 0.40; on prevalence 0.44 and 0.28.</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649209" y="1600200"/>
            <a:ext cx="889053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Targeting the model’s worst fifth reaches more deficient people</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Variable importance: 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031011" y="1600200"/>
            <a:ext cx="812693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predictive variables are consistent across countries (child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this means for policy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More complicated models do not do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Different data support within-country and across-country prediction</a:t>
            </a:r>
          </a:p>
        </p:txBody>
      </p:sp>
      <p:pic>
        <p:nvPicPr>
          <p:cNvPr descr="../../results/figures/policy_deck/fig4_domain_scatter.png" id="0" name="Picture 1"/>
          <p:cNvPicPr>
            <a:picLocks noGrp="1" noChangeAspect="1"/>
          </p:cNvPicPr>
          <p:nvPr/>
        </p:nvPicPr>
        <p:blipFill>
          <a:blip r:embed="rId3"/>
          <a:stretch>
            <a:fillRect/>
          </a:stretch>
        </p:blipFill>
        <p:spPr bwMode="auto">
          <a:xfrm>
            <a:off x="1717388" y="1600200"/>
            <a:ext cx="875417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Sonja Hess and Andrew N. Mertens</dc:creator>
  <cp:keywords/>
  <dcterms:created xsi:type="dcterms:W3CDTF">2026-09-11T19:25:29Z</dcterms:created>
  <dcterms:modified xsi:type="dcterms:W3CDTF">2026-09-11T19:25:29Z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