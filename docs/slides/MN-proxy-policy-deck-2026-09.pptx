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876" r:id="rId4"/>
  </p:sldMasterIdLst>
  <p:notesMasterIdLst>
    <p:notesMasterId r:id="rId27"/>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Lst>
  <p:sldSz cx="12192000" cy="6858000"/>
  <p:notesSz cx="6858000" cy="9144000"/>
  <p:defaultText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08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5963"/>
    <p:restoredTop sz="94694"/>
  </p:normalViewPr>
  <p:slideViewPr>
    <p:cSldViewPr snapToGrid="0">
      <p:cViewPr varScale="1">
        <p:scale>
          <a:sx d="100" n="105"/>
          <a:sy d="100" n="105"/>
        </p:scale>
        <p:origin x="204" y="96"/>
      </p:cViewPr>
      <p:guideLst/>
    </p:cSldViewPr>
  </p:slideViewPr>
  <p:outlineViewPr>
    <p:cViewPr>
      <p:scale>
        <a:sx d="100" n="33"/>
        <a:sy d="100" n="33"/>
      </p:scale>
      <p:origin x="0" y="0"/>
    </p:cViewPr>
  </p:outlineViewPr>
  <p:notesTextViewPr>
    <p:cViewPr>
      <p:scale>
        <a:sx d="100" n="20"/>
        <a:sy d="100" n="20"/>
      </p:scale>
      <p:origin x="0" y="0"/>
    </p:cViewPr>
  </p:notesTextViewPr>
  <p:sorterViewPr>
    <p:cViewPr>
      <p:scale>
        <a:sx d="100" n="80"/>
        <a:sy d="100" n="80"/>
      </p:scale>
      <p:origin x="0" y="0"/>
    </p:cViewPr>
  </p:sorterViewPr>
  <p:gridSpacing cx="72008" cy="72008"/>
</p:viewPr>
</file>

<file path=ppt/_rels/presentation.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GB"/>
              <a:t>mnfconference.org</a:t>
            </a:r>
            <a:endParaRPr lang="en-B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22CFD4-67F2-0A4F-8F9A-7BBE605BC4FC}" type="datetimeFigureOut">
              <a:rPr lang="en-BG" smtClean="0"/>
              <a:t>06/15/2026</a:t>
            </a:fld>
            <a:endParaRPr lang="en-B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GB"/>
              <a:t>mnfconference.org  |  </a:t>
            </a:r>
            <a:endParaRPr lang="en-B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582FD5-DD72-EA41-90DE-BC5D4D375366}" type="slidenum">
              <a:rPr lang="en-BG" smtClean="0"/>
              <a:t>‹#›</a:t>
            </a:fld>
            <a:endParaRPr lang="en-BG"/>
          </a:p>
        </p:txBody>
      </p:sp>
    </p:spTree>
    <p:extLst>
      <p:ext uri="{BB962C8B-B14F-4D97-AF65-F5344CB8AC3E}">
        <p14:creationId xmlns:p14="http://schemas.microsoft.com/office/powerpoint/2010/main" val="1494263926"/>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Sonja’s opening (this slide and the next): background, motivation, what the earlier work could and could not do, and the partnership. She is sending her own slides; these bullets are a stand-in from the previous version of the deck so the run-through works without them. Check the claim about the last ten years before it is spoken. The Ghana cluster share comes from results/tables/protocol_v2/variance_components_ceiling.csv (share_single_cluster). The four surveys: The Gambia 2018, Ghana 2017, Malawi 2015 to 16, Sierra Leone 2013, with vitamin A, iron, folate and B12 in children and women, 206 districts with a measured value in all.</a:t>
            </a:r>
          </a:p>
        </p:txBody>
      </p:sp>
      <p:sp>
        <p:nvSpPr>
          <p:cNvPr id="4" name="Slide Number Placeholder 3"/>
          <p:cNvSpPr>
            <a:spLocks noGrp="1"/>
          </p:cNvSpPr>
          <p:nvPr>
            <p:ph type="sldNum" sz="quarter" idx="10"/>
          </p:nvPr>
        </p:nvSpPr>
        <p:spPr/>
        <p:txBody>
          <a:bodyPr/>
          <a:lstStyle/>
          <a:p>
            <a:fld id="{57582FD5-DD72-EA41-90DE-BC5D4D375366}"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Replace with Sonja’s slide. The workshop point matters for the closing slide, which promises a workshop with partners on how the ranking should be used.</a:t>
            </a:r>
          </a:p>
        </p:txBody>
      </p:sp>
      <p:sp>
        <p:nvSpPr>
          <p:cNvPr id="4" name="Slide Number Placeholder 3"/>
          <p:cNvSpPr>
            <a:spLocks noGrp="1"/>
          </p:cNvSpPr>
          <p:nvPr>
            <p:ph type="sldNum" sz="quarter" idx="10"/>
          </p:nvPr>
        </p:nvSpPr>
        <p:spPr/>
        <p:txBody>
          <a:bodyPr/>
          <a:lstStyle/>
          <a:p>
            <a:fld id="{57582FD5-DD72-EA41-90DE-BC5D4D375366}"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Hand-over from Sonja. The big-and-small framing is the one-sentence description of the project: modern methods and as much public data as we can download on one side, a few hundred districts of gold-standard biomarker data on the other. Predictor list: data/covariates/harmonized/predictors_admin2_shared_metadata.csv (454 columns in 24 groups: satellite imagery, climate, soil, crops, livestock, malaria and other morbidity, prices, household surveys); plain descriptions in results/tables/protocol_v2/variable_sheet.csv. The estimator is a zero-tuning index over group principal components (the technical deck has the definition); it keeps the weak, correlated signal of many layers instead of screening for a few. Likely question: why so simple. With 14 to 87 districts per country, every method that learns its own settings does worse (appendix slide “More complicated models do not do better”). A country can rebuild the ranking from twenty public layers (appendix).</a:t>
            </a:r>
          </a:p>
        </p:txBody>
      </p:sp>
      <p:sp>
        <p:nvSpPr>
          <p:cNvPr id="4" name="Slide Number Placeholder 3"/>
          <p:cNvSpPr>
            <a:spLocks noGrp="1"/>
          </p:cNvSpPr>
          <p:nvPr>
            <p:ph type="sldNum" sz="quarter" idx="10"/>
          </p:nvPr>
        </p:nvSpPr>
        <p:spPr/>
        <p:txBody>
          <a:bodyPr/>
          <a:lstStyle/>
          <a:p>
            <a:fld id="{57582FD5-DD72-EA41-90DE-BC5D4D375366}"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score is ranking accuracy: how closely the model’s order of districts matches the survey’s, from 0 to 1. One split on its own can move a result by 0.1, so everything is averaged over repeated splits. Plainer versions of the same accuracy are in the appendix: of the survey’s worst quarter of districts the model finds 43% (a random pick finds 25%), and it places a district in the correct WHO vitamin A band 64% of the time, within one band 92%. The ceiling: most districts hold one or two survey clusters, so the survey’s own district value is itself an estimate; from the variance components we can say what correlation a perfect predictor of the true district value could reach (variance_components_ceiling.csv, ceiling_vc). On the biomarker level the ceiling is about 0.56 and the model reaches 0.40; on prevalence 0.44 and 0.28; the model is at the ceiling in 5 of 48 cells. What Reid raised in the meeting belongs here too: the model estimates status as a survey would measure it, and part of any between-country difference is survey difference (different years, seasons and teams). An earlier version of this work rested on one split and a baseline that had seen the answer; an audit found it and everything here is from the corrected protocol (docs/findings/TWO_READINGS_2026-09f.md, SANDBOX_LOG_2026-09.md).</a:t>
            </a:r>
          </a:p>
        </p:txBody>
      </p:sp>
      <p:sp>
        <p:nvSpPr>
          <p:cNvPr id="4" name="Slide Number Placeholder 3"/>
          <p:cNvSpPr>
            <a:spLocks noGrp="1"/>
          </p:cNvSpPr>
          <p:nvPr>
            <p:ph type="sldNum" sz="quarter" idx="10"/>
          </p:nvPr>
        </p:nvSpPr>
        <p:spPr/>
        <p:txBody>
          <a:bodyPr/>
          <a:lstStyle/>
          <a:p>
            <a:fld id="{57582FD5-DD72-EA41-90DE-BC5D4D375366}"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in the middle map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 How firmly each district is placed is the appendix slide “How sure is the model about each district?”.</a:t>
            </a:r>
          </a:p>
        </p:txBody>
      </p:sp>
      <p:sp>
        <p:nvSpPr>
          <p:cNvPr id="4" name="Slide Number Placeholder 3"/>
          <p:cNvSpPr>
            <a:spLocks noGrp="1"/>
          </p:cNvSpPr>
          <p:nvPr>
            <p:ph type="sldNum" sz="quarter" idx="10"/>
          </p:nvPr>
        </p:nvSpPr>
        <p:spPr/>
        <p:txBody>
          <a:bodyPr/>
          <a:lstStyle/>
          <a:p>
            <a:fld id="{57582FD5-DD72-EA41-90DE-BC5D4D375366}"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Worth saying plainly: if you already have a survey, smoothing between neighbours gets you most of the way, and the survey’s own regional average reaches 0.31. The right-hand column is the point of the project. The smoothers and the regional average need survey data in the country; only the proxy methods produce anything at all there, at 0.26 to 0.37 against a chance level of 0.08, positive in 17 of 22 country-outcome combinations. Grey band: the 95th percentile of the permutation null (transport_null_calibration.csv). Rankings cross borders and absolute levels do not: raw ferritin differs several-fold between these surveys, so the model tells a new country which districts are worst, not how bad. The country with no survey we have actually ranked, Cote d’Ivoire, is in the appendix.</a:t>
            </a:r>
          </a:p>
        </p:txBody>
      </p:sp>
      <p:sp>
        <p:nvSpPr>
          <p:cNvPr id="4" name="Slide Number Placeholder 3"/>
          <p:cNvSpPr>
            <a:spLocks noGrp="1"/>
          </p:cNvSpPr>
          <p:nvPr>
            <p:ph type="sldNum" sz="quarter" idx="10"/>
          </p:nvPr>
        </p:nvSpPr>
        <p:spPr/>
        <p:txBody>
          <a:bodyPr/>
          <a:lstStyle/>
          <a:p>
            <a:fld id="{57582FD5-DD72-EA41-90DE-BC5D4D375366}"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0.18 with one training country, 0.28 with three, and the curve has not flattened. This is the argument for pooling surveys across the region: a survey a country runs for itself improves every other country’s map. The feedback loop: the model says which districts are uncertain or likely worst, the next survey places clusters there, and the added survey sharpens the model for everyone. Third bullet from anchor_and_rank_summary.csv (AR-01): at 5 percent of a full sample, one national estimate plus the ranking gives a median district error of 10.3 percentage points, a regional survey of the same size 12.8 and a district survey 19.7; a district survey needs about a quarter of a full sample to match the anchored ranking. Say this cautiously: it is a design result on these four surveys, not a pilot.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57582FD5-DD72-EA41-90DE-BC5D4D375366}"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checklist Sonja asked for, one line per question. Numbers behind each answer, if asked. Inside a surveyed country: 0.40 against 0.31 for the survey’s own regional averages and 0.08 for chance. A country with no survey: 0.26 with everything, 0.37 with climate and soil only, positive in 17 of 22 combinations. Which data: satellite imagery, climate and soil carry 30 to 48 percent of the index inside a country and are what travels; household-survey layers help at home and hurt abroad (appendix, “Different data support within-country and across-country prediction”). Prevalence: levels do not cross borders, and the anchored design gives district levels within 10.3 points at 5 percent of a full sample. Replace surveys: no; the ranking is scored against surveys and the ceiling is set by them. Next: the pre-registered predictions are in docs/findings/PREREGISTRATION_NEW_COUNTRIES_2026-09.md; Tanzania’s 2010 module is staged; the workshop is the partners’ request for a say in how a ranking is used, trusted and shared. The 3-minute short-oral talk takes the variable-importance story further.</a:t>
            </a:r>
          </a:p>
        </p:txBody>
      </p:sp>
      <p:sp>
        <p:nvSpPr>
          <p:cNvPr id="4" name="Slide Number Placeholder 3"/>
          <p:cNvSpPr>
            <a:spLocks noGrp="1"/>
          </p:cNvSpPr>
          <p:nvPr>
            <p:ph type="sldNum" sz="quarter" idx="10"/>
          </p:nvPr>
        </p:nvSpPr>
        <p:spPr/>
        <p:txBody>
          <a:bodyPr/>
          <a:lstStyle/>
          <a:p>
            <a:fld id="{57582FD5-DD72-EA41-90DE-BC5D4D375366}"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57582FD5-DD72-EA41-90DE-BC5D4D375366}"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 The last bullet is the reason levels do not transport and rankings do.</a:t>
            </a:r>
          </a:p>
        </p:txBody>
      </p:sp>
      <p:sp>
        <p:nvSpPr>
          <p:cNvPr id="4" name="Slide Number Placeholder 3"/>
          <p:cNvSpPr>
            <a:spLocks noGrp="1"/>
          </p:cNvSpPr>
          <p:nvPr>
            <p:ph type="sldNum" sz="quarter" idx="10"/>
          </p:nvPr>
        </p:nvSpPr>
        <p:spPr/>
        <p:txBody>
          <a:bodyPr/>
          <a:lstStyle/>
          <a:p>
            <a:fld id="{57582FD5-DD72-EA41-90DE-BC5D4D375366}"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57582FD5-DD72-EA41-90DE-BC5D4D375366}"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57582FD5-DD72-EA41-90DE-BC5D4D375366}"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57582FD5-DD72-EA41-90DE-BC5D4D375366}"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57582FD5-DD72-EA41-90DE-BC5D4D375366}"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 This slide and the next are the 3-minute short-oral talk.</a:t>
            </a:r>
          </a:p>
        </p:txBody>
      </p:sp>
      <p:sp>
        <p:nvSpPr>
          <p:cNvPr id="4" name="Slide Number Placeholder 3"/>
          <p:cNvSpPr>
            <a:spLocks noGrp="1"/>
          </p:cNvSpPr>
          <p:nvPr>
            <p:ph type="sldNum" sz="quarter" idx="10"/>
          </p:nvPr>
        </p:nvSpPr>
        <p:spPr/>
        <p:txBody>
          <a:bodyPr/>
          <a:lstStyle/>
          <a:p>
            <a:fld id="{57582FD5-DD72-EA41-90DE-BC5D4D375366}"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57582FD5-DD72-EA41-90DE-BC5D4D375366}"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policy slide says how.</a:t>
            </a:r>
          </a:p>
        </p:txBody>
      </p:sp>
      <p:sp>
        <p:nvSpPr>
          <p:cNvPr id="4" name="Slide Number Placeholder 3"/>
          <p:cNvSpPr>
            <a:spLocks noGrp="1"/>
          </p:cNvSpPr>
          <p:nvPr>
            <p:ph type="sldNum" sz="quarter" idx="10"/>
          </p:nvPr>
        </p:nvSpPr>
        <p:spPr/>
        <p:txBody>
          <a:bodyPr/>
          <a:lstStyle/>
          <a:p>
            <a:fld id="{57582FD5-DD72-EA41-90DE-BC5D4D375366}"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57582FD5-DD72-EA41-90DE-BC5D4D375366}"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and, in this figure, on the same 17 country-outcome cells (the rank ensemble fails one near-empty vitamin A cell; comparing on different cells would flatter it). On those cells the untuned index averages 0.31 and the ensemble tuned for ranking 0.30, a tie under our 0.03 rule; the ensemble is ahead in 4 of the 17. The ensemble tuned for squared error, random forest and penalised regression trail by 0.03 to 0.11. The reason is sample size: 14 to 87 districts per country is not enough for a method to learn its own settings. Rerun on 10 September with the DHS-style survey columns; every tuned method gained a little from the cleaner inputs and the ordering did not change.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57582FD5-DD72-EA41-90DE-BC5D4D375366}"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57582FD5-DD72-EA41-90DE-BC5D4D375366}"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G"/>
          </a:p>
        </p:txBody>
      </p:sp>
      <p:sp>
        <p:nvSpPr>
          <p:cNvPr id="3" name="Subtitle 2">
            <a:extLst>
              <a:ext uri="{FF2B5EF4-FFF2-40B4-BE49-F238E27FC236}">
                <a16:creationId xmlns:a16="http://schemas.microsoft.com/office/drawing/2014/main" id="{BFE7854F-01CE-7662-EA6B-3FD1C4D423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G"/>
          </a:p>
        </p:txBody>
      </p:sp>
      <p:sp>
        <p:nvSpPr>
          <p:cNvPr id="4" name="Date Placeholder 3">
            <a:extLst>
              <a:ext uri="{FF2B5EF4-FFF2-40B4-BE49-F238E27FC236}">
                <a16:creationId xmlns:a16="http://schemas.microsoft.com/office/drawing/2014/main" id="{2263929F-88AA-CA48-AF0A-AC827F137431}"/>
              </a:ext>
            </a:extLst>
          </p:cNvPr>
          <p:cNvSpPr>
            <a:spLocks noGrp="1"/>
          </p:cNvSpPr>
          <p:nvPr>
            <p:ph type="dt" sz="half" idx="10"/>
          </p:nvPr>
        </p:nvSpPr>
        <p:spPr/>
        <p:txBody>
          <a:bodyPr/>
          <a:lstStyle/>
          <a:p>
            <a:fld id="{4DA0349A-A6D6-3945-B600-E696345C6FEC}" type="datetime1">
              <a:rPr lang="en-US" smtClean="0"/>
              <a:t>6/15/2026</a:t>
            </a:fld>
            <a:endParaRPr lang="en-BG"/>
          </a:p>
        </p:txBody>
      </p:sp>
      <p:sp>
        <p:nvSpPr>
          <p:cNvPr id="5" name="Footer Placeholder 4">
            <a:extLst>
              <a:ext uri="{FF2B5EF4-FFF2-40B4-BE49-F238E27FC236}">
                <a16:creationId xmlns:a16="http://schemas.microsoft.com/office/drawing/2014/main" id="{D43DC429-1CDF-1153-5178-688B4F993C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271971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2396E2FA-EC7F-8687-8A05-DAF60C6BE25C}"/>
              </a:ext>
            </a:extLst>
          </p:cNvPr>
          <p:cNvSpPr>
            <a:spLocks noGrp="1"/>
          </p:cNvSpPr>
          <p:nvPr>
            <p:ph type="dt" sz="half" idx="10"/>
          </p:nvPr>
        </p:nvSpPr>
        <p:spPr/>
        <p:txBody>
          <a:bodyPr/>
          <a:lstStyle/>
          <a:p>
            <a:fld id="{A569796A-BA6B-7A47-9589-BE2D5549C8C0}" type="datetime1">
              <a:rPr lang="en-US" smtClean="0"/>
              <a:t>6/15/2026</a:t>
            </a:fld>
            <a:endParaRPr lang="en-BG"/>
          </a:p>
        </p:txBody>
      </p:sp>
      <p:sp>
        <p:nvSpPr>
          <p:cNvPr id="5" name="Footer Placeholder 4">
            <a:extLst>
              <a:ext uri="{FF2B5EF4-FFF2-40B4-BE49-F238E27FC236}">
                <a16:creationId xmlns:a16="http://schemas.microsoft.com/office/drawing/2014/main" id="{9D9141D3-7475-FFFE-CCE2-86C5E41D7464}"/>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8665898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G"/>
          </a:p>
        </p:txBody>
      </p:sp>
      <p:sp>
        <p:nvSpPr>
          <p:cNvPr id="3" name="Text Placeholder 2">
            <a:extLst>
              <a:ext uri="{FF2B5EF4-FFF2-40B4-BE49-F238E27FC236}">
                <a16:creationId xmlns:a16="http://schemas.microsoft.com/office/drawing/2014/main" id="{E0FFC3BD-80C6-9769-80B9-A6BD93E24BA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B9FBFEB-1288-7C7C-472C-12E4A72BA29F}"/>
              </a:ext>
            </a:extLst>
          </p:cNvPr>
          <p:cNvSpPr>
            <a:spLocks noGrp="1"/>
          </p:cNvSpPr>
          <p:nvPr>
            <p:ph type="dt" sz="half" idx="10"/>
          </p:nvPr>
        </p:nvSpPr>
        <p:spPr/>
        <p:txBody>
          <a:bodyPr/>
          <a:lstStyle/>
          <a:p>
            <a:fld id="{BCC84B04-1F41-EF4B-98F8-4C038AD3A24D}" type="datetime1">
              <a:rPr lang="en-US" smtClean="0"/>
              <a:t>6/15/2026</a:t>
            </a:fld>
            <a:endParaRPr lang="en-BG"/>
          </a:p>
        </p:txBody>
      </p:sp>
      <p:sp>
        <p:nvSpPr>
          <p:cNvPr id="5" name="Footer Placeholder 4">
            <a:extLst>
              <a:ext uri="{FF2B5EF4-FFF2-40B4-BE49-F238E27FC236}">
                <a16:creationId xmlns:a16="http://schemas.microsoft.com/office/drawing/2014/main" id="{9B9D6253-509A-1620-5684-CC17C908751B}"/>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345100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r>
              <a:rPr lang="en-GB"/>
              <a:t>Click to edit Master title style</a:t>
            </a:r>
            <a:endParaRPr lang="en-BG"/>
          </a:p>
        </p:txBody>
      </p:sp>
      <p:sp>
        <p:nvSpPr>
          <p:cNvPr id="3" name="Content Placeholder 2">
            <a:extLst>
              <a:ext uri="{FF2B5EF4-FFF2-40B4-BE49-F238E27FC236}">
                <a16:creationId xmlns:a16="http://schemas.microsoft.com/office/drawing/2014/main" id="{03B2A08F-AE11-FC4E-33FC-623D7AA3EFBD}"/>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Content Placeholder 3">
            <a:extLst>
              <a:ext uri="{FF2B5EF4-FFF2-40B4-BE49-F238E27FC236}">
                <a16:creationId xmlns:a16="http://schemas.microsoft.com/office/drawing/2014/main" id="{4327201C-1AB1-5155-A12D-BBF575B2CA5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Date Placeholder 4">
            <a:extLst>
              <a:ext uri="{FF2B5EF4-FFF2-40B4-BE49-F238E27FC236}">
                <a16:creationId xmlns:a16="http://schemas.microsoft.com/office/drawing/2014/main" id="{631F99A8-E26C-E011-1C1A-576810E2FE41}"/>
              </a:ext>
            </a:extLst>
          </p:cNvPr>
          <p:cNvSpPr>
            <a:spLocks noGrp="1"/>
          </p:cNvSpPr>
          <p:nvPr>
            <p:ph type="dt" sz="half" idx="10"/>
          </p:nvPr>
        </p:nvSpPr>
        <p:spPr/>
        <p:txBody>
          <a:bodyPr/>
          <a:lstStyle/>
          <a:p>
            <a:fld id="{AD77CCEF-7735-3946-801D-962C1B28F1D5}" type="datetime1">
              <a:rPr lang="en-US" smtClean="0"/>
              <a:t>6/15/2026</a:t>
            </a:fld>
            <a:endParaRPr lang="en-BG"/>
          </a:p>
        </p:txBody>
      </p:sp>
      <p:sp>
        <p:nvSpPr>
          <p:cNvPr id="6" name="Footer Placeholder 5">
            <a:extLst>
              <a:ext uri="{FF2B5EF4-FFF2-40B4-BE49-F238E27FC236}">
                <a16:creationId xmlns:a16="http://schemas.microsoft.com/office/drawing/2014/main" id="{CDDA6176-5FB6-EB80-4208-0598E8D21C27}"/>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410707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095D2-A2BD-30EE-6D2D-7430178F1AEC}"/>
              </a:ext>
            </a:extLst>
          </p:cNvPr>
          <p:cNvSpPr>
            <a:spLocks noGrp="1"/>
          </p:cNvSpPr>
          <p:nvPr>
            <p:ph type="title"/>
          </p:nvPr>
        </p:nvSpPr>
        <p:spPr>
          <a:xfrm>
            <a:off x="839788" y="365125"/>
            <a:ext cx="10515600" cy="1325563"/>
          </a:xfrm>
        </p:spPr>
        <p:txBody>
          <a:bodyPr/>
          <a:lstStyle/>
          <a:p>
            <a:r>
              <a:rPr lang="en-GB"/>
              <a:t>Click to edit Master title style</a:t>
            </a:r>
            <a:endParaRPr lang="en-BG"/>
          </a:p>
        </p:txBody>
      </p:sp>
      <p:sp>
        <p:nvSpPr>
          <p:cNvPr id="3" name="Text Placeholder 2">
            <a:extLst>
              <a:ext uri="{FF2B5EF4-FFF2-40B4-BE49-F238E27FC236}">
                <a16:creationId xmlns:a16="http://schemas.microsoft.com/office/drawing/2014/main" id="{2690CC31-127F-0D5F-D3C5-7E9ECCD437C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86C0E15-4E28-7987-AF1B-0DA8E286E30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5" name="Text Placeholder 4">
            <a:extLst>
              <a:ext uri="{FF2B5EF4-FFF2-40B4-BE49-F238E27FC236}">
                <a16:creationId xmlns:a16="http://schemas.microsoft.com/office/drawing/2014/main" id="{8F8A81A2-A428-6A78-7486-E1E749F469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0213699-AAD7-5D56-83F8-C8055F185AAE}"/>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7" name="Date Placeholder 6">
            <a:extLst>
              <a:ext uri="{FF2B5EF4-FFF2-40B4-BE49-F238E27FC236}">
                <a16:creationId xmlns:a16="http://schemas.microsoft.com/office/drawing/2014/main" id="{CF37350C-26C0-7FD2-EB4E-D43A06C2797C}"/>
              </a:ext>
            </a:extLst>
          </p:cNvPr>
          <p:cNvSpPr>
            <a:spLocks noGrp="1"/>
          </p:cNvSpPr>
          <p:nvPr>
            <p:ph type="dt" sz="half" idx="10"/>
          </p:nvPr>
        </p:nvSpPr>
        <p:spPr/>
        <p:txBody>
          <a:bodyPr/>
          <a:lstStyle/>
          <a:p>
            <a:fld id="{500B6463-0D64-2746-95DF-3D8E93807C79}" type="datetime1">
              <a:rPr lang="en-US" smtClean="0"/>
              <a:t>6/15/2026</a:t>
            </a:fld>
            <a:endParaRPr lang="en-BG"/>
          </a:p>
        </p:txBody>
      </p:sp>
      <p:sp>
        <p:nvSpPr>
          <p:cNvPr id="8" name="Footer Placeholder 7">
            <a:extLst>
              <a:ext uri="{FF2B5EF4-FFF2-40B4-BE49-F238E27FC236}">
                <a16:creationId xmlns:a16="http://schemas.microsoft.com/office/drawing/2014/main" id="{579BB519-C431-4AFC-1999-6C78D2976776}"/>
              </a:ext>
            </a:extLst>
          </p:cNvPr>
          <p:cNvSpPr>
            <a:spLocks noGrp="1"/>
          </p:cNvSpPr>
          <p:nvPr>
            <p:ph type="ftr" sz="quarter" idx="11"/>
          </p:nvPr>
        </p:nvSpPr>
        <p:spPr/>
        <p:txBody>
          <a:bodyPr/>
          <a:lstStyle/>
          <a:p>
            <a:r>
              <a:rPr lang="en-GB"/>
              <a:t>Micronutrient Forum 7th Global Conference</a:t>
            </a:r>
            <a:endParaRPr lang="en-BG"/>
          </a:p>
        </p:txBody>
      </p:sp>
      <p:sp>
        <p:nvSpPr>
          <p:cNvPr id="9" name="Slide Number Placeholder 8">
            <a:extLst>
              <a:ext uri="{FF2B5EF4-FFF2-40B4-BE49-F238E27FC236}">
                <a16:creationId xmlns:a16="http://schemas.microsoft.com/office/drawing/2014/main" id="{506ACEE6-300A-374B-3C2B-3F470737D0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1875087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7BFBF-ED9A-4C84-23BD-C822C5301144}"/>
              </a:ext>
            </a:extLst>
          </p:cNvPr>
          <p:cNvSpPr>
            <a:spLocks noGrp="1"/>
          </p:cNvSpPr>
          <p:nvPr>
            <p:ph type="title"/>
          </p:nvPr>
        </p:nvSpPr>
        <p:spPr/>
        <p:txBody>
          <a:bodyPr/>
          <a:lstStyle/>
          <a:p>
            <a:r>
              <a:rPr lang="en-GB"/>
              <a:t>Click to edit Master title style</a:t>
            </a:r>
            <a:endParaRPr lang="en-BG"/>
          </a:p>
        </p:txBody>
      </p:sp>
      <p:sp>
        <p:nvSpPr>
          <p:cNvPr id="3" name="Date Placeholder 2">
            <a:extLst>
              <a:ext uri="{FF2B5EF4-FFF2-40B4-BE49-F238E27FC236}">
                <a16:creationId xmlns:a16="http://schemas.microsoft.com/office/drawing/2014/main" id="{BA7E8A34-420D-477F-0CF1-AD19AABC7026}"/>
              </a:ext>
            </a:extLst>
          </p:cNvPr>
          <p:cNvSpPr>
            <a:spLocks noGrp="1"/>
          </p:cNvSpPr>
          <p:nvPr>
            <p:ph type="dt" sz="half" idx="10"/>
          </p:nvPr>
        </p:nvSpPr>
        <p:spPr/>
        <p:txBody>
          <a:bodyPr/>
          <a:lstStyle/>
          <a:p>
            <a:fld id="{D3023895-0D23-8E49-B871-82612DE48DA5}" type="datetime1">
              <a:rPr lang="en-US" smtClean="0"/>
              <a:t>6/15/2026</a:t>
            </a:fld>
            <a:endParaRPr lang="en-BG"/>
          </a:p>
        </p:txBody>
      </p:sp>
      <p:sp>
        <p:nvSpPr>
          <p:cNvPr id="4" name="Footer Placeholder 3">
            <a:extLst>
              <a:ext uri="{FF2B5EF4-FFF2-40B4-BE49-F238E27FC236}">
                <a16:creationId xmlns:a16="http://schemas.microsoft.com/office/drawing/2014/main" id="{33ABF9B4-D5AF-8CFE-C32A-FF037DA4272E}"/>
              </a:ext>
            </a:extLst>
          </p:cNvPr>
          <p:cNvSpPr>
            <a:spLocks noGrp="1"/>
          </p:cNvSpPr>
          <p:nvPr>
            <p:ph type="ftr" sz="quarter" idx="11"/>
          </p:nvPr>
        </p:nvSpPr>
        <p:spPr/>
        <p:txBody>
          <a:bodyPr/>
          <a:lstStyle/>
          <a:p>
            <a:r>
              <a:rPr lang="en-GB"/>
              <a:t>Micronutrient Forum 7th Global Conference</a:t>
            </a:r>
            <a:endParaRPr lang="en-BG"/>
          </a:p>
        </p:txBody>
      </p:sp>
      <p:sp>
        <p:nvSpPr>
          <p:cNvPr id="5" name="Slide Number Placeholder 4">
            <a:extLst>
              <a:ext uri="{FF2B5EF4-FFF2-40B4-BE49-F238E27FC236}">
                <a16:creationId xmlns:a16="http://schemas.microsoft.com/office/drawing/2014/main" id="{810233B8-2DB4-E1E4-D018-07FD0338F6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063980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FE01E9-07FC-C525-ED88-47D4AA1D93D0}"/>
              </a:ext>
            </a:extLst>
          </p:cNvPr>
          <p:cNvSpPr>
            <a:spLocks noGrp="1"/>
          </p:cNvSpPr>
          <p:nvPr>
            <p:ph type="dt" sz="half" idx="10"/>
          </p:nvPr>
        </p:nvSpPr>
        <p:spPr/>
        <p:txBody>
          <a:bodyPr/>
          <a:lstStyle/>
          <a:p>
            <a:fld id="{A2A0016C-4D4C-4444-9C30-4C9311EFABBD}" type="datetime1">
              <a:rPr lang="en-US" smtClean="0"/>
              <a:t>6/15/2026</a:t>
            </a:fld>
            <a:endParaRPr lang="en-BG"/>
          </a:p>
        </p:txBody>
      </p:sp>
      <p:sp>
        <p:nvSpPr>
          <p:cNvPr id="3" name="Footer Placeholder 2">
            <a:extLst>
              <a:ext uri="{FF2B5EF4-FFF2-40B4-BE49-F238E27FC236}">
                <a16:creationId xmlns:a16="http://schemas.microsoft.com/office/drawing/2014/main" id="{4926118E-6E2D-1DE0-6646-1F74AA3D3C87}"/>
              </a:ext>
            </a:extLst>
          </p:cNvPr>
          <p:cNvSpPr>
            <a:spLocks noGrp="1"/>
          </p:cNvSpPr>
          <p:nvPr>
            <p:ph type="ftr" sz="quarter" idx="11"/>
          </p:nvPr>
        </p:nvSpPr>
        <p:spPr/>
        <p:txBody>
          <a:bodyPr/>
          <a:lstStyle/>
          <a:p>
            <a:r>
              <a:rPr lang="en-GB"/>
              <a:t>Micronutrient Forum 7th Global Conference</a:t>
            </a:r>
            <a:endParaRPr lang="en-BG"/>
          </a:p>
        </p:txBody>
      </p:sp>
      <p:sp>
        <p:nvSpPr>
          <p:cNvPr id="4" name="Slide Number Placeholder 3">
            <a:extLst>
              <a:ext uri="{FF2B5EF4-FFF2-40B4-BE49-F238E27FC236}">
                <a16:creationId xmlns:a16="http://schemas.microsoft.com/office/drawing/2014/main" id="{E323B8E6-EA84-3D2F-EBBE-4B10458DA766}"/>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5388016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4907C-20EF-0CCF-21FB-C006565528E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Content Placeholder 2">
            <a:extLst>
              <a:ext uri="{FF2B5EF4-FFF2-40B4-BE49-F238E27FC236}">
                <a16:creationId xmlns:a16="http://schemas.microsoft.com/office/drawing/2014/main" id="{D4733A89-AC6B-F200-966F-0C32E0376AF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Text Placeholder 3">
            <a:extLst>
              <a:ext uri="{FF2B5EF4-FFF2-40B4-BE49-F238E27FC236}">
                <a16:creationId xmlns:a16="http://schemas.microsoft.com/office/drawing/2014/main" id="{32A6884C-FEF6-C29D-D749-4050A968F4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DBBAE82-533D-C866-4FDC-C98150986200}"/>
              </a:ext>
            </a:extLst>
          </p:cNvPr>
          <p:cNvSpPr>
            <a:spLocks noGrp="1"/>
          </p:cNvSpPr>
          <p:nvPr>
            <p:ph type="dt" sz="half" idx="10"/>
          </p:nvPr>
        </p:nvSpPr>
        <p:spPr/>
        <p:txBody>
          <a:bodyPr/>
          <a:lstStyle/>
          <a:p>
            <a:fld id="{2A900CA0-6551-0446-9D2F-5743A643800E}" type="datetime1">
              <a:rPr lang="en-US" smtClean="0"/>
              <a:t>6/15/2026</a:t>
            </a:fld>
            <a:endParaRPr lang="en-BG"/>
          </a:p>
        </p:txBody>
      </p:sp>
      <p:sp>
        <p:nvSpPr>
          <p:cNvPr id="6" name="Footer Placeholder 5">
            <a:extLst>
              <a:ext uri="{FF2B5EF4-FFF2-40B4-BE49-F238E27FC236}">
                <a16:creationId xmlns:a16="http://schemas.microsoft.com/office/drawing/2014/main" id="{DF4ED846-F849-8890-E522-44465A5EB4D3}"/>
              </a:ext>
            </a:extLst>
          </p:cNvPr>
          <p:cNvSpPr>
            <a:spLocks noGrp="1"/>
          </p:cNvSpPr>
          <p:nvPr>
            <p:ph type="ftr" sz="quarter" idx="11"/>
          </p:nvPr>
        </p:nvSpPr>
        <p:spPr/>
        <p:txBody>
          <a:bodyPr/>
          <a:lstStyle/>
          <a:p>
            <a:r>
              <a:rPr lang="en-GB"/>
              <a:t>Micronutrient Forum 7th Global Conference</a:t>
            </a:r>
            <a:endParaRPr lang="en-BG"/>
          </a:p>
        </p:txBody>
      </p:sp>
      <p:sp>
        <p:nvSpPr>
          <p:cNvPr id="7" name="Slide Number Placeholder 6">
            <a:extLst>
              <a:ext uri="{FF2B5EF4-FFF2-40B4-BE49-F238E27FC236}">
                <a16:creationId xmlns:a16="http://schemas.microsoft.com/office/drawing/2014/main" id="{8BA36B92-4C6F-23BA-6D2D-475437683EFE}"/>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09186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754C5F-2AE5-752F-D699-D7609DC752F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G"/>
          </a:p>
        </p:txBody>
      </p:sp>
      <p:sp>
        <p:nvSpPr>
          <p:cNvPr id="3" name="Picture Placeholder 2">
            <a:extLst>
              <a:ext uri="{FF2B5EF4-FFF2-40B4-BE49-F238E27FC236}">
                <a16:creationId xmlns:a16="http://schemas.microsoft.com/office/drawing/2014/main" id="{46E73131-BAC4-54B6-1CBE-4BB93A3EEF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G"/>
          </a:p>
        </p:txBody>
      </p:sp>
      <p:sp>
        <p:nvSpPr>
          <p:cNvPr id="4" name="Text Placeholder 3">
            <a:extLst>
              <a:ext uri="{FF2B5EF4-FFF2-40B4-BE49-F238E27FC236}">
                <a16:creationId xmlns:a16="http://schemas.microsoft.com/office/drawing/2014/main" id="{61913CC5-7E08-0A26-3A04-CC35255609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A6F24F-4C05-E8D9-745E-EBD04ED9AFF3}"/>
              </a:ext>
            </a:extLst>
          </p:cNvPr>
          <p:cNvSpPr>
            <a:spLocks noGrp="1"/>
          </p:cNvSpPr>
          <p:nvPr>
            <p:ph type="dt" sz="half" idx="10"/>
          </p:nvPr>
        </p:nvSpPr>
        <p:spPr/>
        <p:txBody>
          <a:bodyPr/>
          <a:lstStyle/>
          <a:p>
            <a:fld id="{F0D44285-9839-6742-9B19-5E4024F394C1}" type="datetime1">
              <a:rPr lang="en-US" smtClean="0"/>
              <a:t>6/15/2026</a:t>
            </a:fld>
            <a:endParaRPr lang="en-BG"/>
          </a:p>
        </p:txBody>
      </p:sp>
      <p:sp>
        <p:nvSpPr>
          <p:cNvPr id="6" name="Footer Placeholder 5">
            <a:extLst>
              <a:ext uri="{FF2B5EF4-FFF2-40B4-BE49-F238E27FC236}">
                <a16:creationId xmlns:a16="http://schemas.microsoft.com/office/drawing/2014/main" id="{80470FAA-AC52-973C-470B-CF5AEFC5A8D1}"/>
              </a:ext>
            </a:extLst>
          </p:cNvPr>
          <p:cNvSpPr>
            <a:spLocks noGrp="1"/>
          </p:cNvSpPr>
          <p:nvPr>
            <p:ph type="ftr" sz="quarter" idx="11"/>
          </p:nvPr>
        </p:nvSpPr>
        <p:spPr/>
        <p:txBody>
          <a:bodyPr/>
          <a:lstStyle/>
          <a:p>
            <a:r>
              <a:rPr lang="en-US"/>
              <a:t>Micronutrient Forum 7th Global Conference</a:t>
            </a:r>
            <a:endParaRPr lang="en-US" dirty="0"/>
          </a:p>
        </p:txBody>
      </p:sp>
      <p:sp>
        <p:nvSpPr>
          <p:cNvPr id="7" name="Slide Number Placeholder 6">
            <a:extLst>
              <a:ext uri="{FF2B5EF4-FFF2-40B4-BE49-F238E27FC236}">
                <a16:creationId xmlns:a16="http://schemas.microsoft.com/office/drawing/2014/main" id="{23B4F77A-26C7-7652-1A10-A26B8420E74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586630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75476-2B41-13C8-0898-9934A604BE0D}"/>
              </a:ext>
            </a:extLst>
          </p:cNvPr>
          <p:cNvSpPr>
            <a:spLocks noGrp="1"/>
          </p:cNvSpPr>
          <p:nvPr>
            <p:ph type="title"/>
          </p:nvPr>
        </p:nvSpPr>
        <p:spPr/>
        <p:txBody>
          <a:bodyPr/>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A263FA52-E192-2D6D-EE53-2D27E1285F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12E1A833-D43B-6E41-A783-07CBB8162244}"/>
              </a:ext>
            </a:extLst>
          </p:cNvPr>
          <p:cNvSpPr>
            <a:spLocks noGrp="1"/>
          </p:cNvSpPr>
          <p:nvPr>
            <p:ph type="dt" sz="half" idx="10"/>
          </p:nvPr>
        </p:nvSpPr>
        <p:spPr/>
        <p:txBody>
          <a:bodyPr/>
          <a:lstStyle/>
          <a:p>
            <a:fld id="{E898FA6F-B7A3-A743-BCB2-B9EF20F12D4F}" type="datetime1">
              <a:rPr lang="en-US" smtClean="0"/>
              <a:t>6/15/2026</a:t>
            </a:fld>
            <a:endParaRPr lang="en-BG"/>
          </a:p>
        </p:txBody>
      </p:sp>
      <p:sp>
        <p:nvSpPr>
          <p:cNvPr id="5" name="Footer Placeholder 4">
            <a:extLst>
              <a:ext uri="{FF2B5EF4-FFF2-40B4-BE49-F238E27FC236}">
                <a16:creationId xmlns:a16="http://schemas.microsoft.com/office/drawing/2014/main" id="{9F33F4D0-1654-9BB0-342D-64B3B247FB29}"/>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5D8943-EFEE-C7D7-A1B0-F7B34D8F7444}"/>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7546407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1E9516C-A5C3-B394-CCC6-CC9E98F29C9D}"/>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G"/>
          </a:p>
        </p:txBody>
      </p:sp>
      <p:sp>
        <p:nvSpPr>
          <p:cNvPr id="3" name="Vertical Text Placeholder 2">
            <a:extLst>
              <a:ext uri="{FF2B5EF4-FFF2-40B4-BE49-F238E27FC236}">
                <a16:creationId xmlns:a16="http://schemas.microsoft.com/office/drawing/2014/main" id="{0C837AD8-F6F4-19C0-99E6-A1298567D29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8CE5D298-741C-3A59-AFD1-6C796F3F2BA3}"/>
              </a:ext>
            </a:extLst>
          </p:cNvPr>
          <p:cNvSpPr>
            <a:spLocks noGrp="1"/>
          </p:cNvSpPr>
          <p:nvPr>
            <p:ph type="dt" sz="half" idx="10"/>
          </p:nvPr>
        </p:nvSpPr>
        <p:spPr/>
        <p:txBody>
          <a:bodyPr/>
          <a:lstStyle/>
          <a:p>
            <a:fld id="{7A45FA1C-3388-4845-85D5-186908EBBF00}" type="datetime1">
              <a:rPr lang="en-US" smtClean="0"/>
              <a:t>6/15/2026</a:t>
            </a:fld>
            <a:endParaRPr lang="en-BG"/>
          </a:p>
        </p:txBody>
      </p:sp>
      <p:sp>
        <p:nvSpPr>
          <p:cNvPr id="5" name="Footer Placeholder 4">
            <a:extLst>
              <a:ext uri="{FF2B5EF4-FFF2-40B4-BE49-F238E27FC236}">
                <a16:creationId xmlns:a16="http://schemas.microsoft.com/office/drawing/2014/main" id="{86A8288D-1F58-E2D5-0354-651ACD37A8DA}"/>
              </a:ext>
            </a:extLst>
          </p:cNvPr>
          <p:cNvSpPr>
            <a:spLocks noGrp="1"/>
          </p:cNvSpPr>
          <p:nvPr>
            <p:ph type="ftr" sz="quarter" idx="11"/>
          </p:nvPr>
        </p:nvSpPr>
        <p:spPr/>
        <p:txBody>
          <a:body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76D1D088-6C49-1A81-697E-E68CB25C68A0}"/>
              </a:ext>
            </a:extLst>
          </p:cNvPr>
          <p:cNvSpPr>
            <a:spLocks noGrp="1"/>
          </p:cNvSpPr>
          <p:nvPr>
            <p:ph type="sldNum" sz="quarter" idx="12"/>
          </p:nvPr>
        </p:nvSpPr>
        <p:spPr/>
        <p:txBody>
          <a:bodyPr/>
          <a:lstStyle/>
          <a:p>
            <a:fld id="{8C903514-D622-FE49-B01E-C0625A22DB6C}" type="slidenum">
              <a:rPr lang="en-BG" smtClean="0"/>
              <a:t>‹#›</a:t>
            </a:fld>
            <a:endParaRPr lang="en-BG"/>
          </a:p>
        </p:txBody>
      </p:sp>
    </p:spTree>
    <p:extLst>
      <p:ext uri="{BB962C8B-B14F-4D97-AF65-F5344CB8AC3E}">
        <p14:creationId xmlns:p14="http://schemas.microsoft.com/office/powerpoint/2010/main" val="2613389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alphaModFix amt="48000"/>
            <a:lum/>
          </a:blip>
          <a:srcRect/>
          <a:stretch>
            <a:fillRect b="-4000" t="-4000"/>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54CC2-F5AB-F5CA-2461-FA1578B5F0C3}"/>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lang="en-BG"/>
          </a:p>
        </p:txBody>
      </p:sp>
      <p:sp>
        <p:nvSpPr>
          <p:cNvPr id="3" name="Text Placeholder 2">
            <a:extLst>
              <a:ext uri="{FF2B5EF4-FFF2-40B4-BE49-F238E27FC236}">
                <a16:creationId xmlns:a16="http://schemas.microsoft.com/office/drawing/2014/main" id="{49E67A3B-D1BE-0BD1-1068-2E289943D23A}"/>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G"/>
          </a:p>
        </p:txBody>
      </p:sp>
      <p:sp>
        <p:nvSpPr>
          <p:cNvPr id="4" name="Date Placeholder 3">
            <a:extLst>
              <a:ext uri="{FF2B5EF4-FFF2-40B4-BE49-F238E27FC236}">
                <a16:creationId xmlns:a16="http://schemas.microsoft.com/office/drawing/2014/main" id="{D2563397-A025-132E-8587-E084AAAABC6A}"/>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E34A5735-1510-7049-BCA2-D05BF1104DA2}" type="datetime1">
              <a:rPr lang="en-US" smtClean="0"/>
              <a:t>6/15/2026</a:t>
            </a:fld>
            <a:endParaRPr lang="en-BG"/>
          </a:p>
        </p:txBody>
      </p:sp>
      <p:sp>
        <p:nvSpPr>
          <p:cNvPr id="5" name="Footer Placeholder 4">
            <a:extLst>
              <a:ext uri="{FF2B5EF4-FFF2-40B4-BE49-F238E27FC236}">
                <a16:creationId xmlns:a16="http://schemas.microsoft.com/office/drawing/2014/main" id="{909DFC3B-6DA0-5D89-738B-9EC851A00510}"/>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Micronutrient Forum 7th Global Conference</a:t>
            </a:r>
            <a:endParaRPr lang="en-BG"/>
          </a:p>
        </p:txBody>
      </p:sp>
      <p:sp>
        <p:nvSpPr>
          <p:cNvPr id="6" name="Slide Number Placeholder 5">
            <a:extLst>
              <a:ext uri="{FF2B5EF4-FFF2-40B4-BE49-F238E27FC236}">
                <a16:creationId xmlns:a16="http://schemas.microsoft.com/office/drawing/2014/main" id="{B49B7BA3-B89F-FD2C-3403-80AB176913F2}"/>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8C903514-D622-FE49-B01E-C0625A22DB6C}" type="slidenum">
              <a:rPr lang="en-BG" smtClean="0"/>
              <a:t>‹#›</a:t>
            </a:fld>
            <a:endParaRPr lang="en-BG"/>
          </a:p>
        </p:txBody>
      </p:sp>
    </p:spTree>
    <p:extLst>
      <p:ext uri="{BB962C8B-B14F-4D97-AF65-F5344CB8AC3E}">
        <p14:creationId xmlns:p14="http://schemas.microsoft.com/office/powerpoint/2010/main" val="2277563779"/>
      </p:ext>
    </p:extLst>
  </p:cSld>
  <p:clrMap accent1="accent1" accent2="accent2" accent3="accent3" accent4="accent4" accent5="accent5" accent6="accent6" bg1="lt1" bg2="lt2" folHlink="folHlink" hlink="hlink" tx1="dk1" tx2="dk2"/>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dt="0" ftr="0" hdr="0"/>
  <p:txStyles>
    <p:titleStyle>
      <a:lvl1pPr algn="l" defTabSz="914400" eaLnBrk="1" hangingPunct="1" latinLnBrk="0" rtl="0">
        <a:lnSpc>
          <a:spcPct val="90000"/>
        </a:lnSpc>
        <a:spcBef>
          <a:spcPct val="0"/>
        </a:spcBef>
        <a:buNone/>
        <a:defRPr kern="1200" sz="36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4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BG"/>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4E27C-59E1-959C-59F1-778BEA920FE3}"/>
              </a:ext>
            </a:extLst>
          </p:cNvPr>
          <p:cNvSpPr>
            <a:spLocks noGrp="1"/>
          </p:cNvSpPr>
          <p:nvPr>
            <p:ph type="ctrTitle"/>
          </p:nvPr>
        </p:nvSpPr>
        <p:spPr>
          <a:xfrm>
            <a:off x="1524000" y="1122363"/>
            <a:ext cx="9144000" cy="2387600"/>
          </a:xfrm>
        </p:spPr>
        <p:txBody>
          <a:bodyPr/>
          <a:lstStyle/>
          <a:p>
            <a:pPr lvl="0" indent="0" marL="0">
              <a:buNone/>
            </a:pPr>
            <a:r>
              <a:rPr/>
              <a:t>(Add submitted title)</a:t>
            </a:r>
          </a:p>
        </p:txBody>
      </p:sp>
      <p:sp>
        <p:nvSpPr>
          <p:cNvPr id="3" name="Subtitle 2">
            <a:extLst>
              <a:ext uri="{FF2B5EF4-FFF2-40B4-BE49-F238E27FC236}">
                <a16:creationId xmlns:a16="http://schemas.microsoft.com/office/drawing/2014/main" id="{BFE7854F-01CE-7662-EA6B-3FD1C4D423B6}"/>
              </a:ext>
            </a:extLst>
          </p:cNvPr>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
        <p:nvSpPr>
          <p:cNvPr id="6" name="Slide Number Placeholder 5">
            <a:extLst>
              <a:ext uri="{FF2B5EF4-FFF2-40B4-BE49-F238E27FC236}">
                <a16:creationId xmlns:a16="http://schemas.microsoft.com/office/drawing/2014/main" id="{F15C6C9D-0A92-303C-CAA2-551CA77BAAFB}"/>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Why district-level micronutrient data are missing</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national micronutrient survey draws blood from a few thousand people, costs millions, and happens about once a decade. Most countries in the region have none from the last ten years.</a:t>
            </a:r>
          </a:p>
          <a:p>
            <a:pPr lvl="0"/>
            <a:r>
              <a:rPr/>
              <a:t>The decisions are local: which districts get fortified food, supplements, or the next survey team.</a:t>
            </a:r>
          </a:p>
          <a:p>
            <a:pPr lvl="0"/>
            <a:r>
              <a:rPr/>
              <a:t>Even where a survey exists, it describes regions. In the 2017 Ghana survey, 83% of districts hold a single sampled community.</a:t>
            </a:r>
          </a:p>
          <a:p>
            <a:pPr lvl="0"/>
            <a:r>
              <a:rPr/>
              <a:t>Four surveys that did draw blood let us test what public data can say about the districts nobody surveyed.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partnership and the workshop</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Placeholder for Sonja’s slide: the earlier work with the survey teams, the partner workshop, and what partners asked about how a district ranking should be used, trusted and shared.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built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We have 454 public data layers for every district but blood results for only 206 districts in four countries, so this is a big-data and a small-data problem at once.</a:t>
            </a:r>
          </a:p>
          <a:p>
            <a:pPr lvl="0"/>
            <a:r>
              <a:rPr/>
              <a:t>Each kind of data is summarised, weighted by how well it tracked deficiency where blood was drawn, and added up. The sum ranks districts from worst to best.</a:t>
            </a:r>
          </a:p>
          <a:p>
            <a:pPr lvl="0"/>
            <a:r>
              <a:rPr/>
              <a:t>The simplest version won. With a few dozen districts per country, every method that tunes itself did worse.</a:t>
            </a:r>
          </a:p>
          <a:p>
            <a:pPr lvl="0"/>
            <a:r>
              <a:rPr/>
              <a:t>The output is an ordering. One national number on top turns it into prevalence.</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we tested it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Every district is scored with itself hidden from the model, over repeated random splits, and every country with the whole country hidden.</a:t>
            </a:r>
          </a:p>
          <a:p>
            <a:pPr lvl="0"/>
            <a:r>
              <a:rPr/>
              <a:t>Each method is compared with what a programme could do without it: the survey’s own regional average, or smoothing between neighbouring districts.</a:t>
            </a:r>
          </a:p>
          <a:p>
            <a:pPr lvl="0"/>
            <a:r>
              <a:rPr/>
              <a:t>Shuffling the outcome measures chance: with no information at all a ranking still reaches 0.08 on a scale of 0 to 1.</a:t>
            </a:r>
          </a:p>
          <a:p>
            <a:pPr lvl="0"/>
            <a:r>
              <a:rPr/>
              <a:t>Survey district values are themselves noisy, so a perfect predictor could only reach about 0.56. The model reaches 0.40, two-thirds of the way.</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In Ghana the model recovers the regional pattern but misplaces single districts</a:t>
            </a:r>
          </a:p>
        </p:txBody>
      </p:sp>
      <p:pic>
        <p:nvPicPr>
          <p:cNvPr descr="../../results/figures/policy_deck/fig7_ghana_map.png" id="0" name="Picture 1"/>
          <p:cNvPicPr>
            <a:picLocks noGrp="1" noChangeAspect="1"/>
          </p:cNvPicPr>
          <p:nvPr/>
        </p:nvPicPr>
        <p:blipFill>
          <a:blip r:embed="rId3"/>
          <a:stretch>
            <a:fillRect/>
          </a:stretch>
        </p:blipFill>
        <p:spPr bwMode="auto">
          <a:xfrm>
            <a:off x="810608" y="1600200"/>
            <a:ext cx="1056773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With a survey every method ties; without one only the proxy index can run</a:t>
            </a:r>
          </a:p>
        </p:txBody>
      </p:sp>
      <p:pic>
        <p:nvPicPr>
          <p:cNvPr descr="../../results/figures/policy_deck/fig1_model_comparison.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E2CBA-5A11-5AEE-644F-228E9B86DB9D}"/>
              </a:ext>
            </a:extLst>
          </p:cNvPr>
          <p:cNvSpPr>
            <a:spLocks noGrp="1"/>
          </p:cNvSpPr>
          <p:nvPr>
            <p:ph type="title"/>
          </p:nvPr>
        </p:nvSpPr>
        <p:spPr/>
        <p:txBody>
          <a:bodyPr/>
          <a:lstStyle/>
          <a:p>
            <a:pPr lvl="0" indent="0" marL="0">
              <a:buNone/>
            </a:pPr>
            <a:r>
              <a:rPr/>
              <a:t>Every survey added improves the next country’s map</a:t>
            </a:r>
          </a:p>
        </p:txBody>
      </p:sp>
      <p:pic>
        <p:nvPicPr>
          <p:cNvPr descr="../../results/figures/policy_deck/fig5_learning_curve.png" id="0" name="Picture 1"/>
          <p:cNvPicPr>
            <a:picLocks noGrp="1" noChangeAspect="1"/>
          </p:cNvPicPr>
          <p:nvPr/>
        </p:nvPicPr>
        <p:blipFill>
          <a:blip r:embed="rId3"/>
          <a:stretch>
            <a:fillRect/>
          </a:stretch>
        </p:blipFill>
        <p:spPr bwMode="auto">
          <a:xfrm>
            <a:off x="411480" y="1645920"/>
            <a:ext cx="6766560" cy="3433034"/>
          </a:xfrm>
          <a:prstGeom prst="rect">
            <a:avLst/>
          </a:prstGeom>
          <a:noFill/>
          <a:ln w="9525">
            <a:noFill/>
            <a:headEnd/>
            <a:tailEnd/>
          </a:ln>
        </p:spPr>
      </p:pic>
      <p:sp>
        <p:nvSpPr>
          <p:cNvPr id="4" name="Content Placeholder 3">
            <a:extLst>
              <a:ext uri="{FF2B5EF4-FFF2-40B4-BE49-F238E27FC236}">
                <a16:creationId xmlns:a16="http://schemas.microsoft.com/office/drawing/2014/main" id="{4327201C-1AB1-5155-A12D-BBF575B2CA50}"/>
              </a:ext>
            </a:extLst>
          </p:cNvPr>
          <p:cNvSpPr>
            <a:spLocks noGrp="1"/>
          </p:cNvSpPr>
          <p:nvPr>
            <p:ph idx="2" sz="half"/>
          </p:nvPr>
        </p:nvSpPr>
        <p:spPr>
          <a:xfrm>
            <a:off x="7360920" y="1645920"/>
            <a:ext cx="4434840" cy="4572000"/>
          </a:xfrm>
        </p:spPr>
        <p:txBody>
          <a:bodyPr/>
          <a:lstStyle/>
          <a:p>
            <a:pPr lvl="0"/>
            <a:r>
              <a:rPr/>
              <a:t>Each survey added buys about 0.05 of accuracy in a country never seen.</a:t>
            </a:r>
          </a:p>
          <a:p>
            <a:pPr lvl="0"/>
            <a:r>
              <a:rPr/>
              <a:t>The ranking can say where the next survey should sample, so surveys and models improve each other.</a:t>
            </a:r>
          </a:p>
          <a:p>
            <a:pPr lvl="0"/>
            <a:r>
              <a:rPr/>
              <a:t>A 5 percent national sample plus the ranking gives district levels within 10.3 points.</a:t>
            </a:r>
          </a:p>
        </p:txBody>
      </p:sp>
      <p:sp>
        <p:nvSpPr>
          <p:cNvPr id="7" name="Slide Number Placeholder 6">
            <a:extLst>
              <a:ext uri="{FF2B5EF4-FFF2-40B4-BE49-F238E27FC236}">
                <a16:creationId xmlns:a16="http://schemas.microsoft.com/office/drawing/2014/main" id="{F5B86B62-BAFD-3A50-FBA9-961B856E0252}"/>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8" name="TextBox 7"/>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we can and cannot do yet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Rank districts inside a surveyed country? Yes.</a:t>
            </a:r>
          </a:p>
          <a:p>
            <a:pPr lvl="0"/>
            <a:r>
              <a:rPr/>
              <a:t>Rank districts in a country with no survey? Yes, more roughly.</a:t>
            </a:r>
          </a:p>
          <a:p>
            <a:pPr lvl="0"/>
            <a:r>
              <a:rPr/>
              <a:t>Say which public data carry the signal? Yes: climate, soil and satellite imagery, in every country.</a:t>
            </a:r>
          </a:p>
          <a:p>
            <a:pPr lvl="0"/>
            <a:r>
              <a:rPr/>
              <a:t>Give a prevalence figure for a new country? Not from the model alone. Yes, with one national blood sample added.</a:t>
            </a:r>
          </a:p>
          <a:p>
            <a:pPr lvl="0"/>
            <a:r>
              <a:rPr/>
              <a:t>Replace biomarker surveys? No. Tell the next survey where to go? Yes.</a:t>
            </a:r>
          </a:p>
          <a:p>
            <a:pPr lvl="0"/>
            <a:r>
              <a:rPr/>
              <a:t>Next: a fifth country to confirm it, and a workshop with partners on how a ranking should be used.</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D54DC-FB72-5297-5F8C-C5018B014C17}"/>
              </a:ext>
            </a:extLst>
          </p:cNvPr>
          <p:cNvSpPr>
            <a:spLocks noGrp="1"/>
          </p:cNvSpPr>
          <p:nvPr>
            <p:ph type="title"/>
          </p:nvPr>
        </p:nvSpPr>
        <p:spPr>
          <a:xfrm>
            <a:off x="831850" y="1709738"/>
            <a:ext cx="10515600" cy="2852737"/>
          </a:xfrm>
        </p:spPr>
        <p:txBody>
          <a:bodyPr/>
          <a:lstStyle/>
          <a:p>
            <a:pPr lvl="0" indent="0" marL="0">
              <a:buNone/>
            </a:pPr>
            <a:r>
              <a:rPr/>
              <a:t>Appendix</a:t>
            </a:r>
          </a:p>
        </p:txBody>
      </p:sp>
      <p:sp>
        <p:nvSpPr>
          <p:cNvPr id="6" name="Slide Number Placeholder 5">
            <a:extLst>
              <a:ext uri="{FF2B5EF4-FFF2-40B4-BE49-F238E27FC236}">
                <a16:creationId xmlns:a16="http://schemas.microsoft.com/office/drawing/2014/main" id="{C949C2AB-C32B-F139-A9B4-170A9888AC27}"/>
              </a:ext>
            </a:extLst>
          </p:cNvPr>
          <p:cNvSpPr>
            <a:spLocks noGrp="1"/>
          </p:cNvSpPr>
          <p:nvPr>
            <p:ph idx="12" sz="quarter" type="sldNum"/>
          </p:nvPr>
        </p:nvSpPr>
        <p:spPr/>
        <p:txBody>
          <a:bodyPr/>
          <a:lstStyle/>
          <a:p>
            <a:fld id="{8C903514-D622-FE49-B01E-C0625A22DB6C}" type="slidenum">
              <a:rPr lang="en-BG" smtClean="0"/>
              <a:t>‹#›</a:t>
            </a:fld>
            <a:endParaRPr lang="en-BG"/>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Where this goes next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a:p>
            <a:pPr lvl="0"/>
            <a:r>
              <a:rPr/>
              <a:t>Try a data-rich outcome such as wasting or anaemia, to see how much of the limit comes from rare outcomes.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Limitations and context</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a:p>
            <a:pPr lvl="0"/>
            <a:r>
              <a:rPr/>
              <a:t>Part of any between-country difference is survey difference: different years, seasons and teams.</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Two plainer measures of accuracy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Of the survey’s worst quarter of districts, the model finds 43% inside a surveyed country and 41% in a country never seen. A random pick finds 25%.</a:t>
            </a:r>
          </a:p>
          <a:p>
            <a:pPr lvl="0"/>
            <a:r>
              <a:rPr/>
              <a:t>It places a district in the correct WHO vitamin A band 64% of the time, and within one band 92%.</a:t>
            </a:r>
          </a:p>
          <a:p>
            <a:pPr lvl="0"/>
            <a:r>
              <a:rPr/>
              <a:t>On the biomarker level the ceiling set by survey noise is about 0.56 and the model reaches 0.40; on prevalence 0.44 and 0.28.</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649209" y="1600200"/>
            <a:ext cx="8890534"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Targeting the model’s worst fifth reaches more deficient people</a:t>
            </a:r>
          </a:p>
        </p:txBody>
      </p:sp>
      <p:pic>
        <p:nvPicPr>
          <p:cNvPr descr="../../results/figures/policy_deck/fig6_targeting.png" id="0" name="Picture 1"/>
          <p:cNvPicPr>
            <a:picLocks noGrp="1" noChangeAspect="1"/>
          </p:cNvPicPr>
          <p:nvPr/>
        </p:nvPicPr>
        <p:blipFill>
          <a:blip r:embed="rId3"/>
          <a:stretch>
            <a:fillRect/>
          </a:stretch>
        </p:blipFill>
        <p:spPr bwMode="auto">
          <a:xfrm>
            <a:off x="1356039" y="1600200"/>
            <a:ext cx="9476873"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Variable importance: 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031011" y="1600200"/>
            <a:ext cx="8126930"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predictive variables are consistent across countries (child iron)</a:t>
            </a:r>
          </a:p>
        </p:txBody>
      </p:sp>
      <p:pic>
        <p:nvPicPr>
          <p:cNvPr descr="../../results/figures/policy_deck/fig8_twenty_layers.png" id="0" name="Picture 1"/>
          <p:cNvPicPr>
            <a:picLocks noGrp="1" noChangeAspect="1"/>
          </p:cNvPicPr>
          <p:nvPr/>
        </p:nvPicPr>
        <p:blipFill>
          <a:blip r:embed="rId3"/>
          <a:stretch>
            <a:fillRect/>
          </a:stretch>
        </p:blipFill>
        <p:spPr bwMode="auto">
          <a:xfrm>
            <a:off x="1785567" y="1600200"/>
            <a:ext cx="8617818"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581030" y="1600200"/>
            <a:ext cx="9026892"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What this means for policy</a:t>
            </a:r>
          </a:p>
        </p:txBody>
      </p:sp>
      <p:sp>
        <p:nvSpPr>
          <p:cNvPr id="3" name="Content Placeholder 2">
            <a:extLst>
              <a:ext uri="{FF2B5EF4-FFF2-40B4-BE49-F238E27FC236}">
                <a16:creationId xmlns:a16="http://schemas.microsoft.com/office/drawing/2014/main" id="{869312CD-D207-4B39-1878-4998D48F0B84}"/>
              </a:ext>
            </a:extLst>
          </p:cNvPr>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More complicated models do not do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506033" y="1600200"/>
            <a:ext cx="917688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B3E48-2765-D748-089D-83A321314B8F}"/>
              </a:ext>
            </a:extLst>
          </p:cNvPr>
          <p:cNvSpPr>
            <a:spLocks noGrp="1"/>
          </p:cNvSpPr>
          <p:nvPr>
            <p:ph type="title"/>
          </p:nvPr>
        </p:nvSpPr>
        <p:spPr/>
        <p:txBody>
          <a:bodyPr/>
          <a:lstStyle/>
          <a:p>
            <a:pPr lvl="0" indent="0" marL="0">
              <a:buNone/>
            </a:pPr>
            <a:r>
              <a:rPr/>
              <a:t>Different data support within-country and across-country prediction</a:t>
            </a:r>
          </a:p>
        </p:txBody>
      </p:sp>
      <p:pic>
        <p:nvPicPr>
          <p:cNvPr descr="../../results/figures/policy_deck/fig4_domain_scatter.png" id="0" name="Picture 1"/>
          <p:cNvPicPr>
            <a:picLocks noGrp="1" noChangeAspect="1"/>
          </p:cNvPicPr>
          <p:nvPr/>
        </p:nvPicPr>
        <p:blipFill>
          <a:blip r:embed="rId3"/>
          <a:stretch>
            <a:fillRect/>
          </a:stretch>
        </p:blipFill>
        <p:spPr bwMode="auto">
          <a:xfrm>
            <a:off x="1717388" y="1600200"/>
            <a:ext cx="8754176" cy="4663440"/>
          </a:xfrm>
          <a:prstGeom prst="rect">
            <a:avLst/>
          </a:prstGeom>
          <a:noFill/>
          <a:ln w="9525">
            <a:noFill/>
            <a:headEnd/>
            <a:tailEnd/>
          </a:ln>
        </p:spPr>
      </p:pic>
      <p:sp>
        <p:nvSpPr>
          <p:cNvPr id="6" name="Slide Number Placeholder 5">
            <a:extLst>
              <a:ext uri="{FF2B5EF4-FFF2-40B4-BE49-F238E27FC236}">
                <a16:creationId xmlns:a16="http://schemas.microsoft.com/office/drawing/2014/main" id="{BAC10821-19FC-80D7-565F-E5FCE8D7AA90}"/>
              </a:ext>
            </a:extLst>
          </p:cNvPr>
          <p:cNvSpPr>
            <a:spLocks noGrp="1"/>
          </p:cNvSpPr>
          <p:nvPr>
            <p:ph idx="12" sz="quarter" type="sldNum"/>
          </p:nvPr>
        </p:nvSpPr>
        <p:spPr/>
        <p:txBody>
          <a:bodyPr/>
          <a:lstStyle/>
          <a:p>
            <a:fld id="{8C903514-D622-FE49-B01E-C0625A22DB6C}" type="slidenum">
              <a:rPr lang="en-BG" smtClean="0"/>
              <a:t>‹#›</a:t>
            </a:fld>
            <a:endParaRPr lang="en-BG"/>
          </a:p>
        </p:txBody>
      </p:sp>
      <p:sp>
        <p:nvSpPr>
          <p:cNvPr id="7" name="TextBox 6"/>
          <p:cNvSpPr txBox="1"/>
          <p:nvPr/>
        </p:nvSpPr>
        <p:spPr>
          <a:xfrm>
            <a:off x="841248" y="6382512"/>
            <a:ext cx="6858000" cy="320040"/>
          </a:xfrm>
          <a:prstGeom prst="rect">
            <a:avLst/>
          </a:prstGeom>
          <a:noFill/>
        </p:spPr>
        <p:txBody>
          <a:bodyPr wrap="none">
            <a:spAutoFit/>
          </a:bodyPr>
          <a:lstStyle/>
          <a:p>
            <a:r>
              <a:rPr sz="1100">
                <a:solidFill>
                  <a:srgbClr val="808080"/>
                </a:solidFill>
              </a:rPr>
              <a:t>Unpublished data. Do not copy or distribute.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NF2026" id="{C297CF86-E7ED-3F4F-A7BA-F3C55265C4A3}" vid="{7623D2EC-82FD-2D4E-ADF7-7C90E80A22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215</TotalTime>
  <Words>17</Words>
  <Application>Microsoft Office PowerPoint</Application>
  <PresentationFormat>Widescreen</PresentationFormat>
  <Paragraphs>7</Paragraphs>
  <Slides>3</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vt:i4>
      </vt:variant>
    </vt:vector>
  </HeadingPairs>
  <TitlesOfParts>
    <vt:vector size="9" baseType="lpstr">
      <vt:lpstr>Aptos</vt:lpstr>
      <vt:lpstr>Aptos Display</vt:lpstr>
      <vt:lpstr>Arial</vt:lpstr>
      <vt:lpstr>Commissioner</vt:lpstr>
      <vt:lpstr>Commissioner SemiBold</vt:lpstr>
      <vt:lpstr>Office Theme</vt:lpstr>
      <vt:lpstr>PowerPoint Presentation</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submitted title)</dc:title>
  <dc:creator>Sonja Hess and Andrew N. Mertens</dc:creator>
  <cp:keywords/>
  <dcterms:created xsi:type="dcterms:W3CDTF">2026-09-11T19:04:04Z</dcterms:created>
  <dcterms:modified xsi:type="dcterms:W3CDTF">2026-09-11T19:04:04Z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