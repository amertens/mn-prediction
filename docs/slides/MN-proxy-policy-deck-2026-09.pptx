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2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notesMaster" Target="notesMasters/notesMaster1.xml" /><Relationship Id="rId28" Type="http://schemas.openxmlformats.org/officeDocument/2006/relationships/theme" Target="theme/theme1.xml" /><Relationship Id="rId27" Type="http://schemas.openxmlformats.org/officeDocument/2006/relationships/viewProps" Target="viewProps.xml" /><Relationship Id="rId26" Type="http://schemas.openxmlformats.org/officeDocument/2006/relationships/presProps" Target="presProps.xml" /><Relationship Id="rId4" Type="http://schemas.openxmlformats.org/officeDocument/2006/relationships/slideMaster" Target="slideMasters/slideMaster1.xml" /><Relationship Id="rId2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Framing slide. The gap is not the absence of data; it is the absence of data at the level where money is allocated. Cluster counts per district come from results/tables/protocol_v2/variance_components_ceiling.csv (share_single_cluster). The four surveys: The Gambia 2018, Ghana 2017, Malawi 2015-16, Sierra Leone 2013, with vitamin A, iron, folate and B12 measured in children and women, 206 districts with a measured value in all. Everything in this talk is scored against those 206 districts.</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 list: data/covariates/harmonized/predictors_admin2_shared_metadata.csv (454 columns in 24 domains); plain descriptions in results/tables/protocol_v2/variable_sheet.csv. The estimator is a zero-tuning index over domain principal components; the technical deck has the definition. Likely question: why so simple. With 14 to 87 districts per country, every method that learns its own settings does worse (appendix slide).</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in docs/findings (TWO_READINGS_2026-09f.md and SANDBOX_LOG_2026-09.md). Likely question: what changed. The within-country headline moved from a median of 0.06 on one split to 0.40 replicated; a regional transport figure of 0.50 to 0.56 was withdrawn when a spelling mismatch turned out to have dropped Sierra Leone from every population-joined run. Saying this out loud is what lets the rest of the deck be believed.</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the correlation a perfect predictor of the true district value could reach given sampling noise).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here is fitted to the district it scores. Ranking accuracy 0.28 for this cell, against 0.08 for chance. What the eye should take: the north comes out as the worst region in both maps without the model being told anything about survey results. What it should not take: that any single district is correctly placed. Grey districts had no survey clusters at all, which is the gap the model fills.</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12 of 75 districts are in the worst fifth on at least 80 percent of refits and 56 on at most 20 percent; the middle is the uncertain part and should be treated as such. The black outlines are the survey’s own worst fifth. Across all countries and outcomes, districts the model puts at 80 percent or above are in the survey’s worst fifth 40% of the time, against 16% for districts at 20 percent or below and a base rate of 20 percent (worst_fifth_calibration.csv). The survey’s own worst fifth is noisy at one cluster per district, so 100 percent agreement is not the ceiling. This is the form a priority list should take: firm at the top, honest about the middle.</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That is worth saying plainly: if you already have a survey, smoothing between neighbours gets you most of the way. The right-hand column is the point of the project. The smoothers and the survey’s regional average need survey data in the country; only the proxy methods produce anything at all there, at 0.26 to 0.37 against a chance level of 0.08. Grey band: the 95th percentile of the permutation null (transport_null_calibration.csv).</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0.37. Two guards ran first: the same code with each surveyed country held out reproduces the published transport figure exactly (0.369 over 22 cells, 22 positive), and adding CIV to the column intersection costs seven of the 95 climate-and-soil columns without degrading transport (0.386, still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Each additional training country buys roughly 0.05 of ranking accuracy in the next country, and the curve has not flattened at three training countries. This is the argument for pooling surveys across the region: a survey a country runs for itself improves every other country’s map. Two things to state here. Rankings cross borders and absolute levels do not; raw ferritin differs several-fold between these surveys, so the model tells a new country which districts are worst, not how bad. And an index built only from climate and soil reaches 0.37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47%. So the model closes about a fifth of the gap between guessing and knowing. Useful, and worth saying in exactly those terms. Likely question: why perfect knowledge captures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groups the kind of data, not its strength.</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thirteen of the twenty also keep it in each country’s own separate fit, which is the stricter test. None of these requires a blood sample. The twenty-layer equal-weight composite scores 0.29 for a new country, slightly above the full 454-column index at 0.26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next slide says how.</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10.3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boundary rather than the promise; this audience will be asked to defend whatever they take away. The 0.03 tie rule is ours and applies to every comparison in the deck, including the one where our own method comes first. The household-survey point is the appendix slide on what carries the model and what travels; dropping every DHS column improves new-country accuracy by 0.07. Person-level prediction reaches AUC 0.51 to 0.53 (individual_level_models.csv), a coin toss.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in pieces (the ranking, the probability map, the anchor-and-rank design, the geostatistical comparator on the cluster track); joining them is engineering, not research.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The untuned index edges the best machine-learning ensemble by a margin inside our own tie rule; the honest claim is that nothing beats it. Random forest, the ensemble tuned for squared error and penalised regression all trail. The reason is sample size: 14 to 87 districts per country is not enough for a method to learn its own settings.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and climate and soil are the two whose removal costs a new country most, with the modelled nutrition surfaces, agriculture and livestock behind. The household-survey domains sit below the line: they hold several of the largest single weights, yet removing all of them improves new-country accuracy from 0.26 to 0.33 (source_ablation_loco_summary.csv). Household-survey indicators are country-specific in a way that does not export; the physical environment does.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2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2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2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2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2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2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3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Where is deficiency worst? Ranking districts from public data</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What four blood surveys taught us about the districts nobody has surveyed</a:t>
            </a:r>
            <a:br/>
            <a:br/>
            <a:r>
              <a:rPr/>
              <a:t>Andrew N. Mertens, University of California, Berkeley | 10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Most districts have never had a blood test</a:t>
            </a:r>
          </a:p>
        </p:txBody>
      </p:sp>
      <p:sp>
        <p:nvSpPr>
          <p:cNvPr id="3" name="Content Placeholder 2"/>
          <p:cNvSpPr>
            <a:spLocks noGrp="1"/>
          </p:cNvSpPr>
          <p:nvPr>
            <p:ph idx="1"/>
          </p:nvPr>
        </p:nvSpPr>
        <p:spPr/>
        <p:txBody>
          <a:bodyPr/>
          <a:lstStyle/>
          <a:p>
            <a:pPr lvl="0"/>
            <a:r>
              <a:rPr/>
              <a:t>A national micronutrient survey draws blood from a few thousand people, costs millions, and happens about once a decade. Most countries in the region have none from the last ten years.</a:t>
            </a:r>
          </a:p>
          <a:p>
            <a:pPr lvl="0"/>
            <a:r>
              <a:rPr/>
              <a:t>The decisions are local: which districts get fortified food, supplements, or the next survey team.</a:t>
            </a:r>
          </a:p>
          <a:p>
            <a:pPr lvl="0"/>
            <a:r>
              <a:rPr/>
              <a:t>Even where a survey exists, it describes regions. In Ghana, 83% of districts hold a single sampled community.</a:t>
            </a:r>
          </a:p>
          <a:p>
            <a:pPr lvl="0"/>
            <a:r>
              <a:rPr/>
              <a:t>We ask what public data can say about the districts nobody surveyed, and test the answer against four surveys that did draw blood.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built: a ranking of districts from data anyone can download</a:t>
            </a:r>
          </a:p>
        </p:txBody>
      </p:sp>
      <p:sp>
        <p:nvSpPr>
          <p:cNvPr id="3" name="Content Placeholder 2"/>
          <p:cNvSpPr>
            <a:spLocks noGrp="1"/>
          </p:cNvSpPr>
          <p:nvPr>
            <p:ph idx="1"/>
          </p:nvPr>
        </p:nvSpPr>
        <p:spPr/>
        <p:txBody>
          <a:bodyPr/>
          <a:lstStyle/>
          <a:p>
            <a:pPr lvl="0"/>
            <a:r>
              <a:rPr/>
              <a:t>To every district we attach 454 public indicators: satellite imagery, climate, soil, crops, livestock, malaria, prices and household-survey results.</a:t>
            </a:r>
          </a:p>
          <a:p>
            <a:pPr lvl="0"/>
            <a:r>
              <a:rPr/>
              <a:t>Each kind of data is summarised, weighted by how well it tracked deficiency where we had blood results, and added up to rank districts.</a:t>
            </a:r>
          </a:p>
          <a:p>
            <a:pPr lvl="0"/>
            <a:r>
              <a:rPr/>
              <a:t>Nothing is tuned by hand, and a country can rebuild the ranking from twenty public layers.</a:t>
            </a:r>
          </a:p>
          <a:p>
            <a:pPr lvl="0"/>
            <a:r>
              <a:rPr/>
              <a:t>The output is an ordering; a prevalence figure needs one national number.</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these numbers can be trusted</a:t>
            </a:r>
          </a:p>
        </p:txBody>
      </p:sp>
      <p:sp>
        <p:nvSpPr>
          <p:cNvPr id="3" name="Content Placeholder 2"/>
          <p:cNvSpPr>
            <a:spLocks noGrp="1"/>
          </p:cNvSpPr>
          <p:nvPr>
            <p:ph idx="1"/>
          </p:nvPr>
        </p:nvSpPr>
        <p:spPr/>
        <p:txBody>
          <a:bodyPr/>
          <a:lstStyle/>
          <a:p>
            <a:pPr lvl="0"/>
            <a:r>
              <a:rPr/>
              <a:t>Every district is scored with itself hidden from the model, averaged over repeated random splits; one split alone can move a result by 0.1.</a:t>
            </a:r>
          </a:p>
          <a:p>
            <a:pPr lvl="0"/>
            <a:r>
              <a:rPr/>
              <a:t>Each method is compared with what a programme could do without it: the survey’s own regional average, or smoothing between neighbours.</a:t>
            </a:r>
          </a:p>
          <a:p>
            <a:pPr lvl="0"/>
            <a:r>
              <a:rPr/>
              <a:t>Chance is measured, not assumed. Shuffling the outcome across countries shows what a ranking reaches with no information.</a:t>
            </a:r>
          </a:p>
          <a:p>
            <a:pPr lvl="0"/>
            <a:r>
              <a:rPr/>
              <a:t>An earlier version rested on one split and a baseline that had seen the answer. An audit found it; these are the corrected numbers.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the numbers in this talk</a:t>
            </a:r>
          </a:p>
        </p:txBody>
      </p:sp>
      <p:sp>
        <p:nvSpPr>
          <p:cNvPr id="3" name="Content Placeholder 2"/>
          <p:cNvSpPr>
            <a:spLocks noGrp="1"/>
          </p:cNvSpPr>
          <p:nvPr>
            <p:ph idx="1"/>
          </p:nvPr>
        </p:nvSpPr>
        <p:spPr/>
        <p:txBody>
          <a:bodyPr/>
          <a:lstStyle/>
          <a:p>
            <a:pPr lvl="0"/>
            <a:r>
              <a:rPr/>
              <a:t>The score is ranking accuracy: how closely the model’s order of districts matches the survey’s, from 0 to 1. With no information at all a ranking still reaches 0.08.</a:t>
            </a:r>
          </a:p>
          <a:p>
            <a:pPr lvl="0"/>
            <a:r>
              <a:rPr/>
              <a:t>In plainer terms: of the truly worst quarter of districts the model finds 43% (a random pick finds 25%), and it places a district in the correct WHO vitamin A band 64% of the time, within one band 92%.</a:t>
            </a:r>
          </a:p>
          <a:p>
            <a:pPr lvl="0"/>
            <a:r>
              <a:rPr/>
              <a:t>The survey’s own district values are noisy. A perfect predictor could reach about 0.44, so a score of 0.40 is close to what can be measured.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broad pattern comes back. The fine detail does not.</a:t>
            </a:r>
          </a:p>
        </p:txBody>
      </p:sp>
      <p:pic>
        <p:nvPicPr>
          <p:cNvPr descr="../../results/figures/policy_deck/fig7_ghana_map.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Inside a country every method ties. Only ours works with no survey.</a:t>
            </a:r>
          </a:p>
        </p:txBody>
      </p:sp>
      <p:pic>
        <p:nvPicPr>
          <p:cNvPr descr="../../results/figures/policy_deck/fig1_model_comparison.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955800" y="1816100"/>
            <a:ext cx="8280400" cy="4343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survey we add improves the map for the next country</a:t>
            </a:r>
          </a:p>
        </p:txBody>
      </p:sp>
      <p:pic>
        <p:nvPicPr>
          <p:cNvPr descr="../../results/figures/policy_deck/fig5_learning_curve.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Sent to the worst fifth of districts, the model finds the most deficiency</a:t>
            </a:r>
          </a:p>
        </p:txBody>
      </p:sp>
      <p:pic>
        <p:nvPicPr>
          <p:cNvPr descr="../../results/figures/policy_deck/fig6_targeting.png" id="0" name="Picture 1"/>
          <p:cNvPicPr>
            <a:picLocks noGrp="1" noChangeAspect="1"/>
          </p:cNvPicPr>
          <p:nvPr/>
        </p:nvPicPr>
        <p:blipFill>
          <a:blip r:embed="rId3"/>
          <a:stretch>
            <a:fillRect/>
          </a:stretch>
        </p:blipFill>
        <p:spPr bwMode="auto">
          <a:xfrm>
            <a:off x="1676400" y="1816100"/>
            <a:ext cx="88265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311400" y="1816100"/>
            <a:ext cx="7569200" cy="4343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Twenty public layers, and every one holds across borders</a:t>
            </a:r>
          </a:p>
        </p:txBody>
      </p:sp>
      <p:pic>
        <p:nvPicPr>
          <p:cNvPr descr="../../results/figures/policy_deck/fig8_twenty_layers.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892300" y="1816100"/>
            <a:ext cx="8407400" cy="4343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 for a ministry</a:t>
            </a:r>
          </a:p>
        </p:txBody>
      </p:sp>
      <p:sp>
        <p:nvSpPr>
          <p:cNvPr id="3" name="Content Placeholder 2"/>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10.3 points. A district survey needs about a quarter of a full sample to match that.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are not claiming</a:t>
            </a:r>
          </a:p>
        </p:txBody>
      </p:sp>
      <p:sp>
        <p:nvSpPr>
          <p:cNvPr id="3" name="Content Placeholder 2"/>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Household-survey inputs help at home and hurt abroad; person-level prediction does not work here.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this goes next</a:t>
            </a:r>
          </a:p>
        </p:txBody>
      </p:sp>
      <p:sp>
        <p:nvSpPr>
          <p:cNvPr id="3" name="Content Placeholder 2"/>
          <p:cNvSpPr>
            <a:spLocks noGrp="1"/>
          </p:cNvSpPr>
          <p:nvPr>
            <p:ph idx="1"/>
          </p:nvPr>
        </p:nvSpPr>
        <p:spPr/>
        <p:txBody>
          <a:bodyPr/>
          <a:lstStyle/>
          <a:p>
            <a:pPr lvl="0"/>
            <a:r>
              <a:rPr/>
              <a:t>Confirm on a fifth country. The protocol is pre-registered; the next survey added is the real test.</a:t>
            </a:r>
          </a:p>
          <a:p>
            <a:pPr lvl="0"/>
            <a:r>
              <a:rPr/>
              <a:t>Build the product: a priority list with a probability per district, one national number for levels, and the DHS-style figure where a survey exists.</a:t>
            </a:r>
          </a:p>
          <a:p>
            <a:pPr lvl="0"/>
            <a:r>
              <a:rPr/>
              <a:t>Pool surveys. Each one added improves every other country’s map.</a:t>
            </a:r>
          </a:p>
          <a:p>
            <a:pPr lvl="0"/>
            <a:r>
              <a:rPr/>
              <a:t>Pilot the survey design: sample nationally, rank districts with the model, and compare with a district survey in one country.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Nothing more complicated does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data that carries the model is not the data that travels</a:t>
            </a:r>
          </a:p>
        </p:txBody>
      </p:sp>
      <p:pic>
        <p:nvPicPr>
          <p:cNvPr descr="../../results/figures/policy_deck/fig4_domain_scatter.png" id="0" name="Picture 1"/>
          <p:cNvPicPr>
            <a:picLocks noGrp="1" noChangeAspect="1"/>
          </p:cNvPicPr>
          <p:nvPr/>
        </p:nvPicPr>
        <p:blipFill>
          <a:blip r:embed="rId3"/>
          <a:stretch>
            <a:fillRect/>
          </a:stretch>
        </p:blipFill>
        <p:spPr bwMode="auto">
          <a:xfrm>
            <a:off x="2019300" y="1816100"/>
            <a:ext cx="8153400" cy="4343400"/>
          </a:xfrm>
          <a:prstGeom prst="rect">
            <a:avLst/>
          </a:prstGeom>
          <a:noFill/>
          <a:ln w="9525">
            <a:noFill/>
            <a:headEnd/>
            <a:tailEnd/>
          </a:ln>
        </p:spPr>
      </p:pic>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is deficiency worst? Ranking districts from public data</dc:title>
  <dc:creator>Andrew N. Mertens, University of California, Berkeley | 10 September 2026</dc:creator>
  <cp:keywords/>
  <dcterms:created xsi:type="dcterms:W3CDTF">2026-09-10T17:39:14Z</dcterms:created>
  <dcterms:modified xsi:type="dcterms:W3CDTF">2026-09-10T17:39:14Z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What four blood surveys taught us about the districts nobody has surveyed</vt:lpwstr>
  </property>
  <property fmtid="{D5CDD505-2E9C-101B-9397-08002B2CF9AE}" pid="11" name="toc-title">
    <vt:lpwstr>Table of contents</vt:lpwstr>
  </property>
</Properties>
</file>