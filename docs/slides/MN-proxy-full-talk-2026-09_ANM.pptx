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478" autoAdjust="0"/>
  </p:normalViewPr>
  <p:slideViewPr>
    <p:cSldViewPr snapToGrid="0">
      <p:cViewPr varScale="1">
        <p:scale>
          <a:sx n="87" d="100"/>
          <a:sy n="87" d="100"/>
        </p:scale>
        <p:origin x="14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three project goals as stated in the proposal: district and national prevalence estimates from proxies, validated against biomarker surveys; the districts at greatest risk; engagement with national stakeholders throughout. The map is Ghana child iron deficiency from the 2017 survey, the worked example that recurs through the talk.</a:t>
            </a:r>
          </a:p>
        </p:txBody>
      </p:sp>
      <p:sp>
        <p:nvSpPr>
          <p:cNvPr id="4" name="Slide Number Placeholder 3"/>
          <p:cNvSpPr>
            <a:spLocks noGrp="1"/>
          </p:cNvSpPr>
          <p:nvPr>
            <p:ph type="sldNum" sz="quarter" idx="10"/>
          </p:nvPr>
        </p:nvSpPr>
        <p:spPr/>
        <p:txBody>
          <a:bodyPr/>
          <a:lstStyle/>
          <a:p>
            <a:fld id="{E2A43B92-3A2D-4964-BD32-AF28A47106C9}"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 credit: Latter-day Saint Charities. GMS 2017 collaborators: University of Ghana, GroundWork, University of Wisconsin-Madison, KEMRI-Wellcome Trust; with UNICEF and Global Affairs Canada.</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same sentence describes both halves. Big: 575 columns from 28 sources, most of them rasters at 30 m to 10 km summarised over 554 districts, four household surveys aggregated from their microdata, a satellite embedding with 64 dimensions per district. Small: the thing being predicted is measured in one biomarker survey per country per decade, at 206 surveyed districts over four countries, 24 country-outcome cells, and 14 to 87 districts per country, which is the effective sample size of every model. Everything in the protocol follows from holding both at once: predictors are reduced to domain components with nothing chosen on the outcome, the estimator has no tuned parameter, the folds are cut by district, region and country, and the reliability ceiling says how much of the survey signal is noise at district level. Likely question: why not fit at the person level. That was the January approach; a person-level classifier under district-blocked folds is a coin toss on proxies alone, and shrinking its predictions biases area means (individual-level slide in the appendix).</a:t>
            </a:r>
          </a:p>
        </p:txBody>
      </p:sp>
      <p:sp>
        <p:nvSpPr>
          <p:cNvPr id="4" name="Slide Number Placeholder 3"/>
          <p:cNvSpPr>
            <a:spLocks noGrp="1"/>
          </p:cNvSpPr>
          <p:nvPr>
            <p:ph type="sldNum" sz="quarter" idx="10"/>
          </p:nvPr>
        </p:nvSpPr>
        <p:spPr/>
        <p:txBody>
          <a:bodyPr/>
          <a:lstStyle/>
          <a:p>
            <a:fld id="{E2A43B92-3A2D-4964-BD32-AF28A47106C9}"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24 country-outcome cells, 206 surveyed districts, 323 survey clusters with GPS. Fieldwork dates were recovered for every cluster (Sierra Leone reconstructed from date of birth and age in days); ferritin, retinol and food prices are seasonal. Three surveys ran in the dry season and Malawi in the lean season. Likely question: why districts rather than regions. Districts are the programme unit; they sit below the surveys’ design resolution, so the reliability ceiling slide reports what a perfect predictor could reach.</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targets per cell: the deficiency prevalence, and the district mean of the negated log biomarker concentration (higher means worse), which carries more signal than the dichotomy and is reported alongside it. Definitions were reconciled against the four survey reports and the 21 papers that re-analyse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haemoglobin),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cells are anaemic-subgroup estimates until the full file arrives. Folate is not comparable across the two assays (Malawi’s microbiologic assay reads higher than the Roche immunoassay), so its cross-border numbers are indicative only. Iodine (The Gambia, Sierra Leone) is analysed within country only; a one- or two-country outcome has no cross-border test.</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Adapted from Hess et al., Ann N Y Acad Sci 2023. The framework is unchanged; the ablation slides show which of its pathways the data can see.</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talk is about the right-hand side of the model: where the 575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42 of the 575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 bar chart from the top. One harmonised set feeds every model: the in-country models use whatever a country has, the cross-country models the columns all four share, so the light segment (household budget survey diet items for two countries, RTFP prices for two, MIMI for Ghana, MICS items missing from one round, a few IHME surfaces) works at home and not abroad. Behind the set sits a larger extraction: about 740 columns per country in the raw files (1,968 distinct names across the four, mostly the same quantity under country-specific names), harmonised to a common vocabulary; what did not harmonise was used only in the pre-protocol models.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summarise a year of imagery; soil is iSDA and SoilGrids, ten nutrient concentrations at two depths plus texture and pH; crops are MapSPAM’s 2010 allocation; livestock is GLW4. The health and nutrition surfaces are IHME’s modelled estimates (anaemia,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Rasters are the easy case: exactextractr over the GADM polygon, weighting by WorldPop where the quantity is about people (the IHME surfaces) and by area where it is about land (climate, soil, greenness). Twelve of the IHME columns were still joined by district name until this week; the tabular files predate Ghana’s 2019 district splits and left 56 percent of Ghana empty, so they were re-extracted from the 5 km GeoTIFFs. Survey microdata with GPS goes point-in-polygon after the leakage clusters are removed, with a minimum of 30 households and 5 clusters per district before a district gets its own value; below that it takes the parent region’s value and is flagged. Ghana’s MICS 2017-18 identifies the ten old regions and Malawi’s MICS 2013-14 the 27 districts, so those blocks vary at that level only and every column carries a subnational flag saying so. National series are kept in the set for documentation and completeness, but a constant cannot rank districts; the fit-time policy removes 42 of them (FAOSTAT, most GFDx fields, WHO anaemia national estimates, VAS, FluNet).</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anaemia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Six steps from four surveys and 28 sources to one district table. The CONSORT table on the next slide gives the column counts at each step.</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shell script runs the chain (scripts/covariates/rebuild_shared_tail.sh) and ends in an audit that fails the build on a domain-key collision, a column declared subnational that does not vary, or a join that fans out. The exclusion file has 23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a model can see is the last two rows: 525 columns vary within a country, of which 464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E2A43B92-3A2D-4964-BD32-AF28A47106C9}" type="slidenum">
              <a:rPr lang="en-US"/>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 the same folds the index scores 0.29 against 0.29 for the rank-loss ensemble, 0.27 for random forest, 0.24 for the squared-error ensemble, 0.22 for the principal-component highly adaptive ridge and 0.19 for the elastic net (mean of cell medians over the 17 cells every arm scored, prevalence, in-fill; SL-01 to SL-05, rerun on the RR-10 set). Likely question: why capacity hurts. With 14 to 87 districts per country the index has no tuned parameter, and every estimator that tunes one shrinks toward the constant under squared-error cross-validation; the weighting slide quantifies this over a family of penalties.</a:t>
            </a:r>
          </a:p>
        </p:txBody>
      </p:sp>
      <p:sp>
        <p:nvSpPr>
          <p:cNvPr id="4" name="Slide Number Placeholder 3"/>
          <p:cNvSpPr>
            <a:spLocks noGrp="1"/>
          </p:cNvSpPr>
          <p:nvPr>
            <p:ph type="sldNum" sz="quarter" idx="10"/>
          </p:nvPr>
        </p:nvSpPr>
        <p:spPr/>
        <p:txBody>
          <a:bodyPr/>
          <a:lstStyle/>
          <a:p>
            <a:fld id="{E2A43B92-3A2D-4964-BD32-AF28A47106C9}" type="slidenum">
              <a:rPr lang="en-US"/>
              <a:t>21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January estimator, kept as the comparison arm: a SuperLearner library (mean, penalised regressions, random forest, gradient boosting, PCA-HAL, BART, geostatistical models) weighted by V-fold cross-validated performance, folds cut so that no district is split between training and validation. No penalty other than computation to add a learner: diversity, redundancy, synergy. On the same folds the index scores 0.29 against 0.29 for the rank-loss ensemble and 0.27 for random forest (17 cells, prevalence, in-fill), which is why the zero-tuning index became the headline: with 14 to 87 districts every estimator that tunes a parameter shrinks toward the constant.</a:t>
            </a:r>
          </a:p>
        </p:txBody>
      </p:sp>
      <p:sp>
        <p:nvSpPr>
          <p:cNvPr id="4" name="Slide Number Placeholder 3"/>
          <p:cNvSpPr>
            <a:spLocks noGrp="1"/>
          </p:cNvSpPr>
          <p:nvPr>
            <p:ph type="sldNum" sz="quarter" idx="10"/>
          </p:nvPr>
        </p:nvSpPr>
        <p:spPr/>
        <p:txBody>
          <a:bodyPr/>
          <a:lstStyle/>
          <a:p>
            <a:fld id="{E2A43B92-3A2D-4964-BD32-AF28A47106C9}" type="slidenum">
              <a:rPr lang="en-US"/>
              <a:t>22</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steps, none of which looks at a held-out district. (1) Rank-normalise every predictor within country, so a level offset between surveys cannot act as signal. (2) Take the leading principal components of each of the 29 domains, to 80% of variance and at most twelve, on the training districts. (3) Weight each component by its rank correlation with the outcome in the training fold, sign and size; nothing else is fitted. (4) Sum, and rescale to the training outcome spread. The index is the infinite-penalty limit of a ridge regression on the components (weighting slide in the appendix), and because it is linear in the rank-normalised columns every column has an exact back-projected weight, which is what the importance slides show.</a:t>
            </a:r>
          </a:p>
        </p:txBody>
      </p:sp>
      <p:sp>
        <p:nvSpPr>
          <p:cNvPr id="4" name="Slide Number Placeholder 3"/>
          <p:cNvSpPr>
            <a:spLocks noGrp="1"/>
          </p:cNvSpPr>
          <p:nvPr>
            <p:ph type="sldNum" sz="quarter" idx="10"/>
          </p:nvPr>
        </p:nvSpPr>
        <p:spPr/>
        <p:txBody>
          <a:bodyPr/>
          <a:lstStyle/>
          <a:p>
            <a:fld id="{E2A43B92-3A2D-4964-BD32-AF28A47106C9}" type="slidenum">
              <a:rPr lang="en-US"/>
              <a:t>23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earlier leaderboard scored transport-style models against an in-fill baseline that read the held-out district’s own respondents; that comparison is withdrawn. Counts of positive cells have a fat null when a country’s outcomes are correlated: with no transport at all, 16 of 22 cells are positive at the 95th percentile of the permutation null, so the mean rank correlation is the statistic compared with its null (0.08 at district level, 0.18 at regional level).</a:t>
            </a:r>
          </a:p>
        </p:txBody>
      </p:sp>
      <p:sp>
        <p:nvSpPr>
          <p:cNvPr id="4" name="Slide Number Placeholder 3"/>
          <p:cNvSpPr>
            <a:spLocks noGrp="1"/>
          </p:cNvSpPr>
          <p:nvPr>
            <p:ph type="sldNum" sz="quarter" idx="10"/>
          </p:nvPr>
        </p:nvSpPr>
        <p:spPr/>
        <p:txBody>
          <a:bodyPr/>
          <a:lstStyle/>
          <a:p>
            <a:fld id="{E2A43B92-3A2D-4964-BD32-AF28A47106C9}" type="slidenum">
              <a:rPr lang="en-US"/>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Cells: 18 on the level (Sierra Leone’s cells score NA at 14 districts). On prevalence the index scores 0.28 against 0.22. The smoother with covariates fitted to its residuals scores 0.40; covariates add +0.01 over the smoother alone on the level. The penalised fits score 0.33 (domain components) and 0.31 (all columns). Likely question: why the smoother does so well. Inside a surveyed country the covariates mostly reproduce a smooth surface that neighbouring districts already provide; the value of the covariates is in unsurveyed regions and countries.</a:t>
            </a:r>
          </a:p>
        </p:txBody>
      </p:sp>
      <p:sp>
        <p:nvSpPr>
          <p:cNvPr id="4" name="Slide Number Placeholder 3"/>
          <p:cNvSpPr>
            <a:spLocks noGrp="1"/>
          </p:cNvSpPr>
          <p:nvPr>
            <p:ph type="sldNum" sz="quarter" idx="10"/>
          </p:nvPr>
        </p:nvSpPr>
        <p:spPr/>
        <p:txBody>
          <a:bodyPr/>
          <a:lstStyle/>
          <a:p>
            <a:fld id="{E2A43B92-3A2D-4964-BD32-AF28A47106C9}" type="slidenum">
              <a:rPr lang="en-US"/>
              <a:t>26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Districts with survey data only (grey: no survey clusters). Each district’s prediction is made with that district held out (5-fold, averaged over ten draws). The model orders districts; the survey’s own estimate at a single-cluster district is itself noisy, which is what the reliability ceiling slide quantifies.</a:t>
            </a:r>
          </a:p>
        </p:txBody>
      </p:sp>
      <p:sp>
        <p:nvSpPr>
          <p:cNvPr id="4" name="Slide Number Placeholder 3"/>
          <p:cNvSpPr>
            <a:spLocks noGrp="1"/>
          </p:cNvSpPr>
          <p:nvPr>
            <p:ph type="sldNum" sz="quarter" idx="10"/>
          </p:nvPr>
        </p:nvSpPr>
        <p:spPr/>
        <p:txBody>
          <a:bodyPr/>
          <a:lstStyle/>
          <a:p>
            <a:fld id="{E2A43B92-3A2D-4964-BD32-AF28A47106C9}" type="slidenum">
              <a:rPr lang="en-US"/>
              <a:t>27</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Leaving out a whole region is where a smoother must extrapolate past the edge of its data. The index and the smoother stay close (0.38 against 0.38 on the level); the null training mean collapses. Ghana and Malawi are the countries where this estimand is well determined; The Gambia and Sierra Leone give one number per region.</a:t>
            </a:r>
          </a:p>
        </p:txBody>
      </p:sp>
      <p:sp>
        <p:nvSpPr>
          <p:cNvPr id="4" name="Slide Number Placeholder 3"/>
          <p:cNvSpPr>
            <a:spLocks noGrp="1"/>
          </p:cNvSpPr>
          <p:nvPr>
            <p:ph type="sldNum" sz="quarter" idx="10"/>
          </p:nvPr>
        </p:nvSpPr>
        <p:spPr/>
        <p:txBody>
          <a:bodyPr/>
          <a:lstStyle/>
          <a:p>
            <a:fld id="{E2A43B92-3A2D-4964-BD32-AF28A47106C9}" type="slidenum">
              <a:rPr lang="en-US"/>
              <a:t>28</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Absolute levels do not transport: raw ferritin differs several-fold between surveys, so the transported product is a ranking. Prevalence: 0.23 at district level (19 of 22 positive) and 0.32 at regional level for the full index; 0.28 at district level for climate and soil. The climate-and-soil pair was chosen on these four countries, so it enters the next country as a pre-registered prediction; honest nested selection of domains inside the training fold gives a median difference of +0.01 from the full index (better in 14 of 22). Since 9 September the DHS-derived predictors are cluster-level spatial estimates at every district (DS-01), which changed nothing in-country and cost the full index 0.01 across borders. Likely question: what a correlation of 0.31 means for a programme. The targeting slide answers in burden captured.</a:t>
            </a:r>
          </a:p>
        </p:txBody>
      </p:sp>
      <p:sp>
        <p:nvSpPr>
          <p:cNvPr id="4" name="Slide Number Placeholder 3"/>
          <p:cNvSpPr>
            <a:spLocks noGrp="1"/>
          </p:cNvSpPr>
          <p:nvPr>
            <p:ph type="sldNum" sz="quarter" idx="10"/>
          </p:nvPr>
        </p:nvSpPr>
        <p:spPr/>
        <p:txBody>
          <a:bodyPr/>
          <a:lstStyle/>
          <a:p>
            <a:fld id="{E2A43B92-3A2D-4964-BD32-AF28A47106C9}" type="slidenum">
              <a:rPr lang="en-US"/>
              <a:t>29</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INLA-SPDE Matern field with penalised-complexity priors, binomial on cluster counts for prevalence and Gaussian for the level, cluster predictions aggregated to districts by effective sample size; run with the first component of every covariate domain and with the DHS Program’s ten-raster list (0.28 on the level). The field alone scores 0.19. The geostatistical model has the lower absolute error on prevalence (9.2 against 10.7 percentage points) because it estimates a level and shrinks toward it. Under region extrapolation the index scores 0.36 against 0.28. The method needs measured clusters inside the country it predicts, so it has no country-transport estimand. Likely question: whether the two are complementary. Yes: the geostatistical model for a calibrated prevalence where a survey exists, the index for a ranking where none does.</a:t>
            </a:r>
          </a:p>
        </p:txBody>
      </p:sp>
      <p:sp>
        <p:nvSpPr>
          <p:cNvPr id="4" name="Slide Number Placeholder 3"/>
          <p:cNvSpPr>
            <a:spLocks noGrp="1"/>
          </p:cNvSpPr>
          <p:nvPr>
            <p:ph type="sldNum" sz="quarter" idx="10"/>
          </p:nvPr>
        </p:nvSpPr>
        <p:spPr/>
        <p:txBody>
          <a:bodyPr/>
          <a:lstStyle/>
          <a:p>
            <a:fld id="{E2A43B92-3A2D-4964-BD32-AF28A47106C9}" type="slidenum">
              <a:rPr lang="en-US"/>
              <a:t>30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dashed line is the share a random fifth of districts would capture. The margin over the survey’s own regional averages is small per cell and concentrates where regions hold three to five districts. Under transport, burden captured is at chance: the transported product is an ordering and brings no targeting gain. Likely question: why the ceiling is only 48%.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E2A43B92-3A2D-4964-BD32-AF28A47106C9}" type="slidenum">
              <a:rPr lang="en-US"/>
              <a:t>31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Malawi’s 87 surveyed Traditional Authorities (grey: no survey clusters), the survey estimate beside the prediction made with each district held out (5-fold, ten draws). This is the protocol-v2 version of the January “what about subnational prevalence” maps: the same question, now scored under honest folds and with the index rather than the person-level ensemble. Women’s B12 is the best in-fill cell of the 24; child iron is the outcome the Ghana map shows. The model orders districts; the survey’s own estimate at a single-cluster district is itself noisy (reliability ceiling slide).</a:t>
            </a:r>
          </a:p>
        </p:txBody>
      </p:sp>
      <p:sp>
        <p:nvSpPr>
          <p:cNvPr id="4" name="Slide Number Placeholder 3"/>
          <p:cNvSpPr>
            <a:spLocks noGrp="1"/>
          </p:cNvSpPr>
          <p:nvPr>
            <p:ph type="sldNum" sz="quarter" idx="10"/>
          </p:nvPr>
        </p:nvSpPr>
        <p:spPr/>
        <p:txBody>
          <a:bodyPr/>
          <a:lstStyle/>
          <a:p>
            <a:fld id="{E2A43B92-3A2D-4964-BD32-AF28A47106C9}" type="slidenum">
              <a:rPr lang="en-US"/>
              <a:t>32</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index is linear in the rank-normalised predictors, so its component weights project back exactly onto the 575 columns (scripts 57 and 58). Shown: the ten largest weights in the pooled four-country fit on the biomarker level, coloured by data source; a star marks a sign not reproduced in every country’s own fit. No predictor carries more than 2% of the index’s variance; the satellite embedding, climate and soil together carry 40% to 54% depending on the outcome. Likely question: whether these are causes. They are not; the weights say where deficiency is. Livestock density carrying a positive sign for iron and B12 is ecological: pastoral zones are the dry, poor zones in these countries.</a:t>
            </a:r>
          </a:p>
        </p:txBody>
      </p:sp>
      <p:sp>
        <p:nvSpPr>
          <p:cNvPr id="4" name="Slide Number Placeholder 3"/>
          <p:cNvSpPr>
            <a:spLocks noGrp="1"/>
          </p:cNvSpPr>
          <p:nvPr>
            <p:ph type="sldNum" sz="quarter" idx="10"/>
          </p:nvPr>
        </p:nvSpPr>
        <p:spPr/>
        <p:txBody>
          <a:bodyPr/>
          <a:lstStyle/>
          <a:p>
            <a:fld id="{E2A43B92-3A2D-4964-BD32-AF28A47106C9}" type="slidenum">
              <a:rPr lang="en-US"/>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 women’s B12, biomarker level: the cell with the best in-fill ranking of the 24 (Spearman 0.70; The Gambia child vitamin A is next at 0.69). The index is linear in the rank-normalised columns, so every column has a standardised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anaemia and malaria surfaces run the other way (more anaemia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cell does not enter the cross-country transport figures.</a:t>
            </a:r>
          </a:p>
        </p:txBody>
      </p:sp>
      <p:sp>
        <p:nvSpPr>
          <p:cNvPr id="4" name="Slide Number Placeholder 3"/>
          <p:cNvSpPr>
            <a:spLocks noGrp="1"/>
          </p:cNvSpPr>
          <p:nvPr>
            <p:ph type="sldNum" sz="quarter" idx="10"/>
          </p:nvPr>
        </p:nvSpPr>
        <p:spPr/>
        <p:txBody>
          <a:bodyPr/>
          <a:lstStyle/>
          <a:p>
            <a:fld id="{E2A43B92-3A2D-4964-BD32-AF28A47106C9}" type="slidenum">
              <a:rPr lang="en-US"/>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story behind the forest plot on the previous slide. In Malawi the modelled anaemia and malaria surfaces carry negative weights for B12: districts with MORE anaemia and malaria have BETTER B12 status. No nutritional mechanism says that. The maps say why: the lakeshore and the southern lowlands are where malaria transmission and anaemia are highest, and they are also where households eat fish, the main dietary B12 source in the country; the uplands have less malaria, less fish and worse B12. The anaemia surface is a surrogate marker for that geography, not a cause, and it is a good one precisely because it is modelled from the same environment. Three lessons for the audience: the index finds these markers on its own, they are ecological associations and must never be read as effects, and a surrogate that works in Malawi need not work in the next country, which is why the cross-border models lean on climate and soil rather than on health surfaces (ablation slide). Each map is the within-country percentile of its variable so the three share one scale; rho is the Spearman correlation with B12 deficiency across the surveyed Traditional Authorities (negative for anaemia and for fish: more of either, less deficiency).</a:t>
            </a:r>
          </a:p>
        </p:txBody>
      </p:sp>
      <p:sp>
        <p:nvSpPr>
          <p:cNvPr id="4" name="Slide Number Placeholder 3"/>
          <p:cNvSpPr>
            <a:spLocks noGrp="1"/>
          </p:cNvSpPr>
          <p:nvPr>
            <p:ph type="sldNum" sz="quarter" idx="10"/>
          </p:nvPr>
        </p:nvSpPr>
        <p:spPr/>
        <p:txBody>
          <a:bodyPr/>
          <a:lstStyle/>
          <a:p>
            <a:fld id="{E2A43B92-3A2D-4964-BD32-AF28A47106C9}" type="slidenum">
              <a:rPr lang="en-US"/>
              <a:t>36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Positive values mean the domain is load-bearing. Climate and soil carry most, with the anaemia surfaces, agriculture and greenness behind; the water-and-sanitation, education and infant-feeding domains sit at or below zero: removing them does not hurt a new country and in two cases helps. The DHS-derived domains are not in the headline set at all: with them in, the district transport index scores 0.28 against 0.31 without. A fixed climate-and-soil index transports at 0.38 at district level and 0.45 regionally against 0.31 and 0.28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10"/>
          </p:nvPr>
        </p:nvSpPr>
        <p:spPr/>
        <p:txBody>
          <a:bodyPr/>
          <a:lstStyle/>
          <a:p>
            <a:fld id="{E2A43B92-3A2D-4964-BD32-AF28A47106C9}" type="slidenum">
              <a:rPr lang="en-US"/>
              <a:t>37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standardised weights. Every column named on the slide keeps the same sign in every fit where it appears (33 of the 39 columns that recur in five or more fits are unanimous). The pattern is the one on the previous two slides seen from the other side: what a model trained elsewhere reaches for in a new country is the physical environment and the modelled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E2A43B92-3A2D-4964-BD32-AF28A47106C9}" type="slidenum">
              <a:rPr lang="en-US"/>
              <a:t>38</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Legume cultivation and cattle ownership track more deficiency at district level, the reverse of the household-level dietary relationship, which is an ecological-fallacy signature: the replicated axis is rural subsistence agro-ecology, useful for deciding where to look and uninformative about what to change. No malaria burden indicator replicates; child wasting tracks women’s vitamin A deficiency in all four countries. An earlier version of these slides had the signs inverted.</a:t>
            </a:r>
          </a:p>
        </p:txBody>
      </p:sp>
      <p:sp>
        <p:nvSpPr>
          <p:cNvPr id="4" name="Slide Number Placeholder 3"/>
          <p:cNvSpPr>
            <a:spLocks noGrp="1"/>
          </p:cNvSpPr>
          <p:nvPr>
            <p:ph type="sldNum" sz="quarter" idx="10"/>
          </p:nvPr>
        </p:nvSpPr>
        <p:spPr/>
        <p:txBody>
          <a:bodyPr/>
          <a:lstStyle/>
          <a:p>
            <a:fld id="{E2A43B92-3A2D-4964-BD32-AF28A47106C9}" type="slidenum">
              <a:rPr lang="en-US"/>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respondent-in-cluster-in-district-in-region variance model reproduces the split-half ceiling when the cluster is counted as geography, then removes the cluster term: 13% of the split-half ceiling was cluster effect. Child zinc has no district geography; what looked like geography was the cluster, and the time of the blood draw explains part of the cluster effect (ZN-02).</a:t>
            </a:r>
          </a:p>
        </p:txBody>
      </p:sp>
      <p:sp>
        <p:nvSpPr>
          <p:cNvPr id="4" name="Slide Number Placeholder 3"/>
          <p:cNvSpPr>
            <a:spLocks noGrp="1"/>
          </p:cNvSpPr>
          <p:nvPr>
            <p:ph type="sldNum" sz="quarter" idx="10"/>
          </p:nvPr>
        </p:nvSpPr>
        <p:spPr/>
        <p:txBody>
          <a:bodyPr/>
          <a:lstStyle/>
          <a:p>
            <a:fld id="{E2A43B92-3A2D-4964-BD32-AF28A47106C9}" type="slidenum">
              <a:rPr lang="en-US"/>
              <a:t>41</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10"/>
          </p:nvPr>
        </p:nvSpPr>
        <p:spPr/>
        <p:txBody>
          <a:bodyPr/>
          <a:lstStyle/>
          <a:p>
            <a:fld id="{E2A43B92-3A2D-4964-BD32-AF28A47106C9}" type="slidenum">
              <a:rPr lang="en-US"/>
              <a:t>42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Bars are the interquartile range over fits. Likely question: whether four countries are enough. The curve has not flattened at three training countries, which is the argument for adding surveys to the panel rather than changing the estimator.</a:t>
            </a:r>
          </a:p>
        </p:txBody>
      </p:sp>
      <p:sp>
        <p:nvSpPr>
          <p:cNvPr id="4" name="Slide Number Placeholder 3"/>
          <p:cNvSpPr>
            <a:spLocks noGrp="1"/>
          </p:cNvSpPr>
          <p:nvPr>
            <p:ph type="sldNum" sz="quarter" idx="10"/>
          </p:nvPr>
        </p:nvSpPr>
        <p:spPr/>
        <p:txBody>
          <a:bodyPr/>
          <a:lstStyle/>
          <a:p>
            <a:fld id="{E2A43B92-3A2D-4964-BD32-AF28A47106C9}" type="slidenum">
              <a:rPr lang="en-US"/>
              <a:t>43</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What the evidence supports today and what it does not. Supported: with a national anchor (a small nationally representative sample, 5% of a full survey) and the transported climate-and-soil ranking, the median district error is 9.3 percentage points, which a district-representative survey only matches at about 25% of the full sample (survey design slide; anchor_and_rank.csv). That is the sample-size claim, and it holds for the LEVEL error only: a district survey of any size captures more burden in its worst fifth, because burden is what it measures directly. In design: model-assisted cluster allocation, where the ranking decides where the clusters go, oversampling the districts the model puts at the top and bottom, so that a survey of the same size resolves the districts that matter; this is designed (CLUSTER_LEVEL_DESIGN_2026-09.md) and not piloted. Not shown: that a proxy model can replace a biomarker survey. The reliability ceiling is the survey's own, and the transport correlation of 0.31 is a ranking, not a prevalence. The honest offer to a ministry is: a ranking now from public data, a national anchor to put a level on it, and a district survey designed with the ranking rather than instead of it.</a:t>
            </a:r>
          </a:p>
        </p:txBody>
      </p:sp>
      <p:sp>
        <p:nvSpPr>
          <p:cNvPr id="4" name="Slide Number Placeholder 3"/>
          <p:cNvSpPr>
            <a:spLocks noGrp="1"/>
          </p:cNvSpPr>
          <p:nvPr>
            <p:ph type="sldNum" sz="quarter" idx="10"/>
          </p:nvPr>
        </p:nvSpPr>
        <p:spPr/>
        <p:txBody>
          <a:bodyPr/>
          <a:lstStyle/>
          <a:p>
            <a:fld id="{E2A43B92-3A2D-4964-BD32-AF28A47106C9}" type="slidenum">
              <a:rPr lang="en-US"/>
              <a:t>44</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dashboard was rebuilt on 13 September on the corrected protocol, so that it says exactly what this talk says, simplified on 14 September for a reader with no statistics, and refreshed on 16 September with the 570-layer predictor set that has no DHS in it. Start here now opens with a plain-language abstract (the project, the four training surveys, how the model was built and checked), then the three numbers, one card on how to use the map, and the checklist; the Ghana worked example and the audit history sit in folded panels. Removed with the rebuild: the person-level machine-learning layer (a coin toss under honest folds), the earlier area-level estimators and their intervals, the old leaderboard, the GBD placeholder and the Sierra Leone chiefdom layer. One estimator feeds every tab: the index fitted on all surveyed districts of a country and applied to every district. The chance of being in the worst fifth exists for surveyed districts in three countries; Sierra Leone’s 14 districts cannot be cross-validated. A printable brief per country comes from the same tables, and a 25-page static walkthrough of every tab (dashboard_walkthrough_2026-09-14.pdf in the Dropbox folder) is there for written comments. Open items: sharing a view by URL, faster loading (the boundary files are most of the bundle), the worst-fifth probability for unsurveyed districts, and plain-language descriptions for the predictors (75 of 570 have one; the catalogue is the worklist). Open the URL a few minutes before showing it: the free tier stops idle instances and the restart takes a minute.</a:t>
            </a:r>
          </a:p>
        </p:txBody>
      </p:sp>
      <p:sp>
        <p:nvSpPr>
          <p:cNvPr id="4" name="Slide Number Placeholder 3"/>
          <p:cNvSpPr>
            <a:spLocks noGrp="1"/>
          </p:cNvSpPr>
          <p:nvPr>
            <p:ph type="sldNum" sz="quarter" idx="10"/>
          </p:nvPr>
        </p:nvSpPr>
        <p:spPr/>
        <p:txBody>
          <a:bodyPr/>
          <a:lstStyle/>
          <a:p>
            <a:fld id="{E2A43B92-3A2D-4964-BD32-AF28A47106C9}" type="slidenum">
              <a:rPr lang="en-US"/>
              <a:t>45</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10"/>
          </p:nvPr>
        </p:nvSpPr>
        <p:spPr/>
        <p:txBody>
          <a:bodyPr/>
          <a:lstStyle/>
          <a:p>
            <a:fld id="{E2A43B92-3A2D-4964-BD32-AF28A47106C9}" type="slidenum">
              <a:rPr lang="en-US"/>
              <a:t>47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Concept slide: content in MN-proxy-full-talk-2026-09.concept.yaml.</a:t>
            </a:r>
          </a:p>
        </p:txBody>
      </p:sp>
      <p:sp>
        <p:nvSpPr>
          <p:cNvPr id="4" name="Slide Number Placeholder 3"/>
          <p:cNvSpPr>
            <a:spLocks noGrp="1"/>
          </p:cNvSpPr>
          <p:nvPr>
            <p:ph type="sldNum" sz="quarter" idx="10"/>
          </p:nvPr>
        </p:nvSpPr>
        <p:spPr/>
        <p:txBody>
          <a:bodyPr/>
          <a:lstStyle/>
          <a:p>
            <a:fld id="{E2A43B92-3A2D-4964-BD32-AF28A47106C9}" type="slidenum">
              <a:rPr lang="en-US"/>
              <a:t>48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docs/findings/TWO_READINGS_2026-09f.md (current abstracts), SANDBOX_LOG_2026-09.md (every experiment), PREREGISTRATION_NEW_COUNTRIES_2026-09.md, CLUSTER_LEVEL_DESIGN_2026-09.md. Every table in this deck is read at render time from results/tables. 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49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Tier: open means downloadable by anyone; public survey microdata means a registration with the survey programme; DHS means the DHS Program’s access agreement.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E2A43B92-3A2D-4964-BD32-AF28A47106C9}" type="slidenum">
              <a:rPr lang="en-US"/>
              <a:t>51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52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standardised weights in the pooled four-country fit, drawn as bars so their sizes can be compared. The level target is the negated log ferritin, so a bar to the right means districts with more of the layer rank worse on child iron, to the left better. The label is the share of the index’s variance the layer carries: the twenty together hold about a fifth of the index (21%), the rest is spread over the other 350 columns, which is how a weighted sum of many weak signals is meant to behave. All twenty keep their direction in every leave-one-country-out fit; the starred ones (10 of twenty) also keep it in each country’s own separate fit, the stricter test. The story is the one on the earlier slides: cereal-heavy cropping, ruminant and cattle density, cropland, distance from the coast and a high dependency ratio rank a district worse; root crops, higher plant productivity, relatively expensive staples, modelled overweight and malaria intensity rank it better, the last for the geographic reason discussed. None of the twenty requires a blood sample, and the twenty-layer equal-weight composite scores about the same as the full index for a new country.</a:t>
            </a:r>
          </a:p>
        </p:txBody>
      </p:sp>
      <p:sp>
        <p:nvSpPr>
          <p:cNvPr id="4" name="Slide Number Placeholder 3"/>
          <p:cNvSpPr>
            <a:spLocks noGrp="1"/>
          </p:cNvSpPr>
          <p:nvPr>
            <p:ph type="sldNum" sz="quarter" idx="10"/>
          </p:nvPr>
        </p:nvSpPr>
        <p:spPr/>
        <p:txBody>
          <a:bodyPr/>
          <a:lstStyle/>
          <a:p>
            <a:fld id="{E2A43B92-3A2D-4964-BD32-AF28A47106C9}" type="slidenum">
              <a:rPr lang="en-US"/>
              <a:t>53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metadata/covariates/exclusions.csv, applied by scripts/protocol_v2/53_apply_exclusion_policy.R to the live set. Data defects are removed on evidence in the audit tables; superseded layers are replaced by a better-aligned version of the same quantity; redundant twins are removed when a pooled rank correlation reaches 0.98 with a kept column. The two soil rules that failed that standard were removed on 15 September (SX-01 in the sandbox log).</a:t>
            </a:r>
          </a:p>
        </p:txBody>
      </p:sp>
      <p:sp>
        <p:nvSpPr>
          <p:cNvPr id="4" name="Slide Number Placeholder 3"/>
          <p:cNvSpPr>
            <a:spLocks noGrp="1"/>
          </p:cNvSpPr>
          <p:nvPr>
            <p:ph type="sldNum" sz="quarter" idx="10"/>
          </p:nvPr>
        </p:nvSpPr>
        <p:spPr/>
        <p:txBody>
          <a:bodyPr/>
          <a:lstStyle/>
          <a:p>
            <a:fld id="{E2A43B92-3A2D-4964-BD32-AF28A47106C9}" type="slidenum">
              <a:rPr lang="en-US"/>
              <a:t>54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Modelled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E2A43B92-3A2D-4964-BD32-AF28A47106C9}" type="slidenum">
              <a:rPr lang="en-US"/>
              <a:t>55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56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Predictors in the pooled top 20 of three or more of the six outcomes on the level target, with the sign in each. One gradient recurs: districts that are drier and grassier, less productive (lower net and gross primary productivity), more pastoral, poorer (less home ownership, fewer women in paid work, less schooling) and more stunted rank worse on every deficiency. Outcome-specific signals sit below it: haemoglobin C allele frequency and cattle for child iron, the modelled anaemia surfaces for women’s iron, helminth treatment coverage and the drought index for folate, elevation and coast distance for B12.</a:t>
            </a:r>
          </a:p>
        </p:txBody>
      </p:sp>
      <p:sp>
        <p:nvSpPr>
          <p:cNvPr id="4" name="Slide Number Placeholder 3"/>
          <p:cNvSpPr>
            <a:spLocks noGrp="1"/>
          </p:cNvSpPr>
          <p:nvPr>
            <p:ph type="sldNum" sz="quarter" idx="10"/>
          </p:nvPr>
        </p:nvSpPr>
        <p:spPr/>
        <p:txBody>
          <a:bodyPr/>
          <a:lstStyle/>
          <a:p>
            <a:fld id="{E2A43B92-3A2D-4964-BD32-AF28A47106C9}" type="slidenum">
              <a:rPr lang="en-US"/>
              <a:t>57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production weights are the infinite-penalty limit of a ridge regression on the components, so the rows are points along that family plus other sources of evidence for the weights (soft thresholding, meta-analytic replication across training countries, decorrelation across domains). Same folds and cells as every other arm; five in-fill draws. The one-SE rules return the null model in some cells (18 of 22 transport cells scored for the elastic net). The twenty-predictor composite gains -0.053 across borders (better in 8 of 22) and costs -0.03 in-fill. The soft threshold gained 0.02 across borders on the direct DHS estimates and -0.004 on the smoothed ones, so that gain was a property of noisy inputs. Both gains were found among 21 arms on these cells and are pre-registered for the next country rather than adopted. Prevalence-target version in the appendix.</a:t>
            </a:r>
          </a:p>
        </p:txBody>
      </p:sp>
      <p:sp>
        <p:nvSpPr>
          <p:cNvPr id="4" name="Slide Number Placeholder 3"/>
          <p:cNvSpPr>
            <a:spLocks noGrp="1"/>
          </p:cNvSpPr>
          <p:nvPr>
            <p:ph type="sldNum" sz="quarter" idx="10"/>
          </p:nvPr>
        </p:nvSpPr>
        <p:spPr/>
        <p:txBody>
          <a:bodyPr/>
          <a:lstStyle/>
          <a:p>
            <a:fld id="{E2A43B92-3A2D-4964-BD32-AF28A47106C9}" type="slidenum">
              <a:rPr lang="en-US"/>
              <a:t>58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Dawes’ improper linear model: direction from the training fold, equal weights, rescaled like the index; nothing is chosen on held-out districts. Weighting the ten by their index weights instead of equally changes nothing. The composite is a transport and communication tool: twenty public layers a ministry can compute. Likely question: which twenty. The next slide lists the child iron members.</a:t>
            </a:r>
          </a:p>
        </p:txBody>
      </p:sp>
      <p:sp>
        <p:nvSpPr>
          <p:cNvPr id="4" name="Slide Number Placeholder 3"/>
          <p:cNvSpPr>
            <a:spLocks noGrp="1"/>
          </p:cNvSpPr>
          <p:nvPr>
            <p:ph type="sldNum" sz="quarter" idx="10"/>
          </p:nvPr>
        </p:nvSpPr>
        <p:spPr/>
        <p:txBody>
          <a:bodyPr/>
          <a:lstStyle/>
          <a:p>
            <a:fld id="{E2A43B92-3A2D-4964-BD32-AF28A47106C9}" type="slidenum">
              <a:rPr lang="en-US"/>
              <a:t>59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twenty columns the four-country fit would deploy for child iron, in order of weight, with the sign of the contribution (plus means more deficiency). 20 of the twenty keep their sign in every leave-one-country-out fit and 10 in every country’s own independent fit. In the benchmark the membership is re-chosen inside each training fold; this is the version fitted on all four countries. The other outcomes’ composites are in results/tables/protocol_v2/index_importance_top.csv.</a:t>
            </a:r>
          </a:p>
        </p:txBody>
      </p:sp>
      <p:sp>
        <p:nvSpPr>
          <p:cNvPr id="4" name="Slide Number Placeholder 3"/>
          <p:cNvSpPr>
            <a:spLocks noGrp="1"/>
          </p:cNvSpPr>
          <p:nvPr>
            <p:ph type="sldNum" sz="quarter" idx="10"/>
          </p:nvPr>
        </p:nvSpPr>
        <p:spPr/>
        <p:txBody>
          <a:bodyPr/>
          <a:lstStyle/>
          <a:p>
            <a:fld id="{E2A43B92-3A2D-4964-BD32-AF28A47106C9}" type="slidenum">
              <a:rPr lang="en-US"/>
              <a:t>60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Urbanicity composite: night lights, population density, built surface, urban land cover, travel time to health care. The replicated associations (legumes, cattle, soil chemistry, night-time temperature, all toward more deficiency) describe where subsistence agriculture is, so an urban-rural gradient was the rival explanation; partialling it out moves the transported correlation by less than 0.02 and urbanicity alone does not transport.</a:t>
            </a:r>
          </a:p>
        </p:txBody>
      </p:sp>
      <p:sp>
        <p:nvSpPr>
          <p:cNvPr id="4" name="Slide Number Placeholder 3"/>
          <p:cNvSpPr>
            <a:spLocks noGrp="1"/>
          </p:cNvSpPr>
          <p:nvPr>
            <p:ph type="sldNum" sz="quarter" idx="10"/>
          </p:nvPr>
        </p:nvSpPr>
        <p:spPr/>
        <p:txBody>
          <a:bodyPr/>
          <a:lstStyle/>
          <a:p>
            <a:fld id="{E2A43B92-3A2D-4964-BD32-AF28A47106C9}" type="slidenum">
              <a:rPr lang="en-US"/>
              <a:t>61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Bars are the interquartile range over cells. No block moves in-fill or transport by more than 0.01 at the median: the vocabulary is saturated. The fieldwork-matched temperature columns are among the most consistently associated with deficiency in the marginal scan yet improve no fold, because a covariate defined by when the survey happened cannot rank districts that have not been surveyed. Found in passing and fixed: the price columns used 2021 as The Gambia’s survey year (fieldwork was January to April 2018), and the satellite embedding had been filed under agriculture.</a:t>
            </a:r>
          </a:p>
        </p:txBody>
      </p:sp>
      <p:sp>
        <p:nvSpPr>
          <p:cNvPr id="4" name="Slide Number Placeholder 3"/>
          <p:cNvSpPr>
            <a:spLocks noGrp="1"/>
          </p:cNvSpPr>
          <p:nvPr>
            <p:ph type="sldNum" sz="quarter" idx="10"/>
          </p:nvPr>
        </p:nvSpPr>
        <p:spPr/>
        <p:txBody>
          <a:bodyPr/>
          <a:lstStyle/>
          <a:p>
            <a:fld id="{E2A43B92-3A2D-4964-BD32-AF28A47106C9}" type="slidenum">
              <a:rPr lang="en-US"/>
              <a:t>62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323 clusters with GPS; covariates as 2 km (urban) and 5 km (rural) buffer means from rasters on disk; the same estimands with folds cut by district and region. Cluster-fitted models trail district-fitted ones on every estimand and for transport. A precision-weighted index and empirical-Bayes shrinkage of cluster outcomes recover a third to a half of the gap. A matched-vocabulary comparison attributes the remaining gap to the layers rather than the fitting unit. The cluster track is a sensitivity analysis until its vocabulary is matched layer for layer.</a:t>
            </a:r>
          </a:p>
        </p:txBody>
      </p:sp>
      <p:sp>
        <p:nvSpPr>
          <p:cNvPr id="4" name="Slide Number Placeholder 3"/>
          <p:cNvSpPr>
            <a:spLocks noGrp="1"/>
          </p:cNvSpPr>
          <p:nvPr>
            <p:ph type="sldNum" sz="quarter" idx="10"/>
          </p:nvPr>
        </p:nvSpPr>
        <p:spPr/>
        <p:txBody>
          <a:bodyPr/>
          <a:lstStyle/>
          <a:p>
            <a:fld id="{E2A43B92-3A2D-4964-BD32-AF28A47106C9}" type="slidenum">
              <a:rPr lang="en-US"/>
              <a:t>63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Out-of-fold predictions averaged over ten draws; transport rows use the held-out country’s own national prevalence as the anchor (AR-01 design), the only honest way to put a transported ranking on the prevalence scale. The January deck’s child vitamin A cell was 44 and 75 percent (exact, within one) for the full model from the old leaderboard. For iron and the other outcomes only the 20 percent threshold has a WHO source; the two-class accuracies are in results/tables/protocol_v2/risk_category_accuracy_summary.csv.</a:t>
            </a:r>
          </a:p>
        </p:txBody>
      </p:sp>
      <p:sp>
        <p:nvSpPr>
          <p:cNvPr id="4" name="Slide Number Placeholder 3"/>
          <p:cNvSpPr>
            <a:spLocks noGrp="1"/>
          </p:cNvSpPr>
          <p:nvPr>
            <p:ph type="sldNum" sz="quarter" idx="10"/>
          </p:nvPr>
        </p:nvSpPr>
        <p:spPr/>
        <p:txBody>
          <a:bodyPr/>
          <a:lstStyle/>
          <a:p>
            <a:fld id="{E2A43B92-3A2D-4964-BD32-AF28A47106C9}" type="slidenum">
              <a:rPr lang="en-US"/>
              <a:t>64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LSMS block scored here is Ghana’s GLSS7 as a svyby object: 134 region-level household expenditure and asset means, broadcast to districts through the 16-to-10 region crosswalk, so the block varies only across ten regions. It does not improve any Ghana cell beyond noise and cannot be scored across borders. The household budget surveys now enter the base set another way, as diet and consumption indicators computed from the microdata for all four countries (GLSS7 for Ghana, again at the region); that block is part of the base vocabulary this slide compares against. FluNet reports for Ghana and Sierra Leone only and is a national weekly count, constant within a country; it contributes nothing by construction.</a:t>
            </a:r>
          </a:p>
        </p:txBody>
      </p:sp>
      <p:sp>
        <p:nvSpPr>
          <p:cNvPr id="4" name="Slide Number Placeholder 3"/>
          <p:cNvSpPr>
            <a:spLocks noGrp="1"/>
          </p:cNvSpPr>
          <p:nvPr>
            <p:ph type="sldNum" sz="quarter" idx="10"/>
          </p:nvPr>
        </p:nvSpPr>
        <p:spPr/>
        <p:txBody>
          <a:bodyPr/>
          <a:lstStyle/>
          <a:p>
            <a:fld id="{E2A43B92-3A2D-4964-BD32-AF28A47106C9}" type="slidenum">
              <a:rPr lang="en-US"/>
              <a:t>65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Library: mean, elastic net, random forest; survey weights; inner folds blocked by district; outer 5-fold by district so no district’s respondents are split across training and test. Survey variables: up to 80 respondent columns with 70 percent coverage after removing biomarkers, adjustments, identifiers, weights, dates and locations. Proxies: the district’s domain components joined to each respondent. Person-level skill exists for iron only (survey-variable AUC up to 0.78 in Ghana and Malawi); vitamin A, folate and B12 show none. The January figure (Brier skill 20 to 60 percent) came from folds not blocked by district and a survey set that included biomarker-adjacent variables. Aggregating a person-level classifier biases area means, so this remains a sensitivity analysis. Rerun on the RR-10 set on 10 September.</a:t>
            </a:r>
          </a:p>
        </p:txBody>
      </p:sp>
      <p:sp>
        <p:nvSpPr>
          <p:cNvPr id="4" name="Slide Number Placeholder 3"/>
          <p:cNvSpPr>
            <a:spLocks noGrp="1"/>
          </p:cNvSpPr>
          <p:nvPr>
            <p:ph type="sldNum" sz="quarter" idx="10"/>
          </p:nvPr>
        </p:nvSpPr>
        <p:spPr/>
        <p:txBody>
          <a:bodyPr/>
          <a:lstStyle/>
          <a:p>
            <a:fld id="{E2A43B92-3A2D-4964-BD32-AF28A47106C9}" type="slidenum">
              <a:rPr lang="en-US"/>
              <a:t>66</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January deck’s national-level track (WHO VMNIS and BRINDA outcomes, FAOSTAT and policy predictors) lives in a separate sub-pipeline last run in April 2026. It is not part of the current protocol and has not been re-audited; the table is its last output for the four survey countries. It is the only track with time series and fortification policy indicators and is a candidate for a rerun under the corrected protocol.</a:t>
            </a:r>
          </a:p>
        </p:txBody>
      </p:sp>
      <p:sp>
        <p:nvSpPr>
          <p:cNvPr id="4" name="Slide Number Placeholder 3"/>
          <p:cNvSpPr>
            <a:spLocks noGrp="1"/>
          </p:cNvSpPr>
          <p:nvPr>
            <p:ph type="sldNum" sz="quarter" idx="10"/>
          </p:nvPr>
        </p:nvSpPr>
        <p:spPr/>
        <p:txBody>
          <a:bodyPr/>
          <a:lstStyle/>
          <a:p>
            <a:fld id="{E2A43B92-3A2D-4964-BD32-AF28A47106C9}" type="slidenum">
              <a:rPr lang="en-US"/>
              <a:t>67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Urinary iodine is measured in The Gambia (continuous, with household salt iodine) and in Sierra Leone (six WHO categories, non-lactating women); it left the modelling outcomes because a one- or two-country outcome has no leave-one-country-out test. Targets: district prevalence of urinary iodine concentration below 100 micrograms per litre and, for The Gambia, the district median. In-fill needs at least 15 districts, so it runs for The Gambia only; leave-one-region-out runs in both. Whether district salt iodisation tracks district iodine status is in results/tables/protocol_v2/iodine_in_country.csv (rows analysis = descriptive).</a:t>
            </a:r>
          </a:p>
        </p:txBody>
      </p:sp>
      <p:sp>
        <p:nvSpPr>
          <p:cNvPr id="4" name="Slide Number Placeholder 3"/>
          <p:cNvSpPr>
            <a:spLocks noGrp="1"/>
          </p:cNvSpPr>
          <p:nvPr>
            <p:ph type="sldNum" sz="quarter" idx="10"/>
          </p:nvPr>
        </p:nvSpPr>
        <p:spPr/>
        <p:txBody>
          <a:bodyPr/>
          <a:lstStyle/>
          <a:p>
            <a:fld id="{E2A43B92-3A2D-4964-BD32-AF28A47106C9}" type="slidenum">
              <a:rPr lang="en-US"/>
              <a:t>68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Prevalence target, same arms and folds as the biomarker-level figure. Mean Spearman over cells with a 95% interval across cells.</a:t>
            </a:r>
          </a:p>
        </p:txBody>
      </p:sp>
      <p:sp>
        <p:nvSpPr>
          <p:cNvPr id="4" name="Slide Number Placeholder 3"/>
          <p:cNvSpPr>
            <a:spLocks noGrp="1"/>
          </p:cNvSpPr>
          <p:nvPr>
            <p:ph type="sldNum" sz="quarter" idx="10"/>
          </p:nvPr>
        </p:nvSpPr>
        <p:spPr/>
        <p:txBody>
          <a:bodyPr/>
          <a:lstStyle/>
          <a:p>
            <a:fld id="{E2A43B92-3A2D-4964-BD32-AF28A47106C9}" type="slidenum">
              <a:rPr lang="en-US"/>
              <a:t>69</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In-fill, prevalence. The geostatistical model estimates a level and shrinks uncertain districts toward the mean, which lowers absolute error; the index ranks and is rescaled to the training outcome’s spread, which does not. If the deliverable is a prevalence figure for a named district, the geostatistical model is the right tool; if it is a ranking, the index is.</a:t>
            </a:r>
          </a:p>
        </p:txBody>
      </p:sp>
      <p:sp>
        <p:nvSpPr>
          <p:cNvPr id="4" name="Slide Number Placeholder 3"/>
          <p:cNvSpPr>
            <a:spLocks noGrp="1"/>
          </p:cNvSpPr>
          <p:nvPr>
            <p:ph type="sldNum" sz="quarter" idx="10"/>
          </p:nvPr>
        </p:nvSpPr>
        <p:spPr/>
        <p:txBody>
          <a:bodyPr/>
          <a:lstStyle/>
          <a:p>
            <a:fld id="{E2A43B92-3A2D-4964-BD32-AF28A47106C9}" type="slidenum">
              <a:rPr lang="en-US"/>
              <a:t>70</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individual-level SuperLearner remains a sensitivity analysis because shrinking a noisy individual classifier biases area means; it was removed from the dashboard on 13 September, which now shows only the protocol’s index (amertens.shinyapps.io/micronutrient-burden).</a:t>
            </a:r>
          </a:p>
        </p:txBody>
      </p:sp>
      <p:sp>
        <p:nvSpPr>
          <p:cNvPr id="4" name="Slide Number Placeholder 3"/>
          <p:cNvSpPr>
            <a:spLocks noGrp="1"/>
          </p:cNvSpPr>
          <p:nvPr>
            <p:ph type="sldNum" sz="quarter" idx="10"/>
          </p:nvPr>
        </p:nvSpPr>
        <p:spPr/>
        <p:txBody>
          <a:bodyPr/>
          <a:lstStyle/>
          <a:p>
            <a:fld id="{E2A43B92-3A2D-4964-BD32-AF28A47106C9}" type="slidenum">
              <a:rPr lang="en-US"/>
              <a:t>71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16/09/2026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4.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41.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48.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35.png"/><Relationship Id="rId4" Type="http://schemas.openxmlformats.org/officeDocument/2006/relationships/image" Target="../media/image72.png"/></Relationships>
</file>

<file path=ppt/slides/_rels/slide3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5.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14.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marL="0" lvl="0" indent="0">
              <a:buNone/>
            </a:pPr>
            <a:r>
              <a:t>Predicting vitamin and mineral deficiencies from public data</a:t>
            </a:r>
          </a:p>
        </p:txBody>
      </p:sp>
      <p:sp>
        <p:nvSpPr>
          <p:cNvPr id="3" name="Subtitle 2"/>
          <p:cNvSpPr>
            <a:spLocks noGrp="1"/>
          </p:cNvSpPr>
          <p:nvPr>
            <p:ph type="subTitle" idx="1"/>
          </p:nvPr>
        </p:nvSpPr>
        <p:spPr>
          <a:xfrm>
            <a:off x="1524000" y="3602038"/>
            <a:ext cx="9144000" cy="1188720"/>
          </a:xfrm>
        </p:spPr>
        <p:txBody>
          <a:bodyPr/>
          <a:lstStyle/>
          <a:p>
            <a:pPr marL="0" lvl="0" indent="0">
              <a:buNone/>
            </a:pPr>
            <a:r>
              <a:rPr sz="1800"/>
              <a:t>Four biomarker surveys, hundreds of public proxies, one evaluation protocol</a:t>
            </a:r>
            <a:br/>
            <a:br/>
            <a:r>
              <a:rPr sz="1800"/>
              <a:t>Andrew N. Mertens, University of California, Berkeley</a:t>
            </a:r>
          </a:p>
        </p:txBody>
      </p:sp>
      <p:pic>
        <p:nvPicPr>
          <p:cNvPr id="4" name="Picture 3" descr="logo_ucberkeley.png"/>
          <p:cNvPicPr>
            <a:picLocks noChangeAspect="1"/>
          </p:cNvPicPr>
          <p:nvPr/>
        </p:nvPicPr>
        <p:blipFill>
          <a:blip r:embed="rId2"/>
          <a:stretch>
            <a:fillRect/>
          </a:stretch>
        </p:blipFill>
        <p:spPr>
          <a:xfrm>
            <a:off x="2167128" y="4983480"/>
            <a:ext cx="2116765" cy="502920"/>
          </a:xfrm>
          <a:prstGeom prst="rect">
            <a:avLst/>
          </a:prstGeom>
        </p:spPr>
      </p:pic>
      <p:pic>
        <p:nvPicPr>
          <p:cNvPr id="5" name="Picture 4" descr="logo_ucdavis.png"/>
          <p:cNvPicPr>
            <a:picLocks noChangeAspect="1"/>
          </p:cNvPicPr>
          <p:nvPr/>
        </p:nvPicPr>
        <p:blipFill>
          <a:blip r:embed="rId3"/>
          <a:stretch>
            <a:fillRect/>
          </a:stretch>
        </p:blipFill>
        <p:spPr>
          <a:xfrm>
            <a:off x="5184648" y="5045562"/>
            <a:ext cx="2194560" cy="378756"/>
          </a:xfrm>
          <a:prstGeom prst="rect">
            <a:avLst/>
          </a:prstGeom>
        </p:spPr>
      </p:pic>
      <p:pic>
        <p:nvPicPr>
          <p:cNvPr id="6" name="Picture 5" descr="logo_mnforum.png"/>
          <p:cNvPicPr>
            <a:picLocks noChangeAspect="1"/>
          </p:cNvPicPr>
          <p:nvPr/>
        </p:nvPicPr>
        <p:blipFill>
          <a:blip r:embed="rId4"/>
          <a:stretch>
            <a:fillRect/>
          </a:stretch>
        </p:blipFill>
        <p:spPr>
          <a:xfrm>
            <a:off x="8202168" y="4983480"/>
            <a:ext cx="1233439" cy="502920"/>
          </a:xfrm>
          <a:prstGeom prst="rect">
            <a:avLst/>
          </a:prstGeom>
        </p:spPr>
      </p:pic>
      <p:sp>
        <p:nvSpPr>
          <p:cNvPr id="7" name="TextBox 6"/>
          <p:cNvSpPr txBox="1"/>
          <p:nvPr/>
        </p:nvSpPr>
        <p:spPr>
          <a:xfrm>
            <a:off x="841248" y="5577840"/>
            <a:ext cx="10515600" cy="365760"/>
          </a:xfrm>
          <a:prstGeom prst="rect">
            <a:avLst/>
          </a:prstGeom>
          <a:noFill/>
        </p:spPr>
        <p:txBody>
          <a:bodyPr wrap="square" lIns="45720" tIns="27432" rIns="45720" bIns="27432" anchor="t">
            <a:spAutoFit/>
          </a:bodyPr>
          <a:lstStyle/>
          <a:p>
            <a:pPr algn="ctr"/>
            <a:r>
              <a:rPr sz="1200" b="0">
                <a:solidFill>
                  <a:srgbClr val="666666"/>
                </a:solidFill>
                <a:latin typeface="Calibri"/>
              </a:rPr>
              <a:t>We are grateful for the funding support of the Gates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Goals</a:t>
            </a:r>
          </a:p>
        </p:txBody>
      </p:sp>
      <p:pic>
        <p:nvPicPr>
          <p:cNvPr id="3" name="Picture 2" descr="map-location-dot_blue.png"/>
          <p:cNvPicPr>
            <a:picLocks noChangeAspect="1"/>
          </p:cNvPicPr>
          <p:nvPr/>
        </p:nvPicPr>
        <p:blipFill>
          <a:blip r:embed="rId3"/>
          <a:stretch>
            <a:fillRect/>
          </a:stretch>
        </p:blipFill>
        <p:spPr>
          <a:xfrm>
            <a:off x="932688" y="1920240"/>
            <a:ext cx="925830" cy="822960"/>
          </a:xfrm>
          <a:prstGeom prst="rect">
            <a:avLst/>
          </a:prstGeom>
        </p:spPr>
      </p:pic>
      <p:sp>
        <p:nvSpPr>
          <p:cNvPr id="4" name="TextBox 3"/>
          <p:cNvSpPr txBox="1"/>
          <p:nvPr/>
        </p:nvSpPr>
        <p:spPr>
          <a:xfrm>
            <a:off x="1984248" y="169164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Estimate deficiency prevalence, nationally and by district</a:t>
            </a:r>
          </a:p>
          <a:p>
            <a:pPr algn="l">
              <a:spcBef>
                <a:spcPts val="300"/>
              </a:spcBef>
            </a:pPr>
            <a:r>
              <a:rPr sz="1400" b="0">
                <a:solidFill>
                  <a:srgbClr val="333333"/>
                </a:solidFill>
                <a:latin typeface="Calibri"/>
              </a:rPr>
              <a:t>From a wide range of proxy indicators, validated against the prevalence measured by biomarker assessment in national surveys.</a:t>
            </a:r>
          </a:p>
        </p:txBody>
      </p:sp>
      <p:pic>
        <p:nvPicPr>
          <p:cNvPr id="5" name="Picture 4" descr="ranking-star_blue.png"/>
          <p:cNvPicPr>
            <a:picLocks noChangeAspect="1"/>
          </p:cNvPicPr>
          <p:nvPr/>
        </p:nvPicPr>
        <p:blipFill>
          <a:blip r:embed="rId4"/>
          <a:stretch>
            <a:fillRect/>
          </a:stretch>
        </p:blipFill>
        <p:spPr>
          <a:xfrm>
            <a:off x="932688" y="3383280"/>
            <a:ext cx="1028700" cy="822960"/>
          </a:xfrm>
          <a:prstGeom prst="rect">
            <a:avLst/>
          </a:prstGeom>
        </p:spPr>
      </p:pic>
      <p:sp>
        <p:nvSpPr>
          <p:cNvPr id="6" name="TextBox 5"/>
          <p:cNvSpPr txBox="1"/>
          <p:nvPr/>
        </p:nvSpPr>
        <p:spPr>
          <a:xfrm>
            <a:off x="1984248" y="315468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Identify the subnational regions at greatest risk</a:t>
            </a:r>
          </a:p>
          <a:p>
            <a:pPr algn="l">
              <a:spcBef>
                <a:spcPts val="300"/>
              </a:spcBef>
            </a:pPr>
            <a:r>
              <a:rPr sz="1400" b="0">
                <a:solidFill>
                  <a:srgbClr val="333333"/>
                </a:solidFill>
                <a:latin typeface="Calibri"/>
              </a:rPr>
              <a:t>A ranking a programme can act on, and a level once anchored to a national number.</a:t>
            </a:r>
          </a:p>
        </p:txBody>
      </p:sp>
      <p:pic>
        <p:nvPicPr>
          <p:cNvPr id="7" name="Picture 6" descr="handshake_blue.png"/>
          <p:cNvPicPr>
            <a:picLocks noChangeAspect="1"/>
          </p:cNvPicPr>
          <p:nvPr/>
        </p:nvPicPr>
        <p:blipFill>
          <a:blip r:embed="rId5"/>
          <a:stretch>
            <a:fillRect/>
          </a:stretch>
        </p:blipFill>
        <p:spPr>
          <a:xfrm>
            <a:off x="932688" y="4846320"/>
            <a:ext cx="1028700" cy="822960"/>
          </a:xfrm>
          <a:prstGeom prst="rect">
            <a:avLst/>
          </a:prstGeom>
        </p:spPr>
      </p:pic>
      <p:sp>
        <p:nvSpPr>
          <p:cNvPr id="8" name="TextBox 7"/>
          <p:cNvSpPr txBox="1"/>
          <p:nvPr/>
        </p:nvSpPr>
        <p:spPr>
          <a:xfrm>
            <a:off x="1984248" y="461772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Engage national stakeholders throughout</a:t>
            </a:r>
          </a:p>
          <a:p>
            <a:pPr algn="l">
              <a:spcBef>
                <a:spcPts val="300"/>
              </a:spcBef>
            </a:pPr>
            <a:r>
              <a:rPr sz="1400" b="0">
                <a:solidFill>
                  <a:srgbClr val="333333"/>
                </a:solidFill>
                <a:latin typeface="Calibri"/>
              </a:rPr>
              <a:t>Ghana as the worked example; the dashboard and country briefs as the shared product.</a:t>
            </a:r>
          </a:p>
        </p:txBody>
      </p:sp>
      <p:pic>
        <p:nvPicPr>
          <p:cNvPr id="9" name="Picture 8" descr="goals_ghana_map.png"/>
          <p:cNvPicPr>
            <a:picLocks noChangeAspect="1"/>
          </p:cNvPicPr>
          <p:nvPr/>
        </p:nvPicPr>
        <p:blipFill>
          <a:blip r:embed="rId6"/>
          <a:stretch>
            <a:fillRect/>
          </a:stretch>
        </p:blipFill>
        <p:spPr>
          <a:xfrm>
            <a:off x="9345168" y="1783080"/>
            <a:ext cx="2011680" cy="28064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Motivation</a:t>
            </a:r>
          </a:p>
        </p:txBody>
      </p:sp>
      <p:pic>
        <p:nvPicPr>
          <p:cNvPr id="3" name="Picture 2" descr="vial_blue.png"/>
          <p:cNvPicPr>
            <a:picLocks noChangeAspect="1"/>
          </p:cNvPicPr>
          <p:nvPr/>
        </p:nvPicPr>
        <p:blipFill>
          <a:blip r:embed="rId3"/>
          <a:stretch>
            <a:fillRect/>
          </a:stretch>
        </p:blipFill>
        <p:spPr>
          <a:xfrm>
            <a:off x="932688" y="1920240"/>
            <a:ext cx="822960" cy="822960"/>
          </a:xfrm>
          <a:prstGeom prst="rect">
            <a:avLst/>
          </a:prstGeom>
        </p:spPr>
      </p:pic>
      <p:sp>
        <p:nvSpPr>
          <p:cNvPr id="4" name="TextBox 3"/>
          <p:cNvSpPr txBox="1"/>
          <p:nvPr/>
        </p:nvSpPr>
        <p:spPr>
          <a:xfrm>
            <a:off x="1984248" y="1691640"/>
            <a:ext cx="5074920" cy="1280160"/>
          </a:xfrm>
          <a:prstGeom prst="rect">
            <a:avLst/>
          </a:prstGeom>
          <a:noFill/>
        </p:spPr>
        <p:txBody>
          <a:bodyPr wrap="square" lIns="45720" tIns="27432" rIns="45720" bIns="27432" anchor="ctr">
            <a:spAutoFit/>
          </a:bodyPr>
          <a:lstStyle/>
          <a:p>
            <a:pPr algn="l"/>
            <a:r>
              <a:rPr sz="2000" b="1">
                <a:solidFill>
                  <a:srgbClr val="1F4E79"/>
                </a:solidFill>
                <a:latin typeface="Calibri"/>
              </a:rPr>
              <a:t>Biomarker surveys are rare and costly</a:t>
            </a:r>
          </a:p>
          <a:p>
            <a:pPr algn="l">
              <a:spcBef>
                <a:spcPts val="300"/>
              </a:spcBef>
            </a:pPr>
            <a:r>
              <a:rPr sz="1400" b="0">
                <a:solidFill>
                  <a:srgbClr val="333333"/>
                </a:solidFill>
                <a:latin typeface="Calibri"/>
              </a:rPr>
              <a:t>About one national survey per country and decade; programmes need district estimates between them.</a:t>
            </a:r>
          </a:p>
        </p:txBody>
      </p:sp>
      <p:pic>
        <p:nvPicPr>
          <p:cNvPr id="5" name="Picture 4" descr="layer-group_blue.png"/>
          <p:cNvPicPr>
            <a:picLocks noChangeAspect="1"/>
          </p:cNvPicPr>
          <p:nvPr/>
        </p:nvPicPr>
        <p:blipFill>
          <a:blip r:embed="rId4"/>
          <a:stretch>
            <a:fillRect/>
          </a:stretch>
        </p:blipFill>
        <p:spPr>
          <a:xfrm>
            <a:off x="932688" y="3383280"/>
            <a:ext cx="925830" cy="822960"/>
          </a:xfrm>
          <a:prstGeom prst="rect">
            <a:avLst/>
          </a:prstGeom>
        </p:spPr>
      </p:pic>
      <p:sp>
        <p:nvSpPr>
          <p:cNvPr id="6" name="TextBox 5"/>
          <p:cNvSpPr txBox="1"/>
          <p:nvPr/>
        </p:nvSpPr>
        <p:spPr>
          <a:xfrm>
            <a:off x="1984248" y="3154680"/>
            <a:ext cx="5074920" cy="1280160"/>
          </a:xfrm>
          <a:prstGeom prst="rect">
            <a:avLst/>
          </a:prstGeom>
          <a:noFill/>
        </p:spPr>
        <p:txBody>
          <a:bodyPr wrap="square" lIns="45720" tIns="27432" rIns="45720" bIns="27432" anchor="ctr">
            <a:spAutoFit/>
          </a:bodyPr>
          <a:lstStyle/>
          <a:p>
            <a:pPr algn="l"/>
            <a:r>
              <a:rPr sz="2000" b="1">
                <a:solidFill>
                  <a:srgbClr val="1F4E79"/>
                </a:solidFill>
                <a:latin typeface="Calibri"/>
              </a:rPr>
              <a:t>575 district-level proxies</a:t>
            </a:r>
          </a:p>
          <a:p>
            <a:pPr algn="l">
              <a:spcBef>
                <a:spcPts val="300"/>
              </a:spcBef>
            </a:pPr>
            <a:r>
              <a:rPr sz="1400" b="0">
                <a:solidFill>
                  <a:srgbClr val="333333"/>
                </a:solidFill>
                <a:latin typeface="Calibri"/>
              </a:rPr>
              <a:t>Open gridded layers and public survey microdata, linked to four national biomarker surveys.</a:t>
            </a:r>
          </a:p>
        </p:txBody>
      </p:sp>
      <p:pic>
        <p:nvPicPr>
          <p:cNvPr id="7" name="Picture 6" descr="bullseye_blue.png"/>
          <p:cNvPicPr>
            <a:picLocks noChangeAspect="1"/>
          </p:cNvPicPr>
          <p:nvPr/>
        </p:nvPicPr>
        <p:blipFill>
          <a:blip r:embed="rId5"/>
          <a:stretch>
            <a:fillRect/>
          </a:stretch>
        </p:blipFill>
        <p:spPr>
          <a:xfrm>
            <a:off x="932688" y="4846320"/>
            <a:ext cx="822960" cy="822960"/>
          </a:xfrm>
          <a:prstGeom prst="rect">
            <a:avLst/>
          </a:prstGeom>
        </p:spPr>
      </p:pic>
      <p:sp>
        <p:nvSpPr>
          <p:cNvPr id="8" name="TextBox 7"/>
          <p:cNvSpPr txBox="1"/>
          <p:nvPr/>
        </p:nvSpPr>
        <p:spPr>
          <a:xfrm>
            <a:off x="1984248" y="4617720"/>
            <a:ext cx="5074920" cy="1280160"/>
          </a:xfrm>
          <a:prstGeom prst="rect">
            <a:avLst/>
          </a:prstGeom>
          <a:noFill/>
        </p:spPr>
        <p:txBody>
          <a:bodyPr wrap="square" lIns="45720" tIns="27432" rIns="45720" bIns="27432" anchor="ctr">
            <a:spAutoFit/>
          </a:bodyPr>
          <a:lstStyle/>
          <a:p>
            <a:pPr algn="l"/>
            <a:r>
              <a:rPr sz="2000" b="1">
                <a:solidFill>
                  <a:srgbClr val="1F4E79"/>
                </a:solidFill>
                <a:latin typeface="Calibri"/>
              </a:rPr>
              <a:t>Predict deficiency by district</a:t>
            </a:r>
          </a:p>
          <a:p>
            <a:pPr algn="l">
              <a:spcBef>
                <a:spcPts val="300"/>
              </a:spcBef>
            </a:pPr>
            <a:r>
              <a:rPr sz="1400" b="0">
                <a:solidFill>
                  <a:srgbClr val="333333"/>
                </a:solidFill>
                <a:latin typeface="Calibri"/>
              </a:rPr>
              <a:t>Iron, vitamin A, folate, B12 and zinc, in surveyed and unsurveyed districts.</a:t>
            </a:r>
          </a:p>
        </p:txBody>
      </p:sp>
      <p:pic>
        <p:nvPicPr>
          <p:cNvPr id="9" name="Picture 8" descr="old_s02_intro_photo_1.png"/>
          <p:cNvPicPr>
            <a:picLocks noChangeAspect="1"/>
          </p:cNvPicPr>
          <p:nvPr/>
        </p:nvPicPr>
        <p:blipFill>
          <a:blip r:embed="rId6"/>
          <a:stretch>
            <a:fillRect/>
          </a:stretch>
        </p:blipFill>
        <p:spPr>
          <a:xfrm>
            <a:off x="7424928" y="1783080"/>
            <a:ext cx="3931920" cy="29489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Big data and small data, at once</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database_white.png"/>
          <p:cNvPicPr>
            <a:picLocks noChangeAspect="1"/>
          </p:cNvPicPr>
          <p:nvPr/>
        </p:nvPicPr>
        <p:blipFill>
          <a:blip r:embed="rId3"/>
          <a:stretch>
            <a:fillRect/>
          </a:stretch>
        </p:blipFill>
        <p:spPr>
          <a:xfrm>
            <a:off x="1024128" y="1810512"/>
            <a:ext cx="352044"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Big data: the predictors</a:t>
            </a:r>
          </a:p>
        </p:txBody>
      </p:sp>
      <p:pic>
        <p:nvPicPr>
          <p:cNvPr id="7" name="Picture 6" descr="satellite_blue.png"/>
          <p:cNvPicPr>
            <a:picLocks noChangeAspect="1"/>
          </p:cNvPicPr>
          <p:nvPr/>
        </p:nvPicPr>
        <p:blipFill>
          <a:blip r:embed="rId4"/>
          <a:stretch>
            <a:fillRect/>
          </a:stretch>
        </p:blipFill>
        <p:spPr>
          <a:xfrm>
            <a:off x="1069848" y="2735580"/>
            <a:ext cx="502920"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575 columns from 28 sources</a:t>
            </a:r>
          </a:p>
          <a:p>
            <a:pPr algn="l">
              <a:spcBef>
                <a:spcPts val="300"/>
              </a:spcBef>
            </a:pPr>
            <a:r>
              <a:rPr sz="1250" b="0">
                <a:solidFill>
                  <a:srgbClr val="333333"/>
                </a:solidFill>
                <a:latin typeface="Calibri"/>
              </a:rPr>
              <a:t>Rasters at 30 m to 10 km summarised over 554 districts; a 64-dimension satellite embedding; four household surveys aggregated from microdata.</a:t>
            </a:r>
          </a:p>
        </p:txBody>
      </p:sp>
      <p:pic>
        <p:nvPicPr>
          <p:cNvPr id="9" name="Picture 8" descr="layer-group_blue.png"/>
          <p:cNvPicPr>
            <a:picLocks noChangeAspect="1"/>
          </p:cNvPicPr>
          <p:nvPr/>
        </p:nvPicPr>
        <p:blipFill>
          <a:blip r:embed="rId5"/>
          <a:stretch>
            <a:fillRect/>
          </a:stretch>
        </p:blipFill>
        <p:spPr>
          <a:xfrm>
            <a:off x="1069848" y="3863340"/>
            <a:ext cx="565785"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Reduced to 29 domains</a:t>
            </a:r>
          </a:p>
          <a:p>
            <a:pPr algn="l">
              <a:spcBef>
                <a:spcPts val="300"/>
              </a:spcBef>
            </a:pPr>
            <a:r>
              <a:rPr sz="1250" b="0">
                <a:solidFill>
                  <a:srgbClr val="333333"/>
                </a:solidFill>
                <a:latin typeface="Calibri"/>
              </a:rPr>
              <a:t>Leading principal components per domain, learned on training districts only; nothing chosen on the outcome.</a:t>
            </a:r>
          </a:p>
        </p:txBody>
      </p:sp>
      <p:pic>
        <p:nvPicPr>
          <p:cNvPr id="11" name="Picture 10" descr="lock-open_blue.png"/>
          <p:cNvPicPr>
            <a:picLocks noChangeAspect="1"/>
          </p:cNvPicPr>
          <p:nvPr/>
        </p:nvPicPr>
        <p:blipFill>
          <a:blip r:embed="rId6"/>
          <a:stretch>
            <a:fillRect/>
          </a:stretch>
        </p:blipFill>
        <p:spPr>
          <a:xfrm>
            <a:off x="1069848" y="4991100"/>
            <a:ext cx="565785"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All of it public</a:t>
            </a:r>
          </a:p>
          <a:p>
            <a:pPr algn="l">
              <a:spcBef>
                <a:spcPts val="300"/>
              </a:spcBef>
            </a:pPr>
            <a:r>
              <a:rPr sz="1250" b="0">
                <a:solidFill>
                  <a:srgbClr val="333333"/>
                </a:solidFill>
                <a:latin typeface="Calibri"/>
              </a:rPr>
              <a:t>The headline set has no DHS in it; a country without a recent DHS can rebuild it.</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vial_white.png"/>
          <p:cNvPicPr>
            <a:picLocks noChangeAspect="1"/>
          </p:cNvPicPr>
          <p:nvPr/>
        </p:nvPicPr>
        <p:blipFill>
          <a:blip r:embed="rId7"/>
          <a:stretch>
            <a:fillRect/>
          </a:stretch>
        </p:blipFill>
        <p:spPr>
          <a:xfrm>
            <a:off x="6510528" y="1810512"/>
            <a:ext cx="402336"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Small data: the outcome</a:t>
            </a:r>
          </a:p>
        </p:txBody>
      </p:sp>
      <p:pic>
        <p:nvPicPr>
          <p:cNvPr id="17" name="Picture 16" descr="calendar_blue.png"/>
          <p:cNvPicPr>
            <a:picLocks noChangeAspect="1"/>
          </p:cNvPicPr>
          <p:nvPr/>
        </p:nvPicPr>
        <p:blipFill>
          <a:blip r:embed="rId8"/>
          <a:stretch>
            <a:fillRect/>
          </a:stretch>
        </p:blipFill>
        <p:spPr>
          <a:xfrm>
            <a:off x="6556248" y="2735580"/>
            <a:ext cx="440055"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One biomarker survey per country per decade</a:t>
            </a:r>
          </a:p>
          <a:p>
            <a:pPr algn="l">
              <a:spcBef>
                <a:spcPts val="300"/>
              </a:spcBef>
            </a:pPr>
            <a:r>
              <a:rPr sz="1250" b="0">
                <a:solidFill>
                  <a:srgbClr val="333333"/>
                </a:solidFill>
                <a:latin typeface="Calibri"/>
              </a:rPr>
              <a:t>Four surveys, 24 country-outcome cells, 206 surveyed districts in all.</a:t>
            </a:r>
          </a:p>
        </p:txBody>
      </p:sp>
      <p:pic>
        <p:nvPicPr>
          <p:cNvPr id="19" name="Picture 18" descr="map_blue.png"/>
          <p:cNvPicPr>
            <a:picLocks noChangeAspect="1"/>
          </p:cNvPicPr>
          <p:nvPr/>
        </p:nvPicPr>
        <p:blipFill>
          <a:blip r:embed="rId9"/>
          <a:stretch>
            <a:fillRect/>
          </a:stretch>
        </p:blipFill>
        <p:spPr>
          <a:xfrm>
            <a:off x="6556248" y="3863340"/>
            <a:ext cx="565785"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14 to 87 districts per country</a:t>
            </a:r>
          </a:p>
          <a:p>
            <a:pPr algn="l">
              <a:spcBef>
                <a:spcPts val="300"/>
              </a:spcBef>
            </a:pPr>
            <a:r>
              <a:rPr sz="1250" b="0">
                <a:solidFill>
                  <a:srgbClr val="333333"/>
                </a:solidFill>
                <a:latin typeface="Calibri"/>
              </a:rPr>
              <a:t>The effective sample size of every model; a tuned estimator shrinks to the constant, so the index tunes nothing.</a:t>
            </a:r>
          </a:p>
        </p:txBody>
      </p:sp>
      <p:pic>
        <p:nvPicPr>
          <p:cNvPr id="21" name="Picture 20" descr="shield-halved_blue.png"/>
          <p:cNvPicPr>
            <a:picLocks noChangeAspect="1"/>
          </p:cNvPicPr>
          <p:nvPr/>
        </p:nvPicPr>
        <p:blipFill>
          <a:blip r:embed="rId10"/>
          <a:stretch>
            <a:fillRect/>
          </a:stretch>
        </p:blipFill>
        <p:spPr>
          <a:xfrm>
            <a:off x="6556248" y="4991100"/>
            <a:ext cx="502920"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Honest folds and a reliability ceiling</a:t>
            </a:r>
          </a:p>
          <a:p>
            <a:pPr algn="l">
              <a:spcBef>
                <a:spcPts val="300"/>
              </a:spcBef>
            </a:pPr>
            <a:r>
              <a:rPr sz="1250" b="0">
                <a:solidFill>
                  <a:srgbClr val="333333"/>
                </a:solidFill>
                <a:latin typeface="Calibri"/>
              </a:rPr>
              <a:t>Folds cut by district, region and country; the survey's own district noise sets the ceiling any model can reach.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Surveys and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four surveys</a:t>
            </a:r>
          </a:p>
        </p:txBody>
      </p:sp>
      <p:sp>
        <p:nvSpPr>
          <p:cNvPr id="3" name="Rounded Rectangle 2"/>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lipboard-list_blue.png"/>
          <p:cNvPicPr>
            <a:picLocks noChangeAspect="1"/>
          </p:cNvPicPr>
          <p:nvPr/>
        </p:nvPicPr>
        <p:blipFill>
          <a:blip r:embed="rId3"/>
          <a:stretch>
            <a:fillRect/>
          </a:stretch>
        </p:blipFill>
        <p:spPr>
          <a:xfrm>
            <a:off x="1704213" y="1920240"/>
            <a:ext cx="548640" cy="731520"/>
          </a:xfrm>
          <a:prstGeom prst="rect">
            <a:avLst/>
          </a:prstGeom>
        </p:spPr>
      </p:pic>
      <p:sp>
        <p:nvSpPr>
          <p:cNvPr id="5" name="TextBox 4"/>
          <p:cNvSpPr txBox="1"/>
          <p:nvPr/>
        </p:nvSpPr>
        <p:spPr>
          <a:xfrm>
            <a:off x="93268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The Gambia</a:t>
            </a:r>
          </a:p>
        </p:txBody>
      </p:sp>
      <p:sp>
        <p:nvSpPr>
          <p:cNvPr id="6" name="TextBox 5"/>
          <p:cNvSpPr txBox="1"/>
          <p:nvPr/>
        </p:nvSpPr>
        <p:spPr>
          <a:xfrm>
            <a:off x="97840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Gambia Micronutrient Survey 2018 (GMNS)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Jan 2018 to Apr 2018</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30; clusters: 70</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a:t>
            </a:r>
          </a:p>
        </p:txBody>
      </p:sp>
      <p:sp>
        <p:nvSpPr>
          <p:cNvPr id="7" name="Rounded Rectangle 6"/>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lipboard-list_blue.png"/>
          <p:cNvPicPr>
            <a:picLocks noChangeAspect="1"/>
          </p:cNvPicPr>
          <p:nvPr/>
        </p:nvPicPr>
        <p:blipFill>
          <a:blip r:embed="rId3"/>
          <a:stretch>
            <a:fillRect/>
          </a:stretch>
        </p:blipFill>
        <p:spPr>
          <a:xfrm>
            <a:off x="4390263" y="1920240"/>
            <a:ext cx="548640" cy="731520"/>
          </a:xfrm>
          <a:prstGeom prst="rect">
            <a:avLst/>
          </a:prstGeom>
        </p:spPr>
      </p:pic>
      <p:sp>
        <p:nvSpPr>
          <p:cNvPr id="9" name="TextBox 8"/>
          <p:cNvSpPr txBox="1"/>
          <p:nvPr/>
        </p:nvSpPr>
        <p:spPr>
          <a:xfrm>
            <a:off x="361873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Ghana</a:t>
            </a:r>
          </a:p>
        </p:txBody>
      </p:sp>
      <p:sp>
        <p:nvSpPr>
          <p:cNvPr id="10" name="TextBox 9"/>
          <p:cNvSpPr txBox="1"/>
          <p:nvPr/>
        </p:nvSpPr>
        <p:spPr>
          <a:xfrm>
            <a:off x="366445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Ghana Micronutrient Survey 2017 (GMS)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Apr 2017 to Jun 2017</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75; clusters: 90</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a:t>
            </a:r>
          </a:p>
        </p:txBody>
      </p:sp>
      <p:sp>
        <p:nvSpPr>
          <p:cNvPr id="11" name="Rounded Rectangle 10"/>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lipboard-list_blue.png"/>
          <p:cNvPicPr>
            <a:picLocks noChangeAspect="1"/>
          </p:cNvPicPr>
          <p:nvPr/>
        </p:nvPicPr>
        <p:blipFill>
          <a:blip r:embed="rId3"/>
          <a:stretch>
            <a:fillRect/>
          </a:stretch>
        </p:blipFill>
        <p:spPr>
          <a:xfrm>
            <a:off x="7076313" y="1920240"/>
            <a:ext cx="548640" cy="731520"/>
          </a:xfrm>
          <a:prstGeom prst="rect">
            <a:avLst/>
          </a:prstGeom>
        </p:spPr>
      </p:pic>
      <p:sp>
        <p:nvSpPr>
          <p:cNvPr id="13" name="TextBox 12"/>
          <p:cNvSpPr txBox="1"/>
          <p:nvPr/>
        </p:nvSpPr>
        <p:spPr>
          <a:xfrm>
            <a:off x="630478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Malawi</a:t>
            </a:r>
          </a:p>
        </p:txBody>
      </p:sp>
      <p:sp>
        <p:nvSpPr>
          <p:cNvPr id="14" name="TextBox 13"/>
          <p:cNvSpPr txBox="1"/>
          <p:nvPr/>
        </p:nvSpPr>
        <p:spPr>
          <a:xfrm>
            <a:off x="635050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Malawi Micronutrient Survey 2015-16 (MNS)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Dec 2015 to Feb 2016</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87; clusters: 103</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 zinc</a:t>
            </a:r>
          </a:p>
        </p:txBody>
      </p:sp>
      <p:sp>
        <p:nvSpPr>
          <p:cNvPr id="15" name="Rounded Rectangle 14"/>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lipboard-list_blue.png"/>
          <p:cNvPicPr>
            <a:picLocks noChangeAspect="1"/>
          </p:cNvPicPr>
          <p:nvPr/>
        </p:nvPicPr>
        <p:blipFill>
          <a:blip r:embed="rId3"/>
          <a:stretch>
            <a:fillRect/>
          </a:stretch>
        </p:blipFill>
        <p:spPr>
          <a:xfrm>
            <a:off x="9762363" y="1920240"/>
            <a:ext cx="548640" cy="731520"/>
          </a:xfrm>
          <a:prstGeom prst="rect">
            <a:avLst/>
          </a:prstGeom>
        </p:spPr>
      </p:pic>
      <p:sp>
        <p:nvSpPr>
          <p:cNvPr id="17" name="TextBox 16"/>
          <p:cNvSpPr txBox="1"/>
          <p:nvPr/>
        </p:nvSpPr>
        <p:spPr>
          <a:xfrm>
            <a:off x="899083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Sierra Leone</a:t>
            </a:r>
          </a:p>
        </p:txBody>
      </p:sp>
      <p:sp>
        <p:nvSpPr>
          <p:cNvPr id="18" name="TextBox 17"/>
          <p:cNvSpPr txBox="1"/>
          <p:nvPr/>
        </p:nvSpPr>
        <p:spPr>
          <a:xfrm>
            <a:off x="903655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Sierra Leone Micronutrient Survey 2013 (SLMS)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Oct 2013 to Dec 2013</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14; clusters: 60</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Outcomes</a:t>
            </a:r>
          </a:p>
        </p:txBody>
      </p:sp>
      <p:sp>
        <p:nvSpPr>
          <p:cNvPr id="3" name="Rounded Rectangle 2"/>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droplet_blue.png"/>
          <p:cNvPicPr>
            <a:picLocks noChangeAspect="1"/>
          </p:cNvPicPr>
          <p:nvPr/>
        </p:nvPicPr>
        <p:blipFill>
          <a:blip r:embed="rId3"/>
          <a:stretch>
            <a:fillRect/>
          </a:stretch>
        </p:blipFill>
        <p:spPr>
          <a:xfrm>
            <a:off x="1458468" y="1920240"/>
            <a:ext cx="514350" cy="685800"/>
          </a:xfrm>
          <a:prstGeom prst="rect">
            <a:avLst/>
          </a:prstGeom>
        </p:spPr>
      </p:pic>
      <p:sp>
        <p:nvSpPr>
          <p:cNvPr id="5" name="TextBox 4"/>
          <p:cNvSpPr txBox="1"/>
          <p:nvPr/>
        </p:nvSpPr>
        <p:spPr>
          <a:xfrm>
            <a:off x="93268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Iron</a:t>
            </a:r>
          </a:p>
        </p:txBody>
      </p:sp>
      <p:sp>
        <p:nvSpPr>
          <p:cNvPr id="6" name="TextBox 5"/>
          <p:cNvSpPr txBox="1"/>
          <p:nvPr/>
        </p:nvSpPr>
        <p:spPr>
          <a:xfrm>
            <a:off x="97840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ferritin, inflammation-adjusted (survey flag; not IDA)</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12 / &lt; 15 ug/L</a:t>
            </a:r>
          </a:p>
        </p:txBody>
      </p:sp>
      <p:sp>
        <p:nvSpPr>
          <p:cNvPr id="7" name="Rounded Rectangle 6"/>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rot_blue.png"/>
          <p:cNvPicPr>
            <a:picLocks noChangeAspect="1"/>
          </p:cNvPicPr>
          <p:nvPr/>
        </p:nvPicPr>
        <p:blipFill>
          <a:blip r:embed="rId4"/>
          <a:stretch>
            <a:fillRect/>
          </a:stretch>
        </p:blipFill>
        <p:spPr>
          <a:xfrm>
            <a:off x="3607308" y="1920240"/>
            <a:ext cx="685800" cy="685800"/>
          </a:xfrm>
          <a:prstGeom prst="rect">
            <a:avLst/>
          </a:prstGeom>
        </p:spPr>
      </p:pic>
      <p:sp>
        <p:nvSpPr>
          <p:cNvPr id="9" name="TextBox 8"/>
          <p:cNvSpPr txBox="1"/>
          <p:nvPr/>
        </p:nvSpPr>
        <p:spPr>
          <a:xfrm>
            <a:off x="308152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Vitamin A</a:t>
            </a:r>
          </a:p>
        </p:txBody>
      </p:sp>
      <p:sp>
        <p:nvSpPr>
          <p:cNvPr id="10" name="TextBox 9"/>
          <p:cNvSpPr txBox="1"/>
          <p:nvPr/>
        </p:nvSpPr>
        <p:spPr>
          <a:xfrm>
            <a:off x="312724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one BRINDA adjustment for all</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0.70 umol/L RBP</a:t>
            </a:r>
          </a:p>
        </p:txBody>
      </p:sp>
      <p:sp>
        <p:nvSpPr>
          <p:cNvPr id="11" name="Rounded Rectangle 10"/>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leaf_blue.png"/>
          <p:cNvPicPr>
            <a:picLocks noChangeAspect="1"/>
          </p:cNvPicPr>
          <p:nvPr/>
        </p:nvPicPr>
        <p:blipFill>
          <a:blip r:embed="rId5"/>
          <a:stretch>
            <a:fillRect/>
          </a:stretch>
        </p:blipFill>
        <p:spPr>
          <a:xfrm>
            <a:off x="5756148" y="1920240"/>
            <a:ext cx="685800" cy="685800"/>
          </a:xfrm>
          <a:prstGeom prst="rect">
            <a:avLst/>
          </a:prstGeom>
        </p:spPr>
      </p:pic>
      <p:sp>
        <p:nvSpPr>
          <p:cNvPr id="13" name="TextBox 12"/>
          <p:cNvSpPr txBox="1"/>
          <p:nvPr/>
        </p:nvSpPr>
        <p:spPr>
          <a:xfrm>
            <a:off x="523036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Folate</a:t>
            </a:r>
          </a:p>
        </p:txBody>
      </p:sp>
      <p:sp>
        <p:nvSpPr>
          <p:cNvPr id="14" name="TextBox 13"/>
          <p:cNvSpPr txBox="1"/>
          <p:nvPr/>
        </p:nvSpPr>
        <p:spPr>
          <a:xfrm>
            <a:off x="527608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folate (immunoassay GH, SL; microbiologic MW)</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10 nmol/L</a:t>
            </a:r>
          </a:p>
        </p:txBody>
      </p:sp>
      <p:sp>
        <p:nvSpPr>
          <p:cNvPr id="15" name="Rounded Rectangle 14"/>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gg_blue.png"/>
          <p:cNvPicPr>
            <a:picLocks noChangeAspect="1"/>
          </p:cNvPicPr>
          <p:nvPr/>
        </p:nvPicPr>
        <p:blipFill>
          <a:blip r:embed="rId6"/>
          <a:stretch>
            <a:fillRect/>
          </a:stretch>
        </p:blipFill>
        <p:spPr>
          <a:xfrm>
            <a:off x="7904988" y="1920240"/>
            <a:ext cx="514350" cy="685800"/>
          </a:xfrm>
          <a:prstGeom prst="rect">
            <a:avLst/>
          </a:prstGeom>
        </p:spPr>
      </p:pic>
      <p:sp>
        <p:nvSpPr>
          <p:cNvPr id="17" name="TextBox 16"/>
          <p:cNvSpPr txBox="1"/>
          <p:nvPr/>
        </p:nvSpPr>
        <p:spPr>
          <a:xfrm>
            <a:off x="737920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B12</a:t>
            </a:r>
          </a:p>
        </p:txBody>
      </p:sp>
      <p:sp>
        <p:nvSpPr>
          <p:cNvPr id="18" name="TextBox 17"/>
          <p:cNvSpPr txBox="1"/>
          <p:nvPr/>
        </p:nvSpPr>
        <p:spPr>
          <a:xfrm>
            <a:off x="742492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148-150 pmol/L</a:t>
            </a:r>
          </a:p>
        </p:txBody>
      </p:sp>
      <p:sp>
        <p:nvSpPr>
          <p:cNvPr id="19" name="Rounded Rectangle 18"/>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wheat-awn_blue.png"/>
          <p:cNvPicPr>
            <a:picLocks noChangeAspect="1"/>
          </p:cNvPicPr>
          <p:nvPr/>
        </p:nvPicPr>
        <p:blipFill>
          <a:blip r:embed="rId7"/>
          <a:stretch>
            <a:fillRect/>
          </a:stretch>
        </p:blipFill>
        <p:spPr>
          <a:xfrm>
            <a:off x="10053828" y="1920240"/>
            <a:ext cx="685800" cy="685800"/>
          </a:xfrm>
          <a:prstGeom prst="rect">
            <a:avLst/>
          </a:prstGeom>
        </p:spPr>
      </p:pic>
      <p:sp>
        <p:nvSpPr>
          <p:cNvPr id="21" name="TextBox 20"/>
          <p:cNvSpPr txBox="1"/>
          <p:nvPr/>
        </p:nvSpPr>
        <p:spPr>
          <a:xfrm>
            <a:off x="952804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Zinc</a:t>
            </a:r>
          </a:p>
        </p:txBody>
      </p:sp>
      <p:sp>
        <p:nvSpPr>
          <p:cNvPr id="22" name="TextBox 21"/>
          <p:cNvSpPr txBox="1"/>
          <p:nvPr/>
        </p:nvSpPr>
        <p:spPr>
          <a:xfrm>
            <a:off x="957376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 IZiNCG flag, unadjusted</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by draw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Conceptual framework: iron deficiency</a:t>
            </a:r>
          </a:p>
        </p:txBody>
      </p:sp>
      <p:pic>
        <p:nvPicPr>
          <p:cNvPr id="3" name="Picture 1" descr="img/old_s06_framework_1.png"/>
          <p:cNvPicPr>
            <a:picLocks noGrp="1" noChangeAspect="1"/>
          </p:cNvPicPr>
          <p:nvPr/>
        </p:nvPicPr>
        <p:blipFill>
          <a:blip r:embed="rId3"/>
          <a:stretch>
            <a:fillRect/>
          </a:stretch>
        </p:blipFill>
        <p:spPr bwMode="auto">
          <a:xfrm>
            <a:off x="3294888" y="1691640"/>
            <a:ext cx="5608320" cy="420624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The proxy 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a proxy has to be</a:t>
            </a:r>
          </a:p>
        </p:txBody>
      </p:sp>
      <p:pic>
        <p:nvPicPr>
          <p:cNvPr id="3" name="Picture 2" descr="globe_blue.png"/>
          <p:cNvPicPr>
            <a:picLocks noChangeAspect="1"/>
          </p:cNvPicPr>
          <p:nvPr/>
        </p:nvPicPr>
        <p:blipFill>
          <a:blip r:embed="rId3"/>
          <a:stretch>
            <a:fillRect/>
          </a:stretch>
        </p:blipFill>
        <p:spPr>
          <a:xfrm>
            <a:off x="932688" y="1783080"/>
            <a:ext cx="731520" cy="731520"/>
          </a:xfrm>
          <a:prstGeom prst="rect">
            <a:avLst/>
          </a:prstGeom>
        </p:spPr>
      </p:pic>
      <p:sp>
        <p:nvSpPr>
          <p:cNvPr id="4" name="TextBox 3"/>
          <p:cNvSpPr txBox="1"/>
          <p:nvPr/>
        </p:nvSpPr>
        <p:spPr>
          <a:xfrm>
            <a:off x="1984248" y="169164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Available everywhere</a:t>
            </a:r>
          </a:p>
          <a:p>
            <a:pPr algn="l">
              <a:spcBef>
                <a:spcPts val="300"/>
              </a:spcBef>
            </a:pPr>
            <a:r>
              <a:rPr sz="1400" b="0">
                <a:solidFill>
                  <a:srgbClr val="333333"/>
                </a:solidFill>
                <a:latin typeface="Calibri"/>
              </a:rPr>
              <a:t>For every district of every country, surveyed or not, from a source anyone can reach.</a:t>
            </a:r>
          </a:p>
        </p:txBody>
      </p:sp>
      <p:pic>
        <p:nvPicPr>
          <p:cNvPr id="5" name="Picture 4" descr="scissors_blue.png"/>
          <p:cNvPicPr>
            <a:picLocks noChangeAspect="1"/>
          </p:cNvPicPr>
          <p:nvPr/>
        </p:nvPicPr>
        <p:blipFill>
          <a:blip r:embed="rId4"/>
          <a:stretch>
            <a:fillRect/>
          </a:stretch>
        </p:blipFill>
        <p:spPr>
          <a:xfrm>
            <a:off x="932688" y="2880360"/>
            <a:ext cx="731520" cy="731520"/>
          </a:xfrm>
          <a:prstGeom prst="rect">
            <a:avLst/>
          </a:prstGeom>
        </p:spPr>
      </p:pic>
      <p:sp>
        <p:nvSpPr>
          <p:cNvPr id="6" name="TextBox 5"/>
          <p:cNvSpPr txBox="1"/>
          <p:nvPr/>
        </p:nvSpPr>
        <p:spPr>
          <a:xfrm>
            <a:off x="1984248" y="278892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Independent of the outcome</a:t>
            </a:r>
          </a:p>
          <a:p>
            <a:pPr algn="l">
              <a:spcBef>
                <a:spcPts val="300"/>
              </a:spcBef>
            </a:pPr>
            <a:r>
              <a:rPr sz="1400" b="0">
                <a:solidFill>
                  <a:srgbClr val="333333"/>
                </a:solidFill>
                <a:latin typeface="Calibri"/>
              </a:rPr>
              <a:t>Nothing from the biomarker survey we score against enters the predictors.</a:t>
            </a:r>
          </a:p>
        </p:txBody>
      </p:sp>
      <p:pic>
        <p:nvPicPr>
          <p:cNvPr id="7" name="Picture 6" descr="calendar-check_blue.png"/>
          <p:cNvPicPr>
            <a:picLocks noChangeAspect="1"/>
          </p:cNvPicPr>
          <p:nvPr/>
        </p:nvPicPr>
        <p:blipFill>
          <a:blip r:embed="rId5"/>
          <a:stretch>
            <a:fillRect/>
          </a:stretch>
        </p:blipFill>
        <p:spPr>
          <a:xfrm>
            <a:off x="932688" y="3977640"/>
            <a:ext cx="640080" cy="731520"/>
          </a:xfrm>
          <a:prstGeom prst="rect">
            <a:avLst/>
          </a:prstGeom>
        </p:spPr>
      </p:pic>
      <p:sp>
        <p:nvSpPr>
          <p:cNvPr id="8" name="TextBox 7"/>
          <p:cNvSpPr txBox="1"/>
          <p:nvPr/>
        </p:nvSpPr>
        <p:spPr>
          <a:xfrm>
            <a:off x="1984248" y="388620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Placed in time</a:t>
            </a:r>
          </a:p>
          <a:p>
            <a:pPr algn="l">
              <a:spcBef>
                <a:spcPts val="300"/>
              </a:spcBef>
            </a:pPr>
            <a:r>
              <a:rPr sz="1400" b="0">
                <a:solidFill>
                  <a:srgbClr val="333333"/>
                </a:solidFill>
                <a:latin typeface="Calibri"/>
              </a:rPr>
              <a:t>At the survey year, or as close as the source allows, with the gap recorded.</a:t>
            </a:r>
          </a:p>
        </p:txBody>
      </p:sp>
      <p:pic>
        <p:nvPicPr>
          <p:cNvPr id="9" name="Picture 8" descr="file-lines_blue.png"/>
          <p:cNvPicPr>
            <a:picLocks noChangeAspect="1"/>
          </p:cNvPicPr>
          <p:nvPr/>
        </p:nvPicPr>
        <p:blipFill>
          <a:blip r:embed="rId6"/>
          <a:stretch>
            <a:fillRect/>
          </a:stretch>
        </p:blipFill>
        <p:spPr>
          <a:xfrm>
            <a:off x="932688" y="5074920"/>
            <a:ext cx="548640" cy="731520"/>
          </a:xfrm>
          <a:prstGeom prst="rect">
            <a:avLst/>
          </a:prstGeom>
        </p:spPr>
      </p:pic>
      <p:sp>
        <p:nvSpPr>
          <p:cNvPr id="10" name="TextBox 9"/>
          <p:cNvSpPr txBox="1"/>
          <p:nvPr/>
        </p:nvSpPr>
        <p:spPr>
          <a:xfrm>
            <a:off x="1984248" y="498348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Recorded</a:t>
            </a:r>
          </a:p>
          <a:p>
            <a:pPr algn="l">
              <a:spcBef>
                <a:spcPts val="300"/>
              </a:spcBef>
            </a:pPr>
            <a:r>
              <a:rPr sz="1400" b="0">
                <a:solidFill>
                  <a:srgbClr val="333333"/>
                </a:solidFill>
                <a:latin typeface="Calibri"/>
              </a:rPr>
              <a:t>Every column carries its source, the year used, how it was aggregated, and a definition.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each source is (1 of 2): land, climate, agriculture</a:t>
            </a:r>
          </a:p>
        </p:txBody>
      </p:sp>
      <p:graphicFrame>
        <p:nvGraphicFramePr>
          <p:cNvPr id="6" name="Content Placeholder 5"/>
          <p:cNvGraphicFramePr>
            <a:graphicFrameLocks noGrp="1"/>
          </p:cNvGraphicFramePr>
          <p:nvPr>
            <p:ph idx="1"/>
          </p:nvPr>
        </p:nvGraphicFramePr>
        <p:xfrm>
          <a:off x="838200" y="1816100"/>
          <a:ext cx="10515600" cy="292608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75946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Earth Engine: TerraClimate</a:t>
                      </a:r>
                    </a:p>
                  </a:txBody>
                  <a:tcPr/>
                </a:tc>
                <a:tc>
                  <a:txBody>
                    <a:bodyPr/>
                    <a:lstStyle/>
                    <a:p>
                      <a:pPr marL="0" lvl="0" indent="0" algn="l">
                        <a:buNone/>
                      </a:pPr>
                      <a:r>
                        <a:rPr sz="1000"/>
                        <a:t>Monthly climate (rain, temperature, evapotranspiration, soil moisture), 4 km; survey year and 1991-2020 normals</a:t>
                      </a:r>
                    </a:p>
                  </a:txBody>
                  <a:tcPr/>
                </a:tc>
                <a:extLst>
                  <a:ext uri="{0D108BD9-81ED-4DB2-BD59-A6C34878D82A}">
                    <a16:rowId xmlns:a16="http://schemas.microsoft.com/office/drawing/2014/main" val="10001"/>
                  </a:ext>
                </a:extLst>
              </a:tr>
              <a:tr h="0">
                <a:tc>
                  <a:txBody>
                    <a:bodyPr/>
                    <a:lstStyle/>
                    <a:p>
                      <a:pPr marL="0" lvl="0" indent="0" algn="l">
                        <a:buNone/>
                      </a:pPr>
                      <a:r>
                        <a:rPr sz="1000"/>
                        <a:t>Earth Engine: MODIS</a:t>
                      </a:r>
                    </a:p>
                  </a:txBody>
                  <a:tcPr/>
                </a:tc>
                <a:tc>
                  <a:txBody>
                    <a:bodyPr/>
                    <a:lstStyle/>
                    <a:p>
                      <a:pPr marL="0" lvl="0" indent="0" algn="l">
                        <a:buNone/>
                      </a:pPr>
                      <a:r>
                        <a:rPr sz="1000"/>
                        <a:t>Land-surface temperature (1 km), NDVI and EVI (250 m) at the survey year, plus climatology and anomaly</a:t>
                      </a:r>
                    </a:p>
                  </a:txBody>
                  <a:tcPr/>
                </a:tc>
                <a:extLst>
                  <a:ext uri="{0D108BD9-81ED-4DB2-BD59-A6C34878D82A}">
                    <a16:rowId xmlns:a16="http://schemas.microsoft.com/office/drawing/2014/main" val="10002"/>
                  </a:ext>
                </a:extLst>
              </a:tr>
              <a:tr h="0">
                <a:tc>
                  <a:txBody>
                    <a:bodyPr/>
                    <a:lstStyle/>
                    <a:p>
                      <a:pPr marL="0" lvl="0" indent="0" algn="l">
                        <a:buNone/>
                      </a:pPr>
                      <a:r>
                        <a:rPr sz="1000"/>
                        <a:t>Earth Engine: land cover, lights, built-up</a:t>
                      </a:r>
                    </a:p>
                  </a:txBody>
                  <a:tcPr/>
                </a:tc>
                <a:tc>
                  <a:txBody>
                    <a:bodyPr/>
                    <a:lstStyle/>
                    <a:p>
                      <a:pPr marL="0" lvl="0" indent="0" algn="l">
                        <a:buNone/>
                      </a:pPr>
                      <a:r>
                        <a:rPr sz="1000"/>
                        <a:t>Copernicus land-cover fractions, night lights, GHSL built-up surface, human modification</a:t>
                      </a:r>
                    </a:p>
                  </a:txBody>
                  <a:tcPr/>
                </a:tc>
                <a:extLst>
                  <a:ext uri="{0D108BD9-81ED-4DB2-BD59-A6C34878D82A}">
                    <a16:rowId xmlns:a16="http://schemas.microsoft.com/office/drawing/2014/main" val="10003"/>
                  </a:ext>
                </a:extLst>
              </a:tr>
              <a:tr h="0">
                <a:tc>
                  <a:txBody>
                    <a:bodyPr/>
                    <a:lstStyle/>
                    <a:p>
                      <a:pPr marL="0" lvl="0" indent="0" algn="l">
                        <a:buNone/>
                      </a:pPr>
                      <a:r>
                        <a:rPr sz="1000"/>
                        <a:t>Earth Engine: productivity</a:t>
                      </a:r>
                    </a:p>
                  </a:txBody>
                  <a:tcPr/>
                </a:tc>
                <a:tc>
                  <a:txBody>
                    <a:bodyPr/>
                    <a:lstStyle/>
                    <a:p>
                      <a:pPr marL="0" lvl="0" indent="0" algn="l">
                        <a:buNone/>
                      </a:pPr>
                      <a:r>
                        <a:rPr sz="1000"/>
                        <a:t>MODIS NPP and GPP, WaPOR evapotranspiration, leaf area, grassland cover</a:t>
                      </a:r>
                    </a:p>
                  </a:txBody>
                  <a:tcPr/>
                </a:tc>
                <a:extLst>
                  <a:ext uri="{0D108BD9-81ED-4DB2-BD59-A6C34878D82A}">
                    <a16:rowId xmlns:a16="http://schemas.microsoft.com/office/drawing/2014/main" val="10004"/>
                  </a:ext>
                </a:extLst>
              </a:tr>
              <a:tr h="0">
                <a:tc>
                  <a:txBody>
                    <a:bodyPr/>
                    <a:lstStyle/>
                    <a:p>
                      <a:pPr marL="0" lvl="0" indent="0" algn="l">
                        <a:buNone/>
                      </a:pPr>
                      <a:r>
                        <a:rPr sz="1000"/>
                        <a:t>AlphaEarth</a:t>
                      </a:r>
                    </a:p>
                  </a:txBody>
                  <a:tcPr/>
                </a:tc>
                <a:tc>
                  <a:txBody>
                    <a:bodyPr/>
                    <a:lstStyle/>
                    <a:p>
                      <a:pPr marL="0" lvl="0" indent="0" algn="l">
                        <a:buNone/>
                      </a:pPr>
                      <a:r>
                        <a:rPr sz="1000"/>
                        <a:t>Google’s 64-number satellite embedding of a year of imagery, 10 m, 2017</a:t>
                      </a:r>
                    </a:p>
                  </a:txBody>
                  <a:tcPr/>
                </a:tc>
                <a:extLst>
                  <a:ext uri="{0D108BD9-81ED-4DB2-BD59-A6C34878D82A}">
                    <a16:rowId xmlns:a16="http://schemas.microsoft.com/office/drawing/2014/main" val="10005"/>
                  </a:ext>
                </a:extLst>
              </a:tr>
              <a:tr h="0">
                <a:tc>
                  <a:txBody>
                    <a:bodyPr/>
                    <a:lstStyle/>
                    <a:p>
                      <a:pPr marL="0" lvl="0" indent="0" algn="l">
                        <a:buNone/>
                      </a:pPr>
                      <a:r>
                        <a:rPr sz="1000"/>
                        <a:t>SoilGrids / iSDA</a:t>
                      </a:r>
                    </a:p>
                  </a:txBody>
                  <a:tcPr/>
                </a:tc>
                <a:tc>
                  <a:txBody>
                    <a:bodyPr/>
                    <a:lstStyle/>
                    <a:p>
                      <a:pPr marL="0" lvl="0" indent="0" algn="l">
                        <a:buNone/>
                      </a:pPr>
                      <a:r>
                        <a:rPr sz="1000"/>
                        <a:t>Soil nutrients at two depths, pH, texture, organic carbon (iSDA 30 m, SoilGrids 250 m)</a:t>
                      </a:r>
                    </a:p>
                  </a:txBody>
                  <a:tcPr/>
                </a:tc>
                <a:extLst>
                  <a:ext uri="{0D108BD9-81ED-4DB2-BD59-A6C34878D82A}">
                    <a16:rowId xmlns:a16="http://schemas.microsoft.com/office/drawing/2014/main" val="10006"/>
                  </a:ext>
                </a:extLst>
              </a:tr>
              <a:tr h="0">
                <a:tc>
                  <a:txBody>
                    <a:bodyPr/>
                    <a:lstStyle/>
                    <a:p>
                      <a:pPr marL="0" lvl="0" indent="0" algn="l">
                        <a:buNone/>
                      </a:pPr>
                      <a:r>
                        <a:rPr sz="1000"/>
                        <a:t>Koppen / AEZ</a:t>
                      </a:r>
                    </a:p>
                  </a:txBody>
                  <a:tcPr/>
                </a:tc>
                <a:tc>
                  <a:txBody>
                    <a:bodyPr/>
                    <a:lstStyle/>
                    <a:p>
                      <a:pPr marL="0" lvl="0" indent="0" algn="l">
                        <a:buNone/>
                      </a:pPr>
                      <a:r>
                        <a:rPr sz="1000"/>
                        <a:t>Climate classes and agro-ecological zones: class shares and purity</a:t>
                      </a:r>
                    </a:p>
                  </a:txBody>
                  <a:tcPr/>
                </a:tc>
                <a:extLst>
                  <a:ext uri="{0D108BD9-81ED-4DB2-BD59-A6C34878D82A}">
                    <a16:rowId xmlns:a16="http://schemas.microsoft.com/office/drawing/2014/main" val="10007"/>
                  </a:ext>
                </a:extLst>
              </a:tr>
              <a:tr h="0">
                <a:tc>
                  <a:txBody>
                    <a:bodyPr/>
                    <a:lstStyle/>
                    <a:p>
                      <a:pPr marL="0" lvl="0" indent="0" algn="l">
                        <a:buNone/>
                      </a:pPr>
                      <a:r>
                        <a:rPr sz="1000"/>
                        <a:t>JRC Surface Water / LSIB</a:t>
                      </a:r>
                    </a:p>
                  </a:txBody>
                  <a:tcPr/>
                </a:tc>
                <a:tc>
                  <a:txBody>
                    <a:bodyPr/>
                    <a:lstStyle/>
                    <a:p>
                      <a:pPr marL="0" lvl="0" indent="0" algn="l">
                        <a:buNone/>
                      </a:pPr>
                      <a:r>
                        <a:rPr sz="1000"/>
                        <a:t>Distance to permanent and seasonal water and to the coast</a:t>
                      </a:r>
                    </a:p>
                  </a:txBody>
                  <a:tcPr/>
                </a:tc>
                <a:extLst>
                  <a:ext uri="{0D108BD9-81ED-4DB2-BD59-A6C34878D82A}">
                    <a16:rowId xmlns:a16="http://schemas.microsoft.com/office/drawing/2014/main" val="10008"/>
                  </a:ext>
                </a:extLst>
              </a:tr>
              <a:tr h="0">
                <a:tc>
                  <a:txBody>
                    <a:bodyPr/>
                    <a:lstStyle/>
                    <a:p>
                      <a:pPr marL="0" lvl="0" indent="0" algn="l">
                        <a:buNone/>
                      </a:pPr>
                      <a:r>
                        <a:rPr sz="1000"/>
                        <a:t>MapSPAM</a:t>
                      </a:r>
                    </a:p>
                  </a:txBody>
                  <a:tcPr/>
                </a:tc>
                <a:tc>
                  <a:txBody>
                    <a:bodyPr/>
                    <a:lstStyle/>
                    <a:p>
                      <a:pPr marL="0" lvl="0" indent="0" algn="l">
                        <a:buNone/>
                      </a:pPr>
                      <a:r>
                        <a:rPr sz="1000"/>
                        <a:t>Crop area and production by crop, 10 km, 2010</a:t>
                      </a:r>
                    </a:p>
                  </a:txBody>
                  <a:tcPr/>
                </a:tc>
                <a:extLst>
                  <a:ext uri="{0D108BD9-81ED-4DB2-BD59-A6C34878D82A}">
                    <a16:rowId xmlns:a16="http://schemas.microsoft.com/office/drawing/2014/main" val="10009"/>
                  </a:ext>
                </a:extLst>
              </a:tr>
              <a:tr h="0">
                <a:tc>
                  <a:txBody>
                    <a:bodyPr/>
                    <a:lstStyle/>
                    <a:p>
                      <a:pPr marL="0" lvl="0" indent="0" algn="l">
                        <a:buNone/>
                      </a:pPr>
                      <a:r>
                        <a:rPr sz="1000"/>
                        <a:t>Gridded Livestock of the World</a:t>
                      </a:r>
                    </a:p>
                  </a:txBody>
                  <a:tcPr/>
                </a:tc>
                <a:tc>
                  <a:txBody>
                    <a:bodyPr/>
                    <a:lstStyle/>
                    <a:p>
                      <a:pPr marL="0" lvl="0" indent="0" algn="l">
                        <a:buNone/>
                      </a:pPr>
                      <a:r>
                        <a:rPr sz="1000"/>
                        <a:t>Cattle, sheep, goats, pigs and poultry per km2, 10 km, 2015</a:t>
                      </a:r>
                    </a:p>
                  </a:txBody>
                  <a:tcPr/>
                </a:tc>
                <a:extLst>
                  <a:ext uri="{0D108BD9-81ED-4DB2-BD59-A6C34878D82A}">
                    <a16:rowId xmlns:a16="http://schemas.microsoft.com/office/drawing/2014/main" val="10010"/>
                  </a:ext>
                </a:extLst>
              </a:tr>
              <a:tr h="0">
                <a:tc>
                  <a:txBody>
                    <a:bodyPr/>
                    <a:lstStyle/>
                    <a:p>
                      <a:pPr marL="0" lvl="0" indent="0" algn="l">
                        <a:buNone/>
                      </a:pPr>
                      <a:r>
                        <a:rPr sz="1000"/>
                        <a:t>WorldPop / GHSL / GPW / RWI</a:t>
                      </a:r>
                    </a:p>
                  </a:txBody>
                  <a:tcPr/>
                </a:tc>
                <a:tc>
                  <a:txBody>
                    <a:bodyPr/>
                    <a:lstStyle/>
                    <a:p>
                      <a:pPr marL="0" lvl="0" indent="0" algn="l">
                        <a:buNone/>
                      </a:pPr>
                      <a:r>
                        <a:rPr sz="1000"/>
                        <a:t>Population, age-sex structure and density; Meta’s relative wealth index</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each source is (2 of 2): health, food, households</a:t>
            </a:r>
          </a:p>
        </p:txBody>
      </p:sp>
      <p:graphicFrame>
        <p:nvGraphicFramePr>
          <p:cNvPr id="6" name="Content Placeholder 5"/>
          <p:cNvGraphicFramePr>
            <a:graphicFrameLocks noGrp="1"/>
          </p:cNvGraphicFramePr>
          <p:nvPr>
            <p:ph idx="1"/>
          </p:nvPr>
        </p:nvGraphicFramePr>
        <p:xfrm>
          <a:off x="838200" y="1816100"/>
          <a:ext cx="10515600" cy="3169920"/>
        </p:xfrm>
        <a:graphic>
          <a:graphicData uri="http://schemas.openxmlformats.org/drawingml/2006/table">
            <a:tbl>
              <a:tblPr firstRow="1" bandRow="1">
                <a:tableStyleId>{5C22544A-7EE6-4342-B048-85BDC9FD1C3A}</a:tableStyleId>
              </a:tblPr>
              <a:tblGrid>
                <a:gridCol w="2336800">
                  <a:extLst>
                    <a:ext uri="{9D8B030D-6E8A-4147-A177-3AD203B41FA5}">
                      <a16:colId xmlns:a16="http://schemas.microsoft.com/office/drawing/2014/main" val="20000"/>
                    </a:ext>
                  </a:extLst>
                </a:gridCol>
                <a:gridCol w="81788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IHME modelled surfaces</a:t>
                      </a:r>
                    </a:p>
                  </a:txBody>
                  <a:tcPr/>
                </a:tc>
                <a:tc>
                  <a:txBody>
                    <a:bodyPr/>
                    <a:lstStyle/>
                    <a:p>
                      <a:pPr marL="0" lvl="0" indent="0" algn="l">
                        <a:buNone/>
                      </a:pPr>
                      <a:r>
                        <a:rPr sz="1000"/>
                        <a:t>5 km modelled surfaces: child growth, anaemia, WASH, education, ORS, HIV, malaria, measles vaccination</a:t>
                      </a:r>
                    </a:p>
                  </a:txBody>
                  <a:tcPr/>
                </a:tc>
                <a:extLst>
                  <a:ext uri="{0D108BD9-81ED-4DB2-BD59-A6C34878D82A}">
                    <a16:rowId xmlns:a16="http://schemas.microsoft.com/office/drawing/2014/main" val="10001"/>
                  </a:ext>
                </a:extLst>
              </a:tr>
              <a:tr h="0">
                <a:tc>
                  <a:txBody>
                    <a:bodyPr/>
                    <a:lstStyle/>
                    <a:p>
                      <a:pPr marL="0" lvl="0" indent="0" algn="l">
                        <a:buNone/>
                      </a:pPr>
                      <a:r>
                        <a:rPr sz="1000"/>
                        <a:t>Malaria Atlas Project</a:t>
                      </a:r>
                    </a:p>
                  </a:txBody>
                  <a:tcPr/>
                </a:tc>
                <a:tc>
                  <a:txBody>
                    <a:bodyPr/>
                    <a:lstStyle/>
                    <a:p>
                      <a:pPr marL="0" lvl="0" indent="0" algn="l">
                        <a:buNone/>
                      </a:pPr>
                      <a:r>
                        <a:rPr sz="1000"/>
                        <a:t>Parasite rate, incidence, mortality, net use and spraying, 5 km, at the survey year</a:t>
                      </a:r>
                    </a:p>
                  </a:txBody>
                  <a:tcPr/>
                </a:tc>
                <a:extLst>
                  <a:ext uri="{0D108BD9-81ED-4DB2-BD59-A6C34878D82A}">
                    <a16:rowId xmlns:a16="http://schemas.microsoft.com/office/drawing/2014/main" val="10002"/>
                  </a:ext>
                </a:extLst>
              </a:tr>
              <a:tr h="0">
                <a:tc>
                  <a:txBody>
                    <a:bodyPr/>
                    <a:lstStyle/>
                    <a:p>
                      <a:pPr marL="0" lvl="0" indent="0" algn="l">
                        <a:buNone/>
                      </a:pPr>
                      <a:r>
                        <a:rPr sz="1000"/>
                        <a:t>WHO ESPEN</a:t>
                      </a:r>
                    </a:p>
                  </a:txBody>
                  <a:tcPr/>
                </a:tc>
                <a:tc>
                  <a:txBody>
                    <a:bodyPr/>
                    <a:lstStyle/>
                    <a:p>
                      <a:pPr marL="0" lvl="0" indent="0" algn="l">
                        <a:buNone/>
                      </a:pPr>
                      <a:r>
                        <a:rPr sz="1000"/>
                        <a:t>Helminth endemicity and mass-treatment coverage by implementation unit</a:t>
                      </a:r>
                    </a:p>
                  </a:txBody>
                  <a:tcPr/>
                </a:tc>
                <a:extLst>
                  <a:ext uri="{0D108BD9-81ED-4DB2-BD59-A6C34878D82A}">
                    <a16:rowId xmlns:a16="http://schemas.microsoft.com/office/drawing/2014/main" val="10003"/>
                  </a:ext>
                </a:extLst>
              </a:tr>
              <a:tr h="0">
                <a:tc>
                  <a:txBody>
                    <a:bodyPr/>
                    <a:lstStyle/>
                    <a:p>
                      <a:pPr marL="0" lvl="0" indent="0" algn="l">
                        <a:buNone/>
                      </a:pPr>
                      <a:r>
                        <a:rPr sz="1000"/>
                        <a:t>WHO anaemia; UNICEF VAS; WHO FluNet</a:t>
                      </a:r>
                    </a:p>
                  </a:txBody>
                  <a:tcPr/>
                </a:tc>
                <a:tc>
                  <a:txBody>
                    <a:bodyPr/>
                    <a:lstStyle/>
                    <a:p>
                      <a:pPr marL="0" lvl="0" indent="0" algn="l">
                        <a:buNone/>
                      </a:pPr>
                      <a:r>
                        <a:rPr sz="1000"/>
                        <a:t>National series: anaemia prevalence, vitamin A supplementation, influenza counts</a:t>
                      </a:r>
                    </a:p>
                  </a:txBody>
                  <a:tcPr/>
                </a:tc>
                <a:extLst>
                  <a:ext uri="{0D108BD9-81ED-4DB2-BD59-A6C34878D82A}">
                    <a16:rowId xmlns:a16="http://schemas.microsoft.com/office/drawing/2014/main" val="10004"/>
                  </a:ext>
                </a:extLst>
              </a:tr>
              <a:tr h="0">
                <a:tc>
                  <a:txBody>
                    <a:bodyPr/>
                    <a:lstStyle/>
                    <a:p>
                      <a:pPr marL="0" lvl="0" indent="0" algn="l">
                        <a:buNone/>
                      </a:pPr>
                      <a:r>
                        <a:rPr sz="1000"/>
                        <a:t>WFP market prices; World Bank RTFP</a:t>
                      </a:r>
                    </a:p>
                  </a:txBody>
                  <a:tcPr/>
                </a:tc>
                <a:tc>
                  <a:txBody>
                    <a:bodyPr/>
                    <a:lstStyle/>
                    <a:p>
                      <a:pPr marL="0" lvl="0" indent="0" algn="l">
                        <a:buNone/>
                      </a:pPr>
                      <a:r>
                        <a:rPr sz="1000"/>
                        <a:t>Monthly market food prices, distance-weighted to districts over the survey year (RTFP: Gambia, Malawi)</a:t>
                      </a:r>
                    </a:p>
                  </a:txBody>
                  <a:tcPr/>
                </a:tc>
                <a:extLst>
                  <a:ext uri="{0D108BD9-81ED-4DB2-BD59-A6C34878D82A}">
                    <a16:rowId xmlns:a16="http://schemas.microsoft.com/office/drawing/2014/main" val="10005"/>
                  </a:ext>
                </a:extLst>
              </a:tr>
              <a:tr h="0">
                <a:tc>
                  <a:txBody>
                    <a:bodyPr/>
                    <a:lstStyle/>
                    <a:p>
                      <a:pPr marL="0" lvl="0" indent="0" algn="l">
                        <a:buNone/>
                      </a:pPr>
                      <a:r>
                        <a:rPr sz="1000"/>
                        <a:t>FAOSTAT; HFID</a:t>
                      </a:r>
                    </a:p>
                  </a:txBody>
                  <a:tcPr/>
                </a:tc>
                <a:tc>
                  <a:txBody>
                    <a:bodyPr/>
                    <a:lstStyle/>
                    <a:p>
                      <a:pPr marL="0" lvl="0" indent="0" algn="l">
                        <a:buNone/>
                      </a:pPr>
                      <a:r>
                        <a:rPr sz="1000"/>
                        <a:t>National food balance sheets; FEWS NET / IPC food-security phases and indicators</a:t>
                      </a:r>
                    </a:p>
                  </a:txBody>
                  <a:tcPr/>
                </a:tc>
                <a:extLst>
                  <a:ext uri="{0D108BD9-81ED-4DB2-BD59-A6C34878D82A}">
                    <a16:rowId xmlns:a16="http://schemas.microsoft.com/office/drawing/2014/main" val="10006"/>
                  </a:ext>
                </a:extLst>
              </a:tr>
              <a:tr h="0">
                <a:tc>
                  <a:txBody>
                    <a:bodyPr/>
                    <a:lstStyle/>
                    <a:p>
                      <a:pPr marL="0" lvl="0" indent="0" algn="l">
                        <a:buNone/>
                      </a:pPr>
                      <a:r>
                        <a:rPr sz="1000"/>
                        <a:t>GFDx</a:t>
                      </a:r>
                    </a:p>
                  </a:txBody>
                  <a:tcPr/>
                </a:tc>
                <a:tc>
                  <a:txBody>
                    <a:bodyPr/>
                    <a:lstStyle/>
                    <a:p>
                      <a:pPr marL="0" lvl="0" indent="0" algn="l">
                        <a:buNone/>
                      </a:pPr>
                      <a:r>
                        <a:rPr sz="1000"/>
                        <a:t>Fortification standards and coverage by food vehicle, mostly national</a:t>
                      </a:r>
                    </a:p>
                  </a:txBody>
                  <a:tcPr/>
                </a:tc>
                <a:extLst>
                  <a:ext uri="{0D108BD9-81ED-4DB2-BD59-A6C34878D82A}">
                    <a16:rowId xmlns:a16="http://schemas.microsoft.com/office/drawing/2014/main" val="10007"/>
                  </a:ext>
                </a:extLst>
              </a:tr>
              <a:tr h="0">
                <a:tc>
                  <a:txBody>
                    <a:bodyPr/>
                    <a:lstStyle/>
                    <a:p>
                      <a:pPr marL="0" lvl="0" indent="0" algn="l">
                        <a:buNone/>
                      </a:pPr>
                      <a:r>
                        <a:rPr sz="1000"/>
                        <a:t>MIMI (Tang et al. 2026)</a:t>
                      </a:r>
                    </a:p>
                  </a:txBody>
                  <a:tcPr/>
                </a:tc>
                <a:tc>
                  <a:txBody>
                    <a:bodyPr/>
                    <a:lstStyle/>
                    <a:p>
                      <a:pPr marL="0" lvl="0" indent="0" algn="l">
                        <a:buNone/>
                      </a:pPr>
                      <a:r>
                        <a:rPr sz="1000"/>
                        <a:t>Modelled dietary micronutrient inadequacy from GLSS7, Ghana regions</a:t>
                      </a:r>
                    </a:p>
                  </a:txBody>
                  <a:tcPr/>
                </a:tc>
                <a:extLst>
                  <a:ext uri="{0D108BD9-81ED-4DB2-BD59-A6C34878D82A}">
                    <a16:rowId xmlns:a16="http://schemas.microsoft.com/office/drawing/2014/main" val="10008"/>
                  </a:ext>
                </a:extLst>
              </a:tr>
              <a:tr h="0">
                <a:tc>
                  <a:txBody>
                    <a:bodyPr/>
                    <a:lstStyle/>
                    <a:p>
                      <a:pPr marL="0" lvl="0" indent="0" algn="l">
                        <a:buNone/>
                      </a:pPr>
                      <a:r>
                        <a:rPr sz="1000"/>
                        <a:t>DHS</a:t>
                      </a:r>
                    </a:p>
                  </a:txBody>
                  <a:tcPr/>
                </a:tc>
                <a:tc>
                  <a:txBody>
                    <a:bodyPr/>
                    <a:lstStyle/>
                    <a:p>
                      <a:pPr marL="0" lvl="0" indent="0" algn="l">
                        <a:buNone/>
                      </a:pPr>
                      <a:r>
                        <a:rPr sz="1000"/>
                        <a:t>150 district indicators from the paired round, cluster spatial model</a:t>
                      </a:r>
                    </a:p>
                  </a:txBody>
                  <a:tcPr/>
                </a:tc>
                <a:extLst>
                  <a:ext uri="{0D108BD9-81ED-4DB2-BD59-A6C34878D82A}">
                    <a16:rowId xmlns:a16="http://schemas.microsoft.com/office/drawing/2014/main" val="10009"/>
                  </a:ext>
                </a:extLst>
              </a:tr>
              <a:tr h="0">
                <a:tc>
                  <a:txBody>
                    <a:bodyPr/>
                    <a:lstStyle/>
                    <a:p>
                      <a:pPr marL="0" lvl="0" indent="0" algn="l">
                        <a:buNone/>
                      </a:pPr>
                      <a:r>
                        <a:rPr sz="1000"/>
                        <a:t>MICS microdata; MICS via WHO HEAT</a:t>
                      </a:r>
                    </a:p>
                  </a:txBody>
                  <a:tcPr/>
                </a:tc>
                <a:tc>
                  <a:txBody>
                    <a:bodyPr/>
                    <a:lstStyle/>
                    <a:p>
                      <a:pPr marL="0" lvl="0" indent="0" algn="l">
                        <a:buNone/>
                      </a:pPr>
                      <a:r>
                        <a:rPr sz="1000"/>
                        <a:t>30 indicators from the public microdata (WASH, wealth, education, child feeding, health); 19 regional indicators via WHO HEAT</a:t>
                      </a:r>
                    </a:p>
                  </a:txBody>
                  <a:tcPr/>
                </a:tc>
                <a:extLst>
                  <a:ext uri="{0D108BD9-81ED-4DB2-BD59-A6C34878D82A}">
                    <a16:rowId xmlns:a16="http://schemas.microsoft.com/office/drawing/2014/main" val="10010"/>
                  </a:ext>
                </a:extLst>
              </a:tr>
              <a:tr h="0">
                <a:tc>
                  <a:txBody>
                    <a:bodyPr/>
                    <a:lstStyle/>
                    <a:p>
                      <a:pPr marL="0" lvl="0" indent="0" algn="l">
                        <a:buNone/>
                      </a:pPr>
                      <a:r>
                        <a:rPr sz="1000"/>
                        <a:t>Household budget surveys (HCES)</a:t>
                      </a:r>
                    </a:p>
                  </a:txBody>
                  <a:tcPr/>
                </a:tc>
                <a:tc>
                  <a:txBody>
                    <a:bodyPr/>
                    <a:lstStyle/>
                    <a:p>
                      <a:pPr marL="0" lvl="0" indent="0" algn="l">
                        <a:buNone/>
                      </a:pPr>
                      <a:r>
                        <a:rPr sz="1000"/>
                        <a:t>Food share, own production, consumption level, 7-day food groups (IHS, GLSS7, IHS4, SLIHS)</a:t>
                      </a:r>
                    </a:p>
                  </a:txBody>
                  <a:tcPr/>
                </a:tc>
                <a:extLst>
                  <a:ext uri="{0D108BD9-81ED-4DB2-BD59-A6C34878D82A}">
                    <a16:rowId xmlns:a16="http://schemas.microsoft.com/office/drawing/2014/main" val="10011"/>
                  </a:ext>
                </a:extLst>
              </a:tr>
              <a:tr h="0">
                <a:tc>
                  <a:txBody>
                    <a:bodyPr/>
                    <a:lstStyle/>
                    <a:p>
                      <a:pPr marL="0" lvl="0" indent="0" algn="l">
                        <a:buNone/>
                      </a:pPr>
                      <a:r>
                        <a:rPr sz="1000"/>
                        <a:t>Global Data Lab</a:t>
                      </a:r>
                    </a:p>
                  </a:txBody>
                  <a:tcPr/>
                </a:tc>
                <a:tc>
                  <a:txBody>
                    <a:bodyPr/>
                    <a:lstStyle/>
                    <a:p>
                      <a:pPr marL="0" lvl="0" indent="0" algn="l">
                        <a:buNone/>
                      </a:pPr>
                      <a:r>
                        <a:rPr sz="1000"/>
                        <a:t>Subnational human development index</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sources</a:t>
            </a:r>
          </a:p>
        </p:txBody>
      </p:sp>
      <p:sp>
        <p:nvSpPr>
          <p:cNvPr id="3" name="Content Placeholder 2"/>
          <p:cNvSpPr>
            <a:spLocks noGrp="1"/>
          </p:cNvSpPr>
          <p:nvPr>
            <p:ph sz="half" idx="1"/>
          </p:nvPr>
        </p:nvSpPr>
        <p:spPr/>
        <p:txBody>
          <a:bodyPr/>
          <a:lstStyle/>
          <a:p>
            <a:pPr marL="0" lvl="0" indent="0">
              <a:buNone/>
            </a:pPr>
            <a:r>
              <a:rPr sz="1800"/>
              <a:t>575 columns from 28 sources, harmonised onto one district spine. 518 exist in all four countries and can serve a model for a new country; the other 57 exist in one to three and are used inside the countries that have them.</a:t>
            </a:r>
          </a:p>
        </p:txBody>
      </p:sp>
      <p:pic>
        <p:nvPicPr>
          <p:cNvPr id="4" name="Picture 1" descr="MN-proxy-full-talk-2026-09_files/figure-pptx/sources-1.png"/>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kinds of data, three ways to a district value</a:t>
            </a:r>
          </a:p>
        </p:txBody>
      </p:sp>
      <p:graphicFrame>
        <p:nvGraphicFramePr>
          <p:cNvPr id="6" name="Content Placeholder 5"/>
          <p:cNvGraphicFramePr>
            <a:graphicFrameLocks noGrp="1"/>
          </p:cNvGraphicFramePr>
          <p:nvPr>
            <p:ph idx="1"/>
          </p:nvPr>
        </p:nvGraphicFramePr>
        <p:xfrm>
          <a:off x="838200" y="1816100"/>
          <a:ext cx="10515600" cy="18288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45847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marL="0" lvl="0" indent="0" algn="l">
                        <a:buNone/>
                      </a:pPr>
                      <a:r>
                        <a:rPr sz="1000"/>
                        <a:t>Native form</a:t>
                      </a:r>
                    </a:p>
                  </a:txBody>
                  <a:tcPr/>
                </a:tc>
                <a:tc>
                  <a:txBody>
                    <a:bodyPr/>
                    <a:lstStyle/>
                    <a:p>
                      <a:pPr marL="0" lvl="0" indent="0" algn="l">
                        <a:buNone/>
                      </a:pPr>
                      <a:r>
                        <a:rPr sz="1000"/>
                        <a:t>Examples</a:t>
                      </a:r>
                    </a:p>
                  </a:txBody>
                  <a:tcPr/>
                </a:tc>
                <a:tc>
                  <a:txBody>
                    <a:bodyPr/>
                    <a:lstStyle/>
                    <a:p>
                      <a:pPr marL="0" lvl="0" indent="0" algn="l">
                        <a:buNone/>
                      </a:pPr>
                      <a:r>
                        <a:rPr sz="1000"/>
                        <a:t>To a district</a:t>
                      </a:r>
                    </a:p>
                  </a:txBody>
                  <a:tcPr/>
                </a:tc>
                <a:tc>
                  <a:txBody>
                    <a:bodyPr/>
                    <a:lstStyle/>
                    <a:p>
                      <a:pPr marL="0" lvl="0" indent="0" algn="l">
                        <a:buNone/>
                      </a:pPr>
                      <a:r>
                        <a:rPr sz="1000"/>
                        <a:t>Time</a:t>
                      </a:r>
                    </a:p>
                  </a:txBody>
                  <a:tcPr/>
                </a:tc>
                <a:extLst>
                  <a:ext uri="{0D108BD9-81ED-4DB2-BD59-A6C34878D82A}">
                    <a16:rowId xmlns:a16="http://schemas.microsoft.com/office/drawing/2014/main" val="10000"/>
                  </a:ext>
                </a:extLst>
              </a:tr>
              <a:tr h="0">
                <a:tc>
                  <a:txBody>
                    <a:bodyPr/>
                    <a:lstStyle/>
                    <a:p>
                      <a:pPr marL="0" lvl="0" indent="0" algn="l">
                        <a:buNone/>
                      </a:pPr>
                      <a:r>
                        <a:rPr sz="1000"/>
                        <a:t>Gridded raster (30 m to 10 km)</a:t>
                      </a:r>
                    </a:p>
                  </a:txBody>
                  <a:tcPr/>
                </a:tc>
                <a:tc>
                  <a:txBody>
                    <a:bodyPr/>
                    <a:lstStyle/>
                    <a:p>
                      <a:pPr marL="0" lvl="0" indent="0" algn="l">
                        <a:buNone/>
                      </a:pPr>
                      <a:r>
                        <a:rPr sz="1000"/>
                        <a:t>Climate, soil, satellite, IHME and MAP surfaces, population</a:t>
                      </a:r>
                    </a:p>
                  </a:txBody>
                  <a:tcPr/>
                </a:tc>
                <a:tc>
                  <a:txBody>
                    <a:bodyPr/>
                    <a:lstStyle/>
                    <a:p>
                      <a:pPr marL="0" lvl="0" indent="0" algn="l">
                        <a:buNone/>
                      </a:pPr>
                      <a:r>
                        <a:rPr sz="1000"/>
                        <a:t>Zonal mean over the district polygon, area- or population-weighted</a:t>
                      </a:r>
                    </a:p>
                  </a:txBody>
                  <a:tcPr/>
                </a:tc>
                <a:tc>
                  <a:txBody>
                    <a:bodyPr/>
                    <a:lstStyle/>
                    <a:p>
                      <a:pPr marL="0" lvl="0" indent="0" algn="l">
                        <a:buNone/>
                      </a:pPr>
                      <a:r>
                        <a:rPr sz="1000"/>
                        <a:t>Survey year, nearest year, or 30-year normal plus anomaly</a:t>
                      </a:r>
                    </a:p>
                  </a:txBody>
                  <a:tcPr/>
                </a:tc>
                <a:extLst>
                  <a:ext uri="{0D108BD9-81ED-4DB2-BD59-A6C34878D82A}">
                    <a16:rowId xmlns:a16="http://schemas.microsoft.com/office/drawing/2014/main" val="10001"/>
                  </a:ext>
                </a:extLst>
              </a:tr>
              <a:tr h="0">
                <a:tc>
                  <a:txBody>
                    <a:bodyPr/>
                    <a:lstStyle/>
                    <a:p>
                      <a:pPr marL="0" lvl="0" indent="0" algn="l">
                        <a:buNone/>
                      </a:pPr>
                      <a:r>
                        <a:rPr sz="1000"/>
                        <a:t>Survey with GPS clusters</a:t>
                      </a:r>
                    </a:p>
                  </a:txBody>
                  <a:tcPr/>
                </a:tc>
                <a:tc>
                  <a:txBody>
                    <a:bodyPr/>
                    <a:lstStyle/>
                    <a:p>
                      <a:pPr marL="0" lvl="0" indent="0" algn="l">
                        <a:buNone/>
                      </a:pPr>
                      <a:r>
                        <a:rPr sz="1000"/>
                        <a:t>DHS; MICS 2018 in The Gambia, 2017 in Sierra Leone</a:t>
                      </a:r>
                    </a:p>
                  </a:txBody>
                  <a:tcPr/>
                </a:tc>
                <a:tc>
                  <a:txBody>
                    <a:bodyPr/>
                    <a:lstStyle/>
                    <a:p>
                      <a:pPr marL="0" lvl="0" indent="0" algn="l">
                        <a:buNone/>
                      </a:pPr>
                      <a:r>
                        <a:rPr sz="1000"/>
                        <a:t>DHS: cluster spatial model (BYM2) so every district has a value; MICS: clusters inside the polygon, minimum 30 households</a:t>
                      </a:r>
                    </a:p>
                  </a:txBody>
                  <a:tcPr/>
                </a:tc>
                <a:tc>
                  <a:txBody>
                    <a:bodyPr/>
                    <a:lstStyle/>
                    <a:p>
                      <a:pPr marL="0" lvl="0" indent="0" algn="l">
                        <a:buNone/>
                      </a:pPr>
                      <a:r>
                        <a:rPr sz="1000"/>
                        <a:t>The round paired with the biomarker survey</a:t>
                      </a:r>
                    </a:p>
                  </a:txBody>
                  <a:tcPr/>
                </a:tc>
                <a:extLst>
                  <a:ext uri="{0D108BD9-81ED-4DB2-BD59-A6C34878D82A}">
                    <a16:rowId xmlns:a16="http://schemas.microsoft.com/office/drawing/2014/main" val="10002"/>
                  </a:ext>
                </a:extLst>
              </a:tr>
              <a:tr h="0">
                <a:tc>
                  <a:txBody>
                    <a:bodyPr/>
                    <a:lstStyle/>
                    <a:p>
                      <a:pPr marL="0" lvl="0" indent="0" algn="l">
                        <a:buNone/>
                      </a:pPr>
                      <a:r>
                        <a:rPr sz="1000"/>
                        <a:t>Survey identified to region or district</a:t>
                      </a:r>
                    </a:p>
                  </a:txBody>
                  <a:tcPr/>
                </a:tc>
                <a:tc>
                  <a:txBody>
                    <a:bodyPr/>
                    <a:lstStyle/>
                    <a:p>
                      <a:pPr marL="0" lvl="0" indent="0" algn="l">
                        <a:buNone/>
                      </a:pPr>
                      <a:r>
                        <a:rPr sz="1000"/>
                        <a:t>MICS in Ghana and Malawi; household budget surveys</a:t>
                      </a:r>
                    </a:p>
                  </a:txBody>
                  <a:tcPr/>
                </a:tc>
                <a:tc>
                  <a:txBody>
                    <a:bodyPr/>
                    <a:lstStyle/>
                    <a:p>
                      <a:pPr marL="0" lvl="0" indent="0" algn="l">
                        <a:buNone/>
                      </a:pPr>
                      <a:r>
                        <a:rPr sz="1000"/>
                        <a:t>Value of the smallest survey unit that contains the district, flagged as the parent’s value</a:t>
                      </a:r>
                    </a:p>
                  </a:txBody>
                  <a:tcPr/>
                </a:tc>
                <a:tc>
                  <a:txBody>
                    <a:bodyPr/>
                    <a:lstStyle/>
                    <a:p>
                      <a:pPr marL="0" lvl="0" indent="0" algn="l">
                        <a:buNone/>
                      </a:pPr>
                      <a:r>
                        <a:rPr sz="1000"/>
                        <a:t>The round nearest the survey</a:t>
                      </a:r>
                    </a:p>
                  </a:txBody>
                  <a:tcPr/>
                </a:tc>
                <a:extLst>
                  <a:ext uri="{0D108BD9-81ED-4DB2-BD59-A6C34878D82A}">
                    <a16:rowId xmlns:a16="http://schemas.microsoft.com/office/drawing/2014/main" val="10003"/>
                  </a:ext>
                </a:extLst>
              </a:tr>
              <a:tr h="0">
                <a:tc>
                  <a:txBody>
                    <a:bodyPr/>
                    <a:lstStyle/>
                    <a:p>
                      <a:pPr marL="0" lvl="0" indent="0" algn="l">
                        <a:buNone/>
                      </a:pPr>
                      <a:r>
                        <a:rPr sz="1000"/>
                        <a:t>National series</a:t>
                      </a:r>
                    </a:p>
                  </a:txBody>
                  <a:tcPr/>
                </a:tc>
                <a:tc>
                  <a:txBody>
                    <a:bodyPr/>
                    <a:lstStyle/>
                    <a:p>
                      <a:pPr marL="0" lvl="0" indent="0" algn="l">
                        <a:buNone/>
                      </a:pPr>
                      <a:r>
                        <a:rPr sz="1000"/>
                        <a:t>FAOSTAT balances, GFDx programme fields, FluNet</a:t>
                      </a:r>
                    </a:p>
                  </a:txBody>
                  <a:tcPr/>
                </a:tc>
                <a:tc>
                  <a:txBody>
                    <a:bodyPr/>
                    <a:lstStyle/>
                    <a:p>
                      <a:pPr marL="0" lvl="0" indent="0" algn="l">
                        <a:buNone/>
                      </a:pPr>
                      <a:r>
                        <a:rPr sz="1000"/>
                        <a:t>Constant within a country; dropped when the model is fitted</a:t>
                      </a:r>
                    </a:p>
                  </a:txBody>
                  <a:tcPr/>
                </a:tc>
                <a:tc>
                  <a:txBody>
                    <a:bodyPr/>
                    <a:lstStyle/>
                    <a:p>
                      <a:pPr marL="0" lvl="0" indent="0" algn="l">
                        <a:buNone/>
                      </a:pPr>
                      <a:r>
                        <a:rPr sz="1000"/>
                        <a:t>Survey year</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space: one spine, coded keys</a:t>
            </a:r>
          </a:p>
        </p:txBody>
      </p:sp>
      <p:sp>
        <p:nvSpPr>
          <p:cNvPr id="3" name="Content Placeholder 2"/>
          <p:cNvSpPr>
            <a:spLocks noGrp="1"/>
          </p:cNvSpPr>
          <p:nvPr>
            <p:ph sz="half" idx="1"/>
          </p:nvPr>
        </p:nvSpPr>
        <p:spPr/>
        <p:txBody>
          <a:bodyPr/>
          <a:lstStyle/>
          <a:p>
            <a:pPr lvl="0"/>
            <a:r>
              <a:rPr sz="1800"/>
              <a:t>554 districts on GADM 4.1: Gambia 37, Ghana 260, Malawi 243, Sierra Leone 14.</a:t>
            </a:r>
          </a:p>
          <a:p>
            <a:pPr lvl="0"/>
            <a:r>
              <a:rPr sz="1800"/>
              <a:t>Every unit carries its GADM code, HASC code and the OCHA p-code, so a join is by code where the source has one.</a:t>
            </a:r>
          </a:p>
          <a:p>
            <a:pPr lvl="0"/>
            <a:r>
              <a:rPr sz="1800"/>
              <a:t>Names are matched only as a last resort, through a reviewed alias table with a distance cap, and always on the region-district pair: Malawi has four Traditional Authority names that occur in two districts.</a:t>
            </a:r>
          </a:p>
          <a:p>
            <a:pPr lvl="0"/>
            <a:r>
              <a:rPr sz="1800"/>
              <a:t>A join that fans out or drops a unit fails the build. The population table had been missing one of each same-name pair for months; the test found it.</a:t>
            </a:r>
          </a:p>
        </p:txBody>
      </p:sp>
      <p:sp>
        <p:nvSpPr>
          <p:cNvPr id="4" name="Content Placeholder 3"/>
          <p:cNvSpPr>
            <a:spLocks noGrp="1"/>
          </p:cNvSpPr>
          <p:nvPr>
            <p:ph sz="half" idx="2"/>
          </p:nvPr>
        </p:nvSpPr>
        <p:spPr/>
        <p:txBody>
          <a:bodyPr/>
          <a:lstStyle/>
          <a:p>
            <a:pPr lvl="0"/>
            <a:r>
              <a:rPr sz="1800"/>
              <a:t>Ghana: 260 districts on the 2019 boundaries; sources on the 2012 boundaries (216) or the ten old regions are mapped with a crosswalk, never by name.</a:t>
            </a:r>
          </a:p>
          <a:p>
            <a:pPr lvl="0"/>
            <a:r>
              <a:rPr sz="1800"/>
              <a:t>Malawi: 243 Traditional Authorities; sources at district level (28) are broadcast down and flagged.</a:t>
            </a:r>
          </a:p>
          <a:p>
            <a:pPr lvl="0"/>
            <a:r>
              <a:rPr sz="1800"/>
              <a:t>The Gambia: 37 districts; Sierra Leone: 14 districts. With so few units, a fallback to the parent region changes more of the map.</a:t>
            </a:r>
          </a:p>
          <a:p>
            <a:pPr lvl="0"/>
            <a:r>
              <a:rPr sz="1800"/>
              <a:t>Survey clusters are linked to the same polygons for the cluster-level analyses and buffered for raster extraction.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time: four surveys, four years</a:t>
            </a:r>
          </a:p>
        </p:txBody>
      </p:sp>
      <p:sp>
        <p:nvSpPr>
          <p:cNvPr id="3" name="Content Placeholder 2"/>
          <p:cNvSpPr>
            <a:spLocks noGrp="1"/>
          </p:cNvSpPr>
          <p:nvPr>
            <p:ph sz="half" idx="1"/>
          </p:nvPr>
        </p:nvSpPr>
        <p:spPr/>
        <p:txBody>
          <a:bodyPr/>
          <a:lstStyle/>
          <a:p>
            <a:pPr marL="0" lvl="0" indent="0">
              <a:buNone/>
            </a:pPr>
            <a:r>
              <a:rPr sz="1800"/>
              <a:t>Surveys: The Gambia 2018, Ghana 2017, Malawi 2016, Sierra Leone 2013. Each column is placed by a written rule and stamped with the year used and the gap. 136 columns sit on the survey year in every country and 78 are static layers. 305 are three or more years off in at least one country: the DHS round paired with Ghana’s 2017 survey is from 2014, Sierra Leone’s 2013 survey predates the satellite embedding and its nearest MICS by four years, and MapSPAM’s 2010 crop map is the oldest layer everywhere.</a:t>
            </a:r>
          </a:p>
        </p:txBody>
      </p:sp>
      <p:pic>
        <p:nvPicPr>
          <p:cNvPr id="4" name="Picture 1" descr="MN-proxy-full-talk-2026-09_files/figure-pptx/time-1.png"/>
          <p:cNvPicPr>
            <a:picLocks noGrp="1" noChangeAspect="1"/>
          </p:cNvPicPr>
          <p:nvPr/>
        </p:nvPicPr>
        <p:blipFill>
          <a:blip r:embed="rId3"/>
          <a:stretch>
            <a:fillRect/>
          </a:stretch>
        </p:blipFill>
        <p:spPr bwMode="auto">
          <a:xfrm>
            <a:off x="6172200" y="2146300"/>
            <a:ext cx="5181600" cy="36830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domains</a:t>
            </a:r>
          </a:p>
        </p:txBody>
      </p:sp>
      <p:sp>
        <p:nvSpPr>
          <p:cNvPr id="3" name="Rounded Rectangle 2"/>
          <p:cNvSpPr/>
          <p:nvPr/>
        </p:nvSpPr>
        <p:spPr>
          <a:xfrm>
            <a:off x="84124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satellite_blue.png"/>
          <p:cNvPicPr>
            <a:picLocks noChangeAspect="1"/>
          </p:cNvPicPr>
          <p:nvPr/>
        </p:nvPicPr>
        <p:blipFill>
          <a:blip r:embed="rId3"/>
          <a:stretch>
            <a:fillRect/>
          </a:stretch>
        </p:blipFill>
        <p:spPr>
          <a:xfrm>
            <a:off x="978408" y="1891665"/>
            <a:ext cx="548640" cy="548640"/>
          </a:xfrm>
          <a:prstGeom prst="rect">
            <a:avLst/>
          </a:prstGeom>
        </p:spPr>
      </p:pic>
      <p:sp>
        <p:nvSpPr>
          <p:cNvPr id="5" name="TextBox 4"/>
          <p:cNvSpPr txBox="1"/>
          <p:nvPr/>
        </p:nvSpPr>
        <p:spPr>
          <a:xfrm>
            <a:off x="1664208" y="16916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6" name="Rounded Rectangle 5"/>
          <p:cNvSpPr/>
          <p:nvPr/>
        </p:nvSpPr>
        <p:spPr>
          <a:xfrm>
            <a:off x="625906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mound_blue.png"/>
          <p:cNvPicPr>
            <a:picLocks noChangeAspect="1"/>
          </p:cNvPicPr>
          <p:nvPr/>
        </p:nvPicPr>
        <p:blipFill>
          <a:blip r:embed="rId4"/>
          <a:stretch>
            <a:fillRect/>
          </a:stretch>
        </p:blipFill>
        <p:spPr>
          <a:xfrm>
            <a:off x="6396228" y="1891665"/>
            <a:ext cx="617220" cy="548640"/>
          </a:xfrm>
          <a:prstGeom prst="rect">
            <a:avLst/>
          </a:prstGeom>
        </p:spPr>
      </p:pic>
      <p:sp>
        <p:nvSpPr>
          <p:cNvPr id="8" name="TextBox 7"/>
          <p:cNvSpPr txBox="1"/>
          <p:nvPr/>
        </p:nvSpPr>
        <p:spPr>
          <a:xfrm>
            <a:off x="7082028" y="16916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Soil  (45)</a:t>
            </a:r>
          </a:p>
          <a:p>
            <a:pPr algn="l">
              <a:spcBef>
                <a:spcPts val="300"/>
              </a:spcBef>
            </a:pPr>
            <a:r>
              <a:rPr sz="1150" b="0">
                <a:solidFill>
                  <a:srgbClr val="333333"/>
                </a:solidFill>
                <a:latin typeface="Calibri"/>
              </a:rPr>
              <a:t>SoilGrids and iSDA: pH, organic carbon, texture, nutrient availability</a:t>
            </a:r>
          </a:p>
        </p:txBody>
      </p:sp>
      <p:sp>
        <p:nvSpPr>
          <p:cNvPr id="9" name="Rounded Rectangle 8"/>
          <p:cNvSpPr/>
          <p:nvPr/>
        </p:nvSpPr>
        <p:spPr>
          <a:xfrm>
            <a:off x="84124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ractor_blue.png"/>
          <p:cNvPicPr>
            <a:picLocks noChangeAspect="1"/>
          </p:cNvPicPr>
          <p:nvPr/>
        </p:nvPicPr>
        <p:blipFill>
          <a:blip r:embed="rId5"/>
          <a:stretch>
            <a:fillRect/>
          </a:stretch>
        </p:blipFill>
        <p:spPr>
          <a:xfrm>
            <a:off x="978408" y="2977515"/>
            <a:ext cx="685800" cy="548640"/>
          </a:xfrm>
          <a:prstGeom prst="rect">
            <a:avLst/>
          </a:prstGeom>
        </p:spPr>
      </p:pic>
      <p:sp>
        <p:nvSpPr>
          <p:cNvPr id="11" name="TextBox 10"/>
          <p:cNvSpPr txBox="1"/>
          <p:nvPr/>
        </p:nvSpPr>
        <p:spPr>
          <a:xfrm>
            <a:off x="1664208" y="27774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Agriculture and livestock  (37)</a:t>
            </a:r>
          </a:p>
          <a:p>
            <a:pPr algn="l">
              <a:spcBef>
                <a:spcPts val="300"/>
              </a:spcBef>
            </a:pPr>
            <a:r>
              <a:rPr sz="1150" b="0">
                <a:solidFill>
                  <a:srgbClr val="333333"/>
                </a:solidFill>
                <a:latin typeface="Calibri"/>
              </a:rPr>
              <a:t>MapSPAM crop mix and cropland; cattle, goat and poultry density</a:t>
            </a:r>
          </a:p>
        </p:txBody>
      </p:sp>
      <p:sp>
        <p:nvSpPr>
          <p:cNvPr id="12" name="Rounded Rectangle 11"/>
          <p:cNvSpPr/>
          <p:nvPr/>
        </p:nvSpPr>
        <p:spPr>
          <a:xfrm>
            <a:off x="625906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asket-shopping_blue.png"/>
          <p:cNvPicPr>
            <a:picLocks noChangeAspect="1"/>
          </p:cNvPicPr>
          <p:nvPr/>
        </p:nvPicPr>
        <p:blipFill>
          <a:blip r:embed="rId6"/>
          <a:stretch>
            <a:fillRect/>
          </a:stretch>
        </p:blipFill>
        <p:spPr>
          <a:xfrm>
            <a:off x="6396228" y="2977515"/>
            <a:ext cx="617220" cy="548640"/>
          </a:xfrm>
          <a:prstGeom prst="rect">
            <a:avLst/>
          </a:prstGeom>
        </p:spPr>
      </p:pic>
      <p:sp>
        <p:nvSpPr>
          <p:cNvPr id="14" name="TextBox 13"/>
          <p:cNvSpPr txBox="1"/>
          <p:nvPr/>
        </p:nvSpPr>
        <p:spPr>
          <a:xfrm>
            <a:off x="7082028" y="27774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5" name="Rounded Rectangle 14"/>
          <p:cNvSpPr/>
          <p:nvPr/>
        </p:nvSpPr>
        <p:spPr>
          <a:xfrm>
            <a:off x="84124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virus_blue.png"/>
          <p:cNvPicPr>
            <a:picLocks noChangeAspect="1"/>
          </p:cNvPicPr>
          <p:nvPr/>
        </p:nvPicPr>
        <p:blipFill>
          <a:blip r:embed="rId7"/>
          <a:stretch>
            <a:fillRect/>
          </a:stretch>
        </p:blipFill>
        <p:spPr>
          <a:xfrm>
            <a:off x="978408" y="4063365"/>
            <a:ext cx="548640" cy="548640"/>
          </a:xfrm>
          <a:prstGeom prst="rect">
            <a:avLst/>
          </a:prstGeom>
        </p:spPr>
      </p:pic>
      <p:sp>
        <p:nvSpPr>
          <p:cNvPr id="17" name="TextBox 16"/>
          <p:cNvSpPr txBox="1"/>
          <p:nvPr/>
        </p:nvSpPr>
        <p:spPr>
          <a:xfrm>
            <a:off x="1664208" y="38633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18" name="Rounded Rectangle 17"/>
          <p:cNvSpPr/>
          <p:nvPr/>
        </p:nvSpPr>
        <p:spPr>
          <a:xfrm>
            <a:off x="625906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hild_blue.png"/>
          <p:cNvPicPr>
            <a:picLocks noChangeAspect="1"/>
          </p:cNvPicPr>
          <p:nvPr/>
        </p:nvPicPr>
        <p:blipFill>
          <a:blip r:embed="rId8"/>
          <a:stretch>
            <a:fillRect/>
          </a:stretch>
        </p:blipFill>
        <p:spPr>
          <a:xfrm>
            <a:off x="6396228" y="4063365"/>
            <a:ext cx="342900" cy="548640"/>
          </a:xfrm>
          <a:prstGeom prst="rect">
            <a:avLst/>
          </a:prstGeom>
        </p:spPr>
      </p:pic>
      <p:sp>
        <p:nvSpPr>
          <p:cNvPr id="20" name="TextBox 19"/>
          <p:cNvSpPr txBox="1"/>
          <p:nvPr/>
        </p:nvSpPr>
        <p:spPr>
          <a:xfrm>
            <a:off x="7082028" y="38633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anaemia surfaces; infant and young child feeding</a:t>
            </a:r>
          </a:p>
        </p:txBody>
      </p:sp>
      <p:sp>
        <p:nvSpPr>
          <p:cNvPr id="21" name="Rounded Rectangle 20"/>
          <p:cNvSpPr/>
          <p:nvPr/>
        </p:nvSpPr>
        <p:spPr>
          <a:xfrm>
            <a:off x="84124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ouse-chimney_blue.png"/>
          <p:cNvPicPr>
            <a:picLocks noChangeAspect="1"/>
          </p:cNvPicPr>
          <p:nvPr/>
        </p:nvPicPr>
        <p:blipFill>
          <a:blip r:embed="rId9"/>
          <a:stretch>
            <a:fillRect/>
          </a:stretch>
        </p:blipFill>
        <p:spPr>
          <a:xfrm>
            <a:off x="978408" y="5149215"/>
            <a:ext cx="617220" cy="548640"/>
          </a:xfrm>
          <a:prstGeom prst="rect">
            <a:avLst/>
          </a:prstGeom>
        </p:spPr>
      </p:pic>
      <p:sp>
        <p:nvSpPr>
          <p:cNvPr id="23" name="TextBox 22"/>
          <p:cNvSpPr txBox="1"/>
          <p:nvPr/>
        </p:nvSpPr>
        <p:spPr>
          <a:xfrm>
            <a:off x="1664208" y="49491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24" name="Rounded Rectangle 23"/>
          <p:cNvSpPr/>
          <p:nvPr/>
        </p:nvSpPr>
        <p:spPr>
          <a:xfrm>
            <a:off x="625906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city_blue.png"/>
          <p:cNvPicPr>
            <a:picLocks noChangeAspect="1"/>
          </p:cNvPicPr>
          <p:nvPr/>
        </p:nvPicPr>
        <p:blipFill>
          <a:blip r:embed="rId10"/>
          <a:stretch>
            <a:fillRect/>
          </a:stretch>
        </p:blipFill>
        <p:spPr>
          <a:xfrm>
            <a:off x="6396228" y="5149215"/>
            <a:ext cx="685800" cy="548640"/>
          </a:xfrm>
          <a:prstGeom prst="rect">
            <a:avLst/>
          </a:prstGeom>
        </p:spPr>
      </p:pic>
      <p:sp>
        <p:nvSpPr>
          <p:cNvPr id="26" name="TextBox 25"/>
          <p:cNvSpPr txBox="1"/>
          <p:nvPr/>
        </p:nvSpPr>
        <p:spPr>
          <a:xfrm>
            <a:off x="7082028" y="49491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Settlement, access and security  (28)</a:t>
            </a:r>
          </a:p>
          <a:p>
            <a:pPr algn="l">
              <a:spcBef>
                <a:spcPts val="300"/>
              </a:spcBef>
            </a:pPr>
            <a:r>
              <a:rPr sz="1150" b="0">
                <a:solidFill>
                  <a:srgbClr val="333333"/>
                </a:solidFill>
                <a:latin typeface="Calibri"/>
              </a:rPr>
              <a:t>Night lights, population density, travel time, built-up area; conflict events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assembly</a:t>
            </a:r>
          </a:p>
        </p:txBody>
      </p:sp>
      <p:sp>
        <p:nvSpPr>
          <p:cNvPr id="3" name="Rounded Rectangle 2"/>
          <p:cNvSpPr/>
          <p:nvPr/>
        </p:nvSpPr>
        <p:spPr>
          <a:xfrm>
            <a:off x="84124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vials_blue.png"/>
          <p:cNvPicPr>
            <a:picLocks noChangeAspect="1"/>
          </p:cNvPicPr>
          <p:nvPr/>
        </p:nvPicPr>
        <p:blipFill>
          <a:blip r:embed="rId3"/>
          <a:stretch>
            <a:fillRect/>
          </a:stretch>
        </p:blipFill>
        <p:spPr>
          <a:xfrm>
            <a:off x="1024128" y="1856232"/>
            <a:ext cx="566928" cy="566928"/>
          </a:xfrm>
          <a:prstGeom prst="rect">
            <a:avLst/>
          </a:prstGeom>
        </p:spPr>
      </p:pic>
      <p:sp>
        <p:nvSpPr>
          <p:cNvPr id="5" name="TextBox 4"/>
          <p:cNvSpPr txBox="1"/>
          <p:nvPr/>
        </p:nvSpPr>
        <p:spPr>
          <a:xfrm>
            <a:off x="170992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1. Clean and merge the surveys</a:t>
            </a:r>
          </a:p>
        </p:txBody>
      </p:sp>
      <p:sp>
        <p:nvSpPr>
          <p:cNvPr id="6" name="TextBox 5"/>
          <p:cNvSpPr txBox="1"/>
          <p:nvPr/>
        </p:nvSpPr>
        <p:spPr>
          <a:xfrm>
            <a:off x="102412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Four national micronutrient surveys; one uniform outcome definition per nutrient across countries.</a:t>
            </a:r>
          </a:p>
        </p:txBody>
      </p:sp>
      <p:sp>
        <p:nvSpPr>
          <p:cNvPr id="7" name="Chevron 6"/>
          <p:cNvSpPr/>
          <p:nvPr/>
        </p:nvSpPr>
        <p:spPr>
          <a:xfrm>
            <a:off x="413918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1408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satellite_blue.png"/>
          <p:cNvPicPr>
            <a:picLocks noChangeAspect="1"/>
          </p:cNvPicPr>
          <p:nvPr/>
        </p:nvPicPr>
        <p:blipFill>
          <a:blip r:embed="rId4"/>
          <a:stretch>
            <a:fillRect/>
          </a:stretch>
        </p:blipFill>
        <p:spPr>
          <a:xfrm>
            <a:off x="4696968" y="1856232"/>
            <a:ext cx="566928" cy="566928"/>
          </a:xfrm>
          <a:prstGeom prst="rect">
            <a:avLst/>
          </a:prstGeom>
        </p:spPr>
      </p:pic>
      <p:sp>
        <p:nvSpPr>
          <p:cNvPr id="10" name="TextBox 9"/>
          <p:cNvSpPr txBox="1"/>
          <p:nvPr/>
        </p:nvSpPr>
        <p:spPr>
          <a:xfrm>
            <a:off x="538276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2. Link gridded layers</a:t>
            </a:r>
          </a:p>
        </p:txBody>
      </p:sp>
      <p:sp>
        <p:nvSpPr>
          <p:cNvPr id="11" name="TextBox 10"/>
          <p:cNvSpPr txBox="1"/>
          <p:nvPr/>
        </p:nvSpPr>
        <p:spPr>
          <a:xfrm>
            <a:off x="469696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Zonal means to districts; buffer means to survey clusters.</a:t>
            </a:r>
          </a:p>
        </p:txBody>
      </p:sp>
      <p:sp>
        <p:nvSpPr>
          <p:cNvPr id="12" name="Chevron 11"/>
          <p:cNvSpPr/>
          <p:nvPr/>
        </p:nvSpPr>
        <p:spPr>
          <a:xfrm>
            <a:off x="781202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8692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people-roof_blue.png"/>
          <p:cNvPicPr>
            <a:picLocks noChangeAspect="1"/>
          </p:cNvPicPr>
          <p:nvPr/>
        </p:nvPicPr>
        <p:blipFill>
          <a:blip r:embed="rId5"/>
          <a:stretch>
            <a:fillRect/>
          </a:stretch>
        </p:blipFill>
        <p:spPr>
          <a:xfrm>
            <a:off x="8369808" y="1856232"/>
            <a:ext cx="708660" cy="566928"/>
          </a:xfrm>
          <a:prstGeom prst="rect">
            <a:avLst/>
          </a:prstGeom>
        </p:spPr>
      </p:pic>
      <p:sp>
        <p:nvSpPr>
          <p:cNvPr id="15" name="TextBox 14"/>
          <p:cNvSpPr txBox="1"/>
          <p:nvPr/>
        </p:nvSpPr>
        <p:spPr>
          <a:xfrm>
            <a:off x="905560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3. Aggregate household surveys</a:t>
            </a:r>
          </a:p>
        </p:txBody>
      </p:sp>
      <p:sp>
        <p:nvSpPr>
          <p:cNvPr id="16" name="TextBox 15"/>
          <p:cNvSpPr txBox="1"/>
          <p:nvPr/>
        </p:nvSpPr>
        <p:spPr>
          <a:xfrm>
            <a:off x="836980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DHS through a cluster-level spatial model; MICS and budget surveys from their public microdata.</a:t>
            </a:r>
          </a:p>
        </p:txBody>
      </p:sp>
      <p:sp>
        <p:nvSpPr>
          <p:cNvPr id="17" name="Rounded Rectangle 16"/>
          <p:cNvSpPr/>
          <p:nvPr/>
        </p:nvSpPr>
        <p:spPr>
          <a:xfrm>
            <a:off x="84124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alendar-check_blue.png"/>
          <p:cNvPicPr>
            <a:picLocks noChangeAspect="1"/>
          </p:cNvPicPr>
          <p:nvPr/>
        </p:nvPicPr>
        <p:blipFill>
          <a:blip r:embed="rId6"/>
          <a:stretch>
            <a:fillRect/>
          </a:stretch>
        </p:blipFill>
        <p:spPr>
          <a:xfrm>
            <a:off x="1024128" y="4096512"/>
            <a:ext cx="496062" cy="566928"/>
          </a:xfrm>
          <a:prstGeom prst="rect">
            <a:avLst/>
          </a:prstGeom>
        </p:spPr>
      </p:pic>
      <p:sp>
        <p:nvSpPr>
          <p:cNvPr id="19" name="TextBox 18"/>
          <p:cNvSpPr txBox="1"/>
          <p:nvPr/>
        </p:nvSpPr>
        <p:spPr>
          <a:xfrm>
            <a:off x="170992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4. Align in time</a:t>
            </a:r>
          </a:p>
        </p:txBody>
      </p:sp>
      <p:sp>
        <p:nvSpPr>
          <p:cNvPr id="20" name="TextBox 19"/>
          <p:cNvSpPr txBox="1"/>
          <p:nvPr/>
        </p:nvSpPr>
        <p:spPr>
          <a:xfrm>
            <a:off x="102412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Every layer at the survey year or the nearest; climate as a 30-year normal plus the survey-year anomaly.</a:t>
            </a:r>
          </a:p>
        </p:txBody>
      </p:sp>
      <p:sp>
        <p:nvSpPr>
          <p:cNvPr id="21" name="Chevron 20"/>
          <p:cNvSpPr/>
          <p:nvPr/>
        </p:nvSpPr>
        <p:spPr>
          <a:xfrm>
            <a:off x="413918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51408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lock-open_blue.png"/>
          <p:cNvPicPr>
            <a:picLocks noChangeAspect="1"/>
          </p:cNvPicPr>
          <p:nvPr/>
        </p:nvPicPr>
        <p:blipFill>
          <a:blip r:embed="rId7"/>
          <a:stretch>
            <a:fillRect/>
          </a:stretch>
        </p:blipFill>
        <p:spPr>
          <a:xfrm>
            <a:off x="4696968" y="4096512"/>
            <a:ext cx="637794" cy="566928"/>
          </a:xfrm>
          <a:prstGeom prst="rect">
            <a:avLst/>
          </a:prstGeom>
        </p:spPr>
      </p:pic>
      <p:sp>
        <p:nvSpPr>
          <p:cNvPr id="24" name="TextBox 23"/>
          <p:cNvSpPr txBox="1"/>
          <p:nvPr/>
        </p:nvSpPr>
        <p:spPr>
          <a:xfrm>
            <a:off x="538276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5. Open data only</a:t>
            </a:r>
          </a:p>
        </p:txBody>
      </p:sp>
      <p:sp>
        <p:nvSpPr>
          <p:cNvPr id="25" name="TextBox 24"/>
          <p:cNvSpPr txBox="1"/>
          <p:nvPr/>
        </p:nvSpPr>
        <p:spPr>
          <a:xfrm>
            <a:off x="469696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Headline models use open layers and public microdata; the DHS aggregates are a sensitivity arm.</a:t>
            </a:r>
          </a:p>
        </p:txBody>
      </p:sp>
      <p:sp>
        <p:nvSpPr>
          <p:cNvPr id="26" name="Chevron 25"/>
          <p:cNvSpPr/>
          <p:nvPr/>
        </p:nvSpPr>
        <p:spPr>
          <a:xfrm>
            <a:off x="781202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8692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sliders_blue.png"/>
          <p:cNvPicPr>
            <a:picLocks noChangeAspect="1"/>
          </p:cNvPicPr>
          <p:nvPr/>
        </p:nvPicPr>
        <p:blipFill>
          <a:blip r:embed="rId8"/>
          <a:stretch>
            <a:fillRect/>
          </a:stretch>
        </p:blipFill>
        <p:spPr>
          <a:xfrm>
            <a:off x="8369808" y="4096512"/>
            <a:ext cx="566928" cy="566928"/>
          </a:xfrm>
          <a:prstGeom prst="rect">
            <a:avLst/>
          </a:prstGeom>
        </p:spPr>
      </p:pic>
      <p:sp>
        <p:nvSpPr>
          <p:cNvPr id="29" name="TextBox 28"/>
          <p:cNvSpPr txBox="1"/>
          <p:nvPr/>
        </p:nvSpPr>
        <p:spPr>
          <a:xfrm>
            <a:off x="905560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6. Rank-normalise and reduce</a:t>
            </a:r>
          </a:p>
        </p:txBody>
      </p:sp>
      <p:sp>
        <p:nvSpPr>
          <p:cNvPr id="30" name="TextBox 29"/>
          <p:cNvSpPr txBox="1"/>
          <p:nvPr/>
        </p:nvSpPr>
        <p:spPr>
          <a:xfrm>
            <a:off x="836980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Within country, so level offsets cannot act as signal; 29 domains to their leading components, nothing selected on the outcome.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Building the harmonised dataset</a:t>
            </a:r>
          </a:p>
        </p:txBody>
      </p:sp>
      <p:graphicFrame>
        <p:nvGraphicFramePr>
          <p:cNvPr id="6" name="Content Placeholder 5"/>
          <p:cNvGraphicFramePr>
            <a:graphicFrameLocks noGrp="1"/>
          </p:cNvGraphicFramePr>
          <p:nvPr>
            <p:ph idx="1"/>
          </p:nvPr>
        </p:nvGraphicFramePr>
        <p:xfrm>
          <a:off x="838200" y="1816100"/>
          <a:ext cx="10515600" cy="18288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83439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0">
                <a:tc>
                  <a:txBody>
                    <a:bodyPr/>
                    <a:lstStyle/>
                    <a:p>
                      <a:pPr marL="0" lvl="0" indent="0" algn="l">
                        <a:buNone/>
                      </a:pPr>
                      <a:r>
                        <a:rPr sz="1000"/>
                        <a:t>Step</a:t>
                      </a:r>
                    </a:p>
                  </a:txBody>
                  <a:tcPr/>
                </a:tc>
                <a:tc>
                  <a:txBody>
                    <a:bodyPr/>
                    <a:lstStyle/>
                    <a:p>
                      <a:pPr marL="0" lvl="0" indent="0" algn="l">
                        <a:buNone/>
                      </a:pPr>
                      <a:r>
                        <a:rPr sz="1000"/>
                        <a:t>What happens</a:t>
                      </a:r>
                    </a:p>
                  </a:txBody>
                  <a:tcPr/>
                </a:tc>
                <a:tc>
                  <a:txBody>
                    <a:bodyPr/>
                    <a:lstStyle/>
                    <a:p>
                      <a:pPr marL="0" lvl="0" indent="0" algn="l">
                        <a:buNone/>
                      </a:pPr>
                      <a:r>
                        <a:rPr sz="1000"/>
                        <a:t>Columns</a:t>
                      </a:r>
                    </a:p>
                  </a:txBody>
                  <a:tcPr/>
                </a:tc>
                <a:extLst>
                  <a:ext uri="{0D108BD9-81ED-4DB2-BD59-A6C34878D82A}">
                    <a16:rowId xmlns:a16="http://schemas.microsoft.com/office/drawing/2014/main" val="10000"/>
                  </a:ext>
                </a:extLst>
              </a:tr>
              <a:tr h="0">
                <a:tc>
                  <a:txBody>
                    <a:bodyPr/>
                    <a:lstStyle/>
                    <a:p>
                      <a:pPr marL="0" lvl="0" indent="0" algn="l">
                        <a:buNone/>
                      </a:pPr>
                      <a:r>
                        <a:rPr sz="1000"/>
                        <a:t>Assemble</a:t>
                      </a:r>
                    </a:p>
                  </a:txBody>
                  <a:tcPr/>
                </a:tc>
                <a:tc>
                  <a:txBody>
                    <a:bodyPr/>
                    <a:lstStyle/>
                    <a:p>
                      <a:pPr marL="0" lvl="0" indent="0" algn="l">
                        <a:buNone/>
                      </a:pPr>
                      <a:r>
                        <a:rPr sz="1000"/>
                        <a:t>Base extraction on the spine, food environment, extra sources, add-back sources</a:t>
                      </a: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lgn="l">
                        <a:buNone/>
                      </a:pPr>
                      <a:r>
                        <a:rPr sz="1000"/>
                        <a:t>Append blocks</a:t>
                      </a:r>
                    </a:p>
                  </a:txBody>
                  <a:tcPr/>
                </a:tc>
                <a:tc>
                  <a:txBody>
                    <a:bodyPr/>
                    <a:lstStyle/>
                    <a:p>
                      <a:pPr marL="0" lvl="0" indent="0" algn="l">
                        <a:buNone/>
                      </a:pPr>
                      <a:r>
                        <a:rPr sz="1000"/>
                        <a:t>Household budget surveys, MICS microdata, RTFP prices, MODIS NDVI, climate normals</a:t>
                      </a:r>
                    </a:p>
                  </a:txBody>
                  <a:tcPr/>
                </a:tc>
                <a:tc>
                  <a:txBody>
                    <a:bodyPr/>
                    <a:lstStyle/>
                    <a:p>
                      <a:pPr marL="0" lvl="0" indent="0" algn="l">
                        <a:buNone/>
                      </a:pPr>
                      <a:r>
                        <a:rPr sz="1000"/>
                        <a:t>614</a:t>
                      </a:r>
                    </a:p>
                  </a:txBody>
                  <a:tcPr/>
                </a:tc>
                <a:extLst>
                  <a:ext uri="{0D108BD9-81ED-4DB2-BD59-A6C34878D82A}">
                    <a16:rowId xmlns:a16="http://schemas.microsoft.com/office/drawing/2014/main" val="10002"/>
                  </a:ext>
                </a:extLst>
              </a:tr>
              <a:tr h="0">
                <a:tc>
                  <a:txBody>
                    <a:bodyPr/>
                    <a:lstStyle/>
                    <a:p>
                      <a:pPr marL="0" lvl="0" indent="0" algn="l">
                        <a:buNone/>
                      </a:pPr>
                      <a:r>
                        <a:rPr sz="1000"/>
                        <a:t>Exclude</a:t>
                      </a:r>
                    </a:p>
                  </a:txBody>
                  <a:tcPr/>
                </a:tc>
                <a:tc>
                  <a:txBody>
                    <a:bodyPr/>
                    <a:lstStyle/>
                    <a:p>
                      <a:pPr marL="0" lvl="0" indent="0" algn="l">
                        <a:buNone/>
                      </a:pPr>
                      <a:r>
                        <a:rPr sz="1000"/>
                        <a:t>Rules with a written reason: data defects, superseded layers, redundant twins</a:t>
                      </a:r>
                    </a:p>
                  </a:txBody>
                  <a:tcPr/>
                </a:tc>
                <a:tc>
                  <a:txBody>
                    <a:bodyPr/>
                    <a:lstStyle/>
                    <a:p>
                      <a:pPr marL="0" lvl="0" indent="0" algn="l">
                        <a:buNone/>
                      </a:pPr>
                      <a:r>
                        <a:rPr sz="1000"/>
                        <a:t>575</a:t>
                      </a:r>
                    </a:p>
                  </a:txBody>
                  <a:tcPr/>
                </a:tc>
                <a:extLst>
                  <a:ext uri="{0D108BD9-81ED-4DB2-BD59-A6C34878D82A}">
                    <a16:rowId xmlns:a16="http://schemas.microsoft.com/office/drawing/2014/main" val="10003"/>
                  </a:ext>
                </a:extLst>
              </a:tr>
              <a:tr h="0">
                <a:tc>
                  <a:txBody>
                    <a:bodyPr/>
                    <a:lstStyle/>
                    <a:p>
                      <a:pPr marL="0" lvl="0" indent="0" algn="l">
                        <a:buNone/>
                      </a:pPr>
                      <a:r>
                        <a:rPr sz="1000"/>
                        <a:t>Stamp</a:t>
                      </a:r>
                    </a:p>
                  </a:txBody>
                  <a:tcPr/>
                </a:tc>
                <a:tc>
                  <a:txBody>
                    <a:bodyPr/>
                    <a:lstStyle/>
                    <a:p>
                      <a:pPr marL="0" lvl="0" indent="0" algn="l">
                        <a:buNone/>
                      </a:pPr>
                      <a:r>
                        <a:rPr sz="1000"/>
                        <a:t>Access tier, within-country variation, alignment rule, year used and gap, modelled-surface flag</a:t>
                      </a:r>
                    </a:p>
                  </a:txBody>
                  <a:tcPr/>
                </a:tc>
                <a:tc>
                  <a:txBody>
                    <a:bodyPr/>
                    <a:lstStyle/>
                    <a:p>
                      <a:pPr marL="0" lvl="0" indent="0" algn="l">
                        <a:buNone/>
                      </a:pPr>
                      <a:r>
                        <a:rPr sz="1000"/>
                        <a:t>575</a:t>
                      </a:r>
                    </a:p>
                  </a:txBody>
                  <a:tcPr/>
                </a:tc>
                <a:extLst>
                  <a:ext uri="{0D108BD9-81ED-4DB2-BD59-A6C34878D82A}">
                    <a16:rowId xmlns:a16="http://schemas.microsoft.com/office/drawing/2014/main" val="10004"/>
                  </a:ext>
                </a:extLst>
              </a:tr>
              <a:tr h="0">
                <a:tc>
                  <a:txBody>
                    <a:bodyPr/>
                    <a:lstStyle/>
                    <a:p>
                      <a:pPr marL="0" lvl="0" indent="0" algn="l">
                        <a:buNone/>
                      </a:pPr>
                      <a:r>
                        <a:rPr sz="1000"/>
                        <a:t>Fit-time policy</a:t>
                      </a:r>
                    </a:p>
                  </a:txBody>
                  <a:tcPr/>
                </a:tc>
                <a:tc>
                  <a:txBody>
                    <a:bodyPr/>
                    <a:lstStyle/>
                    <a:p>
                      <a:pPr marL="0" lvl="0" indent="0" algn="l">
                        <a:buNone/>
                      </a:pPr>
                      <a:r>
                        <a:rPr sz="1000"/>
                        <a:t>Drop national constants and leakage columns</a:t>
                      </a:r>
                    </a:p>
                  </a:txBody>
                  <a:tcPr/>
                </a:tc>
                <a:tc>
                  <a:txBody>
                    <a:bodyPr/>
                    <a:lstStyle/>
                    <a:p>
                      <a:pPr marL="0" lvl="0" indent="0" algn="l">
                        <a:buNone/>
                      </a:pPr>
                      <a:r>
                        <a:rPr sz="1000"/>
                        <a:t>525</a:t>
                      </a:r>
                    </a:p>
                  </a:txBody>
                  <a:tcPr/>
                </a:tc>
                <a:extLst>
                  <a:ext uri="{0D108BD9-81ED-4DB2-BD59-A6C34878D82A}">
                    <a16:rowId xmlns:a16="http://schemas.microsoft.com/office/drawing/2014/main" val="10005"/>
                  </a:ext>
                </a:extLst>
              </a:tr>
              <a:tr h="0">
                <a:tc>
                  <a:txBody>
                    <a:bodyPr/>
                    <a:lstStyle/>
                    <a:p>
                      <a:pPr marL="0" lvl="0" indent="0" algn="l">
                        <a:buNone/>
                      </a:pPr>
                      <a:r>
                        <a:rPr sz="1000"/>
                        <a:t>Transport matrix</a:t>
                      </a:r>
                    </a:p>
                  </a:txBody>
                  <a:tcPr/>
                </a:tc>
                <a:tc>
                  <a:txBody>
                    <a:bodyPr/>
                    <a:lstStyle/>
                    <a:p>
                      <a:pPr marL="0" lvl="0" indent="0" algn="l">
                        <a:buNone/>
                      </a:pPr>
                      <a:r>
                        <a:rPr sz="1000"/>
                        <a:t>Per country: coverage of at least 70% and some variation; then the four-country intersection</a:t>
                      </a:r>
                    </a:p>
                  </a:txBody>
                  <a:tcPr/>
                </a:tc>
                <a:tc>
                  <a:txBody>
                    <a:bodyPr/>
                    <a:lstStyle/>
                    <a:p>
                      <a:pPr marL="0" lvl="0" indent="0" algn="l">
                        <a:buNone/>
                      </a:pPr>
                      <a:r>
                        <a:rPr sz="1000"/>
                        <a:t>464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Models and protocol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Estimators</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clock-rotate-left_white.png"/>
          <p:cNvPicPr>
            <a:picLocks noChangeAspect="1"/>
          </p:cNvPicPr>
          <p:nvPr/>
        </p:nvPicPr>
        <p:blipFill>
          <a:blip r:embed="rId3"/>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January: spatial ensemble learning</a:t>
            </a:r>
          </a:p>
        </p:txBody>
      </p:sp>
      <p:pic>
        <p:nvPicPr>
          <p:cNvPr id="7" name="Picture 6" descr="diagram-project_blue.png"/>
          <p:cNvPicPr>
            <a:picLocks noChangeAspect="1"/>
          </p:cNvPicPr>
          <p:nvPr/>
        </p:nvPicPr>
        <p:blipFill>
          <a:blip r:embed="rId4"/>
          <a:stretch>
            <a:fillRect/>
          </a:stretch>
        </p:blipFill>
        <p:spPr>
          <a:xfrm>
            <a:off x="1069848" y="2735580"/>
            <a:ext cx="565785"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SuperLearner library</a:t>
            </a:r>
          </a:p>
          <a:p>
            <a:pPr algn="l">
              <a:spcBef>
                <a:spcPts val="300"/>
              </a:spcBef>
            </a:pPr>
            <a:r>
              <a:rPr sz="1200" b="0">
                <a:solidFill>
                  <a:srgbClr val="333333"/>
                </a:solidFill>
                <a:latin typeface="Calibri"/>
              </a:rPr>
              <a:t>Weighted by cross-validated performance.</a:t>
            </a:r>
          </a:p>
        </p:txBody>
      </p:sp>
      <p:pic>
        <p:nvPicPr>
          <p:cNvPr id="9" name="Picture 8" descr="filter_blue.png"/>
          <p:cNvPicPr>
            <a:picLocks noChangeAspect="1"/>
          </p:cNvPicPr>
          <p:nvPr/>
        </p:nvPicPr>
        <p:blipFill>
          <a:blip r:embed="rId5"/>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Prescreening</a:t>
            </a:r>
          </a:p>
          <a:p>
            <a:pPr algn="l">
              <a:spcBef>
                <a:spcPts val="300"/>
              </a:spcBef>
            </a:pPr>
            <a:r>
              <a:rPr sz="1200" b="0">
                <a:solidFill>
                  <a:srgbClr val="333333"/>
                </a:solidFill>
                <a:latin typeface="Calibri"/>
              </a:rPr>
              <a:t>From thousands of predictors to 10 to 100 per model.</a:t>
            </a:r>
          </a:p>
        </p:txBody>
      </p:sp>
      <p:pic>
        <p:nvPicPr>
          <p:cNvPr id="11" name="Picture 10" descr="chart-bar_blue.png"/>
          <p:cNvPicPr>
            <a:picLocks noChangeAspect="1"/>
          </p:cNvPicPr>
          <p:nvPr/>
        </p:nvPicPr>
        <p:blipFill>
          <a:blip r:embed="rId6"/>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Importance</a:t>
            </a:r>
          </a:p>
          <a:p>
            <a:pPr algn="l">
              <a:spcBef>
                <a:spcPts val="300"/>
              </a:spcBef>
            </a:pPr>
            <a:r>
              <a:rPr sz="1200" b="0">
                <a:solidFill>
                  <a:srgbClr val="333333"/>
                </a:solidFill>
                <a:latin typeface="Calibri"/>
              </a:rPr>
              <a:t>Change in mean squared error.</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double_white.png"/>
          <p:cNvPicPr>
            <a:picLocks noChangeAspect="1"/>
          </p:cNvPicPr>
          <p:nvPr/>
        </p:nvPicPr>
        <p:blipFill>
          <a:blip r:embed="rId7"/>
          <a:stretch>
            <a:fillRect/>
          </a:stretch>
        </p:blipFill>
        <p:spPr>
          <a:xfrm>
            <a:off x="6510528" y="1810512"/>
            <a:ext cx="352044"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Current: the corrected protocol</a:t>
            </a:r>
          </a:p>
        </p:txBody>
      </p:sp>
      <p:pic>
        <p:nvPicPr>
          <p:cNvPr id="17" name="Picture 16" descr="scale-balanced_blue.png"/>
          <p:cNvPicPr>
            <a:picLocks noChangeAspect="1"/>
          </p:cNvPicPr>
          <p:nvPr/>
        </p:nvPicPr>
        <p:blipFill>
          <a:blip r:embed="rId8"/>
          <a:stretch>
            <a:fillRect/>
          </a:stretch>
        </p:blipFill>
        <p:spPr>
          <a:xfrm>
            <a:off x="6556248" y="2735580"/>
            <a:ext cx="628650"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Zero-tuning index</a:t>
            </a:r>
          </a:p>
          <a:p>
            <a:pPr algn="l">
              <a:spcBef>
                <a:spcPts val="300"/>
              </a:spcBef>
            </a:pPr>
            <a:r>
              <a:rPr sz="1200" b="0">
                <a:solidFill>
                  <a:srgbClr val="333333"/>
                </a:solidFill>
                <a:latin typeface="Calibri"/>
              </a:rPr>
              <a:t>Domain principal components weighted by their training-fold rank correlation with the outcome.</a:t>
            </a:r>
          </a:p>
        </p:txBody>
      </p:sp>
      <p:pic>
        <p:nvPicPr>
          <p:cNvPr id="19" name="Picture 18" descr="code-compare_blue.png"/>
          <p:cNvPicPr>
            <a:picLocks noChangeAspect="1"/>
          </p:cNvPicPr>
          <p:nvPr/>
        </p:nvPicPr>
        <p:blipFill>
          <a:blip r:embed="rId9"/>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SuperLearner retained as a comparison</a:t>
            </a:r>
          </a:p>
          <a:p>
            <a:pPr algn="l">
              <a:spcBef>
                <a:spcPts val="300"/>
              </a:spcBef>
            </a:pPr>
            <a:r>
              <a:rPr sz="1200" b="0">
                <a:solidFill>
                  <a:srgbClr val="333333"/>
                </a:solidFill>
                <a:latin typeface="Calibri"/>
              </a:rPr>
              <a:t>Same folds: index 0.29 against 0.29 for the rank-loss ensemble and 0.27 for random forest.</a:t>
            </a:r>
          </a:p>
        </p:txBody>
      </p:sp>
      <p:pic>
        <p:nvPicPr>
          <p:cNvPr id="21" name="Picture 20" descr="lock_blue.png"/>
          <p:cNvPicPr>
            <a:picLocks noChangeAspect="1"/>
          </p:cNvPicPr>
          <p:nvPr/>
        </p:nvPicPr>
        <p:blipFill>
          <a:blip r:embed="rId10"/>
          <a:stretch>
            <a:fillRect/>
          </a:stretch>
        </p:blipFill>
        <p:spPr>
          <a:xfrm>
            <a:off x="6556248" y="4991100"/>
            <a:ext cx="440055"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Nothing chosen on held-out districts</a:t>
            </a:r>
          </a:p>
          <a:p>
            <a:pPr algn="l">
              <a:spcBef>
                <a:spcPts val="300"/>
              </a:spcBef>
            </a:pPr>
            <a:r>
              <a:rPr sz="1200" b="0">
                <a:solidFill>
                  <a:srgbClr val="333333"/>
                </a:solidFill>
                <a:latin typeface="Calibri"/>
              </a:rPr>
              <a:t>Honest folds by district, region and country.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Ensemble machine learning</a:t>
            </a:r>
          </a:p>
        </p:txBody>
      </p:sp>
      <p:pic>
        <p:nvPicPr>
          <p:cNvPr id="3" name="Picture 2" descr="people-group_blue.png"/>
          <p:cNvPicPr>
            <a:picLocks noChangeAspect="1"/>
          </p:cNvPicPr>
          <p:nvPr/>
        </p:nvPicPr>
        <p:blipFill>
          <a:blip r:embed="rId3"/>
          <a:stretch>
            <a:fillRect/>
          </a:stretch>
        </p:blipFill>
        <p:spPr>
          <a:xfrm>
            <a:off x="932688" y="1783080"/>
            <a:ext cx="914400" cy="731520"/>
          </a:xfrm>
          <a:prstGeom prst="rect">
            <a:avLst/>
          </a:prstGeom>
        </p:spPr>
      </p:pic>
      <p:sp>
        <p:nvSpPr>
          <p:cNvPr id="4" name="TextBox 3"/>
          <p:cNvSpPr txBox="1"/>
          <p:nvPr/>
        </p:nvSpPr>
        <p:spPr>
          <a:xfrm>
            <a:off x="1984248" y="169164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A competition of algorithms</a:t>
            </a:r>
          </a:p>
          <a:p>
            <a:pPr algn="l">
              <a:spcBef>
                <a:spcPts val="300"/>
              </a:spcBef>
            </a:pPr>
            <a:r>
              <a:rPr sz="1400" b="0">
                <a:solidFill>
                  <a:srgbClr val="333333"/>
                </a:solidFill>
                <a:latin typeface="Calibri"/>
              </a:rPr>
              <a:t>Simple regressions and more complex machine learning models side by side, to allow interactions and nonlinear associations.</a:t>
            </a:r>
          </a:p>
        </p:txBody>
      </p:sp>
      <p:pic>
        <p:nvPicPr>
          <p:cNvPr id="5" name="Picture 4" descr="trophy_blue.png"/>
          <p:cNvPicPr>
            <a:picLocks noChangeAspect="1"/>
          </p:cNvPicPr>
          <p:nvPr/>
        </p:nvPicPr>
        <p:blipFill>
          <a:blip r:embed="rId4"/>
          <a:stretch>
            <a:fillRect/>
          </a:stretch>
        </p:blipFill>
        <p:spPr>
          <a:xfrm>
            <a:off x="932688" y="2880360"/>
            <a:ext cx="822960" cy="731520"/>
          </a:xfrm>
          <a:prstGeom prst="rect">
            <a:avLst/>
          </a:prstGeom>
        </p:spPr>
      </p:pic>
      <p:sp>
        <p:nvSpPr>
          <p:cNvPr id="6" name="TextBox 5"/>
          <p:cNvSpPr txBox="1"/>
          <p:nvPr/>
        </p:nvSpPr>
        <p:spPr>
          <a:xfrm>
            <a:off x="1984248" y="278892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best team wins</a:t>
            </a:r>
          </a:p>
          <a:p>
            <a:pPr algn="l">
              <a:spcBef>
                <a:spcPts val="300"/>
              </a:spcBef>
            </a:pPr>
            <a:r>
              <a:rPr sz="1400" b="0">
                <a:solidFill>
                  <a:srgbClr val="333333"/>
                </a:solidFill>
                <a:latin typeface="Calibri"/>
              </a:rPr>
              <a:t>A weighted combination of algorithms; the weights come from performance on data the algorithms did not see.</a:t>
            </a:r>
          </a:p>
        </p:txBody>
      </p:sp>
      <p:pic>
        <p:nvPicPr>
          <p:cNvPr id="7" name="Picture 6" descr="shuffle_blue.png"/>
          <p:cNvPicPr>
            <a:picLocks noChangeAspect="1"/>
          </p:cNvPicPr>
          <p:nvPr/>
        </p:nvPicPr>
        <p:blipFill>
          <a:blip r:embed="rId5"/>
          <a:stretch>
            <a:fillRect/>
          </a:stretch>
        </p:blipFill>
        <p:spPr>
          <a:xfrm>
            <a:off x="932688" y="3977640"/>
            <a:ext cx="731520" cy="731520"/>
          </a:xfrm>
          <a:prstGeom prst="rect">
            <a:avLst/>
          </a:prstGeom>
        </p:spPr>
      </p:pic>
      <p:sp>
        <p:nvSpPr>
          <p:cNvPr id="8" name="TextBox 7"/>
          <p:cNvSpPr txBox="1"/>
          <p:nvPr/>
        </p:nvSpPr>
        <p:spPr>
          <a:xfrm>
            <a:off x="1984248" y="388620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V-fold cross-validation</a:t>
            </a:r>
          </a:p>
          <a:p>
            <a:pPr algn="l">
              <a:spcBef>
                <a:spcPts val="300"/>
              </a:spcBef>
            </a:pPr>
            <a:r>
              <a:rPr sz="1400" b="0">
                <a:solidFill>
                  <a:srgbClr val="333333"/>
                </a:solidFill>
                <a:latin typeface="Calibri"/>
              </a:rPr>
              <a:t>Internal data splits by district, so that no district is in both training and validation; guards against overfitting.</a:t>
            </a:r>
          </a:p>
        </p:txBody>
      </p:sp>
      <p:pic>
        <p:nvPicPr>
          <p:cNvPr id="9" name="Picture 8" descr="book-open_blue.png"/>
          <p:cNvPicPr>
            <a:picLocks noChangeAspect="1"/>
          </p:cNvPicPr>
          <p:nvPr/>
        </p:nvPicPr>
        <p:blipFill>
          <a:blip r:embed="rId6"/>
          <a:stretch>
            <a:fillRect/>
          </a:stretch>
        </p:blipFill>
        <p:spPr>
          <a:xfrm>
            <a:off x="932688" y="5074920"/>
            <a:ext cx="822960" cy="731520"/>
          </a:xfrm>
          <a:prstGeom prst="rect">
            <a:avLst/>
          </a:prstGeom>
        </p:spPr>
      </p:pic>
      <p:sp>
        <p:nvSpPr>
          <p:cNvPr id="10" name="TextBox 9"/>
          <p:cNvSpPr txBox="1"/>
          <p:nvPr/>
        </p:nvSpPr>
        <p:spPr>
          <a:xfrm>
            <a:off x="1984248" y="498348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library</a:t>
            </a:r>
          </a:p>
          <a:p>
            <a:pPr algn="l">
              <a:spcBef>
                <a:spcPts val="300"/>
              </a:spcBef>
            </a:pPr>
            <a:r>
              <a:rPr sz="1400" b="0">
                <a:solidFill>
                  <a:srgbClr val="333333"/>
                </a:solidFill>
                <a:latin typeface="Calibri"/>
              </a:rPr>
              <a:t>Simple mean, penalised regressions, random forest, gradient boosting, PCA-HAL, Bayesian additive trees, Bayesian geostatistical models.</a:t>
            </a:r>
          </a:p>
        </p:txBody>
      </p:sp>
      <p:pic>
        <p:nvPicPr>
          <p:cNvPr id="11" name="Picture 10" descr="ensemble_vfold.png"/>
          <p:cNvPicPr>
            <a:picLocks noChangeAspect="1"/>
          </p:cNvPicPr>
          <p:nvPr/>
        </p:nvPicPr>
        <p:blipFill>
          <a:blip r:embed="rId7"/>
          <a:stretch>
            <a:fillRect/>
          </a:stretch>
        </p:blipFill>
        <p:spPr>
          <a:xfrm>
            <a:off x="9162288" y="1783080"/>
            <a:ext cx="2194560" cy="35323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the zero-tuning index works</a:t>
            </a:r>
          </a:p>
        </p:txBody>
      </p:sp>
      <p:sp>
        <p:nvSpPr>
          <p:cNvPr id="3" name="Rounded Rectangle 2"/>
          <p:cNvSpPr/>
          <p:nvPr/>
        </p:nvSpPr>
        <p:spPr>
          <a:xfrm>
            <a:off x="84124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arrow-down-wide-short_blue.png"/>
          <p:cNvPicPr>
            <a:picLocks noChangeAspect="1"/>
          </p:cNvPicPr>
          <p:nvPr/>
        </p:nvPicPr>
        <p:blipFill>
          <a:blip r:embed="rId3"/>
          <a:stretch>
            <a:fillRect/>
          </a:stretch>
        </p:blipFill>
        <p:spPr>
          <a:xfrm>
            <a:off x="1692783" y="1874520"/>
            <a:ext cx="617220" cy="548640"/>
          </a:xfrm>
          <a:prstGeom prst="rect">
            <a:avLst/>
          </a:prstGeom>
        </p:spPr>
      </p:pic>
      <p:sp>
        <p:nvSpPr>
          <p:cNvPr id="5" name="TextBox 4"/>
          <p:cNvSpPr txBox="1"/>
          <p:nvPr/>
        </p:nvSpPr>
        <p:spPr>
          <a:xfrm>
            <a:off x="95097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1. Rank-normalise within country</a:t>
            </a:r>
          </a:p>
        </p:txBody>
      </p:sp>
      <p:sp>
        <p:nvSpPr>
          <p:cNvPr id="6" name="TextBox 5"/>
          <p:cNvSpPr txBox="1"/>
          <p:nvPr/>
        </p:nvSpPr>
        <p:spPr>
          <a:xfrm>
            <a:off x="97840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Every predictor becomes a within-country rank, so a level offset between surveys cannot act as signal.</a:t>
            </a:r>
          </a:p>
        </p:txBody>
      </p:sp>
      <p:sp>
        <p:nvSpPr>
          <p:cNvPr id="7" name="Chevron 6"/>
          <p:cNvSpPr/>
          <p:nvPr/>
        </p:nvSpPr>
        <p:spPr>
          <a:xfrm>
            <a:off x="322097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9587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layer-group_blue.png"/>
          <p:cNvPicPr>
            <a:picLocks noChangeAspect="1"/>
          </p:cNvPicPr>
          <p:nvPr/>
        </p:nvPicPr>
        <p:blipFill>
          <a:blip r:embed="rId4"/>
          <a:stretch>
            <a:fillRect/>
          </a:stretch>
        </p:blipFill>
        <p:spPr>
          <a:xfrm>
            <a:off x="4447413" y="1874520"/>
            <a:ext cx="617220" cy="548640"/>
          </a:xfrm>
          <a:prstGeom prst="rect">
            <a:avLst/>
          </a:prstGeom>
        </p:spPr>
      </p:pic>
      <p:sp>
        <p:nvSpPr>
          <p:cNvPr id="10" name="TextBox 9"/>
          <p:cNvSpPr txBox="1"/>
          <p:nvPr/>
        </p:nvSpPr>
        <p:spPr>
          <a:xfrm>
            <a:off x="370560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2. Domain components</a:t>
            </a:r>
          </a:p>
        </p:txBody>
      </p:sp>
      <p:sp>
        <p:nvSpPr>
          <p:cNvPr id="11" name="TextBox 10"/>
          <p:cNvSpPr txBox="1"/>
          <p:nvPr/>
        </p:nvSpPr>
        <p:spPr>
          <a:xfrm>
            <a:off x="373303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Leading principal components of each of the 29 domains, to 80% of variance, learned on the training districts only.</a:t>
            </a:r>
          </a:p>
        </p:txBody>
      </p:sp>
      <p:sp>
        <p:nvSpPr>
          <p:cNvPr id="12" name="Chevron 11"/>
          <p:cNvSpPr/>
          <p:nvPr/>
        </p:nvSpPr>
        <p:spPr>
          <a:xfrm>
            <a:off x="597560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5050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scale-balanced_blue.png"/>
          <p:cNvPicPr>
            <a:picLocks noChangeAspect="1"/>
          </p:cNvPicPr>
          <p:nvPr/>
        </p:nvPicPr>
        <p:blipFill>
          <a:blip r:embed="rId5"/>
          <a:stretch>
            <a:fillRect/>
          </a:stretch>
        </p:blipFill>
        <p:spPr>
          <a:xfrm>
            <a:off x="7202043" y="1874520"/>
            <a:ext cx="685800" cy="548640"/>
          </a:xfrm>
          <a:prstGeom prst="rect">
            <a:avLst/>
          </a:prstGeom>
        </p:spPr>
      </p:pic>
      <p:sp>
        <p:nvSpPr>
          <p:cNvPr id="15" name="TextBox 14"/>
          <p:cNvSpPr txBox="1"/>
          <p:nvPr/>
        </p:nvSpPr>
        <p:spPr>
          <a:xfrm>
            <a:off x="646023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3. Weight by rank correlation</a:t>
            </a:r>
          </a:p>
        </p:txBody>
      </p:sp>
      <p:sp>
        <p:nvSpPr>
          <p:cNvPr id="16" name="TextBox 15"/>
          <p:cNvSpPr txBox="1"/>
          <p:nvPr/>
        </p:nvSpPr>
        <p:spPr>
          <a:xfrm>
            <a:off x="648766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Each component is weighted by its Spearman correlation with the outcome in the training fold; sign and size, nothing else is fitted.</a:t>
            </a:r>
          </a:p>
        </p:txBody>
      </p:sp>
      <p:sp>
        <p:nvSpPr>
          <p:cNvPr id="17" name="Chevron 16"/>
          <p:cNvSpPr/>
          <p:nvPr/>
        </p:nvSpPr>
        <p:spPr>
          <a:xfrm>
            <a:off x="873023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0513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plus_blue.png"/>
          <p:cNvPicPr>
            <a:picLocks noChangeAspect="1"/>
          </p:cNvPicPr>
          <p:nvPr/>
        </p:nvPicPr>
        <p:blipFill>
          <a:blip r:embed="rId6"/>
          <a:stretch>
            <a:fillRect/>
          </a:stretch>
        </p:blipFill>
        <p:spPr>
          <a:xfrm>
            <a:off x="9956673" y="1874520"/>
            <a:ext cx="480060" cy="548640"/>
          </a:xfrm>
          <a:prstGeom prst="rect">
            <a:avLst/>
          </a:prstGeom>
        </p:spPr>
      </p:pic>
      <p:sp>
        <p:nvSpPr>
          <p:cNvPr id="20" name="TextBox 19"/>
          <p:cNvSpPr txBox="1"/>
          <p:nvPr/>
        </p:nvSpPr>
        <p:spPr>
          <a:xfrm>
            <a:off x="921486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4. Sum and rescale</a:t>
            </a:r>
          </a:p>
        </p:txBody>
      </p:sp>
      <p:sp>
        <p:nvSpPr>
          <p:cNvPr id="21" name="TextBox 20"/>
          <p:cNvSpPr txBox="1"/>
          <p:nvPr/>
        </p:nvSpPr>
        <p:spPr>
          <a:xfrm>
            <a:off x="924229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The weighted sum, rescaled to the training outcome's spread; the infinite-penalty limit of a ridge regression on the components.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Estimands</a:t>
            </a:r>
          </a:p>
        </p:txBody>
      </p:sp>
      <p:sp>
        <p:nvSpPr>
          <p:cNvPr id="3" name="Rounded Rectangle 2"/>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map-location-dot_blue.png"/>
          <p:cNvPicPr>
            <a:picLocks noChangeAspect="1"/>
          </p:cNvPicPr>
          <p:nvPr/>
        </p:nvPicPr>
        <p:blipFill>
          <a:blip r:embed="rId3"/>
          <a:stretch>
            <a:fillRect/>
          </a:stretch>
        </p:blipFill>
        <p:spPr>
          <a:xfrm>
            <a:off x="1999488" y="1920240"/>
            <a:ext cx="1028700" cy="914400"/>
          </a:xfrm>
          <a:prstGeom prst="rect">
            <a:avLst/>
          </a:prstGeom>
        </p:spPr>
      </p:pic>
      <p:sp>
        <p:nvSpPr>
          <p:cNvPr id="5" name="TextBox 4"/>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In-fill</a:t>
            </a:r>
          </a:p>
        </p:txBody>
      </p:sp>
      <p:sp>
        <p:nvSpPr>
          <p:cNvPr id="6" name="TextBox 5"/>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an unsurveyed district in a 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5-fold by district, 10 draws</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jackknifed regional mean; spatial smoother</a:t>
            </a:r>
          </a:p>
        </p:txBody>
      </p:sp>
      <p:sp>
        <p:nvSpPr>
          <p:cNvPr id="7" name="Rounded Rectangle 6"/>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draw-polygon_blue.png"/>
          <p:cNvPicPr>
            <a:picLocks noChangeAspect="1"/>
          </p:cNvPicPr>
          <p:nvPr/>
        </p:nvPicPr>
        <p:blipFill>
          <a:blip r:embed="rId4"/>
          <a:stretch>
            <a:fillRect/>
          </a:stretch>
        </p:blipFill>
        <p:spPr>
          <a:xfrm>
            <a:off x="5641848" y="1920240"/>
            <a:ext cx="800100" cy="914400"/>
          </a:xfrm>
          <a:prstGeom prst="rect">
            <a:avLst/>
          </a:prstGeom>
        </p:spPr>
      </p:pic>
      <p:sp>
        <p:nvSpPr>
          <p:cNvPr id="9" name="TextBox 8"/>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Region extrapolation</a:t>
            </a:r>
          </a:p>
        </p:txBody>
      </p:sp>
      <p:sp>
        <p:nvSpPr>
          <p:cNvPr id="10" name="TextBox 9"/>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whole unsurveyed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leave-one-region-out</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spatial smoother</a:t>
            </a:r>
          </a:p>
        </p:txBody>
      </p:sp>
      <p:sp>
        <p:nvSpPr>
          <p:cNvPr id="11" name="Rounded Rectangle 10"/>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earth-africa_blue.png"/>
          <p:cNvPicPr>
            <a:picLocks noChangeAspect="1"/>
          </p:cNvPicPr>
          <p:nvPr/>
        </p:nvPicPr>
        <p:blipFill>
          <a:blip r:embed="rId5"/>
          <a:stretch>
            <a:fillRect/>
          </a:stretch>
        </p:blipFill>
        <p:spPr>
          <a:xfrm>
            <a:off x="9284208" y="1920240"/>
            <a:ext cx="914400" cy="914400"/>
          </a:xfrm>
          <a:prstGeom prst="rect">
            <a:avLst/>
          </a:prstGeom>
        </p:spPr>
      </p:pic>
      <p:sp>
        <p:nvSpPr>
          <p:cNvPr id="13" name="TextBox 12"/>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Country transport</a:t>
            </a:r>
          </a:p>
        </p:txBody>
      </p:sp>
      <p:sp>
        <p:nvSpPr>
          <p:cNvPr id="14" name="TextBox 13"/>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country with no biomarker survey</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leave-one-country-out</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country-block permutation null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Results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In-fill: district ranking accuracy</a:t>
            </a:r>
          </a:p>
        </p:txBody>
      </p:sp>
      <p:sp>
        <p:nvSpPr>
          <p:cNvPr id="3" name="Content Placeholder 2"/>
          <p:cNvSpPr>
            <a:spLocks noGrp="1"/>
          </p:cNvSpPr>
          <p:nvPr>
            <p:ph sz="half" idx="1"/>
          </p:nvPr>
        </p:nvSpPr>
        <p:spPr/>
        <p:txBody>
          <a:bodyPr/>
          <a:lstStyle/>
          <a:p>
            <a:pPr marL="0" lvl="0" indent="0">
              <a:buNone/>
            </a:pPr>
            <a:r>
              <a:rPr sz="1800"/>
              <a:t>Mean Spearman correlation over the scored cells with a 95% interval across cells. The index reaches 0.40 on the biomarker level against 0.31 for the jackknifed regional mean (better in 13 of 18 cells) and 0.39 for the covariate-free smoother.</a:t>
            </a:r>
          </a:p>
        </p:txBody>
      </p:sp>
      <p:pic>
        <p:nvPicPr>
          <p:cNvPr id="4" name="Picture 1" descr="MN-proxy-full-talk-2026-09_files/figure-pptx/infill-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Ghana: survey and held-out prediction</a:t>
            </a:r>
          </a:p>
        </p:txBody>
      </p:sp>
      <p:pic>
        <p:nvPicPr>
          <p:cNvPr id="3" name="Picture 1" descr="MN-proxy-full-talk-2026-09_files/figure-pptx/ghana-maps-1.png"/>
          <p:cNvPicPr>
            <a:picLocks noGrp="1" noChangeAspect="1"/>
          </p:cNvPicPr>
          <p:nvPr/>
        </p:nvPicPr>
        <p:blipFill>
          <a:blip r:embed="rId3"/>
          <a:stretch>
            <a:fillRect/>
          </a:stretch>
        </p:blipFill>
        <p:spPr bwMode="auto">
          <a:xfrm>
            <a:off x="1966602" y="1691640"/>
            <a:ext cx="8264892" cy="420624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Region extrapolation</a:t>
            </a:r>
          </a:p>
        </p:txBody>
      </p:sp>
      <p:sp>
        <p:nvSpPr>
          <p:cNvPr id="3" name="Content Placeholder 2"/>
          <p:cNvSpPr>
            <a:spLocks noGrp="1"/>
          </p:cNvSpPr>
          <p:nvPr>
            <p:ph sz="half" idx="1"/>
          </p:nvPr>
        </p:nvSpPr>
        <p:spPr/>
        <p:txBody>
          <a:bodyPr/>
          <a:lstStyle/>
          <a:p>
            <a:pPr marL="0" lvl="0" indent="0">
              <a:buNone/>
            </a:pPr>
            <a:r>
              <a:rPr sz="1800"/>
              <a:t>Leave-one-region-out, mean over cells with a 95% interval. The index scores 0.38 on the level and 0.26 on prevalence; the penalised fits fall to 0.08 and -0.04 on prevalence.</a:t>
            </a:r>
          </a:p>
        </p:txBody>
      </p:sp>
      <p:pic>
        <p:nvPicPr>
          <p:cNvPr id="4" name="Picture 1" descr="MN-proxy-full-talk-2026-09_files/figure-pptx/region-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Country transport</a:t>
            </a:r>
          </a:p>
        </p:txBody>
      </p:sp>
      <p:sp>
        <p:nvSpPr>
          <p:cNvPr id="3" name="Content Placeholder 2"/>
          <p:cNvSpPr>
            <a:spLocks noGrp="1"/>
          </p:cNvSpPr>
          <p:nvPr>
            <p:ph sz="half" idx="1"/>
          </p:nvPr>
        </p:nvSpPr>
        <p:spPr/>
        <p:txBody>
          <a:bodyPr/>
          <a:lstStyle/>
          <a:p>
            <a:pPr marL="0" lvl="0" indent="0">
              <a:buNone/>
            </a:pPr>
            <a:r>
              <a:rPr sz="1800"/>
              <a:t>Leave-one-country-out, 22 cells. The full index scores 0.31 at district level (positive in 18 of 22) and 0.28 at regional level; the climate-and-soil index scores 0.38 and 0.45. Dashed lines are the 95th percentile of the permutation null.</a:t>
            </a:r>
          </a:p>
        </p:txBody>
      </p:sp>
      <p:pic>
        <p:nvPicPr>
          <p:cNvPr id="4" name="Picture 1" descr="MN-proxy-full-talk-2026-09_files/figure-pptx/transport-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Geostatistical comparator</a:t>
            </a:r>
          </a:p>
        </p:txBody>
      </p:sp>
      <p:sp>
        <p:nvSpPr>
          <p:cNvPr id="3" name="Content Placeholder 2"/>
          <p:cNvSpPr>
            <a:spLocks noGrp="1"/>
          </p:cNvSpPr>
          <p:nvPr>
            <p:ph sz="half" idx="1"/>
          </p:nvPr>
        </p:nvSpPr>
        <p:spPr/>
        <p:txBody>
          <a:bodyPr/>
          <a:lstStyle/>
          <a:p>
            <a:pPr marL="0" lvl="0" indent="0">
              <a:buNone/>
            </a:pPr>
            <a:r>
              <a:rPr sz="1800"/>
              <a:t>The DHS Program’s model-based geostatistics fitted at the survey clusters (a spatial field plus covariates), scored on the same district folds. On the level it scores 0.27 against 0.38 for the index (index better in 20 of 24 cells); on prevalence 0.21 against 0.21.</a:t>
            </a:r>
          </a:p>
        </p:txBody>
      </p:sp>
      <p:pic>
        <p:nvPicPr>
          <p:cNvPr id="4" name="Picture 1" descr="MN-proxy-full-talk-2026-09_files/figure-pptx/geostat-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Targeting value</a:t>
            </a:r>
          </a:p>
        </p:txBody>
      </p:sp>
      <p:sp>
        <p:nvSpPr>
          <p:cNvPr id="3" name="Content Placeholder 2"/>
          <p:cNvSpPr>
            <a:spLocks noGrp="1"/>
          </p:cNvSpPr>
          <p:nvPr>
            <p:ph sz="half" idx="1"/>
          </p:nvPr>
        </p:nvSpPr>
        <p:spPr/>
        <p:txBody>
          <a:bodyPr/>
          <a:lstStyle/>
          <a:p>
            <a:pPr marL="0" lvl="0" indent="0">
              <a:buNone/>
            </a:pPr>
            <a:r>
              <a:rPr sz="1800"/>
              <a:t>Share of the national deficiency burden in the fifth of districts each method ranks worst, in-fill, mean over cells with a 95% interval. The index reaches 22%, the jackknifed regional mean 20%, no information 14% and perfect knowledge 48%.</a:t>
            </a:r>
          </a:p>
        </p:txBody>
      </p:sp>
      <p:pic>
        <p:nvPicPr>
          <p:cNvPr id="4" name="Picture 1" descr="MN-proxy-full-talk-2026-09_files/figure-pptx/burden-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Malawi: survey and held-out prediction</a:t>
            </a:r>
          </a:p>
        </p:txBody>
      </p:sp>
      <p:pic>
        <p:nvPicPr>
          <p:cNvPr id="3" name="Picture 1" descr="MN-proxy-full-talk-2026-09_files/figure-pptx/malawi-maps-1.png"/>
          <p:cNvPicPr>
            <a:picLocks noGrp="1" noChangeAspect="1"/>
          </p:cNvPicPr>
          <p:nvPr/>
        </p:nvPicPr>
        <p:blipFill>
          <a:blip r:embed="rId3"/>
          <a:stretch>
            <a:fillRect/>
          </a:stretch>
        </p:blipFill>
        <p:spPr bwMode="auto">
          <a:xfrm>
            <a:off x="1966602" y="1691640"/>
            <a:ext cx="8264892" cy="4206240"/>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What carries the signal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weights by outcome</a:t>
            </a:r>
          </a:p>
        </p:txBody>
      </p:sp>
      <p:pic>
        <p:nvPicPr>
          <p:cNvPr id="3" name="Picture 1" descr="../../results/figures/protocol_v2/index_importance_top10_level.png"/>
          <p:cNvPicPr>
            <a:picLocks noGrp="1" noChangeAspect="1"/>
          </p:cNvPicPr>
          <p:nvPr/>
        </p:nvPicPr>
        <p:blipFill>
          <a:blip r:embed="rId3"/>
          <a:stretch>
            <a:fillRect/>
          </a:stretch>
        </p:blipFill>
        <p:spPr bwMode="auto">
          <a:xfrm>
            <a:off x="2882873" y="1691640"/>
            <a:ext cx="6432349" cy="4206240"/>
          </a:xfrm>
          <a:prstGeom prst="rect">
            <a:avLst/>
          </a:prstGeom>
          <a:noFill/>
          <a:ln w="9525">
            <a:noFill/>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Malawi, women’s B12: the weights behind the best ranking</a:t>
            </a:r>
          </a:p>
        </p:txBody>
      </p:sp>
      <p:pic>
        <p:nvPicPr>
          <p:cNvPr id="3" name="Picture 1" descr="../../results/figures/policy_deck/fig12_vim_forest_Malawi_women_b12_plain.png"/>
          <p:cNvPicPr>
            <a:picLocks noGrp="1" noChangeAspect="1"/>
          </p:cNvPicPr>
          <p:nvPr/>
        </p:nvPicPr>
        <p:blipFill>
          <a:blip r:embed="rId3"/>
          <a:stretch>
            <a:fillRect/>
          </a:stretch>
        </p:blipFill>
        <p:spPr bwMode="auto">
          <a:xfrm>
            <a:off x="2686090" y="1691640"/>
            <a:ext cx="6825915" cy="420624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 surrogate marker: </a:t>
            </a:r>
            <a:r>
              <a:rPr dirty="0" err="1"/>
              <a:t>anaemia</a:t>
            </a:r>
            <a:r>
              <a:rPr dirty="0"/>
              <a:t>, fish and B12</a:t>
            </a:r>
          </a:p>
        </p:txBody>
      </p:sp>
      <p:pic>
        <p:nvPicPr>
          <p:cNvPr id="3" name="Picture 1" descr="MN-proxy-full-talk-2026-09_files/figure-pptx/b12-surrogate-1.png"/>
          <p:cNvPicPr>
            <a:picLocks noGrp="1" noChangeAspect="1"/>
          </p:cNvPicPr>
          <p:nvPr/>
        </p:nvPicPr>
        <p:blipFill>
          <a:blip r:embed="rId3"/>
          <a:stretch>
            <a:fillRect/>
          </a:stretch>
        </p:blipFill>
        <p:spPr bwMode="auto">
          <a:xfrm>
            <a:off x="2052694" y="1691640"/>
            <a:ext cx="8092707" cy="420624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Domain ablation under transport</a:t>
            </a:r>
          </a:p>
        </p:txBody>
      </p:sp>
      <p:sp>
        <p:nvSpPr>
          <p:cNvPr id="3" name="Content Placeholder 2"/>
          <p:cNvSpPr>
            <a:spLocks noGrp="1"/>
          </p:cNvSpPr>
          <p:nvPr>
            <p:ph sz="half" idx="1"/>
          </p:nvPr>
        </p:nvSpPr>
        <p:spPr/>
        <p:txBody>
          <a:bodyPr/>
          <a:lstStyle/>
          <a:p>
            <a:pPr marL="0" lvl="0" indent="0">
              <a:buNone/>
            </a:pPr>
            <a:r>
              <a:rPr sz="1800"/>
              <a:t>Loss in transported Spearman (biomarker level, 22 cells) when each domain is dropped and the components rebuilt, mean over cells with a 95% interval. The load-bearing domains are Climate and weather, Soil characteristics, Anaemia and haemoglobin; removing 5 of the 20 domains costs nothing or helps.</a:t>
            </a:r>
          </a:p>
        </p:txBody>
      </p:sp>
      <p:pic>
        <p:nvPicPr>
          <p:cNvPr id="4" name="Picture 1" descr="MN-proxy-full-talk-2026-09_files/figure-pptx/ablation-1.png"/>
          <p:cNvPicPr>
            <a:picLocks noGrp="1" noChangeAspect="1"/>
          </p:cNvPicPr>
          <p:nvPr/>
        </p:nvPicPr>
        <p:blipFill>
          <a:blip r:embed="rId3"/>
          <a:stretch>
            <a:fillRect/>
          </a:stretch>
        </p:blipFill>
        <p:spPr bwMode="auto">
          <a:xfrm>
            <a:off x="6515100" y="1816100"/>
            <a:ext cx="4495800" cy="43434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the transport models reach for</a:t>
            </a:r>
          </a:p>
        </p:txBody>
      </p:sp>
      <p:pic>
        <p:nvPicPr>
          <p:cNvPr id="3" name="Picture 2" descr="mountain-sun_blue.png"/>
          <p:cNvPicPr>
            <a:picLocks noChangeAspect="1"/>
          </p:cNvPicPr>
          <p:nvPr/>
        </p:nvPicPr>
        <p:blipFill>
          <a:blip r:embed="rId3"/>
          <a:stretch>
            <a:fillRect/>
          </a:stretch>
        </p:blipFill>
        <p:spPr>
          <a:xfrm>
            <a:off x="932688" y="1783080"/>
            <a:ext cx="640080" cy="512064"/>
          </a:xfrm>
          <a:prstGeom prst="rect">
            <a:avLst/>
          </a:prstGeom>
        </p:spPr>
      </p:pic>
      <p:sp>
        <p:nvSpPr>
          <p:cNvPr id="4" name="TextBox 3"/>
          <p:cNvSpPr txBox="1"/>
          <p:nvPr/>
        </p:nvSpPr>
        <p:spPr>
          <a:xfrm>
            <a:off x="1984248" y="1691640"/>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landscape gradient</a:t>
            </a:r>
          </a:p>
          <a:p>
            <a:pPr algn="l">
              <a:spcBef>
                <a:spcPts val="300"/>
              </a:spcBef>
            </a:pPr>
            <a:r>
              <a:rPr sz="1250" b="0">
                <a:solidFill>
                  <a:srgbClr val="333333"/>
                </a:solidFill>
                <a:latin typeface="Calibri"/>
              </a:rPr>
              <a:t>Grassland and cropland cover, the share of ruminants in the herd (top twenty in 14 of 22 held-out fits), cattle and sheep density, cereal-heavy cropping, low plant productivity: dry, grassy, pastoral, unproductive districts rank worse on every outcome.</a:t>
            </a:r>
          </a:p>
        </p:txBody>
      </p:sp>
      <p:pic>
        <p:nvPicPr>
          <p:cNvPr id="5" name="Picture 4" descr="child-reaching_blue.png"/>
          <p:cNvPicPr>
            <a:picLocks noChangeAspect="1"/>
          </p:cNvPicPr>
          <p:nvPr/>
        </p:nvPicPr>
        <p:blipFill>
          <a:blip r:embed="rId4"/>
          <a:stretch>
            <a:fillRect/>
          </a:stretch>
        </p:blipFill>
        <p:spPr>
          <a:xfrm>
            <a:off x="932688" y="2660904"/>
            <a:ext cx="384048" cy="512064"/>
          </a:xfrm>
          <a:prstGeom prst="rect">
            <a:avLst/>
          </a:prstGeom>
        </p:spPr>
      </p:pic>
      <p:sp>
        <p:nvSpPr>
          <p:cNvPr id="6" name="TextBox 5"/>
          <p:cNvSpPr txBox="1"/>
          <p:nvPr/>
        </p:nvSpPr>
        <p:spPr>
          <a:xfrm>
            <a:off x="1984248" y="2569464"/>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modelled child-growth and anaemia surfaces</a:t>
            </a:r>
          </a:p>
          <a:p>
            <a:pPr algn="l">
              <a:spcBef>
                <a:spcPts val="300"/>
              </a:spcBef>
            </a:pPr>
            <a:r>
              <a:rPr sz="1250" b="0">
                <a:solidFill>
                  <a:srgbClr val="333333"/>
                </a:solidFill>
                <a:latin typeface="Calibri"/>
              </a:rPr>
              <a:t>Wasting, underweight and anaemia point to worse status; overweight points the other way and behaves as a wealth proxy.</a:t>
            </a:r>
          </a:p>
        </p:txBody>
      </p:sp>
      <p:pic>
        <p:nvPicPr>
          <p:cNvPr id="7" name="Picture 6" descr="basket-shopping_blue.png"/>
          <p:cNvPicPr>
            <a:picLocks noChangeAspect="1"/>
          </p:cNvPicPr>
          <p:nvPr/>
        </p:nvPicPr>
        <p:blipFill>
          <a:blip r:embed="rId5"/>
          <a:stretch>
            <a:fillRect/>
          </a:stretch>
        </p:blipFill>
        <p:spPr>
          <a:xfrm>
            <a:off x="932688" y="3538728"/>
            <a:ext cx="576072" cy="512064"/>
          </a:xfrm>
          <a:prstGeom prst="rect">
            <a:avLst/>
          </a:prstGeom>
        </p:spPr>
      </p:pic>
      <p:sp>
        <p:nvSpPr>
          <p:cNvPr id="8" name="TextBox 7"/>
          <p:cNvSpPr txBox="1"/>
          <p:nvPr/>
        </p:nvSpPr>
        <p:spPr>
          <a:xfrm>
            <a:off x="1984248" y="3447288"/>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food economy</a:t>
            </a:r>
          </a:p>
          <a:p>
            <a:pPr algn="l">
              <a:spcBef>
                <a:spcPts val="300"/>
              </a:spcBef>
            </a:pPr>
            <a:r>
              <a:rPr sz="1250" b="0">
                <a:solidFill>
                  <a:srgbClr val="333333"/>
                </a:solidFill>
                <a:latin typeface="Calibri"/>
              </a:rPr>
              <a:t>The local staple price relative to the national level appears in 13 fits across 5 outcomes.</a:t>
            </a:r>
          </a:p>
        </p:txBody>
      </p:sp>
      <p:pic>
        <p:nvPicPr>
          <p:cNvPr id="9" name="Picture 8" descr="road_blue.png"/>
          <p:cNvPicPr>
            <a:picLocks noChangeAspect="1"/>
          </p:cNvPicPr>
          <p:nvPr/>
        </p:nvPicPr>
        <p:blipFill>
          <a:blip r:embed="rId6"/>
          <a:stretch>
            <a:fillRect/>
          </a:stretch>
        </p:blipFill>
        <p:spPr>
          <a:xfrm>
            <a:off x="932688" y="4416552"/>
            <a:ext cx="576072" cy="512064"/>
          </a:xfrm>
          <a:prstGeom prst="rect">
            <a:avLst/>
          </a:prstGeom>
        </p:spPr>
      </p:pic>
      <p:sp>
        <p:nvSpPr>
          <p:cNvPr id="10" name="TextBox 9"/>
          <p:cNvSpPr txBox="1"/>
          <p:nvPr/>
        </p:nvSpPr>
        <p:spPr>
          <a:xfrm>
            <a:off x="1984248" y="4325112"/>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Remoteness and demography</a:t>
            </a:r>
          </a:p>
          <a:p>
            <a:pPr algn="l">
              <a:spcBef>
                <a:spcPts val="300"/>
              </a:spcBef>
            </a:pPr>
            <a:r>
              <a:rPr sz="1250" b="0">
                <a:solidFill>
                  <a:srgbClr val="333333"/>
                </a:solidFill>
                <a:latin typeface="Calibri"/>
              </a:rPr>
              <a:t>Distance to the coast and the dependency ratio, in about a third of the fits.</a:t>
            </a:r>
          </a:p>
        </p:txBody>
      </p:sp>
      <p:pic>
        <p:nvPicPr>
          <p:cNvPr id="11" name="Picture 10" descr="mosquito_blue.png"/>
          <p:cNvPicPr>
            <a:picLocks noChangeAspect="1"/>
          </p:cNvPicPr>
          <p:nvPr/>
        </p:nvPicPr>
        <p:blipFill>
          <a:blip r:embed="rId7"/>
          <a:stretch>
            <a:fillRect/>
          </a:stretch>
        </p:blipFill>
        <p:spPr>
          <a:xfrm>
            <a:off x="932688" y="5294376"/>
            <a:ext cx="640080" cy="512064"/>
          </a:xfrm>
          <a:prstGeom prst="rect">
            <a:avLst/>
          </a:prstGeom>
        </p:spPr>
      </p:pic>
      <p:sp>
        <p:nvSpPr>
          <p:cNvPr id="12" name="TextBox 11"/>
          <p:cNvSpPr txBox="1"/>
          <p:nvPr/>
        </p:nvSpPr>
        <p:spPr>
          <a:xfrm>
            <a:off x="1984248" y="5202936"/>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Malaria intensity, with an unexpected sign</a:t>
            </a:r>
          </a:p>
          <a:p>
            <a:pPr algn="l">
              <a:spcBef>
                <a:spcPts val="300"/>
              </a:spcBef>
            </a:pPr>
            <a:r>
              <a:rPr sz="1250" b="0">
                <a:solidFill>
                  <a:srgbClr val="333333"/>
                </a:solidFill>
                <a:latin typeface="Calibri"/>
              </a:rPr>
              <a:t>High-malaria zones are the wetter, more productive ones. Single household-survey items rarely recur.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Replicated indicators</a:t>
            </a:r>
          </a:p>
        </p:txBody>
      </p:sp>
      <p:sp>
        <p:nvSpPr>
          <p:cNvPr id="3" name="Content Placeholder 2"/>
          <p:cNvSpPr>
            <a:spLocks noGrp="1"/>
          </p:cNvSpPr>
          <p:nvPr>
            <p:ph sz="half" idx="1"/>
          </p:nvPr>
        </p:nvSpPr>
        <p:spPr/>
        <p:txBody>
          <a:bodyPr/>
          <a:lstStyle/>
          <a:p>
            <a:pPr marL="0" lvl="0" indent="0">
              <a:buNone/>
            </a:pPr>
            <a:r>
              <a:rPr sz="1800"/>
              <a:t>Indicators whose district-level association with the outcome has the same sign in every country with the outcome, ranked by pooled meta-analytic z. Positive z means more deficiency.</a:t>
            </a:r>
          </a:p>
        </p:txBody>
      </p:sp>
      <p:pic>
        <p:nvPicPr>
          <p:cNvPr id="4" name="Picture 1" descr="MN-proxy-full-talk-2026-09_files/figure-pptx/signal-1.png"/>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Limits and survey design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Reliability ceiling</a:t>
            </a:r>
          </a:p>
        </p:txBody>
      </p:sp>
      <p:sp>
        <p:nvSpPr>
          <p:cNvPr id="3" name="Content Placeholder 2"/>
          <p:cNvSpPr>
            <a:spLocks noGrp="1"/>
          </p:cNvSpPr>
          <p:nvPr>
            <p:ph sz="half" idx="1"/>
          </p:nvPr>
        </p:nvSpPr>
        <p:spPr/>
        <p:txBody>
          <a:bodyPr/>
          <a:lstStyle/>
          <a:p>
            <a:pPr marL="0" lvl="0" indent="0">
              <a:buNone/>
            </a:pPr>
            <a:r>
              <a:rPr sz="1800"/>
              <a:t>The correlation a perfect predictor of the true district prevalence could reach, given the survey’s sampling noise, by country. The honest ceiling averages 0.48 against a split-half ceiling of 0.54; the index reaches its ceiling in 0 of 21 cells.</a:t>
            </a:r>
          </a:p>
        </p:txBody>
      </p:sp>
      <p:pic>
        <p:nvPicPr>
          <p:cNvPr id="4" name="Picture 1" descr="MN-proxy-full-talk-2026-09_files/figure-pptx/ceiling-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Survey design: district error</a:t>
            </a:r>
          </a:p>
        </p:txBody>
      </p:sp>
      <p:sp>
        <p:nvSpPr>
          <p:cNvPr id="3" name="Content Placeholder 2"/>
          <p:cNvSpPr>
            <a:spLocks noGrp="1"/>
          </p:cNvSpPr>
          <p:nvPr>
            <p:ph sz="half" idx="1"/>
          </p:nvPr>
        </p:nvSpPr>
        <p:spPr/>
        <p:txBody>
          <a:bodyPr/>
          <a:lstStyle/>
          <a:p>
            <a:pPr marL="0" lvl="0" indent="0">
              <a:buNone/>
            </a:pPr>
            <a:r>
              <a:rPr sz="1800"/>
              <a:t>Median district error in percentage points against the share of a full survey sampled, four designs, 22 cells. At 5% of the sample a national anchor plus the transported ranking gives 9.3 points, a regional survey 11.7 and a district survey 17.3.</a:t>
            </a:r>
          </a:p>
        </p:txBody>
      </p:sp>
      <p:pic>
        <p:nvPicPr>
          <p:cNvPr id="4" name="Picture 1" descr="MN-proxy-full-talk-2026-09_files/figure-pptx/anchor-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Transport by number of training countries</a:t>
            </a:r>
          </a:p>
        </p:txBody>
      </p:sp>
      <p:sp>
        <p:nvSpPr>
          <p:cNvPr id="3" name="Content Placeholder 2"/>
          <p:cNvSpPr>
            <a:spLocks noGrp="1"/>
          </p:cNvSpPr>
          <p:nvPr>
            <p:ph sz="half" idx="1"/>
          </p:nvPr>
        </p:nvSpPr>
        <p:spPr/>
        <p:txBody>
          <a:bodyPr/>
          <a:lstStyle/>
          <a:p>
            <a:pPr marL="0" lvl="0" indent="0">
              <a:buNone/>
            </a:pPr>
            <a:r>
              <a:rPr sz="1800"/>
              <a:t>Every subset of training countries scored on each held-out country. The full vocabulary gains about 0.05 per added training country on the level; the climate-and-soil index starts higher and is positive in 95% of single-country fits.</a:t>
            </a:r>
          </a:p>
        </p:txBody>
      </p:sp>
      <p:pic>
        <p:nvPicPr>
          <p:cNvPr id="4" name="Picture 1" descr="MN-proxy-full-talk-2026-09_files/figure-pptx/curve-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Can the model direct and shrink surveys?</a:t>
            </a:r>
          </a:p>
        </p:txBody>
      </p:sp>
      <p:sp>
        <p:nvSpPr>
          <p:cNvPr id="3" name="Rounded Rectangle 2"/>
          <p:cNvSpPr/>
          <p:nvPr/>
        </p:nvSpPr>
        <p:spPr>
          <a:xfrm>
            <a:off x="841248" y="1691640"/>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heck_green.png"/>
          <p:cNvPicPr>
            <a:picLocks noChangeAspect="1"/>
          </p:cNvPicPr>
          <p:nvPr/>
        </p:nvPicPr>
        <p:blipFill>
          <a:blip r:embed="rId3"/>
          <a:stretch>
            <a:fillRect/>
          </a:stretch>
        </p:blipFill>
        <p:spPr>
          <a:xfrm>
            <a:off x="1069848" y="1900123"/>
            <a:ext cx="320040" cy="365760"/>
          </a:xfrm>
          <a:prstGeom prst="rect">
            <a:avLst/>
          </a:prstGeom>
        </p:spPr>
      </p:pic>
      <p:sp>
        <p:nvSpPr>
          <p:cNvPr id="5" name="TextBox 4"/>
          <p:cNvSpPr txBox="1"/>
          <p:nvPr/>
        </p:nvSpPr>
        <p:spPr>
          <a:xfrm>
            <a:off x="1618488" y="1691640"/>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ranking now, from public data alone</a:t>
            </a:r>
          </a:p>
        </p:txBody>
      </p:sp>
      <p:sp>
        <p:nvSpPr>
          <p:cNvPr id="6" name="TextBox 5"/>
          <p:cNvSpPr txBox="1"/>
          <p:nvPr/>
        </p:nvSpPr>
        <p:spPr>
          <a:xfrm>
            <a:off x="6784848" y="1691640"/>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Transported Spearman 0.31 at district level (0.38 from climate and soil); a ranking, not a prevalence.</a:t>
            </a:r>
          </a:p>
        </p:txBody>
      </p:sp>
      <p:sp>
        <p:nvSpPr>
          <p:cNvPr id="7" name="Rounded Rectangle 6"/>
          <p:cNvSpPr/>
          <p:nvPr/>
        </p:nvSpPr>
        <p:spPr>
          <a:xfrm>
            <a:off x="841248" y="2547518"/>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3"/>
          <a:stretch>
            <a:fillRect/>
          </a:stretch>
        </p:blipFill>
        <p:spPr>
          <a:xfrm>
            <a:off x="1069848" y="2756001"/>
            <a:ext cx="320040" cy="365760"/>
          </a:xfrm>
          <a:prstGeom prst="rect">
            <a:avLst/>
          </a:prstGeom>
        </p:spPr>
      </p:pic>
      <p:sp>
        <p:nvSpPr>
          <p:cNvPr id="9" name="TextBox 8"/>
          <p:cNvSpPr txBox="1"/>
          <p:nvPr/>
        </p:nvSpPr>
        <p:spPr>
          <a:xfrm>
            <a:off x="1618488" y="2547518"/>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national anchor puts a level on it</a:t>
            </a:r>
          </a:p>
        </p:txBody>
      </p:sp>
      <p:sp>
        <p:nvSpPr>
          <p:cNvPr id="10" name="TextBox 9"/>
          <p:cNvSpPr txBox="1"/>
          <p:nvPr/>
        </p:nvSpPr>
        <p:spPr>
          <a:xfrm>
            <a:off x="6784848" y="2547518"/>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A 5% national sample plus the ranking: median district error 9.3 points.</a:t>
            </a:r>
          </a:p>
        </p:txBody>
      </p:sp>
      <p:sp>
        <p:nvSpPr>
          <p:cNvPr id="11" name="Rounded Rectangle 10"/>
          <p:cNvSpPr/>
          <p:nvPr/>
        </p:nvSpPr>
        <p:spPr>
          <a:xfrm>
            <a:off x="841248" y="3403396"/>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3"/>
          <a:stretch>
            <a:fillRect/>
          </a:stretch>
        </p:blipFill>
        <p:spPr>
          <a:xfrm>
            <a:off x="1069848" y="3611880"/>
            <a:ext cx="320040" cy="365760"/>
          </a:xfrm>
          <a:prstGeom prst="rect">
            <a:avLst/>
          </a:prstGeom>
        </p:spPr>
      </p:pic>
      <p:sp>
        <p:nvSpPr>
          <p:cNvPr id="13" name="TextBox 12"/>
          <p:cNvSpPr txBox="1"/>
          <p:nvPr/>
        </p:nvSpPr>
        <p:spPr>
          <a:xfrm>
            <a:off x="1618488" y="3403396"/>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district survey matches that only at 25% of the full sample</a:t>
            </a:r>
          </a:p>
        </p:txBody>
      </p:sp>
      <p:sp>
        <p:nvSpPr>
          <p:cNvPr id="14" name="TextBox 13"/>
          <p:cNvSpPr txBox="1"/>
          <p:nvPr/>
        </p:nvSpPr>
        <p:spPr>
          <a:xfrm>
            <a:off x="6784848" y="3403396"/>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On level error; a district survey of any size still captures more burden in its worst fifth.</a:t>
            </a:r>
          </a:p>
        </p:txBody>
      </p:sp>
      <p:sp>
        <p:nvSpPr>
          <p:cNvPr id="15" name="Rounded Rectangle 14"/>
          <p:cNvSpPr/>
          <p:nvPr/>
        </p:nvSpPr>
        <p:spPr>
          <a:xfrm>
            <a:off x="841248" y="4259275"/>
            <a:ext cx="10515600" cy="782726"/>
          </a:xfrm>
          <a:prstGeom prst="roundRect">
            <a:avLst>
              <a:gd name="adj" fmla="val 9345"/>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triangle-exclamation_amber.png"/>
          <p:cNvPicPr>
            <a:picLocks noChangeAspect="1"/>
          </p:cNvPicPr>
          <p:nvPr/>
        </p:nvPicPr>
        <p:blipFill>
          <a:blip r:embed="rId4"/>
          <a:stretch>
            <a:fillRect/>
          </a:stretch>
        </p:blipFill>
        <p:spPr>
          <a:xfrm>
            <a:off x="1069848" y="4467758"/>
            <a:ext cx="365760" cy="365760"/>
          </a:xfrm>
          <a:prstGeom prst="rect">
            <a:avLst/>
          </a:prstGeom>
        </p:spPr>
      </p:pic>
      <p:sp>
        <p:nvSpPr>
          <p:cNvPr id="17" name="TextBox 16"/>
          <p:cNvSpPr txBox="1"/>
          <p:nvPr/>
        </p:nvSpPr>
        <p:spPr>
          <a:xfrm>
            <a:off x="1618488" y="4259275"/>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Direct where the clusters go</a:t>
            </a:r>
          </a:p>
        </p:txBody>
      </p:sp>
      <p:sp>
        <p:nvSpPr>
          <p:cNvPr id="18" name="TextBox 17"/>
          <p:cNvSpPr txBox="1"/>
          <p:nvPr/>
        </p:nvSpPr>
        <p:spPr>
          <a:xfrm>
            <a:off x="6784848" y="4259275"/>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Model-assisted allocation: oversample the districts the ranking puts at the top and bottom. Designed, not piloted.</a:t>
            </a:r>
          </a:p>
        </p:txBody>
      </p:sp>
      <p:sp>
        <p:nvSpPr>
          <p:cNvPr id="19" name="Rounded Rectangle 18"/>
          <p:cNvSpPr/>
          <p:nvPr/>
        </p:nvSpPr>
        <p:spPr>
          <a:xfrm>
            <a:off x="841248" y="5115153"/>
            <a:ext cx="10515600" cy="782726"/>
          </a:xfrm>
          <a:prstGeom prst="roundRect">
            <a:avLst>
              <a:gd name="adj" fmla="val 9345"/>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xmark_grey.png"/>
          <p:cNvPicPr>
            <a:picLocks noChangeAspect="1"/>
          </p:cNvPicPr>
          <p:nvPr/>
        </p:nvPicPr>
        <p:blipFill>
          <a:blip r:embed="rId5"/>
          <a:stretch>
            <a:fillRect/>
          </a:stretch>
        </p:blipFill>
        <p:spPr>
          <a:xfrm>
            <a:off x="1069848" y="5323636"/>
            <a:ext cx="274320" cy="365760"/>
          </a:xfrm>
          <a:prstGeom prst="rect">
            <a:avLst/>
          </a:prstGeom>
        </p:spPr>
      </p:pic>
      <p:sp>
        <p:nvSpPr>
          <p:cNvPr id="21" name="TextBox 20"/>
          <p:cNvSpPr txBox="1"/>
          <p:nvPr/>
        </p:nvSpPr>
        <p:spPr>
          <a:xfrm>
            <a:off x="1618488" y="5115153"/>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Replace the biomarker survey</a:t>
            </a:r>
          </a:p>
        </p:txBody>
      </p:sp>
      <p:sp>
        <p:nvSpPr>
          <p:cNvPr id="22" name="TextBox 21"/>
          <p:cNvSpPr txBox="1"/>
          <p:nvPr/>
        </p:nvSpPr>
        <p:spPr>
          <a:xfrm>
            <a:off x="6784848" y="5115153"/>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ceiling is the survey's own; the offer is a survey designed with the ranking, not instead of it.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dashboard</a:t>
            </a:r>
          </a:p>
        </p:txBody>
      </p:sp>
      <p:pic>
        <p:nvPicPr>
          <p:cNvPr id="3" name="Picture 2" descr="link_blue.png"/>
          <p:cNvPicPr>
            <a:picLocks noChangeAspect="1"/>
          </p:cNvPicPr>
          <p:nvPr/>
        </p:nvPicPr>
        <p:blipFill>
          <a:blip r:embed="rId3"/>
          <a:stretch>
            <a:fillRect/>
          </a:stretch>
        </p:blipFill>
        <p:spPr>
          <a:xfrm>
            <a:off x="932688" y="1783080"/>
            <a:ext cx="914400" cy="731520"/>
          </a:xfrm>
          <a:prstGeom prst="rect">
            <a:avLst/>
          </a:prstGeom>
        </p:spPr>
      </p:pic>
      <p:sp>
        <p:nvSpPr>
          <p:cNvPr id="4" name="TextBox 3"/>
          <p:cNvSpPr txBox="1"/>
          <p:nvPr/>
        </p:nvSpPr>
        <p:spPr>
          <a:xfrm>
            <a:off x="1984248" y="169164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amertens.shinyapps.io/micronutrient-burden</a:t>
            </a:r>
          </a:p>
          <a:p>
            <a:pPr algn="l">
              <a:spcBef>
                <a:spcPts val="300"/>
              </a:spcBef>
            </a:pPr>
            <a:r>
              <a:rPr sz="1150" b="0">
                <a:solidFill>
                  <a:srgbClr val="333333"/>
                </a:solidFill>
                <a:latin typeface="Calibri"/>
              </a:rPr>
              <a:t>Every number in this talk, for every district; one estimator behind every tab.</a:t>
            </a:r>
          </a:p>
        </p:txBody>
      </p:sp>
      <p:pic>
        <p:nvPicPr>
          <p:cNvPr id="5" name="Picture 4" descr="map-location-dot_blue.png"/>
          <p:cNvPicPr>
            <a:picLocks noChangeAspect="1"/>
          </p:cNvPicPr>
          <p:nvPr/>
        </p:nvPicPr>
        <p:blipFill>
          <a:blip r:embed="rId4"/>
          <a:stretch>
            <a:fillRect/>
          </a:stretch>
        </p:blipFill>
        <p:spPr>
          <a:xfrm>
            <a:off x="932688" y="2880360"/>
            <a:ext cx="822960" cy="731520"/>
          </a:xfrm>
          <a:prstGeom prst="rect">
            <a:avLst/>
          </a:prstGeom>
        </p:spPr>
      </p:pic>
      <p:sp>
        <p:nvSpPr>
          <p:cNvPr id="6" name="TextBox 5"/>
          <p:cNvSpPr txBox="1"/>
          <p:nvPr/>
        </p:nvSpPr>
        <p:spPr>
          <a:xfrm>
            <a:off x="1984248" y="278892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Where is deficiency?</a:t>
            </a:r>
          </a:p>
          <a:p>
            <a:pPr algn="l">
              <a:spcBef>
                <a:spcPts val="300"/>
              </a:spcBef>
            </a:pPr>
            <a:r>
              <a:rPr sz="1150" b="0">
                <a:solidFill>
                  <a:srgbClr val="333333"/>
                </a:solidFill>
                <a:latin typeface="Calibri"/>
              </a:rPr>
              <a:t>A priority score for every district, how sure the model is, a planning prevalence; click a district for what drives it.</a:t>
            </a:r>
          </a:p>
        </p:txBody>
      </p:sp>
      <p:pic>
        <p:nvPicPr>
          <p:cNvPr id="7" name="Picture 6" descr="magnifying-glass-chart_blue.png"/>
          <p:cNvPicPr>
            <a:picLocks noChangeAspect="1"/>
          </p:cNvPicPr>
          <p:nvPr/>
        </p:nvPicPr>
        <p:blipFill>
          <a:blip r:embed="rId5"/>
          <a:stretch>
            <a:fillRect/>
          </a:stretch>
        </p:blipFill>
        <p:spPr>
          <a:xfrm>
            <a:off x="932688" y="3977640"/>
            <a:ext cx="731520" cy="731520"/>
          </a:xfrm>
          <a:prstGeom prst="rect">
            <a:avLst/>
          </a:prstGeom>
        </p:spPr>
      </p:pic>
      <p:sp>
        <p:nvSpPr>
          <p:cNvPr id="8" name="TextBox 7"/>
          <p:cNvSpPr txBox="1"/>
          <p:nvPr/>
        </p:nvSpPr>
        <p:spPr>
          <a:xfrm>
            <a:off x="1984248" y="388620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What drives it? Can we trust it?</a:t>
            </a:r>
          </a:p>
          <a:p>
            <a:pPr algn="l">
              <a:spcBef>
                <a:spcPts val="300"/>
              </a:spcBef>
            </a:pPr>
            <a:r>
              <a:rPr sz="1150" b="0">
                <a:solidFill>
                  <a:srgbClr val="333333"/>
                </a:solidFill>
                <a:latin typeface="Calibri"/>
              </a:rPr>
              <a:t>Leading predictors, what travels across borders, the catalogue of 575 predictors; the three tests and the ceiling.</a:t>
            </a:r>
          </a:p>
        </p:txBody>
      </p:sp>
      <p:pic>
        <p:nvPicPr>
          <p:cNvPr id="9" name="Picture 8" descr="clipboard-check_blue.png"/>
          <p:cNvPicPr>
            <a:picLocks noChangeAspect="1"/>
          </p:cNvPicPr>
          <p:nvPr/>
        </p:nvPicPr>
        <p:blipFill>
          <a:blip r:embed="rId6"/>
          <a:stretch>
            <a:fillRect/>
          </a:stretch>
        </p:blipFill>
        <p:spPr>
          <a:xfrm>
            <a:off x="932688" y="5074920"/>
            <a:ext cx="548640" cy="731520"/>
          </a:xfrm>
          <a:prstGeom prst="rect">
            <a:avLst/>
          </a:prstGeom>
        </p:spPr>
      </p:pic>
      <p:sp>
        <p:nvSpPr>
          <p:cNvPr id="10" name="TextBox 9"/>
          <p:cNvSpPr txBox="1"/>
          <p:nvPr/>
        </p:nvSpPr>
        <p:spPr>
          <a:xfrm>
            <a:off x="1984248" y="498348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Plan a survey</a:t>
            </a:r>
          </a:p>
          <a:p>
            <a:pPr algn="l">
              <a:spcBef>
                <a:spcPts val="300"/>
              </a:spcBef>
            </a:pPr>
            <a:r>
              <a:rPr sz="1150" b="0">
                <a:solidFill>
                  <a:srgbClr val="333333"/>
                </a:solidFill>
                <a:latin typeface="Calibri"/>
              </a:rPr>
              <a:t>The anchor-and-rank design; a printable brief per country.</a:t>
            </a:r>
          </a:p>
        </p:txBody>
      </p:sp>
      <p:pic>
        <p:nvPicPr>
          <p:cNvPr id="11" name="Picture 10" descr="dashboard_map.png"/>
          <p:cNvPicPr>
            <a:picLocks noChangeAspect="1"/>
          </p:cNvPicPr>
          <p:nvPr/>
        </p:nvPicPr>
        <p:blipFill>
          <a:blip r:embed="rId7"/>
          <a:stretch>
            <a:fillRect/>
          </a:stretch>
        </p:blipFill>
        <p:spPr>
          <a:xfrm>
            <a:off x="5870448" y="1783080"/>
            <a:ext cx="5486400" cy="30861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Closing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the models can and cannot do yet</a:t>
            </a:r>
          </a:p>
        </p:txBody>
      </p:sp>
      <p:sp>
        <p:nvSpPr>
          <p:cNvPr id="3" name="Rounded Rectangle 2"/>
          <p:cNvSpPr/>
          <p:nvPr/>
        </p:nvSpPr>
        <p:spPr>
          <a:xfrm>
            <a:off x="841248" y="1691640"/>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heck_green.png"/>
          <p:cNvPicPr>
            <a:picLocks noChangeAspect="1"/>
          </p:cNvPicPr>
          <p:nvPr/>
        </p:nvPicPr>
        <p:blipFill>
          <a:blip r:embed="rId3"/>
          <a:stretch>
            <a:fillRect/>
          </a:stretch>
        </p:blipFill>
        <p:spPr>
          <a:xfrm>
            <a:off x="1069848" y="1777854"/>
            <a:ext cx="320040" cy="365760"/>
          </a:xfrm>
          <a:prstGeom prst="rect">
            <a:avLst/>
          </a:prstGeom>
        </p:spPr>
      </p:pic>
      <p:sp>
        <p:nvSpPr>
          <p:cNvPr id="5" name="TextBox 4"/>
          <p:cNvSpPr txBox="1"/>
          <p:nvPr/>
        </p:nvSpPr>
        <p:spPr>
          <a:xfrm>
            <a:off x="1618488" y="1691640"/>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surveyed country?</a:t>
            </a:r>
          </a:p>
        </p:txBody>
      </p:sp>
      <p:sp>
        <p:nvSpPr>
          <p:cNvPr id="6" name="TextBox 5"/>
          <p:cNvSpPr txBox="1"/>
          <p:nvPr/>
        </p:nvSpPr>
        <p:spPr>
          <a:xfrm>
            <a:off x="6784848" y="1691640"/>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Yes: 0.40, null 0.08.</a:t>
            </a:r>
          </a:p>
        </p:txBody>
      </p:sp>
      <p:sp>
        <p:nvSpPr>
          <p:cNvPr id="7" name="Rounded Rectangle 6"/>
          <p:cNvSpPr/>
          <p:nvPr/>
        </p:nvSpPr>
        <p:spPr>
          <a:xfrm>
            <a:off x="841248" y="2302981"/>
            <a:ext cx="10515600" cy="538189"/>
          </a:xfrm>
          <a:prstGeom prst="roundRect">
            <a:avLst>
              <a:gd name="adj" fmla="val 13592"/>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angle-exclamation_amber.png"/>
          <p:cNvPicPr>
            <a:picLocks noChangeAspect="1"/>
          </p:cNvPicPr>
          <p:nvPr/>
        </p:nvPicPr>
        <p:blipFill>
          <a:blip r:embed="rId4"/>
          <a:stretch>
            <a:fillRect/>
          </a:stretch>
        </p:blipFill>
        <p:spPr>
          <a:xfrm>
            <a:off x="1069848" y="2389196"/>
            <a:ext cx="365760" cy="365760"/>
          </a:xfrm>
          <a:prstGeom prst="rect">
            <a:avLst/>
          </a:prstGeom>
        </p:spPr>
      </p:pic>
      <p:sp>
        <p:nvSpPr>
          <p:cNvPr id="9" name="TextBox 8"/>
          <p:cNvSpPr txBox="1"/>
          <p:nvPr/>
        </p:nvSpPr>
        <p:spPr>
          <a:xfrm>
            <a:off x="1618488" y="2302981"/>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new country?</a:t>
            </a:r>
          </a:p>
        </p:txBody>
      </p:sp>
      <p:sp>
        <p:nvSpPr>
          <p:cNvPr id="10" name="TextBox 9"/>
          <p:cNvSpPr txBox="1"/>
          <p:nvPr/>
        </p:nvSpPr>
        <p:spPr>
          <a:xfrm>
            <a:off x="6784848" y="2302981"/>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Yes, less well: 0.31 against 0.08.</a:t>
            </a:r>
          </a:p>
        </p:txBody>
      </p:sp>
      <p:sp>
        <p:nvSpPr>
          <p:cNvPr id="11" name="Rounded Rectangle 10"/>
          <p:cNvSpPr/>
          <p:nvPr/>
        </p:nvSpPr>
        <p:spPr>
          <a:xfrm>
            <a:off x="841248" y="2914323"/>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3"/>
          <a:stretch>
            <a:fillRect/>
          </a:stretch>
        </p:blipFill>
        <p:spPr>
          <a:xfrm>
            <a:off x="1069848" y="3000538"/>
            <a:ext cx="320040" cy="365760"/>
          </a:xfrm>
          <a:prstGeom prst="rect">
            <a:avLst/>
          </a:prstGeom>
        </p:spPr>
      </p:pic>
      <p:sp>
        <p:nvSpPr>
          <p:cNvPr id="13" name="TextBox 12"/>
          <p:cNvSpPr txBox="1"/>
          <p:nvPr/>
        </p:nvSpPr>
        <p:spPr>
          <a:xfrm>
            <a:off x="1618488" y="2914323"/>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Which predictors carry the signal?</a:t>
            </a:r>
          </a:p>
        </p:txBody>
      </p:sp>
      <p:sp>
        <p:nvSpPr>
          <p:cNvPr id="14" name="TextBox 13"/>
          <p:cNvSpPr txBox="1"/>
          <p:nvPr/>
        </p:nvSpPr>
        <p:spPr>
          <a:xfrm>
            <a:off x="6784848" y="2914323"/>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Satellite, climate and soil.</a:t>
            </a:r>
          </a:p>
        </p:txBody>
      </p:sp>
      <p:sp>
        <p:nvSpPr>
          <p:cNvPr id="15" name="Rounded Rectangle 14"/>
          <p:cNvSpPr/>
          <p:nvPr/>
        </p:nvSpPr>
        <p:spPr>
          <a:xfrm>
            <a:off x="841248" y="3525665"/>
            <a:ext cx="10515600" cy="538189"/>
          </a:xfrm>
          <a:prstGeom prst="roundRect">
            <a:avLst>
              <a:gd name="adj" fmla="val 13592"/>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xmark_grey.png"/>
          <p:cNvPicPr>
            <a:picLocks noChangeAspect="1"/>
          </p:cNvPicPr>
          <p:nvPr/>
        </p:nvPicPr>
        <p:blipFill>
          <a:blip r:embed="rId5"/>
          <a:stretch>
            <a:fillRect/>
          </a:stretch>
        </p:blipFill>
        <p:spPr>
          <a:xfrm>
            <a:off x="1069848" y="3611880"/>
            <a:ext cx="274320" cy="365760"/>
          </a:xfrm>
          <a:prstGeom prst="rect">
            <a:avLst/>
          </a:prstGeom>
        </p:spPr>
      </p:pic>
      <p:sp>
        <p:nvSpPr>
          <p:cNvPr id="17" name="TextBox 16"/>
          <p:cNvSpPr txBox="1"/>
          <p:nvPr/>
        </p:nvSpPr>
        <p:spPr>
          <a:xfrm>
            <a:off x="1618488" y="3525665"/>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Prevalence in a new country from the model alone?</a:t>
            </a:r>
          </a:p>
        </p:txBody>
      </p:sp>
      <p:sp>
        <p:nvSpPr>
          <p:cNvPr id="18" name="TextBox 17"/>
          <p:cNvSpPr txBox="1"/>
          <p:nvPr/>
        </p:nvSpPr>
        <p:spPr>
          <a:xfrm>
            <a:off x="6784848" y="3525665"/>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Not yet.</a:t>
            </a:r>
          </a:p>
        </p:txBody>
      </p:sp>
      <p:sp>
        <p:nvSpPr>
          <p:cNvPr id="19" name="Rounded Rectangle 18"/>
          <p:cNvSpPr/>
          <p:nvPr/>
        </p:nvSpPr>
        <p:spPr>
          <a:xfrm>
            <a:off x="841248" y="4137006"/>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heck_green.png"/>
          <p:cNvPicPr>
            <a:picLocks noChangeAspect="1"/>
          </p:cNvPicPr>
          <p:nvPr/>
        </p:nvPicPr>
        <p:blipFill>
          <a:blip r:embed="rId3"/>
          <a:stretch>
            <a:fillRect/>
          </a:stretch>
        </p:blipFill>
        <p:spPr>
          <a:xfrm>
            <a:off x="1069848" y="4223221"/>
            <a:ext cx="320040" cy="365760"/>
          </a:xfrm>
          <a:prstGeom prst="rect">
            <a:avLst/>
          </a:prstGeom>
        </p:spPr>
      </p:pic>
      <p:sp>
        <p:nvSpPr>
          <p:cNvPr id="21" name="TextBox 20"/>
          <p:cNvSpPr txBox="1"/>
          <p:nvPr/>
        </p:nvSpPr>
        <p:spPr>
          <a:xfrm>
            <a:off x="1618488" y="4137006"/>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Prevalence with one national anchor?</a:t>
            </a:r>
          </a:p>
        </p:txBody>
      </p:sp>
      <p:sp>
        <p:nvSpPr>
          <p:cNvPr id="22" name="TextBox 21"/>
          <p:cNvSpPr txBox="1"/>
          <p:nvPr/>
        </p:nvSpPr>
        <p:spPr>
          <a:xfrm>
            <a:off x="6784848" y="4137006"/>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Yes: 9.3 points at a 5% sample.</a:t>
            </a:r>
          </a:p>
        </p:txBody>
      </p:sp>
      <p:sp>
        <p:nvSpPr>
          <p:cNvPr id="23" name="Rounded Rectangle 22"/>
          <p:cNvSpPr/>
          <p:nvPr/>
        </p:nvSpPr>
        <p:spPr>
          <a:xfrm>
            <a:off x="841248" y="4748348"/>
            <a:ext cx="10515600" cy="538189"/>
          </a:xfrm>
          <a:prstGeom prst="roundRect">
            <a:avLst>
              <a:gd name="adj" fmla="val 13592"/>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xmark_grey.png"/>
          <p:cNvPicPr>
            <a:picLocks noChangeAspect="1"/>
          </p:cNvPicPr>
          <p:nvPr/>
        </p:nvPicPr>
        <p:blipFill>
          <a:blip r:embed="rId5"/>
          <a:stretch>
            <a:fillRect/>
          </a:stretch>
        </p:blipFill>
        <p:spPr>
          <a:xfrm>
            <a:off x="1069848" y="4834563"/>
            <a:ext cx="274320" cy="365760"/>
          </a:xfrm>
          <a:prstGeom prst="rect">
            <a:avLst/>
          </a:prstGeom>
        </p:spPr>
      </p:pic>
      <p:sp>
        <p:nvSpPr>
          <p:cNvPr id="25" name="TextBox 24"/>
          <p:cNvSpPr txBox="1"/>
          <p:nvPr/>
        </p:nvSpPr>
        <p:spPr>
          <a:xfrm>
            <a:off x="1618488" y="4748348"/>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Replace biomarker surveys?</a:t>
            </a:r>
          </a:p>
        </p:txBody>
      </p:sp>
      <p:sp>
        <p:nvSpPr>
          <p:cNvPr id="26" name="TextBox 25"/>
          <p:cNvSpPr txBox="1"/>
          <p:nvPr/>
        </p:nvSpPr>
        <p:spPr>
          <a:xfrm>
            <a:off x="6784848" y="4748348"/>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No: the ceiling is the survey's.</a:t>
            </a:r>
          </a:p>
        </p:txBody>
      </p:sp>
      <p:sp>
        <p:nvSpPr>
          <p:cNvPr id="27" name="Rounded Rectangle 26"/>
          <p:cNvSpPr/>
          <p:nvPr/>
        </p:nvSpPr>
        <p:spPr>
          <a:xfrm>
            <a:off x="841248" y="5359690"/>
            <a:ext cx="10515600" cy="538189"/>
          </a:xfrm>
          <a:prstGeom prst="roundRect">
            <a:avLst>
              <a:gd name="adj" fmla="val 13592"/>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triangle-exclamation_amber.png"/>
          <p:cNvPicPr>
            <a:picLocks noChangeAspect="1"/>
          </p:cNvPicPr>
          <p:nvPr/>
        </p:nvPicPr>
        <p:blipFill>
          <a:blip r:embed="rId4"/>
          <a:stretch>
            <a:fillRect/>
          </a:stretch>
        </p:blipFill>
        <p:spPr>
          <a:xfrm>
            <a:off x="1069848" y="5445905"/>
            <a:ext cx="365760" cy="365760"/>
          </a:xfrm>
          <a:prstGeom prst="rect">
            <a:avLst/>
          </a:prstGeom>
        </p:spPr>
      </p:pic>
      <p:sp>
        <p:nvSpPr>
          <p:cNvPr id="29" name="TextBox 28"/>
          <p:cNvSpPr txBox="1"/>
          <p:nvPr/>
        </p:nvSpPr>
        <p:spPr>
          <a:xfrm>
            <a:off x="1618488" y="5359690"/>
            <a:ext cx="5120640" cy="538189"/>
          </a:xfrm>
          <a:prstGeom prst="rect">
            <a:avLst/>
          </a:prstGeom>
          <a:noFill/>
        </p:spPr>
        <p:txBody>
          <a:bodyPr wrap="square" lIns="45720" tIns="27432" rIns="45720" bIns="27432" anchor="ctr">
            <a:spAutoFit/>
          </a:bodyPr>
          <a:lstStyle/>
          <a:p>
            <a:pPr algn="l"/>
            <a:r>
              <a:rPr sz="1600" b="1">
                <a:solidFill>
                  <a:srgbClr val="1F4E79"/>
                </a:solidFill>
                <a:latin typeface="Calibri"/>
              </a:rPr>
              <a:t>Guide where the next survey samples?</a:t>
            </a:r>
          </a:p>
        </p:txBody>
      </p:sp>
      <p:sp>
        <p:nvSpPr>
          <p:cNvPr id="30" name="TextBox 29"/>
          <p:cNvSpPr txBox="1"/>
          <p:nvPr/>
        </p:nvSpPr>
        <p:spPr>
          <a:xfrm>
            <a:off x="6784848" y="5359690"/>
            <a:ext cx="4480560" cy="538189"/>
          </a:xfrm>
          <a:prstGeom prst="rect">
            <a:avLst/>
          </a:prstGeom>
          <a:noFill/>
        </p:spPr>
        <p:txBody>
          <a:bodyPr wrap="square" lIns="45720" tIns="27432" rIns="45720" bIns="27432" anchor="ctr">
            <a:spAutoFit/>
          </a:bodyPr>
          <a:lstStyle/>
          <a:p>
            <a:pPr algn="l"/>
            <a:r>
              <a:rPr sz="1500" b="0">
                <a:solidFill>
                  <a:srgbClr val="333333"/>
                </a:solidFill>
                <a:latin typeface="Calibri"/>
              </a:rPr>
              <a:t>In design, not piloted.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Conclusions</a:t>
            </a:r>
          </a:p>
        </p:txBody>
      </p:sp>
      <p:pic>
        <p:nvPicPr>
          <p:cNvPr id="3" name="Picture 2" descr="map-location-dot_blue.png"/>
          <p:cNvPicPr>
            <a:picLocks noChangeAspect="1"/>
          </p:cNvPicPr>
          <p:nvPr/>
        </p:nvPicPr>
        <p:blipFill>
          <a:blip r:embed="rId3"/>
          <a:stretch>
            <a:fillRect/>
          </a:stretch>
        </p:blipFill>
        <p:spPr>
          <a:xfrm>
            <a:off x="932688" y="1783080"/>
            <a:ext cx="822960" cy="731520"/>
          </a:xfrm>
          <a:prstGeom prst="rect">
            <a:avLst/>
          </a:prstGeom>
        </p:spPr>
      </p:pic>
      <p:sp>
        <p:nvSpPr>
          <p:cNvPr id="4" name="TextBox 3"/>
          <p:cNvSpPr txBox="1"/>
          <p:nvPr/>
        </p:nvSpPr>
        <p:spPr>
          <a:xfrm>
            <a:off x="1984248" y="169164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In-fill: the index ranks districts (0.40)</a:t>
            </a:r>
          </a:p>
          <a:p>
            <a:pPr algn="l">
              <a:spcBef>
                <a:spcPts val="300"/>
              </a:spcBef>
            </a:pPr>
            <a:r>
              <a:rPr sz="1400" b="0">
                <a:solidFill>
                  <a:srgbClr val="333333"/>
                </a:solidFill>
                <a:latin typeface="Calibri"/>
              </a:rPr>
              <a:t>Against 0.31 for the survey's own regional averages and 0.39 for a covariate-free smoother.</a:t>
            </a:r>
          </a:p>
        </p:txBody>
      </p:sp>
      <p:pic>
        <p:nvPicPr>
          <p:cNvPr id="5" name="Picture 4" descr="earth-africa_blue.png"/>
          <p:cNvPicPr>
            <a:picLocks noChangeAspect="1"/>
          </p:cNvPicPr>
          <p:nvPr/>
        </p:nvPicPr>
        <p:blipFill>
          <a:blip r:embed="rId4"/>
          <a:stretch>
            <a:fillRect/>
          </a:stretch>
        </p:blipFill>
        <p:spPr>
          <a:xfrm>
            <a:off x="932688" y="2880360"/>
            <a:ext cx="731520" cy="731520"/>
          </a:xfrm>
          <a:prstGeom prst="rect">
            <a:avLst/>
          </a:prstGeom>
        </p:spPr>
      </p:pic>
      <p:sp>
        <p:nvSpPr>
          <p:cNvPr id="6" name="TextBox 5"/>
          <p:cNvSpPr txBox="1"/>
          <p:nvPr/>
        </p:nvSpPr>
        <p:spPr>
          <a:xfrm>
            <a:off x="1984248" y="278892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Transport: rankings carry (0.31), levels do not</a:t>
            </a:r>
          </a:p>
          <a:p>
            <a:pPr algn="l">
              <a:spcBef>
                <a:spcPts val="300"/>
              </a:spcBef>
            </a:pPr>
            <a:r>
              <a:rPr sz="1400" b="0">
                <a:solidFill>
                  <a:srgbClr val="333333"/>
                </a:solidFill>
                <a:latin typeface="Calibri"/>
              </a:rPr>
              <a:t>0.38 from climate and soil alone; permutation null 0.08.</a:t>
            </a:r>
          </a:p>
        </p:txBody>
      </p:sp>
      <p:pic>
        <p:nvPicPr>
          <p:cNvPr id="7" name="Picture 6" descr="satellite_blue.png"/>
          <p:cNvPicPr>
            <a:picLocks noChangeAspect="1"/>
          </p:cNvPicPr>
          <p:nvPr/>
        </p:nvPicPr>
        <p:blipFill>
          <a:blip r:embed="rId5"/>
          <a:stretch>
            <a:fillRect/>
          </a:stretch>
        </p:blipFill>
        <p:spPr>
          <a:xfrm>
            <a:off x="932688" y="3977640"/>
            <a:ext cx="731520" cy="731520"/>
          </a:xfrm>
          <a:prstGeom prst="rect">
            <a:avLst/>
          </a:prstGeom>
        </p:spPr>
      </p:pic>
      <p:sp>
        <p:nvSpPr>
          <p:cNvPr id="8" name="TextBox 7"/>
          <p:cNvSpPr txBox="1"/>
          <p:nvPr/>
        </p:nvSpPr>
        <p:spPr>
          <a:xfrm>
            <a:off x="1984248" y="388620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Across borders, lean on the environment</a:t>
            </a:r>
          </a:p>
          <a:p>
            <a:pPr algn="l">
              <a:spcBef>
                <a:spcPts val="300"/>
              </a:spcBef>
            </a:pPr>
            <a:r>
              <a:rPr sz="1400" b="0">
                <a:solidFill>
                  <a:srgbClr val="333333"/>
                </a:solidFill>
                <a:latin typeface="Calibri"/>
              </a:rPr>
              <a:t>Survey-derived inputs help inside a country and hold a new country back; health surfaces are surrogate markers, not mechanisms.</a:t>
            </a:r>
          </a:p>
        </p:txBody>
      </p:sp>
      <p:pic>
        <p:nvPicPr>
          <p:cNvPr id="9" name="Picture 8" descr="anchor_blue.png"/>
          <p:cNvPicPr>
            <a:picLocks noChangeAspect="1"/>
          </p:cNvPicPr>
          <p:nvPr/>
        </p:nvPicPr>
        <p:blipFill>
          <a:blip r:embed="rId6"/>
          <a:stretch>
            <a:fillRect/>
          </a:stretch>
        </p:blipFill>
        <p:spPr>
          <a:xfrm>
            <a:off x="932688" y="5074920"/>
            <a:ext cx="822960" cy="731520"/>
          </a:xfrm>
          <a:prstGeom prst="rect">
            <a:avLst/>
          </a:prstGeom>
        </p:spPr>
      </p:pic>
      <p:sp>
        <p:nvSpPr>
          <p:cNvPr id="10" name="TextBox 9"/>
          <p:cNvSpPr txBox="1"/>
          <p:nvPr/>
        </p:nvSpPr>
        <p:spPr>
          <a:xfrm>
            <a:off x="1984248" y="498348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A national anchor puts levels on the ranking</a:t>
            </a:r>
          </a:p>
          <a:p>
            <a:pPr algn="l">
              <a:spcBef>
                <a:spcPts val="300"/>
              </a:spcBef>
            </a:pPr>
            <a:r>
              <a:rPr sz="1400" b="0">
                <a:solidFill>
                  <a:srgbClr val="333333"/>
                </a:solidFill>
                <a:latin typeface="Calibri"/>
              </a:rPr>
              <a:t>District error 9.3 points at 5% of a full sample, matched by a district survey at 25%.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Next steps</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list-check_white.png"/>
          <p:cNvPicPr>
            <a:picLocks noChangeAspect="1"/>
          </p:cNvPicPr>
          <p:nvPr/>
        </p:nvPicPr>
        <p:blipFill>
          <a:blip r:embed="rId3"/>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Planned</a:t>
            </a:r>
          </a:p>
        </p:txBody>
      </p:sp>
      <p:pic>
        <p:nvPicPr>
          <p:cNvPr id="7" name="Picture 6" descr="flag-checkered_blue.png"/>
          <p:cNvPicPr>
            <a:picLocks noChangeAspect="1"/>
          </p:cNvPicPr>
          <p:nvPr/>
        </p:nvPicPr>
        <p:blipFill>
          <a:blip r:embed="rId4"/>
          <a:stretch>
            <a:fillRect/>
          </a:stretch>
        </p:blipFill>
        <p:spPr>
          <a:xfrm>
            <a:off x="1069848" y="2735580"/>
            <a:ext cx="440055"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Score the pre-registered predictions</a:t>
            </a:r>
          </a:p>
          <a:p>
            <a:pPr algn="l">
              <a:spcBef>
                <a:spcPts val="300"/>
              </a:spcBef>
            </a:pPr>
            <a:r>
              <a:rPr sz="1200" b="0">
                <a:solidFill>
                  <a:srgbClr val="333333"/>
                </a:solidFill>
                <a:latin typeface="Calibri"/>
              </a:rPr>
              <a:t>On the next countries added to the panel; each survey added improves every other country's map.</a:t>
            </a:r>
          </a:p>
        </p:txBody>
      </p:sp>
      <p:pic>
        <p:nvPicPr>
          <p:cNvPr id="9" name="Picture 8" descr="location-crosshairs_blue.png"/>
          <p:cNvPicPr>
            <a:picLocks noChangeAspect="1"/>
          </p:cNvPicPr>
          <p:nvPr/>
        </p:nvPicPr>
        <p:blipFill>
          <a:blip r:embed="rId5"/>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Pilot the survey design</a:t>
            </a:r>
          </a:p>
          <a:p>
            <a:pPr algn="l">
              <a:spcBef>
                <a:spcPts val="300"/>
              </a:spcBef>
            </a:pPr>
            <a:r>
              <a:rPr sz="1200" b="0">
                <a:solidFill>
                  <a:srgbClr val="333333"/>
                </a:solidFill>
                <a:latin typeface="Calibri"/>
              </a:rPr>
              <a:t>Sample nationally, rank with the model, compare with a district survey in one country.</a:t>
            </a:r>
          </a:p>
        </p:txBody>
      </p:sp>
      <p:pic>
        <p:nvPicPr>
          <p:cNvPr id="11" name="Picture 10" descr="rotate_blue.png"/>
          <p:cNvPicPr>
            <a:picLocks noChangeAspect="1"/>
          </p:cNvPicPr>
          <p:nvPr/>
        </p:nvPicPr>
        <p:blipFill>
          <a:blip r:embed="rId6"/>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Rerun the national track; finish the product</a:t>
            </a:r>
          </a:p>
          <a:p>
            <a:pPr algn="l">
              <a:spcBef>
                <a:spcPts val="300"/>
              </a:spcBef>
            </a:pPr>
            <a:r>
              <a:rPr sz="1200" b="0">
                <a:solidFill>
                  <a:srgbClr val="333333"/>
                </a:solidFill>
                <a:latin typeface="Calibri"/>
              </a:rPr>
              <a:t>Shareable dashboard views, the geostatistical prevalence where a survey exists, plain-language predictor descriptions.</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ircle-question_white.png"/>
          <p:cNvPicPr>
            <a:picLocks noChangeAspect="1"/>
          </p:cNvPicPr>
          <p:nvPr/>
        </p:nvPicPr>
        <p:blipFill>
          <a:blip r:embed="rId7"/>
          <a:stretch>
            <a:fillRect/>
          </a:stretch>
        </p:blipFill>
        <p:spPr>
          <a:xfrm>
            <a:off x="6510528" y="1810512"/>
            <a:ext cx="402336"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Open questions</a:t>
            </a:r>
          </a:p>
        </p:txBody>
      </p:sp>
      <p:pic>
        <p:nvPicPr>
          <p:cNvPr id="17" name="Picture 16" descr="gauge-high_blue.png"/>
          <p:cNvPicPr>
            <a:picLocks noChangeAspect="1"/>
          </p:cNvPicPr>
          <p:nvPr/>
        </p:nvPicPr>
        <p:blipFill>
          <a:blip r:embed="rId8"/>
          <a:stretch>
            <a:fillRect/>
          </a:stretch>
        </p:blipFill>
        <p:spPr>
          <a:xfrm>
            <a:off x="6556248" y="2735580"/>
            <a:ext cx="502920"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What rank correlation is sufficient to act on?</a:t>
            </a:r>
          </a:p>
        </p:txBody>
      </p:sp>
      <p:pic>
        <p:nvPicPr>
          <p:cNvPr id="19" name="Picture 18" descr="coins_blue.png"/>
          <p:cNvPicPr>
            <a:picLocks noChangeAspect="1"/>
          </p:cNvPicPr>
          <p:nvPr/>
        </p:nvPicPr>
        <p:blipFill>
          <a:blip r:embed="rId9"/>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Which national number is the cheapest honest anchor?</a:t>
            </a:r>
          </a:p>
        </p:txBody>
      </p:sp>
      <p:pic>
        <p:nvPicPr>
          <p:cNvPr id="21" name="Picture 20" descr="ruler_blue.png"/>
          <p:cNvPicPr>
            <a:picLocks noChangeAspect="1"/>
          </p:cNvPicPr>
          <p:nvPr/>
        </p:nvPicPr>
        <p:blipFill>
          <a:blip r:embed="rId10"/>
          <a:stretch>
            <a:fillRect/>
          </a:stretch>
        </p:blipFill>
        <p:spPr>
          <a:xfrm>
            <a:off x="6556248" y="4991100"/>
            <a:ext cx="502920"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Without new biomarker surveys, what benchmarks the models?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Sources, tiers and alignment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38227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0">
                <a:tc>
                  <a:txBody>
                    <a:bodyPr/>
                    <a:lstStyle/>
                    <a:p>
                      <a:pPr marL="0" lvl="0" indent="0" algn="l">
                        <a:buNone/>
                      </a:pPr>
                      <a:r>
                        <a:rPr sz="1000"/>
                        <a:t>Source</a:t>
                      </a:r>
                    </a:p>
                  </a:txBody>
                  <a:tcPr/>
                </a:tc>
                <a:tc>
                  <a:txBody>
                    <a:bodyPr/>
                    <a:lstStyle/>
                    <a:p>
                      <a:pPr marL="0" lvl="0" indent="0" algn="r">
                        <a:buNone/>
                      </a:pPr>
                      <a:r>
                        <a:rPr sz="1000"/>
                        <a:t>Columns</a:t>
                      </a:r>
                    </a:p>
                  </a:txBody>
                  <a:tcPr/>
                </a:tc>
                <a:tc>
                  <a:txBody>
                    <a:bodyPr/>
                    <a:lstStyle/>
                    <a:p>
                      <a:pPr marL="0" lvl="0" indent="0" algn="l">
                        <a:buNone/>
                      </a:pPr>
                      <a:r>
                        <a:rPr sz="1000"/>
                        <a:t>Tier</a:t>
                      </a:r>
                    </a:p>
                  </a:txBody>
                  <a:tcPr/>
                </a:tc>
                <a:tc>
                  <a:txBody>
                    <a:bodyPr/>
                    <a:lstStyle/>
                    <a:p>
                      <a:pPr marL="0" lvl="0" indent="0" algn="r">
                        <a:buNone/>
                      </a:pPr>
                      <a:r>
                        <a:rPr sz="1000"/>
                        <a:t>Domains</a:t>
                      </a:r>
                    </a:p>
                  </a:txBody>
                  <a:tcPr/>
                </a:tc>
                <a:tc>
                  <a:txBody>
                    <a:bodyPr/>
                    <a:lstStyle/>
                    <a:p>
                      <a:pPr marL="0" lvl="0" indent="0" algn="l">
                        <a:buNone/>
                      </a:pPr>
                      <a:r>
                        <a:rPr sz="1000"/>
                        <a:t>Year rule</a:t>
                      </a:r>
                    </a:p>
                  </a:txBody>
                  <a:tcPr/>
                </a:tc>
                <a:tc>
                  <a:txBody>
                    <a:bodyPr/>
                    <a:lstStyle/>
                    <a:p>
                      <a:pPr marL="0" lvl="0" indent="0" algn="l">
                        <a:buNone/>
                      </a:pPr>
                      <a:r>
                        <a:rPr sz="1000"/>
                        <a:t>Largest gap (years)</a:t>
                      </a:r>
                    </a:p>
                  </a:txBody>
                  <a:tcPr/>
                </a:tc>
                <a:extLst>
                  <a:ext uri="{0D108BD9-81ED-4DB2-BD59-A6C34878D82A}">
                    <a16:rowId xmlns:a16="http://schemas.microsoft.com/office/drawing/2014/main" val="10000"/>
                  </a:ext>
                </a:extLst>
              </a:tr>
              <a:tr h="0">
                <a:tc>
                  <a:txBody>
                    <a:bodyPr/>
                    <a:lstStyle/>
                    <a:p>
                      <a:pPr marL="0" lvl="0" indent="0" algn="l">
                        <a:buNone/>
                      </a:pPr>
                      <a:r>
                        <a:rPr sz="1000"/>
                        <a:t>DHS indicators</a:t>
                      </a:r>
                    </a:p>
                  </a:txBody>
                  <a:tcPr/>
                </a:tc>
                <a:tc>
                  <a:txBody>
                    <a:bodyPr/>
                    <a:lstStyle/>
                    <a:p>
                      <a:pPr marL="0" lvl="0" indent="0" algn="r">
                        <a:buNone/>
                      </a:pPr>
                      <a:r>
                        <a:rPr sz="1000"/>
                        <a:t>150</a:t>
                      </a:r>
                    </a:p>
                  </a:txBody>
                  <a:tcPr/>
                </a:tc>
                <a:tc>
                  <a:txBody>
                    <a:bodyPr/>
                    <a:lstStyle/>
                    <a:p>
                      <a:pPr marL="0" lvl="0" indent="0" algn="l">
                        <a:buNone/>
                      </a:pPr>
                      <a:r>
                        <a:rPr sz="1000"/>
                        <a:t>DHS (access agreement)</a:t>
                      </a:r>
                    </a:p>
                  </a:txBody>
                  <a:tcPr/>
                </a:tc>
                <a:tc>
                  <a:txBody>
                    <a:bodyPr/>
                    <a:lstStyle/>
                    <a:p>
                      <a:pPr marL="0" lvl="0" indent="0" algn="r">
                        <a:buNone/>
                      </a:pPr>
                      <a:r>
                        <a:rPr sz="1000"/>
                        <a:t>16</a:t>
                      </a:r>
                    </a:p>
                  </a:txBody>
                  <a:tcPr/>
                </a:tc>
                <a:tc>
                  <a:txBody>
                    <a:bodyPr/>
                    <a:lstStyle/>
                    <a:p>
                      <a:pPr marL="0" lvl="0" indent="0" algn="l">
                        <a:buNone/>
                      </a:pPr>
                      <a:r>
                        <a:rPr sz="1000"/>
                        <a:t>dhs_round</a:t>
                      </a:r>
                    </a:p>
                  </a:txBody>
                  <a:tcPr/>
                </a:tc>
                <a:tc>
                  <a:txBody>
                    <a:bodyPr/>
                    <a:lstStyle/>
                    <a:p>
                      <a:pPr marL="0" lvl="0" indent="0" algn="l">
                        <a:buNone/>
                      </a:pPr>
                      <a:r>
                        <a:rPr sz="1000"/>
                        <a:t>3</a:t>
                      </a:r>
                    </a:p>
                  </a:txBody>
                  <a:tcPr/>
                </a:tc>
                <a:extLst>
                  <a:ext uri="{0D108BD9-81ED-4DB2-BD59-A6C34878D82A}">
                    <a16:rowId xmlns:a16="http://schemas.microsoft.com/office/drawing/2014/main" val="10001"/>
                  </a:ext>
                </a:extLst>
              </a:tr>
              <a:tr h="0">
                <a:tc>
                  <a:txBody>
                    <a:bodyPr/>
                    <a:lstStyle/>
                    <a:p>
                      <a:pPr marL="0" lvl="0" indent="0" algn="l">
                        <a:buNone/>
                      </a:pPr>
                      <a:r>
                        <a:rPr sz="1000"/>
                        <a:t>Earth Engine: climate, land, built environment</a:t>
                      </a:r>
                    </a:p>
                  </a:txBody>
                  <a:tcPr/>
                </a:tc>
                <a:tc>
                  <a:txBody>
                    <a:bodyPr/>
                    <a:lstStyle/>
                    <a:p>
                      <a:pPr marL="0" lvl="0" indent="0" algn="r">
                        <a:buNone/>
                      </a:pPr>
                      <a:r>
                        <a:rPr sz="1000"/>
                        <a:t>80</a:t>
                      </a:r>
                    </a:p>
                  </a:txBody>
                  <a:tcPr/>
                </a:tc>
                <a:tc>
                  <a:txBody>
                    <a:bodyPr/>
                    <a:lstStyle/>
                    <a:p>
                      <a:pPr marL="0" lvl="0" indent="0" algn="l">
                        <a:buNone/>
                      </a:pPr>
                      <a:r>
                        <a:rPr sz="1000"/>
                        <a:t>Open data</a:t>
                      </a:r>
                    </a:p>
                  </a:txBody>
                  <a:tcPr/>
                </a:tc>
                <a:tc>
                  <a:txBody>
                    <a:bodyPr/>
                    <a:lstStyle/>
                    <a:p>
                      <a:pPr marL="0" lvl="0" indent="0" algn="r">
                        <a:buNone/>
                      </a:pPr>
                      <a:r>
                        <a:rPr sz="1000"/>
                        <a:t>4</a:t>
                      </a:r>
                    </a:p>
                  </a:txBody>
                  <a:tcPr/>
                </a:tc>
                <a:tc>
                  <a:txBody>
                    <a:bodyPr/>
                    <a:lstStyle/>
                    <a:p>
                      <a:pPr marL="0" lvl="0" indent="0" algn="l">
                        <a:buNone/>
                      </a:pPr>
                      <a:r>
                        <a:rPr sz="1000"/>
                        <a:t>access_2019, ccnl_2013, clim_anomaly, clim_normals, gee_t…</a:t>
                      </a:r>
                    </a:p>
                  </a:txBody>
                  <a:tcPr/>
                </a:tc>
                <a:tc>
                  <a:txBody>
                    <a:bodyPr/>
                    <a:lstStyle/>
                    <a:p>
                      <a:pPr marL="0" lvl="0" indent="0" algn="l">
                        <a:buNone/>
                      </a:pPr>
                      <a:r>
                        <a:rPr sz="1000"/>
                        <a:t>6</a:t>
                      </a:r>
                    </a:p>
                  </a:txBody>
                  <a:tcPr/>
                </a:tc>
                <a:extLst>
                  <a:ext uri="{0D108BD9-81ED-4DB2-BD59-A6C34878D82A}">
                    <a16:rowId xmlns:a16="http://schemas.microsoft.com/office/drawing/2014/main" val="10002"/>
                  </a:ext>
                </a:extLst>
              </a:tr>
              <a:tr h="0">
                <a:tc>
                  <a:txBody>
                    <a:bodyPr/>
                    <a:lstStyle/>
                    <a:p>
                      <a:pPr marL="0" lvl="0" indent="0" algn="l">
                        <a:buNone/>
                      </a:pPr>
                      <a:r>
                        <a:rPr sz="1000"/>
                        <a:t>AlphaEarth satellite embedding</a:t>
                      </a:r>
                    </a:p>
                  </a:txBody>
                  <a:tcPr/>
                </a:tc>
                <a:tc>
                  <a:txBody>
                    <a:bodyPr/>
                    <a:lstStyle/>
                    <a:p>
                      <a:pPr marL="0" lvl="0" indent="0" algn="r">
                        <a:buNone/>
                      </a:pPr>
                      <a:r>
                        <a:rPr sz="1000"/>
                        <a:t>64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alphaearth_2017</a:t>
                      </a:r>
                    </a:p>
                  </a:txBody>
                  <a:tcPr/>
                </a:tc>
                <a:tc>
                  <a:txBody>
                    <a:bodyPr/>
                    <a:lstStyle/>
                    <a:p>
                      <a:pPr marL="0" lvl="0" indent="0" algn="l">
                        <a:buNone/>
                      </a:pPr>
                      <a:r>
                        <a:rPr sz="1000"/>
                        <a:t>4</a:t>
                      </a:r>
                    </a:p>
                  </a:txBody>
                  <a:tcPr/>
                </a:tc>
                <a:extLst>
                  <a:ext uri="{0D108BD9-81ED-4DB2-BD59-A6C34878D82A}">
                    <a16:rowId xmlns:a16="http://schemas.microsoft.com/office/drawing/2014/main" val="10003"/>
                  </a:ext>
                </a:extLst>
              </a:tr>
              <a:tr h="0">
                <a:tc>
                  <a:txBody>
                    <a:bodyPr/>
                    <a:lstStyle/>
                    <a:p>
                      <a:pPr marL="0" lvl="0" indent="0" algn="l">
                        <a:buNone/>
                      </a:pPr>
                      <a:r>
                        <a:rPr sz="1000"/>
                        <a:t>SoilGrids / iSDA soil</a:t>
                      </a:r>
                    </a:p>
                  </a:txBody>
                  <a:tcPr/>
                </a:tc>
                <a:tc>
                  <a:txBody>
                    <a:bodyPr/>
                    <a:lstStyle/>
                    <a:p>
                      <a:pPr marL="0" lvl="0" indent="0" algn="r">
                        <a:buNone/>
                      </a:pPr>
                      <a:r>
                        <a:rPr sz="1000"/>
                        <a:t>45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soil_static</a:t>
                      </a:r>
                    </a:p>
                  </a:txBody>
                  <a:tcPr/>
                </a:tc>
                <a:tc>
                  <a:txBody>
                    <a:bodyPr/>
                    <a:lstStyle/>
                    <a:p>
                      <a:pPr marL="0" lvl="0" indent="0" algn="l">
                        <a:buNone/>
                      </a:pPr>
                      <a:r>
                        <a:rPr sz="1000"/>
                        <a:t>static</a:t>
                      </a:r>
                    </a:p>
                  </a:txBody>
                  <a:tcPr/>
                </a:tc>
                <a:extLst>
                  <a:ext uri="{0D108BD9-81ED-4DB2-BD59-A6C34878D82A}">
                    <a16:rowId xmlns:a16="http://schemas.microsoft.com/office/drawing/2014/main" val="10004"/>
                  </a:ext>
                </a:extLst>
              </a:tr>
              <a:tr h="0">
                <a:tc>
                  <a:txBody>
                    <a:bodyPr/>
                    <a:lstStyle/>
                    <a:p>
                      <a:pPr marL="0" lvl="0" indent="0" algn="l">
                        <a:buNone/>
                      </a:pPr>
                      <a:r>
                        <a:rPr sz="1000"/>
                        <a:t>IHME modelled surfaces</a:t>
                      </a:r>
                    </a:p>
                  </a:txBody>
                  <a:tcPr/>
                </a:tc>
                <a:tc>
                  <a:txBody>
                    <a:bodyPr/>
                    <a:lstStyle/>
                    <a:p>
                      <a:pPr marL="0" lvl="0" indent="0" algn="r">
                        <a:buNone/>
                      </a:pPr>
                      <a:r>
                        <a:rPr sz="1000"/>
                        <a:t>34</a:t>
                      </a:r>
                    </a:p>
                  </a:txBody>
                  <a:tcPr/>
                </a:tc>
                <a:tc>
                  <a:txBody>
                    <a:bodyPr/>
                    <a:lstStyle/>
                    <a:p>
                      <a:pPr marL="0" lvl="0" indent="0" algn="l">
                        <a:buNone/>
                      </a:pPr>
                      <a:r>
                        <a:rPr sz="1000"/>
                        <a:t>Open data</a:t>
                      </a:r>
                    </a:p>
                  </a:txBody>
                  <a:tcPr/>
                </a:tc>
                <a:tc>
                  <a:txBody>
                    <a:bodyPr/>
                    <a:lstStyle/>
                    <a:p>
                      <a:pPr marL="0" lvl="0" indent="0" algn="r">
                        <a:buNone/>
                      </a:pPr>
                      <a:r>
                        <a:rPr sz="1000"/>
                        <a:t>7</a:t>
                      </a:r>
                    </a:p>
                  </a:txBody>
                  <a:tcPr/>
                </a:tc>
                <a:tc>
                  <a:txBody>
                    <a:bodyPr/>
                    <a:lstStyle/>
                    <a:p>
                      <a:pPr marL="0" lvl="0" indent="0" algn="l">
                        <a:buNone/>
                      </a:pPr>
                      <a:r>
                        <a:rPr sz="1000"/>
                        <a:t>ihme_to_2017, ihme_to_2018, ihme_to_2019</a:t>
                      </a:r>
                    </a:p>
                  </a:txBody>
                  <a:tcPr/>
                </a:tc>
                <a:tc>
                  <a:txBody>
                    <a:bodyPr/>
                    <a:lstStyle/>
                    <a:p>
                      <a:pPr marL="0" lvl="0" indent="0" algn="l">
                        <a:buNone/>
                      </a:pPr>
                      <a:r>
                        <a:rPr sz="1000"/>
                        <a:t>1</a:t>
                      </a:r>
                    </a:p>
                  </a:txBody>
                  <a:tcPr/>
                </a:tc>
                <a:extLst>
                  <a:ext uri="{0D108BD9-81ED-4DB2-BD59-A6C34878D82A}">
                    <a16:rowId xmlns:a16="http://schemas.microsoft.com/office/drawing/2014/main" val="10005"/>
                  </a:ext>
                </a:extLst>
              </a:tr>
              <a:tr h="0">
                <a:tc>
                  <a:txBody>
                    <a:bodyPr/>
                    <a:lstStyle/>
                    <a:p>
                      <a:pPr marL="0" lvl="0" indent="0" algn="l">
                        <a:buNone/>
                      </a:pPr>
                      <a:r>
                        <a:rPr sz="1000"/>
                        <a:t>MICS microdata</a:t>
                      </a:r>
                    </a:p>
                  </a:txBody>
                  <a:tcPr/>
                </a:tc>
                <a:tc>
                  <a:txBody>
                    <a:bodyPr/>
                    <a:lstStyle/>
                    <a:p>
                      <a:pPr marL="0" lvl="0" indent="0" algn="r">
                        <a:buNone/>
                      </a:pPr>
                      <a:r>
                        <a:rPr sz="1000"/>
                        <a:t>30</a:t>
                      </a:r>
                    </a:p>
                  </a:txBody>
                  <a:tcPr/>
                </a:tc>
                <a:tc>
                  <a:txBody>
                    <a:bodyPr/>
                    <a:lstStyle/>
                    <a:p>
                      <a:pPr marL="0" lvl="0" indent="0" algn="l">
                        <a:buNone/>
                      </a:pPr>
                      <a:r>
                        <a:rPr sz="1000"/>
                        <a:t>Public survey microdata</a:t>
                      </a:r>
                    </a:p>
                  </a:txBody>
                  <a:tcPr/>
                </a:tc>
                <a:tc>
                  <a:txBody>
                    <a:bodyPr/>
                    <a:lstStyle/>
                    <a:p>
                      <a:pPr marL="0" lvl="0" indent="0" algn="r">
                        <a:buNone/>
                      </a:pPr>
                      <a:r>
                        <a:rPr sz="1000"/>
                        <a:t>7</a:t>
                      </a:r>
                    </a:p>
                  </a:txBody>
                  <a:tcPr/>
                </a:tc>
                <a:tc>
                  <a:txBody>
                    <a:bodyPr/>
                    <a:lstStyle/>
                    <a:p>
                      <a:pPr marL="0" lvl="0" indent="0" algn="l">
                        <a:buNone/>
                      </a:pPr>
                      <a:r>
                        <a:rPr sz="1000"/>
                        <a:t>mics_microdata</a:t>
                      </a:r>
                    </a:p>
                  </a:txBody>
                  <a:tcPr/>
                </a:tc>
                <a:tc>
                  <a:txBody>
                    <a:bodyPr/>
                    <a:lstStyle/>
                    <a:p>
                      <a:pPr marL="0" lvl="0" indent="0" algn="l">
                        <a:buNone/>
                      </a:pPr>
                      <a:r>
                        <a:rPr sz="1000"/>
                        <a:t>4</a:t>
                      </a:r>
                    </a:p>
                  </a:txBody>
                  <a:tcPr/>
                </a:tc>
                <a:extLst>
                  <a:ext uri="{0D108BD9-81ED-4DB2-BD59-A6C34878D82A}">
                    <a16:rowId xmlns:a16="http://schemas.microsoft.com/office/drawing/2014/main" val="10006"/>
                  </a:ext>
                </a:extLst>
              </a:tr>
              <a:tr h="0">
                <a:tc>
                  <a:txBody>
                    <a:bodyPr/>
                    <a:lstStyle/>
                    <a:p>
                      <a:pPr marL="0" lvl="0" indent="0" algn="l">
                        <a:buNone/>
                      </a:pPr>
                      <a:r>
                        <a:rPr sz="1000"/>
                        <a:t>GFDx fortification</a:t>
                      </a:r>
                    </a:p>
                  </a:txBody>
                  <a:tcPr/>
                </a:tc>
                <a:tc>
                  <a:txBody>
                    <a:bodyPr/>
                    <a:lstStyle/>
                    <a:p>
                      <a:pPr marL="0" lvl="0" indent="0" algn="r">
                        <a:buNone/>
                      </a:pPr>
                      <a:r>
                        <a:rPr sz="1000"/>
                        <a:t>27</a:t>
                      </a:r>
                    </a:p>
                  </a:txBody>
                  <a:tcPr/>
                </a:tc>
                <a:tc>
                  <a:txBody>
                    <a:bodyPr/>
                    <a:lstStyle/>
                    <a:p>
                      <a:pPr marL="0" lvl="0" indent="0" algn="l">
                        <a:buNone/>
                      </a:pPr>
                      <a:r>
                        <a:rPr sz="1000"/>
                        <a:t>Open data</a:t>
                      </a:r>
                    </a:p>
                  </a:txBody>
                  <a:tcPr/>
                </a:tc>
                <a:tc>
                  <a:txBody>
                    <a:bodyPr/>
                    <a:lstStyle/>
                    <a:p>
                      <a:pPr marL="0" lvl="0" indent="0" algn="r">
                        <a:buNone/>
                      </a:pPr>
                      <a:r>
                        <a:rPr sz="1000"/>
                        <a:t>3</a:t>
                      </a:r>
                    </a:p>
                  </a:txBody>
                  <a:tcPr/>
                </a:tc>
                <a:tc>
                  <a:txBody>
                    <a:bodyPr/>
                    <a:lstStyle/>
                    <a:p>
                      <a:pPr marL="0" lvl="0" indent="0" algn="l">
                        <a:buNone/>
                      </a:pPr>
                      <a:r>
                        <a:rPr sz="1000"/>
                        <a:t>gfdx_ntd_2015, gfdx_survey_year, gfdx_who_anaemia_2011, g…</a:t>
                      </a:r>
                    </a:p>
                  </a:txBody>
                  <a:tcPr/>
                </a:tc>
                <a:tc>
                  <a:txBody>
                    <a:bodyPr/>
                    <a:lstStyle/>
                    <a:p>
                      <a:pPr marL="0" lvl="0" indent="0" algn="l">
                        <a:buNone/>
                      </a:pPr>
                      <a:r>
                        <a:rPr sz="1000"/>
                        <a:t>6</a:t>
                      </a:r>
                    </a:p>
                  </a:txBody>
                  <a:tcPr/>
                </a:tc>
                <a:extLst>
                  <a:ext uri="{0D108BD9-81ED-4DB2-BD59-A6C34878D82A}">
                    <a16:rowId xmlns:a16="http://schemas.microsoft.com/office/drawing/2014/main" val="10007"/>
                  </a:ext>
                </a:extLst>
              </a:tr>
              <a:tr h="0">
                <a:tc>
                  <a:txBody>
                    <a:bodyPr/>
                    <a:lstStyle/>
                    <a:p>
                      <a:pPr marL="0" lvl="0" indent="0" algn="l">
                        <a:buNone/>
                      </a:pPr>
                      <a:r>
                        <a:rPr sz="1000"/>
                        <a:t>MICS via WHO HEAT</a:t>
                      </a:r>
                    </a:p>
                  </a:txBody>
                  <a:tcPr/>
                </a:tc>
                <a:tc>
                  <a:txBody>
                    <a:bodyPr/>
                    <a:lstStyle/>
                    <a:p>
                      <a:pPr marL="0" lvl="0" indent="0" algn="r">
                        <a:buNone/>
                      </a:pPr>
                      <a:r>
                        <a:rPr sz="1000"/>
                        <a:t>19</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mics_heat_round</a:t>
                      </a:r>
                    </a:p>
                  </a:txBody>
                  <a:tcPr/>
                </a:tc>
                <a:tc>
                  <a:txBody>
                    <a:bodyPr/>
                    <a:lstStyle/>
                    <a:p>
                      <a:pPr marL="0" lvl="0" indent="0" algn="l">
                        <a:buNone/>
                      </a:pPr>
                      <a:r>
                        <a:rPr sz="1000"/>
                        <a:t>3</a:t>
                      </a:r>
                    </a:p>
                  </a:txBody>
                  <a:tcPr/>
                </a:tc>
                <a:extLst>
                  <a:ext uri="{0D108BD9-81ED-4DB2-BD59-A6C34878D82A}">
                    <a16:rowId xmlns:a16="http://schemas.microsoft.com/office/drawing/2014/main" val="10008"/>
                  </a:ext>
                </a:extLst>
              </a:tr>
              <a:tr h="0">
                <a:tc>
                  <a:txBody>
                    <a:bodyPr/>
                    <a:lstStyle/>
                    <a:p>
                      <a:pPr marL="0" lvl="0" indent="0" algn="l">
                        <a:buNone/>
                      </a:pPr>
                      <a:r>
                        <a:rPr sz="1000"/>
                        <a:t>WorldPop / GHS / RWI</a:t>
                      </a:r>
                    </a:p>
                  </a:txBody>
                  <a:tcPr/>
                </a:tc>
                <a:tc>
                  <a:txBody>
                    <a:bodyPr/>
                    <a:lstStyle/>
                    <a:p>
                      <a:pPr marL="0" lvl="0" indent="0" algn="r">
                        <a:buNone/>
                      </a:pPr>
                      <a:r>
                        <a:rPr sz="1000"/>
                        <a:t>18</a:t>
                      </a:r>
                    </a:p>
                  </a:txBody>
                  <a:tcPr/>
                </a:tc>
                <a:tc>
                  <a:txBody>
                    <a:bodyPr/>
                    <a:lstStyle/>
                    <a:p>
                      <a:pPr marL="0" lvl="0" indent="0" algn="l">
                        <a:buNone/>
                      </a:pPr>
                      <a:r>
                        <a:rPr sz="1000"/>
                        <a:t>Open data</a:t>
                      </a:r>
                    </a:p>
                  </a:txBody>
                  <a:tcPr/>
                </a:tc>
                <a:tc>
                  <a:txBody>
                    <a:bodyPr/>
                    <a:lstStyle/>
                    <a:p>
                      <a:pPr marL="0" lvl="0" indent="0" algn="r">
                        <a:buNone/>
                      </a:pPr>
                      <a:r>
                        <a:rPr sz="1000"/>
                        <a:t>4</a:t>
                      </a:r>
                    </a:p>
                  </a:txBody>
                  <a:tcPr/>
                </a:tc>
                <a:tc>
                  <a:txBody>
                    <a:bodyPr/>
                    <a:lstStyle/>
                    <a:p>
                      <a:pPr marL="0" lvl="0" indent="0" algn="l">
                        <a:buNone/>
                      </a:pPr>
                      <a:r>
                        <a:rPr sz="1000"/>
                        <a:t>acled_36m, ghsl_epoch, rwi_2019, wpop_2020, wpop_density_sy</a:t>
                      </a:r>
                    </a:p>
                  </a:txBody>
                  <a:tcPr/>
                </a:tc>
                <a:tc>
                  <a:txBody>
                    <a:bodyPr/>
                    <a:lstStyle/>
                    <a:p>
                      <a:pPr marL="0" lvl="0" indent="0" algn="l">
                        <a:buNone/>
                      </a:pPr>
                      <a:r>
                        <a:rPr sz="1000"/>
                        <a:t>7</a:t>
                      </a:r>
                    </a:p>
                  </a:txBody>
                  <a:tcPr/>
                </a:tc>
                <a:extLst>
                  <a:ext uri="{0D108BD9-81ED-4DB2-BD59-A6C34878D82A}">
                    <a16:rowId xmlns:a16="http://schemas.microsoft.com/office/drawing/2014/main" val="10009"/>
                  </a:ext>
                </a:extLst>
              </a:tr>
              <a:tr h="0">
                <a:tc>
                  <a:txBody>
                    <a:bodyPr/>
                    <a:lstStyle/>
                    <a:p>
                      <a:pPr marL="0" lvl="0" indent="0" algn="l">
                        <a:buNone/>
                      </a:pPr>
                      <a:r>
                        <a:rPr sz="1000"/>
                        <a:t>Household budget surveys (HCES)</a:t>
                      </a:r>
                    </a:p>
                  </a:txBody>
                  <a:tcPr/>
                </a:tc>
                <a:tc>
                  <a:txBody>
                    <a:bodyPr/>
                    <a:lstStyle/>
                    <a:p>
                      <a:pPr marL="0" lvl="0" indent="0" algn="r">
                        <a:buNone/>
                      </a:pPr>
                      <a:r>
                        <a:rPr sz="1000"/>
                        <a:t>15</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hces_year</a:t>
                      </a:r>
                    </a:p>
                  </a:txBody>
                  <a:tcPr/>
                </a:tc>
                <a:tc>
                  <a:txBody>
                    <a:bodyPr/>
                    <a:lstStyle/>
                    <a:p>
                      <a:pPr marL="0" lvl="0" indent="0" algn="l">
                        <a:buNone/>
                      </a:pPr>
                      <a:r>
                        <a:rPr sz="1000"/>
                        <a:t>3</a:t>
                      </a:r>
                    </a:p>
                  </a:txBody>
                  <a:tcPr/>
                </a:tc>
                <a:extLst>
                  <a:ext uri="{0D108BD9-81ED-4DB2-BD59-A6C34878D82A}">
                    <a16:rowId xmlns:a16="http://schemas.microsoft.com/office/drawing/2014/main" val="10010"/>
                  </a:ext>
                </a:extLst>
              </a:tr>
              <a:tr h="0">
                <a:tc>
                  <a:txBody>
                    <a:bodyPr/>
                    <a:lstStyle/>
                    <a:p>
                      <a:pPr marL="0" lvl="0" indent="0" algn="l">
                        <a:buNone/>
                      </a:pPr>
                      <a:r>
                        <a:rPr sz="1000"/>
                        <a:t>MapSPAM crops</a:t>
                      </a:r>
                    </a:p>
                  </a:txBody>
                  <a:tcPr/>
                </a:tc>
                <a:tc>
                  <a:txBody>
                    <a:bodyPr/>
                    <a:lstStyle/>
                    <a:p>
                      <a:pPr marL="0" lvl="0" indent="0" algn="r">
                        <a:buNone/>
                      </a:pPr>
                      <a:r>
                        <a:rPr sz="1000"/>
                        <a:t>12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spam_2010</a:t>
                      </a:r>
                    </a:p>
                  </a:txBody>
                  <a:tcPr/>
                </a:tc>
                <a:tc>
                  <a:txBody>
                    <a:bodyPr/>
                    <a:lstStyle/>
                    <a:p>
                      <a:pPr marL="0" lvl="0" indent="0" algn="l">
                        <a:buNone/>
                      </a:pPr>
                      <a:r>
                        <a:rPr sz="1000"/>
                        <a:t>8</a:t>
                      </a:r>
                    </a:p>
                  </a:txBody>
                  <a:tcPr/>
                </a:tc>
                <a:extLst>
                  <a:ext uri="{0D108BD9-81ED-4DB2-BD59-A6C34878D82A}">
                    <a16:rowId xmlns:a16="http://schemas.microsoft.com/office/drawing/2014/main" val="10011"/>
                  </a:ext>
                </a:extLst>
              </a:tr>
              <a:tr h="0">
                <a:tc>
                  <a:txBody>
                    <a:bodyPr/>
                    <a:lstStyle/>
                    <a:p>
                      <a:pPr marL="0" lvl="0" indent="0" algn="l">
                        <a:buNone/>
                      </a:pPr>
                      <a:r>
                        <a:rPr sz="1000"/>
                        <a:t>Malaria Atlas Project</a:t>
                      </a:r>
                    </a:p>
                  </a:txBody>
                  <a:tcPr/>
                </a:tc>
                <a:tc>
                  <a:txBody>
                    <a:bodyPr/>
                    <a:lstStyle/>
                    <a:p>
                      <a:pPr marL="0" lvl="0" indent="0" algn="r">
                        <a:buNone/>
                      </a:pPr>
                      <a:r>
                        <a:rPr sz="1000"/>
                        <a:t>11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map_blood_2012, map_survey_year</a:t>
                      </a:r>
                    </a:p>
                  </a:txBody>
                  <a:tcPr/>
                </a:tc>
                <a:tc>
                  <a:txBody>
                    <a:bodyPr/>
                    <a:lstStyle/>
                    <a:p>
                      <a:pPr marL="0" lvl="0" indent="0" algn="l">
                        <a:buNone/>
                      </a:pPr>
                      <a:r>
                        <a:rPr sz="1000"/>
                        <a:t>6</a:t>
                      </a:r>
                    </a:p>
                  </a:txBody>
                  <a:tcPr/>
                </a:tc>
                <a:extLst>
                  <a:ext uri="{0D108BD9-81ED-4DB2-BD59-A6C34878D82A}">
                    <a16:rowId xmlns:a16="http://schemas.microsoft.com/office/drawing/2014/main" val="10012"/>
                  </a:ext>
                </a:extLst>
              </a:tr>
              <a:tr h="0">
                <a:tc>
                  <a:txBody>
                    <a:bodyPr/>
                    <a:lstStyle/>
                    <a:p>
                      <a:pPr marL="0" lvl="0" indent="0" algn="l">
                        <a:buNone/>
                      </a:pPr>
                      <a:r>
                        <a:rPr sz="1000"/>
                        <a:t>Koppen / agro-ecological zones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aez_static, koppen_static</a:t>
                      </a:r>
                    </a:p>
                  </a:txBody>
                  <a:tcPr/>
                </a:tc>
                <a:tc>
                  <a:txBody>
                    <a:bodyPr/>
                    <a:lstStyle/>
                    <a:p>
                      <a:pPr marL="0" lvl="0" indent="0" algn="l">
                        <a:buNone/>
                      </a:pPr>
                      <a:r>
                        <a:rPr sz="1000"/>
                        <a:t>static</a:t>
                      </a:r>
                    </a:p>
                  </a:txBody>
                  <a:tcPr/>
                </a:tc>
                <a:extLst>
                  <a:ext uri="{0D108BD9-81ED-4DB2-BD59-A6C34878D82A}">
                    <a16:rowId xmlns:a16="http://schemas.microsoft.com/office/drawing/2014/main" val="10013"/>
                  </a:ext>
                </a:extLst>
              </a:tr>
              <a:tr h="0">
                <a:tc>
                  <a:txBody>
                    <a:bodyPr/>
                    <a:lstStyle/>
                    <a:p>
                      <a:pPr marL="0" lvl="0" indent="0" algn="l">
                        <a:buNone/>
                      </a:pPr>
                      <a:r>
                        <a:rPr sz="1000"/>
                        <a:t>WFP market prices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fprice_window</a:t>
                      </a:r>
                    </a:p>
                  </a:txBody>
                  <a:tcPr/>
                </a:tc>
                <a:tc>
                  <a:txBody>
                    <a:bodyPr/>
                    <a:lstStyle/>
                    <a:p>
                      <a:pPr marL="0" lvl="0" indent="0" algn="l">
                        <a:buNone/>
                      </a:pPr>
                      <a:r>
                        <a:rPr sz="1000"/>
                        <a:t>0</a:t>
                      </a:r>
                    </a:p>
                  </a:txBody>
                  <a:tcPr/>
                </a:tc>
                <a:extLst>
                  <a:ext uri="{0D108BD9-81ED-4DB2-BD59-A6C34878D82A}">
                    <a16:rowId xmlns:a16="http://schemas.microsoft.com/office/drawing/2014/main" val="10014"/>
                  </a:ext>
                </a:extLst>
              </a:tr>
              <a:tr h="0">
                <a:tc>
                  <a:txBody>
                    <a:bodyPr/>
                    <a:lstStyle/>
                    <a:p>
                      <a:pPr marL="0" lvl="0" indent="0" algn="l">
                        <a:buNone/>
                      </a:pPr>
                      <a:r>
                        <a:rPr sz="1000"/>
                        <a:t>FAOSTAT food balance (national)</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fao_supply</a:t>
                      </a:r>
                    </a:p>
                  </a:txBody>
                  <a:tcPr/>
                </a:tc>
                <a:tc>
                  <a:txBody>
                    <a:bodyPr/>
                    <a:lstStyle/>
                    <a:p>
                      <a:pPr marL="0" lvl="0" indent="0" algn="l">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Gridded Livestock of the World</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glw4</a:t>
                      </a:r>
                    </a:p>
                  </a:txBody>
                  <a:tcPr/>
                </a:tc>
                <a:tc>
                  <a:txBody>
                    <a:bodyPr/>
                    <a:lstStyle/>
                    <a:p>
                      <a:pPr marL="0" lvl="0" indent="0" algn="l">
                        <a:buNone/>
                      </a:pPr>
                      <a:r>
                        <a:rPr sz="1000"/>
                        <a:t>3</a:t>
                      </a:r>
                    </a:p>
                  </a:txBody>
                  <a:tcPr/>
                </a:tc>
                <a:extLst>
                  <a:ext uri="{0D108BD9-81ED-4DB2-BD59-A6C34878D82A}">
                    <a16:rowId xmlns:a16="http://schemas.microsoft.com/office/drawing/2014/main" val="10016"/>
                  </a:ext>
                </a:extLst>
              </a:tr>
              <a:tr h="0">
                <a:tc>
                  <a:txBody>
                    <a:bodyPr/>
                    <a:lstStyle/>
                    <a:p>
                      <a:pPr marL="0" lvl="0" indent="0" algn="l">
                        <a:buNone/>
                      </a:pPr>
                      <a:r>
                        <a:rPr sz="1000"/>
                        <a:t>Earth Engine: water and coast distance</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water_static</a:t>
                      </a:r>
                    </a:p>
                  </a:txBody>
                  <a:tcPr/>
                </a:tc>
                <a:tc>
                  <a:txBody>
                    <a:bodyPr/>
                    <a:lstStyle/>
                    <a:p>
                      <a:pPr marL="0" lvl="0" indent="0" algn="l">
                        <a:buNone/>
                      </a:pPr>
                      <a:r>
                        <a:rPr sz="1000"/>
                        <a:t>static</a:t>
                      </a:r>
                    </a:p>
                  </a:txBody>
                  <a:tcPr/>
                </a:tc>
                <a:extLst>
                  <a:ext uri="{0D108BD9-81ED-4DB2-BD59-A6C34878D82A}">
                    <a16:rowId xmlns:a16="http://schemas.microsoft.com/office/drawing/2014/main" val="10017"/>
                  </a:ext>
                </a:extLst>
              </a:tr>
              <a:tr h="0">
                <a:tc>
                  <a:txBody>
                    <a:bodyPr/>
                    <a:lstStyle/>
                    <a:p>
                      <a:pPr marL="0" lvl="0" indent="0" algn="l">
                        <a:buNone/>
                      </a:pPr>
                      <a:r>
                        <a:rPr sz="1000"/>
                        <a:t>MIMI dietary inadequacy (Ghana)</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mimi_glss7</a:t>
                      </a:r>
                    </a:p>
                  </a:txBody>
                  <a:tcPr/>
                </a:tc>
                <a:tc>
                  <a:txBody>
                    <a:bodyPr/>
                    <a:lstStyle/>
                    <a:p>
                      <a:pPr marL="0" lvl="0" indent="0" algn="l">
                        <a:buNone/>
                      </a:pPr>
                      <a:r>
                        <a:rPr sz="1000"/>
                        <a:t>1</a:t>
                      </a:r>
                    </a:p>
                  </a:txBody>
                  <a:tcPr/>
                </a:tc>
                <a:extLst>
                  <a:ext uri="{0D108BD9-81ED-4DB2-BD59-A6C34878D82A}">
                    <a16:rowId xmlns:a16="http://schemas.microsoft.com/office/drawing/2014/main" val="10018"/>
                  </a:ext>
                </a:extLst>
              </a:tr>
              <a:tr h="0">
                <a:tc>
                  <a:txBody>
                    <a:bodyPr/>
                    <a:lstStyle/>
                    <a:p>
                      <a:pPr marL="0" lvl="0" indent="0" algn="l">
                        <a:buNone/>
                      </a:pPr>
                      <a:r>
                        <a:rPr sz="1000"/>
                        <a:t>WHO ESPEN helminths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espen_mda, espen_nearest</a:t>
                      </a:r>
                    </a:p>
                  </a:txBody>
                  <a:tcPr/>
                </a:tc>
                <a:tc>
                  <a:txBody>
                    <a:bodyPr/>
                    <a:lstStyle/>
                    <a:p>
                      <a:pPr marL="0" lvl="0" indent="0" algn="l">
                        <a:buNone/>
                      </a:pPr>
                      <a:r>
                        <a:rPr sz="1000"/>
                        <a:t>3</a:t>
                      </a:r>
                    </a:p>
                  </a:txBody>
                  <a:tcPr/>
                </a:tc>
                <a:extLst>
                  <a:ext uri="{0D108BD9-81ED-4DB2-BD59-A6C34878D82A}">
                    <a16:rowId xmlns:a16="http://schemas.microsoft.com/office/drawing/2014/main" val="10019"/>
                  </a:ext>
                </a:extLst>
              </a:tr>
              <a:tr h="0">
                <a:tc>
                  <a:txBody>
                    <a:bodyPr/>
                    <a:lstStyle/>
                    <a:p>
                      <a:pPr marL="0" lvl="0" indent="0" algn="l">
                        <a:buNone/>
                      </a:pPr>
                      <a:r>
                        <a:rPr sz="1000"/>
                        <a:t>World Bank RTFP prices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rtfp_window</a:t>
                      </a:r>
                    </a:p>
                  </a:txBody>
                  <a:tcPr/>
                </a:tc>
                <a:tc>
                  <a:txBody>
                    <a:bodyPr/>
                    <a:lstStyle/>
                    <a:p>
                      <a:pPr marL="0" lvl="0" indent="0" algn="l">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WHO anaemia estimates</a:t>
                      </a:r>
                    </a:p>
                  </a:txBody>
                  <a:tcPr/>
                </a:tc>
                <a:tc>
                  <a:txBody>
                    <a:bodyPr/>
                    <a:lstStyle/>
                    <a:p>
                      <a:pPr marL="0" lvl="0" indent="0" algn="r">
                        <a:buNone/>
                      </a:pPr>
                      <a:r>
                        <a:rPr sz="1000"/>
                        <a:t>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who_anaemia_sy</a:t>
                      </a:r>
                    </a:p>
                  </a:txBody>
                  <a:tcPr/>
                </a:tc>
                <a:tc>
                  <a:txBody>
                    <a:bodyPr/>
                    <a:lstStyle/>
                    <a:p>
                      <a:pPr marL="0" lvl="0" indent="0" algn="l">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HFID food security</a:t>
                      </a:r>
                    </a:p>
                  </a:txBody>
                  <a:tcPr/>
                </a:tc>
                <a:tc>
                  <a:txBody>
                    <a:bodyPr/>
                    <a:lstStyle/>
                    <a:p>
                      <a:pPr marL="0" lvl="0" indent="0" algn="r">
                        <a:buNone/>
                      </a:pPr>
                      <a:r>
                        <a:rPr sz="1000"/>
                        <a:t>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fsec_window</a:t>
                      </a:r>
                    </a:p>
                  </a:txBody>
                  <a:tcPr/>
                </a:tc>
                <a:tc>
                  <a:txBody>
                    <a:bodyPr/>
                    <a:lstStyle/>
                    <a:p>
                      <a:pPr marL="0" lvl="0" indent="0" algn="l">
                        <a:buNone/>
                      </a:pPr>
                      <a:r>
                        <a:rPr sz="1000"/>
                        <a:t>0</a:t>
                      </a:r>
                    </a:p>
                  </a:txBody>
                  <a:tcPr/>
                </a:tc>
                <a:extLst>
                  <a:ext uri="{0D108BD9-81ED-4DB2-BD59-A6C34878D82A}">
                    <a16:rowId xmlns:a16="http://schemas.microsoft.com/office/drawing/2014/main" val="10022"/>
                  </a:ext>
                </a:extLst>
              </a:tr>
              <a:tr h="0">
                <a:tc>
                  <a:txBody>
                    <a:bodyPr/>
                    <a:lstStyle/>
                    <a:p>
                      <a:pPr marL="0" lvl="0" indent="0" algn="l">
                        <a:buNone/>
                      </a:pPr>
                      <a:r>
                        <a:rPr sz="1000"/>
                        <a:t>Global Data Lab HDI</a:t>
                      </a:r>
                    </a:p>
                  </a:txBody>
                  <a:tcPr/>
                </a:tc>
                <a:tc>
                  <a:txBody>
                    <a:bodyPr/>
                    <a:lstStyle/>
                    <a:p>
                      <a:pPr marL="0" lvl="0" indent="0" algn="r">
                        <a:buNone/>
                      </a:pPr>
                      <a:r>
                        <a:rPr sz="1000"/>
                        <a:t>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gdl_sy</a:t>
                      </a:r>
                    </a:p>
                  </a:txBody>
                  <a:tcPr/>
                </a:tc>
                <a:tc>
                  <a:txBody>
                    <a:bodyPr/>
                    <a:lstStyle/>
                    <a:p>
                      <a:pPr marL="0" lvl="0" indent="0" algn="l">
                        <a:buNone/>
                      </a:pPr>
                      <a:r>
                        <a:rPr sz="1000"/>
                        <a:t>0</a:t>
                      </a:r>
                    </a:p>
                  </a:txBody>
                  <a:tcPr/>
                </a:tc>
                <a:extLst>
                  <a:ext uri="{0D108BD9-81ED-4DB2-BD59-A6C34878D82A}">
                    <a16:rowId xmlns:a16="http://schemas.microsoft.com/office/drawing/2014/main" val="10023"/>
                  </a:ext>
                </a:extLst>
              </a:tr>
              <a:tr h="0">
                <a:tc>
                  <a:txBody>
                    <a:bodyPr/>
                    <a:lstStyle/>
                    <a:p>
                      <a:pPr marL="0" lvl="0" indent="0" algn="l">
                        <a:buNone/>
                      </a:pPr>
                      <a:r>
                        <a:rPr sz="1000"/>
                        <a:t>UNICEF vitamin A supplementation</a:t>
                      </a:r>
                    </a:p>
                  </a:txBody>
                  <a:tcPr/>
                </a:tc>
                <a:tc>
                  <a:txBody>
                    <a:bodyPr/>
                    <a:lstStyle/>
                    <a:p>
                      <a:pPr marL="0" lvl="0" indent="0" algn="r">
                        <a:buNone/>
                      </a:pPr>
                      <a:r>
                        <a:rPr sz="1000"/>
                        <a:t>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vas_sy</a:t>
                      </a:r>
                    </a:p>
                  </a:txBody>
                  <a:tcPr/>
                </a:tc>
                <a:tc>
                  <a:txBody>
                    <a:bodyPr/>
                    <a:lstStyle/>
                    <a:p>
                      <a:pPr marL="0" lvl="0" indent="0" algn="l">
                        <a:buNone/>
                      </a:pPr>
                      <a:r>
                        <a:rPr sz="1000"/>
                        <a:t>0</a:t>
                      </a:r>
                    </a:p>
                  </a:txBody>
                  <a:tcPr/>
                </a:tc>
                <a:extLst>
                  <a:ext uri="{0D108BD9-81ED-4DB2-BD59-A6C34878D82A}">
                    <a16:rowId xmlns:a16="http://schemas.microsoft.com/office/drawing/2014/main" val="1002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From columns to domains</a:t>
            </a:r>
          </a:p>
        </p:txBody>
      </p:sp>
      <p:sp>
        <p:nvSpPr>
          <p:cNvPr id="3" name="Content Placeholder 2"/>
          <p:cNvSpPr>
            <a:spLocks noGrp="1"/>
          </p:cNvSpPr>
          <p:nvPr>
            <p:ph sz="half" idx="1"/>
          </p:nvPr>
        </p:nvSpPr>
        <p:spPr/>
        <p:txBody>
          <a:bodyPr/>
          <a:lstStyle/>
          <a:p>
            <a:pPr marL="0" lvl="0" indent="0">
              <a:buNone/>
            </a:pPr>
            <a:r>
              <a:rPr sz="1800"/>
              <a:t>29 domains. A domain groups columns by what they measure, whatever the source: the MAP, IHME and survey malaria columns sit in one group. Each domain enters the model as its leading principal components, to 80% of variance and at most twelve, learned on the training districts only.</a:t>
            </a:r>
          </a:p>
        </p:txBody>
      </p:sp>
      <p:pic>
        <p:nvPicPr>
          <p:cNvPr id="4" name="Picture 1" descr="MN-proxy-full-talk-2026-09_files/figure-pptx/domain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twenty layers behind child iron, and how much each carries</a:t>
            </a:r>
          </a:p>
        </p:txBody>
      </p:sp>
      <p:pic>
        <p:nvPicPr>
          <p:cNvPr id="3" name="Picture 1" descr="MN-proxy-full-talk-2026-09_files/figure-pptx/twenty-iron-1.png"/>
          <p:cNvPicPr>
            <a:picLocks noGrp="1" noChangeAspect="1"/>
          </p:cNvPicPr>
          <p:nvPr/>
        </p:nvPicPr>
        <p:blipFill>
          <a:blip r:embed="rId3"/>
          <a:stretch>
            <a:fillRect/>
          </a:stretch>
        </p:blipFill>
        <p:spPr bwMode="auto">
          <a:xfrm>
            <a:off x="2483157" y="1691640"/>
            <a:ext cx="7231781" cy="4206240"/>
          </a:xfrm>
          <a:prstGeom prst="rect">
            <a:avLst/>
          </a:prstGeom>
          <a:noFill/>
          <a:ln w="9525">
            <a:noFill/>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Exclusions, with their reasons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58039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0">
                <a:tc>
                  <a:txBody>
                    <a:bodyPr/>
                    <a:lstStyle/>
                    <a:p>
                      <a:pPr marL="0" lvl="0" indent="0" algn="l">
                        <a:buNone/>
                      </a:pPr>
                      <a:r>
                        <a:rPr sz="1000"/>
                        <a:t>Rule</a:t>
                      </a:r>
                    </a:p>
                  </a:txBody>
                  <a:tcPr/>
                </a:tc>
                <a:tc>
                  <a:txBody>
                    <a:bodyPr/>
                    <a:lstStyle/>
                    <a:p>
                      <a:pPr marL="0" lvl="0" indent="0" algn="l">
                        <a:buNone/>
                      </a:pPr>
                      <a:r>
                        <a:rPr sz="1000"/>
                        <a:t>Policy</a:t>
                      </a:r>
                    </a:p>
                  </a:txBody>
                  <a:tcPr/>
                </a:tc>
                <a:tc>
                  <a:txBody>
                    <a:bodyPr/>
                    <a:lstStyle/>
                    <a:p>
                      <a:pPr marL="0" lvl="0" indent="0" algn="l">
                        <a:buNone/>
                      </a:pPr>
                      <a:r>
                        <a:rPr sz="1000"/>
                        <a:t>Reason</a:t>
                      </a:r>
                    </a:p>
                  </a:txBody>
                  <a:tcPr/>
                </a:tc>
                <a:extLst>
                  <a:ext uri="{0D108BD9-81ED-4DB2-BD59-A6C34878D82A}">
                    <a16:rowId xmlns:a16="http://schemas.microsoft.com/office/drawing/2014/main" val="10000"/>
                  </a:ext>
                </a:extLst>
              </a:tr>
              <a:tr h="0">
                <a:tc>
                  <a:txBody>
                    <a:bodyPr/>
                    <a:lstStyle/>
                    <a:p>
                      <a:pPr marL="0" lvl="0" indent="0" algn="l">
                        <a:buNone/>
                      </a:pPr>
                      <a:r>
                        <a:rPr sz="1000"/>
                        <a:t>^soil_nitrogen_</a:t>
                      </a:r>
                    </a:p>
                  </a:txBody>
                  <a:tcPr/>
                </a:tc>
                <a:tc>
                  <a:txBody>
                    <a:bodyPr/>
                    <a:lstStyle/>
                    <a:p>
                      <a:pPr marL="0" lvl="0" indent="0" algn="l">
                        <a:buNone/>
                      </a:pPr>
                      <a:r>
                        <a:rPr sz="1000"/>
                        <a:t>data_defect</a:t>
                      </a:r>
                    </a:p>
                  </a:txBody>
                  <a:tcPr/>
                </a:tc>
                <a:tc>
                  <a:txBody>
                    <a:bodyPr/>
                    <a:lstStyle/>
                    <a:p>
                      <a:pPr marL="0" lvl="0" indent="0" algn="l">
                        <a:buNone/>
                      </a:pPr>
                      <a:r>
                        <a:rPr sz="1000"/>
                        <a:t>Cross-country values are irreconcilable by any constant factor: medians 742 (Gambia) 1090 (Malawi) 2455 (Ta…</a:t>
                      </a:r>
                    </a:p>
                  </a:txBody>
                  <a:tcPr/>
                </a:tc>
                <a:extLst>
                  <a:ext uri="{0D108BD9-81ED-4DB2-BD59-A6C34878D82A}">
                    <a16:rowId xmlns:a16="http://schemas.microsoft.com/office/drawing/2014/main" val="10001"/>
                  </a:ext>
                </a:extLst>
              </a:tr>
              <a:tr h="0">
                <a:tc>
                  <a:txBody>
                    <a:bodyPr/>
                    <a:lstStyle/>
                    <a:p>
                      <a:pPr marL="0" lvl="0" indent="0" algn="l">
                        <a:buNone/>
                      </a:pPr>
                      <a:r>
                        <a:rPr sz="1000"/>
                        <a:t>^soil_totalcarbon_stdev_</a:t>
                      </a:r>
                    </a:p>
                  </a:txBody>
                  <a:tcPr/>
                </a:tc>
                <a:tc>
                  <a:txBody>
                    <a:bodyPr/>
                    <a:lstStyle/>
                    <a:p>
                      <a:pPr marL="0" lvl="0" indent="0" algn="l">
                        <a:buNone/>
                      </a:pPr>
                      <a:r>
                        <a:rPr sz="1000"/>
                        <a:t>data_defect</a:t>
                      </a:r>
                    </a:p>
                  </a:txBody>
                  <a:tcPr/>
                </a:tc>
                <a:tc>
                  <a:txBody>
                    <a:bodyPr/>
                    <a:lstStyle/>
                    <a:p>
                      <a:pPr marL="0" lvl="0" indent="0" algn="l">
                        <a:buNone/>
                      </a:pPr>
                      <a:r>
                        <a:rPr sz="1000"/>
                        <a:t>Dispersion columns diverge &gt;100x across countries while the matching depth MEANS agree; the stdev bands are…</a:t>
                      </a:r>
                    </a:p>
                  </a:txBody>
                  <a:tcPr/>
                </a:tc>
                <a:extLst>
                  <a:ext uri="{0D108BD9-81ED-4DB2-BD59-A6C34878D82A}">
                    <a16:rowId xmlns:a16="http://schemas.microsoft.com/office/drawing/2014/main" val="10002"/>
                  </a:ext>
                </a:extLst>
              </a:tr>
              <a:tr h="0">
                <a:tc>
                  <a:txBody>
                    <a:bodyPr/>
                    <a:lstStyle/>
                    <a:p>
                      <a:pPr marL="0" lvl="0" indent="0" algn="l">
                        <a:buNone/>
                      </a:pPr>
                      <a:r>
                        <a:rPr sz="1000"/>
                        <a:t>^ndvi_y2010$</a:t>
                      </a:r>
                    </a:p>
                  </a:txBody>
                  <a:tcPr/>
                </a:tc>
                <a:tc>
                  <a:txBody>
                    <a:bodyPr/>
                    <a:lstStyle/>
                    <a:p>
                      <a:pPr marL="0" lvl="0" indent="0" algn="l">
                        <a:buNone/>
                      </a:pPr>
                      <a:r>
                        <a:rPr sz="1000"/>
                        <a:t>data_defect</a:t>
                      </a:r>
                    </a:p>
                  </a:txBody>
                  <a:tcPr/>
                </a:tc>
                <a:tc>
                  <a:txBody>
                    <a:bodyPr/>
                    <a:lstStyle/>
                    <a:p>
                      <a:pPr marL="0" lvl="0" indent="0" algn="l">
                        <a:buNone/>
                      </a:pPr>
                      <a:r>
                        <a:rPr sz="1000"/>
                        <a:t>Tanzania median 5.4e-05 against 0.22-0.26 elsewhere while every other year agrees - a defective 2010 slice …</a:t>
                      </a:r>
                    </a:p>
                  </a:txBody>
                  <a:tcPr/>
                </a:tc>
                <a:extLst>
                  <a:ext uri="{0D108BD9-81ED-4DB2-BD59-A6C34878D82A}">
                    <a16:rowId xmlns:a16="http://schemas.microsoft.com/office/drawing/2014/main" val="10003"/>
                  </a:ext>
                </a:extLst>
              </a:tr>
              <a:tr h="0">
                <a:tc>
                  <a:txBody>
                    <a:bodyPr/>
                    <a:lstStyle/>
                    <a:p>
                      <a:pPr marL="0" lvl="0" indent="0" algn="l">
                        <a:buNone/>
                      </a:pPr>
                      <a:r>
                        <a:rPr sz="1000"/>
                        <a:t>^ndvi_y(2019|2020|2021|2022)$</a:t>
                      </a:r>
                    </a:p>
                  </a:txBody>
                  <a:tcPr/>
                </a:tc>
                <a:tc>
                  <a:txBody>
                    <a:bodyPr/>
                    <a:lstStyle/>
                    <a:p>
                      <a:pPr marL="0" lvl="0" indent="0" algn="l">
                        <a:buNone/>
                      </a:pPr>
                      <a:r>
                        <a:rPr sz="1000"/>
                        <a:t>data_defect</a:t>
                      </a:r>
                    </a:p>
                  </a:txBody>
                  <a:tcPr/>
                </a:tc>
                <a:tc>
                  <a:txBody>
                    <a:bodyPr/>
                    <a:lstStyle/>
                    <a:p>
                      <a:pPr marL="0" lvl="0" indent="0" algn="l">
                        <a:buNone/>
                      </a:pPr>
                      <a:r>
                        <a:rPr sz="1000"/>
                        <a:t>NDVI collapses country-dependently after 2018 (2021 medians 0.008 Malawi / 0.018 Gambia / 0.25 Sierra Leone…</a:t>
                      </a:r>
                    </a:p>
                  </a:txBody>
                  <a:tcPr/>
                </a:tc>
                <a:extLst>
                  <a:ext uri="{0D108BD9-81ED-4DB2-BD59-A6C34878D82A}">
                    <a16:rowId xmlns:a16="http://schemas.microsoft.com/office/drawing/2014/main" val="10004"/>
                  </a:ext>
                </a:extLst>
              </a:tr>
              <a:tr h="0">
                <a:tc>
                  <a:txBody>
                    <a:bodyPr/>
                    <a:lstStyle/>
                    <a:p>
                      <a:pPr marL="0" lvl="0" indent="0" algn="l">
                        <a:buNone/>
                      </a:pPr>
                      <a:r>
                        <a:rPr sz="1000"/>
                        <a:t>^(lcover_(snow|moss)</a:t>
                      </a:r>
                      <a:r>
                        <a:rPr sz="1000" i="1"/>
                        <a:t>frac</a:t>
                      </a:r>
                      <a:r>
                        <a:rPr sz="1000"/>
                        <a:t>|tclim_swe_)</a:t>
                      </a:r>
                    </a:p>
                  </a:txBody>
                  <a:tcPr/>
                </a:tc>
                <a:tc>
                  <a:txBody>
                    <a:bodyPr/>
                    <a:lstStyle/>
                    <a:p>
                      <a:pPr marL="0" lvl="0" indent="0" algn="l">
                        <a:buNone/>
                      </a:pPr>
                      <a:r>
                        <a:rPr sz="1000"/>
                        <a:t>data_defect</a:t>
                      </a:r>
                    </a:p>
                  </a:txBody>
                  <a:tcPr/>
                </a:tc>
                <a:tc>
                  <a:txBody>
                    <a:bodyPr/>
                    <a:lstStyle/>
                    <a:p>
                      <a:pPr marL="0" lvl="0" indent="0" algn="l">
                        <a:buNone/>
                      </a:pPr>
                      <a:r>
                        <a:rPr sz="1000"/>
                        <a:t>Identically zero in every district of every country: these are snow cover, moss cover and snow water equiva…</a:t>
                      </a:r>
                    </a:p>
                  </a:txBody>
                  <a:tcPr/>
                </a:tc>
                <a:extLst>
                  <a:ext uri="{0D108BD9-81ED-4DB2-BD59-A6C34878D82A}">
                    <a16:rowId xmlns:a16="http://schemas.microsoft.com/office/drawing/2014/main" val="10005"/>
                  </a:ext>
                </a:extLst>
              </a:tr>
              <a:tr h="0">
                <a:tc>
                  <a:txBody>
                    <a:bodyPr/>
                    <a:lstStyle/>
                    <a:p>
                      <a:pPr marL="0" lvl="0" indent="0" algn="l">
                        <a:buNone/>
                      </a:pPr>
                      <a:r>
                        <a:rPr sz="1000"/>
                        <a:t>^dhs_c_ort_diarrhea$</a:t>
                      </a:r>
                    </a:p>
                  </a:txBody>
                  <a:tcPr/>
                </a:tc>
                <a:tc>
                  <a:txBody>
                    <a:bodyPr/>
                    <a:lstStyle/>
                    <a:p>
                      <a:pPr marL="0" lvl="0" indent="0" algn="l">
                        <a:buNone/>
                      </a:pPr>
                      <a:r>
                        <a:rPr sz="1000"/>
                        <a:t>data_defect</a:t>
                      </a:r>
                    </a:p>
                  </a:txBody>
                  <a:tcPr/>
                </a:tc>
                <a:tc>
                  <a:txBody>
                    <a:bodyPr/>
                    <a:lstStyle/>
                    <a:p>
                      <a:pPr marL="0" lvl="0" indent="0" algn="l">
                        <a:buNone/>
                      </a:pPr>
                      <a:r>
                        <a:rPr sz="1000"/>
                        <a:t>Identically zero in every district - the indicator did not populate in these DHS rounds. A constant cannot …</a:t>
                      </a:r>
                    </a:p>
                  </a:txBody>
                  <a:tcPr/>
                </a:tc>
                <a:extLst>
                  <a:ext uri="{0D108BD9-81ED-4DB2-BD59-A6C34878D82A}">
                    <a16:rowId xmlns:a16="http://schemas.microsoft.com/office/drawing/2014/main" val="10006"/>
                  </a:ext>
                </a:extLst>
              </a:tr>
              <a:tr h="0">
                <a:tc>
                  <a:txBody>
                    <a:bodyPr/>
                    <a:lstStyle/>
                    <a:p>
                      <a:pPr marL="0" lvl="0" indent="0" algn="l">
                        <a:buNone/>
                      </a:pPr>
                      <a:r>
                        <a:rPr sz="1000"/>
                        <a:t>^dhs_w_barrier_transport$</a:t>
                      </a:r>
                    </a:p>
                  </a:txBody>
                  <a:tcPr/>
                </a:tc>
                <a:tc>
                  <a:txBody>
                    <a:bodyPr/>
                    <a:lstStyle/>
                    <a:p>
                      <a:pPr marL="0" lvl="0" indent="0" algn="l">
                        <a:buNone/>
                      </a:pPr>
                      <a:r>
                        <a:rPr sz="1000"/>
                        <a:t>data_defect</a:t>
                      </a:r>
                    </a:p>
                  </a:txBody>
                  <a:tcPr/>
                </a:tc>
                <a:tc>
                  <a:txBody>
                    <a:bodyPr/>
                    <a:lstStyle/>
                    <a:p>
                      <a:pPr marL="0" lvl="0" indent="0" algn="l">
                        <a:buNone/>
                      </a:pPr>
                      <a:r>
                        <a:rPr sz="1000"/>
                        <a:t>All-NA in every district of every country (the transport-barrier item did not populate in these DHS rounds)…</a:t>
                      </a:r>
                    </a:p>
                  </a:txBody>
                  <a:tcPr/>
                </a:tc>
                <a:extLst>
                  <a:ext uri="{0D108BD9-81ED-4DB2-BD59-A6C34878D82A}">
                    <a16:rowId xmlns:a16="http://schemas.microsoft.com/office/drawing/2014/main" val="10007"/>
                  </a:ext>
                </a:extLst>
              </a:tr>
              <a:tr h="0">
                <a:tc>
                  <a:txBody>
                    <a:bodyPr/>
                    <a:lstStyle/>
                    <a:p>
                      <a:pPr marL="0" lvl="0" indent="0" algn="l">
                        <a:buNone/>
                      </a:pPr>
                      <a:r>
                        <a:rPr sz="1000"/>
                        <a:t>^ndvi_y20(1[1-8])$</a:t>
                      </a:r>
                    </a:p>
                  </a:txBody>
                  <a:tcPr/>
                </a:tc>
                <a:tc>
                  <a:txBody>
                    <a:bodyPr/>
                    <a:lstStyle/>
                    <a:p>
                      <a:pPr marL="0" lvl="0" indent="0" algn="l">
                        <a:buNone/>
                      </a:pPr>
                      <a:r>
                        <a:rPr sz="1000"/>
                        <a:t>superseded</a:t>
                      </a:r>
                    </a:p>
                  </a:txBody>
                  <a:tcPr/>
                </a:tc>
                <a:tc>
                  <a:txBody>
                    <a:bodyPr/>
                    <a:lstStyle/>
                    <a:p>
                      <a:pPr marL="0" lvl="0" indent="0" algn="l">
                        <a:buNone/>
                      </a:pPr>
                      <a:r>
                        <a:rPr sz="1000"/>
                        <a:t>Superseded (NV-01, 2026-09-15) by MOD13Q1 NDVI at the survey year (ndvi_modis_t0/win/peak/amp/clim/anom): t…</a:t>
                      </a:r>
                    </a:p>
                  </a:txBody>
                  <a:tcPr/>
                </a:tc>
                <a:extLst>
                  <a:ext uri="{0D108BD9-81ED-4DB2-BD59-A6C34878D82A}">
                    <a16:rowId xmlns:a16="http://schemas.microsoft.com/office/drawing/2014/main" val="10008"/>
                  </a:ext>
                </a:extLst>
              </a:tr>
              <a:tr h="0">
                <a:tc>
                  <a:txBody>
                    <a:bodyPr/>
                    <a:lstStyle/>
                    <a:p>
                      <a:pPr marL="0" lvl="0" indent="0" algn="l">
                        <a:buNone/>
                      </a:pPr>
                      <a:r>
                        <a:rPr sz="1000"/>
                        <a:t>^precip_y20(1[0-9])$</a:t>
                      </a:r>
                    </a:p>
                  </a:txBody>
                  <a:tcPr/>
                </a:tc>
                <a:tc>
                  <a:txBody>
                    <a:bodyPr/>
                    <a:lstStyle/>
                    <a:p>
                      <a:pPr marL="0" lvl="0" indent="0" algn="l">
                        <a:buNone/>
                      </a:pPr>
                      <a:r>
                        <a:rPr sz="1000"/>
                        <a:t>superseded</a:t>
                      </a:r>
                    </a:p>
                  </a:txBody>
                  <a:tcPr/>
                </a:tc>
                <a:tc>
                  <a:txBody>
                    <a:bodyPr/>
                    <a:lstStyle/>
                    <a:p>
                      <a:pPr marL="0" lvl="0" indent="0" algn="l">
                        <a:buNone/>
                      </a:pPr>
                      <a:r>
                        <a:rPr sz="1000"/>
                        <a:t>Superseded (2026-09-15): TRMM 3B43 annual precipitation at a calendar year 2010-2019 lags the survey by up …</a:t>
                      </a:r>
                    </a:p>
                  </a:txBody>
                  <a:tcPr/>
                </a:tc>
                <a:extLst>
                  <a:ext uri="{0D108BD9-81ED-4DB2-BD59-A6C34878D82A}">
                    <a16:rowId xmlns:a16="http://schemas.microsoft.com/office/drawing/2014/main" val="10009"/>
                  </a:ext>
                </a:extLst>
              </a:tr>
              <a:tr h="0">
                <a:tc>
                  <a:txBody>
                    <a:bodyPr/>
                    <a:lstStyle/>
                    <a:p>
                      <a:pPr marL="0" lvl="0" indent="0" algn="l">
                        <a:buNone/>
                      </a:pPr>
                      <a:r>
                        <a:rPr sz="1000"/>
                        <a:t>^popdens_y(2010|2015|2020)$</a:t>
                      </a:r>
                    </a:p>
                  </a:txBody>
                  <a:tcPr/>
                </a:tc>
                <a:tc>
                  <a:txBody>
                    <a:bodyPr/>
                    <a:lstStyle/>
                    <a:p>
                      <a:pPr marL="0" lvl="0" indent="0" algn="l">
                        <a:buNone/>
                      </a:pPr>
                      <a:r>
                        <a:rPr sz="1000"/>
                        <a:t>superseded</a:t>
                      </a:r>
                    </a:p>
                  </a:txBody>
                  <a:tcPr/>
                </a:tc>
                <a:tc>
                  <a:txBody>
                    <a:bodyPr/>
                    <a:lstStyle/>
                    <a:p>
                      <a:pPr marL="0" lvl="0" indent="0" algn="l">
                        <a:buNone/>
                      </a:pPr>
                      <a:r>
                        <a:rPr sz="1000"/>
                        <a:t>Superseded (2026-09-15): GPW v4.11 density at fixed epochs (up to 8 years from the survey); wpop_log_densit…</a:t>
                      </a:r>
                    </a:p>
                  </a:txBody>
                  <a:tcPr/>
                </a:tc>
                <a:extLst>
                  <a:ext uri="{0D108BD9-81ED-4DB2-BD59-A6C34878D82A}">
                    <a16:rowId xmlns:a16="http://schemas.microsoft.com/office/drawing/2014/main" val="10010"/>
                  </a:ext>
                </a:extLst>
              </a:tr>
              <a:tr h="0">
                <a:tc>
                  <a:txBody>
                    <a:bodyPr/>
                    <a:lstStyle/>
                    <a:p>
                      <a:pPr marL="0" lvl="0" indent="0" algn="l">
                        <a:buNone/>
                      </a:pPr>
                      <a:r>
                        <a:rPr sz="1000"/>
                        <a:t>^gpw2010_</a:t>
                      </a:r>
                    </a:p>
                  </a:txBody>
                  <a:tcPr/>
                </a:tc>
                <a:tc>
                  <a:txBody>
                    <a:bodyPr/>
                    <a:lstStyle/>
                    <a:p>
                      <a:pPr marL="0" lvl="0" indent="0" algn="l">
                        <a:buNone/>
                      </a:pPr>
                      <a:r>
                        <a:rPr sz="1000"/>
                        <a:t>superseded</a:t>
                      </a:r>
                    </a:p>
                  </a:txBody>
                  <a:tcPr/>
                </a:tc>
                <a:tc>
                  <a:txBody>
                    <a:bodyPr/>
                    <a:lstStyle/>
                    <a:p>
                      <a:pPr marL="0" lvl="0" indent="0" algn="l">
                        <a:buNone/>
                      </a:pPr>
                      <a:r>
                        <a:rPr sz="1000"/>
                        <a:t>Superseded (2026-09-15): GPW 2010 age-sex shares are 3-8 years from the surveys; the WorldPop 2020 shares (…</a:t>
                      </a:r>
                    </a:p>
                  </a:txBody>
                  <a:tcPr/>
                </a:tc>
                <a:extLst>
                  <a:ext uri="{0D108BD9-81ED-4DB2-BD59-A6C34878D82A}">
                    <a16:rowId xmlns:a16="http://schemas.microsoft.com/office/drawing/2014/main" val="10011"/>
                  </a:ext>
                </a:extLst>
              </a:tr>
              <a:tr h="0">
                <a:tc>
                  <a:txBody>
                    <a:bodyPr/>
                    <a:lstStyle/>
                    <a:p>
                      <a:pPr marL="0" lvl="0" indent="0" algn="l">
                        <a:buNone/>
                      </a:pPr>
                      <a:r>
                        <a:rPr sz="1000"/>
                        <a:t>^ihme_proportionofpopulationachievingyearseducation$</a:t>
                      </a:r>
                    </a:p>
                  </a:txBody>
                  <a:tcPr/>
                </a:tc>
                <a:tc>
                  <a:txBody>
                    <a:bodyPr/>
                    <a:lstStyle/>
                    <a:p>
                      <a:pPr marL="0" lvl="0" indent="0" algn="l">
                        <a:buNone/>
                      </a:pPr>
                      <a:r>
                        <a:rPr sz="1000"/>
                        <a:t>data_defect</a:t>
                      </a:r>
                    </a:p>
                  </a:txBody>
                  <a:tcPr/>
                </a:tc>
                <a:tc>
                  <a:txBody>
                    <a:bodyPr/>
                    <a:lstStyle/>
                    <a:p>
                      <a:pPr marL="0" lvl="0" indent="0" algn="l">
                        <a:buNone/>
                      </a:pPr>
                      <a:r>
                        <a:rPr sz="1000"/>
                        <a:t>Data defect (2026-09-15): script 08’s key normaliser dropped the digits from three IHME education categorie…</a:t>
                      </a:r>
                    </a:p>
                  </a:txBody>
                  <a:tcPr/>
                </a:tc>
                <a:extLst>
                  <a:ext uri="{0D108BD9-81ED-4DB2-BD59-A6C34878D82A}">
                    <a16:rowId xmlns:a16="http://schemas.microsoft.com/office/drawing/2014/main" val="10012"/>
                  </a:ext>
                </a:extLst>
              </a:tr>
              <a:tr h="0">
                <a:tc>
                  <a:txBody>
                    <a:bodyPr/>
                    <a:lstStyle/>
                    <a:p>
                      <a:pPr marL="0" lvl="0" indent="0" algn="l">
                        <a:buNone/>
                      </a:pPr>
                      <a:r>
                        <a:rPr sz="1000"/>
                        <a:t>^dhs_(FP_CUSA_W_MOD|FP_NADA_W_UNT|AN_ANEM_W_ANY|CN_NUTS_C_WH2|CN_ANMC_C_ANY|CN_NUTS_C_HA2|AN_NUTS_W_THN|RH_ANCN_W_N4P)$</a:t>
                      </a:r>
                    </a:p>
                  </a:txBody>
                  <a:tcPr/>
                </a:tc>
                <a:tc>
                  <a:txBody>
                    <a:bodyPr/>
                    <a:lstStyle/>
                    <a:p>
                      <a:pPr marL="0" lvl="0" indent="0" algn="l">
                        <a:buNone/>
                      </a:pPr>
                      <a:r>
                        <a:rPr sz="1000"/>
                        <a:t>redundant</a:t>
                      </a:r>
                    </a:p>
                  </a:txBody>
                  <a:tcPr/>
                </a:tc>
                <a:tc>
                  <a:txBody>
                    <a:bodyPr/>
                    <a:lstStyle/>
                    <a:p>
                      <a:pPr marL="0" lvl="0" indent="0" algn="l">
                        <a:buNone/>
                      </a:pPr>
                      <a:r>
                        <a:rPr sz="1000"/>
                        <a:t>Redundant (RV-01, 2026-09-15): STATcompiler-style DHS indicators that duplicate the custom recode indicator…</a:t>
                      </a:r>
                    </a:p>
                  </a:txBody>
                  <a:tcPr/>
                </a:tc>
                <a:extLst>
                  <a:ext uri="{0D108BD9-81ED-4DB2-BD59-A6C34878D82A}">
                    <a16:rowId xmlns:a16="http://schemas.microsoft.com/office/drawing/2014/main" val="10013"/>
                  </a:ext>
                </a:extLst>
              </a:tr>
              <a:tr h="0">
                <a:tc>
                  <a:txBody>
                    <a:bodyPr/>
                    <a:lstStyle/>
                    <a:p>
                      <a:pPr marL="0" lvl="0" indent="0" algn="l">
                        <a:buNone/>
                      </a:pPr>
                      <a:r>
                        <a:rPr sz="1000"/>
                        <a:t>^dhs_w_primary_edu$</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dhs_w_no_education (its complement).</a:t>
                      </a:r>
                    </a:p>
                  </a:txBody>
                  <a:tcPr/>
                </a:tc>
                <a:extLst>
                  <a:ext uri="{0D108BD9-81ED-4DB2-BD59-A6C34878D82A}">
                    <a16:rowId xmlns:a16="http://schemas.microsoft.com/office/drawing/2014/main" val="10014"/>
                  </a:ext>
                </a:extLst>
              </a:tr>
              <a:tr h="0">
                <a:tc>
                  <a:txBody>
                    <a:bodyPr/>
                    <a:lstStyle/>
                    <a:p>
                      <a:pPr marL="0" lvl="0" indent="0" algn="l">
                        <a:buNone/>
                      </a:pPr>
                      <a:r>
                        <a:rPr sz="1000"/>
                        <a:t>^dhs_w_iron_supplement$</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dhs_w_iron_pregnancy.</a:t>
                      </a:r>
                    </a:p>
                  </a:txBody>
                  <a:tcPr/>
                </a:tc>
                <a:extLst>
                  <a:ext uri="{0D108BD9-81ED-4DB2-BD59-A6C34878D82A}">
                    <a16:rowId xmlns:a16="http://schemas.microsoft.com/office/drawing/2014/main" val="10015"/>
                  </a:ext>
                </a:extLst>
              </a:tr>
              <a:tr h="0">
                <a:tc>
                  <a:txBody>
                    <a:bodyPr/>
                    <a:lstStyle/>
                    <a:p>
                      <a:pPr marL="0" lvl="0" indent="0" algn="l">
                        <a:buNone/>
                      </a:pPr>
                      <a:r>
                        <a:rPr sz="1000"/>
                        <a:t>^dhs_c_vita_rich_food$</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dhs_c_fg_vitA_fruitveg.</a:t>
                      </a:r>
                    </a:p>
                  </a:txBody>
                  <a:tcPr/>
                </a:tc>
                <a:extLst>
                  <a:ext uri="{0D108BD9-81ED-4DB2-BD59-A6C34878D82A}">
                    <a16:rowId xmlns:a16="http://schemas.microsoft.com/office/drawing/2014/main" val="10016"/>
                  </a:ext>
                </a:extLst>
              </a:tr>
              <a:tr h="0">
                <a:tc>
                  <a:txBody>
                    <a:bodyPr/>
                    <a:lstStyle/>
                    <a:p>
                      <a:pPr marL="0" lvl="0" indent="0" algn="l">
                        <a:buNone/>
                      </a:pPr>
                      <a:r>
                        <a:rPr sz="1000"/>
                        <a:t>^espen_(sth|sch)_prev_mid_base$</a:t>
                      </a:r>
                    </a:p>
                  </a:txBody>
                  <a:tcPr/>
                </a:tc>
                <a:tc>
                  <a:txBody>
                    <a:bodyPr/>
                    <a:lstStyle/>
                    <a:p>
                      <a:pPr marL="0" lvl="0" indent="0" algn="l">
                        <a:buNone/>
                      </a:pPr>
                      <a:r>
                        <a:rPr sz="1000"/>
                        <a:t>redundant</a:t>
                      </a:r>
                    </a:p>
                  </a:txBody>
                  <a:tcPr/>
                </a:tc>
                <a:tc>
                  <a:txBody>
                    <a:bodyPr/>
                    <a:lstStyle/>
                    <a:p>
                      <a:pPr marL="0" lvl="0" indent="0" algn="l">
                        <a:buNone/>
                      </a:pPr>
                      <a:r>
                        <a:rPr sz="1000"/>
                        <a:t>Redundant (RV-01): the earliest ESPEN year is the year nearest every survey, so _base equals _prev_mid (r &gt;…</a:t>
                      </a:r>
                    </a:p>
                  </a:txBody>
                  <a:tcPr/>
                </a:tc>
                <a:extLst>
                  <a:ext uri="{0D108BD9-81ED-4DB2-BD59-A6C34878D82A}">
                    <a16:rowId xmlns:a16="http://schemas.microsoft.com/office/drawing/2014/main" val="10017"/>
                  </a:ext>
                </a:extLst>
              </a:tr>
              <a:tr h="0">
                <a:tc>
                  <a:txBody>
                    <a:bodyPr/>
                    <a:lstStyle/>
                    <a:p>
                      <a:pPr marL="0" lvl="0" indent="0" algn="l">
                        <a:buNone/>
                      </a:pPr>
                      <a:r>
                        <a:rPr sz="1000"/>
                        <a:t>^(map_sy_pf_incidence_rate|ihme_malaria_incidence_rate)$</a:t>
                      </a:r>
                    </a:p>
                  </a:txBody>
                  <a:tcPr/>
                </a:tc>
                <a:tc>
                  <a:txBody>
                    <a:bodyPr/>
                    <a:lstStyle/>
                    <a:p>
                      <a:pPr marL="0" lvl="0" indent="0" algn="l">
                        <a:buNone/>
                      </a:pPr>
                      <a:r>
                        <a:rPr sz="1000"/>
                        <a:t>redundant</a:t>
                      </a:r>
                    </a:p>
                  </a:txBody>
                  <a:tcPr/>
                </a:tc>
                <a:tc>
                  <a:txBody>
                    <a:bodyPr/>
                    <a:lstStyle/>
                    <a:p>
                      <a:pPr marL="0" lvl="0" indent="0" algn="l">
                        <a:buNone/>
                      </a:pPr>
                      <a:r>
                        <a:rPr sz="1000"/>
                        <a:t>Redundant (RV-01): incidence is a deterministic function of the parasite rate in both products (r 0.998-0.9…</a:t>
                      </a:r>
                    </a:p>
                  </a:txBody>
                  <a:tcPr/>
                </a:tc>
                <a:extLst>
                  <a:ext uri="{0D108BD9-81ED-4DB2-BD59-A6C34878D82A}">
                    <a16:rowId xmlns:a16="http://schemas.microsoft.com/office/drawing/2014/main" val="10018"/>
                  </a:ext>
                </a:extLst>
              </a:tr>
              <a:tr h="0">
                <a:tc>
                  <a:txBody>
                    <a:bodyPr/>
                    <a:lstStyle/>
                    <a:p>
                      <a:pPr marL="0" lvl="0" indent="0" algn="l">
                        <a:buNone/>
                      </a:pPr>
                      <a:r>
                        <a:rPr sz="1000"/>
                        <a:t>^wpop_log_density$</a:t>
                      </a:r>
                    </a:p>
                  </a:txBody>
                  <a:tcPr/>
                </a:tc>
                <a:tc>
                  <a:txBody>
                    <a:bodyPr/>
                    <a:lstStyle/>
                    <a:p>
                      <a:pPr marL="0" lvl="0" indent="0" algn="l">
                        <a:buNone/>
                      </a:pPr>
                      <a:r>
                        <a:rPr sz="1000"/>
                        <a:t>superseded</a:t>
                      </a:r>
                    </a:p>
                  </a:txBody>
                  <a:tcPr/>
                </a:tc>
                <a:tc>
                  <a:txBody>
                    <a:bodyPr/>
                    <a:lstStyle/>
                    <a:p>
                      <a:pPr marL="0" lvl="0" indent="0" algn="l">
                        <a:buNone/>
                      </a:pPr>
                      <a:r>
                        <a:rPr sz="1000"/>
                        <a:t>Superseded (RV-01): 2020-vintage WorldPop density; r = 0.999 with wpop_log_density_survey_year, which is at…</a:t>
                      </a:r>
                    </a:p>
                  </a:txBody>
                  <a:tcPr/>
                </a:tc>
                <a:extLst>
                  <a:ext uri="{0D108BD9-81ED-4DB2-BD59-A6C34878D82A}">
                    <a16:rowId xmlns:a16="http://schemas.microsoft.com/office/drawing/2014/main" val="10019"/>
                  </a:ext>
                </a:extLst>
              </a:tr>
              <a:tr h="0">
                <a:tc>
                  <a:txBody>
                    <a:bodyPr/>
                    <a:lstStyle/>
                    <a:p>
                      <a:pPr marL="0" lvl="0" indent="0" algn="l">
                        <a:buNone/>
                      </a:pPr>
                      <a:r>
                        <a:rPr sz="1000"/>
                        <a:t>^wsf$</a:t>
                      </a:r>
                    </a:p>
                  </a:txBody>
                  <a:tcPr/>
                </a:tc>
                <a:tc>
                  <a:txBody>
                    <a:bodyPr/>
                    <a:lstStyle/>
                    <a:p>
                      <a:pPr marL="0" lvl="0" indent="0" algn="l">
                        <a:buNone/>
                      </a:pPr>
                      <a:r>
                        <a:rPr sz="1000"/>
                        <a:t>redundant</a:t>
                      </a:r>
                    </a:p>
                  </a:txBody>
                  <a:tcPr/>
                </a:tc>
                <a:tc>
                  <a:txBody>
                    <a:bodyPr/>
                    <a:lstStyle/>
                    <a:p>
                      <a:pPr marL="0" lvl="0" indent="0" algn="l">
                        <a:buNone/>
                      </a:pPr>
                      <a:r>
                        <a:rPr sz="1000"/>
                        <a:t>Redundant (RV-01): World Settlement Footprint 2015 has r = 0.992 with lcover_urban_frac_t0, which is at the…</a:t>
                      </a:r>
                    </a:p>
                  </a:txBody>
                  <a:tcPr/>
                </a:tc>
                <a:extLst>
                  <a:ext uri="{0D108BD9-81ED-4DB2-BD59-A6C34878D82A}">
                    <a16:rowId xmlns:a16="http://schemas.microsoft.com/office/drawing/2014/main" val="10020"/>
                  </a:ext>
                </a:extLst>
              </a:tr>
              <a:tr h="0">
                <a:tc>
                  <a:txBody>
                    <a:bodyPr/>
                    <a:lstStyle/>
                    <a:p>
                      <a:pPr marL="0" lvl="0" indent="0" algn="l">
                        <a:buNone/>
                      </a:pPr>
                      <a:r>
                        <a:rPr sz="1000"/>
                        <a:t>^mics_heat_vhib_sy$</a:t>
                      </a:r>
                    </a:p>
                  </a:txBody>
                  <a:tcPr/>
                </a:tc>
                <a:tc>
                  <a:txBody>
                    <a:bodyPr/>
                    <a:lstStyle/>
                    <a:p>
                      <a:pPr marL="0" lvl="0" indent="0" algn="l">
                        <a:buNone/>
                      </a:pPr>
                      <a:r>
                        <a:rPr sz="1000"/>
                        <a:t>redundant</a:t>
                      </a:r>
                    </a:p>
                  </a:txBody>
                  <a:tcPr/>
                </a:tc>
                <a:tc>
                  <a:txBody>
                    <a:bodyPr/>
                    <a:lstStyle/>
                    <a:p>
                      <a:pPr marL="0" lvl="0" indent="0" algn="l">
                        <a:buNone/>
                      </a:pPr>
                      <a:r>
                        <a:rPr sz="1000"/>
                        <a:t>Redundant (RV-01): Hib is given as the pentavalent vaccine, r = 0.990 with mics_heat_vdpt_sy.</a:t>
                      </a:r>
                    </a:p>
                  </a:txBody>
                  <a:tcPr/>
                </a:tc>
                <a:extLst>
                  <a:ext uri="{0D108BD9-81ED-4DB2-BD59-A6C34878D82A}">
                    <a16:rowId xmlns:a16="http://schemas.microsoft.com/office/drawing/2014/main" val="10021"/>
                  </a:ext>
                </a:extLst>
              </a:tr>
              <a:tr h="0">
                <a:tc>
                  <a:txBody>
                    <a:bodyPr/>
                    <a:lstStyle/>
                    <a:p>
                      <a:pPr marL="0" lvl="0" indent="0" algn="l">
                        <a:buNone/>
                      </a:pPr>
                      <a:r>
                        <a:rPr sz="1000"/>
                        <a:t>^rtfp_dist_market_km$</a:t>
                      </a:r>
                    </a:p>
                  </a:txBody>
                  <a:tcPr/>
                </a:tc>
                <a:tc>
                  <a:txBody>
                    <a:bodyPr/>
                    <a:lstStyle/>
                    <a:p>
                      <a:pPr marL="0" lvl="0" indent="0" algn="l">
                        <a:buNone/>
                      </a:pPr>
                      <a:r>
                        <a:rPr sz="1000"/>
                        <a:t>redundant</a:t>
                      </a:r>
                    </a:p>
                  </a:txBody>
                  <a:tcPr/>
                </a:tc>
                <a:tc>
                  <a:txBody>
                    <a:bodyPr/>
                    <a:lstStyle/>
                    <a:p>
                      <a:pPr marL="0" lvl="0" indent="0" algn="l">
                        <a:buNone/>
                      </a:pPr>
                      <a:r>
                        <a:rPr sz="1000"/>
                        <a:t>Redundant (RV-01): r = 0.984 with fprice_dist_nearest_market_km (the same WFP markets), which covers all fo…</a:t>
                      </a:r>
                    </a:p>
                  </a:txBody>
                  <a:tcPr/>
                </a:tc>
                <a:extLst>
                  <a:ext uri="{0D108BD9-81ED-4DB2-BD59-A6C34878D82A}">
                    <a16:rowId xmlns:a16="http://schemas.microsoft.com/office/drawing/2014/main" val="10022"/>
                  </a:ext>
                </a:extLst>
              </a:tr>
              <a:tr h="0">
                <a:tc>
                  <a:txBody>
                    <a:bodyPr/>
                    <a:lstStyle/>
                    <a:p>
                      <a:pPr marL="0" lvl="0" indent="0" algn="l">
                        <a:buNone/>
                      </a:pPr>
                      <a:r>
                        <a:rPr sz="1000"/>
                        <a:t>^flunet_</a:t>
                      </a:r>
                    </a:p>
                  </a:txBody>
                  <a:tcPr/>
                </a:tc>
                <a:tc>
                  <a:txBody>
                    <a:bodyPr/>
                    <a:lstStyle/>
                    <a:p>
                      <a:pPr marL="0" lvl="0" indent="0" algn="l">
                        <a:buNone/>
                      </a:pPr>
                      <a:r>
                        <a:rPr sz="1000"/>
                        <a:t>national_track</a:t>
                      </a:r>
                    </a:p>
                  </a:txBody>
                  <a:tcPr/>
                </a:tc>
                <a:tc>
                  <a:txBody>
                    <a:bodyPr/>
                    <a:lstStyle/>
                    <a:p>
                      <a:pPr marL="0" lvl="0" indent="0" algn="l">
                        <a:buNone/>
                      </a:pPr>
                      <a:r>
                        <a:rPr sz="1000"/>
                        <a:t>National track only (2026-09-16): the three FluNet indicators are national constants in the district set (d…</a:t>
                      </a:r>
                    </a:p>
                  </a:txBody>
                  <a:tcPr/>
                </a:tc>
                <a:extLst>
                  <a:ext uri="{0D108BD9-81ED-4DB2-BD59-A6C34878D82A}">
                    <a16:rowId xmlns:a16="http://schemas.microsoft.com/office/drawing/2014/main" val="10023"/>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set by domain and tier</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342900">
                  <a:extLst>
                    <a:ext uri="{9D8B030D-6E8A-4147-A177-3AD203B41FA5}">
                      <a16:colId xmlns:a16="http://schemas.microsoft.com/office/drawing/2014/main" val="20004"/>
                    </a:ext>
                  </a:extLst>
                </a:gridCol>
                <a:gridCol w="17399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0">
                <a:tc>
                  <a:txBody>
                    <a:bodyPr/>
                    <a:lstStyle/>
                    <a:p>
                      <a:pPr marL="0" lvl="0" indent="0" algn="l">
                        <a:buNone/>
                      </a:pPr>
                      <a:r>
                        <a:rPr sz="1000"/>
                        <a:t>Domain</a:t>
                      </a:r>
                    </a:p>
                  </a:txBody>
                  <a:tcPr/>
                </a:tc>
                <a:tc>
                  <a:txBody>
                    <a:bodyPr/>
                    <a:lstStyle/>
                    <a:p>
                      <a:pPr marL="0" lvl="0" indent="0" algn="r">
                        <a:buNone/>
                      </a:pPr>
                      <a:r>
                        <a:rPr sz="1000"/>
                        <a:t>Columns</a:t>
                      </a:r>
                    </a:p>
                  </a:txBody>
                  <a:tcPr/>
                </a:tc>
                <a:tc>
                  <a:txBody>
                    <a:bodyPr/>
                    <a:lstStyle/>
                    <a:p>
                      <a:pPr marL="0" lvl="0" indent="0" algn="r">
                        <a:buNone/>
                      </a:pPr>
                      <a:r>
                        <a:rPr sz="1000"/>
                        <a:t>Open</a:t>
                      </a:r>
                    </a:p>
                  </a:txBody>
                  <a:tcPr/>
                </a:tc>
                <a:tc>
                  <a:txBody>
                    <a:bodyPr/>
                    <a:lstStyle/>
                    <a:p>
                      <a:pPr marL="0" lvl="0" indent="0" algn="r">
                        <a:buNone/>
                      </a:pPr>
                      <a:r>
                        <a:rPr sz="1000"/>
                        <a:t>Public microdata</a:t>
                      </a:r>
                    </a:p>
                  </a:txBody>
                  <a:tcPr/>
                </a:tc>
                <a:tc>
                  <a:txBody>
                    <a:bodyPr/>
                    <a:lstStyle/>
                    <a:p>
                      <a:pPr marL="0" lvl="0" indent="0" algn="r">
                        <a:buNone/>
                      </a:pPr>
                      <a:r>
                        <a:rPr sz="1000"/>
                        <a:t>DHS</a:t>
                      </a:r>
                    </a:p>
                  </a:txBody>
                  <a:tcPr/>
                </a:tc>
                <a:tc>
                  <a:txBody>
                    <a:bodyPr/>
                    <a:lstStyle/>
                    <a:p>
                      <a:pPr marL="0" lvl="0" indent="0" algn="r">
                        <a:buNone/>
                      </a:pPr>
                      <a:r>
                        <a:rPr sz="1000"/>
                        <a:t>Vary within country</a:t>
                      </a:r>
                    </a:p>
                  </a:txBody>
                  <a:tcPr/>
                </a:tc>
                <a:tc>
                  <a:txBody>
                    <a:bodyPr/>
                    <a:lstStyle/>
                    <a:p>
                      <a:pPr marL="0" lvl="0" indent="0" algn="r">
                        <a:buNone/>
                      </a:pPr>
                      <a:r>
                        <a:rPr sz="1000"/>
                        <a:t>Modelled surfaces</a:t>
                      </a:r>
                    </a:p>
                  </a:txBody>
                  <a:tcPr/>
                </a:tc>
                <a:extLst>
                  <a:ext uri="{0D108BD9-81ED-4DB2-BD59-A6C34878D82A}">
                    <a16:rowId xmlns:a16="http://schemas.microsoft.com/office/drawing/2014/main" val="10000"/>
                  </a:ext>
                </a:extLst>
              </a:tr>
              <a:tr h="0">
                <a:tc>
                  <a:txBody>
                    <a:bodyPr/>
                    <a:lstStyle/>
                    <a:p>
                      <a:pPr marL="0" lvl="0" indent="0" algn="l">
                        <a:buNone/>
                      </a:pPr>
                      <a:r>
                        <a:rPr sz="1000"/>
                        <a:t>Satellite embedding</a:t>
                      </a:r>
                    </a:p>
                  </a:txBody>
                  <a:tcPr/>
                </a:tc>
                <a:tc>
                  <a:txBody>
                    <a:bodyPr/>
                    <a:lstStyle/>
                    <a:p>
                      <a:pPr marL="0" lvl="0" indent="0" algn="r">
                        <a:buNone/>
                      </a:pPr>
                      <a:r>
                        <a:rPr sz="1000"/>
                        <a:t>64</a:t>
                      </a:r>
                    </a:p>
                  </a:txBody>
                  <a:tcPr/>
                </a:tc>
                <a:tc>
                  <a:txBody>
                    <a:bodyPr/>
                    <a:lstStyle/>
                    <a:p>
                      <a:pPr marL="0" lvl="0" indent="0" algn="r">
                        <a:buNone/>
                      </a:pPr>
                      <a:r>
                        <a:rPr sz="1000"/>
                        <a:t>64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64</a:t>
                      </a:r>
                    </a:p>
                  </a:txBody>
                  <a:tcPr/>
                </a:tc>
                <a:tc>
                  <a:txBody>
                    <a:bodyPr/>
                    <a:lstStyle/>
                    <a:p>
                      <a:pPr marL="0" lvl="0" indent="0" algn="r">
                        <a:buNone/>
                      </a:pPr>
                      <a:r>
                        <a:rPr sz="1000"/>
                        <a:t>0</a:t>
                      </a:r>
                    </a:p>
                  </a:txBody>
                  <a:tcPr/>
                </a:tc>
                <a:extLst>
                  <a:ext uri="{0D108BD9-81ED-4DB2-BD59-A6C34878D82A}">
                    <a16:rowId xmlns:a16="http://schemas.microsoft.com/office/drawing/2014/main" val="10001"/>
                  </a:ext>
                </a:extLst>
              </a:tr>
              <a:tr h="0">
                <a:tc>
                  <a:txBody>
                    <a:bodyPr/>
                    <a:lstStyle/>
                    <a:p>
                      <a:pPr marL="0" lvl="0" indent="0" algn="l">
                        <a:buNone/>
                      </a:pPr>
                      <a:r>
                        <a:rPr sz="1000"/>
                        <a:t>Climate and weather</a:t>
                      </a:r>
                    </a:p>
                  </a:txBody>
                  <a:tcPr/>
                </a:tc>
                <a:tc>
                  <a:txBody>
                    <a:bodyPr/>
                    <a:lstStyle/>
                    <a:p>
                      <a:pPr marL="0" lvl="0" indent="0" algn="r">
                        <a:buNone/>
                      </a:pPr>
                      <a:r>
                        <a:rPr sz="1000"/>
                        <a:t>60</a:t>
                      </a:r>
                    </a:p>
                  </a:txBody>
                  <a:tcPr/>
                </a:tc>
                <a:tc>
                  <a:txBody>
                    <a:bodyPr/>
                    <a:lstStyle/>
                    <a:p>
                      <a:pPr marL="0" lvl="0" indent="0" algn="r">
                        <a:buNone/>
                      </a:pPr>
                      <a:r>
                        <a:rPr sz="1000"/>
                        <a:t>60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60</a:t>
                      </a:r>
                    </a:p>
                  </a:txBody>
                  <a:tcPr/>
                </a:tc>
                <a:tc>
                  <a:txBody>
                    <a:bodyPr/>
                    <a:lstStyle/>
                    <a:p>
                      <a:pPr marL="0" lvl="0" indent="0" algn="r">
                        <a:buNone/>
                      </a:pPr>
                      <a:r>
                        <a:rPr sz="1000"/>
                        <a:t>0</a:t>
                      </a:r>
                    </a:p>
                  </a:txBody>
                  <a:tcPr/>
                </a:tc>
                <a:extLst>
                  <a:ext uri="{0D108BD9-81ED-4DB2-BD59-A6C34878D82A}">
                    <a16:rowId xmlns:a16="http://schemas.microsoft.com/office/drawing/2014/main" val="10002"/>
                  </a:ext>
                </a:extLst>
              </a:tr>
              <a:tr h="0">
                <a:tc>
                  <a:txBody>
                    <a:bodyPr/>
                    <a:lstStyle/>
                    <a:p>
                      <a:pPr marL="0" lvl="0" indent="0" algn="l">
                        <a:buNone/>
                      </a:pPr>
                      <a:r>
                        <a:rPr sz="1000"/>
                        <a:t>Soil characteristics</a:t>
                      </a:r>
                    </a:p>
                  </a:txBody>
                  <a:tcPr/>
                </a:tc>
                <a:tc>
                  <a:txBody>
                    <a:bodyPr/>
                    <a:lstStyle/>
                    <a:p>
                      <a:pPr marL="0" lvl="0" indent="0" algn="r">
                        <a:buNone/>
                      </a:pPr>
                      <a:r>
                        <a:rPr sz="1000"/>
                        <a:t>45</a:t>
                      </a:r>
                    </a:p>
                  </a:txBody>
                  <a:tcPr/>
                </a:tc>
                <a:tc>
                  <a:txBody>
                    <a:bodyPr/>
                    <a:lstStyle/>
                    <a:p>
                      <a:pPr marL="0" lvl="0" indent="0" algn="r">
                        <a:buNone/>
                      </a:pPr>
                      <a:r>
                        <a:rPr sz="1000"/>
                        <a:t>45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45</a:t>
                      </a:r>
                    </a:p>
                  </a:txBody>
                  <a:tcPr/>
                </a:tc>
                <a:tc>
                  <a:txBody>
                    <a:bodyPr/>
                    <a:lstStyle/>
                    <a:p>
                      <a:pPr marL="0" lvl="0" indent="0" algn="r">
                        <a:buNone/>
                      </a:pPr>
                      <a:r>
                        <a:rPr sz="1000"/>
                        <a:t>0</a:t>
                      </a:r>
                    </a:p>
                  </a:txBody>
                  <a:tcPr/>
                </a:tc>
                <a:extLst>
                  <a:ext uri="{0D108BD9-81ED-4DB2-BD59-A6C34878D82A}">
                    <a16:rowId xmlns:a16="http://schemas.microsoft.com/office/drawing/2014/main" val="10003"/>
                  </a:ext>
                </a:extLst>
              </a:tr>
              <a:tr h="0">
                <a:tc>
                  <a:txBody>
                    <a:bodyPr/>
                    <a:lstStyle/>
                    <a:p>
                      <a:pPr marL="0" lvl="0" indent="0" algn="l">
                        <a:buNone/>
                      </a:pPr>
                      <a:r>
                        <a:rPr sz="1000"/>
                        <a:t>Infection and inflammation burden</a:t>
                      </a:r>
                    </a:p>
                  </a:txBody>
                  <a:tcPr/>
                </a:tc>
                <a:tc>
                  <a:txBody>
                    <a:bodyPr/>
                    <a:lstStyle/>
                    <a:p>
                      <a:pPr marL="0" lvl="0" indent="0" algn="r">
                        <a:buNone/>
                      </a:pPr>
                      <a:r>
                        <a:rPr sz="1000"/>
                        <a:t>39</a:t>
                      </a:r>
                    </a:p>
                  </a:txBody>
                  <a:tcPr/>
                </a:tc>
                <a:tc>
                  <a:txBody>
                    <a:bodyPr/>
                    <a:lstStyle/>
                    <a:p>
                      <a:pPr marL="0" lvl="0" indent="0" algn="r">
                        <a:buNone/>
                      </a:pPr>
                      <a:r>
                        <a:rPr sz="1000"/>
                        <a:t>27</a:t>
                      </a:r>
                    </a:p>
                  </a:txBody>
                  <a:tcPr/>
                </a:tc>
                <a:tc>
                  <a:txBody>
                    <a:bodyPr/>
                    <a:lstStyle/>
                    <a:p>
                      <a:pPr marL="0" lvl="0" indent="0" algn="r">
                        <a:buNone/>
                      </a:pPr>
                      <a:r>
                        <a:rPr sz="1000"/>
                        <a:t>4</a:t>
                      </a:r>
                    </a:p>
                  </a:txBody>
                  <a:tcPr/>
                </a:tc>
                <a:tc>
                  <a:txBody>
                    <a:bodyPr/>
                    <a:lstStyle/>
                    <a:p>
                      <a:pPr marL="0" lvl="0" indent="0" algn="r">
                        <a:buNone/>
                      </a:pPr>
                      <a:r>
                        <a:rPr sz="1000"/>
                        <a:t>8</a:t>
                      </a:r>
                    </a:p>
                  </a:txBody>
                  <a:tcPr/>
                </a:tc>
                <a:tc>
                  <a:txBody>
                    <a:bodyPr/>
                    <a:lstStyle/>
                    <a:p>
                      <a:pPr marL="0" lvl="0" indent="0" algn="r">
                        <a:buNone/>
                      </a:pPr>
                      <a:r>
                        <a:rPr sz="1000"/>
                        <a:t>39</a:t>
                      </a:r>
                    </a:p>
                  </a:txBody>
                  <a:tcPr/>
                </a:tc>
                <a:tc>
                  <a:txBody>
                    <a:bodyPr/>
                    <a:lstStyle/>
                    <a:p>
                      <a:pPr marL="0" lvl="0" indent="0" algn="r">
                        <a:buNone/>
                      </a:pPr>
                      <a:r>
                        <a:rPr sz="1000"/>
                        <a:t>10</a:t>
                      </a:r>
                    </a:p>
                  </a:txBody>
                  <a:tcPr/>
                </a:tc>
                <a:extLst>
                  <a:ext uri="{0D108BD9-81ED-4DB2-BD59-A6C34878D82A}">
                    <a16:rowId xmlns:a16="http://schemas.microsoft.com/office/drawing/2014/main" val="10004"/>
                  </a:ext>
                </a:extLst>
              </a:tr>
              <a:tr h="0">
                <a:tc>
                  <a:txBody>
                    <a:bodyPr/>
                    <a:lstStyle/>
                    <a:p>
                      <a:pPr marL="0" lvl="0" indent="0" algn="l">
                        <a:buNone/>
                      </a:pPr>
                      <a:r>
                        <a:rPr sz="1000"/>
                        <a:t>Food fortification and supplementation</a:t>
                      </a:r>
                    </a:p>
                  </a:txBody>
                  <a:tcPr/>
                </a:tc>
                <a:tc>
                  <a:txBody>
                    <a:bodyPr/>
                    <a:lstStyle/>
                    <a:p>
                      <a:pPr marL="0" lvl="0" indent="0" algn="r">
                        <a:buNone/>
                      </a:pPr>
                      <a:r>
                        <a:rPr sz="1000"/>
                        <a:t>35</a:t>
                      </a:r>
                    </a:p>
                  </a:txBody>
                  <a:tcPr/>
                </a:tc>
                <a:tc>
                  <a:txBody>
                    <a:bodyPr/>
                    <a:lstStyle/>
                    <a:p>
                      <a:pPr marL="0" lvl="0" indent="0" algn="r">
                        <a:buNone/>
                      </a:pPr>
                      <a:r>
                        <a:rPr sz="1000"/>
                        <a:t>25</a:t>
                      </a:r>
                    </a:p>
                  </a:txBody>
                  <a:tcPr/>
                </a:tc>
                <a:tc>
                  <a:txBody>
                    <a:bodyPr/>
                    <a:lstStyle/>
                    <a:p>
                      <a:pPr marL="0" lvl="0" indent="0" algn="r">
                        <a:buNone/>
                      </a:pPr>
                      <a:r>
                        <a:rPr sz="1000"/>
                        <a:t>3</a:t>
                      </a:r>
                    </a:p>
                  </a:txBody>
                  <a:tcPr/>
                </a:tc>
                <a:tc>
                  <a:txBody>
                    <a:bodyPr/>
                    <a:lstStyle/>
                    <a:p>
                      <a:pPr marL="0" lvl="0" indent="0" algn="r">
                        <a:buNone/>
                      </a:pPr>
                      <a:r>
                        <a:rPr sz="1000"/>
                        <a:t>7</a:t>
                      </a:r>
                    </a:p>
                  </a:txBody>
                  <a:tcPr/>
                </a:tc>
                <a:tc>
                  <a:txBody>
                    <a:bodyPr/>
                    <a:lstStyle/>
                    <a:p>
                      <a:pPr marL="0" lvl="0" indent="0" algn="r">
                        <a:buNone/>
                      </a:pPr>
                      <a:r>
                        <a:rPr sz="1000"/>
                        <a:t>10</a:t>
                      </a:r>
                    </a:p>
                  </a:txBody>
                  <a:tcPr/>
                </a:tc>
                <a:tc>
                  <a:txBody>
                    <a:bodyPr/>
                    <a:lstStyle/>
                    <a:p>
                      <a:pPr marL="0" lvl="0" indent="0" algn="r">
                        <a:buNone/>
                      </a:pPr>
                      <a:r>
                        <a:rPr sz="1000"/>
                        <a:t>0</a:t>
                      </a:r>
                    </a:p>
                  </a:txBody>
                  <a:tcPr/>
                </a:tc>
                <a:extLst>
                  <a:ext uri="{0D108BD9-81ED-4DB2-BD59-A6C34878D82A}">
                    <a16:rowId xmlns:a16="http://schemas.microsoft.com/office/drawing/2014/main" val="10005"/>
                  </a:ext>
                </a:extLst>
              </a:tr>
              <a:tr h="0">
                <a:tc>
                  <a:txBody>
                    <a:bodyPr/>
                    <a:lstStyle/>
                    <a:p>
                      <a:pPr marL="0" lvl="0" indent="0" algn="l">
                        <a:buNone/>
                      </a:pPr>
                      <a:r>
                        <a:rPr sz="1000"/>
                        <a:t>Immunisation</a:t>
                      </a:r>
                    </a:p>
                  </a:txBody>
                  <a:tcPr/>
                </a:tc>
                <a:tc>
                  <a:txBody>
                    <a:bodyPr/>
                    <a:lstStyle/>
                    <a:p>
                      <a:pPr marL="0" lvl="0" indent="0" algn="r">
                        <a:buNone/>
                      </a:pPr>
                      <a:r>
                        <a:rPr sz="1000"/>
                        <a:t>32</a:t>
                      </a:r>
                    </a:p>
                  </a:txBody>
                  <a:tcPr/>
                </a:tc>
                <a:tc>
                  <a:txBody>
                    <a:bodyPr/>
                    <a:lstStyle/>
                    <a:p>
                      <a:pPr marL="0" lvl="0" indent="0" algn="r">
                        <a:buNone/>
                      </a:pPr>
                      <a:r>
                        <a:rPr sz="1000"/>
                        <a:t>1</a:t>
                      </a:r>
                    </a:p>
                  </a:txBody>
                  <a:tcPr/>
                </a:tc>
                <a:tc>
                  <a:txBody>
                    <a:bodyPr/>
                    <a:lstStyle/>
                    <a:p>
                      <a:pPr marL="0" lvl="0" indent="0" algn="r">
                        <a:buNone/>
                      </a:pPr>
                      <a:r>
                        <a:rPr sz="1000"/>
                        <a:t>19</a:t>
                      </a:r>
                    </a:p>
                  </a:txBody>
                  <a:tcPr/>
                </a:tc>
                <a:tc>
                  <a:txBody>
                    <a:bodyPr/>
                    <a:lstStyle/>
                    <a:p>
                      <a:pPr marL="0" lvl="0" indent="0" algn="r">
                        <a:buNone/>
                      </a:pPr>
                      <a:r>
                        <a:rPr sz="1000"/>
                        <a:t>12</a:t>
                      </a:r>
                    </a:p>
                  </a:txBody>
                  <a:tcPr/>
                </a:tc>
                <a:tc>
                  <a:txBody>
                    <a:bodyPr/>
                    <a:lstStyle/>
                    <a:p>
                      <a:pPr marL="0" lvl="0" indent="0" algn="r">
                        <a:buNone/>
                      </a:pPr>
                      <a:r>
                        <a:rPr sz="1000"/>
                        <a:t>32</a:t>
                      </a:r>
                    </a:p>
                  </a:txBody>
                  <a:tcPr/>
                </a:tc>
                <a:tc>
                  <a:txBody>
                    <a:bodyPr/>
                    <a:lstStyle/>
                    <a:p>
                      <a:pPr marL="0" lvl="0" indent="0" algn="r">
                        <a:buNone/>
                      </a:pPr>
                      <a:r>
                        <a:rPr sz="1000"/>
                        <a:t>1</a:t>
                      </a:r>
                    </a:p>
                  </a:txBody>
                  <a:tcPr/>
                </a:tc>
                <a:extLst>
                  <a:ext uri="{0D108BD9-81ED-4DB2-BD59-A6C34878D82A}">
                    <a16:rowId xmlns:a16="http://schemas.microsoft.com/office/drawing/2014/main" val="10006"/>
                  </a:ext>
                </a:extLst>
              </a:tr>
              <a:tr h="0">
                <a:tc>
                  <a:txBody>
                    <a:bodyPr/>
                    <a:lstStyle/>
                    <a:p>
                      <a:pPr marL="0" lvl="0" indent="0" algn="l">
                        <a:buNone/>
                      </a:pPr>
                      <a:r>
                        <a:rPr sz="1000"/>
                        <a:t>Agricultural production, land use</a:t>
                      </a:r>
                    </a:p>
                  </a:txBody>
                  <a:tcPr/>
                </a:tc>
                <a:tc>
                  <a:txBody>
                    <a:bodyPr/>
                    <a:lstStyle/>
                    <a:p>
                      <a:pPr marL="0" lvl="0" indent="0" algn="r">
                        <a:buNone/>
                      </a:pPr>
                      <a:r>
                        <a:rPr sz="1000"/>
                        <a:t>29</a:t>
                      </a:r>
                    </a:p>
                  </a:txBody>
                  <a:tcPr/>
                </a:tc>
                <a:tc>
                  <a:txBody>
                    <a:bodyPr/>
                    <a:lstStyle/>
                    <a:p>
                      <a:pPr marL="0" lvl="0" indent="0" algn="r">
                        <a:buNone/>
                      </a:pPr>
                      <a:r>
                        <a:rPr sz="1000"/>
                        <a:t>12</a:t>
                      </a:r>
                    </a:p>
                  </a:txBody>
                  <a:tcPr/>
                </a:tc>
                <a:tc>
                  <a:txBody>
                    <a:bodyPr/>
                    <a:lstStyle/>
                    <a:p>
                      <a:pPr marL="0" lvl="0" indent="0" algn="r">
                        <a:buNone/>
                      </a:pPr>
                      <a:r>
                        <a:rPr sz="1000"/>
                        <a:t>0</a:t>
                      </a:r>
                    </a:p>
                  </a:txBody>
                  <a:tcPr/>
                </a:tc>
                <a:tc>
                  <a:txBody>
                    <a:bodyPr/>
                    <a:lstStyle/>
                    <a:p>
                      <a:pPr marL="0" lvl="0" indent="0" algn="r">
                        <a:buNone/>
                      </a:pPr>
                      <a:r>
                        <a:rPr sz="1000"/>
                        <a:t>17</a:t>
                      </a:r>
                    </a:p>
                  </a:txBody>
                  <a:tcPr/>
                </a:tc>
                <a:tc>
                  <a:txBody>
                    <a:bodyPr/>
                    <a:lstStyle/>
                    <a:p>
                      <a:pPr marL="0" lvl="0" indent="0" algn="r">
                        <a:buNone/>
                      </a:pPr>
                      <a:r>
                        <a:rPr sz="1000"/>
                        <a:t>29</a:t>
                      </a:r>
                    </a:p>
                  </a:txBody>
                  <a:tcPr/>
                </a:tc>
                <a:tc>
                  <a:txBody>
                    <a:bodyPr/>
                    <a:lstStyle/>
                    <a:p>
                      <a:pPr marL="0" lvl="0" indent="0" algn="r">
                        <a:buNone/>
                      </a:pPr>
                      <a:r>
                        <a:rPr sz="1000"/>
                        <a:t>0</a:t>
                      </a:r>
                    </a:p>
                  </a:txBody>
                  <a:tcPr/>
                </a:tc>
                <a:extLst>
                  <a:ext uri="{0D108BD9-81ED-4DB2-BD59-A6C34878D82A}">
                    <a16:rowId xmlns:a16="http://schemas.microsoft.com/office/drawing/2014/main" val="10007"/>
                  </a:ext>
                </a:extLst>
              </a:tr>
              <a:tr h="0">
                <a:tc>
                  <a:txBody>
                    <a:bodyPr/>
                    <a:lstStyle/>
                    <a:p>
                      <a:pPr marL="0" lvl="0" indent="0" algn="l">
                        <a:buNone/>
                      </a:pPr>
                      <a:r>
                        <a:rPr sz="1000"/>
                        <a:t>Education, employment, SES</a:t>
                      </a:r>
                    </a:p>
                  </a:txBody>
                  <a:tcPr/>
                </a:tc>
                <a:tc>
                  <a:txBody>
                    <a:bodyPr/>
                    <a:lstStyle/>
                    <a:p>
                      <a:pPr marL="0" lvl="0" indent="0" algn="r">
                        <a:buNone/>
                      </a:pPr>
                      <a:r>
                        <a:rPr sz="1000"/>
                        <a:t>26</a:t>
                      </a:r>
                    </a:p>
                  </a:txBody>
                  <a:tcPr/>
                </a:tc>
                <a:tc>
                  <a:txBody>
                    <a:bodyPr/>
                    <a:lstStyle/>
                    <a:p>
                      <a:pPr marL="0" lvl="0" indent="0" algn="r">
                        <a:buNone/>
                      </a:pPr>
                      <a:r>
                        <a:rPr sz="1000"/>
                        <a:t>9</a:t>
                      </a:r>
                    </a:p>
                  </a:txBody>
                  <a:tcPr/>
                </a:tc>
                <a:tc>
                  <a:txBody>
                    <a:bodyPr/>
                    <a:lstStyle/>
                    <a:p>
                      <a:pPr marL="0" lvl="0" indent="0" algn="r">
                        <a:buNone/>
                      </a:pPr>
                      <a:r>
                        <a:rPr sz="1000"/>
                        <a:t>4</a:t>
                      </a:r>
                    </a:p>
                  </a:txBody>
                  <a:tcPr/>
                </a:tc>
                <a:tc>
                  <a:txBody>
                    <a:bodyPr/>
                    <a:lstStyle/>
                    <a:p>
                      <a:pPr marL="0" lvl="0" indent="0" algn="r">
                        <a:buNone/>
                      </a:pPr>
                      <a:r>
                        <a:rPr sz="1000"/>
                        <a:t>13</a:t>
                      </a:r>
                    </a:p>
                  </a:txBody>
                  <a:tcPr/>
                </a:tc>
                <a:tc>
                  <a:txBody>
                    <a:bodyPr/>
                    <a:lstStyle/>
                    <a:p>
                      <a:pPr marL="0" lvl="0" indent="0" algn="r">
                        <a:buNone/>
                      </a:pPr>
                      <a:r>
                        <a:rPr sz="1000"/>
                        <a:t>26</a:t>
                      </a:r>
                    </a:p>
                  </a:txBody>
                  <a:tcPr/>
                </a:tc>
                <a:tc>
                  <a:txBody>
                    <a:bodyPr/>
                    <a:lstStyle/>
                    <a:p>
                      <a:pPr marL="0" lvl="0" indent="0" algn="r">
                        <a:buNone/>
                      </a:pPr>
                      <a:r>
                        <a:rPr sz="1000"/>
                        <a:t>4</a:t>
                      </a:r>
                    </a:p>
                  </a:txBody>
                  <a:tcPr/>
                </a:tc>
                <a:extLst>
                  <a:ext uri="{0D108BD9-81ED-4DB2-BD59-A6C34878D82A}">
                    <a16:rowId xmlns:a16="http://schemas.microsoft.com/office/drawing/2014/main" val="10008"/>
                  </a:ext>
                </a:extLst>
              </a:tr>
              <a:tr h="0">
                <a:tc>
                  <a:txBody>
                    <a:bodyPr/>
                    <a:lstStyle/>
                    <a:p>
                      <a:pPr marL="0" lvl="0" indent="0" algn="l">
                        <a:buNone/>
                      </a:pPr>
                      <a:r>
                        <a:rPr sz="1000"/>
                        <a:t>Infant and young child feeding</a:t>
                      </a:r>
                    </a:p>
                  </a:txBody>
                  <a:tcPr/>
                </a:tc>
                <a:tc>
                  <a:txBody>
                    <a:bodyPr/>
                    <a:lstStyle/>
                    <a:p>
                      <a:pPr marL="0" lvl="0" indent="0" algn="r">
                        <a:buNone/>
                      </a:pPr>
                      <a:r>
                        <a:rPr sz="1000"/>
                        <a:t>24</a:t>
                      </a:r>
                    </a:p>
                  </a:txBody>
                  <a:tcPr/>
                </a:tc>
                <a:tc>
                  <a:txBody>
                    <a:bodyPr/>
                    <a:lstStyle/>
                    <a:p>
                      <a:pPr marL="0" lvl="0" indent="0" algn="r">
                        <a:buNone/>
                      </a:pPr>
                      <a:r>
                        <a:rPr sz="1000"/>
                        <a:t>1</a:t>
                      </a:r>
                    </a:p>
                  </a:txBody>
                  <a:tcPr/>
                </a:tc>
                <a:tc>
                  <a:txBody>
                    <a:bodyPr/>
                    <a:lstStyle/>
                    <a:p>
                      <a:pPr marL="0" lvl="0" indent="0" algn="r">
                        <a:buNone/>
                      </a:pPr>
                      <a:r>
                        <a:rPr sz="1000"/>
                        <a:t>7</a:t>
                      </a:r>
                    </a:p>
                  </a:txBody>
                  <a:tcPr/>
                </a:tc>
                <a:tc>
                  <a:txBody>
                    <a:bodyPr/>
                    <a:lstStyle/>
                    <a:p>
                      <a:pPr marL="0" lvl="0" indent="0" algn="r">
                        <a:buNone/>
                      </a:pPr>
                      <a:r>
                        <a:rPr sz="1000"/>
                        <a:t>16</a:t>
                      </a:r>
                    </a:p>
                  </a:txBody>
                  <a:tcPr/>
                </a:tc>
                <a:tc>
                  <a:txBody>
                    <a:bodyPr/>
                    <a:lstStyle/>
                    <a:p>
                      <a:pPr marL="0" lvl="0" indent="0" algn="r">
                        <a:buNone/>
                      </a:pPr>
                      <a:r>
                        <a:rPr sz="1000"/>
                        <a:t>24</a:t>
                      </a:r>
                    </a:p>
                  </a:txBody>
                  <a:tcPr/>
                </a:tc>
                <a:tc>
                  <a:txBody>
                    <a:bodyPr/>
                    <a:lstStyle/>
                    <a:p>
                      <a:pPr marL="0" lvl="0" indent="0" algn="r">
                        <a:buNone/>
                      </a:pPr>
                      <a:r>
                        <a:rPr sz="1000"/>
                        <a:t>1</a:t>
                      </a:r>
                    </a:p>
                  </a:txBody>
                  <a:tcPr/>
                </a:tc>
                <a:extLst>
                  <a:ext uri="{0D108BD9-81ED-4DB2-BD59-A6C34878D82A}">
                    <a16:rowId xmlns:a16="http://schemas.microsoft.com/office/drawing/2014/main" val="10009"/>
                  </a:ext>
                </a:extLst>
              </a:tr>
              <a:tr h="0">
                <a:tc>
                  <a:txBody>
                    <a:bodyPr/>
                    <a:lstStyle/>
                    <a:p>
                      <a:pPr marL="0" lvl="0" indent="0" algn="l">
                        <a:buNone/>
                      </a:pPr>
                      <a:r>
                        <a:rPr sz="1000"/>
                        <a:t>Water and sanitation</a:t>
                      </a:r>
                    </a:p>
                  </a:txBody>
                  <a:tcPr/>
                </a:tc>
                <a:tc>
                  <a:txBody>
                    <a:bodyPr/>
                    <a:lstStyle/>
                    <a:p>
                      <a:pPr marL="0" lvl="0" indent="0" algn="r">
                        <a:buNone/>
                      </a:pPr>
                      <a:r>
                        <a:rPr sz="1000"/>
                        <a:t>24</a:t>
                      </a:r>
                    </a:p>
                  </a:txBody>
                  <a:tcPr/>
                </a:tc>
                <a:tc>
                  <a:txBody>
                    <a:bodyPr/>
                    <a:lstStyle/>
                    <a:p>
                      <a:pPr marL="0" lvl="0" indent="0" algn="r">
                        <a:buNone/>
                      </a:pPr>
                      <a:r>
                        <a:rPr sz="1000"/>
                        <a:t>10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24</a:t>
                      </a:r>
                    </a:p>
                  </a:txBody>
                  <a:tcPr/>
                </a:tc>
                <a:tc>
                  <a:txBody>
                    <a:bodyPr/>
                    <a:lstStyle/>
                    <a:p>
                      <a:pPr marL="0" lvl="0" indent="0" algn="r">
                        <a:buNone/>
                      </a:pPr>
                      <a:r>
                        <a:rPr sz="1000"/>
                        <a:t>10</a:t>
                      </a:r>
                    </a:p>
                  </a:txBody>
                  <a:tcPr/>
                </a:tc>
                <a:extLst>
                  <a:ext uri="{0D108BD9-81ED-4DB2-BD59-A6C34878D82A}">
                    <a16:rowId xmlns:a16="http://schemas.microsoft.com/office/drawing/2014/main" val="10010"/>
                  </a:ext>
                </a:extLst>
              </a:tr>
              <a:tr h="0">
                <a:tc>
                  <a:txBody>
                    <a:bodyPr/>
                    <a:lstStyle/>
                    <a:p>
                      <a:pPr marL="0" lvl="0" indent="0" algn="l">
                        <a:buNone/>
                      </a:pPr>
                      <a:r>
                        <a:rPr sz="1000"/>
                        <a:t>Food prices and supply</a:t>
                      </a:r>
                    </a:p>
                  </a:txBody>
                  <a:tcPr/>
                </a:tc>
                <a:tc>
                  <a:txBody>
                    <a:bodyPr/>
                    <a:lstStyle/>
                    <a:p>
                      <a:pPr marL="0" lvl="0" indent="0" algn="r">
                        <a:buNone/>
                      </a:pPr>
                      <a:r>
                        <a:rPr sz="1000"/>
                        <a:t>21</a:t>
                      </a:r>
                    </a:p>
                  </a:txBody>
                  <a:tcPr/>
                </a:tc>
                <a:tc>
                  <a:txBody>
                    <a:bodyPr/>
                    <a:lstStyle/>
                    <a:p>
                      <a:pPr marL="0" lvl="0" indent="0" algn="r">
                        <a:buNone/>
                      </a:pPr>
                      <a:r>
                        <a:rPr sz="1000"/>
                        <a:t>21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12</a:t>
                      </a:r>
                    </a:p>
                  </a:txBody>
                  <a:tcPr/>
                </a:tc>
                <a:tc>
                  <a:txBody>
                    <a:bodyPr/>
                    <a:lstStyle/>
                    <a:p>
                      <a:pPr marL="0" lvl="0" indent="0" algn="r">
                        <a:buNone/>
                      </a:pPr>
                      <a:r>
                        <a:rPr sz="1000"/>
                        <a:t>0</a:t>
                      </a:r>
                    </a:p>
                  </a:txBody>
                  <a:tcPr/>
                </a:tc>
                <a:extLst>
                  <a:ext uri="{0D108BD9-81ED-4DB2-BD59-A6C34878D82A}">
                    <a16:rowId xmlns:a16="http://schemas.microsoft.com/office/drawing/2014/main" val="10011"/>
                  </a:ext>
                </a:extLst>
              </a:tr>
              <a:tr h="0">
                <a:tc>
                  <a:txBody>
                    <a:bodyPr/>
                    <a:lstStyle/>
                    <a:p>
                      <a:pPr marL="0" lvl="0" indent="0" algn="l">
                        <a:buNone/>
                      </a:pPr>
                      <a:r>
                        <a:rPr sz="1000"/>
                        <a:t>Child anthropometry</a:t>
                      </a:r>
                    </a:p>
                  </a:txBody>
                  <a:tcPr/>
                </a:tc>
                <a:tc>
                  <a:txBody>
                    <a:bodyPr/>
                    <a:lstStyle/>
                    <a:p>
                      <a:pPr marL="0" lvl="0" indent="0" algn="r">
                        <a:buNone/>
                      </a:pPr>
                      <a:r>
                        <a:rPr sz="1000"/>
                        <a:t>20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12</a:t>
                      </a:r>
                    </a:p>
                  </a:txBody>
                  <a:tcPr/>
                </a:tc>
                <a:tc>
                  <a:txBody>
                    <a:bodyPr/>
                    <a:lstStyle/>
                    <a:p>
                      <a:pPr marL="0" lvl="0" indent="0" algn="r">
                        <a:buNone/>
                      </a:pPr>
                      <a:r>
                        <a:rPr sz="1000"/>
                        <a:t>20</a:t>
                      </a:r>
                    </a:p>
                  </a:txBody>
                  <a:tcPr/>
                </a:tc>
                <a:tc>
                  <a:txBody>
                    <a:bodyPr/>
                    <a:lstStyle/>
                    <a:p>
                      <a:pPr marL="0" lvl="0" indent="0" algn="r">
                        <a:buNone/>
                      </a:pPr>
                      <a:r>
                        <a:rPr sz="1000"/>
                        <a:t>4</a:t>
                      </a:r>
                    </a:p>
                  </a:txBody>
                  <a:tcPr/>
                </a:tc>
                <a:extLst>
                  <a:ext uri="{0D108BD9-81ED-4DB2-BD59-A6C34878D82A}">
                    <a16:rowId xmlns:a16="http://schemas.microsoft.com/office/drawing/2014/main" val="10012"/>
                  </a:ext>
                </a:extLst>
              </a:tr>
              <a:tr h="0">
                <a:tc>
                  <a:txBody>
                    <a:bodyPr/>
                    <a:lstStyle/>
                    <a:p>
                      <a:pPr marL="0" lvl="0" indent="0" algn="l">
                        <a:buNone/>
                      </a:pPr>
                      <a:r>
                        <a:rPr sz="1000"/>
                        <a:t>Household assets and characteristics</a:t>
                      </a:r>
                    </a:p>
                  </a:txBody>
                  <a:tcPr/>
                </a:tc>
                <a:tc>
                  <a:txBody>
                    <a:bodyPr/>
                    <a:lstStyle/>
                    <a:p>
                      <a:pPr marL="0" lvl="0" indent="0" algn="r">
                        <a:buNone/>
                      </a:pPr>
                      <a:r>
                        <a:rPr sz="1000"/>
                        <a:t>19</a:t>
                      </a:r>
                    </a:p>
                  </a:txBody>
                  <a:tcPr/>
                </a:tc>
                <a:tc>
                  <a:txBody>
                    <a:bodyPr/>
                    <a:lstStyle/>
                    <a:p>
                      <a:pPr marL="0" lvl="0" indent="0" algn="r">
                        <a:buNone/>
                      </a:pPr>
                      <a:r>
                        <a:rPr sz="1000"/>
                        <a:t>5</a:t>
                      </a:r>
                    </a:p>
                  </a:txBody>
                  <a:tcPr/>
                </a:tc>
                <a:tc>
                  <a:txBody>
                    <a:bodyPr/>
                    <a:lstStyle/>
                    <a:p>
                      <a:pPr marL="0" lvl="0" indent="0" algn="r">
                        <a:buNone/>
                      </a:pPr>
                      <a:r>
                        <a:rPr sz="1000"/>
                        <a:t>3</a:t>
                      </a:r>
                    </a:p>
                  </a:txBody>
                  <a:tcPr/>
                </a:tc>
                <a:tc>
                  <a:txBody>
                    <a:bodyPr/>
                    <a:lstStyle/>
                    <a:p>
                      <a:pPr marL="0" lvl="0" indent="0" algn="r">
                        <a:buNone/>
                      </a:pPr>
                      <a:r>
                        <a:rPr sz="1000"/>
                        <a:t>11</a:t>
                      </a:r>
                    </a:p>
                  </a:txBody>
                  <a:tcPr/>
                </a:tc>
                <a:tc>
                  <a:txBody>
                    <a:bodyPr/>
                    <a:lstStyle/>
                    <a:p>
                      <a:pPr marL="0" lvl="0" indent="0" algn="r">
                        <a:buNone/>
                      </a:pPr>
                      <a:r>
                        <a:rPr sz="1000"/>
                        <a:t>19</a:t>
                      </a:r>
                    </a:p>
                  </a:txBody>
                  <a:tcPr/>
                </a:tc>
                <a:tc>
                  <a:txBody>
                    <a:bodyPr/>
                    <a:lstStyle/>
                    <a:p>
                      <a:pPr marL="0" lvl="0" indent="0" algn="r">
                        <a:buNone/>
                      </a:pPr>
                      <a:r>
                        <a:rPr sz="1000"/>
                        <a:t>0</a:t>
                      </a:r>
                    </a:p>
                  </a:txBody>
                  <a:tcPr/>
                </a:tc>
                <a:extLst>
                  <a:ext uri="{0D108BD9-81ED-4DB2-BD59-A6C34878D82A}">
                    <a16:rowId xmlns:a16="http://schemas.microsoft.com/office/drawing/2014/main" val="10013"/>
                  </a:ext>
                </a:extLst>
              </a:tr>
              <a:tr h="0">
                <a:tc>
                  <a:txBody>
                    <a:bodyPr/>
                    <a:lstStyle/>
                    <a:p>
                      <a:pPr marL="0" lvl="0" indent="0" algn="l">
                        <a:buNone/>
                      </a:pPr>
                      <a:r>
                        <a:rPr sz="1000"/>
                        <a:t>Anaemia and haemoglobin</a:t>
                      </a:r>
                    </a:p>
                  </a:txBody>
                  <a:tcPr/>
                </a:tc>
                <a:tc>
                  <a:txBody>
                    <a:bodyPr/>
                    <a:lstStyle/>
                    <a:p>
                      <a:pPr marL="0" lvl="0" indent="0" algn="r">
                        <a:buNone/>
                      </a:pPr>
                      <a:r>
                        <a:rPr sz="1000"/>
                        <a:t>16</a:t>
                      </a:r>
                    </a:p>
                  </a:txBody>
                  <a:tcPr/>
                </a:tc>
                <a:tc>
                  <a:txBody>
                    <a:bodyPr/>
                    <a:lstStyle/>
                    <a:p>
                      <a:pPr marL="0" lvl="0" indent="0" algn="r">
                        <a:buNone/>
                      </a:pPr>
                      <a:r>
                        <a:rPr sz="1000"/>
                        <a:t>11</a:t>
                      </a:r>
                    </a:p>
                  </a:txBody>
                  <a:tcPr/>
                </a:tc>
                <a:tc>
                  <a:txBody>
                    <a:bodyPr/>
                    <a:lstStyle/>
                    <a:p>
                      <a:pPr marL="0" lvl="0" indent="0" algn="r">
                        <a:buNone/>
                      </a:pPr>
                      <a:r>
                        <a:rPr sz="1000"/>
                        <a:t>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11</a:t>
                      </a:r>
                    </a:p>
                  </a:txBody>
                  <a:tcPr/>
                </a:tc>
                <a:extLst>
                  <a:ext uri="{0D108BD9-81ED-4DB2-BD59-A6C34878D82A}">
                    <a16:rowId xmlns:a16="http://schemas.microsoft.com/office/drawing/2014/main" val="10014"/>
                  </a:ext>
                </a:extLst>
              </a:tr>
              <a:tr h="0">
                <a:tc>
                  <a:txBody>
                    <a:bodyPr/>
                    <a:lstStyle/>
                    <a:p>
                      <a:pPr marL="0" lvl="0" indent="0" algn="l">
                        <a:buNone/>
                      </a:pPr>
                      <a:r>
                        <a:rPr sz="1000"/>
                        <a:t>Fertility, reproductive health</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Household diet and consumption (HCES)</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6"/>
                  </a:ext>
                </a:extLst>
              </a:tr>
              <a:tr h="0">
                <a:tc>
                  <a:txBody>
                    <a:bodyPr/>
                    <a:lstStyle/>
                    <a:p>
                      <a:pPr marL="0" lvl="0" indent="0" algn="l">
                        <a:buNone/>
                      </a:pPr>
                      <a:r>
                        <a:rPr sz="1000"/>
                        <a:t>Ecosystem productivity/greenness</a:t>
                      </a:r>
                    </a:p>
                  </a:txBody>
                  <a:tcPr/>
                </a:tc>
                <a:tc>
                  <a:txBody>
                    <a:bodyPr/>
                    <a:lstStyle/>
                    <a:p>
                      <a:pPr marL="0" lvl="0" indent="0" algn="r">
                        <a:buNone/>
                      </a:pPr>
                      <a:r>
                        <a:rPr sz="1000"/>
                        <a:t>14</a:t>
                      </a:r>
                    </a:p>
                  </a:txBody>
                  <a:tcPr/>
                </a:tc>
                <a:tc>
                  <a:txBody>
                    <a:bodyPr/>
                    <a:lstStyle/>
                    <a:p>
                      <a:pPr marL="0" lvl="0" indent="0" algn="r">
                        <a:buNone/>
                      </a:pPr>
                      <a:r>
                        <a:rPr sz="1000"/>
                        <a:t>14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14</a:t>
                      </a:r>
                    </a:p>
                  </a:txBody>
                  <a:tcPr/>
                </a:tc>
                <a:tc>
                  <a:txBody>
                    <a:bodyPr/>
                    <a:lstStyle/>
                    <a:p>
                      <a:pPr marL="0" lvl="0" indent="0" algn="r">
                        <a:buNone/>
                      </a:pPr>
                      <a:r>
                        <a:rPr sz="1000"/>
                        <a:t>0</a:t>
                      </a:r>
                    </a:p>
                  </a:txBody>
                  <a:tcPr/>
                </a:tc>
                <a:extLst>
                  <a:ext uri="{0D108BD9-81ED-4DB2-BD59-A6C34878D82A}">
                    <a16:rowId xmlns:a16="http://schemas.microsoft.com/office/drawing/2014/main" val="10017"/>
                  </a:ext>
                </a:extLst>
              </a:tr>
              <a:tr h="0">
                <a:tc>
                  <a:txBody>
                    <a:bodyPr/>
                    <a:lstStyle/>
                    <a:p>
                      <a:pPr marL="0" lvl="0" indent="0" algn="l">
                        <a:buNone/>
                      </a:pPr>
                      <a:r>
                        <a:rPr sz="1000"/>
                        <a:t>Built environment</a:t>
                      </a:r>
                    </a:p>
                  </a:txBody>
                  <a:tcPr/>
                </a:tc>
                <a:tc>
                  <a:txBody>
                    <a:bodyPr/>
                    <a:lstStyle/>
                    <a:p>
                      <a:pPr marL="0" lvl="0" indent="0" algn="r">
                        <a:buNone/>
                      </a:pPr>
                      <a:r>
                        <a:rPr sz="1000"/>
                        <a:t>13</a:t>
                      </a:r>
                    </a:p>
                  </a:txBody>
                  <a:tcPr/>
                </a:tc>
                <a:tc>
                  <a:txBody>
                    <a:bodyPr/>
                    <a:lstStyle/>
                    <a:p>
                      <a:pPr marL="0" lvl="0" indent="0" algn="r">
                        <a:buNone/>
                      </a:pPr>
                      <a:r>
                        <a:rPr sz="1000"/>
                        <a:t>10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13</a:t>
                      </a:r>
                    </a:p>
                  </a:txBody>
                  <a:tcPr/>
                </a:tc>
                <a:tc>
                  <a:txBody>
                    <a:bodyPr/>
                    <a:lstStyle/>
                    <a:p>
                      <a:pPr marL="0" lvl="0" indent="0" algn="r">
                        <a:buNone/>
                      </a:pPr>
                      <a:r>
                        <a:rPr sz="1000"/>
                        <a:t>0</a:t>
                      </a:r>
                    </a:p>
                  </a:txBody>
                  <a:tcPr/>
                </a:tc>
                <a:extLst>
                  <a:ext uri="{0D108BD9-81ED-4DB2-BD59-A6C34878D82A}">
                    <a16:rowId xmlns:a16="http://schemas.microsoft.com/office/drawing/2014/main" val="10018"/>
                  </a:ext>
                </a:extLst>
              </a:tr>
              <a:tr h="0">
                <a:tc>
                  <a:txBody>
                    <a:bodyPr/>
                    <a:lstStyle/>
                    <a:p>
                      <a:pPr marL="0" lvl="0" indent="0" algn="l">
                        <a:buNone/>
                      </a:pPr>
                      <a:r>
                        <a:rPr sz="1000"/>
                        <a:t>Adult and maternal mortality</a:t>
                      </a:r>
                    </a:p>
                  </a:txBody>
                  <a:tcPr/>
                </a:tc>
                <a:tc>
                  <a:txBody>
                    <a:bodyPr/>
                    <a:lstStyle/>
                    <a:p>
                      <a:pPr marL="0" lvl="0" indent="0" algn="r">
                        <a:buNone/>
                      </a:pPr>
                      <a:r>
                        <a:rPr sz="1000"/>
                        <a:t>9</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9</a:t>
                      </a:r>
                    </a:p>
                  </a:txBody>
                  <a:tcPr/>
                </a:tc>
                <a:tc>
                  <a:txBody>
                    <a:bodyPr/>
                    <a:lstStyle/>
                    <a:p>
                      <a:pPr marL="0" lvl="0" indent="0" algn="r">
                        <a:buNone/>
                      </a:pPr>
                      <a:r>
                        <a:rPr sz="1000"/>
                        <a:t>9</a:t>
                      </a:r>
                    </a:p>
                  </a:txBody>
                  <a:tcPr/>
                </a:tc>
                <a:tc>
                  <a:txBody>
                    <a:bodyPr/>
                    <a:lstStyle/>
                    <a:p>
                      <a:pPr marL="0" lvl="0" indent="0" algn="r">
                        <a:buNone/>
                      </a:pPr>
                      <a:r>
                        <a:rPr sz="1000"/>
                        <a:t>0</a:t>
                      </a:r>
                    </a:p>
                  </a:txBody>
                  <a:tcPr/>
                </a:tc>
                <a:extLst>
                  <a:ext uri="{0D108BD9-81ED-4DB2-BD59-A6C34878D82A}">
                    <a16:rowId xmlns:a16="http://schemas.microsoft.com/office/drawing/2014/main" val="10019"/>
                  </a:ext>
                </a:extLst>
              </a:tr>
              <a:tr h="0">
                <a:tc>
                  <a:txBody>
                    <a:bodyPr/>
                    <a:lstStyle/>
                    <a:p>
                      <a:pPr marL="0" lvl="0" indent="0" algn="l">
                        <a:buNone/>
                      </a:pPr>
                      <a:r>
                        <a:rPr sz="1000"/>
                        <a:t>Conflict and insecurity</a:t>
                      </a:r>
                    </a:p>
                  </a:txBody>
                  <a:tcPr/>
                </a:tc>
                <a:tc>
                  <a:txBody>
                    <a:bodyPr/>
                    <a:lstStyle/>
                    <a:p>
                      <a:pPr marL="0" lvl="0" indent="0" algn="r">
                        <a:buNone/>
                      </a:pPr>
                      <a:r>
                        <a:rPr sz="1000"/>
                        <a:t>8</a:t>
                      </a:r>
                    </a:p>
                  </a:txBody>
                  <a:tcPr/>
                </a:tc>
                <a:tc>
                  <a:txBody>
                    <a:bodyPr/>
                    <a:lstStyle/>
                    <a:p>
                      <a:pPr marL="0" lvl="0" indent="0" algn="r">
                        <a:buNone/>
                      </a:pPr>
                      <a:r>
                        <a:rPr sz="1000"/>
                        <a:t>8</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8</a:t>
                      </a:r>
                    </a:p>
                  </a:txBody>
                  <a:tcPr/>
                </a:tc>
                <a:tc>
                  <a:txBody>
                    <a:bodyPr/>
                    <a:lstStyle/>
                    <a:p>
                      <a:pPr marL="0" lvl="0" indent="0" algn="r">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Livestock density</a:t>
                      </a:r>
                    </a:p>
                  </a:txBody>
                  <a:tcPr/>
                </a:tc>
                <a:tc>
                  <a:txBody>
                    <a:bodyPr/>
                    <a:lstStyle/>
                    <a:p>
                      <a:pPr marL="0" lvl="0" indent="0" algn="r">
                        <a:buNone/>
                      </a:pPr>
                      <a:r>
                        <a:rPr sz="1000"/>
                        <a:t>8</a:t>
                      </a:r>
                    </a:p>
                  </a:txBody>
                  <a:tcPr/>
                </a:tc>
                <a:tc>
                  <a:txBody>
                    <a:bodyPr/>
                    <a:lstStyle/>
                    <a:p>
                      <a:pPr marL="0" lvl="0" indent="0" algn="r">
                        <a:buNone/>
                      </a:pPr>
                      <a:r>
                        <a:rPr sz="1000"/>
                        <a:t>8</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8</a:t>
                      </a:r>
                    </a:p>
                  </a:txBody>
                  <a:tcPr/>
                </a:tc>
                <a:tc>
                  <a:txBody>
                    <a:bodyPr/>
                    <a:lstStyle/>
                    <a:p>
                      <a:pPr marL="0" lvl="0" indent="0" algn="r">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Ruralness, population density, built environment</a:t>
                      </a:r>
                    </a:p>
                  </a:txBody>
                  <a:tcPr/>
                </a:tc>
                <a:tc>
                  <a:txBody>
                    <a:bodyPr/>
                    <a:lstStyle/>
                    <a:p>
                      <a:pPr marL="0" lvl="0" indent="0" algn="r">
                        <a:buNone/>
                      </a:pPr>
                      <a:r>
                        <a:rPr sz="1000"/>
                        <a:t>7</a:t>
                      </a:r>
                    </a:p>
                  </a:txBody>
                  <a:tcPr/>
                </a:tc>
                <a:tc>
                  <a:txBody>
                    <a:bodyPr/>
                    <a:lstStyle/>
                    <a:p>
                      <a:pPr marL="0" lvl="0" indent="0" algn="r">
                        <a:buNone/>
                      </a:pPr>
                      <a:r>
                        <a:rPr sz="1000"/>
                        <a:t>7</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7</a:t>
                      </a:r>
                    </a:p>
                  </a:txBody>
                  <a:tcPr/>
                </a:tc>
                <a:tc>
                  <a:txBody>
                    <a:bodyPr/>
                    <a:lstStyle/>
                    <a:p>
                      <a:pPr marL="0" lvl="0" indent="0" algn="r">
                        <a:buNone/>
                      </a:pPr>
                      <a:r>
                        <a:rPr sz="1000"/>
                        <a:t>0</a:t>
                      </a:r>
                    </a:p>
                  </a:txBody>
                  <a:tcPr/>
                </a:tc>
                <a:extLst>
                  <a:ext uri="{0D108BD9-81ED-4DB2-BD59-A6C34878D82A}">
                    <a16:rowId xmlns:a16="http://schemas.microsoft.com/office/drawing/2014/main" val="10022"/>
                  </a:ext>
                </a:extLst>
              </a:tr>
              <a:tr h="0">
                <a:tc>
                  <a:txBody>
                    <a:bodyPr/>
                    <a:lstStyle/>
                    <a:p>
                      <a:pPr marL="0" lvl="0" indent="0" algn="l">
                        <a:buNone/>
                      </a:pPr>
                      <a:r>
                        <a:rPr sz="1000"/>
                        <a:t>Dietary inadequacy (MODELLED SURFACE, HCES)</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extLst>
                  <a:ext uri="{0D108BD9-81ED-4DB2-BD59-A6C34878D82A}">
                    <a16:rowId xmlns:a16="http://schemas.microsoft.com/office/drawing/2014/main" val="10023"/>
                  </a:ext>
                </a:extLst>
              </a:tr>
              <a:tr h="0">
                <a:tc>
                  <a:txBody>
                    <a:bodyPr/>
                    <a:lstStyle/>
                    <a:p>
                      <a:pPr marL="0" lvl="0" indent="0" algn="l">
                        <a:buNone/>
                      </a:pPr>
                      <a:r>
                        <a:rPr sz="1000"/>
                        <a:t>Healthcare access</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4"/>
                  </a:ext>
                </a:extLst>
              </a:tr>
              <a:tr h="0">
                <a:tc>
                  <a:txBody>
                    <a:bodyPr/>
                    <a:lstStyle/>
                    <a:p>
                      <a:pPr marL="0" lvl="0" indent="0" algn="l">
                        <a:buNone/>
                      </a:pPr>
                      <a:r>
                        <a:rPr sz="1000"/>
                        <a:t>Market prices (RTFP)</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5"/>
                  </a:ext>
                </a:extLst>
              </a:tr>
              <a:tr h="0">
                <a:tc>
                  <a:txBody>
                    <a:bodyPr/>
                    <a:lstStyle/>
                    <a:p>
                      <a:pPr marL="0" lvl="0" indent="0" algn="l">
                        <a:buNone/>
                      </a:pPr>
                      <a:r>
                        <a:rPr sz="1000"/>
                        <a:t>Water and coast proximity</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6"/>
                  </a:ext>
                </a:extLst>
              </a:tr>
              <a:tr h="0">
                <a:tc>
                  <a:txBody>
                    <a:bodyPr/>
                    <a:lstStyle/>
                    <a:p>
                      <a:pPr marL="0" lvl="0" indent="0" algn="l">
                        <a:buNone/>
                      </a:pPr>
                      <a:r>
                        <a:rPr sz="1000"/>
                        <a:t>Child mortality</a:t>
                      </a:r>
                    </a:p>
                  </a:txBody>
                  <a:tcPr/>
                </a:tc>
                <a:tc>
                  <a:txBody>
                    <a:bodyPr/>
                    <a:lstStyle/>
                    <a:p>
                      <a:pPr marL="0" lvl="0" indent="0" algn="r">
                        <a:buNone/>
                      </a:pPr>
                      <a:r>
                        <a:rPr sz="1000"/>
                        <a:t>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0</a:t>
                      </a:r>
                    </a:p>
                  </a:txBody>
                  <a:tcPr/>
                </a:tc>
                <a:extLst>
                  <a:ext uri="{0D108BD9-81ED-4DB2-BD59-A6C34878D82A}">
                    <a16:rowId xmlns:a16="http://schemas.microsoft.com/office/drawing/2014/main" val="10027"/>
                  </a:ext>
                </a:extLst>
              </a:tr>
              <a:tr h="0">
                <a:tc>
                  <a:txBody>
                    <a:bodyPr/>
                    <a:lstStyle/>
                    <a:p>
                      <a:pPr marL="0" lvl="0" indent="0" algn="l">
                        <a:buNone/>
                      </a:pPr>
                      <a:r>
                        <a:rPr sz="1000"/>
                        <a:t>Adult nutrition</a:t>
                      </a:r>
                    </a:p>
                  </a:txBody>
                  <a:tcPr/>
                </a:tc>
                <a:tc>
                  <a:txBody>
                    <a:bodyPr/>
                    <a:lstStyle/>
                    <a:p>
                      <a:pPr marL="0" lvl="0" indent="0" algn="r">
                        <a:buNone/>
                      </a:pPr>
                      <a:r>
                        <a:rPr sz="1000"/>
                        <a:t>3</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3</a:t>
                      </a:r>
                    </a:p>
                  </a:txBody>
                  <a:tcPr/>
                </a:tc>
                <a:tc>
                  <a:txBody>
                    <a:bodyPr/>
                    <a:lstStyle/>
                    <a:p>
                      <a:pPr marL="0" lvl="0" indent="0" algn="r">
                        <a:buNone/>
                      </a:pPr>
                      <a:r>
                        <a:rPr sz="1000"/>
                        <a:t>0</a:t>
                      </a:r>
                    </a:p>
                  </a:txBody>
                  <a:tcPr/>
                </a:tc>
                <a:extLst>
                  <a:ext uri="{0D108BD9-81ED-4DB2-BD59-A6C34878D82A}">
                    <a16:rowId xmlns:a16="http://schemas.microsoft.com/office/drawing/2014/main" val="10028"/>
                  </a:ext>
                </a:extLst>
              </a:tr>
              <a:tr h="0">
                <a:tc>
                  <a:txBody>
                    <a:bodyPr/>
                    <a:lstStyle/>
                    <a:p>
                      <a:pPr marL="0" lvl="0" indent="0" algn="l">
                        <a:buNone/>
                      </a:pPr>
                      <a:r>
                        <a:rPr sz="1000"/>
                        <a:t>Nutrition status (MODELLED SURFACE)</a:t>
                      </a:r>
                    </a:p>
                  </a:txBody>
                  <a:tcPr/>
                </a:tc>
                <a:tc>
                  <a:txBody>
                    <a:bodyPr/>
                    <a:lstStyle/>
                    <a:p>
                      <a:pPr marL="0" lvl="0" indent="0" algn="r">
                        <a:buNone/>
                      </a:pPr>
                      <a:r>
                        <a:rPr sz="1000"/>
                        <a:t>1</a:t>
                      </a:r>
                    </a:p>
                  </a:txBody>
                  <a:tcPr/>
                </a:tc>
                <a:tc>
                  <a:txBody>
                    <a:bodyPr/>
                    <a:lstStyle/>
                    <a:p>
                      <a:pPr marL="0" lvl="0" indent="0" algn="r">
                        <a:buNone/>
                      </a:pPr>
                      <a:r>
                        <a:rPr sz="1000"/>
                        <a:t>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a:t>
                      </a:r>
                    </a:p>
                  </a:txBody>
                  <a:tcPr/>
                </a:tc>
                <a:extLst>
                  <a:ext uri="{0D108BD9-81ED-4DB2-BD59-A6C34878D82A}">
                    <a16:rowId xmlns:a16="http://schemas.microsoft.com/office/drawing/2014/main" val="10029"/>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 would add next, and the rule for adding it</a:t>
            </a:r>
          </a:p>
        </p:txBody>
      </p:sp>
      <p:sp>
        <p:nvSpPr>
          <p:cNvPr id="3" name="Content Placeholder 2"/>
          <p:cNvSpPr>
            <a:spLocks noGrp="1"/>
          </p:cNvSpPr>
          <p:nvPr>
            <p:ph idx="1"/>
          </p:nvPr>
        </p:nvSpPr>
        <p:spPr/>
        <p:txBody>
          <a:bodyPr/>
          <a:lstStyle/>
          <a:p>
            <a:pPr lvl="0"/>
            <a:r>
              <a:rPr sz="1800"/>
              <a:t>Sub-national household-survey microdata with GPS: MICS cluster coordinates for Ghana 2017-18 and Malawi 2013-14 are requested; they turn region-level blocks into district ones.</a:t>
            </a:r>
          </a:p>
          <a:p>
            <a:pPr lvl="0"/>
            <a:r>
              <a:rPr sz="1800"/>
              <a:t>Diet from the household budget surveys for Ghana (GLSS7 food module) and Sierra Leone (SLIHS diary codes), so the 15 diet indicators cover all four countries.</a:t>
            </a:r>
          </a:p>
          <a:p>
            <a:pPr lvl="0"/>
            <a:r>
              <a:rPr sz="1800"/>
              <a:t>Conflict events (ACLED, four-country export), market prices for Ghana and Sierra Leone, a decision on FluNet’s national counts.</a:t>
            </a:r>
          </a:p>
          <a:p>
            <a:pPr lvl="0"/>
            <a:r>
              <a:rPr sz="1800"/>
              <a:t>Every candidate block passes the same test before it enters: within-country sign agreement, paired in-fill with and without it, and leave-one-country-out.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Predictors recurring across outcomes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19939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tblGrid>
              <a:tr h="0">
                <a:tc>
                  <a:txBody>
                    <a:bodyPr/>
                    <a:lstStyle/>
                    <a:p>
                      <a:pPr marL="0" lvl="0" indent="0" algn="l">
                        <a:buNone/>
                      </a:pPr>
                      <a:r>
                        <a:rPr sz="1000"/>
                        <a:t>Predictor</a:t>
                      </a:r>
                    </a:p>
                  </a:txBody>
                  <a:tcPr/>
                </a:tc>
                <a:tc>
                  <a:txBody>
                    <a:bodyPr/>
                    <a:lstStyle/>
                    <a:p>
                      <a:pPr marL="0" lvl="0" indent="0" algn="l">
                        <a:buNone/>
                      </a:pPr>
                      <a:r>
                        <a:rPr sz="1000"/>
                        <a:t>Domain</a:t>
                      </a:r>
                    </a:p>
                  </a:txBody>
                  <a:tcPr/>
                </a:tc>
                <a:tc>
                  <a:txBody>
                    <a:bodyPr/>
                    <a:lstStyle/>
                    <a:p>
                      <a:pPr marL="0" lvl="0" indent="0" algn="r">
                        <a:buNone/>
                      </a:pPr>
                      <a:r>
                        <a:rPr sz="1000"/>
                        <a:t>Outcomes (top 20)</a:t>
                      </a:r>
                    </a:p>
                  </a:txBody>
                  <a:tcPr/>
                </a:tc>
                <a:tc>
                  <a:txBody>
                    <a:bodyPr/>
                    <a:lstStyle/>
                    <a:p>
                      <a:pPr marL="0" lvl="0" indent="0" algn="l">
                        <a:buNone/>
                      </a:pPr>
                      <a:r>
                        <a:rPr sz="1000"/>
                        <a:t>Signs</a:t>
                      </a:r>
                    </a:p>
                  </a:txBody>
                  <a:tcPr/>
                </a:tc>
                <a:tc>
                  <a:txBody>
                    <a:bodyPr/>
                    <a:lstStyle/>
                    <a:p>
                      <a:pPr marL="0" lvl="0" indent="0" algn="r">
                        <a:buNone/>
                      </a:pPr>
                      <a:r>
                        <a:rPr sz="1000"/>
                        <a:t>Mean rank</a:t>
                      </a:r>
                    </a:p>
                  </a:txBody>
                  <a:tcPr/>
                </a:tc>
                <a:extLst>
                  <a:ext uri="{0D108BD9-81ED-4DB2-BD59-A6C34878D82A}">
                    <a16:rowId xmlns:a16="http://schemas.microsoft.com/office/drawing/2014/main" val="10000"/>
                  </a:ext>
                </a:extLst>
              </a:tr>
              <a:tr h="0">
                <a:tc>
                  <a:txBody>
                    <a:bodyPr/>
                    <a:lstStyle/>
                    <a:p>
                      <a:pPr marL="0" lvl="0" indent="0" algn="l">
                        <a:buNone/>
                      </a:pPr>
                      <a:r>
                        <a:rPr sz="1000"/>
                        <a:t>fprice_staple_rel</a:t>
                      </a:r>
                    </a:p>
                  </a:txBody>
                  <a:tcPr/>
                </a:tc>
                <a:tc>
                  <a:txBody>
                    <a:bodyPr/>
                    <a:lstStyle/>
                    <a:p>
                      <a:pPr marL="0" lvl="0" indent="0" algn="l">
                        <a:buNone/>
                      </a:pPr>
                      <a:r>
                        <a:rPr sz="1000"/>
                        <a:t>Food prices and supply</a:t>
                      </a:r>
                    </a:p>
                  </a:txBody>
                  <a:tcPr/>
                </a:tc>
                <a:tc>
                  <a:txBody>
                    <a:bodyPr/>
                    <a:lstStyle/>
                    <a:p>
                      <a:pPr marL="0" lvl="0" indent="0" algn="r">
                        <a:buNone/>
                      </a:pPr>
                      <a:r>
                        <a:rPr sz="1000"/>
                        <a:t>5</a:t>
                      </a:r>
                    </a:p>
                  </a:txBody>
                  <a:tcPr/>
                </a:tc>
                <a:tc>
                  <a:txBody>
                    <a:bodyPr/>
                    <a:lstStyle/>
                    <a:p>
                      <a:pPr marL="0" lvl="0" indent="0" algn="l">
                        <a:buNone/>
                      </a:pPr>
                      <a:r>
                        <a:rPr sz="1000"/>
                        <a:t>—–</a:t>
                      </a:r>
                    </a:p>
                  </a:txBody>
                  <a:tcPr/>
                </a:tc>
                <a:tc>
                  <a:txBody>
                    <a:bodyPr/>
                    <a:lstStyle/>
                    <a:p>
                      <a:pPr marL="0" lvl="0" indent="0" algn="r">
                        <a:buNone/>
                      </a:pPr>
                      <a:r>
                        <a:rPr sz="1000"/>
                        <a:t>10.0</a:t>
                      </a:r>
                    </a:p>
                  </a:txBody>
                  <a:tcPr/>
                </a:tc>
                <a:extLst>
                  <a:ext uri="{0D108BD9-81ED-4DB2-BD59-A6C34878D82A}">
                    <a16:rowId xmlns:a16="http://schemas.microsoft.com/office/drawing/2014/main" val="10001"/>
                  </a:ext>
                </a:extLst>
              </a:tr>
              <a:tr h="0">
                <a:tc>
                  <a:txBody>
                    <a:bodyPr/>
                    <a:lstStyle/>
                    <a:p>
                      <a:pPr marL="0" lvl="0" indent="0" algn="l">
                        <a:buNone/>
                      </a:pPr>
                      <a:r>
                        <a:rPr sz="1000"/>
                        <a:t>npp_npp_t0</a:t>
                      </a:r>
                    </a:p>
                  </a:txBody>
                  <a:tcPr/>
                </a:tc>
                <a:tc>
                  <a:txBody>
                    <a:bodyPr/>
                    <a:lstStyle/>
                    <a:p>
                      <a:pPr marL="0" lvl="0" indent="0" algn="l">
                        <a:buNone/>
                      </a:pPr>
                      <a:r>
                        <a:rPr sz="1000"/>
                        <a:t>Ecosystem productivity/greenness</a:t>
                      </a:r>
                    </a:p>
                  </a:txBody>
                  <a:tcPr/>
                </a:tc>
                <a:tc>
                  <a:txBody>
                    <a:bodyPr/>
                    <a:lstStyle/>
                    <a:p>
                      <a:pPr marL="0" lvl="0" indent="0" algn="r">
                        <a:buNone/>
                      </a:pPr>
                      <a:r>
                        <a:rPr sz="1000"/>
                        <a:t>5</a:t>
                      </a:r>
                    </a:p>
                  </a:txBody>
                  <a:tcPr/>
                </a:tc>
                <a:tc>
                  <a:txBody>
                    <a:bodyPr/>
                    <a:lstStyle/>
                    <a:p>
                      <a:pPr marL="0" lvl="0" indent="0" algn="l">
                        <a:buNone/>
                      </a:pPr>
                      <a:r>
                        <a:rPr sz="1000"/>
                        <a:t>—–</a:t>
                      </a:r>
                    </a:p>
                  </a:txBody>
                  <a:tcPr/>
                </a:tc>
                <a:tc>
                  <a:txBody>
                    <a:bodyPr/>
                    <a:lstStyle/>
                    <a:p>
                      <a:pPr marL="0" lvl="0" indent="0" algn="r">
                        <a:buNone/>
                      </a:pPr>
                      <a:r>
                        <a:rPr sz="1000"/>
                        <a:t>15.8</a:t>
                      </a:r>
                    </a:p>
                  </a:txBody>
                  <a:tcPr/>
                </a:tc>
                <a:extLst>
                  <a:ext uri="{0D108BD9-81ED-4DB2-BD59-A6C34878D82A}">
                    <a16:rowId xmlns:a16="http://schemas.microsoft.com/office/drawing/2014/main" val="10002"/>
                  </a:ext>
                </a:extLst>
              </a:tr>
              <a:tr h="0">
                <a:tc>
                  <a:txBody>
                    <a:bodyPr/>
                    <a:lstStyle/>
                    <a:p>
                      <a:pPr marL="0" lvl="0" indent="0" algn="l">
                        <a:buNone/>
                      </a:pPr>
                      <a:r>
                        <a:rPr sz="1000"/>
                        <a:t>ihme_overweightprevalence</a:t>
                      </a:r>
                    </a:p>
                  </a:txBody>
                  <a:tcPr/>
                </a:tc>
                <a:tc>
                  <a:txBody>
                    <a:bodyPr/>
                    <a:lstStyle/>
                    <a:p>
                      <a:pPr marL="0" lvl="0" indent="0" algn="l">
                        <a:buNone/>
                      </a:pPr>
                      <a:r>
                        <a:rPr sz="1000"/>
                        <a:t>Child anthropometry</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6.0</a:t>
                      </a:r>
                    </a:p>
                  </a:txBody>
                  <a:tcPr/>
                </a:tc>
                <a:extLst>
                  <a:ext uri="{0D108BD9-81ED-4DB2-BD59-A6C34878D82A}">
                    <a16:rowId xmlns:a16="http://schemas.microsoft.com/office/drawing/2014/main" val="10003"/>
                  </a:ext>
                </a:extLst>
              </a:tr>
              <a:tr h="0">
                <a:tc>
                  <a:txBody>
                    <a:bodyPr/>
                    <a:lstStyle/>
                    <a:p>
                      <a:pPr marL="0" lvl="0" indent="0" algn="l">
                        <a:buNone/>
                      </a:pPr>
                      <a:r>
                        <a:rPr sz="1000"/>
                        <a:t>map_sy_pf_mortality_rate</a:t>
                      </a:r>
                    </a:p>
                  </a:txBody>
                  <a:tcPr/>
                </a:tc>
                <a:tc>
                  <a:txBody>
                    <a:bodyPr/>
                    <a:lstStyle/>
                    <a:p>
                      <a:pPr marL="0" lvl="0" indent="0" algn="l">
                        <a:buNone/>
                      </a:pPr>
                      <a:r>
                        <a:rPr sz="1000"/>
                        <a:t>Infection and inflammation burden</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7.8</a:t>
                      </a:r>
                    </a:p>
                  </a:txBody>
                  <a:tcPr/>
                </a:tc>
                <a:extLst>
                  <a:ext uri="{0D108BD9-81ED-4DB2-BD59-A6C34878D82A}">
                    <a16:rowId xmlns:a16="http://schemas.microsoft.com/office/drawing/2014/main" val="10004"/>
                  </a:ext>
                </a:extLst>
              </a:tr>
              <a:tr h="0">
                <a:tc>
                  <a:txBody>
                    <a:bodyPr/>
                    <a:lstStyle/>
                    <a:p>
                      <a:pPr marL="0" lvl="0" indent="0" algn="l">
                        <a:buNone/>
                      </a:pPr>
                      <a:r>
                        <a:rPr sz="1000"/>
                        <a:t>npp_gpp_t0</a:t>
                      </a:r>
                    </a:p>
                  </a:txBody>
                  <a:tcPr/>
                </a:tc>
                <a:tc>
                  <a:txBody>
                    <a:bodyPr/>
                    <a:lstStyle/>
                    <a:p>
                      <a:pPr marL="0" lvl="0" indent="0" algn="l">
                        <a:buNone/>
                      </a:pPr>
                      <a:r>
                        <a:rPr sz="1000"/>
                        <a:t>Ecosystem productivity/greenness</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14.0</a:t>
                      </a:r>
                    </a:p>
                  </a:txBody>
                  <a:tcPr/>
                </a:tc>
                <a:extLst>
                  <a:ext uri="{0D108BD9-81ED-4DB2-BD59-A6C34878D82A}">
                    <a16:rowId xmlns:a16="http://schemas.microsoft.com/office/drawing/2014/main" val="10005"/>
                  </a:ext>
                </a:extLst>
              </a:tr>
              <a:tr h="0">
                <a:tc>
                  <a:txBody>
                    <a:bodyPr/>
                    <a:lstStyle/>
                    <a:p>
                      <a:pPr marL="0" lvl="0" indent="0" algn="l">
                        <a:buNone/>
                      </a:pPr>
                      <a:r>
                        <a:rPr sz="1000"/>
                        <a:t>mics_w_iptp_sp</a:t>
                      </a:r>
                    </a:p>
                  </a:txBody>
                  <a:tcPr/>
                </a:tc>
                <a:tc>
                  <a:txBody>
                    <a:bodyPr/>
                    <a:lstStyle/>
                    <a:p>
                      <a:pPr marL="0" lvl="0" indent="0" algn="l">
                        <a:buNone/>
                      </a:pPr>
                      <a:r>
                        <a:rPr sz="1000"/>
                        <a:t>Infection and inflammation burden</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3.0</a:t>
                      </a:r>
                    </a:p>
                  </a:txBody>
                  <a:tcPr/>
                </a:tc>
                <a:extLst>
                  <a:ext uri="{0D108BD9-81ED-4DB2-BD59-A6C34878D82A}">
                    <a16:rowId xmlns:a16="http://schemas.microsoft.com/office/drawing/2014/main" val="10006"/>
                  </a:ext>
                </a:extLst>
              </a:tr>
              <a:tr h="0">
                <a:tc>
                  <a:txBody>
                    <a:bodyPr/>
                    <a:lstStyle/>
                    <a:p>
                      <a:pPr marL="0" lvl="0" indent="0" algn="l">
                        <a:buNone/>
                      </a:pPr>
                      <a:r>
                        <a:rPr sz="1000"/>
                        <a:t>glw_ruminant_share</a:t>
                      </a:r>
                    </a:p>
                  </a:txBody>
                  <a:tcPr/>
                </a:tc>
                <a:tc>
                  <a:txBody>
                    <a:bodyPr/>
                    <a:lstStyle/>
                    <a:p>
                      <a:pPr marL="0" lvl="0" indent="0" algn="l">
                        <a:buNone/>
                      </a:pPr>
                      <a:r>
                        <a:rPr sz="1000"/>
                        <a:t>Livestock density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6.3</a:t>
                      </a:r>
                    </a:p>
                  </a:txBody>
                  <a:tcPr/>
                </a:tc>
                <a:extLst>
                  <a:ext uri="{0D108BD9-81ED-4DB2-BD59-A6C34878D82A}">
                    <a16:rowId xmlns:a16="http://schemas.microsoft.com/office/drawing/2014/main" val="10007"/>
                  </a:ext>
                </a:extLst>
              </a:tr>
              <a:tr h="0">
                <a:tc>
                  <a:txBody>
                    <a:bodyPr/>
                    <a:lstStyle/>
                    <a:p>
                      <a:pPr marL="0" lvl="0" indent="0" algn="l">
                        <a:buNone/>
                      </a:pPr>
                      <a:r>
                        <a:rPr sz="1000"/>
                        <a:t>ihme_underweightprevalence</a:t>
                      </a:r>
                    </a:p>
                  </a:txBody>
                  <a:tcPr/>
                </a:tc>
                <a:tc>
                  <a:txBody>
                    <a:bodyPr/>
                    <a:lstStyle/>
                    <a:p>
                      <a:pPr marL="0" lvl="0" indent="0" algn="l">
                        <a:buNone/>
                      </a:pPr>
                      <a:r>
                        <a:rPr sz="1000"/>
                        <a:t>Child anthropometry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7.0</a:t>
                      </a:r>
                    </a:p>
                  </a:txBody>
                  <a:tcPr/>
                </a:tc>
                <a:extLst>
                  <a:ext uri="{0D108BD9-81ED-4DB2-BD59-A6C34878D82A}">
                    <a16:rowId xmlns:a16="http://schemas.microsoft.com/office/drawing/2014/main" val="10008"/>
                  </a:ext>
                </a:extLst>
              </a:tr>
              <a:tr h="0">
                <a:tc>
                  <a:txBody>
                    <a:bodyPr/>
                    <a:lstStyle/>
                    <a:p>
                      <a:pPr marL="0" lvl="0" indent="0" algn="l">
                        <a:buNone/>
                      </a:pPr>
                      <a:r>
                        <a:rPr sz="1000"/>
                        <a:t>lcover_grass_frac_t0</a:t>
                      </a:r>
                    </a:p>
                  </a:txBody>
                  <a:tcPr/>
                </a:tc>
                <a:tc>
                  <a:txBody>
                    <a:bodyPr/>
                    <a:lstStyle/>
                    <a:p>
                      <a:pPr marL="0" lvl="0" indent="0" algn="l">
                        <a:buNone/>
                      </a:pPr>
                      <a:r>
                        <a:rPr sz="1000"/>
                        <a:t>Built environment</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7.0</a:t>
                      </a:r>
                    </a:p>
                  </a:txBody>
                  <a:tcPr/>
                </a:tc>
                <a:extLst>
                  <a:ext uri="{0D108BD9-81ED-4DB2-BD59-A6C34878D82A}">
                    <a16:rowId xmlns:a16="http://schemas.microsoft.com/office/drawing/2014/main" val="10009"/>
                  </a:ext>
                </a:extLst>
              </a:tr>
              <a:tr h="0">
                <a:tc>
                  <a:txBody>
                    <a:bodyPr/>
                    <a:lstStyle/>
                    <a:p>
                      <a:pPr marL="0" lvl="0" indent="0" algn="l">
                        <a:buNone/>
                      </a:pPr>
                      <a:r>
                        <a:rPr sz="1000"/>
                        <a:t>lcover_crops_frac_t0</a:t>
                      </a:r>
                    </a:p>
                  </a:txBody>
                  <a:tcPr/>
                </a:tc>
                <a:tc>
                  <a:txBody>
                    <a:bodyPr/>
                    <a:lstStyle/>
                    <a:p>
                      <a:pPr marL="0" lvl="0" indent="0" algn="l">
                        <a:buNone/>
                      </a:pPr>
                      <a:r>
                        <a:rPr sz="1000"/>
                        <a:t>Built environment</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7.7</a:t>
                      </a:r>
                    </a:p>
                  </a:txBody>
                  <a:tcPr/>
                </a:tc>
                <a:extLst>
                  <a:ext uri="{0D108BD9-81ED-4DB2-BD59-A6C34878D82A}">
                    <a16:rowId xmlns:a16="http://schemas.microsoft.com/office/drawing/2014/main" val="10010"/>
                  </a:ext>
                </a:extLst>
              </a:tr>
              <a:tr h="0">
                <a:tc>
                  <a:txBody>
                    <a:bodyPr/>
                    <a:lstStyle/>
                    <a:p>
                      <a:pPr marL="0" lvl="0" indent="0" algn="l">
                        <a:buNone/>
                      </a:pPr>
                      <a:r>
                        <a:rPr sz="1000"/>
                        <a:t>glw_tlu_per_capita</a:t>
                      </a:r>
                    </a:p>
                  </a:txBody>
                  <a:tcPr/>
                </a:tc>
                <a:tc>
                  <a:txBody>
                    <a:bodyPr/>
                    <a:lstStyle/>
                    <a:p>
                      <a:pPr marL="0" lvl="0" indent="0" algn="l">
                        <a:buNone/>
                      </a:pPr>
                      <a:r>
                        <a:rPr sz="1000"/>
                        <a:t>Livestock density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8.3</a:t>
                      </a:r>
                    </a:p>
                  </a:txBody>
                  <a:tcPr/>
                </a:tc>
                <a:extLst>
                  <a:ext uri="{0D108BD9-81ED-4DB2-BD59-A6C34878D82A}">
                    <a16:rowId xmlns:a16="http://schemas.microsoft.com/office/drawing/2014/main" val="10011"/>
                  </a:ext>
                </a:extLst>
              </a:tr>
              <a:tr h="0">
                <a:tc>
                  <a:txBody>
                    <a:bodyPr/>
                    <a:lstStyle/>
                    <a:p>
                      <a:pPr marL="0" lvl="0" indent="0" algn="l">
                        <a:buNone/>
                      </a:pPr>
                      <a:r>
                        <a:rPr sz="1000"/>
                        <a:t>ihme_allanemia</a:t>
                      </a:r>
                    </a:p>
                  </a:txBody>
                  <a:tcPr/>
                </a:tc>
                <a:tc>
                  <a:txBody>
                    <a:bodyPr/>
                    <a:lstStyle/>
                    <a:p>
                      <a:pPr marL="0" lvl="0" indent="0" algn="l">
                        <a:buNone/>
                      </a:pPr>
                      <a:r>
                        <a:rPr sz="1000"/>
                        <a:t>Anaemia and haemoglobin</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8.3</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Weighting of the domain components</a:t>
            </a:r>
          </a:p>
        </p:txBody>
      </p:sp>
      <p:sp>
        <p:nvSpPr>
          <p:cNvPr id="3" name="Content Placeholder 2"/>
          <p:cNvSpPr>
            <a:spLocks noGrp="1"/>
          </p:cNvSpPr>
          <p:nvPr>
            <p:ph sz="half" idx="1"/>
          </p:nvPr>
        </p:nvSpPr>
        <p:spPr/>
        <p:txBody>
          <a:bodyPr/>
          <a:lstStyle/>
          <a:p>
            <a:pPr marL="0" lvl="0" indent="0">
              <a:buNone/>
            </a:pPr>
            <a:r>
              <a:rPr sz="1800"/>
              <a:t>Alternative weightings of the same components on the biomarker level. In-country every joint fit loses to the marginal-correlation weights (ridge -0.04, elastic net -0.07, lasso -0.07). Across borders the decorrelated index gains +0.002 (better in 12 of 22).</a:t>
            </a:r>
          </a:p>
        </p:txBody>
      </p:sp>
      <p:pic>
        <p:nvPicPr>
          <p:cNvPr id="4" name="Picture 1" descr="MN-proxy-full-talk-2026-09_files/figure-pptx/weights-1.png"/>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Sparse composites</a:t>
            </a:r>
          </a:p>
        </p:txBody>
      </p:sp>
      <p:sp>
        <p:nvSpPr>
          <p:cNvPr id="3" name="Content Placeholder 2"/>
          <p:cNvSpPr>
            <a:spLocks noGrp="1"/>
          </p:cNvSpPr>
          <p:nvPr>
            <p:ph sz="half" idx="1"/>
          </p:nvPr>
        </p:nvSpPr>
        <p:spPr/>
        <p:txBody>
          <a:bodyPr/>
          <a:lstStyle/>
          <a:p>
            <a:pPr marL="0" lvl="0" indent="0">
              <a:buNone/>
            </a:pPr>
            <a:r>
              <a:rPr sz="1800"/>
              <a:t>Equal-weight composites of the top 5, 10 and 20 predictors, membership chosen inside each training fold by back-projected index weight. Twenty predictors cost -0.03 in-fill and gain -0.053 across borders; five predictors cost -0.06 in-fill.</a:t>
            </a:r>
          </a:p>
        </p:txBody>
      </p:sp>
      <p:pic>
        <p:nvPicPr>
          <p:cNvPr id="4" name="Picture 1" descr="MN-proxy-full-talk-2026-09_files/figure-pptx/sparse-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Child iron composite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184400">
                  <a:extLst>
                    <a:ext uri="{9D8B030D-6E8A-4147-A177-3AD203B41FA5}">
                      <a16:colId xmlns:a16="http://schemas.microsoft.com/office/drawing/2014/main" val="20002"/>
                    </a:ext>
                  </a:extLst>
                </a:gridCol>
                <a:gridCol w="3594100">
                  <a:extLst>
                    <a:ext uri="{9D8B030D-6E8A-4147-A177-3AD203B41FA5}">
                      <a16:colId xmlns:a16="http://schemas.microsoft.com/office/drawing/2014/main" val="20003"/>
                    </a:ext>
                  </a:extLst>
                </a:gridCol>
              </a:tblGrid>
              <a:tr h="0">
                <a:tc>
                  <a:txBody>
                    <a:bodyPr/>
                    <a:lstStyle/>
                    <a:p>
                      <a:pPr marL="0" lvl="0" indent="0" algn="l">
                        <a:buNone/>
                      </a:pPr>
                      <a:r>
                        <a:rPr sz="1000"/>
                        <a:t>Predictor</a:t>
                      </a:r>
                    </a:p>
                  </a:txBody>
                  <a:tcPr/>
                </a:tc>
                <a:tc>
                  <a:txBody>
                    <a:bodyPr/>
                    <a:lstStyle/>
                    <a:p>
                      <a:pPr marL="0" lvl="0" indent="0" algn="l">
                        <a:buNone/>
                      </a:pPr>
                      <a:r>
                        <a:rPr sz="1000"/>
                        <a:t>Source</a:t>
                      </a:r>
                    </a:p>
                  </a:txBody>
                  <a:tcPr/>
                </a:tc>
                <a:tc>
                  <a:txBody>
                    <a:bodyPr/>
                    <a:lstStyle/>
                    <a:p>
                      <a:pPr marL="0" lvl="0" indent="0" algn="l">
                        <a:buNone/>
                      </a:pPr>
                      <a:r>
                        <a:rPr sz="1000"/>
                        <a:t>Predictor</a:t>
                      </a:r>
                    </a:p>
                  </a:txBody>
                  <a:tcPr/>
                </a:tc>
                <a:tc>
                  <a:txBody>
                    <a:bodyPr/>
                    <a:lstStyle/>
                    <a:p>
                      <a:pPr marL="0" lvl="0" indent="0" algn="l">
                        <a:buNone/>
                      </a:pPr>
                      <a:r>
                        <a:rPr sz="1000"/>
                        <a:t>Source</a:t>
                      </a:r>
                    </a:p>
                  </a:txBody>
                  <a:tcPr/>
                </a:tc>
                <a:extLst>
                  <a:ext uri="{0D108BD9-81ED-4DB2-BD59-A6C34878D82A}">
                    <a16:rowId xmlns:a16="http://schemas.microsoft.com/office/drawing/2014/main" val="10000"/>
                  </a:ext>
                </a:extLst>
              </a:tr>
              <a:tr h="0">
                <a:tc>
                  <a:txBody>
                    <a:bodyPr/>
                    <a:lstStyle/>
                    <a:p>
                      <a:pPr marL="0" lvl="0" indent="0" algn="l">
                        <a:buNone/>
                      </a:pPr>
                      <a:r>
                        <a:rPr sz="1000"/>
                        <a:t>ihme_overweightprevalence (-)</a:t>
                      </a:r>
                    </a:p>
                  </a:txBody>
                  <a:tcPr/>
                </a:tc>
                <a:tc>
                  <a:txBody>
                    <a:bodyPr/>
                    <a:lstStyle/>
                    <a:p>
                      <a:pPr marL="0" lvl="0" indent="0" algn="l">
                        <a:buNone/>
                      </a:pPr>
                      <a:r>
                        <a:rPr sz="1000"/>
                        <a:t>IHME</a:t>
                      </a:r>
                    </a:p>
                  </a:txBody>
                  <a:tcPr/>
                </a:tc>
                <a:tc>
                  <a:txBody>
                    <a:bodyPr/>
                    <a:lstStyle/>
                    <a:p>
                      <a:pPr marL="0" lvl="0" indent="0" algn="l">
                        <a:buNone/>
                      </a:pPr>
                      <a:r>
                        <a:rPr sz="1000"/>
                        <a:t>map_sy_pf_parasite_rate (-)</a:t>
                      </a:r>
                    </a:p>
                  </a:txBody>
                  <a:tcPr/>
                </a:tc>
                <a:tc>
                  <a:txBody>
                    <a:bodyPr/>
                    <a:lstStyle/>
                    <a:p>
                      <a:pPr marL="0" lvl="0" indent="0" algn="l">
                        <a:buNone/>
                      </a:pPr>
                      <a:r>
                        <a:rPr sz="1000"/>
                        <a:t>Malaria Atlas Project</a:t>
                      </a:r>
                    </a:p>
                  </a:txBody>
                  <a:tcPr/>
                </a:tc>
                <a:extLst>
                  <a:ext uri="{0D108BD9-81ED-4DB2-BD59-A6C34878D82A}">
                    <a16:rowId xmlns:a16="http://schemas.microsoft.com/office/drawing/2014/main" val="10001"/>
                  </a:ext>
                </a:extLst>
              </a:tr>
              <a:tr h="0">
                <a:tc>
                  <a:txBody>
                    <a:bodyPr/>
                    <a:lstStyle/>
                    <a:p>
                      <a:pPr marL="0" lvl="0" indent="0" algn="l">
                        <a:buNone/>
                      </a:pPr>
                      <a:r>
                        <a:rPr sz="1000"/>
                        <a:t>spam_share_cereals (+)</a:t>
                      </a:r>
                    </a:p>
                  </a:txBody>
                  <a:tcPr/>
                </a:tc>
                <a:tc>
                  <a:txBody>
                    <a:bodyPr/>
                    <a:lstStyle/>
                    <a:p>
                      <a:pPr marL="0" lvl="0" indent="0" algn="l">
                        <a:buNone/>
                      </a:pPr>
                      <a:r>
                        <a:rPr sz="1000"/>
                        <a:t>MapSPAM</a:t>
                      </a:r>
                    </a:p>
                  </a:txBody>
                  <a:tcPr/>
                </a:tc>
                <a:tc>
                  <a:txBody>
                    <a:bodyPr/>
                    <a:lstStyle/>
                    <a:p>
                      <a:pPr marL="0" lvl="0" indent="0" algn="l">
                        <a:buNone/>
                      </a:pPr>
                      <a:r>
                        <a:rPr sz="1000"/>
                        <a:t>soil_phosphorus_stdev_0_20 (+)</a:t>
                      </a:r>
                    </a:p>
                  </a:txBody>
                  <a:tcPr/>
                </a:tc>
                <a:tc>
                  <a:txBody>
                    <a:bodyPr/>
                    <a:lstStyle/>
                    <a:p>
                      <a:pPr marL="0" lvl="0" indent="0" algn="l">
                        <a:buNone/>
                      </a:pPr>
                      <a:r>
                        <a:rPr sz="1000"/>
                        <a:t>SoilGrids / iSDA</a:t>
                      </a:r>
                    </a:p>
                  </a:txBody>
                  <a:tcPr/>
                </a:tc>
                <a:extLst>
                  <a:ext uri="{0D108BD9-81ED-4DB2-BD59-A6C34878D82A}">
                    <a16:rowId xmlns:a16="http://schemas.microsoft.com/office/drawing/2014/main" val="10002"/>
                  </a:ext>
                </a:extLst>
              </a:tr>
              <a:tr h="0">
                <a:tc>
                  <a:txBody>
                    <a:bodyPr/>
                    <a:lstStyle/>
                    <a:p>
                      <a:pPr marL="0" lvl="0" indent="0" algn="l">
                        <a:buNone/>
                      </a:pPr>
                      <a:r>
                        <a:rPr sz="1000"/>
                        <a:t>glw_ruminant_share (+)</a:t>
                      </a:r>
                    </a:p>
                  </a:txBody>
                  <a:tcPr/>
                </a:tc>
                <a:tc>
                  <a:txBody>
                    <a:bodyPr/>
                    <a:lstStyle/>
                    <a:p>
                      <a:pPr marL="0" lvl="0" indent="0" algn="l">
                        <a:buNone/>
                      </a:pPr>
                      <a:r>
                        <a:rPr sz="1000"/>
                        <a:t>Gridded Livestock of the World 4</a:t>
                      </a:r>
                    </a:p>
                  </a:txBody>
                  <a:tcPr/>
                </a:tc>
                <a:tc>
                  <a:txBody>
                    <a:bodyPr/>
                    <a:lstStyle/>
                    <a:p>
                      <a:pPr marL="0" lvl="0" indent="0" algn="l">
                        <a:buNone/>
                      </a:pPr>
                      <a:r>
                        <a:rPr sz="1000"/>
                        <a:t>wdist_coast_km_mean (+)</a:t>
                      </a:r>
                    </a:p>
                  </a:txBody>
                  <a:tcPr/>
                </a:tc>
                <a:tc>
                  <a:txBody>
                    <a:bodyPr/>
                    <a:lstStyle/>
                    <a:p>
                      <a:pPr marL="0" lvl="0" indent="0" algn="l">
                        <a:buNone/>
                      </a:pPr>
                      <a:r>
                        <a:rPr sz="1000"/>
                        <a:t>JRC Global Surface Water 1.4; USDOS LSIB 2017</a:t>
                      </a:r>
                    </a:p>
                  </a:txBody>
                  <a:tcPr/>
                </a:tc>
                <a:extLst>
                  <a:ext uri="{0D108BD9-81ED-4DB2-BD59-A6C34878D82A}">
                    <a16:rowId xmlns:a16="http://schemas.microsoft.com/office/drawing/2014/main" val="10003"/>
                  </a:ext>
                </a:extLst>
              </a:tr>
              <a:tr h="0">
                <a:tc>
                  <a:txBody>
                    <a:bodyPr/>
                    <a:lstStyle/>
                    <a:p>
                      <a:pPr marL="0" lvl="0" indent="0" algn="l">
                        <a:buNone/>
                      </a:pPr>
                      <a:r>
                        <a:rPr sz="1000"/>
                        <a:t>spam_share_roots (-)</a:t>
                      </a:r>
                    </a:p>
                  </a:txBody>
                  <a:tcPr/>
                </a:tc>
                <a:tc>
                  <a:txBody>
                    <a:bodyPr/>
                    <a:lstStyle/>
                    <a:p>
                      <a:pPr marL="0" lvl="0" indent="0" algn="l">
                        <a:buNone/>
                      </a:pPr>
                      <a:r>
                        <a:rPr sz="1000"/>
                        <a:t>MapSPAM</a:t>
                      </a:r>
                    </a:p>
                  </a:txBody>
                  <a:tcPr/>
                </a:tc>
                <a:tc>
                  <a:txBody>
                    <a:bodyPr/>
                    <a:lstStyle/>
                    <a:p>
                      <a:pPr marL="0" lvl="0" indent="0" algn="l">
                        <a:buNone/>
                      </a:pPr>
                      <a:r>
                        <a:rPr sz="1000"/>
                        <a:t>mics_c_fg_legumes (+)</a:t>
                      </a:r>
                    </a:p>
                  </a:txBody>
                  <a:tcPr/>
                </a:tc>
                <a:tc>
                  <a:txBody>
                    <a:bodyPr/>
                    <a:lstStyle/>
                    <a:p>
                      <a:pPr marL="0" lvl="0" indent="0" algn="l">
                        <a:buNone/>
                      </a:pPr>
                      <a:r>
                        <a:rPr sz="1000"/>
                        <a:t>MICS microdata</a:t>
                      </a:r>
                    </a:p>
                  </a:txBody>
                  <a:tcPr/>
                </a:tc>
                <a:extLst>
                  <a:ext uri="{0D108BD9-81ED-4DB2-BD59-A6C34878D82A}">
                    <a16:rowId xmlns:a16="http://schemas.microsoft.com/office/drawing/2014/main" val="10004"/>
                  </a:ext>
                </a:extLst>
              </a:tr>
              <a:tr h="0">
                <a:tc>
                  <a:txBody>
                    <a:bodyPr/>
                    <a:lstStyle/>
                    <a:p>
                      <a:pPr marL="0" lvl="0" indent="0" algn="l">
                        <a:buNone/>
                      </a:pPr>
                      <a:r>
                        <a:rPr sz="1000"/>
                        <a:t>fprice_staple_rel (-)</a:t>
                      </a:r>
                    </a:p>
                  </a:txBody>
                  <a:tcPr/>
                </a:tc>
                <a:tc>
                  <a:txBody>
                    <a:bodyPr/>
                    <a:lstStyle/>
                    <a:p>
                      <a:pPr marL="0" lvl="0" indent="0" algn="l">
                        <a:buNone/>
                      </a:pPr>
                      <a:r>
                        <a:rPr sz="1000"/>
                        <a:t>WFP / HDX market prices</a:t>
                      </a:r>
                    </a:p>
                  </a:txBody>
                  <a:tcPr/>
                </a:tc>
                <a:tc>
                  <a:txBody>
                    <a:bodyPr/>
                    <a:lstStyle/>
                    <a:p>
                      <a:pPr marL="0" lvl="0" indent="0" algn="l">
                        <a:buNone/>
                      </a:pPr>
                      <a:r>
                        <a:rPr sz="1000"/>
                        <a:t>wdist_coast_km_min (+)</a:t>
                      </a:r>
                    </a:p>
                  </a:txBody>
                  <a:tcPr/>
                </a:tc>
                <a:tc>
                  <a:txBody>
                    <a:bodyPr/>
                    <a:lstStyle/>
                    <a:p>
                      <a:pPr marL="0" lvl="0" indent="0" algn="l">
                        <a:buNone/>
                      </a:pPr>
                      <a:r>
                        <a:rPr sz="1000"/>
                        <a:t>JRC Global Surface Water 1.4; USDOS LSIB 2017</a:t>
                      </a:r>
                    </a:p>
                  </a:txBody>
                  <a:tcPr/>
                </a:tc>
                <a:extLst>
                  <a:ext uri="{0D108BD9-81ED-4DB2-BD59-A6C34878D82A}">
                    <a16:rowId xmlns:a16="http://schemas.microsoft.com/office/drawing/2014/main" val="10005"/>
                  </a:ext>
                </a:extLst>
              </a:tr>
              <a:tr h="0">
                <a:tc>
                  <a:txBody>
                    <a:bodyPr/>
                    <a:lstStyle/>
                    <a:p>
                      <a:pPr marL="0" lvl="0" indent="0" algn="l">
                        <a:buNone/>
                      </a:pPr>
                      <a:r>
                        <a:rPr sz="1000"/>
                        <a:t>map_sy_pf_mortality_rate (-)</a:t>
                      </a:r>
                    </a:p>
                  </a:txBody>
                  <a:tcPr/>
                </a:tc>
                <a:tc>
                  <a:txBody>
                    <a:bodyPr/>
                    <a:lstStyle/>
                    <a:p>
                      <a:pPr marL="0" lvl="0" indent="0" algn="l">
                        <a:buNone/>
                      </a:pPr>
                      <a:r>
                        <a:rPr sz="1000"/>
                        <a:t>Malaria Atlas Project</a:t>
                      </a:r>
                    </a:p>
                  </a:txBody>
                  <a:tcPr/>
                </a:tc>
                <a:tc>
                  <a:txBody>
                    <a:bodyPr/>
                    <a:lstStyle/>
                    <a:p>
                      <a:pPr marL="0" lvl="0" indent="0" algn="l">
                        <a:buNone/>
                      </a:pPr>
                      <a:r>
                        <a:rPr sz="1000"/>
                        <a:t>rwi_sd (-)</a:t>
                      </a:r>
                    </a:p>
                  </a:txBody>
                  <a:tcPr/>
                </a:tc>
                <a:tc>
                  <a:txBody>
                    <a:bodyPr/>
                    <a:lstStyle/>
                    <a:p>
                      <a:pPr marL="0" lvl="0" indent="0" algn="l">
                        <a:buNone/>
                      </a:pPr>
                      <a:r>
                        <a:rPr sz="1000"/>
                        <a:t>Meta/Data for Good RWI; WorldPop; CIESIN GPW v4.11</a:t>
                      </a:r>
                    </a:p>
                  </a:txBody>
                  <a:tcPr/>
                </a:tc>
                <a:extLst>
                  <a:ext uri="{0D108BD9-81ED-4DB2-BD59-A6C34878D82A}">
                    <a16:rowId xmlns:a16="http://schemas.microsoft.com/office/drawing/2014/main" val="10006"/>
                  </a:ext>
                </a:extLst>
              </a:tr>
              <a:tr h="0">
                <a:tc>
                  <a:txBody>
                    <a:bodyPr/>
                    <a:lstStyle/>
                    <a:p>
                      <a:pPr marL="0" lvl="0" indent="0" algn="l">
                        <a:buNone/>
                      </a:pPr>
                      <a:r>
                        <a:rPr sz="1000"/>
                        <a:t>glw_cattle_km2 (+)</a:t>
                      </a:r>
                    </a:p>
                  </a:txBody>
                  <a:tcPr/>
                </a:tc>
                <a:tc>
                  <a:txBody>
                    <a:bodyPr/>
                    <a:lstStyle/>
                    <a:p>
                      <a:pPr marL="0" lvl="0" indent="0" algn="l">
                        <a:buNone/>
                      </a:pPr>
                      <a:r>
                        <a:rPr sz="1000"/>
                        <a:t>Gridded Livestock of the World 4</a:t>
                      </a:r>
                    </a:p>
                  </a:txBody>
                  <a:tcPr/>
                </a:tc>
                <a:tc>
                  <a:txBody>
                    <a:bodyPr/>
                    <a:lstStyle/>
                    <a:p>
                      <a:pPr marL="0" lvl="0" indent="0" algn="l">
                        <a:buNone/>
                      </a:pPr>
                      <a:r>
                        <a:rPr sz="1000"/>
                        <a:t>ihme_simpother (-)</a:t>
                      </a:r>
                    </a:p>
                  </a:txBody>
                  <a:tcPr/>
                </a:tc>
                <a:tc>
                  <a:txBody>
                    <a:bodyPr/>
                    <a:lstStyle/>
                    <a:p>
                      <a:pPr marL="0" lvl="0" indent="0" algn="l">
                        <a:buNone/>
                      </a:pPr>
                      <a:r>
                        <a:rPr sz="1000"/>
                        <a:t>IHME</a:t>
                      </a:r>
                    </a:p>
                  </a:txBody>
                  <a:tcPr/>
                </a:tc>
                <a:extLst>
                  <a:ext uri="{0D108BD9-81ED-4DB2-BD59-A6C34878D82A}">
                    <a16:rowId xmlns:a16="http://schemas.microsoft.com/office/drawing/2014/main" val="10007"/>
                  </a:ext>
                </a:extLst>
              </a:tr>
              <a:tr h="0">
                <a:tc>
                  <a:txBody>
                    <a:bodyPr/>
                    <a:lstStyle/>
                    <a:p>
                      <a:pPr marL="0" lvl="0" indent="0" algn="l">
                        <a:buNone/>
                      </a:pPr>
                      <a:r>
                        <a:rPr sz="1000"/>
                        <a:t>lcover_crops_frac_t0 (+)</a:t>
                      </a:r>
                    </a:p>
                  </a:txBody>
                  <a:tcPr/>
                </a:tc>
                <a:tc>
                  <a:txBody>
                    <a:bodyPr/>
                    <a:lstStyle/>
                    <a:p>
                      <a:pPr marL="0" lvl="0" indent="0" algn="l">
                        <a:buNone/>
                      </a:pPr>
                      <a:r>
                        <a:rPr sz="1000"/>
                        <a:t>GEE</a:t>
                      </a:r>
                    </a:p>
                  </a:txBody>
                  <a:tcPr/>
                </a:tc>
                <a:tc>
                  <a:txBody>
                    <a:bodyPr/>
                    <a:lstStyle/>
                    <a:p>
                      <a:pPr marL="0" lvl="0" indent="0" algn="l">
                        <a:buNone/>
                      </a:pPr>
                      <a:r>
                        <a:rPr sz="1000"/>
                        <a:t>npp_npp_t0 (-)</a:t>
                      </a:r>
                    </a:p>
                  </a:txBody>
                  <a:tcPr/>
                </a:tc>
                <a:tc>
                  <a:txBody>
                    <a:bodyPr/>
                    <a:lstStyle/>
                    <a:p>
                      <a:pPr marL="0" lvl="0" indent="0" algn="l">
                        <a:buNone/>
                      </a:pPr>
                      <a:r>
                        <a:rPr sz="1000"/>
                        <a:t>GEE</a:t>
                      </a:r>
                    </a:p>
                  </a:txBody>
                  <a:tcPr/>
                </a:tc>
                <a:extLst>
                  <a:ext uri="{0D108BD9-81ED-4DB2-BD59-A6C34878D82A}">
                    <a16:rowId xmlns:a16="http://schemas.microsoft.com/office/drawing/2014/main" val="10008"/>
                  </a:ext>
                </a:extLst>
              </a:tr>
              <a:tr h="0">
                <a:tc>
                  <a:txBody>
                    <a:bodyPr/>
                    <a:lstStyle/>
                    <a:p>
                      <a:pPr marL="0" lvl="0" indent="0" algn="l">
                        <a:buNone/>
                      </a:pPr>
                      <a:r>
                        <a:rPr sz="1000"/>
                        <a:t>mics_c_fg_vita_fv (+)</a:t>
                      </a:r>
                    </a:p>
                  </a:txBody>
                  <a:tcPr/>
                </a:tc>
                <a:tc>
                  <a:txBody>
                    <a:bodyPr/>
                    <a:lstStyle/>
                    <a:p>
                      <a:pPr marL="0" lvl="0" indent="0" algn="l">
                        <a:buNone/>
                      </a:pPr>
                      <a:r>
                        <a:rPr sz="1000"/>
                        <a:t>MICS microdata</a:t>
                      </a:r>
                    </a:p>
                  </a:txBody>
                  <a:tcPr/>
                </a:tc>
                <a:tc>
                  <a:txBody>
                    <a:bodyPr/>
                    <a:lstStyle/>
                    <a:p>
                      <a:pPr marL="0" lvl="0" indent="0" algn="l">
                        <a:buNone/>
                      </a:pPr>
                      <a:r>
                        <a:rPr sz="1000"/>
                        <a:t>wpop_dependency_ratio (+)</a:t>
                      </a:r>
                    </a:p>
                  </a:txBody>
                  <a:tcPr/>
                </a:tc>
                <a:tc>
                  <a:txBody>
                    <a:bodyPr/>
                    <a:lstStyle/>
                    <a:p>
                      <a:pPr marL="0" lvl="0" indent="0" algn="l">
                        <a:buNone/>
                      </a:pPr>
                      <a:r>
                        <a:rPr sz="1000"/>
                        <a:t>WorldPop age-sex / JRC GHS-SMOD</a:t>
                      </a:r>
                    </a:p>
                  </a:txBody>
                  <a:tcPr/>
                </a:tc>
                <a:extLst>
                  <a:ext uri="{0D108BD9-81ED-4DB2-BD59-A6C34878D82A}">
                    <a16:rowId xmlns:a16="http://schemas.microsoft.com/office/drawing/2014/main" val="10009"/>
                  </a:ext>
                </a:extLst>
              </a:tr>
              <a:tr h="0">
                <a:tc>
                  <a:txBody>
                    <a:bodyPr/>
                    <a:lstStyle/>
                    <a:p>
                      <a:pPr marL="0" lvl="0" indent="0" algn="l">
                        <a:buNone/>
                      </a:pPr>
                      <a:r>
                        <a:rPr sz="1000"/>
                        <a:t>map_sy_pf_reproductive_number (-)</a:t>
                      </a:r>
                    </a:p>
                  </a:txBody>
                  <a:tcPr/>
                </a:tc>
                <a:tc>
                  <a:txBody>
                    <a:bodyPr/>
                    <a:lstStyle/>
                    <a:p>
                      <a:pPr marL="0" lvl="0" indent="0" algn="l">
                        <a:buNone/>
                      </a:pPr>
                      <a:r>
                        <a:rPr sz="1000"/>
                        <a:t>Malaria Atlas Project</a:t>
                      </a:r>
                    </a:p>
                  </a:txBody>
                  <a:tcPr/>
                </a:tc>
                <a:tc>
                  <a:txBody>
                    <a:bodyPr/>
                    <a:lstStyle/>
                    <a:p>
                      <a:pPr marL="0" lvl="0" indent="0" algn="l">
                        <a:buNone/>
                      </a:pPr>
                      <a:r>
                        <a:rPr sz="1000"/>
                        <a:t>npp_gpp_t0 (-)</a:t>
                      </a:r>
                    </a:p>
                  </a:txBody>
                  <a:tcPr/>
                </a:tc>
                <a:tc>
                  <a:txBody>
                    <a:bodyPr/>
                    <a:lstStyle/>
                    <a:p>
                      <a:pPr marL="0" lvl="0" indent="0" algn="l">
                        <a:buNone/>
                      </a:pPr>
                      <a:r>
                        <a:rPr sz="1000"/>
                        <a:t>GEE</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Urbanicity conditioning</a:t>
            </a:r>
          </a:p>
        </p:txBody>
      </p:sp>
      <p:sp>
        <p:nvSpPr>
          <p:cNvPr id="3" name="Content Placeholder 2"/>
          <p:cNvSpPr>
            <a:spLocks noGrp="1"/>
          </p:cNvSpPr>
          <p:nvPr>
            <p:ph sz="half" idx="1"/>
          </p:nvPr>
        </p:nvSpPr>
        <p:spPr/>
        <p:txBody>
          <a:bodyPr/>
          <a:lstStyle/>
          <a:p>
            <a:pPr marL="0" lvl="0" indent="0">
              <a:buNone/>
            </a:pPr>
            <a:r>
              <a:rPr sz="1800"/>
              <a:t>Transported Spearman of the climate-and-soil index at district level (0.38), the same after partialling out an urbanicity composite (0.36), and urbanicity alone (-0.07).</a:t>
            </a:r>
          </a:p>
        </p:txBody>
      </p:sp>
      <p:pic>
        <p:nvPicPr>
          <p:cNvPr id="4" name="Picture 1" descr="MN-proxy-full-talk-2026-09_files/figure-pptx/urban-1.png"/>
          <p:cNvPicPr>
            <a:picLocks noGrp="1" noChangeAspect="1"/>
          </p:cNvPicPr>
          <p:nvPr/>
        </p:nvPicPr>
        <p:blipFill>
          <a:blip r:embed="rId3"/>
          <a:stretch>
            <a:fillRect/>
          </a:stretch>
        </p:blipFill>
        <p:spPr bwMode="auto">
          <a:xfrm>
            <a:off x="6172200" y="2197100"/>
            <a:ext cx="5181600" cy="3568700"/>
          </a:xfrm>
          <a:prstGeom prst="rect">
            <a:avLst/>
          </a:prstGeom>
          <a:noFill/>
          <a:ln w="9525">
            <a:noFill/>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Add-on predictor blocks</a:t>
            </a:r>
          </a:p>
        </p:txBody>
      </p:sp>
      <p:sp>
        <p:nvSpPr>
          <p:cNvPr id="3" name="Content Placeholder 2"/>
          <p:cNvSpPr>
            <a:spLocks noGrp="1"/>
          </p:cNvSpPr>
          <p:nvPr>
            <p:ph sz="half" idx="1"/>
          </p:nvPr>
        </p:nvSpPr>
        <p:spPr/>
        <p:txBody>
          <a:bodyPr/>
          <a:lstStyle/>
          <a:p>
            <a:pPr marL="0" lvl="0" indent="0">
              <a:buNone/>
            </a:pPr>
            <a:r>
              <a:rPr sz="1800"/>
              <a:t>Median change in Spearman when a block is added to the base vocabulary, in-fill and district transport on the biomarker level, scored under one harness with the same folds.</a:t>
            </a:r>
          </a:p>
        </p:txBody>
      </p:sp>
      <p:pic>
        <p:nvPicPr>
          <p:cNvPr id="4" name="Picture 1" descr="MN-proxy-full-talk-2026-09_files/figure-pptx/addons-1.png"/>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Cluster-level fitting</a:t>
            </a:r>
          </a:p>
        </p:txBody>
      </p:sp>
      <p:sp>
        <p:nvSpPr>
          <p:cNvPr id="3" name="Content Placeholder 2"/>
          <p:cNvSpPr>
            <a:spLocks noGrp="1"/>
          </p:cNvSpPr>
          <p:nvPr>
            <p:ph sz="half" idx="1"/>
          </p:nvPr>
        </p:nvSpPr>
        <p:spPr/>
        <p:txBody>
          <a:bodyPr/>
          <a:lstStyle/>
          <a:p>
            <a:pPr marL="0" lvl="0" indent="0">
              <a:buNone/>
            </a:pPr>
            <a:r>
              <a:rPr sz="1800"/>
              <a:t>The same index fitted at the survey cluster and aggregated to districts, against the district fit, on the same cells. In-fill on the level: 0.38 cluster-fitted against 0.40 district-fitted.</a:t>
            </a:r>
          </a:p>
        </p:txBody>
      </p:sp>
      <p:pic>
        <p:nvPicPr>
          <p:cNvPr id="4" name="Picture 1" descr="MN-proxy-full-talk-2026-09_files/figure-pptx/cluster-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Risk-class accuracy</a:t>
            </a:r>
          </a:p>
        </p:txBody>
      </p:sp>
      <p:sp>
        <p:nvSpPr>
          <p:cNvPr id="3" name="Content Placeholder 2"/>
          <p:cNvSpPr>
            <a:spLocks noGrp="1"/>
          </p:cNvSpPr>
          <p:nvPr>
            <p:ph sz="half" idx="1"/>
          </p:nvPr>
        </p:nvSpPr>
        <p:spPr/>
        <p:txBody>
          <a:bodyPr/>
          <a:lstStyle/>
          <a:p>
            <a:pPr marL="0" lvl="0" indent="0">
              <a:buNone/>
            </a:pPr>
            <a:r>
              <a:rPr sz="1800"/>
              <a:t>Share of districts placed in the correct WHO vitamin A band (under 2%, 2 to 10, 10 to 20, 20 or more), and within one band, mean over the vitamin A cells. The index in-fill: 63% exact and 91% within one band.</a:t>
            </a:r>
          </a:p>
        </p:txBody>
      </p:sp>
      <p:pic>
        <p:nvPicPr>
          <p:cNvPr id="4" name="Picture 1" descr="MN-proxy-full-talk-2026-09_files/figure-pptx/riskcat-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LSMS and FluNet predictors</a:t>
            </a:r>
          </a:p>
        </p:txBody>
      </p:sp>
      <p:sp>
        <p:nvSpPr>
          <p:cNvPr id="3" name="Content Placeholder 2"/>
          <p:cNvSpPr>
            <a:spLocks noGrp="1"/>
          </p:cNvSpPr>
          <p:nvPr>
            <p:ph sz="half" idx="1"/>
          </p:nvPr>
        </p:nvSpPr>
        <p:spPr/>
        <p:txBody>
          <a:bodyPr/>
          <a:lstStyle/>
          <a:p>
            <a:pPr marL="0" lvl="0" indent="0">
              <a:buNone/>
            </a:pPr>
            <a:r>
              <a:rPr sz="1800"/>
              <a:t>Ghana in-fill on the biomarker level with the base vocabulary, the base plus the LSMS block, and the LSMS block alone, median over ten draws.</a:t>
            </a:r>
          </a:p>
        </p:txBody>
      </p:sp>
      <p:pic>
        <p:nvPicPr>
          <p:cNvPr id="4" name="Picture 1" descr="MN-proxy-full-talk-2026-09_files/figure-pptx/lsms-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Individual-level models</a:t>
            </a:r>
          </a:p>
        </p:txBody>
      </p:sp>
      <p:sp>
        <p:nvSpPr>
          <p:cNvPr id="3" name="Content Placeholder 2"/>
          <p:cNvSpPr>
            <a:spLocks noGrp="1"/>
          </p:cNvSpPr>
          <p:nvPr>
            <p:ph sz="half" idx="1"/>
          </p:nvPr>
        </p:nvSpPr>
        <p:spPr/>
        <p:txBody>
          <a:bodyPr/>
          <a:lstStyle/>
          <a:p>
            <a:pPr marL="0" lvl="0" indent="0">
              <a:buNone/>
            </a:pPr>
            <a:r>
              <a:rPr sz="1800"/>
              <a:t>Person-level SuperLearner under district-blocked folds, Brier skill over the national prevalence, by country and outcome. Mean AUC over 18 cells: 0.52 for survey variables, 0.51 for district proxies, 0.53 for both.</a:t>
            </a:r>
          </a:p>
        </p:txBody>
      </p:sp>
      <p:pic>
        <p:nvPicPr>
          <p:cNvPr id="4" name="Picture 1" descr="MN-proxy-full-talk-2026-09_files/figure-pptx/individual-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National-level track</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gridCol w="2082800">
                  <a:extLst>
                    <a:ext uri="{9D8B030D-6E8A-4147-A177-3AD203B41FA5}">
                      <a16:colId xmlns:a16="http://schemas.microsoft.com/office/drawing/2014/main" val="20003"/>
                    </a:ext>
                  </a:extLst>
                </a:gridCol>
                <a:gridCol w="3060700">
                  <a:extLst>
                    <a:ext uri="{9D8B030D-6E8A-4147-A177-3AD203B41FA5}">
                      <a16:colId xmlns:a16="http://schemas.microsoft.com/office/drawing/2014/main" val="20004"/>
                    </a:ext>
                  </a:extLst>
                </a:gridCol>
              </a:tblGrid>
              <a:tr h="0">
                <a:tc>
                  <a:txBody>
                    <a:bodyPr/>
                    <a:lstStyle/>
                    <a:p>
                      <a:pPr marL="0" lvl="0" indent="0" algn="l">
                        <a:buNone/>
                      </a:pPr>
                      <a:r>
                        <a:rPr sz="1000"/>
                        <a:t>Outcome</a:t>
                      </a:r>
                    </a:p>
                  </a:txBody>
                  <a:tcPr/>
                </a:tc>
                <a:tc>
                  <a:txBody>
                    <a:bodyPr/>
                    <a:lstStyle/>
                    <a:p>
                      <a:pPr marL="0" lvl="0" indent="0" algn="r">
                        <a:buNone/>
                      </a:pPr>
                      <a:r>
                        <a:rPr sz="1000"/>
                        <a:t>Countries</a:t>
                      </a:r>
                    </a:p>
                  </a:txBody>
                  <a:tcPr/>
                </a:tc>
                <a:tc>
                  <a:txBody>
                    <a:bodyPr/>
                    <a:lstStyle/>
                    <a:p>
                      <a:pPr marL="0" lvl="0" indent="0" algn="r">
                        <a:buNone/>
                      </a:pPr>
                      <a:r>
                        <a:rPr sz="1000"/>
                        <a:t>Observed (mean)</a:t>
                      </a:r>
                    </a:p>
                  </a:txBody>
                  <a:tcPr/>
                </a:tc>
                <a:tc>
                  <a:txBody>
                    <a:bodyPr/>
                    <a:lstStyle/>
                    <a:p>
                      <a:pPr marL="0" lvl="0" indent="0" algn="r">
                        <a:buNone/>
                      </a:pPr>
                      <a:r>
                        <a:rPr sz="1000"/>
                        <a:t>Predicted (mean)</a:t>
                      </a:r>
                    </a:p>
                  </a:txBody>
                  <a:tcPr/>
                </a:tc>
                <a:tc>
                  <a:txBody>
                    <a:bodyPr/>
                    <a:lstStyle/>
                    <a:p>
                      <a:pPr marL="0" lvl="0" indent="0" algn="r">
                        <a:buNone/>
                      </a:pPr>
                      <a:r>
                        <a:rPr sz="1000"/>
                        <a:t>Mean absolute error (pp)</a:t>
                      </a:r>
                    </a:p>
                  </a:txBody>
                  <a:tcPr/>
                </a:tc>
                <a:extLst>
                  <a:ext uri="{0D108BD9-81ED-4DB2-BD59-A6C34878D82A}">
                    <a16:rowId xmlns:a16="http://schemas.microsoft.com/office/drawing/2014/main" val="10000"/>
                  </a:ext>
                </a:extLst>
              </a:tr>
              <a:tr h="0">
                <a:tc>
                  <a:txBody>
                    <a:bodyPr/>
                    <a:lstStyle/>
                    <a:p>
                      <a:pPr marL="0" lvl="0" indent="0" algn="l">
                        <a:buNone/>
                      </a:pPr>
                      <a:r>
                        <a:rPr sz="1000"/>
                        <a:t>Child iron</a:t>
                      </a:r>
                    </a:p>
                  </a:txBody>
                  <a:tcPr/>
                </a:tc>
                <a:tc>
                  <a:txBody>
                    <a:bodyPr/>
                    <a:lstStyle/>
                    <a:p>
                      <a:pPr marL="0" lvl="0" indent="0" algn="r">
                        <a:buNone/>
                      </a:pPr>
                      <a:r>
                        <a:rPr sz="1000"/>
                        <a:t>4</a:t>
                      </a:r>
                    </a:p>
                  </a:txBody>
                  <a:tcPr/>
                </a:tc>
                <a:tc>
                  <a:txBody>
                    <a:bodyPr/>
                    <a:lstStyle/>
                    <a:p>
                      <a:pPr marL="0" lvl="0" indent="0" algn="r">
                        <a:buNone/>
                      </a:pPr>
                      <a:r>
                        <a:rPr sz="1000"/>
                        <a:t>0.19</a:t>
                      </a:r>
                    </a:p>
                  </a:txBody>
                  <a:tcPr/>
                </a:tc>
                <a:tc>
                  <a:txBody>
                    <a:bodyPr/>
                    <a:lstStyle/>
                    <a:p>
                      <a:pPr marL="0" lvl="0" indent="0" algn="r">
                        <a:buNone/>
                      </a:pPr>
                      <a:r>
                        <a:rPr sz="1000"/>
                        <a:t>0.21</a:t>
                      </a:r>
                    </a:p>
                  </a:txBody>
                  <a:tcPr/>
                </a:tc>
                <a:tc>
                  <a:txBody>
                    <a:bodyPr/>
                    <a:lstStyle/>
                    <a:p>
                      <a:pPr marL="0" lvl="0" indent="0" algn="r">
                        <a:buNone/>
                      </a:pPr>
                      <a:r>
                        <a:rPr sz="1000"/>
                        <a:t>2.09</a:t>
                      </a:r>
                    </a:p>
                  </a:txBody>
                  <a:tcPr/>
                </a:tc>
                <a:extLst>
                  <a:ext uri="{0D108BD9-81ED-4DB2-BD59-A6C34878D82A}">
                    <a16:rowId xmlns:a16="http://schemas.microsoft.com/office/drawing/2014/main" val="10001"/>
                  </a:ext>
                </a:extLst>
              </a:tr>
              <a:tr h="0">
                <a:tc>
                  <a:txBody>
                    <a:bodyPr/>
                    <a:lstStyle/>
                    <a:p>
                      <a:pPr marL="0" lvl="0" indent="0" algn="l">
                        <a:buNone/>
                      </a:pPr>
                      <a:r>
                        <a:rPr sz="1000"/>
                        <a:t>Child vitamin A</a:t>
                      </a:r>
                    </a:p>
                  </a:txBody>
                  <a:tcPr/>
                </a:tc>
                <a:tc>
                  <a:txBody>
                    <a:bodyPr/>
                    <a:lstStyle/>
                    <a:p>
                      <a:pPr marL="0" lvl="0" indent="0" algn="r">
                        <a:buNone/>
                      </a:pPr>
                      <a:r>
                        <a:rPr sz="1000"/>
                        <a:t>4</a:t>
                      </a:r>
                    </a:p>
                  </a:txBody>
                  <a:tcPr/>
                </a:tc>
                <a:tc>
                  <a:txBody>
                    <a:bodyPr/>
                    <a:lstStyle/>
                    <a:p>
                      <a:pPr marL="0" lvl="0" indent="0" algn="r">
                        <a:buNone/>
                      </a:pPr>
                      <a:r>
                        <a:rPr sz="1000"/>
                        <a:t>0.14</a:t>
                      </a:r>
                    </a:p>
                  </a:txBody>
                  <a:tcPr/>
                </a:tc>
                <a:tc>
                  <a:txBody>
                    <a:bodyPr/>
                    <a:lstStyle/>
                    <a:p>
                      <a:pPr marL="0" lvl="0" indent="0" algn="r">
                        <a:buNone/>
                      </a:pPr>
                      <a:r>
                        <a:rPr sz="1000"/>
                        <a:t>0.14</a:t>
                      </a:r>
                    </a:p>
                  </a:txBody>
                  <a:tcPr/>
                </a:tc>
                <a:tc>
                  <a:txBody>
                    <a:bodyPr/>
                    <a:lstStyle/>
                    <a:p>
                      <a:pPr marL="0" lvl="0" indent="0" algn="r">
                        <a:buNone/>
                      </a:pPr>
                      <a:r>
                        <a:rPr sz="1000"/>
                        <a:t>0.94</a:t>
                      </a:r>
                    </a:p>
                  </a:txBody>
                  <a:tcPr/>
                </a:tc>
                <a:extLst>
                  <a:ext uri="{0D108BD9-81ED-4DB2-BD59-A6C34878D82A}">
                    <a16:rowId xmlns:a16="http://schemas.microsoft.com/office/drawing/2014/main" val="10002"/>
                  </a:ext>
                </a:extLst>
              </a:tr>
              <a:tr h="0">
                <a:tc>
                  <a:txBody>
                    <a:bodyPr/>
                    <a:lstStyle/>
                    <a:p>
                      <a:pPr marL="0" lvl="0" indent="0" algn="l">
                        <a:buNone/>
                      </a:pPr>
                      <a:r>
                        <a:rPr sz="1000"/>
                        <a:t>Women’s iron</a:t>
                      </a:r>
                    </a:p>
                  </a:txBody>
                  <a:tcPr/>
                </a:tc>
                <a:tc>
                  <a:txBody>
                    <a:bodyPr/>
                    <a:lstStyle/>
                    <a:p>
                      <a:pPr marL="0" lvl="0" indent="0" algn="r">
                        <a:buNone/>
                      </a:pPr>
                      <a:r>
                        <a:rPr sz="1000"/>
                        <a:t>4</a:t>
                      </a:r>
                    </a:p>
                  </a:txBody>
                  <a:tcPr/>
                </a:tc>
                <a:tc>
                  <a:txBody>
                    <a:bodyPr/>
                    <a:lstStyle/>
                    <a:p>
                      <a:pPr marL="0" lvl="0" indent="0" algn="r">
                        <a:buNone/>
                      </a:pPr>
                      <a:r>
                        <a:rPr sz="1000"/>
                        <a:t>0.14</a:t>
                      </a:r>
                    </a:p>
                  </a:txBody>
                  <a:tcPr/>
                </a:tc>
                <a:tc>
                  <a:txBody>
                    <a:bodyPr/>
                    <a:lstStyle/>
                    <a:p>
                      <a:pPr marL="0" lvl="0" indent="0" algn="r">
                        <a:buNone/>
                      </a:pPr>
                      <a:r>
                        <a:rPr sz="1000"/>
                        <a:t>0.14</a:t>
                      </a:r>
                    </a:p>
                  </a:txBody>
                  <a:tcPr/>
                </a:tc>
                <a:tc>
                  <a:txBody>
                    <a:bodyPr/>
                    <a:lstStyle/>
                    <a:p>
                      <a:pPr marL="0" lvl="0" indent="0" algn="r">
                        <a:buNone/>
                      </a:pPr>
                      <a:r>
                        <a:rPr sz="1000"/>
                        <a:t>0.63</a:t>
                      </a:r>
                    </a:p>
                  </a:txBody>
                  <a:tcPr/>
                </a:tc>
                <a:extLst>
                  <a:ext uri="{0D108BD9-81ED-4DB2-BD59-A6C34878D82A}">
                    <a16:rowId xmlns:a16="http://schemas.microsoft.com/office/drawing/2014/main" val="10003"/>
                  </a:ext>
                </a:extLst>
              </a:tr>
              <a:tr h="0">
                <a:tc>
                  <a:txBody>
                    <a:bodyPr/>
                    <a:lstStyle/>
                    <a:p>
                      <a:pPr marL="0" lvl="0" indent="0" algn="l">
                        <a:buNone/>
                      </a:pPr>
                      <a:r>
                        <a:rPr sz="1000"/>
                        <a:t>Women’s vitamin A</a:t>
                      </a:r>
                    </a:p>
                  </a:txBody>
                  <a:tcPr/>
                </a:tc>
                <a:tc>
                  <a:txBody>
                    <a:bodyPr/>
                    <a:lstStyle/>
                    <a:p>
                      <a:pPr marL="0" lvl="0" indent="0" algn="r">
                        <a:buNone/>
                      </a:pPr>
                      <a:r>
                        <a:rPr sz="1000"/>
                        <a:t>4</a:t>
                      </a:r>
                    </a:p>
                  </a:txBody>
                  <a:tcPr/>
                </a:tc>
                <a:tc>
                  <a:txBody>
                    <a:bodyPr/>
                    <a:lstStyle/>
                    <a:p>
                      <a:pPr marL="0" lvl="0" indent="0" algn="r">
                        <a:buNone/>
                      </a:pPr>
                      <a:r>
                        <a:rPr sz="1000"/>
                        <a:t>0.02</a:t>
                      </a:r>
                    </a:p>
                  </a:txBody>
                  <a:tcPr/>
                </a:tc>
                <a:tc>
                  <a:txBody>
                    <a:bodyPr/>
                    <a:lstStyle/>
                    <a:p>
                      <a:pPr marL="0" lvl="0" indent="0" algn="r">
                        <a:buNone/>
                      </a:pPr>
                      <a:r>
                        <a:rPr sz="1000"/>
                        <a:t>0.02</a:t>
                      </a:r>
                    </a:p>
                  </a:txBody>
                  <a:tcPr/>
                </a:tc>
                <a:tc>
                  <a:txBody>
                    <a:bodyPr/>
                    <a:lstStyle/>
                    <a:p>
                      <a:pPr marL="0" lvl="0" indent="0" algn="r">
                        <a:buNone/>
                      </a:pPr>
                      <a:r>
                        <a:rPr sz="1000"/>
                        <a:t>0.23</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Iodine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638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2032000">
                  <a:extLst>
                    <a:ext uri="{9D8B030D-6E8A-4147-A177-3AD203B41FA5}">
                      <a16:colId xmlns:a16="http://schemas.microsoft.com/office/drawing/2014/main" val="20005"/>
                    </a:ext>
                  </a:extLst>
                </a:gridCol>
              </a:tblGrid>
              <a:tr h="0">
                <a:tc>
                  <a:txBody>
                    <a:bodyPr/>
                    <a:lstStyle/>
                    <a:p>
                      <a:pPr marL="0" lvl="0" indent="0" algn="l">
                        <a:buNone/>
                      </a:pPr>
                      <a:r>
                        <a:rPr sz="1000"/>
                        <a:t>Model</a:t>
                      </a:r>
                    </a:p>
                  </a:txBody>
                  <a:tcPr/>
                </a:tc>
                <a:tc>
                  <a:txBody>
                    <a:bodyPr/>
                    <a:lstStyle/>
                    <a:p>
                      <a:pPr marL="0" lvl="0" indent="0" algn="l">
                        <a:buNone/>
                      </a:pPr>
                      <a:r>
                        <a:rPr sz="1000"/>
                        <a:t>Gambia UIC &lt; 100, in-fill</a:t>
                      </a:r>
                    </a:p>
                  </a:txBody>
                  <a:tcPr/>
                </a:tc>
                <a:tc>
                  <a:txBody>
                    <a:bodyPr/>
                    <a:lstStyle/>
                    <a:p>
                      <a:pPr marL="0" lvl="0" indent="0" algn="l">
                        <a:buNone/>
                      </a:pPr>
                      <a:r>
                        <a:rPr sz="1000"/>
                        <a:t>Gambia UIC &lt; 100, region</a:t>
                      </a:r>
                    </a:p>
                  </a:txBody>
                  <a:tcPr/>
                </a:tc>
                <a:tc>
                  <a:txBody>
                    <a:bodyPr/>
                    <a:lstStyle/>
                    <a:p>
                      <a:pPr marL="0" lvl="0" indent="0" algn="l">
                        <a:buNone/>
                      </a:pPr>
                      <a:r>
                        <a:rPr sz="1000"/>
                        <a:t>Gambia median UIC, in-fill</a:t>
                      </a:r>
                    </a:p>
                  </a:txBody>
                  <a:tcPr/>
                </a:tc>
                <a:tc>
                  <a:txBody>
                    <a:bodyPr/>
                    <a:lstStyle/>
                    <a:p>
                      <a:pPr marL="0" lvl="0" indent="0" algn="l">
                        <a:buNone/>
                      </a:pPr>
                      <a:r>
                        <a:rPr sz="1000"/>
                        <a:t>Gambia median UIC, region</a:t>
                      </a:r>
                    </a:p>
                  </a:txBody>
                  <a:tcPr/>
                </a:tc>
                <a:tc>
                  <a:txBody>
                    <a:bodyPr/>
                    <a:lstStyle/>
                    <a:p>
                      <a:pPr marL="0" lvl="0" indent="0" algn="l">
                        <a:buNone/>
                      </a:pPr>
                      <a:r>
                        <a:rPr sz="1000"/>
                        <a:t>Sierra Leone UIC &lt; 100, region</a:t>
                      </a:r>
                    </a:p>
                  </a:txBody>
                  <a:tcPr/>
                </a:tc>
                <a:extLst>
                  <a:ext uri="{0D108BD9-81ED-4DB2-BD59-A6C34878D82A}">
                    <a16:rowId xmlns:a16="http://schemas.microsoft.com/office/drawing/2014/main" val="10000"/>
                  </a:ext>
                </a:extLst>
              </a:tr>
              <a:tr h="0">
                <a:tc>
                  <a:txBody>
                    <a:bodyPr/>
                    <a:lstStyle/>
                    <a:p>
                      <a:pPr marL="0" lvl="0" indent="0" algn="l">
                        <a:buNone/>
                      </a:pPr>
                      <a:r>
                        <a:rPr sz="1000"/>
                        <a:t>Training mean</a:t>
                      </a:r>
                    </a:p>
                  </a:txBody>
                  <a:tcPr/>
                </a:tc>
                <a:tc>
                  <a:txBody>
                    <a:bodyPr/>
                    <a:lstStyle/>
                    <a:p>
                      <a:pPr marL="0" lvl="0" indent="0" algn="l">
                        <a:buNone/>
                      </a:pPr>
                      <a:r>
                        <a:rPr sz="1000"/>
                        <a:t>-0.31</a:t>
                      </a:r>
                    </a:p>
                  </a:txBody>
                  <a:tcPr/>
                </a:tc>
                <a:tc>
                  <a:txBody>
                    <a:bodyPr/>
                    <a:lstStyle/>
                    <a:p>
                      <a:pPr marL="0" lvl="0" indent="0" algn="l">
                        <a:buNone/>
                      </a:pPr>
                      <a:r>
                        <a:rPr sz="1000"/>
                        <a:t>-0.55</a:t>
                      </a:r>
                    </a:p>
                  </a:txBody>
                  <a:tcPr/>
                </a:tc>
                <a:tc>
                  <a:txBody>
                    <a:bodyPr/>
                    <a:lstStyle/>
                    <a:p>
                      <a:pPr marL="0" lvl="0" indent="0" algn="l">
                        <a:buNone/>
                      </a:pPr>
                      <a:r>
                        <a:rPr sz="1000"/>
                        <a:t>-0.29</a:t>
                      </a:r>
                    </a:p>
                  </a:txBody>
                  <a:tcPr/>
                </a:tc>
                <a:tc>
                  <a:txBody>
                    <a:bodyPr/>
                    <a:lstStyle/>
                    <a:p>
                      <a:pPr marL="0" lvl="0" indent="0" algn="l">
                        <a:buNone/>
                      </a:pPr>
                      <a:r>
                        <a:rPr sz="1000"/>
                        <a:t>-0.60</a:t>
                      </a:r>
                    </a:p>
                  </a:txBody>
                  <a:tcPr/>
                </a:tc>
                <a:tc>
                  <a:txBody>
                    <a:bodyPr/>
                    <a:lstStyle/>
                    <a:p>
                      <a:pPr marL="0" lvl="0" indent="0" algn="l">
                        <a:buNone/>
                      </a:pPr>
                      <a:r>
                        <a:rPr sz="1000"/>
                        <a:t>-0.34</a:t>
                      </a:r>
                    </a:p>
                  </a:txBody>
                  <a:tcPr/>
                </a:tc>
                <a:extLst>
                  <a:ext uri="{0D108BD9-81ED-4DB2-BD59-A6C34878D82A}">
                    <a16:rowId xmlns:a16="http://schemas.microsoft.com/office/drawing/2014/main" val="10001"/>
                  </a:ext>
                </a:extLst>
              </a:tr>
              <a:tr h="0">
                <a:tc>
                  <a:txBody>
                    <a:bodyPr/>
                    <a:lstStyle/>
                    <a:p>
                      <a:pPr marL="0" lvl="0" indent="0" algn="l">
                        <a:buNone/>
                      </a:pPr>
                      <a:r>
                        <a:rPr sz="1000"/>
                        <a:t>Jackknifed regional mean</a:t>
                      </a:r>
                    </a:p>
                  </a:txBody>
                  <a:tcPr/>
                </a:tc>
                <a:tc>
                  <a:txBody>
                    <a:bodyPr/>
                    <a:lstStyle/>
                    <a:p>
                      <a:pPr marL="0" lvl="0" indent="0" algn="l">
                        <a:buNone/>
                      </a:pPr>
                      <a:r>
                        <a:rPr sz="1000"/>
                        <a:t>0.33</a:t>
                      </a:r>
                    </a:p>
                  </a:txBody>
                  <a:tcPr/>
                </a:tc>
                <a:tc>
                  <a:txBody>
                    <a:bodyPr/>
                    <a:lstStyle/>
                    <a:p>
                      <a:pPr marL="0" lvl="0" indent="0" algn="l">
                        <a:buNone/>
                      </a:pPr>
                      <a:r>
                        <a:rPr sz="1000"/>
                        <a:t>-</a:t>
                      </a:r>
                    </a:p>
                  </a:txBody>
                  <a:tcPr/>
                </a:tc>
                <a:tc>
                  <a:txBody>
                    <a:bodyPr/>
                    <a:lstStyle/>
                    <a:p>
                      <a:pPr marL="0" lvl="0" indent="0" algn="l">
                        <a:buNone/>
                      </a:pPr>
                      <a:r>
                        <a:rPr sz="1000"/>
                        <a:t>0.35</a:t>
                      </a:r>
                    </a:p>
                  </a:txBody>
                  <a:tcPr/>
                </a:tc>
                <a:tc>
                  <a:txBody>
                    <a:bodyPr/>
                    <a:lstStyle/>
                    <a:p>
                      <a:pPr marL="0" lvl="0" indent="0" algn="l">
                        <a:buNone/>
                      </a:pPr>
                      <a:r>
                        <a:rPr sz="1000"/>
                        <a:t>-</a:t>
                      </a:r>
                    </a:p>
                  </a:txBody>
                  <a:tcPr/>
                </a:tc>
                <a:tc>
                  <a:txBody>
                    <a:bodyPr/>
                    <a:lstStyle/>
                    <a:p>
                      <a:pPr marL="0" lvl="0" indent="0" algn="l">
                        <a:buNone/>
                      </a:pPr>
                      <a:r>
                        <a:rPr sz="1000"/>
                        <a:t>-</a:t>
                      </a:r>
                    </a:p>
                  </a:txBody>
                  <a:tcPr/>
                </a:tc>
                <a:extLst>
                  <a:ext uri="{0D108BD9-81ED-4DB2-BD59-A6C34878D82A}">
                    <a16:rowId xmlns:a16="http://schemas.microsoft.com/office/drawing/2014/main" val="10002"/>
                  </a:ext>
                </a:extLst>
              </a:tr>
              <a:tr h="0">
                <a:tc>
                  <a:txBody>
                    <a:bodyPr/>
                    <a:lstStyle/>
                    <a:p>
                      <a:pPr marL="0" lvl="0" indent="0" algn="l">
                        <a:buNone/>
                      </a:pPr>
                      <a:r>
                        <a:rPr sz="1000"/>
                        <a:t>Spatial smoother</a:t>
                      </a:r>
                    </a:p>
                  </a:txBody>
                  <a:tcPr/>
                </a:tc>
                <a:tc>
                  <a:txBody>
                    <a:bodyPr/>
                    <a:lstStyle/>
                    <a:p>
                      <a:pPr marL="0" lvl="0" indent="0" algn="l">
                        <a:buNone/>
                      </a:pPr>
                      <a:r>
                        <a:rPr sz="1000"/>
                        <a:t>0.31</a:t>
                      </a:r>
                    </a:p>
                  </a:txBody>
                  <a:tcPr/>
                </a:tc>
                <a:tc>
                  <a:txBody>
                    <a:bodyPr/>
                    <a:lstStyle/>
                    <a:p>
                      <a:pPr marL="0" lvl="0" indent="0" algn="l">
                        <a:buNone/>
                      </a:pPr>
                      <a:r>
                        <a:rPr sz="1000"/>
                        <a:t>0.50</a:t>
                      </a:r>
                    </a:p>
                  </a:txBody>
                  <a:tcPr/>
                </a:tc>
                <a:tc>
                  <a:txBody>
                    <a:bodyPr/>
                    <a:lstStyle/>
                    <a:p>
                      <a:pPr marL="0" lvl="0" indent="0" algn="l">
                        <a:buNone/>
                      </a:pPr>
                      <a:r>
                        <a:rPr sz="1000"/>
                        <a:t>0.27</a:t>
                      </a:r>
                    </a:p>
                  </a:txBody>
                  <a:tcPr/>
                </a:tc>
                <a:tc>
                  <a:txBody>
                    <a:bodyPr/>
                    <a:lstStyle/>
                    <a:p>
                      <a:pPr marL="0" lvl="0" indent="0" algn="l">
                        <a:buNone/>
                      </a:pPr>
                      <a:r>
                        <a:rPr sz="1000"/>
                        <a:t>0.27</a:t>
                      </a:r>
                    </a:p>
                  </a:txBody>
                  <a:tcPr/>
                </a:tc>
                <a:tc>
                  <a:txBody>
                    <a:bodyPr/>
                    <a:lstStyle/>
                    <a:p>
                      <a:pPr marL="0" lvl="0" indent="0" algn="l">
                        <a:buNone/>
                      </a:pPr>
                      <a:r>
                        <a:rPr sz="1000"/>
                        <a:t>-0.35</a:t>
                      </a:r>
                    </a:p>
                  </a:txBody>
                  <a:tcPr/>
                </a:tc>
                <a:extLst>
                  <a:ext uri="{0D108BD9-81ED-4DB2-BD59-A6C34878D82A}">
                    <a16:rowId xmlns:a16="http://schemas.microsoft.com/office/drawing/2014/main" val="10003"/>
                  </a:ext>
                </a:extLst>
              </a:tr>
              <a:tr h="0">
                <a:tc>
                  <a:txBody>
                    <a:bodyPr/>
                    <a:lstStyle/>
                    <a:p>
                      <a:pPr marL="0" lvl="0" indent="0" algn="l">
                        <a:buNone/>
                      </a:pPr>
                      <a:r>
                        <a:rPr sz="1000"/>
                        <a:t>Zero-tuning index</a:t>
                      </a:r>
                    </a:p>
                  </a:txBody>
                  <a:tcPr/>
                </a:tc>
                <a:tc>
                  <a:txBody>
                    <a:bodyPr/>
                    <a:lstStyle/>
                    <a:p>
                      <a:pPr marL="0" lvl="0" indent="0" algn="l">
                        <a:buNone/>
                      </a:pPr>
                      <a:r>
                        <a:rPr sz="1000"/>
                        <a:t>0.45</a:t>
                      </a:r>
                    </a:p>
                  </a:txBody>
                  <a:tcPr/>
                </a:tc>
                <a:tc>
                  <a:txBody>
                    <a:bodyPr/>
                    <a:lstStyle/>
                    <a:p>
                      <a:pPr marL="0" lvl="0" indent="0" algn="l">
                        <a:buNone/>
                      </a:pPr>
                      <a:r>
                        <a:rPr sz="1000"/>
                        <a:t>0.47</a:t>
                      </a:r>
                    </a:p>
                  </a:txBody>
                  <a:tcPr/>
                </a:tc>
                <a:tc>
                  <a:txBody>
                    <a:bodyPr/>
                    <a:lstStyle/>
                    <a:p>
                      <a:pPr marL="0" lvl="0" indent="0" algn="l">
                        <a:buNone/>
                      </a:pPr>
                      <a:r>
                        <a:rPr sz="1000"/>
                        <a:t>0.54</a:t>
                      </a:r>
                    </a:p>
                  </a:txBody>
                  <a:tcPr/>
                </a:tc>
                <a:tc>
                  <a:txBody>
                    <a:bodyPr/>
                    <a:lstStyle/>
                    <a:p>
                      <a:pPr marL="0" lvl="0" indent="0" algn="l">
                        <a:buNone/>
                      </a:pPr>
                      <a:r>
                        <a:rPr sz="1000"/>
                        <a:t>0.54</a:t>
                      </a:r>
                    </a:p>
                  </a:txBody>
                  <a:tcPr/>
                </a:tc>
                <a:tc>
                  <a:txBody>
                    <a:bodyPr/>
                    <a:lstStyle/>
                    <a:p>
                      <a:pPr marL="0" lvl="0" indent="0" algn="l">
                        <a:buNone/>
                      </a:pPr>
                      <a:r>
                        <a:rPr sz="1000"/>
                        <a:t>0.10</a:t>
                      </a:r>
                    </a:p>
                  </a:txBody>
                  <a:tcPr/>
                </a:tc>
                <a:extLst>
                  <a:ext uri="{0D108BD9-81ED-4DB2-BD59-A6C34878D82A}">
                    <a16:rowId xmlns:a16="http://schemas.microsoft.com/office/drawing/2014/main" val="10004"/>
                  </a:ext>
                </a:extLst>
              </a:tr>
              <a:tr h="0">
                <a:tc>
                  <a:txBody>
                    <a:bodyPr/>
                    <a:lstStyle/>
                    <a:p>
                      <a:pPr marL="0" lvl="0" indent="0" algn="l">
                        <a:buNone/>
                      </a:pPr>
                      <a:r>
                        <a:rPr sz="1000"/>
                        <a:t>Smoother + covariates</a:t>
                      </a:r>
                    </a:p>
                  </a:txBody>
                  <a:tcPr/>
                </a:tc>
                <a:tc>
                  <a:txBody>
                    <a:bodyPr/>
                    <a:lstStyle/>
                    <a:p>
                      <a:pPr marL="0" lvl="0" indent="0" algn="l">
                        <a:buNone/>
                      </a:pPr>
                      <a:r>
                        <a:rPr sz="1000"/>
                        <a:t>0.30</a:t>
                      </a:r>
                    </a:p>
                  </a:txBody>
                  <a:tcPr/>
                </a:tc>
                <a:tc>
                  <a:txBody>
                    <a:bodyPr/>
                    <a:lstStyle/>
                    <a:p>
                      <a:pPr marL="0" lvl="0" indent="0" algn="l">
                        <a:buNone/>
                      </a:pPr>
                      <a:r>
                        <a:rPr sz="1000"/>
                        <a:t>0.47</a:t>
                      </a:r>
                    </a:p>
                  </a:txBody>
                  <a:tcPr/>
                </a:tc>
                <a:tc>
                  <a:txBody>
                    <a:bodyPr/>
                    <a:lstStyle/>
                    <a:p>
                      <a:pPr marL="0" lvl="0" indent="0" algn="l">
                        <a:buNone/>
                      </a:pPr>
                      <a:r>
                        <a:rPr sz="1000"/>
                        <a:t>0.27</a:t>
                      </a:r>
                    </a:p>
                  </a:txBody>
                  <a:tcPr/>
                </a:tc>
                <a:tc>
                  <a:txBody>
                    <a:bodyPr/>
                    <a:lstStyle/>
                    <a:p>
                      <a:pPr marL="0" lvl="0" indent="0" algn="l">
                        <a:buNone/>
                      </a:pPr>
                      <a:r>
                        <a:rPr sz="1000"/>
                        <a:t>0.25</a:t>
                      </a:r>
                    </a:p>
                  </a:txBody>
                  <a:tcPr/>
                </a:tc>
                <a:tc>
                  <a:txBody>
                    <a:bodyPr/>
                    <a:lstStyle/>
                    <a:p>
                      <a:pPr marL="0" lvl="0" indent="0" algn="l">
                        <a:buNone/>
                      </a:pPr>
                      <a:r>
                        <a:rPr sz="1000"/>
                        <a:t>0.19</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Weighting of the domain components: prevalence</a:t>
            </a:r>
          </a:p>
        </p:txBody>
      </p:sp>
      <p:pic>
        <p:nvPicPr>
          <p:cNvPr id="3" name="Picture 1" descr="MN-proxy-full-talk-2026-09_files/figure-pptx/weights-prev-1.png"/>
          <p:cNvPicPr>
            <a:picLocks noGrp="1" noChangeAspect="1"/>
          </p:cNvPicPr>
          <p:nvPr/>
        </p:nvPicPr>
        <p:blipFill>
          <a:blip r:embed="rId3"/>
          <a:stretch>
            <a:fillRect/>
          </a:stretch>
        </p:blipFill>
        <p:spPr bwMode="auto">
          <a:xfrm>
            <a:off x="1892808" y="1691640"/>
            <a:ext cx="8412480" cy="4206240"/>
          </a:xfrm>
          <a:prstGeom prst="rect">
            <a:avLst/>
          </a:prstGeom>
          <a:noFill/>
          <a:ln w="9525">
            <a:noFill/>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Geostatistical comparator: absolute error</a:t>
            </a:r>
          </a:p>
        </p:txBody>
      </p:sp>
      <p:pic>
        <p:nvPicPr>
          <p:cNvPr id="3" name="Picture 1" descr="MN-proxy-full-talk-2026-09_files/figure-pptx/geostat-wmae-1.png"/>
          <p:cNvPicPr>
            <a:picLocks noGrp="1" noChangeAspect="1"/>
          </p:cNvPicPr>
          <p:nvPr/>
        </p:nvPicPr>
        <p:blipFill>
          <a:blip r:embed="rId3"/>
          <a:stretch>
            <a:fillRect/>
          </a:stretch>
        </p:blipFill>
        <p:spPr bwMode="auto">
          <a:xfrm>
            <a:off x="1529989" y="1691640"/>
            <a:ext cx="9138117" cy="4206240"/>
          </a:xfrm>
          <a:prstGeom prst="rect">
            <a:avLst/>
          </a:prstGeom>
          <a:noFill/>
          <a:ln w="9525">
            <a:noFill/>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Status of the January analyses (1)</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826000">
                  <a:extLst>
                    <a:ext uri="{9D8B030D-6E8A-4147-A177-3AD203B41FA5}">
                      <a16:colId xmlns:a16="http://schemas.microsoft.com/office/drawing/2014/main" val="20000"/>
                    </a:ext>
                  </a:extLst>
                </a:gridCol>
                <a:gridCol w="3378200">
                  <a:extLst>
                    <a:ext uri="{9D8B030D-6E8A-4147-A177-3AD203B41FA5}">
                      <a16:colId xmlns:a16="http://schemas.microsoft.com/office/drawing/2014/main" val="20001"/>
                    </a:ext>
                  </a:extLst>
                </a:gridCol>
                <a:gridCol w="2311400">
                  <a:extLst>
                    <a:ext uri="{9D8B030D-6E8A-4147-A177-3AD203B41FA5}">
                      <a16:colId xmlns:a16="http://schemas.microsoft.com/office/drawing/2014/main" val="20002"/>
                    </a:ext>
                  </a:extLst>
                </a:gridCol>
              </a:tblGrid>
              <a:tr h="0">
                <a:tc>
                  <a:txBody>
                    <a:bodyPr/>
                    <a:lstStyle/>
                    <a:p>
                      <a:pPr marL="0" lvl="0" indent="0" algn="l">
                        <a:buNone/>
                      </a:pPr>
                      <a:r>
                        <a:rPr sz="1000"/>
                        <a:t>January slide</a:t>
                      </a:r>
                    </a:p>
                  </a:txBody>
                  <a:tcPr/>
                </a:tc>
                <a:tc>
                  <a:txBody>
                    <a:bodyPr/>
                    <a:lstStyle/>
                    <a:p>
                      <a:pPr marL="0" lvl="0" indent="0" algn="l">
                        <a:buNone/>
                      </a:pPr>
                      <a:r>
                        <a:rPr sz="1000"/>
                        <a:t>Status</a:t>
                      </a:r>
                    </a:p>
                  </a:txBody>
                  <a:tcPr/>
                </a:tc>
                <a:tc>
                  <a:txBody>
                    <a:bodyPr/>
                    <a:lstStyle/>
                    <a:p>
                      <a:pPr marL="0" lvl="0" indent="0" algn="l">
                        <a:buNone/>
                      </a:pPr>
                      <a:r>
                        <a:rPr sz="1000"/>
                        <a:t>Where</a:t>
                      </a:r>
                    </a:p>
                  </a:txBody>
                  <a:tcPr/>
                </a:tc>
                <a:extLst>
                  <a:ext uri="{0D108BD9-81ED-4DB2-BD59-A6C34878D82A}">
                    <a16:rowId xmlns:a16="http://schemas.microsoft.com/office/drawing/2014/main" val="10000"/>
                  </a:ext>
                </a:extLst>
              </a:tr>
              <a:tr h="0">
                <a:tc>
                  <a:txBody>
                    <a:bodyPr/>
                    <a:lstStyle/>
                    <a:p>
                      <a:pPr marL="0" lvl="0" indent="0" algn="l">
                        <a:buNone/>
                      </a:pPr>
                      <a:r>
                        <a:rPr sz="1000"/>
                        <a:t>Individual-level proxy versus survey-only models (Brier skill, AUC, PR gain)</a:t>
                      </a:r>
                    </a:p>
                  </a:txBody>
                  <a:tcPr/>
                </a:tc>
                <a:tc>
                  <a:txBody>
                    <a:bodyPr/>
                    <a:lstStyle/>
                    <a:p>
                      <a:pPr marL="0" lvl="0" indent="0" algn="l">
                        <a:buNone/>
                      </a:pPr>
                      <a:r>
                        <a:rPr sz="1000"/>
                        <a:t>Sensitivity layer; rerun under district-blocked folds</a:t>
                      </a:r>
                    </a:p>
                  </a:txBody>
                  <a:tcPr/>
                </a:tc>
                <a:tc>
                  <a:txBody>
                    <a:bodyPr/>
                    <a:lstStyle/>
                    <a:p>
                      <a:pPr marL="0" lvl="0" indent="0" algn="l">
                        <a:buNone/>
                      </a:pPr>
                      <a:r>
                        <a:rPr sz="1000"/>
                        <a:t>Individual-level models</a:t>
                      </a:r>
                    </a:p>
                  </a:txBody>
                  <a:tcPr/>
                </a:tc>
                <a:extLst>
                  <a:ext uri="{0D108BD9-81ED-4DB2-BD59-A6C34878D82A}">
                    <a16:rowId xmlns:a16="http://schemas.microsoft.com/office/drawing/2014/main" val="10001"/>
                  </a:ext>
                </a:extLst>
              </a:tr>
              <a:tr h="0">
                <a:tc>
                  <a:txBody>
                    <a:bodyPr/>
                    <a:lstStyle/>
                    <a:p>
                      <a:pPr marL="0" lvl="0" indent="0" algn="l">
                        <a:buNone/>
                      </a:pPr>
                      <a:r>
                        <a:rPr sz="1000"/>
                        <a:t>National-level VMNIS / BRINDA predictions</a:t>
                      </a:r>
                    </a:p>
                  </a:txBody>
                  <a:tcPr/>
                </a:tc>
                <a:tc>
                  <a:txBody>
                    <a:bodyPr/>
                    <a:lstStyle/>
                    <a:p>
                      <a:pPr marL="0" lvl="0" indent="0" algn="l">
                        <a:buNone/>
                      </a:pPr>
                      <a:r>
                        <a:rPr sz="1000"/>
                        <a:t>Separate sub-pipeline, last run April 2026</a:t>
                      </a:r>
                    </a:p>
                  </a:txBody>
                  <a:tcPr/>
                </a:tc>
                <a:tc>
                  <a:txBody>
                    <a:bodyPr/>
                    <a:lstStyle/>
                    <a:p>
                      <a:pPr marL="0" lvl="0" indent="0" algn="l">
                        <a:buNone/>
                      </a:pPr>
                      <a:r>
                        <a:rPr sz="1000"/>
                        <a:t>National-level track; not re-audited</a:t>
                      </a:r>
                    </a:p>
                  </a:txBody>
                  <a:tcPr/>
                </a:tc>
                <a:extLst>
                  <a:ext uri="{0D108BD9-81ED-4DB2-BD59-A6C34878D82A}">
                    <a16:rowId xmlns:a16="http://schemas.microsoft.com/office/drawing/2014/main" val="10002"/>
                  </a:ext>
                </a:extLst>
              </a:tr>
              <a:tr h="0">
                <a:tc>
                  <a:txBody>
                    <a:bodyPr/>
                    <a:lstStyle/>
                    <a:p>
                      <a:pPr marL="0" lvl="0" indent="0" algn="l">
                        <a:buNone/>
                      </a:pPr>
                      <a:r>
                        <a:rPr sz="1000"/>
                        <a:t>Iodine (Sierra Leone)</a:t>
                      </a:r>
                    </a:p>
                  </a:txBody>
                  <a:tcPr/>
                </a:tc>
                <a:tc>
                  <a:txBody>
                    <a:bodyPr/>
                    <a:lstStyle/>
                    <a:p>
                      <a:pPr marL="0" lvl="0" indent="0" algn="l">
                        <a:buNone/>
                      </a:pPr>
                      <a:r>
                        <a:rPr sz="1000"/>
                        <a:t>Rerun within country (The Gambia, Sierra Leone)</a:t>
                      </a:r>
                    </a:p>
                  </a:txBody>
                  <a:tcPr/>
                </a:tc>
                <a:tc>
                  <a:txBody>
                    <a:bodyPr/>
                    <a:lstStyle/>
                    <a:p>
                      <a:pPr marL="0" lvl="0" indent="0" algn="l">
                        <a:buNone/>
                      </a:pPr>
                      <a:r>
                        <a:rPr sz="1000"/>
                        <a:t>Iodine</a:t>
                      </a:r>
                    </a:p>
                  </a:txBody>
                  <a:tcPr/>
                </a:tc>
                <a:extLst>
                  <a:ext uri="{0D108BD9-81ED-4DB2-BD59-A6C34878D82A}">
                    <a16:rowId xmlns:a16="http://schemas.microsoft.com/office/drawing/2014/main" val="10003"/>
                  </a:ext>
                </a:extLst>
              </a:tr>
              <a:tr h="0">
                <a:tc>
                  <a:txBody>
                    <a:bodyPr/>
                    <a:lstStyle/>
                    <a:p>
                      <a:pPr marL="0" lvl="0" indent="0" algn="l">
                        <a:buNone/>
                      </a:pPr>
                      <a:r>
                        <a:rPr sz="1000"/>
                        <a:t>Risk-category accuracy (none / mild / moderate / severe)</a:t>
                      </a:r>
                    </a:p>
                  </a:txBody>
                  <a:tcPr/>
                </a:tc>
                <a:tc>
                  <a:txBody>
                    <a:bodyPr/>
                    <a:lstStyle/>
                    <a:p>
                      <a:pPr marL="0" lvl="0" indent="0" algn="l">
                        <a:buNone/>
                      </a:pPr>
                      <a:r>
                        <a:rPr sz="1000"/>
                        <a:t>Rerun under the protocol, WHO bands</a:t>
                      </a:r>
                    </a:p>
                  </a:txBody>
                  <a:tcPr/>
                </a:tc>
                <a:tc>
                  <a:txBody>
                    <a:bodyPr/>
                    <a:lstStyle/>
                    <a:p>
                      <a:pPr marL="0" lvl="0" indent="0" algn="l">
                        <a:buNone/>
                      </a:pPr>
                      <a:r>
                        <a:rPr sz="1000"/>
                        <a:t>Risk-class accuracy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Status of the January analyses (2)</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20000"/>
                    </a:ext>
                  </a:extLst>
                </a:gridCol>
                <a:gridCol w="70358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tblGrid>
              <a:tr h="0">
                <a:tc>
                  <a:txBody>
                    <a:bodyPr/>
                    <a:lstStyle/>
                    <a:p>
                      <a:pPr marL="0" lvl="0" indent="0" algn="l">
                        <a:buNone/>
                      </a:pPr>
                      <a:r>
                        <a:rPr sz="1000"/>
                        <a:t>January slide</a:t>
                      </a:r>
                    </a:p>
                  </a:txBody>
                  <a:tcPr/>
                </a:tc>
                <a:tc>
                  <a:txBody>
                    <a:bodyPr/>
                    <a:lstStyle/>
                    <a:p>
                      <a:pPr marL="0" lvl="0" indent="0" algn="l">
                        <a:buNone/>
                      </a:pPr>
                      <a:r>
                        <a:rPr sz="1000"/>
                        <a:t>Status</a:t>
                      </a:r>
                    </a:p>
                  </a:txBody>
                  <a:tcPr/>
                </a:tc>
                <a:tc>
                  <a:txBody>
                    <a:bodyPr/>
                    <a:lstStyle/>
                    <a:p>
                      <a:pPr marL="0" lvl="0" indent="0" algn="l">
                        <a:buNone/>
                      </a:pPr>
                      <a:r>
                        <a:rPr sz="1000"/>
                        <a:t>Where</a:t>
                      </a:r>
                    </a:p>
                  </a:txBody>
                  <a:tcPr/>
                </a:tc>
                <a:extLst>
                  <a:ext uri="{0D108BD9-81ED-4DB2-BD59-A6C34878D82A}">
                    <a16:rowId xmlns:a16="http://schemas.microsoft.com/office/drawing/2014/main" val="10000"/>
                  </a:ext>
                </a:extLst>
              </a:tr>
              <a:tr h="0">
                <a:tc>
                  <a:txBody>
                    <a:bodyPr/>
                    <a:lstStyle/>
                    <a:p>
                      <a:pPr marL="0" lvl="0" indent="0" algn="l">
                        <a:buNone/>
                      </a:pPr>
                      <a:r>
                        <a:rPr sz="1000"/>
                        <a:t>LSMS (275) and FluNet (3) predictors</a:t>
                      </a:r>
                    </a:p>
                  </a:txBody>
                  <a:tcPr/>
                </a:tc>
                <a:tc>
                  <a:txBody>
                    <a:bodyPr/>
                    <a:lstStyle/>
                    <a:p>
                      <a:pPr marL="0" lvl="0" indent="0" algn="l">
                        <a:buNone/>
                      </a:pPr>
                      <a:r>
                        <a:rPr sz="1000"/>
                        <a:t>Re-added: the GLSS7 region means add no skill; household budget survey microdata for all four countries are now in the base set; FluNet is national and inert</a:t>
                      </a:r>
                    </a:p>
                  </a:txBody>
                  <a:tcPr/>
                </a:tc>
                <a:tc>
                  <a:txBody>
                    <a:bodyPr/>
                    <a:lstStyle/>
                    <a:p>
                      <a:pPr marL="0" lvl="0" indent="0" algn="l">
                        <a:buNone/>
                      </a:pPr>
                      <a:r>
                        <a:rPr sz="1000"/>
                        <a:t>LSMS and FluNet predictors</a:t>
                      </a:r>
                    </a:p>
                  </a:txBody>
                  <a:tcPr/>
                </a:tc>
                <a:extLst>
                  <a:ext uri="{0D108BD9-81ED-4DB2-BD59-A6C34878D82A}">
                    <a16:rowId xmlns:a16="http://schemas.microsoft.com/office/drawing/2014/main" val="10001"/>
                  </a:ext>
                </a:extLst>
              </a:tr>
              <a:tr h="0">
                <a:tc>
                  <a:txBody>
                    <a:bodyPr/>
                    <a:lstStyle/>
                    <a:p>
                      <a:pPr marL="0" lvl="0" indent="0" algn="l">
                        <a:buNone/>
                      </a:pPr>
                      <a:r>
                        <a:rPr sz="1000"/>
                        <a:t>Data-source importance by change in MSE</a:t>
                      </a:r>
                    </a:p>
                  </a:txBody>
                  <a:tcPr/>
                </a:tc>
                <a:tc>
                  <a:txBody>
                    <a:bodyPr/>
                    <a:lstStyle/>
                    <a:p>
                      <a:pPr marL="0" lvl="0" indent="0" algn="l">
                        <a:buNone/>
                      </a:pPr>
                      <a:r>
                        <a:rPr sz="1000"/>
                        <a:t>Replaced by domain and source ablation under transport</a:t>
                      </a:r>
                    </a:p>
                  </a:txBody>
                  <a:tcPr/>
                </a:tc>
                <a:tc>
                  <a:txBody>
                    <a:bodyPr/>
                    <a:lstStyle/>
                    <a:p>
                      <a:pPr marL="0" lvl="0" indent="0" algn="l">
                        <a:buNone/>
                      </a:pPr>
                      <a:r>
                        <a:rPr sz="1000"/>
                        <a:t>Domain and source ablation</a:t>
                      </a:r>
                    </a:p>
                  </a:txBody>
                  <a:tcPr/>
                </a:tc>
                <a:extLst>
                  <a:ext uri="{0D108BD9-81ED-4DB2-BD59-A6C34878D82A}">
                    <a16:rowId xmlns:a16="http://schemas.microsoft.com/office/drawing/2014/main" val="10002"/>
                  </a:ext>
                </a:extLst>
              </a:tr>
              <a:tr h="0">
                <a:tc>
                  <a:txBody>
                    <a:bodyPr/>
                    <a:lstStyle/>
                    <a:p>
                      <a:pPr marL="0" lvl="0" indent="0" algn="l">
                        <a:buNone/>
                      </a:pPr>
                      <a:r>
                        <a:rPr sz="1000"/>
                        <a:t>Admin-1 women’s iron maps, predicted versus survey</a:t>
                      </a:r>
                    </a:p>
                  </a:txBody>
                  <a:tcPr/>
                </a:tc>
                <a:tc>
                  <a:txBody>
                    <a:bodyPr/>
                    <a:lstStyle/>
                    <a:p>
                      <a:pPr marL="0" lvl="0" indent="0" algn="l">
                        <a:buNone/>
                      </a:pPr>
                      <a:r>
                        <a:rPr sz="1000"/>
                        <a:t>Replaced by district maps with held-out predictions</a:t>
                      </a:r>
                    </a:p>
                  </a:txBody>
                  <a:tcPr/>
                </a:tc>
                <a:tc>
                  <a:txBody>
                    <a:bodyPr/>
                    <a:lstStyle/>
                    <a:p>
                      <a:pPr marL="0" lvl="0" indent="0" algn="l">
                        <a:buNone/>
                      </a:pPr>
                      <a:r>
                        <a:rPr sz="1000"/>
                        <a:t>Ghana maps</a:t>
                      </a:r>
                    </a:p>
                  </a:txBody>
                  <a:tcPr/>
                </a:tc>
                <a:extLst>
                  <a:ext uri="{0D108BD9-81ED-4DB2-BD59-A6C34878D82A}">
                    <a16:rowId xmlns:a16="http://schemas.microsoft.com/office/drawing/2014/main" val="10003"/>
                  </a:ext>
                </a:extLst>
              </a:tr>
              <a:tr h="0">
                <a:tc>
                  <a:txBody>
                    <a:bodyPr/>
                    <a:lstStyle/>
                    <a:p>
                      <a:pPr marL="0" lvl="0" indent="0" algn="l">
                        <a:buNone/>
                      </a:pPr>
                      <a:r>
                        <a:rPr sz="1000"/>
                        <a:t>Prescreened SuperLearner as the model</a:t>
                      </a:r>
                    </a:p>
                  </a:txBody>
                  <a:tcPr/>
                </a:tc>
                <a:tc>
                  <a:txBody>
                    <a:bodyPr/>
                    <a:lstStyle/>
                    <a:p>
                      <a:pPr marL="0" lvl="0" indent="0" algn="l">
                        <a:buNone/>
                      </a:pPr>
                      <a:r>
                        <a:rPr sz="1000"/>
                        <a:t>Retained as comparison; does not beat the zero-tuning index</a:t>
                      </a:r>
                    </a:p>
                  </a:txBody>
                  <a:tcPr/>
                </a:tc>
                <a:tc>
                  <a:txBody>
                    <a:bodyPr/>
                    <a:lstStyle/>
                    <a:p>
                      <a:pPr marL="0" lvl="0" indent="0" algn="l">
                        <a:buNone/>
                      </a:pPr>
                      <a:r>
                        <a:rPr sz="1000"/>
                        <a:t>Estimators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14660</Words>
  <Application>Microsoft Office PowerPoint</Application>
  <PresentationFormat>Widescreen</PresentationFormat>
  <Paragraphs>1159</Paragraphs>
  <Slides>72</Slides>
  <Notes>60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Calibri</vt:lpstr>
      <vt:lpstr>Calibri Light</vt:lpstr>
      <vt:lpstr>Office 2013 - 2022 Theme</vt:lpstr>
      <vt:lpstr>Predicting vitamin and mineral deficiencies from public data</vt:lpstr>
      <vt:lpstr>Goals</vt:lpstr>
      <vt:lpstr>Motivation</vt:lpstr>
      <vt:lpstr>Big data and small data, at once</vt:lpstr>
      <vt:lpstr>Surveys and outcomes</vt:lpstr>
      <vt:lpstr>The four surveys</vt:lpstr>
      <vt:lpstr>Outcomes</vt:lpstr>
      <vt:lpstr>Conceptual framework: iron deficiency</vt:lpstr>
      <vt:lpstr>The proxy dataset</vt:lpstr>
      <vt:lpstr>What a proxy has to be</vt:lpstr>
      <vt:lpstr>What each source is (1 of 2): land, climate, agriculture</vt:lpstr>
      <vt:lpstr>What each source is (2 of 2): health, food, households</vt:lpstr>
      <vt:lpstr>The sources</vt:lpstr>
      <vt:lpstr>Three kinds of data, three ways to a district value</vt:lpstr>
      <vt:lpstr>Linking in space: one spine, coded keys</vt:lpstr>
      <vt:lpstr>Linking in time: four surveys, four years</vt:lpstr>
      <vt:lpstr>Predictor domains</vt:lpstr>
      <vt:lpstr>Data assembly</vt:lpstr>
      <vt:lpstr>Building the harmonised dataset</vt:lpstr>
      <vt:lpstr>Models and protocol</vt:lpstr>
      <vt:lpstr>Estimators</vt:lpstr>
      <vt:lpstr>Ensemble machine learning</vt:lpstr>
      <vt:lpstr>How the zero-tuning index works</vt:lpstr>
      <vt:lpstr>Estimands</vt:lpstr>
      <vt:lpstr>Results</vt:lpstr>
      <vt:lpstr>In-fill: district ranking accuracy</vt:lpstr>
      <vt:lpstr>Ghana: survey and held-out prediction</vt:lpstr>
      <vt:lpstr>Region extrapolation</vt:lpstr>
      <vt:lpstr>Country transport</vt:lpstr>
      <vt:lpstr>Geostatistical comparator</vt:lpstr>
      <vt:lpstr>Targeting value</vt:lpstr>
      <vt:lpstr>Malawi: survey and held-out prediction</vt:lpstr>
      <vt:lpstr>What carries the signal</vt:lpstr>
      <vt:lpstr>Predictor weights by outcome</vt:lpstr>
      <vt:lpstr>Malawi, women’s B12: the weights behind the best ranking</vt:lpstr>
      <vt:lpstr>A surrogate marker: anaemia, fish and B12</vt:lpstr>
      <vt:lpstr>Domain ablation under transport</vt:lpstr>
      <vt:lpstr>What the transport models reach for</vt:lpstr>
      <vt:lpstr>Replicated indicators</vt:lpstr>
      <vt:lpstr>Limits and survey design</vt:lpstr>
      <vt:lpstr>Reliability ceiling</vt:lpstr>
      <vt:lpstr>Survey design: district error</vt:lpstr>
      <vt:lpstr>Transport by number of training countries</vt:lpstr>
      <vt:lpstr>Can the model direct and shrink surveys?</vt:lpstr>
      <vt:lpstr>The dashboard</vt:lpstr>
      <vt:lpstr>Closing</vt:lpstr>
      <vt:lpstr>What the models can and cannot do yet</vt:lpstr>
      <vt:lpstr>Conclusions</vt:lpstr>
      <vt:lpstr>Next steps</vt:lpstr>
      <vt:lpstr>Appendix</vt:lpstr>
      <vt:lpstr>Sources, tiers and alignment</vt:lpstr>
      <vt:lpstr>From columns to domains</vt:lpstr>
      <vt:lpstr>The twenty layers behind child iron, and how much each carries</vt:lpstr>
      <vt:lpstr>Exclusions, with their reasons</vt:lpstr>
      <vt:lpstr>Predictor set by domain and tier</vt:lpstr>
      <vt:lpstr>What we would add next, and the rule for adding it</vt:lpstr>
      <vt:lpstr>Predictors recurring across outcomes</vt:lpstr>
      <vt:lpstr>Weighting of the domain components</vt:lpstr>
      <vt:lpstr>Sparse composites</vt:lpstr>
      <vt:lpstr>Child iron composite</vt:lpstr>
      <vt:lpstr>Urbanicity conditioning</vt:lpstr>
      <vt:lpstr>Add-on predictor blocks</vt:lpstr>
      <vt:lpstr>Cluster-level fitting</vt:lpstr>
      <vt:lpstr>Risk-class accuracy</vt:lpstr>
      <vt:lpstr>LSMS and FluNet predictors</vt:lpstr>
      <vt:lpstr>Individual-level models</vt:lpstr>
      <vt:lpstr>National-level track</vt:lpstr>
      <vt:lpstr>Iodine</vt:lpstr>
      <vt:lpstr>Weighting of the domain components: prevalence</vt:lpstr>
      <vt:lpstr>Geostatistical comparator: absolute error</vt:lpstr>
      <vt:lpstr>Status of the January analyses (1)</vt:lpstr>
      <vt:lpstr>Status of the January analyses (2)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vitamin and mineral deficiencies from public data</dc:title>
  <dc:creator>Andrew N. Mertens, University of California, Berkeley</dc:creator>
  <cp:keywords/>
  <cp:lastModifiedBy>Andrew Mertens</cp:lastModifiedBy>
  <cp:revision>1</cp:revision>
  <dcterms:created xsi:type="dcterms:W3CDTF">2026-09-17T00:19:54Z</dcterms:created>
  <dcterms:modified xsi:type="dcterms:W3CDTF">2026-09-17T00:48:40Z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Four biomarker surveys, hundreds of public proxies, one evaluation protocol</vt:lpwstr>
  </property>
  <property fmtid="{D5CDD505-2E9C-101B-9397-08002B2CF9AE}" pid="12" name="toc-title">
    <vt:lpwstr>Table of contents</vt:lpwstr>
  </property>
</Properties>
</file>