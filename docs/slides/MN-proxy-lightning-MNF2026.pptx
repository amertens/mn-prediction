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6" r:id="rId4"/>
  </p:sldMasterIdLst>
  <p:notesMasterIdLst>
    <p:notesMasterId r:id="rId8"/>
  </p:notesMasterIdLst>
  <p:handoutMasterIdLst>
    <p:handoutMasterId r:id="rId9"/>
  </p:handoutMasterIdLst>
  <p:sldIdLst>
    <p:sldId id="258" r:id="rId5"/>
    <p:sldId id="259" r:id="rId6"/>
    <p:sldId id="260" r:id="rId7"/>
  </p:sldIdLst>
  <p:sldSz cx="12192000" cy="6858000"/>
  <p:notesSz cx="6858000" cy="9144000"/>
  <p:defaultTextStyle>
    <a:defPPr>
      <a:defRPr lang="en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08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04A7AC-15B3-45AE-AC7F-FFFBC168BDF3}" v="12" dt="2026-05-28T05:45:53.7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63"/>
    <p:restoredTop sz="94694"/>
  </p:normalViewPr>
  <p:slideViewPr>
    <p:cSldViewPr snapToGrid="0">
      <p:cViewPr>
        <p:scale>
          <a:sx n="66" d="100"/>
          <a:sy n="66" d="100"/>
        </p:scale>
        <p:origin x="450" y="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tta Dafne" userId="89a71111-275f-4d76-be51-f523b3029291" providerId="ADAL" clId="{47C11647-2FF0-4ECB-AF80-83BD1E959D56}"/>
    <pc:docChg chg="custSel addSld modSld">
      <pc:chgData name="Netta Dafne" userId="89a71111-275f-4d76-be51-f523b3029291" providerId="ADAL" clId="{47C11647-2FF0-4ECB-AF80-83BD1E959D56}" dt="2026-05-28T05:45:53.702" v="60"/>
      <pc:docMkLst>
        <pc:docMk/>
      </pc:docMkLst>
      <pc:sldChg chg="addSp delSp modSp mod">
        <pc:chgData name="Netta Dafne" userId="89a71111-275f-4d76-be51-f523b3029291" providerId="ADAL" clId="{47C11647-2FF0-4ECB-AF80-83BD1E959D56}" dt="2026-05-28T05:45:38.140" v="56" actId="14100"/>
        <pc:sldMkLst>
          <pc:docMk/>
          <pc:sldMk cId="1051702882" sldId="258"/>
        </pc:sldMkLst>
        <pc:spChg chg="mod">
          <ac:chgData name="Netta Dafne" userId="89a71111-275f-4d76-be51-f523b3029291" providerId="ADAL" clId="{47C11647-2FF0-4ECB-AF80-83BD1E959D56}" dt="2026-05-28T05:45:38.140" v="56" actId="14100"/>
          <ac:spMkLst>
            <pc:docMk/>
            <pc:sldMk cId="1051702882" sldId="258"/>
            <ac:spMk id="2" creationId="{710D1EA6-28C5-51DF-6FCC-75CF0B4CEB72}"/>
          </ac:spMkLst>
        </pc:spChg>
        <pc:spChg chg="mod">
          <ac:chgData name="Netta Dafne" userId="89a71111-275f-4d76-be51-f523b3029291" providerId="ADAL" clId="{47C11647-2FF0-4ECB-AF80-83BD1E959D56}" dt="2026-05-28T05:39:14.587" v="0"/>
          <ac:spMkLst>
            <pc:docMk/>
            <pc:sldMk cId="1051702882" sldId="258"/>
            <ac:spMk id="4" creationId="{9A1CCB76-777F-B7E0-FF9E-57A23F8AE2C4}"/>
          </ac:spMkLst>
        </pc:spChg>
        <pc:spChg chg="add mod">
          <ac:chgData name="Netta Dafne" userId="89a71111-275f-4d76-be51-f523b3029291" providerId="ADAL" clId="{47C11647-2FF0-4ECB-AF80-83BD1E959D56}" dt="2026-05-28T05:41:23.073" v="19" actId="20577"/>
          <ac:spMkLst>
            <pc:docMk/>
            <pc:sldMk cId="1051702882" sldId="258"/>
            <ac:spMk id="6" creationId="{244A6222-89C3-8E58-A2D5-AB28D689A7D4}"/>
          </ac:spMkLst>
        </pc:spChg>
        <pc:spChg chg="add mod">
          <ac:chgData name="Netta Dafne" userId="89a71111-275f-4d76-be51-f523b3029291" providerId="ADAL" clId="{47C11647-2FF0-4ECB-AF80-83BD1E959D56}" dt="2026-05-28T05:39:47.256" v="5" actId="1076"/>
          <ac:spMkLst>
            <pc:docMk/>
            <pc:sldMk cId="1051702882" sldId="258"/>
            <ac:spMk id="8" creationId="{6888D7F1-FDF2-9B66-96A3-E76131BE6F5E}"/>
          </ac:spMkLst>
        </pc:spChg>
        <pc:spChg chg="add del mod">
          <ac:chgData name="Netta Dafne" userId="89a71111-275f-4d76-be51-f523b3029291" providerId="ADAL" clId="{47C11647-2FF0-4ECB-AF80-83BD1E959D56}" dt="2026-05-28T05:40:35.369" v="11" actId="478"/>
          <ac:spMkLst>
            <pc:docMk/>
            <pc:sldMk cId="1051702882" sldId="258"/>
            <ac:spMk id="9" creationId="{7C982D71-B125-C6E8-B960-9F540CE27777}"/>
          </ac:spMkLst>
        </pc:spChg>
        <pc:spChg chg="add mod">
          <ac:chgData name="Netta Dafne" userId="89a71111-275f-4d76-be51-f523b3029291" providerId="ADAL" clId="{47C11647-2FF0-4ECB-AF80-83BD1E959D56}" dt="2026-05-28T05:41:56.474" v="21" actId="255"/>
          <ac:spMkLst>
            <pc:docMk/>
            <pc:sldMk cId="1051702882" sldId="258"/>
            <ac:spMk id="10" creationId="{00A7D40E-8463-A698-92F6-EAB158559E3A}"/>
          </ac:spMkLst>
        </pc:spChg>
        <pc:graphicFrameChg chg="del">
          <ac:chgData name="Netta Dafne" userId="89a71111-275f-4d76-be51-f523b3029291" providerId="ADAL" clId="{47C11647-2FF0-4ECB-AF80-83BD1E959D56}" dt="2026-05-28T05:39:49.804" v="6" actId="478"/>
          <ac:graphicFrameMkLst>
            <pc:docMk/>
            <pc:sldMk cId="1051702882" sldId="258"/>
            <ac:graphicFrameMk id="3" creationId="{3E67099B-75A3-71C8-4A16-3A028FC10E61}"/>
          </ac:graphicFrameMkLst>
        </pc:graphicFrameChg>
        <pc:graphicFrameChg chg="del">
          <ac:chgData name="Netta Dafne" userId="89a71111-275f-4d76-be51-f523b3029291" providerId="ADAL" clId="{47C11647-2FF0-4ECB-AF80-83BD1E959D56}" dt="2026-05-28T05:39:24.648" v="1" actId="478"/>
          <ac:graphicFrameMkLst>
            <pc:docMk/>
            <pc:sldMk cId="1051702882" sldId="258"/>
            <ac:graphicFrameMk id="7" creationId="{9C60CB2D-85C6-8331-178D-FE8E50A2B624}"/>
          </ac:graphicFrameMkLst>
        </pc:graphicFrameChg>
      </pc:sldChg>
      <pc:sldChg chg="addSp delSp modSp add mod">
        <pc:chgData name="Netta Dafne" userId="89a71111-275f-4d76-be51-f523b3029291" providerId="ADAL" clId="{47C11647-2FF0-4ECB-AF80-83BD1E959D56}" dt="2026-05-28T05:45:47.150" v="58"/>
        <pc:sldMkLst>
          <pc:docMk/>
          <pc:sldMk cId="735740519" sldId="259"/>
        </pc:sldMkLst>
        <pc:spChg chg="del">
          <ac:chgData name="Netta Dafne" userId="89a71111-275f-4d76-be51-f523b3029291" providerId="ADAL" clId="{47C11647-2FF0-4ECB-AF80-83BD1E959D56}" dt="2026-05-28T05:45:46.457" v="57" actId="478"/>
          <ac:spMkLst>
            <pc:docMk/>
            <pc:sldMk cId="735740519" sldId="259"/>
            <ac:spMk id="2" creationId="{05538306-48C5-94A7-B6F8-FC59B4F5A2D8}"/>
          </ac:spMkLst>
        </pc:spChg>
        <pc:spChg chg="add mod">
          <ac:chgData name="Netta Dafne" userId="89a71111-275f-4d76-be51-f523b3029291" providerId="ADAL" clId="{47C11647-2FF0-4ECB-AF80-83BD1E959D56}" dt="2026-05-28T05:45:47.150" v="58"/>
          <ac:spMkLst>
            <pc:docMk/>
            <pc:sldMk cId="735740519" sldId="259"/>
            <ac:spMk id="3" creationId="{C8A964DC-0FB5-4899-4C13-DADC41CFE32C}"/>
          </ac:spMkLst>
        </pc:spChg>
        <pc:spChg chg="mod">
          <ac:chgData name="Netta Dafne" userId="89a71111-275f-4d76-be51-f523b3029291" providerId="ADAL" clId="{47C11647-2FF0-4ECB-AF80-83BD1E959D56}" dt="2026-05-28T05:45:18.923" v="54"/>
          <ac:spMkLst>
            <pc:docMk/>
            <pc:sldMk cId="735740519" sldId="259"/>
            <ac:spMk id="4" creationId="{69ED4EB7-1F60-4819-63DF-2507DD5D978D}"/>
          </ac:spMkLst>
        </pc:spChg>
        <pc:spChg chg="del">
          <ac:chgData name="Netta Dafne" userId="89a71111-275f-4d76-be51-f523b3029291" providerId="ADAL" clId="{47C11647-2FF0-4ECB-AF80-83BD1E959D56}" dt="2026-05-28T05:42:41.896" v="41" actId="478"/>
          <ac:spMkLst>
            <pc:docMk/>
            <pc:sldMk cId="735740519" sldId="259"/>
            <ac:spMk id="6" creationId="{2B92D0FE-47EB-317F-45FF-80E702C6CCFE}"/>
          </ac:spMkLst>
        </pc:spChg>
        <pc:spChg chg="del mod">
          <ac:chgData name="Netta Dafne" userId="89a71111-275f-4d76-be51-f523b3029291" providerId="ADAL" clId="{47C11647-2FF0-4ECB-AF80-83BD1E959D56}" dt="2026-05-28T05:42:39.554" v="40" actId="478"/>
          <ac:spMkLst>
            <pc:docMk/>
            <pc:sldMk cId="735740519" sldId="259"/>
            <ac:spMk id="8" creationId="{3A64FEE3-7DF0-2112-891E-3BCC23F139CD}"/>
          </ac:spMkLst>
        </pc:spChg>
        <pc:spChg chg="mod">
          <ac:chgData name="Netta Dafne" userId="89a71111-275f-4d76-be51-f523b3029291" providerId="ADAL" clId="{47C11647-2FF0-4ECB-AF80-83BD1E959D56}" dt="2026-05-28T05:42:48.846" v="43" actId="1076"/>
          <ac:spMkLst>
            <pc:docMk/>
            <pc:sldMk cId="735740519" sldId="259"/>
            <ac:spMk id="10" creationId="{E66080FE-D214-3393-0966-975187048BAB}"/>
          </ac:spMkLst>
        </pc:spChg>
      </pc:sldChg>
      <pc:sldChg chg="addSp delSp modSp add mod">
        <pc:chgData name="Netta Dafne" userId="89a71111-275f-4d76-be51-f523b3029291" providerId="ADAL" clId="{47C11647-2FF0-4ECB-AF80-83BD1E959D56}" dt="2026-05-28T05:45:53.702" v="60"/>
        <pc:sldMkLst>
          <pc:docMk/>
          <pc:sldMk cId="4038509521" sldId="260"/>
        </pc:sldMkLst>
        <pc:spChg chg="del">
          <ac:chgData name="Netta Dafne" userId="89a71111-275f-4d76-be51-f523b3029291" providerId="ADAL" clId="{47C11647-2FF0-4ECB-AF80-83BD1E959D56}" dt="2026-05-28T05:45:53.038" v="59" actId="478"/>
          <ac:spMkLst>
            <pc:docMk/>
            <pc:sldMk cId="4038509521" sldId="260"/>
            <ac:spMk id="2" creationId="{B9D64D66-BAC8-9E25-177D-A4727B9A8668}"/>
          </ac:spMkLst>
        </pc:spChg>
        <pc:spChg chg="add mod">
          <ac:chgData name="Netta Dafne" userId="89a71111-275f-4d76-be51-f523b3029291" providerId="ADAL" clId="{47C11647-2FF0-4ECB-AF80-83BD1E959D56}" dt="2026-05-28T05:45:53.702" v="60"/>
          <ac:spMkLst>
            <pc:docMk/>
            <pc:sldMk cId="4038509521" sldId="260"/>
            <ac:spMk id="3" creationId="{3D2E381C-414F-7DBF-E1BB-AA4CE2D63A3F}"/>
          </ac:spMkLst>
        </pc:spChg>
        <pc:spChg chg="mod">
          <ac:chgData name="Netta Dafne" userId="89a71111-275f-4d76-be51-f523b3029291" providerId="ADAL" clId="{47C11647-2FF0-4ECB-AF80-83BD1E959D56}" dt="2026-05-28T05:43:12.342" v="45"/>
          <ac:spMkLst>
            <pc:docMk/>
            <pc:sldMk cId="4038509521" sldId="260"/>
            <ac:spMk id="4" creationId="{A683529C-FD08-6075-729E-42711B60CD41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9931999-5B91-1A50-8F81-1072BFFD3F1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GB"/>
              <a:t>mnfconference.org</a:t>
            </a:r>
            <a:endParaRPr lang="en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46EA67-5E20-4CA3-DC32-9F84A5338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CDA14B-D38D-7645-84FF-CE2170A8AFF1}" type="datetimeFigureOut">
              <a:rPr lang="en-BG" smtClean="0"/>
              <a:t>05/28/2026</a:t>
            </a:fld>
            <a:endParaRPr lang="en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584223-8438-BD41-6DCC-22F515C6C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mnfconference.org  |  </a:t>
            </a:r>
            <a:endParaRPr lang="en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9F514-8FC2-8210-191C-196F10F4B3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5CF6A-9CF9-7F49-B504-0CD64E7B38C2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86273864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GB"/>
              <a:t>mnfconference.org</a:t>
            </a:r>
            <a:endParaRPr lang="en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22CFD4-67F2-0A4F-8F9A-7BBE605BC4FC}" type="datetimeFigureOut">
              <a:rPr lang="en-BG" smtClean="0"/>
              <a:t>05/28/2026</a:t>
            </a:fld>
            <a:endParaRPr lang="en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mnfconference.org  |  </a:t>
            </a:r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582FD5-DD72-EA41-90DE-BC5D4D37536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49426392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563259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4EB1-568B-A81B-AC46-EB308A83F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458C-5771-D7B0-5B78-733E9FD72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5E451-D8D5-06C3-A61A-453236D8B8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08123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BD5DD-9EDF-2A9D-135D-B6433BD67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BB73A-F3B2-9CF0-E13F-035B09945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4D8A7C-724A-E1F6-6C60-1EB1B25EE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62952908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E27C-59E1-959C-59F1-778BEA920F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7854F-01CE-7662-EA6B-3FD1C4D42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3929F-88AA-CA48-AF0A-AC827F137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349A-A6D6-3945-B600-E696345C6FEC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DC429-1CDF-1153-5178-688B4F99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C6C9D-0A92-303C-CAA2-551CA77BA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2719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3E48-2765-D748-089D-83A321314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312CD-D207-4B39-1878-4998D48F0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6E2FA-EC7F-8687-8A05-DAF60C6BE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9796A-BA6B-7A47-9589-BE2D5549C8C0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141D3-7475-FFFE-CCE2-86C5E41D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10821-19FC-80D7-565F-E5FCE8D7A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866589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54DC-FB72-5297-5F8C-C5018B014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FFC3BD-80C6-9769-80B9-A6BD93E2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FBFEB-1288-7C7C-472C-12E4A72BA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84B04-1F41-EF4B-98F8-4C038AD3A24D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D6253-509A-1620-5684-CC17C9087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49C2AB-C32B-F139-A9B4-170A9888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45100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2CBA-5A11-5AEE-644F-228E9B86D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2A08F-AE11-FC4E-33FC-623D7AA3EF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27201C-1AB1-5155-A12D-BBF575B2CA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F99A8-E26C-E011-1C1A-576810E2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CCEF-7735-3946-801D-962C1B28F1D5}" type="datetime1">
              <a:rPr lang="en-US" smtClean="0"/>
              <a:t>5/28/2026</a:t>
            </a:fld>
            <a:endParaRPr lang="en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DA6176-5FB6-EB80-4208-0598E8D2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B86B62-BAFD-3A50-FBA9-961B856E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410707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095D2-A2BD-30EE-6D2D-7430178F1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0CC31-127F-0D5F-D3C5-7E9ECCD43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6C0E15-4E28-7987-AF1B-0DA8E286E3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8A81A2-A428-6A78-7486-E1E749F469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213699-AAD7-5D56-83F8-C8055F185A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37350C-26C0-7FD2-EB4E-D43A06C27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B6463-0D64-2746-95DF-3D8E93807C79}" type="datetime1">
              <a:rPr lang="en-US" smtClean="0"/>
              <a:t>5/28/2026</a:t>
            </a:fld>
            <a:endParaRPr lang="en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BB519-C431-4AFC-1999-6C78D2976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ACEE6-300A-374B-3C2B-3F470737D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875087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7BFBF-ED9A-4C84-23BD-C822C530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7E8A34-420D-477F-0CF1-AD19AABC7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23895-0D23-8E49-B871-82612DE48DA5}" type="datetime1">
              <a:rPr lang="en-US" smtClean="0"/>
              <a:t>5/28/2026</a:t>
            </a:fld>
            <a:endParaRPr lang="en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ABF9B4-D5AF-8CFE-C32A-FF037DA42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0233B8-2DB4-E1E4-D018-07FD0338F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063980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FE01E9-07FC-C525-ED88-47D4AA1D9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0016C-4D4C-4444-9C30-4C9311EFABBD}" type="datetime1">
              <a:rPr lang="en-US" smtClean="0"/>
              <a:t>5/28/2026</a:t>
            </a:fld>
            <a:endParaRPr lang="en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26118E-6E2D-1DE0-6646-1F74AA3D3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3B8E6-EA84-3D2F-EBBE-4B10458DA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538801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4907C-20EF-0CCF-21FB-C00656552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33A89-AC6B-F200-966F-0C32E0376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6884C-FEF6-C29D-D749-4050A968F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BAE82-533D-C866-4FDC-C98150986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00CA0-6551-0446-9D2F-5743A643800E}" type="datetime1">
              <a:rPr lang="en-US" smtClean="0"/>
              <a:t>5/28/2026</a:t>
            </a:fld>
            <a:endParaRPr lang="en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D846-F849-8890-E522-44465A5EB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A36B92-4C6F-23BA-6D2D-475437683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509186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54C5F-2AE5-752F-D699-D7609DC7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E73131-BAC4-54B6-1CBE-4BB93A3EEF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913CC5-7E08-0A26-3A04-CC35255609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6F24F-4C05-E8D9-745E-EBD04ED9A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44285-9839-6742-9B19-5E4024F394C1}" type="datetime1">
              <a:rPr lang="en-US" smtClean="0"/>
              <a:t>5/28/2026</a:t>
            </a:fld>
            <a:endParaRPr lang="en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70FAA-AC52-973C-470B-CF5AEFC5A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Micronutrient Forum 7th Global Conference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4F77A-26C7-7652-1A10-A26B8420E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586630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75476-2B41-13C8-0898-9934A604B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3FA52-E192-2D6D-EE53-2D27E1285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1A833-D43B-6E41-A783-07CBB816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8FA6F-B7A3-A743-BCB2-B9EF20F12D4F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33F4D0-1654-9BB0-342D-64B3B247F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8943-EFEE-C7D7-A1B0-F7B34D8F7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754640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E9516C-A5C3-B394-CCC6-CC9E98F29C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837AD8-F6F4-19C0-99E6-A1298567D2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5D298-741C-3A59-AFD1-6C796F3F2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5FA1C-3388-4845-85D5-186908EBBF00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8288D-1F58-E2D5-0354-651ACD37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1D088-6C49-1A81-697E-E68CB25C6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133896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48000"/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754CC2-F5AB-F5CA-2461-FA1578B5F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67A3B-D1BE-0BD1-1068-2E289943D2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63397-A025-132E-8587-E084AAAAB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4A5735-1510-7049-BCA2-D05BF1104DA2}" type="datetime1">
              <a:rPr lang="en-US" smtClean="0"/>
              <a:t>5/28/2026</a:t>
            </a:fld>
            <a:endParaRPr lang="en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DFC3B-6DA0-5D89-738B-9EC851A00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Micronutrient Forum 7th Global Conference</a:t>
            </a:r>
            <a:endParaRPr lang="en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7BA3-B89F-FD2C-3403-80AB176913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903514-D622-FE49-B01E-C0625A22DB6C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277563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27C873-E708-78A8-F07F-6BABDF770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1</a:t>
            </a:fld>
            <a:endParaRPr lang="en-BG" dirty="0"/>
          </a:p>
        </p:txBody>
      </p:sp>
      <p:sp>
        <p:nvSpPr>
          <p:cNvPr id="2" name="Slide Number Placeholder 10">
            <a:extLst>
              <a:ext uri="{FF2B5EF4-FFF2-40B4-BE49-F238E27FC236}">
                <a16:creationId xmlns:a16="http://schemas.microsoft.com/office/drawing/2014/main" id="{710D1EA6-28C5-51DF-6FCC-75CF0B4CEB72}"/>
              </a:ext>
            </a:extLst>
          </p:cNvPr>
          <p:cNvSpPr txBox="1">
            <a:spLocks/>
          </p:cNvSpPr>
          <p:nvPr/>
        </p:nvSpPr>
        <p:spPr>
          <a:xfrm>
            <a:off x="838200" y="6356349"/>
            <a:ext cx="4285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BG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/>
              <a:t>Micronutrient Forum 7th Global Conference</a:t>
            </a:r>
            <a:endParaRPr lang="en-BG" sz="16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1CCB76-777F-B7E0-FF9E-57A23F8AE2C4}"/>
              </a:ext>
            </a:extLst>
          </p:cNvPr>
          <p:cNvSpPr txBox="1">
            <a:spLocks/>
          </p:cNvSpPr>
          <p:nvPr/>
        </p:nvSpPr>
        <p:spPr>
          <a:xfrm>
            <a:off x="246888" y="137160"/>
            <a:ext cx="11704320" cy="105156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sz="2200"/>
              <a:t>Which public data predict micronutrient deficiency? The same climate, soil and satellite layers hold across four African countries</a:t>
            </a:r>
            <a:endParaRPr lang="bg-B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4A6222-89C3-8E58-A2D5-AB28D689A7D4}"/>
              </a:ext>
            </a:extLst>
          </p:cNvPr>
          <p:cNvSpPr txBox="1"/>
          <p:nvPr/>
        </p:nvSpPr>
        <p:spPr>
          <a:xfrm>
            <a:off x="246888" y="128016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Andrew N. Mertens (University of California, Berkeley) and Sonja Y. Hess (University of California, Davis)</a:t>
            </a: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6888D7F1-FDF2-9B66-96A3-E76131BE6F5E}"/>
              </a:ext>
            </a:extLst>
          </p:cNvPr>
          <p:cNvSpPr txBox="1">
            <a:spLocks/>
          </p:cNvSpPr>
          <p:nvPr/>
        </p:nvSpPr>
        <p:spPr>
          <a:xfrm>
            <a:off x="246446" y="1737360"/>
            <a:ext cx="7038712" cy="606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397188"/>
                </a:solidFill>
                <a:latin typeface="+mj-lt"/>
                <a:ea typeface="+mj-ea"/>
                <a:cs typeface="+mj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buClr>
                <a:srgbClr val="144A85"/>
              </a:buClr>
              <a:buSzPts val="2500"/>
            </a:pPr>
            <a:r>
              <a:rPr lang="en-US" sz="2500" b="1" dirty="0">
                <a:solidFill>
                  <a:srgbClr val="144A85"/>
                </a:solidFill>
                <a:latin typeface="Open Sans"/>
                <a:ea typeface="Open Sans"/>
                <a:cs typeface="Open Sans"/>
                <a:sym typeface="Open Sans"/>
              </a:rPr>
              <a:t>Background, aims and methods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0A7D40E-8463-A698-92F6-EAB158559E3A}"/>
              </a:ext>
            </a:extLst>
          </p:cNvPr>
          <p:cNvSpPr txBox="1">
            <a:spLocks/>
          </p:cNvSpPr>
          <p:nvPr/>
        </p:nvSpPr>
        <p:spPr>
          <a:xfrm>
            <a:off x="356616" y="2377440"/>
            <a:ext cx="11338560" cy="3840480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defPPr>
              <a:defRPr lang="en-US"/>
            </a:defPPr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1800" dirty="0"/>
              <a:t>Aim: find which freely available data layers track blood-measured micronutrient deficiency across districts, and whether the same layers hold in a country never surveyed.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Data: four national micronutrient surveys (The Gambia 2018, Ghana 2017, Malawi 2015 to 16, Sierra Leone 2013), 206 districts, vitamin A, iron, folate and B12 in children and women.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Predictors: 454 public layers in 24 groups, from satellite imagery, climate and soil to crops, livestock, malaria, prices and household surveys.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Model: each group is reduced to a few summary axes, weighted by its correlation with deficiency and summed, with nothing tuned. Scored on held-out districts and on held-out countries.</a:t>
            </a:r>
          </a:p>
        </p:txBody>
      </p:sp>
    </p:spTree>
    <p:extLst>
      <p:ext uri="{BB962C8B-B14F-4D97-AF65-F5344CB8AC3E}">
        <p14:creationId xmlns:p14="http://schemas.microsoft.com/office/powerpoint/2010/main" val="1051702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26BA-F77E-39B2-F3D0-93F7E06F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0EA4084-E17F-361A-2405-275FC4FB2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2</a:t>
            </a:fld>
            <a:endParaRPr lang="en-BG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9ED4EB7-1F60-4819-63DF-2507DD5D978D}"/>
              </a:ext>
            </a:extLst>
          </p:cNvPr>
          <p:cNvSpPr txBox="1">
            <a:spLocks/>
          </p:cNvSpPr>
          <p:nvPr/>
        </p:nvSpPr>
        <p:spPr>
          <a:xfrm>
            <a:off x="246446" y="136525"/>
            <a:ext cx="10515600" cy="7416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/>
              <a:t>Results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66080FE-D214-3393-0966-975187048BAB}"/>
              </a:ext>
            </a:extLst>
          </p:cNvPr>
          <p:cNvSpPr txBox="1">
            <a:spLocks/>
          </p:cNvSpPr>
          <p:nvPr/>
        </p:nvSpPr>
        <p:spPr>
          <a:xfrm>
            <a:off x="246888" y="1097280"/>
            <a:ext cx="4343400" cy="5120640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defPPr>
              <a:defRPr lang="en-US"/>
            </a:defPPr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1600" dirty="0"/>
              <a:t>Inside a surveyed country the index ranks held-out districts at 0.40, against 0.08 for chance.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In a country never surveyed: 0.26, positive in 17 of 22 country-outcome pairs. With climate and soil layers only: 0.37.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Satellite, climate and soil layers carry 30 to 48 percent of the index, and the same gradient ranks worst on every deficiency: drier, grassier, poorer, more pastoral districts.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Household-survey layers help at home and hurt abroad; the physical environment travels.</a:t>
            </a:r>
          </a:p>
        </p:txBody>
      </p:sp>
      <p:sp>
        <p:nvSpPr>
          <p:cNvPr id="3" name="Slide Number Placeholder 10">
            <a:extLst>
              <a:ext uri="{FF2B5EF4-FFF2-40B4-BE49-F238E27FC236}">
                <a16:creationId xmlns:a16="http://schemas.microsoft.com/office/drawing/2014/main" id="{C8A964DC-0FB5-4899-4C13-DADC41CFE32C}"/>
              </a:ext>
            </a:extLst>
          </p:cNvPr>
          <p:cNvSpPr txBox="1">
            <a:spLocks/>
          </p:cNvSpPr>
          <p:nvPr/>
        </p:nvSpPr>
        <p:spPr>
          <a:xfrm>
            <a:off x="838200" y="6356349"/>
            <a:ext cx="4285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BG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/>
              <a:t>Micronutrient Forum 7th Global Conference</a:t>
            </a:r>
            <a:endParaRPr lang="en-BG" sz="1600" dirty="0"/>
          </a:p>
        </p:txBody>
      </p:sp>
      <p:pic>
        <p:nvPicPr>
          <p:cNvPr id="12" name="Picture 11" descr="fig3_top_predi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7315200" cy="419724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12080" y="635508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Unpublished data. Do not copy or distribute.</a:t>
            </a:r>
          </a:p>
        </p:txBody>
      </p:sp>
    </p:spTree>
    <p:extLst>
      <p:ext uri="{BB962C8B-B14F-4D97-AF65-F5344CB8AC3E}">
        <p14:creationId xmlns:p14="http://schemas.microsoft.com/office/powerpoint/2010/main" val="735740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63D-7979-F07D-CBDC-71FAC6772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81B6153-C58F-F254-D523-3544D7C64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03514-D622-FE49-B01E-C0625A22DB6C}" type="slidenum">
              <a:rPr lang="en-BG" smtClean="0"/>
              <a:t>3</a:t>
            </a:fld>
            <a:endParaRPr lang="en-BG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83529C-FD08-6075-729E-42711B60CD41}"/>
              </a:ext>
            </a:extLst>
          </p:cNvPr>
          <p:cNvSpPr txBox="1">
            <a:spLocks/>
          </p:cNvSpPr>
          <p:nvPr/>
        </p:nvSpPr>
        <p:spPr>
          <a:xfrm>
            <a:off x="246446" y="136525"/>
            <a:ext cx="10515600" cy="7416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Conclusions and impact</a:t>
            </a:r>
            <a:endParaRPr lang="en-GB" b="1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C1D09DC-ED1B-DCBC-2D45-E1A90B2DDC31}"/>
              </a:ext>
            </a:extLst>
          </p:cNvPr>
          <p:cNvSpPr txBox="1">
            <a:spLocks/>
          </p:cNvSpPr>
          <p:nvPr/>
        </p:nvSpPr>
        <p:spPr>
          <a:xfrm>
            <a:off x="246888" y="1143000"/>
            <a:ext cx="6583680" cy="5029200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defPPr>
              <a:defRPr lang="en-US"/>
            </a:defPPr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35A9A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1800" dirty="0"/>
              <a:t>One environmental gradient underlies all six deficiencies. A twenty-layer public list ranks a new country as well as the full database (0.29 against 0.26).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Districts nobody has surveyed can be ranked for programme targeting and for placing the next survey. Rankings cross borders; absolute levels do not.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One national blood sample turns a ranking into district prevalence. The climate-and-soil list was found on these four countries and is pre-registered for the fifth.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Impact: a country can rebuild the ranking itself from downloadable layers, at no survey cost, while the next survey is planned.</a:t>
            </a:r>
          </a:p>
        </p:txBody>
      </p:sp>
      <p:sp>
        <p:nvSpPr>
          <p:cNvPr id="3" name="Slide Number Placeholder 10">
            <a:extLst>
              <a:ext uri="{FF2B5EF4-FFF2-40B4-BE49-F238E27FC236}">
                <a16:creationId xmlns:a16="http://schemas.microsoft.com/office/drawing/2014/main" id="{3D2E381C-414F-7DBF-E1BB-AA4CE2D63A3F}"/>
              </a:ext>
            </a:extLst>
          </p:cNvPr>
          <p:cNvSpPr txBox="1">
            <a:spLocks/>
          </p:cNvSpPr>
          <p:nvPr/>
        </p:nvSpPr>
        <p:spPr>
          <a:xfrm>
            <a:off x="838200" y="6356349"/>
            <a:ext cx="4285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BG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/>
              <a:t>Micronutrient Forum 7th Global Conference</a:t>
            </a:r>
            <a:endParaRPr lang="en-BG" sz="1600" dirty="0"/>
          </a:p>
        </p:txBody>
      </p:sp>
      <p:pic>
        <p:nvPicPr>
          <p:cNvPr id="12" name="Picture 11" descr="fig5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4628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12080" y="635508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Unpublished data. Do not copy or distribute.</a:t>
            </a:r>
          </a:p>
        </p:txBody>
      </p:sp>
    </p:spTree>
    <p:extLst>
      <p:ext uri="{BB962C8B-B14F-4D97-AF65-F5344CB8AC3E}">
        <p14:creationId xmlns:p14="http://schemas.microsoft.com/office/powerpoint/2010/main" val="4038509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NF2026" id="{C297CF86-E7ED-3F4F-A7BA-F3C55265C4A3}" vid="{7623D2EC-82FD-2D4E-ADF7-7C90E80A22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olderID xmlns="eb3f7de7-c935-4ca6-a12c-1f73773710ec" xsi:nil="true"/>
    <KenesDocumentTypeId xmlns="eb3f7de7-c935-4ca6-a12c-1f73773710ec" xsi:nil="true"/>
    <Confidential1 xmlns="eb3f7de7-c935-4ca6-a12c-1f73773710ec">false</Confidential1>
    <Final xmlns="eb3f7de7-c935-4ca6-a12c-1f73773710ec">false</Final>
    <_ip_UnifiedCompliancePolicyUIAction xmlns="http://schemas.microsoft.com/sharepoint/v3" xsi:nil="true"/>
    <TaxCatchAll xmlns="eb3f7de7-c935-4ca6-a12c-1f73773710ec" xsi:nil="true"/>
    <_ip_UnifiedCompliancePolicyProperties xmlns="http://schemas.microsoft.com/sharepoint/v3" xsi:nil="true"/>
    <lcf76f155ced4ddcb4097134ff3c332f xmlns="d72e9c86-ce1e-489a-805e-7419eb99b5d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Kenes Document" ma:contentTypeID="0x01010037EA2DD516505C4D92B92F8677CFB68500EA22B67ECB1D76408BF7B711399C0FD4" ma:contentTypeVersion="12" ma:contentTypeDescription="" ma:contentTypeScope="" ma:versionID="06032500261be35da3a0a0240560c200">
  <xsd:schema xmlns:xsd="http://www.w3.org/2001/XMLSchema" xmlns:xs="http://www.w3.org/2001/XMLSchema" xmlns:p="http://schemas.microsoft.com/office/2006/metadata/properties" xmlns:ns1="http://schemas.microsoft.com/sharepoint/v3" xmlns:ns2="eb3f7de7-c935-4ca6-a12c-1f73773710ec" xmlns:ns3="d72e9c86-ce1e-489a-805e-7419eb99b5d2" targetNamespace="http://schemas.microsoft.com/office/2006/metadata/properties" ma:root="true" ma:fieldsID="e9392f22e3dad9074463082e04503dba" ns1:_="" ns2:_="" ns3:_="">
    <xsd:import namespace="http://schemas.microsoft.com/sharepoint/v3"/>
    <xsd:import namespace="eb3f7de7-c935-4ca6-a12c-1f73773710ec"/>
    <xsd:import namespace="d72e9c86-ce1e-489a-805e-7419eb99b5d2"/>
    <xsd:element name="properties">
      <xsd:complexType>
        <xsd:sequence>
          <xsd:element name="documentManagement">
            <xsd:complexType>
              <xsd:all>
                <xsd:element ref="ns2:FolderID" minOccurs="0"/>
                <xsd:element ref="ns2:KenesDocumentTypeId" minOccurs="0"/>
                <xsd:element ref="ns2:Confidential1" minOccurs="0"/>
                <xsd:element ref="ns2:Final" minOccurs="0"/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f7de7-c935-4ca6-a12c-1f73773710ec" elementFormDefault="qualified">
    <xsd:import namespace="http://schemas.microsoft.com/office/2006/documentManagement/types"/>
    <xsd:import namespace="http://schemas.microsoft.com/office/infopath/2007/PartnerControls"/>
    <xsd:element name="FolderID" ma:index="2" nillable="true" ma:displayName="FolderID" ma:list="{62b5239b-3564-444d-88a9-03f6d13d411f}" ma:internalName="FolderID" ma:showField="Title" ma:web="eb3f7de7-c935-4ca6-a12c-1f73773710ec">
      <xsd:simpleType>
        <xsd:restriction base="dms:Lookup"/>
      </xsd:simpleType>
    </xsd:element>
    <xsd:element name="KenesDocumentTypeId" ma:index="3" nillable="true" ma:displayName="KenesDocumentTypeId" ma:list="{5ca2ab15-5c4e-45db-95e6-5cb4dd45d1b1}" ma:internalName="KenesDocumentTypeId" ma:showField="Title" ma:web="eb3f7de7-c935-4ca6-a12c-1f73773710ec">
      <xsd:simpleType>
        <xsd:restriction base="dms:Lookup"/>
      </xsd:simpleType>
    </xsd:element>
    <xsd:element name="Confidential1" ma:index="4" nillable="true" ma:displayName="Confidential" ma:default="0" ma:internalName="Confidential1">
      <xsd:simpleType>
        <xsd:restriction base="dms:Boolean"/>
      </xsd:simpleType>
    </xsd:element>
    <xsd:element name="Final" ma:index="5" nillable="true" ma:displayName="Final" ma:default="0" ma:internalName="Final">
      <xsd:simpleType>
        <xsd:restriction base="dms:Boolean"/>
      </xsd:simpleType>
    </xsd:element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7eb20398-0988-4e55-b57f-05d62d7b8281}" ma:internalName="TaxCatchAll" ma:showField="CatchAllData" ma:web="eb3f7de7-c935-4ca6-a12c-1f73773710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2e9c86-ce1e-489a-805e-7419eb99b5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720c72ca-3d5e-4053-bfc4-d5117e56c93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AECE92-6F92-480E-935A-4CC2F64AB9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F4B3B8D-5EFF-4B84-BCA5-FD7475620758}">
  <ds:schemaRefs>
    <ds:schemaRef ds:uri="http://purl.org/dc/elements/1.1/"/>
    <ds:schemaRef ds:uri="http://schemas.microsoft.com/office/2006/metadata/properties"/>
    <ds:schemaRef ds:uri="http://purl.org/dc/terms/"/>
    <ds:schemaRef ds:uri="eb3f7de7-c935-4ca6-a12c-1f73773710ec"/>
    <ds:schemaRef ds:uri="d72e9c86-ce1e-489a-805e-7419eb99b5d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sharepoint/v3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F5B21EE-931E-4994-A03A-24C7C56094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b3f7de7-c935-4ca6-a12c-1f73773710ec"/>
    <ds:schemaRef ds:uri="d72e9c86-ce1e-489a-805e-7419eb99b5d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</TotalTime>
  <Words>47</Words>
  <Application>Microsoft Office PowerPoint</Application>
  <PresentationFormat>Widescreen</PresentationFormat>
  <Paragraphs>14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Open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Ана Балева</dc:creator>
  <cp:lastModifiedBy>Netta Dafne</cp:lastModifiedBy>
  <cp:revision>7</cp:revision>
  <dcterms:created xsi:type="dcterms:W3CDTF">2025-12-19T13:39:55Z</dcterms:created>
  <dcterms:modified xsi:type="dcterms:W3CDTF">2026-05-28T05:45:53Z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0x01010037EA2DD516505C4D92B92F8677CFB68500EA22B67ECB1D76408BF7B711399C0FD4</vt:lpwstr>
  </property>
  <property fmtid="{D5CDD505-2E9C-101B-9397-08002B2CF9AE}" pid="3" name="MediaServiceImageTags">
    <vt:lpwstr/>
  </property>
</Properties>
</file>