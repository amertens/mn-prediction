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4"/>
  </p:sldMasterIdLst>
  <p:notesMasterIdLst>
    <p:notesMasterId r:id="rId31"/>
  </p:notesMasterIdLst>
  <p:sldIdLst>
    <p:sldId id="256" r:id="rId11"/>
    <p:sldId id="257" r:id="rId12"/>
    <p:sldId id="258" r:id="rId13"/>
    <p:sldId id="259" r:id="rId14"/>
    <p:sldId id="260" r:id="rId15"/>
    <p:sldId id="261" r:id="rId16"/>
    <p:sldId id="262" r:id="rId17"/>
    <p:sldId id="263" r:id="rId18"/>
    <p:sldId id="264" r:id="rId19"/>
    <p:sldId id="265"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2E3BB6D-0EAA-4316-2420-1846E43079D6}" name="Alessandra Damant" initials="AD" userId="S::alessandra.damant@wearemci.com::291fd3aa-10d7-44ec-97fe-abce176fd9e3" providerId="AD"/>
  <p188:author id="{014E4CAE-E167-60D0-ADF6-DC628FC944DC}" name="Andrew Mertens" initials="AM" userId="S::amertens@BERKELEY.EDU::40cc52c3-f288-42ba-b8ef-bfc4fa2900b9"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5348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78478" autoAdjust="0"/>
  </p:normalViewPr>
  <p:slideViewPr>
    <p:cSldViewPr snapToGrid="0">
      <p:cViewPr varScale="1">
        <p:scale>
          <a:sx n="86" d="100"/>
          <a:sy n="86" d="100"/>
        </p:scale>
        <p:origin x="96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11" Type="http://schemas.openxmlformats.org/officeDocument/2006/relationships/slide" Target="slides/slide1.xml"/><Relationship Id="rId12" Type="http://schemas.openxmlformats.org/officeDocument/2006/relationships/slide" Target="slides/slide2.xml"/><Relationship Id="rId13" Type="http://schemas.openxmlformats.org/officeDocument/2006/relationships/slide" Target="slides/slide3.xml"/><Relationship Id="rId14" Type="http://schemas.openxmlformats.org/officeDocument/2006/relationships/slide" Target="slides/slide4.xml"/><Relationship Id="rId15" Type="http://schemas.openxmlformats.org/officeDocument/2006/relationships/slide" Target="slides/slide5.xml"/><Relationship Id="rId16" Type="http://schemas.openxmlformats.org/officeDocument/2006/relationships/slide" Target="slides/slide6.xml"/><Relationship Id="rId17" Type="http://schemas.openxmlformats.org/officeDocument/2006/relationships/slide" Target="slides/slide7.xml"/><Relationship Id="rId18" Type="http://schemas.openxmlformats.org/officeDocument/2006/relationships/slide" Target="slides/slide8.xml"/><Relationship Id="rId19" Type="http://schemas.openxmlformats.org/officeDocument/2006/relationships/slide" Target="slides/slide9.xml"/><Relationship Id="rId20" Type="http://schemas.openxmlformats.org/officeDocument/2006/relationships/slide" Target="slides/slide10.xml"/><Relationship Id="rId31" Type="http://schemas.openxmlformats.org/officeDocument/2006/relationships/notesMaster" Target="notesMasters/notesMaster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 Id="rId36" Type="http://schemas.microsoft.com/office/2018/10/relationships/authors" Targe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C0068F7-1A27-4717-A728-A996FAEDE383}" type="datetimeFigureOut">
              <a:rPr lang="en-GB" smtClean="0"/>
              <a:t>14/01/2026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2A43B92-3A2D-4964-BD32-AF28A47106C9}" type="slidenum">
              <a:rPr lang="en-GB" smtClean="0"/>
              <a:t>‹#›</a:t>
            </a:fld>
            <a:endParaRPr lang="en-GB"/>
          </a:p>
        </p:txBody>
      </p:sp>
    </p:spTree>
    <p:extLst>
      <p:ext uri="{BB962C8B-B14F-4D97-AF65-F5344CB8AC3E}">
        <p14:creationId xmlns:p14="http://schemas.microsoft.com/office/powerpoint/2010/main" val="15817077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Replaces deck slide 3 (Motivation).</a:t>
            </a:r>
          </a:p>
          <a:p/>
          <a:p>
            <a:r>
              <a:t>Photo credit: Latter-day Saint Charities. GMS 2017 collaborators: University of Ghana, GroundWork, University of Wisconsin-Madison, KEMRI-Wellcome Trust; with UNICEF and Global Affairs Canada.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Replaces deck slide 4 (Aims).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Replaces deck slide 7 (Outcomes).</a:t>
            </a:r>
          </a:p>
          <a:p/>
          <a:p>
            <a:r>
              <a:t>Two targets per cell: the deficiency prevalence, and the district mean of the negated log biomarker concentration (higher means worse), which carries more signal than the dichotomy and is reported alongside it. Definitions were reconciled against the four survey reports and the 21 papers that re-analyse them on 15 September 2026 (docs/survey_report_reconciliation.md): every iron, zinc, folate and B12 national estimate now reproduces its report to the decimal, and the Gambia LGA estimates track the report at r = 0.98 to 0.99. What changed then: the iron binaries had been the surveys' iron-deficiency-ANAEMIA columns in three countries (ferritin plus haemoglobin), Malawi's iron flag came from a mis-specified local BRINDA that under-counted by half, pregnant women and children outside 6 to 59 months were being kept, and vitamin A had been converted to retinol-equivalents with each survey's own RBP-to-retinol line. That conversion is now the sensitivity analysis, not the primary: the four lines were fitted in different directions on 14 to 300 specimens, and Malawi's has R-squared 0.13, which manufactures near-zero deficiency by construction; the survey's own re-analysis (Likoswe 2021) recommends exactly BRINDA-adjusted RBP below 0.70, the estimand used here. Call it low RBP rather than vitamin A deficiency: Ghana's MRDR found 6.7 percent depleted and Malawi's none. Two caveats to say if asked. Sierra Leone's child file as supplied holds only the survey's anaemic children (532 of 654 assayed), so its child cells are anaemic-subgroup estimates until the full file arrives. Folate is not comparable across the two assays (Malawi's microbiologic assay reads higher than the Roche immunoassay), so its cross-border numbers are indicative only. Iodine (The Gambia, Sierra Leone) is analysed within country only; a one- or two-country outcome has no cross-border test.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Replaces deck slide 9 (Data assembly).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Replaces deck slide 11 (Predictor domains).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Replaces deck slide 13 (Estimators).</a:t>
            </a:r>
          </a:p>
          <a:p/>
          <a:p>
            <a:r>
              <a:t>On the same folds the index scores 0.29 against 0.29 for the rank-loss ensemble, 0.27 for random forest, 0.24 for the squared-error ensemble, 0.22 for the principal-component highly adaptive ridge and 0.19 for the elastic net (mean of cell medians over the 17 cells every arm scored, prevalence, in-fill; SL-01 to SL-05, rerun on the RR-10 set). Likely question: why capacity hurts. With 14 to 87 districts per country the index has no tuned parameter, and every estimator that tunes one shrinks toward the constant under squared-error cross-validation; the weighting slide quantifies this over a family of penalties.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Replaces deck slide 14 (Estimands).</a:t>
            </a:r>
          </a:p>
          <a:p/>
          <a:p>
            <a:r>
              <a:t>The earlier leaderboard scored transport-style models against an in-fill baseline that read the held-out district's own respondents; that comparison is withdrawn. Counts of positive cells have a fat null when a country's outcomes are correlated: with no transport at all, 16 of 22 cells are positive at the 95th percentile of the permutation null, so the mean rank correlation is the statistic compared with its null (0.08 at district level, 0.18 at regional level).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Replaces deck slide 43 (Conclusions).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Replaces deck slide 44 (What the models can and cannot do yet).</a:t>
            </a:r>
          </a:p>
          <a:p/>
          <a:p>
            <a:r>
              <a:t>The checklist agreed at the 10 September check-in, one row per question. Sources: benchmarks_v2_summary.csv (in-fill and country transport, biomarker level), transport_null_calibration.csv (95th percentile of the permutation null), nested_domain_selection.csv (fixed climate-and-soil set), index_importance_domains.csv (pooled shares of the three remotely sensed domains), anchor_and_rank.csv (AR-01, 5% fraction, climate-and-soil set, ranks from prevalence), variance_components_ceiling.csv (prevalence, admin2). Levels do not transport because the surveys differ in year, season, team and calibration (fe_transport_level_offset); the anchor supplies the level the ranking lacks. Guiding the next survey is a design result on these four surveys, not a pilot.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Replaces deck slide 45 (Next steps).</a:t>
            </a:r>
          </a:p>
          <a:p/>
          <a:p>
            <a:r>
              <a:t>Sources: docs/findings/TWO_READINGS_2026-09f.md (current abstracts), SANDBOX_LOG_2026-09.md (every experiment), PREREGISTRATION_NEW_COUNTRIES_2026-09.md, CLUSTER_LEVEL_DESIGN_2026-09.md. Every table in this deck is read at render time from results/tables.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
        <p:nvSpPr>
          <p:cNvPr id="7" name="TextBox 6">
            <a:extLst>
              <a:ext uri="{FF2B5EF4-FFF2-40B4-BE49-F238E27FC236}">
                <a16:creationId xmlns:a16="http://schemas.microsoft.com/office/drawing/2014/main" id="{DBB63C27-DD85-8476-375D-EB16F5A6ADB0}"/>
              </a:ext>
            </a:extLst>
          </p:cNvPr>
          <p:cNvSpPr txBox="1"/>
          <p:nvPr userDrawn="1"/>
        </p:nvSpPr>
        <p:spPr>
          <a:xfrm>
            <a:off x="4091354" y="6096000"/>
            <a:ext cx="3165231" cy="709246"/>
          </a:xfrm>
          <a:prstGeom prst="rect">
            <a:avLst/>
          </a:prstGeom>
          <a:solidFill>
            <a:srgbClr val="053486"/>
          </a:solidFill>
        </p:spPr>
        <p:txBody>
          <a:bodyPr wrap="square" rtlCol="0">
            <a:spAutoFit/>
          </a:bodyPr>
          <a:lstStyle/>
          <a:p>
            <a:endParaRPr lang="en-US" dirty="0"/>
          </a:p>
        </p:txBody>
      </p:sp>
    </p:spTree>
    <p:extLst>
      <p:ext uri="{BB962C8B-B14F-4D97-AF65-F5344CB8AC3E}">
        <p14:creationId xmlns:p14="http://schemas.microsoft.com/office/powerpoint/2010/main" val="38446916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59A3B38-64E1-431E-BEA9-6580D124E61C}" type="datetimeFigureOut">
              <a:rPr lang="en-GB" smtClean="0"/>
              <a:t>14/01/2026</a:t>
            </a:fld>
            <a:endParaRPr lang="en-GB"/>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7558A8C7-06A4-4826-B9D4-6AFEE114A5DB}" type="slidenum">
              <a:rPr lang="en-GB" smtClean="0"/>
              <a:t>‹#›</a:t>
            </a:fld>
            <a:endParaRPr lang="en-GB"/>
          </a:p>
        </p:txBody>
      </p:sp>
      <p:sp>
        <p:nvSpPr>
          <p:cNvPr id="7" name="TextBox 6">
            <a:extLst>
              <a:ext uri="{FF2B5EF4-FFF2-40B4-BE49-F238E27FC236}">
                <a16:creationId xmlns:a16="http://schemas.microsoft.com/office/drawing/2014/main" id="{AE1C6CC3-8F74-EDBB-C900-31606B76182B}"/>
              </a:ext>
            </a:extLst>
          </p:cNvPr>
          <p:cNvSpPr txBox="1"/>
          <p:nvPr userDrawn="1"/>
        </p:nvSpPr>
        <p:spPr>
          <a:xfrm>
            <a:off x="4091354" y="6096000"/>
            <a:ext cx="3165231" cy="709246"/>
          </a:xfrm>
          <a:prstGeom prst="rect">
            <a:avLst/>
          </a:prstGeom>
          <a:solidFill>
            <a:srgbClr val="053486"/>
          </a:solidFill>
        </p:spPr>
        <p:txBody>
          <a:bodyPr wrap="square" rtlCol="0">
            <a:spAutoFit/>
          </a:bodyPr>
          <a:lstStyle/>
          <a:p>
            <a:endParaRPr lang="en-US" dirty="0"/>
          </a:p>
        </p:txBody>
      </p:sp>
    </p:spTree>
    <p:extLst>
      <p:ext uri="{BB962C8B-B14F-4D97-AF65-F5344CB8AC3E}">
        <p14:creationId xmlns:p14="http://schemas.microsoft.com/office/powerpoint/2010/main" val="37613882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59A3B38-64E1-431E-BEA9-6580D124E61C}" type="datetimeFigureOut">
              <a:rPr lang="en-GB" smtClean="0"/>
              <a:t>14/01/2026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7558A8C7-06A4-4826-B9D4-6AFEE114A5DB}" type="slidenum">
              <a:rPr lang="en-GB" smtClean="0"/>
              <a:t>‹#›</a:t>
            </a:fld>
            <a:endParaRPr lang="en-GB"/>
          </a:p>
        </p:txBody>
      </p:sp>
      <p:sp>
        <p:nvSpPr>
          <p:cNvPr id="7" name="TextBox 6">
            <a:extLst>
              <a:ext uri="{FF2B5EF4-FFF2-40B4-BE49-F238E27FC236}">
                <a16:creationId xmlns:a16="http://schemas.microsoft.com/office/drawing/2014/main" id="{7FA9F931-E5AE-F452-FEFF-7D5D0E3B6E23}"/>
              </a:ext>
            </a:extLst>
          </p:cNvPr>
          <p:cNvSpPr txBox="1"/>
          <p:nvPr userDrawn="1"/>
        </p:nvSpPr>
        <p:spPr>
          <a:xfrm>
            <a:off x="4091354" y="6096000"/>
            <a:ext cx="3165231" cy="709246"/>
          </a:xfrm>
          <a:prstGeom prst="rect">
            <a:avLst/>
          </a:prstGeom>
          <a:solidFill>
            <a:srgbClr val="053486"/>
          </a:solidFill>
        </p:spPr>
        <p:txBody>
          <a:bodyPr wrap="square" rtlCol="0">
            <a:spAutoFit/>
          </a:bodyPr>
          <a:lstStyle/>
          <a:p>
            <a:endParaRPr lang="en-US" dirty="0"/>
          </a:p>
        </p:txBody>
      </p:sp>
    </p:spTree>
    <p:extLst>
      <p:ext uri="{BB962C8B-B14F-4D97-AF65-F5344CB8AC3E}">
        <p14:creationId xmlns:p14="http://schemas.microsoft.com/office/powerpoint/2010/main" val="34792660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59A3B38-64E1-431E-BEA9-6580D124E61C}" type="datetimeFigureOut">
              <a:rPr lang="en-GB" smtClean="0"/>
              <a:t>14/01/2026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7558A8C7-06A4-4826-B9D4-6AFEE114A5DB}" type="slidenum">
              <a:rPr lang="en-GB" smtClean="0"/>
              <a:t>‹#›</a:t>
            </a:fld>
            <a:endParaRPr lang="en-GB"/>
          </a:p>
        </p:txBody>
      </p:sp>
      <p:sp>
        <p:nvSpPr>
          <p:cNvPr id="8" name="TextBox 7">
            <a:extLst>
              <a:ext uri="{FF2B5EF4-FFF2-40B4-BE49-F238E27FC236}">
                <a16:creationId xmlns:a16="http://schemas.microsoft.com/office/drawing/2014/main" id="{6792EBD8-CFBD-9CA6-B371-55CFC4AF9CA6}"/>
              </a:ext>
            </a:extLst>
          </p:cNvPr>
          <p:cNvSpPr txBox="1"/>
          <p:nvPr userDrawn="1"/>
        </p:nvSpPr>
        <p:spPr>
          <a:xfrm>
            <a:off x="4091354" y="6096000"/>
            <a:ext cx="3165231" cy="709246"/>
          </a:xfrm>
          <a:prstGeom prst="rect">
            <a:avLst/>
          </a:prstGeom>
          <a:solidFill>
            <a:srgbClr val="053486"/>
          </a:solidFill>
        </p:spPr>
        <p:txBody>
          <a:bodyPr wrap="square" rtlCol="0">
            <a:spAutoFit/>
          </a:bodyPr>
          <a:lstStyle/>
          <a:p>
            <a:endParaRPr lang="en-US" dirty="0"/>
          </a:p>
        </p:txBody>
      </p:sp>
    </p:spTree>
    <p:extLst>
      <p:ext uri="{BB962C8B-B14F-4D97-AF65-F5344CB8AC3E}">
        <p14:creationId xmlns:p14="http://schemas.microsoft.com/office/powerpoint/2010/main" val="24177120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59A3B38-64E1-431E-BEA9-6580D124E61C}" type="datetimeFigureOut">
              <a:rPr lang="en-GB" smtClean="0"/>
              <a:t>14/01/2026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7558A8C7-06A4-4826-B9D4-6AFEE114A5DB}" type="slidenum">
              <a:rPr lang="en-GB" smtClean="0"/>
              <a:t>‹#›</a:t>
            </a:fld>
            <a:endParaRPr lang="en-GB"/>
          </a:p>
        </p:txBody>
      </p:sp>
      <p:sp>
        <p:nvSpPr>
          <p:cNvPr id="10" name="TextBox 9">
            <a:extLst>
              <a:ext uri="{FF2B5EF4-FFF2-40B4-BE49-F238E27FC236}">
                <a16:creationId xmlns:a16="http://schemas.microsoft.com/office/drawing/2014/main" id="{B9BEB713-6C4A-8232-ACDD-6FA7B502F31D}"/>
              </a:ext>
            </a:extLst>
          </p:cNvPr>
          <p:cNvSpPr txBox="1"/>
          <p:nvPr userDrawn="1"/>
        </p:nvSpPr>
        <p:spPr>
          <a:xfrm>
            <a:off x="4091354" y="6096000"/>
            <a:ext cx="3165231" cy="709246"/>
          </a:xfrm>
          <a:prstGeom prst="rect">
            <a:avLst/>
          </a:prstGeom>
          <a:solidFill>
            <a:srgbClr val="053486"/>
          </a:solidFill>
        </p:spPr>
        <p:txBody>
          <a:bodyPr wrap="square" rtlCol="0">
            <a:spAutoFit/>
          </a:bodyPr>
          <a:lstStyle/>
          <a:p>
            <a:endParaRPr lang="en-US" dirty="0"/>
          </a:p>
        </p:txBody>
      </p:sp>
    </p:spTree>
    <p:extLst>
      <p:ext uri="{BB962C8B-B14F-4D97-AF65-F5344CB8AC3E}">
        <p14:creationId xmlns:p14="http://schemas.microsoft.com/office/powerpoint/2010/main" val="30870727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59A3B38-64E1-431E-BEA9-6580D124E61C}" type="datetimeFigureOut">
              <a:rPr lang="en-GB" smtClean="0"/>
              <a:t>14/01/2026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7558A8C7-06A4-4826-B9D4-6AFEE114A5DB}" type="slidenum">
              <a:rPr lang="en-GB" smtClean="0"/>
              <a:t>‹#›</a:t>
            </a:fld>
            <a:endParaRPr lang="en-GB"/>
          </a:p>
        </p:txBody>
      </p:sp>
      <p:sp>
        <p:nvSpPr>
          <p:cNvPr id="6" name="TextBox 5">
            <a:extLst>
              <a:ext uri="{FF2B5EF4-FFF2-40B4-BE49-F238E27FC236}">
                <a16:creationId xmlns:a16="http://schemas.microsoft.com/office/drawing/2014/main" id="{EDB3E47D-A329-EFAE-BBAF-0D11D0605DC9}"/>
              </a:ext>
            </a:extLst>
          </p:cNvPr>
          <p:cNvSpPr txBox="1"/>
          <p:nvPr userDrawn="1"/>
        </p:nvSpPr>
        <p:spPr>
          <a:xfrm>
            <a:off x="4091354" y="6096000"/>
            <a:ext cx="3165231" cy="709246"/>
          </a:xfrm>
          <a:prstGeom prst="rect">
            <a:avLst/>
          </a:prstGeom>
          <a:solidFill>
            <a:srgbClr val="053486"/>
          </a:solidFill>
        </p:spPr>
        <p:txBody>
          <a:bodyPr wrap="square" rtlCol="0">
            <a:spAutoFit/>
          </a:bodyPr>
          <a:lstStyle/>
          <a:p>
            <a:endParaRPr lang="en-US" dirty="0"/>
          </a:p>
        </p:txBody>
      </p:sp>
    </p:spTree>
    <p:extLst>
      <p:ext uri="{BB962C8B-B14F-4D97-AF65-F5344CB8AC3E}">
        <p14:creationId xmlns:p14="http://schemas.microsoft.com/office/powerpoint/2010/main" val="2096321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59A3B38-64E1-431E-BEA9-6580D124E61C}" type="datetimeFigureOut">
              <a:rPr lang="en-GB" smtClean="0"/>
              <a:t>14/01/2026</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7558A8C7-06A4-4826-B9D4-6AFEE114A5DB}" type="slidenum">
              <a:rPr lang="en-GB" smtClean="0"/>
              <a:t>‹#›</a:t>
            </a:fld>
            <a:endParaRPr lang="en-GB"/>
          </a:p>
        </p:txBody>
      </p:sp>
      <p:sp>
        <p:nvSpPr>
          <p:cNvPr id="5" name="TextBox 4">
            <a:extLst>
              <a:ext uri="{FF2B5EF4-FFF2-40B4-BE49-F238E27FC236}">
                <a16:creationId xmlns:a16="http://schemas.microsoft.com/office/drawing/2014/main" id="{B1477A53-470A-CC57-81B5-B7AEF3704FA4}"/>
              </a:ext>
            </a:extLst>
          </p:cNvPr>
          <p:cNvSpPr txBox="1"/>
          <p:nvPr userDrawn="1"/>
        </p:nvSpPr>
        <p:spPr>
          <a:xfrm>
            <a:off x="4091354" y="6096000"/>
            <a:ext cx="3165231" cy="709246"/>
          </a:xfrm>
          <a:prstGeom prst="rect">
            <a:avLst/>
          </a:prstGeom>
          <a:solidFill>
            <a:srgbClr val="053486"/>
          </a:solidFill>
        </p:spPr>
        <p:txBody>
          <a:bodyPr wrap="square" rtlCol="0">
            <a:spAutoFit/>
          </a:bodyPr>
          <a:lstStyle/>
          <a:p>
            <a:endParaRPr lang="en-US" dirty="0"/>
          </a:p>
        </p:txBody>
      </p:sp>
    </p:spTree>
    <p:extLst>
      <p:ext uri="{BB962C8B-B14F-4D97-AF65-F5344CB8AC3E}">
        <p14:creationId xmlns:p14="http://schemas.microsoft.com/office/powerpoint/2010/main" val="19328423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59A3B38-64E1-431E-BEA9-6580D124E61C}" type="datetimeFigureOut">
              <a:rPr lang="en-GB" smtClean="0"/>
              <a:t>14/01/2026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7558A8C7-06A4-4826-B9D4-6AFEE114A5DB}" type="slidenum">
              <a:rPr lang="en-GB" smtClean="0"/>
              <a:t>‹#›</a:t>
            </a:fld>
            <a:endParaRPr lang="en-GB"/>
          </a:p>
        </p:txBody>
      </p:sp>
      <p:sp>
        <p:nvSpPr>
          <p:cNvPr id="8" name="TextBox 7">
            <a:extLst>
              <a:ext uri="{FF2B5EF4-FFF2-40B4-BE49-F238E27FC236}">
                <a16:creationId xmlns:a16="http://schemas.microsoft.com/office/drawing/2014/main" id="{0FEBA640-1EAD-1558-1817-2B531018C357}"/>
              </a:ext>
            </a:extLst>
          </p:cNvPr>
          <p:cNvSpPr txBox="1"/>
          <p:nvPr userDrawn="1"/>
        </p:nvSpPr>
        <p:spPr>
          <a:xfrm>
            <a:off x="4091354" y="6096000"/>
            <a:ext cx="3165231" cy="709246"/>
          </a:xfrm>
          <a:prstGeom prst="rect">
            <a:avLst/>
          </a:prstGeom>
          <a:solidFill>
            <a:srgbClr val="053486"/>
          </a:solidFill>
        </p:spPr>
        <p:txBody>
          <a:bodyPr wrap="square" rtlCol="0">
            <a:spAutoFit/>
          </a:bodyPr>
          <a:lstStyle/>
          <a:p>
            <a:endParaRPr lang="en-US" dirty="0"/>
          </a:p>
        </p:txBody>
      </p:sp>
    </p:spTree>
    <p:extLst>
      <p:ext uri="{BB962C8B-B14F-4D97-AF65-F5344CB8AC3E}">
        <p14:creationId xmlns:p14="http://schemas.microsoft.com/office/powerpoint/2010/main" val="34149407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59A3B38-64E1-431E-BEA9-6580D124E61C}" type="datetimeFigureOut">
              <a:rPr lang="en-GB" smtClean="0"/>
              <a:t>14/01/2026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7558A8C7-06A4-4826-B9D4-6AFEE114A5DB}" type="slidenum">
              <a:rPr lang="en-GB" smtClean="0"/>
              <a:t>‹#›</a:t>
            </a:fld>
            <a:endParaRPr lang="en-GB"/>
          </a:p>
        </p:txBody>
      </p:sp>
    </p:spTree>
    <p:extLst>
      <p:ext uri="{BB962C8B-B14F-4D97-AF65-F5344CB8AC3E}">
        <p14:creationId xmlns:p14="http://schemas.microsoft.com/office/powerpoint/2010/main" val="23567870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59A3B38-64E1-431E-BEA9-6580D124E61C}" type="datetimeFigureOut">
              <a:rPr lang="en-GB" smtClean="0"/>
              <a:t>14/01/2026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7558A8C7-06A4-4826-B9D4-6AFEE114A5DB}" type="slidenum">
              <a:rPr lang="en-GB" smtClean="0"/>
              <a:t>‹#›</a:t>
            </a:fld>
            <a:endParaRPr lang="en-GB"/>
          </a:p>
        </p:txBody>
      </p:sp>
      <p:sp>
        <p:nvSpPr>
          <p:cNvPr id="7" name="TextBox 6">
            <a:extLst>
              <a:ext uri="{FF2B5EF4-FFF2-40B4-BE49-F238E27FC236}">
                <a16:creationId xmlns:a16="http://schemas.microsoft.com/office/drawing/2014/main" id="{EC4FC9C3-F78F-EDAD-63EB-2DBDD24DFA28}"/>
              </a:ext>
            </a:extLst>
          </p:cNvPr>
          <p:cNvSpPr txBox="1"/>
          <p:nvPr userDrawn="1"/>
        </p:nvSpPr>
        <p:spPr>
          <a:xfrm>
            <a:off x="4091354" y="6096000"/>
            <a:ext cx="3165231" cy="709246"/>
          </a:xfrm>
          <a:prstGeom prst="rect">
            <a:avLst/>
          </a:prstGeom>
          <a:solidFill>
            <a:srgbClr val="053486"/>
          </a:solidFill>
        </p:spPr>
        <p:txBody>
          <a:bodyPr wrap="square" rtlCol="0">
            <a:spAutoFit/>
          </a:bodyPr>
          <a:lstStyle/>
          <a:p>
            <a:endParaRPr lang="en-US" dirty="0"/>
          </a:p>
        </p:txBody>
      </p:sp>
    </p:spTree>
    <p:extLst>
      <p:ext uri="{BB962C8B-B14F-4D97-AF65-F5344CB8AC3E}">
        <p14:creationId xmlns:p14="http://schemas.microsoft.com/office/powerpoint/2010/main" val="1771549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59A3B38-64E1-431E-BEA9-6580D124E61C}" type="datetimeFigureOut">
              <a:rPr lang="en-GB" smtClean="0"/>
              <a:t>14/01/2026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7558A8C7-06A4-4826-B9D4-6AFEE114A5DB}" type="slidenum">
              <a:rPr lang="en-GB" smtClean="0"/>
              <a:t>‹#›</a:t>
            </a:fld>
            <a:endParaRPr lang="en-GB"/>
          </a:p>
        </p:txBody>
      </p:sp>
      <p:sp>
        <p:nvSpPr>
          <p:cNvPr id="7" name="TextBox 6">
            <a:extLst>
              <a:ext uri="{FF2B5EF4-FFF2-40B4-BE49-F238E27FC236}">
                <a16:creationId xmlns:a16="http://schemas.microsoft.com/office/drawing/2014/main" id="{A22A0341-EDCF-508D-A7A9-B7A8B8B805AF}"/>
              </a:ext>
            </a:extLst>
          </p:cNvPr>
          <p:cNvSpPr txBox="1"/>
          <p:nvPr userDrawn="1"/>
        </p:nvSpPr>
        <p:spPr>
          <a:xfrm>
            <a:off x="4091354" y="6096000"/>
            <a:ext cx="3165231" cy="709246"/>
          </a:xfrm>
          <a:prstGeom prst="rect">
            <a:avLst/>
          </a:prstGeom>
          <a:solidFill>
            <a:srgbClr val="053486"/>
          </a:solidFill>
        </p:spPr>
        <p:txBody>
          <a:bodyPr wrap="square" rtlCol="0">
            <a:spAutoFit/>
          </a:bodyPr>
          <a:lstStyle/>
          <a:p>
            <a:endParaRPr lang="en-US" dirty="0"/>
          </a:p>
        </p:txBody>
      </p:sp>
    </p:spTree>
    <p:extLst>
      <p:ext uri="{BB962C8B-B14F-4D97-AF65-F5344CB8AC3E}">
        <p14:creationId xmlns:p14="http://schemas.microsoft.com/office/powerpoint/2010/main" val="3291448896"/>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59A3B38-64E1-431E-BEA9-6580D124E61C}" type="datetimeFigureOut">
              <a:rPr lang="en-GB" smtClean="0"/>
              <a:t>14/01/2026</a:t>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558A8C7-06A4-4826-B9D4-6AFEE114A5DB}" type="slidenum">
              <a:rPr lang="en-GB" smtClean="0"/>
              <a:t>‹#›</a:t>
            </a:fld>
            <a:endParaRPr lang="en-GB"/>
          </a:p>
        </p:txBody>
      </p:sp>
      <p:pic>
        <p:nvPicPr>
          <p:cNvPr id="7" name="Image 9">
            <a:extLst>
              <a:ext uri="{FF2B5EF4-FFF2-40B4-BE49-F238E27FC236}">
                <a16:creationId xmlns:a16="http://schemas.microsoft.com/office/drawing/2014/main" id="{C0C6644B-E5FD-0AA4-EE55-11FB45AB938A}"/>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0" y="6045200"/>
            <a:ext cx="12192000" cy="812800"/>
          </a:xfrm>
          <a:prstGeom prst="rect">
            <a:avLst/>
          </a:prstGeom>
        </p:spPr>
      </p:pic>
    </p:spTree>
    <p:extLst>
      <p:ext uri="{BB962C8B-B14F-4D97-AF65-F5344CB8AC3E}">
        <p14:creationId xmlns:p14="http://schemas.microsoft.com/office/powerpoint/2010/main" val="3175565750"/>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image" Target="../media/image13.png"/><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image" Target="../media/image17.png"/><Relationship Id="rId6" Type="http://schemas.openxmlformats.org/officeDocument/2006/relationships/image" Target="../media/image18.png"/><Relationship Id="rId7" Type="http://schemas.openxmlformats.org/officeDocument/2006/relationships/image" Target="../media/image19.png"/><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5.png"/><Relationship Id="rId3" Type="http://schemas.openxmlformats.org/officeDocument/2006/relationships/image" Target="../media/image20.png"/><Relationship Id="rId4" Type="http://schemas.openxmlformats.org/officeDocument/2006/relationships/image" Target="../media/image21.png"/><Relationship Id="rId5" Type="http://schemas.openxmlformats.org/officeDocument/2006/relationships/image" Target="../media/image22.png"/><Relationship Id="rId6" Type="http://schemas.openxmlformats.org/officeDocument/2006/relationships/image" Target="../media/image23.png"/><Relationship Id="rId7" Type="http://schemas.openxmlformats.org/officeDocument/2006/relationships/image" Target="../media/image24.png"/><Relationship Id="rId8" Type="http://schemas.openxmlformats.org/officeDocument/2006/relationships/image" Target="../media/image25.png"/><Relationship Id="rId9" Type="http://schemas.openxmlformats.org/officeDocument/2006/relationships/image" Target="../media/image26.png"/><Relationship Id="rId10"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7.png"/><Relationship Id="rId3" Type="http://schemas.openxmlformats.org/officeDocument/2006/relationships/image" Target="../media/image28.png"/><Relationship Id="rId4" Type="http://schemas.openxmlformats.org/officeDocument/2006/relationships/image" Target="../media/image29.png"/><Relationship Id="rId5" Type="http://schemas.openxmlformats.org/officeDocument/2006/relationships/image" Target="../media/image30.png"/><Relationship Id="rId6" Type="http://schemas.openxmlformats.org/officeDocument/2006/relationships/image" Target="../media/image31.png"/><Relationship Id="rId7" Type="http://schemas.openxmlformats.org/officeDocument/2006/relationships/image" Target="../media/image32.png"/><Relationship Id="rId8" Type="http://schemas.openxmlformats.org/officeDocument/2006/relationships/image" Target="../media/image33.png"/><Relationship Id="rId9" Type="http://schemas.openxmlformats.org/officeDocument/2006/relationships/image" Target="../media/image34.png"/><Relationship Id="rId10"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png"/><Relationship Id="rId3" Type="http://schemas.openxmlformats.org/officeDocument/2006/relationships/image" Target="../media/image35.png"/><Relationship Id="rId4" Type="http://schemas.openxmlformats.org/officeDocument/2006/relationships/image" Target="../media/image8.png"/><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png"/><Relationship Id="rId3" Type="http://schemas.openxmlformats.org/officeDocument/2006/relationships/image" Target="../media/image8.png"/><Relationship Id="rId4" Type="http://schemas.openxmlformats.org/officeDocument/2006/relationships/image" Target="../media/image15.png"/><Relationship Id="rId5" Type="http://schemas.openxmlformats.org/officeDocument/2006/relationships/image" Target="../media/image36.png"/><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7.png"/><Relationship Id="rId3" Type="http://schemas.openxmlformats.org/officeDocument/2006/relationships/image" Target="../media/image38.png"/><Relationship Id="rId4" Type="http://schemas.openxmlformats.org/officeDocument/2006/relationships/image" Target="../media/image39.png"/><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0.png"/><Relationship Id="rId3" Type="http://schemas.openxmlformats.org/officeDocument/2006/relationships/image" Target="../media/image41.png"/><Relationship Id="rId4" Type="http://schemas.openxmlformats.org/officeDocument/2006/relationships/image" Target="../media/image42.png"/><Relationship Id="rId5" Type="http://schemas.openxmlformats.org/officeDocument/2006/relationships/image" Target="../media/image43.png"/><Relationship Id="rId6" Type="http://schemas.openxmlformats.org/officeDocument/2006/relationships/image" Target="../media/image44.png"/><Relationship Id="rId7" Type="http://schemas.openxmlformats.org/officeDocument/2006/relationships/image" Target="../media/image45.png"/><Relationship Id="rId8" Type="http://schemas.openxmlformats.org/officeDocument/2006/relationships/image" Target="../media/image46.png"/><Relationship Id="rId9" Type="http://schemas.openxmlformats.org/officeDocument/2006/relationships/image" Target="../media/image47.png"/><Relationship Id="rId10"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Motivation</a:t>
            </a:r>
          </a:p>
        </p:txBody>
      </p:sp>
      <p:pic>
        <p:nvPicPr>
          <p:cNvPr id="3" name="Picture 2" descr="vial_blue.png"/>
          <p:cNvPicPr>
            <a:picLocks noChangeAspect="1"/>
          </p:cNvPicPr>
          <p:nvPr/>
        </p:nvPicPr>
        <p:blipFill>
          <a:blip r:embed="rId2"/>
          <a:stretch>
            <a:fillRect/>
          </a:stretch>
        </p:blipFill>
        <p:spPr>
          <a:xfrm>
            <a:off x="932688" y="1920240"/>
            <a:ext cx="822960" cy="822960"/>
          </a:xfrm>
          <a:prstGeom prst="rect">
            <a:avLst/>
          </a:prstGeom>
        </p:spPr>
      </p:pic>
      <p:sp>
        <p:nvSpPr>
          <p:cNvPr id="4" name="TextBox 3"/>
          <p:cNvSpPr txBox="1"/>
          <p:nvPr/>
        </p:nvSpPr>
        <p:spPr>
          <a:xfrm>
            <a:off x="1984248" y="1691640"/>
            <a:ext cx="4846320" cy="1280160"/>
          </a:xfrm>
          <a:prstGeom prst="rect">
            <a:avLst/>
          </a:prstGeom>
          <a:noFill/>
        </p:spPr>
        <p:txBody>
          <a:bodyPr wrap="square" anchor="ctr" lIns="45720" rIns="45720" tIns="27432" bIns="27432">
            <a:spAutoFit/>
          </a:bodyPr>
          <a:lstStyle/>
          <a:p>
            <a:pPr algn="l"/>
            <a:r>
              <a:rPr sz="2000" b="1">
                <a:solidFill>
                  <a:srgbClr val="1F4E79"/>
                </a:solidFill>
                <a:latin typeface="Calibri"/>
              </a:rPr>
              <a:t>Biomarker surveys are rare and costly</a:t>
            </a:r>
          </a:p>
          <a:p>
            <a:pPr algn="l">
              <a:spcBef>
                <a:spcPts val="300"/>
              </a:spcBef>
            </a:pPr>
            <a:r>
              <a:rPr sz="1400" b="0">
                <a:solidFill>
                  <a:srgbClr val="333333"/>
                </a:solidFill>
                <a:latin typeface="Calibri"/>
              </a:rPr>
              <a:t>About one national survey per country and decade; programmes need district estimates between them.</a:t>
            </a:r>
          </a:p>
        </p:txBody>
      </p:sp>
      <p:pic>
        <p:nvPicPr>
          <p:cNvPr id="5" name="Picture 4" descr="layer-group_blue.png"/>
          <p:cNvPicPr>
            <a:picLocks noChangeAspect="1"/>
          </p:cNvPicPr>
          <p:nvPr/>
        </p:nvPicPr>
        <p:blipFill>
          <a:blip r:embed="rId3"/>
          <a:stretch>
            <a:fillRect/>
          </a:stretch>
        </p:blipFill>
        <p:spPr>
          <a:xfrm>
            <a:off x="932688" y="3383280"/>
            <a:ext cx="925830" cy="822960"/>
          </a:xfrm>
          <a:prstGeom prst="rect">
            <a:avLst/>
          </a:prstGeom>
        </p:spPr>
      </p:pic>
      <p:sp>
        <p:nvSpPr>
          <p:cNvPr id="6" name="TextBox 5"/>
          <p:cNvSpPr txBox="1"/>
          <p:nvPr/>
        </p:nvSpPr>
        <p:spPr>
          <a:xfrm>
            <a:off x="1984248" y="3154680"/>
            <a:ext cx="4846320" cy="1280160"/>
          </a:xfrm>
          <a:prstGeom prst="rect">
            <a:avLst/>
          </a:prstGeom>
          <a:noFill/>
        </p:spPr>
        <p:txBody>
          <a:bodyPr wrap="square" anchor="ctr" lIns="45720" rIns="45720" tIns="27432" bIns="27432">
            <a:spAutoFit/>
          </a:bodyPr>
          <a:lstStyle/>
          <a:p>
            <a:pPr algn="l"/>
            <a:r>
              <a:rPr sz="2000" b="1">
                <a:solidFill>
                  <a:srgbClr val="1F4E79"/>
                </a:solidFill>
                <a:latin typeface="Calibri"/>
              </a:rPr>
              <a:t>575 district-level proxies</a:t>
            </a:r>
          </a:p>
          <a:p>
            <a:pPr algn="l">
              <a:spcBef>
                <a:spcPts val="300"/>
              </a:spcBef>
            </a:pPr>
            <a:r>
              <a:rPr sz="1400" b="0">
                <a:solidFill>
                  <a:srgbClr val="333333"/>
                </a:solidFill>
                <a:latin typeface="Calibri"/>
              </a:rPr>
              <a:t>Open gridded layers and public survey microdata, linked to four national biomarker surveys.</a:t>
            </a:r>
          </a:p>
        </p:txBody>
      </p:sp>
      <p:pic>
        <p:nvPicPr>
          <p:cNvPr id="7" name="Picture 6" descr="bullseye_blue.png"/>
          <p:cNvPicPr>
            <a:picLocks noChangeAspect="1"/>
          </p:cNvPicPr>
          <p:nvPr/>
        </p:nvPicPr>
        <p:blipFill>
          <a:blip r:embed="rId4"/>
          <a:stretch>
            <a:fillRect/>
          </a:stretch>
        </p:blipFill>
        <p:spPr>
          <a:xfrm>
            <a:off x="932688" y="4846320"/>
            <a:ext cx="822960" cy="822960"/>
          </a:xfrm>
          <a:prstGeom prst="rect">
            <a:avLst/>
          </a:prstGeom>
        </p:spPr>
      </p:pic>
      <p:sp>
        <p:nvSpPr>
          <p:cNvPr id="8" name="TextBox 7"/>
          <p:cNvSpPr txBox="1"/>
          <p:nvPr/>
        </p:nvSpPr>
        <p:spPr>
          <a:xfrm>
            <a:off x="1984248" y="4617720"/>
            <a:ext cx="4846320" cy="1280160"/>
          </a:xfrm>
          <a:prstGeom prst="rect">
            <a:avLst/>
          </a:prstGeom>
          <a:noFill/>
        </p:spPr>
        <p:txBody>
          <a:bodyPr wrap="square" anchor="ctr" lIns="45720" rIns="45720" tIns="27432" bIns="27432">
            <a:spAutoFit/>
          </a:bodyPr>
          <a:lstStyle/>
          <a:p>
            <a:pPr algn="l"/>
            <a:r>
              <a:rPr sz="2000" b="1">
                <a:solidFill>
                  <a:srgbClr val="1F4E79"/>
                </a:solidFill>
                <a:latin typeface="Calibri"/>
              </a:rPr>
              <a:t>Predict deficiency by district</a:t>
            </a:r>
          </a:p>
          <a:p>
            <a:pPr algn="l">
              <a:spcBef>
                <a:spcPts val="300"/>
              </a:spcBef>
            </a:pPr>
            <a:r>
              <a:rPr sz="1400" b="0">
                <a:solidFill>
                  <a:srgbClr val="333333"/>
                </a:solidFill>
                <a:latin typeface="Calibri"/>
              </a:rPr>
              <a:t>Iron, vitamin A, folate, B12 and zinc, in surveyed and unsurveyed districts.</a:t>
            </a:r>
          </a:p>
        </p:txBody>
      </p:sp>
      <p:pic>
        <p:nvPicPr>
          <p:cNvPr id="9" name="Picture 8" descr="old_s02_intro_photo_1.png"/>
          <p:cNvPicPr>
            <a:picLocks noChangeAspect="1"/>
          </p:cNvPicPr>
          <p:nvPr/>
        </p:nvPicPr>
        <p:blipFill>
          <a:blip r:embed="rId5"/>
          <a:stretch>
            <a:fillRect/>
          </a:stretch>
        </p:blipFill>
        <p:spPr>
          <a:xfrm>
            <a:off x="7424928" y="1783080"/>
            <a:ext cx="3931920" cy="294894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Aims</a:t>
            </a:r>
          </a:p>
        </p:txBody>
      </p:sp>
      <p:pic>
        <p:nvPicPr>
          <p:cNvPr id="3" name="Picture 2" descr="map-location-dot_blue.png"/>
          <p:cNvPicPr>
            <a:picLocks noChangeAspect="1"/>
          </p:cNvPicPr>
          <p:nvPr/>
        </p:nvPicPr>
        <p:blipFill>
          <a:blip r:embed="rId2"/>
          <a:stretch>
            <a:fillRect/>
          </a:stretch>
        </p:blipFill>
        <p:spPr>
          <a:xfrm>
            <a:off x="932688" y="1920240"/>
            <a:ext cx="925830" cy="822960"/>
          </a:xfrm>
          <a:prstGeom prst="rect">
            <a:avLst/>
          </a:prstGeom>
        </p:spPr>
      </p:pic>
      <p:sp>
        <p:nvSpPr>
          <p:cNvPr id="4" name="TextBox 3"/>
          <p:cNvSpPr txBox="1"/>
          <p:nvPr/>
        </p:nvSpPr>
        <p:spPr>
          <a:xfrm>
            <a:off x="1984248" y="1691640"/>
            <a:ext cx="9326880" cy="1280160"/>
          </a:xfrm>
          <a:prstGeom prst="rect">
            <a:avLst/>
          </a:prstGeom>
          <a:noFill/>
        </p:spPr>
        <p:txBody>
          <a:bodyPr wrap="square" anchor="ctr" lIns="45720" rIns="45720" tIns="27432" bIns="27432">
            <a:spAutoFit/>
          </a:bodyPr>
          <a:lstStyle/>
          <a:p>
            <a:pPr algn="l"/>
            <a:r>
              <a:rPr sz="2000" b="1">
                <a:solidFill>
                  <a:srgbClr val="1F4E79"/>
                </a:solidFill>
                <a:latin typeface="Calibri"/>
              </a:rPr>
              <a:t>Estimate district deficiency from proxies</a:t>
            </a:r>
          </a:p>
          <a:p>
            <a:pPr algn="l">
              <a:spcBef>
                <a:spcPts val="300"/>
              </a:spcBef>
            </a:pPr>
            <a:r>
              <a:rPr sz="1400" b="0">
                <a:solidFill>
                  <a:srgbClr val="333333"/>
                </a:solidFill>
                <a:latin typeface="Calibri"/>
              </a:rPr>
              <a:t>Validated against the biomarker surveys, district by district.</a:t>
            </a:r>
          </a:p>
        </p:txBody>
      </p:sp>
      <p:pic>
        <p:nvPicPr>
          <p:cNvPr id="5" name="Picture 4" descr="ranking-star_blue.png"/>
          <p:cNvPicPr>
            <a:picLocks noChangeAspect="1"/>
          </p:cNvPicPr>
          <p:nvPr/>
        </p:nvPicPr>
        <p:blipFill>
          <a:blip r:embed="rId3"/>
          <a:stretch>
            <a:fillRect/>
          </a:stretch>
        </p:blipFill>
        <p:spPr>
          <a:xfrm>
            <a:off x="932688" y="3383280"/>
            <a:ext cx="1028700" cy="822960"/>
          </a:xfrm>
          <a:prstGeom prst="rect">
            <a:avLst/>
          </a:prstGeom>
        </p:spPr>
      </p:pic>
      <p:sp>
        <p:nvSpPr>
          <p:cNvPr id="6" name="TextBox 5"/>
          <p:cNvSpPr txBox="1"/>
          <p:nvPr/>
        </p:nvSpPr>
        <p:spPr>
          <a:xfrm>
            <a:off x="1984248" y="3154680"/>
            <a:ext cx="9326880" cy="1280160"/>
          </a:xfrm>
          <a:prstGeom prst="rect">
            <a:avLst/>
          </a:prstGeom>
          <a:noFill/>
        </p:spPr>
        <p:txBody>
          <a:bodyPr wrap="square" anchor="ctr" lIns="45720" rIns="45720" tIns="27432" bIns="27432">
            <a:spAutoFit/>
          </a:bodyPr>
          <a:lstStyle/>
          <a:p>
            <a:pPr algn="l"/>
            <a:r>
              <a:rPr sz="2000" b="1">
                <a:solidFill>
                  <a:srgbClr val="1F4E79"/>
                </a:solidFill>
                <a:latin typeface="Calibri"/>
              </a:rPr>
              <a:t>Identify the districts at greatest risk</a:t>
            </a:r>
          </a:p>
          <a:p>
            <a:pPr algn="l">
              <a:spcBef>
                <a:spcPts val="300"/>
              </a:spcBef>
            </a:pPr>
            <a:r>
              <a:rPr sz="1400" b="0">
                <a:solidFill>
                  <a:srgbClr val="333333"/>
                </a:solidFill>
                <a:latin typeface="Calibri"/>
              </a:rPr>
              <a:t>Say whether a ranking or a level survives out of sample.</a:t>
            </a:r>
          </a:p>
        </p:txBody>
      </p:sp>
      <p:pic>
        <p:nvPicPr>
          <p:cNvPr id="7" name="Picture 6" descr="earth-africa_blue.png"/>
          <p:cNvPicPr>
            <a:picLocks noChangeAspect="1"/>
          </p:cNvPicPr>
          <p:nvPr/>
        </p:nvPicPr>
        <p:blipFill>
          <a:blip r:embed="rId4"/>
          <a:stretch>
            <a:fillRect/>
          </a:stretch>
        </p:blipFill>
        <p:spPr>
          <a:xfrm>
            <a:off x="932688" y="4846320"/>
            <a:ext cx="822960" cy="822960"/>
          </a:xfrm>
          <a:prstGeom prst="rect">
            <a:avLst/>
          </a:prstGeom>
        </p:spPr>
      </p:pic>
      <p:sp>
        <p:nvSpPr>
          <p:cNvPr id="8" name="TextBox 7"/>
          <p:cNvSpPr txBox="1"/>
          <p:nvPr/>
        </p:nvSpPr>
        <p:spPr>
          <a:xfrm>
            <a:off x="1984248" y="4617720"/>
            <a:ext cx="9326880" cy="1280160"/>
          </a:xfrm>
          <a:prstGeom prst="rect">
            <a:avLst/>
          </a:prstGeom>
          <a:noFill/>
        </p:spPr>
        <p:txBody>
          <a:bodyPr wrap="square" anchor="ctr" lIns="45720" rIns="45720" tIns="27432" bIns="27432">
            <a:spAutoFit/>
          </a:bodyPr>
          <a:lstStyle/>
          <a:p>
            <a:pPr algn="l"/>
            <a:r>
              <a:rPr sz="2000" b="1">
                <a:solidFill>
                  <a:srgbClr val="1F4E79"/>
                </a:solidFill>
                <a:latin typeface="Calibri"/>
              </a:rPr>
              <a:t>Say what a country with no survey can expect</a:t>
            </a:r>
          </a:p>
          <a:p>
            <a:pPr algn="l">
              <a:spcBef>
                <a:spcPts val="300"/>
              </a:spcBef>
            </a:pPr>
            <a:r>
              <a:rPr sz="1400" b="0">
                <a:solidFill>
                  <a:srgbClr val="333333"/>
                </a:solidFill>
                <a:latin typeface="Calibri"/>
              </a:rPr>
              <a:t>And what it must still measure.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Outcomes</a:t>
            </a:r>
          </a:p>
        </p:txBody>
      </p:sp>
      <p:sp>
        <p:nvSpPr>
          <p:cNvPr id="3" name="Rounded Rectangle 2"/>
          <p:cNvSpPr/>
          <p:nvPr/>
        </p:nvSpPr>
        <p:spPr>
          <a:xfrm>
            <a:off x="841248" y="1691640"/>
            <a:ext cx="1920240" cy="4206240"/>
          </a:xfrm>
          <a:prstGeom prst="roundRect">
            <a:avLst>
              <a:gd name="adj" fmla="val 5714"/>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 name="Picture 3" descr="droplet_blue.png"/>
          <p:cNvPicPr>
            <a:picLocks noChangeAspect="1"/>
          </p:cNvPicPr>
          <p:nvPr/>
        </p:nvPicPr>
        <p:blipFill>
          <a:blip r:embed="rId2"/>
          <a:stretch>
            <a:fillRect/>
          </a:stretch>
        </p:blipFill>
        <p:spPr>
          <a:xfrm>
            <a:off x="1458468" y="1920240"/>
            <a:ext cx="514350" cy="685800"/>
          </a:xfrm>
          <a:prstGeom prst="rect">
            <a:avLst/>
          </a:prstGeom>
        </p:spPr>
      </p:pic>
      <p:sp>
        <p:nvSpPr>
          <p:cNvPr id="5" name="TextBox 4"/>
          <p:cNvSpPr txBox="1"/>
          <p:nvPr/>
        </p:nvSpPr>
        <p:spPr>
          <a:xfrm>
            <a:off x="932688" y="2743200"/>
            <a:ext cx="1737360" cy="457200"/>
          </a:xfrm>
          <a:prstGeom prst="rect">
            <a:avLst/>
          </a:prstGeom>
          <a:noFill/>
        </p:spPr>
        <p:txBody>
          <a:bodyPr wrap="square" anchor="t" lIns="45720" rIns="45720" tIns="27432" bIns="27432">
            <a:spAutoFit/>
          </a:bodyPr>
          <a:lstStyle/>
          <a:p>
            <a:pPr algn="ctr"/>
            <a:r>
              <a:rPr sz="1800" b="1">
                <a:solidFill>
                  <a:srgbClr val="1F4E79"/>
                </a:solidFill>
                <a:latin typeface="Calibri"/>
              </a:rPr>
              <a:t>Iron</a:t>
            </a:r>
          </a:p>
        </p:txBody>
      </p:sp>
      <p:sp>
        <p:nvSpPr>
          <p:cNvPr id="6" name="TextBox 5"/>
          <p:cNvSpPr txBox="1"/>
          <p:nvPr/>
        </p:nvSpPr>
        <p:spPr>
          <a:xfrm>
            <a:off x="978408" y="3291840"/>
            <a:ext cx="1645920" cy="2514600"/>
          </a:xfrm>
          <a:prstGeom prst="rect">
            <a:avLst/>
          </a:prstGeom>
          <a:noFill/>
        </p:spPr>
        <p:txBody>
          <a:bodyPr wrap="square" anchor="t" lIns="45720" rIns="45720" tIns="27432" bIns="27432">
            <a:spAutoFit/>
          </a:bodyPr>
          <a:lstStyle/>
          <a:p>
            <a:pPr algn="l">
              <a:spcAft>
                <a:spcPts val="400"/>
              </a:spcAft>
            </a:pPr>
            <a:r>
              <a:rPr sz="1300" b="1">
                <a:solidFill>
                  <a:srgbClr val="1F4E79"/>
                </a:solidFill>
                <a:latin typeface="Calibri"/>
              </a:rPr>
              <a:t>Who:</a:t>
            </a:r>
            <a:r>
              <a:rPr sz="1300">
                <a:solidFill>
                  <a:srgbClr val="333333"/>
                </a:solidFill>
                <a:latin typeface="Calibri"/>
              </a:rPr>
              <a:t> children 6-59 mo; non-pregnant women 15-49 y</a:t>
            </a:r>
          </a:p>
          <a:p>
            <a:pPr algn="l">
              <a:spcBef>
                <a:spcPts val="300"/>
              </a:spcBef>
              <a:spcAft>
                <a:spcPts val="400"/>
              </a:spcAft>
            </a:pPr>
            <a:r>
              <a:rPr sz="1300" b="1">
                <a:solidFill>
                  <a:srgbClr val="1F4E79"/>
                </a:solidFill>
                <a:latin typeface="Calibri"/>
              </a:rPr>
              <a:t>Where:</a:t>
            </a:r>
            <a:r>
              <a:rPr sz="1300">
                <a:solidFill>
                  <a:srgbClr val="333333"/>
                </a:solidFill>
                <a:latin typeface="Calibri"/>
              </a:rPr>
              <a:t> all four countries</a:t>
            </a:r>
          </a:p>
          <a:p>
            <a:pPr algn="l">
              <a:spcBef>
                <a:spcPts val="300"/>
              </a:spcBef>
              <a:spcAft>
                <a:spcPts val="400"/>
              </a:spcAft>
            </a:pPr>
            <a:r>
              <a:rPr sz="1300" b="1">
                <a:solidFill>
                  <a:srgbClr val="1F4E79"/>
                </a:solidFill>
                <a:latin typeface="Calibri"/>
              </a:rPr>
              <a:t>Biomarker:</a:t>
            </a:r>
            <a:r>
              <a:rPr sz="1300">
                <a:solidFill>
                  <a:srgbClr val="333333"/>
                </a:solidFill>
                <a:latin typeface="Calibri"/>
              </a:rPr>
              <a:t> ferritin, inflammation-adjusted (survey flag; not IDA)</a:t>
            </a:r>
          </a:p>
          <a:p>
            <a:pPr algn="l">
              <a:spcBef>
                <a:spcPts val="300"/>
              </a:spcBef>
              <a:spcAft>
                <a:spcPts val="400"/>
              </a:spcAft>
            </a:pPr>
            <a:r>
              <a:rPr sz="1300" b="1">
                <a:solidFill>
                  <a:srgbClr val="1F4E79"/>
                </a:solidFill>
                <a:latin typeface="Calibri"/>
              </a:rPr>
              <a:t>Cut-off:</a:t>
            </a:r>
            <a:r>
              <a:rPr sz="1300">
                <a:solidFill>
                  <a:srgbClr val="333333"/>
                </a:solidFill>
                <a:latin typeface="Calibri"/>
              </a:rPr>
              <a:t> &lt; 12 / &lt; 15 ug/L</a:t>
            </a:r>
          </a:p>
        </p:txBody>
      </p:sp>
      <p:sp>
        <p:nvSpPr>
          <p:cNvPr id="7" name="Rounded Rectangle 6"/>
          <p:cNvSpPr/>
          <p:nvPr/>
        </p:nvSpPr>
        <p:spPr>
          <a:xfrm>
            <a:off x="2990088" y="1691640"/>
            <a:ext cx="1920240" cy="4206240"/>
          </a:xfrm>
          <a:prstGeom prst="roundRect">
            <a:avLst>
              <a:gd name="adj" fmla="val 5714"/>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carrot_blue.png"/>
          <p:cNvPicPr>
            <a:picLocks noChangeAspect="1"/>
          </p:cNvPicPr>
          <p:nvPr/>
        </p:nvPicPr>
        <p:blipFill>
          <a:blip r:embed="rId3"/>
          <a:stretch>
            <a:fillRect/>
          </a:stretch>
        </p:blipFill>
        <p:spPr>
          <a:xfrm>
            <a:off x="3607308" y="1920240"/>
            <a:ext cx="685800" cy="685800"/>
          </a:xfrm>
          <a:prstGeom prst="rect">
            <a:avLst/>
          </a:prstGeom>
        </p:spPr>
      </p:pic>
      <p:sp>
        <p:nvSpPr>
          <p:cNvPr id="9" name="TextBox 8"/>
          <p:cNvSpPr txBox="1"/>
          <p:nvPr/>
        </p:nvSpPr>
        <p:spPr>
          <a:xfrm>
            <a:off x="3081528" y="2743200"/>
            <a:ext cx="1737360" cy="457200"/>
          </a:xfrm>
          <a:prstGeom prst="rect">
            <a:avLst/>
          </a:prstGeom>
          <a:noFill/>
        </p:spPr>
        <p:txBody>
          <a:bodyPr wrap="square" anchor="t" lIns="45720" rIns="45720" tIns="27432" bIns="27432">
            <a:spAutoFit/>
          </a:bodyPr>
          <a:lstStyle/>
          <a:p>
            <a:pPr algn="ctr"/>
            <a:r>
              <a:rPr sz="1800" b="1">
                <a:solidFill>
                  <a:srgbClr val="1F4E79"/>
                </a:solidFill>
                <a:latin typeface="Calibri"/>
              </a:rPr>
              <a:t>Vitamin A</a:t>
            </a:r>
          </a:p>
        </p:txBody>
      </p:sp>
      <p:sp>
        <p:nvSpPr>
          <p:cNvPr id="10" name="TextBox 9"/>
          <p:cNvSpPr txBox="1"/>
          <p:nvPr/>
        </p:nvSpPr>
        <p:spPr>
          <a:xfrm>
            <a:off x="3127248" y="3291840"/>
            <a:ext cx="1645920" cy="2514600"/>
          </a:xfrm>
          <a:prstGeom prst="rect">
            <a:avLst/>
          </a:prstGeom>
          <a:noFill/>
        </p:spPr>
        <p:txBody>
          <a:bodyPr wrap="square" anchor="t" lIns="45720" rIns="45720" tIns="27432" bIns="27432">
            <a:spAutoFit/>
          </a:bodyPr>
          <a:lstStyle/>
          <a:p>
            <a:pPr algn="l">
              <a:spcAft>
                <a:spcPts val="400"/>
              </a:spcAft>
            </a:pPr>
            <a:r>
              <a:rPr sz="1300" b="1">
                <a:solidFill>
                  <a:srgbClr val="1F4E79"/>
                </a:solidFill>
                <a:latin typeface="Calibri"/>
              </a:rPr>
              <a:t>Who:</a:t>
            </a:r>
            <a:r>
              <a:rPr sz="1300">
                <a:solidFill>
                  <a:srgbClr val="333333"/>
                </a:solidFill>
                <a:latin typeface="Calibri"/>
              </a:rPr>
              <a:t> children 6-59 mo; non-pregnant women 15-49 y</a:t>
            </a:r>
          </a:p>
          <a:p>
            <a:pPr algn="l">
              <a:spcBef>
                <a:spcPts val="300"/>
              </a:spcBef>
              <a:spcAft>
                <a:spcPts val="400"/>
              </a:spcAft>
            </a:pPr>
            <a:r>
              <a:rPr sz="1300" b="1">
                <a:solidFill>
                  <a:srgbClr val="1F4E79"/>
                </a:solidFill>
                <a:latin typeface="Calibri"/>
              </a:rPr>
              <a:t>Where:</a:t>
            </a:r>
            <a:r>
              <a:rPr sz="1300">
                <a:solidFill>
                  <a:srgbClr val="333333"/>
                </a:solidFill>
                <a:latin typeface="Calibri"/>
              </a:rPr>
              <a:t> all four countries</a:t>
            </a:r>
          </a:p>
          <a:p>
            <a:pPr algn="l">
              <a:spcBef>
                <a:spcPts val="300"/>
              </a:spcBef>
              <a:spcAft>
                <a:spcPts val="400"/>
              </a:spcAft>
            </a:pPr>
            <a:r>
              <a:rPr sz="1300" b="1">
                <a:solidFill>
                  <a:srgbClr val="1F4E79"/>
                </a:solidFill>
                <a:latin typeface="Calibri"/>
              </a:rPr>
              <a:t>Biomarker:</a:t>
            </a:r>
            <a:r>
              <a:rPr sz="1300">
                <a:solidFill>
                  <a:srgbClr val="333333"/>
                </a:solidFill>
                <a:latin typeface="Calibri"/>
              </a:rPr>
              <a:t> retinol-binding protein, one BRINDA adjustment for all</a:t>
            </a:r>
          </a:p>
          <a:p>
            <a:pPr algn="l">
              <a:spcBef>
                <a:spcPts val="300"/>
              </a:spcBef>
              <a:spcAft>
                <a:spcPts val="400"/>
              </a:spcAft>
            </a:pPr>
            <a:r>
              <a:rPr sz="1300" b="1">
                <a:solidFill>
                  <a:srgbClr val="1F4E79"/>
                </a:solidFill>
                <a:latin typeface="Calibri"/>
              </a:rPr>
              <a:t>Cut-off:</a:t>
            </a:r>
            <a:r>
              <a:rPr sz="1300">
                <a:solidFill>
                  <a:srgbClr val="333333"/>
                </a:solidFill>
                <a:latin typeface="Calibri"/>
              </a:rPr>
              <a:t> &lt; 0.70 umol/L RBP</a:t>
            </a:r>
          </a:p>
        </p:txBody>
      </p:sp>
      <p:sp>
        <p:nvSpPr>
          <p:cNvPr id="11" name="Rounded Rectangle 10"/>
          <p:cNvSpPr/>
          <p:nvPr/>
        </p:nvSpPr>
        <p:spPr>
          <a:xfrm>
            <a:off x="5138928" y="1691640"/>
            <a:ext cx="1920240" cy="4206240"/>
          </a:xfrm>
          <a:prstGeom prst="roundRect">
            <a:avLst>
              <a:gd name="adj" fmla="val 5714"/>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leaf_blue.png"/>
          <p:cNvPicPr>
            <a:picLocks noChangeAspect="1"/>
          </p:cNvPicPr>
          <p:nvPr/>
        </p:nvPicPr>
        <p:blipFill>
          <a:blip r:embed="rId4"/>
          <a:stretch>
            <a:fillRect/>
          </a:stretch>
        </p:blipFill>
        <p:spPr>
          <a:xfrm>
            <a:off x="5756148" y="1920240"/>
            <a:ext cx="685800" cy="685800"/>
          </a:xfrm>
          <a:prstGeom prst="rect">
            <a:avLst/>
          </a:prstGeom>
        </p:spPr>
      </p:pic>
      <p:sp>
        <p:nvSpPr>
          <p:cNvPr id="13" name="TextBox 12"/>
          <p:cNvSpPr txBox="1"/>
          <p:nvPr/>
        </p:nvSpPr>
        <p:spPr>
          <a:xfrm>
            <a:off x="5230368" y="2743200"/>
            <a:ext cx="1737360" cy="457200"/>
          </a:xfrm>
          <a:prstGeom prst="rect">
            <a:avLst/>
          </a:prstGeom>
          <a:noFill/>
        </p:spPr>
        <p:txBody>
          <a:bodyPr wrap="square" anchor="t" lIns="45720" rIns="45720" tIns="27432" bIns="27432">
            <a:spAutoFit/>
          </a:bodyPr>
          <a:lstStyle/>
          <a:p>
            <a:pPr algn="ctr"/>
            <a:r>
              <a:rPr sz="1800" b="1">
                <a:solidFill>
                  <a:srgbClr val="1F4E79"/>
                </a:solidFill>
                <a:latin typeface="Calibri"/>
              </a:rPr>
              <a:t>Folate</a:t>
            </a:r>
          </a:p>
        </p:txBody>
      </p:sp>
      <p:sp>
        <p:nvSpPr>
          <p:cNvPr id="14" name="TextBox 13"/>
          <p:cNvSpPr txBox="1"/>
          <p:nvPr/>
        </p:nvSpPr>
        <p:spPr>
          <a:xfrm>
            <a:off x="5276088" y="3291840"/>
            <a:ext cx="1645920" cy="2514600"/>
          </a:xfrm>
          <a:prstGeom prst="rect">
            <a:avLst/>
          </a:prstGeom>
          <a:noFill/>
        </p:spPr>
        <p:txBody>
          <a:bodyPr wrap="square" anchor="t" lIns="45720" rIns="45720" tIns="27432" bIns="27432">
            <a:spAutoFit/>
          </a:bodyPr>
          <a:lstStyle/>
          <a:p>
            <a:pPr algn="l">
              <a:spcAft>
                <a:spcPts val="400"/>
              </a:spcAft>
            </a:pPr>
            <a:r>
              <a:rPr sz="1300" b="1">
                <a:solidFill>
                  <a:srgbClr val="1F4E79"/>
                </a:solidFill>
                <a:latin typeface="Calibri"/>
              </a:rPr>
              <a:t>Who:</a:t>
            </a:r>
            <a:r>
              <a:rPr sz="1300">
                <a:solidFill>
                  <a:srgbClr val="333333"/>
                </a:solidFill>
                <a:latin typeface="Calibri"/>
              </a:rPr>
              <a:t> non-pregnant women 15-49 y</a:t>
            </a:r>
          </a:p>
          <a:p>
            <a:pPr algn="l">
              <a:spcBef>
                <a:spcPts val="300"/>
              </a:spcBef>
              <a:spcAft>
                <a:spcPts val="400"/>
              </a:spcAft>
            </a:pPr>
            <a:r>
              <a:rPr sz="1300" b="1">
                <a:solidFill>
                  <a:srgbClr val="1F4E79"/>
                </a:solidFill>
                <a:latin typeface="Calibri"/>
              </a:rPr>
              <a:t>Where:</a:t>
            </a:r>
            <a:r>
              <a:rPr sz="1300">
                <a:solidFill>
                  <a:srgbClr val="333333"/>
                </a:solidFill>
                <a:latin typeface="Calibri"/>
              </a:rPr>
              <a:t> Ghana, Sierra Leone, Malawi</a:t>
            </a:r>
          </a:p>
          <a:p>
            <a:pPr algn="l">
              <a:spcBef>
                <a:spcPts val="300"/>
              </a:spcBef>
              <a:spcAft>
                <a:spcPts val="400"/>
              </a:spcAft>
            </a:pPr>
            <a:r>
              <a:rPr sz="1300" b="1">
                <a:solidFill>
                  <a:srgbClr val="1F4E79"/>
                </a:solidFill>
                <a:latin typeface="Calibri"/>
              </a:rPr>
              <a:t>Biomarker:</a:t>
            </a:r>
            <a:r>
              <a:rPr sz="1300">
                <a:solidFill>
                  <a:srgbClr val="333333"/>
                </a:solidFill>
                <a:latin typeface="Calibri"/>
              </a:rPr>
              <a:t> serum folate (immunoassay GH, SL; microbiologic MW)</a:t>
            </a:r>
          </a:p>
          <a:p>
            <a:pPr algn="l">
              <a:spcBef>
                <a:spcPts val="300"/>
              </a:spcBef>
              <a:spcAft>
                <a:spcPts val="400"/>
              </a:spcAft>
            </a:pPr>
            <a:r>
              <a:rPr sz="1300" b="1">
                <a:solidFill>
                  <a:srgbClr val="1F4E79"/>
                </a:solidFill>
                <a:latin typeface="Calibri"/>
              </a:rPr>
              <a:t>Cut-off:</a:t>
            </a:r>
            <a:r>
              <a:rPr sz="1300">
                <a:solidFill>
                  <a:srgbClr val="333333"/>
                </a:solidFill>
                <a:latin typeface="Calibri"/>
              </a:rPr>
              <a:t> &lt; 10 nmol/L</a:t>
            </a:r>
          </a:p>
        </p:txBody>
      </p:sp>
      <p:sp>
        <p:nvSpPr>
          <p:cNvPr id="15" name="Rounded Rectangle 14"/>
          <p:cNvSpPr/>
          <p:nvPr/>
        </p:nvSpPr>
        <p:spPr>
          <a:xfrm>
            <a:off x="7287768" y="1691640"/>
            <a:ext cx="1920240" cy="4206240"/>
          </a:xfrm>
          <a:prstGeom prst="roundRect">
            <a:avLst>
              <a:gd name="adj" fmla="val 5714"/>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egg_blue.png"/>
          <p:cNvPicPr>
            <a:picLocks noChangeAspect="1"/>
          </p:cNvPicPr>
          <p:nvPr/>
        </p:nvPicPr>
        <p:blipFill>
          <a:blip r:embed="rId5"/>
          <a:stretch>
            <a:fillRect/>
          </a:stretch>
        </p:blipFill>
        <p:spPr>
          <a:xfrm>
            <a:off x="7904988" y="1920240"/>
            <a:ext cx="514350" cy="685800"/>
          </a:xfrm>
          <a:prstGeom prst="rect">
            <a:avLst/>
          </a:prstGeom>
        </p:spPr>
      </p:pic>
      <p:sp>
        <p:nvSpPr>
          <p:cNvPr id="17" name="TextBox 16"/>
          <p:cNvSpPr txBox="1"/>
          <p:nvPr/>
        </p:nvSpPr>
        <p:spPr>
          <a:xfrm>
            <a:off x="7379208" y="2743200"/>
            <a:ext cx="1737360" cy="457200"/>
          </a:xfrm>
          <a:prstGeom prst="rect">
            <a:avLst/>
          </a:prstGeom>
          <a:noFill/>
        </p:spPr>
        <p:txBody>
          <a:bodyPr wrap="square" anchor="t" lIns="45720" rIns="45720" tIns="27432" bIns="27432">
            <a:spAutoFit/>
          </a:bodyPr>
          <a:lstStyle/>
          <a:p>
            <a:pPr algn="ctr"/>
            <a:r>
              <a:rPr sz="1800" b="1">
                <a:solidFill>
                  <a:srgbClr val="1F4E79"/>
                </a:solidFill>
                <a:latin typeface="Calibri"/>
              </a:rPr>
              <a:t>B12</a:t>
            </a:r>
          </a:p>
        </p:txBody>
      </p:sp>
      <p:sp>
        <p:nvSpPr>
          <p:cNvPr id="18" name="TextBox 17"/>
          <p:cNvSpPr txBox="1"/>
          <p:nvPr/>
        </p:nvSpPr>
        <p:spPr>
          <a:xfrm>
            <a:off x="7424928" y="3291840"/>
            <a:ext cx="1645920" cy="2514600"/>
          </a:xfrm>
          <a:prstGeom prst="rect">
            <a:avLst/>
          </a:prstGeom>
          <a:noFill/>
        </p:spPr>
        <p:txBody>
          <a:bodyPr wrap="square" anchor="t" lIns="45720" rIns="45720" tIns="27432" bIns="27432">
            <a:spAutoFit/>
          </a:bodyPr>
          <a:lstStyle/>
          <a:p>
            <a:pPr algn="l">
              <a:spcAft>
                <a:spcPts val="400"/>
              </a:spcAft>
            </a:pPr>
            <a:r>
              <a:rPr sz="1300" b="1">
                <a:solidFill>
                  <a:srgbClr val="1F4E79"/>
                </a:solidFill>
                <a:latin typeface="Calibri"/>
              </a:rPr>
              <a:t>Who:</a:t>
            </a:r>
            <a:r>
              <a:rPr sz="1300">
                <a:solidFill>
                  <a:srgbClr val="333333"/>
                </a:solidFill>
                <a:latin typeface="Calibri"/>
              </a:rPr>
              <a:t> non-pregnant women 15-49 y</a:t>
            </a:r>
          </a:p>
          <a:p>
            <a:pPr algn="l">
              <a:spcBef>
                <a:spcPts val="300"/>
              </a:spcBef>
              <a:spcAft>
                <a:spcPts val="400"/>
              </a:spcAft>
            </a:pPr>
            <a:r>
              <a:rPr sz="1300" b="1">
                <a:solidFill>
                  <a:srgbClr val="1F4E79"/>
                </a:solidFill>
                <a:latin typeface="Calibri"/>
              </a:rPr>
              <a:t>Where:</a:t>
            </a:r>
            <a:r>
              <a:rPr sz="1300">
                <a:solidFill>
                  <a:srgbClr val="333333"/>
                </a:solidFill>
                <a:latin typeface="Calibri"/>
              </a:rPr>
              <a:t> Ghana, Sierra Leone, Malawi</a:t>
            </a:r>
          </a:p>
          <a:p>
            <a:pPr algn="l">
              <a:spcBef>
                <a:spcPts val="300"/>
              </a:spcBef>
              <a:spcAft>
                <a:spcPts val="400"/>
              </a:spcAft>
            </a:pPr>
            <a:r>
              <a:rPr sz="1300" b="1">
                <a:solidFill>
                  <a:srgbClr val="1F4E79"/>
                </a:solidFill>
                <a:latin typeface="Calibri"/>
              </a:rPr>
              <a:t>Biomarker:</a:t>
            </a:r>
            <a:r>
              <a:rPr sz="1300">
                <a:solidFill>
                  <a:srgbClr val="333333"/>
                </a:solidFill>
                <a:latin typeface="Calibri"/>
              </a:rPr>
              <a:t> serum B12</a:t>
            </a:r>
          </a:p>
          <a:p>
            <a:pPr algn="l">
              <a:spcBef>
                <a:spcPts val="300"/>
              </a:spcBef>
              <a:spcAft>
                <a:spcPts val="400"/>
              </a:spcAft>
            </a:pPr>
            <a:r>
              <a:rPr sz="1300" b="1">
                <a:solidFill>
                  <a:srgbClr val="1F4E79"/>
                </a:solidFill>
                <a:latin typeface="Calibri"/>
              </a:rPr>
              <a:t>Cut-off:</a:t>
            </a:r>
            <a:r>
              <a:rPr sz="1300">
                <a:solidFill>
                  <a:srgbClr val="333333"/>
                </a:solidFill>
                <a:latin typeface="Calibri"/>
              </a:rPr>
              <a:t> &lt; 148-150 pmol/L</a:t>
            </a:r>
          </a:p>
        </p:txBody>
      </p:sp>
      <p:sp>
        <p:nvSpPr>
          <p:cNvPr id="19" name="Rounded Rectangle 18"/>
          <p:cNvSpPr/>
          <p:nvPr/>
        </p:nvSpPr>
        <p:spPr>
          <a:xfrm>
            <a:off x="9436608" y="1691640"/>
            <a:ext cx="1920240" cy="4206240"/>
          </a:xfrm>
          <a:prstGeom prst="roundRect">
            <a:avLst>
              <a:gd name="adj" fmla="val 5714"/>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wheat-awn_blue.png"/>
          <p:cNvPicPr>
            <a:picLocks noChangeAspect="1"/>
          </p:cNvPicPr>
          <p:nvPr/>
        </p:nvPicPr>
        <p:blipFill>
          <a:blip r:embed="rId6"/>
          <a:stretch>
            <a:fillRect/>
          </a:stretch>
        </p:blipFill>
        <p:spPr>
          <a:xfrm>
            <a:off x="10053828" y="1920240"/>
            <a:ext cx="685800" cy="685800"/>
          </a:xfrm>
          <a:prstGeom prst="rect">
            <a:avLst/>
          </a:prstGeom>
        </p:spPr>
      </p:pic>
      <p:sp>
        <p:nvSpPr>
          <p:cNvPr id="21" name="TextBox 20"/>
          <p:cNvSpPr txBox="1"/>
          <p:nvPr/>
        </p:nvSpPr>
        <p:spPr>
          <a:xfrm>
            <a:off x="9528048" y="2743200"/>
            <a:ext cx="1737360" cy="457200"/>
          </a:xfrm>
          <a:prstGeom prst="rect">
            <a:avLst/>
          </a:prstGeom>
          <a:noFill/>
        </p:spPr>
        <p:txBody>
          <a:bodyPr wrap="square" anchor="t" lIns="45720" rIns="45720" tIns="27432" bIns="27432">
            <a:spAutoFit/>
          </a:bodyPr>
          <a:lstStyle/>
          <a:p>
            <a:pPr algn="ctr"/>
            <a:r>
              <a:rPr sz="1800" b="1">
                <a:solidFill>
                  <a:srgbClr val="1F4E79"/>
                </a:solidFill>
                <a:latin typeface="Calibri"/>
              </a:rPr>
              <a:t>Zinc</a:t>
            </a:r>
          </a:p>
        </p:txBody>
      </p:sp>
      <p:sp>
        <p:nvSpPr>
          <p:cNvPr id="22" name="TextBox 21"/>
          <p:cNvSpPr txBox="1"/>
          <p:nvPr/>
        </p:nvSpPr>
        <p:spPr>
          <a:xfrm>
            <a:off x="9573768" y="3291840"/>
            <a:ext cx="1645920" cy="2514600"/>
          </a:xfrm>
          <a:prstGeom prst="rect">
            <a:avLst/>
          </a:prstGeom>
          <a:noFill/>
        </p:spPr>
        <p:txBody>
          <a:bodyPr wrap="square" anchor="t" lIns="45720" rIns="45720" tIns="27432" bIns="27432">
            <a:spAutoFit/>
          </a:bodyPr>
          <a:lstStyle/>
          <a:p>
            <a:pPr algn="l">
              <a:spcAft>
                <a:spcPts val="400"/>
              </a:spcAft>
            </a:pPr>
            <a:r>
              <a:rPr sz="1300" b="1">
                <a:solidFill>
                  <a:srgbClr val="1F4E79"/>
                </a:solidFill>
                <a:latin typeface="Calibri"/>
              </a:rPr>
              <a:t>Who:</a:t>
            </a:r>
            <a:r>
              <a:rPr sz="1300">
                <a:solidFill>
                  <a:srgbClr val="333333"/>
                </a:solidFill>
                <a:latin typeface="Calibri"/>
              </a:rPr>
              <a:t> children 6-59 mo; non-pregnant women</a:t>
            </a:r>
          </a:p>
          <a:p>
            <a:pPr algn="l">
              <a:spcBef>
                <a:spcPts val="300"/>
              </a:spcBef>
              <a:spcAft>
                <a:spcPts val="400"/>
              </a:spcAft>
            </a:pPr>
            <a:r>
              <a:rPr sz="1300" b="1">
                <a:solidFill>
                  <a:srgbClr val="1F4E79"/>
                </a:solidFill>
                <a:latin typeface="Calibri"/>
              </a:rPr>
              <a:t>Where:</a:t>
            </a:r>
            <a:r>
              <a:rPr sz="1300">
                <a:solidFill>
                  <a:srgbClr val="333333"/>
                </a:solidFill>
                <a:latin typeface="Calibri"/>
              </a:rPr>
              <a:t> Malawi only</a:t>
            </a:r>
          </a:p>
          <a:p>
            <a:pPr algn="l">
              <a:spcBef>
                <a:spcPts val="300"/>
              </a:spcBef>
              <a:spcAft>
                <a:spcPts val="400"/>
              </a:spcAft>
            </a:pPr>
            <a:r>
              <a:rPr sz="1300" b="1">
                <a:solidFill>
                  <a:srgbClr val="1F4E79"/>
                </a:solidFill>
                <a:latin typeface="Calibri"/>
              </a:rPr>
              <a:t>Biomarker:</a:t>
            </a:r>
            <a:r>
              <a:rPr sz="1300">
                <a:solidFill>
                  <a:srgbClr val="333333"/>
                </a:solidFill>
                <a:latin typeface="Calibri"/>
              </a:rPr>
              <a:t> serum zinc, IZiNCG flag, unadjusted</a:t>
            </a:r>
          </a:p>
          <a:p>
            <a:pPr algn="l">
              <a:spcBef>
                <a:spcPts val="300"/>
              </a:spcBef>
              <a:spcAft>
                <a:spcPts val="400"/>
              </a:spcAft>
            </a:pPr>
            <a:r>
              <a:rPr sz="1300" b="1">
                <a:solidFill>
                  <a:srgbClr val="1F4E79"/>
                </a:solidFill>
                <a:latin typeface="Calibri"/>
              </a:rPr>
              <a:t>Cut-off:</a:t>
            </a:r>
            <a:r>
              <a:rPr sz="1300">
                <a:solidFill>
                  <a:srgbClr val="333333"/>
                </a:solidFill>
                <a:latin typeface="Calibri"/>
              </a:rPr>
              <a:t> IZiNCG, by draw time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Data assembly</a:t>
            </a:r>
          </a:p>
        </p:txBody>
      </p:sp>
      <p:sp>
        <p:nvSpPr>
          <p:cNvPr id="3" name="Rounded Rectangle 2"/>
          <p:cNvSpPr/>
          <p:nvPr/>
        </p:nvSpPr>
        <p:spPr>
          <a:xfrm>
            <a:off x="841248" y="1691640"/>
            <a:ext cx="3169920" cy="1965960"/>
          </a:xfrm>
          <a:prstGeom prst="roundRect">
            <a:avLst>
              <a:gd name="adj" fmla="val 5581"/>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 name="Picture 3" descr="vials_blue.png"/>
          <p:cNvPicPr>
            <a:picLocks noChangeAspect="1"/>
          </p:cNvPicPr>
          <p:nvPr/>
        </p:nvPicPr>
        <p:blipFill>
          <a:blip r:embed="rId2"/>
          <a:stretch>
            <a:fillRect/>
          </a:stretch>
        </p:blipFill>
        <p:spPr>
          <a:xfrm>
            <a:off x="1024128" y="1856232"/>
            <a:ext cx="566928" cy="566928"/>
          </a:xfrm>
          <a:prstGeom prst="rect">
            <a:avLst/>
          </a:prstGeom>
        </p:spPr>
      </p:pic>
      <p:sp>
        <p:nvSpPr>
          <p:cNvPr id="5" name="TextBox 4"/>
          <p:cNvSpPr txBox="1"/>
          <p:nvPr/>
        </p:nvSpPr>
        <p:spPr>
          <a:xfrm>
            <a:off x="1709928" y="1801368"/>
            <a:ext cx="2209800" cy="685800"/>
          </a:xfrm>
          <a:prstGeom prst="rect">
            <a:avLst/>
          </a:prstGeom>
          <a:noFill/>
        </p:spPr>
        <p:txBody>
          <a:bodyPr wrap="square" anchor="ctr" lIns="45720" rIns="45720" tIns="27432" bIns="27432">
            <a:spAutoFit/>
          </a:bodyPr>
          <a:lstStyle/>
          <a:p>
            <a:pPr algn="l"/>
            <a:r>
              <a:rPr sz="1700" b="1">
                <a:solidFill>
                  <a:srgbClr val="1F4E79"/>
                </a:solidFill>
                <a:latin typeface="Calibri"/>
              </a:rPr>
              <a:t>1. Clean and merge the surveys</a:t>
            </a:r>
          </a:p>
        </p:txBody>
      </p:sp>
      <p:sp>
        <p:nvSpPr>
          <p:cNvPr id="6" name="TextBox 5"/>
          <p:cNvSpPr txBox="1"/>
          <p:nvPr/>
        </p:nvSpPr>
        <p:spPr>
          <a:xfrm>
            <a:off x="1024128" y="2532888"/>
            <a:ext cx="2849880" cy="1051560"/>
          </a:xfrm>
          <a:prstGeom prst="rect">
            <a:avLst/>
          </a:prstGeom>
          <a:noFill/>
        </p:spPr>
        <p:txBody>
          <a:bodyPr wrap="square" anchor="t" lIns="45720" rIns="45720" tIns="27432" bIns="27432">
            <a:spAutoFit/>
          </a:bodyPr>
          <a:lstStyle/>
          <a:p>
            <a:pPr algn="l"/>
            <a:r>
              <a:rPr sz="1300" b="0">
                <a:solidFill>
                  <a:srgbClr val="333333"/>
                </a:solidFill>
                <a:latin typeface="Calibri"/>
              </a:rPr>
              <a:t>Four national micronutrient surveys; one uniform outcome definition per nutrient across countries.</a:t>
            </a:r>
          </a:p>
        </p:txBody>
      </p:sp>
      <p:sp>
        <p:nvSpPr>
          <p:cNvPr id="7" name="Chevron 6"/>
          <p:cNvSpPr/>
          <p:nvPr/>
        </p:nvSpPr>
        <p:spPr>
          <a:xfrm>
            <a:off x="4139184" y="2528316"/>
            <a:ext cx="256032" cy="292608"/>
          </a:xfrm>
          <a:prstGeom prst="chevron">
            <a:avLst/>
          </a:prstGeom>
          <a:solidFill>
            <a:srgbClr val="6BAE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514088" y="1691640"/>
            <a:ext cx="3169920" cy="1965960"/>
          </a:xfrm>
          <a:prstGeom prst="roundRect">
            <a:avLst>
              <a:gd name="adj" fmla="val 5581"/>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satellite_blue.png"/>
          <p:cNvPicPr>
            <a:picLocks noChangeAspect="1"/>
          </p:cNvPicPr>
          <p:nvPr/>
        </p:nvPicPr>
        <p:blipFill>
          <a:blip r:embed="rId3"/>
          <a:stretch>
            <a:fillRect/>
          </a:stretch>
        </p:blipFill>
        <p:spPr>
          <a:xfrm>
            <a:off x="4696968" y="1856232"/>
            <a:ext cx="566928" cy="566928"/>
          </a:xfrm>
          <a:prstGeom prst="rect">
            <a:avLst/>
          </a:prstGeom>
        </p:spPr>
      </p:pic>
      <p:sp>
        <p:nvSpPr>
          <p:cNvPr id="10" name="TextBox 9"/>
          <p:cNvSpPr txBox="1"/>
          <p:nvPr/>
        </p:nvSpPr>
        <p:spPr>
          <a:xfrm>
            <a:off x="5382768" y="1801368"/>
            <a:ext cx="2209800" cy="685800"/>
          </a:xfrm>
          <a:prstGeom prst="rect">
            <a:avLst/>
          </a:prstGeom>
          <a:noFill/>
        </p:spPr>
        <p:txBody>
          <a:bodyPr wrap="square" anchor="ctr" lIns="45720" rIns="45720" tIns="27432" bIns="27432">
            <a:spAutoFit/>
          </a:bodyPr>
          <a:lstStyle/>
          <a:p>
            <a:pPr algn="l"/>
            <a:r>
              <a:rPr sz="1700" b="1">
                <a:solidFill>
                  <a:srgbClr val="1F4E79"/>
                </a:solidFill>
                <a:latin typeface="Calibri"/>
              </a:rPr>
              <a:t>2. Link gridded layers</a:t>
            </a:r>
          </a:p>
        </p:txBody>
      </p:sp>
      <p:sp>
        <p:nvSpPr>
          <p:cNvPr id="11" name="TextBox 10"/>
          <p:cNvSpPr txBox="1"/>
          <p:nvPr/>
        </p:nvSpPr>
        <p:spPr>
          <a:xfrm>
            <a:off x="4696968" y="2532888"/>
            <a:ext cx="2849880" cy="1051560"/>
          </a:xfrm>
          <a:prstGeom prst="rect">
            <a:avLst/>
          </a:prstGeom>
          <a:noFill/>
        </p:spPr>
        <p:txBody>
          <a:bodyPr wrap="square" anchor="t" lIns="45720" rIns="45720" tIns="27432" bIns="27432">
            <a:spAutoFit/>
          </a:bodyPr>
          <a:lstStyle/>
          <a:p>
            <a:pPr algn="l"/>
            <a:r>
              <a:rPr sz="1300" b="0">
                <a:solidFill>
                  <a:srgbClr val="333333"/>
                </a:solidFill>
                <a:latin typeface="Calibri"/>
              </a:rPr>
              <a:t>Zonal means to districts; buffer means to survey clusters.</a:t>
            </a:r>
          </a:p>
        </p:txBody>
      </p:sp>
      <p:sp>
        <p:nvSpPr>
          <p:cNvPr id="12" name="Chevron 11"/>
          <p:cNvSpPr/>
          <p:nvPr/>
        </p:nvSpPr>
        <p:spPr>
          <a:xfrm>
            <a:off x="7812024" y="2528316"/>
            <a:ext cx="256032" cy="292608"/>
          </a:xfrm>
          <a:prstGeom prst="chevron">
            <a:avLst/>
          </a:prstGeom>
          <a:solidFill>
            <a:srgbClr val="6BAE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186928" y="1691640"/>
            <a:ext cx="3169920" cy="1965960"/>
          </a:xfrm>
          <a:prstGeom prst="roundRect">
            <a:avLst>
              <a:gd name="adj" fmla="val 5581"/>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people-roof_blue.png"/>
          <p:cNvPicPr>
            <a:picLocks noChangeAspect="1"/>
          </p:cNvPicPr>
          <p:nvPr/>
        </p:nvPicPr>
        <p:blipFill>
          <a:blip r:embed="rId4"/>
          <a:stretch>
            <a:fillRect/>
          </a:stretch>
        </p:blipFill>
        <p:spPr>
          <a:xfrm>
            <a:off x="8369808" y="1856232"/>
            <a:ext cx="708660" cy="566928"/>
          </a:xfrm>
          <a:prstGeom prst="rect">
            <a:avLst/>
          </a:prstGeom>
        </p:spPr>
      </p:pic>
      <p:sp>
        <p:nvSpPr>
          <p:cNvPr id="15" name="TextBox 14"/>
          <p:cNvSpPr txBox="1"/>
          <p:nvPr/>
        </p:nvSpPr>
        <p:spPr>
          <a:xfrm>
            <a:off x="9055608" y="1801368"/>
            <a:ext cx="2209800" cy="685800"/>
          </a:xfrm>
          <a:prstGeom prst="rect">
            <a:avLst/>
          </a:prstGeom>
          <a:noFill/>
        </p:spPr>
        <p:txBody>
          <a:bodyPr wrap="square" anchor="ctr" lIns="45720" rIns="45720" tIns="27432" bIns="27432">
            <a:spAutoFit/>
          </a:bodyPr>
          <a:lstStyle/>
          <a:p>
            <a:pPr algn="l"/>
            <a:r>
              <a:rPr sz="1700" b="1">
                <a:solidFill>
                  <a:srgbClr val="1F4E79"/>
                </a:solidFill>
                <a:latin typeface="Calibri"/>
              </a:rPr>
              <a:t>3. Aggregate household surveys</a:t>
            </a:r>
          </a:p>
        </p:txBody>
      </p:sp>
      <p:sp>
        <p:nvSpPr>
          <p:cNvPr id="16" name="TextBox 15"/>
          <p:cNvSpPr txBox="1"/>
          <p:nvPr/>
        </p:nvSpPr>
        <p:spPr>
          <a:xfrm>
            <a:off x="8369808" y="2532888"/>
            <a:ext cx="2849880" cy="1051560"/>
          </a:xfrm>
          <a:prstGeom prst="rect">
            <a:avLst/>
          </a:prstGeom>
          <a:noFill/>
        </p:spPr>
        <p:txBody>
          <a:bodyPr wrap="square" anchor="t" lIns="45720" rIns="45720" tIns="27432" bIns="27432">
            <a:spAutoFit/>
          </a:bodyPr>
          <a:lstStyle/>
          <a:p>
            <a:pPr algn="l"/>
            <a:r>
              <a:rPr sz="1300" b="0">
                <a:solidFill>
                  <a:srgbClr val="333333"/>
                </a:solidFill>
                <a:latin typeface="Calibri"/>
              </a:rPr>
              <a:t>DHS through a cluster-level spatial model; MICS and budget surveys from their public microdata.</a:t>
            </a:r>
          </a:p>
        </p:txBody>
      </p:sp>
      <p:sp>
        <p:nvSpPr>
          <p:cNvPr id="17" name="Rounded Rectangle 16"/>
          <p:cNvSpPr/>
          <p:nvPr/>
        </p:nvSpPr>
        <p:spPr>
          <a:xfrm>
            <a:off x="841248" y="3931920"/>
            <a:ext cx="3169920" cy="1965960"/>
          </a:xfrm>
          <a:prstGeom prst="roundRect">
            <a:avLst>
              <a:gd name="adj" fmla="val 5581"/>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calendar-check_blue.png"/>
          <p:cNvPicPr>
            <a:picLocks noChangeAspect="1"/>
          </p:cNvPicPr>
          <p:nvPr/>
        </p:nvPicPr>
        <p:blipFill>
          <a:blip r:embed="rId5"/>
          <a:stretch>
            <a:fillRect/>
          </a:stretch>
        </p:blipFill>
        <p:spPr>
          <a:xfrm>
            <a:off x="1024128" y="4096512"/>
            <a:ext cx="496062" cy="566928"/>
          </a:xfrm>
          <a:prstGeom prst="rect">
            <a:avLst/>
          </a:prstGeom>
        </p:spPr>
      </p:pic>
      <p:sp>
        <p:nvSpPr>
          <p:cNvPr id="19" name="TextBox 18"/>
          <p:cNvSpPr txBox="1"/>
          <p:nvPr/>
        </p:nvSpPr>
        <p:spPr>
          <a:xfrm>
            <a:off x="1709928" y="4041648"/>
            <a:ext cx="2209800" cy="685800"/>
          </a:xfrm>
          <a:prstGeom prst="rect">
            <a:avLst/>
          </a:prstGeom>
          <a:noFill/>
        </p:spPr>
        <p:txBody>
          <a:bodyPr wrap="square" anchor="ctr" lIns="45720" rIns="45720" tIns="27432" bIns="27432">
            <a:spAutoFit/>
          </a:bodyPr>
          <a:lstStyle/>
          <a:p>
            <a:pPr algn="l"/>
            <a:r>
              <a:rPr sz="1700" b="1">
                <a:solidFill>
                  <a:srgbClr val="1F4E79"/>
                </a:solidFill>
                <a:latin typeface="Calibri"/>
              </a:rPr>
              <a:t>4. Align in time</a:t>
            </a:r>
          </a:p>
        </p:txBody>
      </p:sp>
      <p:sp>
        <p:nvSpPr>
          <p:cNvPr id="20" name="TextBox 19"/>
          <p:cNvSpPr txBox="1"/>
          <p:nvPr/>
        </p:nvSpPr>
        <p:spPr>
          <a:xfrm>
            <a:off x="1024128" y="4773168"/>
            <a:ext cx="2849880" cy="1051560"/>
          </a:xfrm>
          <a:prstGeom prst="rect">
            <a:avLst/>
          </a:prstGeom>
          <a:noFill/>
        </p:spPr>
        <p:txBody>
          <a:bodyPr wrap="square" anchor="t" lIns="45720" rIns="45720" tIns="27432" bIns="27432">
            <a:spAutoFit/>
          </a:bodyPr>
          <a:lstStyle/>
          <a:p>
            <a:pPr algn="l"/>
            <a:r>
              <a:rPr sz="1300" b="0">
                <a:solidFill>
                  <a:srgbClr val="333333"/>
                </a:solidFill>
                <a:latin typeface="Calibri"/>
              </a:rPr>
              <a:t>Every layer at the survey year or the nearest; climate as a 30-year normal plus the survey-year anomaly.</a:t>
            </a:r>
          </a:p>
        </p:txBody>
      </p:sp>
      <p:sp>
        <p:nvSpPr>
          <p:cNvPr id="21" name="Chevron 20"/>
          <p:cNvSpPr/>
          <p:nvPr/>
        </p:nvSpPr>
        <p:spPr>
          <a:xfrm>
            <a:off x="4139184" y="4768596"/>
            <a:ext cx="256032" cy="292608"/>
          </a:xfrm>
          <a:prstGeom prst="chevron">
            <a:avLst/>
          </a:prstGeom>
          <a:solidFill>
            <a:srgbClr val="6BAE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4514088" y="3931920"/>
            <a:ext cx="3169920" cy="1965960"/>
          </a:xfrm>
          <a:prstGeom prst="roundRect">
            <a:avLst>
              <a:gd name="adj" fmla="val 5581"/>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3" name="Picture 22" descr="lock-open_blue.png"/>
          <p:cNvPicPr>
            <a:picLocks noChangeAspect="1"/>
          </p:cNvPicPr>
          <p:nvPr/>
        </p:nvPicPr>
        <p:blipFill>
          <a:blip r:embed="rId6"/>
          <a:stretch>
            <a:fillRect/>
          </a:stretch>
        </p:blipFill>
        <p:spPr>
          <a:xfrm>
            <a:off x="4696968" y="4096512"/>
            <a:ext cx="637794" cy="566928"/>
          </a:xfrm>
          <a:prstGeom prst="rect">
            <a:avLst/>
          </a:prstGeom>
        </p:spPr>
      </p:pic>
      <p:sp>
        <p:nvSpPr>
          <p:cNvPr id="24" name="TextBox 23"/>
          <p:cNvSpPr txBox="1"/>
          <p:nvPr/>
        </p:nvSpPr>
        <p:spPr>
          <a:xfrm>
            <a:off x="5382768" y="4041648"/>
            <a:ext cx="2209800" cy="685800"/>
          </a:xfrm>
          <a:prstGeom prst="rect">
            <a:avLst/>
          </a:prstGeom>
          <a:noFill/>
        </p:spPr>
        <p:txBody>
          <a:bodyPr wrap="square" anchor="ctr" lIns="45720" rIns="45720" tIns="27432" bIns="27432">
            <a:spAutoFit/>
          </a:bodyPr>
          <a:lstStyle/>
          <a:p>
            <a:pPr algn="l"/>
            <a:r>
              <a:rPr sz="1700" b="1">
                <a:solidFill>
                  <a:srgbClr val="1F4E79"/>
                </a:solidFill>
                <a:latin typeface="Calibri"/>
              </a:rPr>
              <a:t>5. Open data only</a:t>
            </a:r>
          </a:p>
        </p:txBody>
      </p:sp>
      <p:sp>
        <p:nvSpPr>
          <p:cNvPr id="25" name="TextBox 24"/>
          <p:cNvSpPr txBox="1"/>
          <p:nvPr/>
        </p:nvSpPr>
        <p:spPr>
          <a:xfrm>
            <a:off x="4696968" y="4773168"/>
            <a:ext cx="2849880" cy="1051560"/>
          </a:xfrm>
          <a:prstGeom prst="rect">
            <a:avLst/>
          </a:prstGeom>
          <a:noFill/>
        </p:spPr>
        <p:txBody>
          <a:bodyPr wrap="square" anchor="t" lIns="45720" rIns="45720" tIns="27432" bIns="27432">
            <a:spAutoFit/>
          </a:bodyPr>
          <a:lstStyle/>
          <a:p>
            <a:pPr algn="l"/>
            <a:r>
              <a:rPr sz="1300" b="0">
                <a:solidFill>
                  <a:srgbClr val="333333"/>
                </a:solidFill>
                <a:latin typeface="Calibri"/>
              </a:rPr>
              <a:t>Headline models use open layers and public microdata; the DHS aggregates are a sensitivity arm.</a:t>
            </a:r>
          </a:p>
        </p:txBody>
      </p:sp>
      <p:sp>
        <p:nvSpPr>
          <p:cNvPr id="26" name="Chevron 25"/>
          <p:cNvSpPr/>
          <p:nvPr/>
        </p:nvSpPr>
        <p:spPr>
          <a:xfrm>
            <a:off x="7812024" y="4768596"/>
            <a:ext cx="256032" cy="292608"/>
          </a:xfrm>
          <a:prstGeom prst="chevron">
            <a:avLst/>
          </a:prstGeom>
          <a:solidFill>
            <a:srgbClr val="6BAE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8186928" y="3931920"/>
            <a:ext cx="3169920" cy="1965960"/>
          </a:xfrm>
          <a:prstGeom prst="roundRect">
            <a:avLst>
              <a:gd name="adj" fmla="val 5581"/>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sliders_blue.png"/>
          <p:cNvPicPr>
            <a:picLocks noChangeAspect="1"/>
          </p:cNvPicPr>
          <p:nvPr/>
        </p:nvPicPr>
        <p:blipFill>
          <a:blip r:embed="rId7"/>
          <a:stretch>
            <a:fillRect/>
          </a:stretch>
        </p:blipFill>
        <p:spPr>
          <a:xfrm>
            <a:off x="8369808" y="4096512"/>
            <a:ext cx="566928" cy="566928"/>
          </a:xfrm>
          <a:prstGeom prst="rect">
            <a:avLst/>
          </a:prstGeom>
        </p:spPr>
      </p:pic>
      <p:sp>
        <p:nvSpPr>
          <p:cNvPr id="29" name="TextBox 28"/>
          <p:cNvSpPr txBox="1"/>
          <p:nvPr/>
        </p:nvSpPr>
        <p:spPr>
          <a:xfrm>
            <a:off x="9055608" y="4041648"/>
            <a:ext cx="2209800" cy="685800"/>
          </a:xfrm>
          <a:prstGeom prst="rect">
            <a:avLst/>
          </a:prstGeom>
          <a:noFill/>
        </p:spPr>
        <p:txBody>
          <a:bodyPr wrap="square" anchor="ctr" lIns="45720" rIns="45720" tIns="27432" bIns="27432">
            <a:spAutoFit/>
          </a:bodyPr>
          <a:lstStyle/>
          <a:p>
            <a:pPr algn="l"/>
            <a:r>
              <a:rPr sz="1700" b="1">
                <a:solidFill>
                  <a:srgbClr val="1F4E79"/>
                </a:solidFill>
                <a:latin typeface="Calibri"/>
              </a:rPr>
              <a:t>6. Rank-normalise and reduce</a:t>
            </a:r>
          </a:p>
        </p:txBody>
      </p:sp>
      <p:sp>
        <p:nvSpPr>
          <p:cNvPr id="30" name="TextBox 29"/>
          <p:cNvSpPr txBox="1"/>
          <p:nvPr/>
        </p:nvSpPr>
        <p:spPr>
          <a:xfrm>
            <a:off x="8369808" y="4773168"/>
            <a:ext cx="2849880" cy="1051560"/>
          </a:xfrm>
          <a:prstGeom prst="rect">
            <a:avLst/>
          </a:prstGeom>
          <a:noFill/>
        </p:spPr>
        <p:txBody>
          <a:bodyPr wrap="square" anchor="t" lIns="45720" rIns="45720" tIns="27432" bIns="27432">
            <a:spAutoFit/>
          </a:bodyPr>
          <a:lstStyle/>
          <a:p>
            <a:pPr algn="l"/>
            <a:r>
              <a:rPr sz="1300" b="0">
                <a:solidFill>
                  <a:srgbClr val="333333"/>
                </a:solidFill>
                <a:latin typeface="Calibri"/>
              </a:rPr>
              <a:t>Within country, so level offsets cannot act as signal; 29 domains to their leading components, nothing selected on the outcome.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Predictor domains</a:t>
            </a:r>
          </a:p>
        </p:txBody>
      </p:sp>
      <p:sp>
        <p:nvSpPr>
          <p:cNvPr id="3" name="Rounded Rectangle 2"/>
          <p:cNvSpPr/>
          <p:nvPr/>
        </p:nvSpPr>
        <p:spPr>
          <a:xfrm>
            <a:off x="841248" y="1691640"/>
            <a:ext cx="5097780" cy="948690"/>
          </a:xfrm>
          <a:prstGeom prst="roundRect">
            <a:avLst>
              <a:gd name="adj" fmla="val 9638"/>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 name="Picture 3" descr="satellite_blue.png"/>
          <p:cNvPicPr>
            <a:picLocks noChangeAspect="1"/>
          </p:cNvPicPr>
          <p:nvPr/>
        </p:nvPicPr>
        <p:blipFill>
          <a:blip r:embed="rId2"/>
          <a:stretch>
            <a:fillRect/>
          </a:stretch>
        </p:blipFill>
        <p:spPr>
          <a:xfrm>
            <a:off x="978408" y="1891665"/>
            <a:ext cx="548640" cy="548640"/>
          </a:xfrm>
          <a:prstGeom prst="rect">
            <a:avLst/>
          </a:prstGeom>
        </p:spPr>
      </p:pic>
      <p:sp>
        <p:nvSpPr>
          <p:cNvPr id="5" name="TextBox 4"/>
          <p:cNvSpPr txBox="1"/>
          <p:nvPr/>
        </p:nvSpPr>
        <p:spPr>
          <a:xfrm>
            <a:off x="1664208" y="1691640"/>
            <a:ext cx="4183380" cy="948690"/>
          </a:xfrm>
          <a:prstGeom prst="rect">
            <a:avLst/>
          </a:prstGeom>
          <a:noFill/>
        </p:spPr>
        <p:txBody>
          <a:bodyPr wrap="square" anchor="ctr" lIns="45720" rIns="45720" tIns="27432" bIns="27432">
            <a:spAutoFit/>
          </a:bodyPr>
          <a:lstStyle/>
          <a:p>
            <a:pPr algn="l"/>
            <a:r>
              <a:rPr sz="1500" b="1">
                <a:solidFill>
                  <a:srgbClr val="1F4E79"/>
                </a:solidFill>
                <a:latin typeface="Calibri"/>
              </a:rPr>
              <a:t>Environment from satellite  (144)</a:t>
            </a:r>
          </a:p>
          <a:p>
            <a:pPr algn="l">
              <a:spcBef>
                <a:spcPts val="300"/>
              </a:spcBef>
            </a:pPr>
            <a:r>
              <a:rPr sz="1150" b="0">
                <a:solidFill>
                  <a:srgbClr val="333333"/>
                </a:solidFill>
                <a:latin typeface="Calibri"/>
              </a:rPr>
              <a:t>AlphaEarth embedding; temperature, rainfall, drought index; NDVI and productivity; distance to water and coast</a:t>
            </a:r>
          </a:p>
        </p:txBody>
      </p:sp>
      <p:sp>
        <p:nvSpPr>
          <p:cNvPr id="6" name="Rounded Rectangle 5"/>
          <p:cNvSpPr/>
          <p:nvPr/>
        </p:nvSpPr>
        <p:spPr>
          <a:xfrm>
            <a:off x="6259068" y="1691640"/>
            <a:ext cx="5097780" cy="948690"/>
          </a:xfrm>
          <a:prstGeom prst="roundRect">
            <a:avLst>
              <a:gd name="adj" fmla="val 9638"/>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7" name="Picture 6" descr="mound_blue.png"/>
          <p:cNvPicPr>
            <a:picLocks noChangeAspect="1"/>
          </p:cNvPicPr>
          <p:nvPr/>
        </p:nvPicPr>
        <p:blipFill>
          <a:blip r:embed="rId3"/>
          <a:stretch>
            <a:fillRect/>
          </a:stretch>
        </p:blipFill>
        <p:spPr>
          <a:xfrm>
            <a:off x="6396228" y="1891665"/>
            <a:ext cx="617220" cy="548640"/>
          </a:xfrm>
          <a:prstGeom prst="rect">
            <a:avLst/>
          </a:prstGeom>
        </p:spPr>
      </p:pic>
      <p:sp>
        <p:nvSpPr>
          <p:cNvPr id="8" name="TextBox 7"/>
          <p:cNvSpPr txBox="1"/>
          <p:nvPr/>
        </p:nvSpPr>
        <p:spPr>
          <a:xfrm>
            <a:off x="7082028" y="1691640"/>
            <a:ext cx="4183380" cy="948690"/>
          </a:xfrm>
          <a:prstGeom prst="rect">
            <a:avLst/>
          </a:prstGeom>
          <a:noFill/>
        </p:spPr>
        <p:txBody>
          <a:bodyPr wrap="square" anchor="ctr" lIns="45720" rIns="45720" tIns="27432" bIns="27432">
            <a:spAutoFit/>
          </a:bodyPr>
          <a:lstStyle/>
          <a:p>
            <a:pPr algn="l"/>
            <a:r>
              <a:rPr sz="1500" b="1">
                <a:solidFill>
                  <a:srgbClr val="1F4E79"/>
                </a:solidFill>
                <a:latin typeface="Calibri"/>
              </a:rPr>
              <a:t>Soil  (45)</a:t>
            </a:r>
          </a:p>
          <a:p>
            <a:pPr algn="l">
              <a:spcBef>
                <a:spcPts val="300"/>
              </a:spcBef>
            </a:pPr>
            <a:r>
              <a:rPr sz="1150" b="0">
                <a:solidFill>
                  <a:srgbClr val="333333"/>
                </a:solidFill>
                <a:latin typeface="Calibri"/>
              </a:rPr>
              <a:t>SoilGrids and iSDA: pH, organic carbon, texture, nutrient availability</a:t>
            </a:r>
          </a:p>
        </p:txBody>
      </p:sp>
      <p:sp>
        <p:nvSpPr>
          <p:cNvPr id="9" name="Rounded Rectangle 8"/>
          <p:cNvSpPr/>
          <p:nvPr/>
        </p:nvSpPr>
        <p:spPr>
          <a:xfrm>
            <a:off x="841248" y="2777490"/>
            <a:ext cx="5097780" cy="948690"/>
          </a:xfrm>
          <a:prstGeom prst="roundRect">
            <a:avLst>
              <a:gd name="adj" fmla="val 9638"/>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tractor_blue.png"/>
          <p:cNvPicPr>
            <a:picLocks noChangeAspect="1"/>
          </p:cNvPicPr>
          <p:nvPr/>
        </p:nvPicPr>
        <p:blipFill>
          <a:blip r:embed="rId4"/>
          <a:stretch>
            <a:fillRect/>
          </a:stretch>
        </p:blipFill>
        <p:spPr>
          <a:xfrm>
            <a:off x="978408" y="2977515"/>
            <a:ext cx="685800" cy="548640"/>
          </a:xfrm>
          <a:prstGeom prst="rect">
            <a:avLst/>
          </a:prstGeom>
        </p:spPr>
      </p:pic>
      <p:sp>
        <p:nvSpPr>
          <p:cNvPr id="11" name="TextBox 10"/>
          <p:cNvSpPr txBox="1"/>
          <p:nvPr/>
        </p:nvSpPr>
        <p:spPr>
          <a:xfrm>
            <a:off x="1664208" y="2777490"/>
            <a:ext cx="4183380" cy="948690"/>
          </a:xfrm>
          <a:prstGeom prst="rect">
            <a:avLst/>
          </a:prstGeom>
          <a:noFill/>
        </p:spPr>
        <p:txBody>
          <a:bodyPr wrap="square" anchor="ctr" lIns="45720" rIns="45720" tIns="27432" bIns="27432">
            <a:spAutoFit/>
          </a:bodyPr>
          <a:lstStyle/>
          <a:p>
            <a:pPr algn="l"/>
            <a:r>
              <a:rPr sz="1500" b="1">
                <a:solidFill>
                  <a:srgbClr val="1F4E79"/>
                </a:solidFill>
                <a:latin typeface="Calibri"/>
              </a:rPr>
              <a:t>Agriculture and livestock  (37)</a:t>
            </a:r>
          </a:p>
          <a:p>
            <a:pPr algn="l">
              <a:spcBef>
                <a:spcPts val="300"/>
              </a:spcBef>
            </a:pPr>
            <a:r>
              <a:rPr sz="1150" b="0">
                <a:solidFill>
                  <a:srgbClr val="333333"/>
                </a:solidFill>
                <a:latin typeface="Calibri"/>
              </a:rPr>
              <a:t>MapSPAM crop mix and cropland; cattle, goat and poultry density</a:t>
            </a:r>
          </a:p>
        </p:txBody>
      </p:sp>
      <p:sp>
        <p:nvSpPr>
          <p:cNvPr id="12" name="Rounded Rectangle 11"/>
          <p:cNvSpPr/>
          <p:nvPr/>
        </p:nvSpPr>
        <p:spPr>
          <a:xfrm>
            <a:off x="6259068" y="2777490"/>
            <a:ext cx="5097780" cy="948690"/>
          </a:xfrm>
          <a:prstGeom prst="roundRect">
            <a:avLst>
              <a:gd name="adj" fmla="val 9638"/>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3" name="Picture 12" descr="basket-shopping_blue.png"/>
          <p:cNvPicPr>
            <a:picLocks noChangeAspect="1"/>
          </p:cNvPicPr>
          <p:nvPr/>
        </p:nvPicPr>
        <p:blipFill>
          <a:blip r:embed="rId5"/>
          <a:stretch>
            <a:fillRect/>
          </a:stretch>
        </p:blipFill>
        <p:spPr>
          <a:xfrm>
            <a:off x="6396228" y="2977515"/>
            <a:ext cx="617220" cy="548640"/>
          </a:xfrm>
          <a:prstGeom prst="rect">
            <a:avLst/>
          </a:prstGeom>
        </p:spPr>
      </p:pic>
      <p:sp>
        <p:nvSpPr>
          <p:cNvPr id="14" name="TextBox 13"/>
          <p:cNvSpPr txBox="1"/>
          <p:nvPr/>
        </p:nvSpPr>
        <p:spPr>
          <a:xfrm>
            <a:off x="7082028" y="2777490"/>
            <a:ext cx="4183380" cy="948690"/>
          </a:xfrm>
          <a:prstGeom prst="rect">
            <a:avLst/>
          </a:prstGeom>
          <a:noFill/>
        </p:spPr>
        <p:txBody>
          <a:bodyPr wrap="square" anchor="ctr" lIns="45720" rIns="45720" tIns="27432" bIns="27432">
            <a:spAutoFit/>
          </a:bodyPr>
          <a:lstStyle/>
          <a:p>
            <a:pPr algn="l"/>
            <a:r>
              <a:rPr sz="1500" b="1">
                <a:solidFill>
                  <a:srgbClr val="1F4E79"/>
                </a:solidFill>
                <a:latin typeface="Calibri"/>
              </a:rPr>
              <a:t>Food, prices and diet  (83)</a:t>
            </a:r>
          </a:p>
          <a:p>
            <a:pPr algn="l">
              <a:spcBef>
                <a:spcPts val="300"/>
              </a:spcBef>
            </a:pPr>
            <a:r>
              <a:rPr sz="1150" b="0">
                <a:solidFill>
                  <a:srgbClr val="333333"/>
                </a:solidFill>
                <a:latin typeface="Calibri"/>
              </a:rPr>
              <a:t>WFP and World Bank prices; budget-survey diets; fortification and supplementation coverage</a:t>
            </a:r>
          </a:p>
        </p:txBody>
      </p:sp>
      <p:sp>
        <p:nvSpPr>
          <p:cNvPr id="15" name="Rounded Rectangle 14"/>
          <p:cNvSpPr/>
          <p:nvPr/>
        </p:nvSpPr>
        <p:spPr>
          <a:xfrm>
            <a:off x="841248" y="3863340"/>
            <a:ext cx="5097780" cy="948690"/>
          </a:xfrm>
          <a:prstGeom prst="roundRect">
            <a:avLst>
              <a:gd name="adj" fmla="val 9638"/>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virus_blue.png"/>
          <p:cNvPicPr>
            <a:picLocks noChangeAspect="1"/>
          </p:cNvPicPr>
          <p:nvPr/>
        </p:nvPicPr>
        <p:blipFill>
          <a:blip r:embed="rId6"/>
          <a:stretch>
            <a:fillRect/>
          </a:stretch>
        </p:blipFill>
        <p:spPr>
          <a:xfrm>
            <a:off x="978408" y="4063365"/>
            <a:ext cx="548640" cy="548640"/>
          </a:xfrm>
          <a:prstGeom prst="rect">
            <a:avLst/>
          </a:prstGeom>
        </p:spPr>
      </p:pic>
      <p:sp>
        <p:nvSpPr>
          <p:cNvPr id="17" name="TextBox 16"/>
          <p:cNvSpPr txBox="1"/>
          <p:nvPr/>
        </p:nvSpPr>
        <p:spPr>
          <a:xfrm>
            <a:off x="1664208" y="3863340"/>
            <a:ext cx="4183380" cy="948690"/>
          </a:xfrm>
          <a:prstGeom prst="rect">
            <a:avLst/>
          </a:prstGeom>
          <a:noFill/>
        </p:spPr>
        <p:txBody>
          <a:bodyPr wrap="square" anchor="ctr" lIns="45720" rIns="45720" tIns="27432" bIns="27432">
            <a:spAutoFit/>
          </a:bodyPr>
          <a:lstStyle/>
          <a:p>
            <a:pPr algn="l"/>
            <a:r>
              <a:rPr sz="1500" b="1">
                <a:solidFill>
                  <a:srgbClr val="1F4E79"/>
                </a:solidFill>
                <a:latin typeface="Calibri"/>
              </a:rPr>
              <a:t>Infection and disease  (84)</a:t>
            </a:r>
          </a:p>
          <a:p>
            <a:pPr algn="l">
              <a:spcBef>
                <a:spcPts val="300"/>
              </a:spcBef>
            </a:pPr>
            <a:r>
              <a:rPr sz="1150" b="0">
                <a:solidFill>
                  <a:srgbClr val="333333"/>
                </a:solidFill>
                <a:latin typeface="Calibri"/>
              </a:rPr>
              <a:t>Malaria, helminths, inflammation; child morbidity and mortality; immunisation coverage</a:t>
            </a:r>
          </a:p>
        </p:txBody>
      </p:sp>
      <p:sp>
        <p:nvSpPr>
          <p:cNvPr id="18" name="Rounded Rectangle 17"/>
          <p:cNvSpPr/>
          <p:nvPr/>
        </p:nvSpPr>
        <p:spPr>
          <a:xfrm>
            <a:off x="6259068" y="3863340"/>
            <a:ext cx="5097780" cy="948690"/>
          </a:xfrm>
          <a:prstGeom prst="roundRect">
            <a:avLst>
              <a:gd name="adj" fmla="val 9638"/>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Picture 18" descr="child_blue.png"/>
          <p:cNvPicPr>
            <a:picLocks noChangeAspect="1"/>
          </p:cNvPicPr>
          <p:nvPr/>
        </p:nvPicPr>
        <p:blipFill>
          <a:blip r:embed="rId7"/>
          <a:stretch>
            <a:fillRect/>
          </a:stretch>
        </p:blipFill>
        <p:spPr>
          <a:xfrm>
            <a:off x="6396228" y="4063365"/>
            <a:ext cx="342900" cy="548640"/>
          </a:xfrm>
          <a:prstGeom prst="rect">
            <a:avLst/>
          </a:prstGeom>
        </p:spPr>
      </p:pic>
      <p:sp>
        <p:nvSpPr>
          <p:cNvPr id="20" name="TextBox 19"/>
          <p:cNvSpPr txBox="1"/>
          <p:nvPr/>
        </p:nvSpPr>
        <p:spPr>
          <a:xfrm>
            <a:off x="7082028" y="3863340"/>
            <a:ext cx="4183380" cy="948690"/>
          </a:xfrm>
          <a:prstGeom prst="rect">
            <a:avLst/>
          </a:prstGeom>
          <a:noFill/>
        </p:spPr>
        <p:txBody>
          <a:bodyPr wrap="square" anchor="ctr" lIns="45720" rIns="45720" tIns="27432" bIns="27432">
            <a:spAutoFit/>
          </a:bodyPr>
          <a:lstStyle/>
          <a:p>
            <a:pPr algn="l"/>
            <a:r>
              <a:rPr sz="1500" b="1">
                <a:solidFill>
                  <a:srgbClr val="1F4E79"/>
                </a:solidFill>
                <a:latin typeface="Calibri"/>
              </a:rPr>
              <a:t>Nutrition status  (64)</a:t>
            </a:r>
          </a:p>
          <a:p>
            <a:pPr algn="l">
              <a:spcBef>
                <a:spcPts val="300"/>
              </a:spcBef>
            </a:pPr>
            <a:r>
              <a:rPr sz="1150" b="0">
                <a:solidFill>
                  <a:srgbClr val="333333"/>
                </a:solidFill>
                <a:latin typeface="Calibri"/>
              </a:rPr>
              <a:t>Stunting and wasting; anaemia surfaces; infant and young child feeding</a:t>
            </a:r>
          </a:p>
        </p:txBody>
      </p:sp>
      <p:sp>
        <p:nvSpPr>
          <p:cNvPr id="21" name="Rounded Rectangle 20"/>
          <p:cNvSpPr/>
          <p:nvPr/>
        </p:nvSpPr>
        <p:spPr>
          <a:xfrm>
            <a:off x="841248" y="4949190"/>
            <a:ext cx="5097780" cy="948690"/>
          </a:xfrm>
          <a:prstGeom prst="roundRect">
            <a:avLst>
              <a:gd name="adj" fmla="val 9638"/>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house-chimney_blue.png"/>
          <p:cNvPicPr>
            <a:picLocks noChangeAspect="1"/>
          </p:cNvPicPr>
          <p:nvPr/>
        </p:nvPicPr>
        <p:blipFill>
          <a:blip r:embed="rId8"/>
          <a:stretch>
            <a:fillRect/>
          </a:stretch>
        </p:blipFill>
        <p:spPr>
          <a:xfrm>
            <a:off x="978408" y="5149215"/>
            <a:ext cx="617220" cy="548640"/>
          </a:xfrm>
          <a:prstGeom prst="rect">
            <a:avLst/>
          </a:prstGeom>
        </p:spPr>
      </p:pic>
      <p:sp>
        <p:nvSpPr>
          <p:cNvPr id="23" name="TextBox 22"/>
          <p:cNvSpPr txBox="1"/>
          <p:nvPr/>
        </p:nvSpPr>
        <p:spPr>
          <a:xfrm>
            <a:off x="1664208" y="4949190"/>
            <a:ext cx="4183380" cy="948690"/>
          </a:xfrm>
          <a:prstGeom prst="rect">
            <a:avLst/>
          </a:prstGeom>
          <a:noFill/>
        </p:spPr>
        <p:txBody>
          <a:bodyPr wrap="square" anchor="ctr" lIns="45720" rIns="45720" tIns="27432" bIns="27432">
            <a:spAutoFit/>
          </a:bodyPr>
          <a:lstStyle/>
          <a:p>
            <a:pPr algn="l"/>
            <a:r>
              <a:rPr sz="1500" b="1">
                <a:solidFill>
                  <a:srgbClr val="1F4E79"/>
                </a:solidFill>
                <a:latin typeface="Calibri"/>
              </a:rPr>
              <a:t>Households and economy  (90)</a:t>
            </a:r>
          </a:p>
          <a:p>
            <a:pPr algn="l">
              <a:spcBef>
                <a:spcPts val="300"/>
              </a:spcBef>
            </a:pPr>
            <a:r>
              <a:rPr sz="1150" b="0">
                <a:solidFill>
                  <a:srgbClr val="333333"/>
                </a:solidFill>
                <a:latin typeface="Calibri"/>
              </a:rPr>
              <a:t>Assets, schooling, employment; water and sanitation; fertility; access to care</a:t>
            </a:r>
          </a:p>
        </p:txBody>
      </p:sp>
      <p:sp>
        <p:nvSpPr>
          <p:cNvPr id="24" name="Rounded Rectangle 23"/>
          <p:cNvSpPr/>
          <p:nvPr/>
        </p:nvSpPr>
        <p:spPr>
          <a:xfrm>
            <a:off x="6259068" y="4949190"/>
            <a:ext cx="5097780" cy="948690"/>
          </a:xfrm>
          <a:prstGeom prst="roundRect">
            <a:avLst>
              <a:gd name="adj" fmla="val 9638"/>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Picture 24" descr="city_blue.png"/>
          <p:cNvPicPr>
            <a:picLocks noChangeAspect="1"/>
          </p:cNvPicPr>
          <p:nvPr/>
        </p:nvPicPr>
        <p:blipFill>
          <a:blip r:embed="rId9"/>
          <a:stretch>
            <a:fillRect/>
          </a:stretch>
        </p:blipFill>
        <p:spPr>
          <a:xfrm>
            <a:off x="6396228" y="5149215"/>
            <a:ext cx="685800" cy="548640"/>
          </a:xfrm>
          <a:prstGeom prst="rect">
            <a:avLst/>
          </a:prstGeom>
        </p:spPr>
      </p:pic>
      <p:sp>
        <p:nvSpPr>
          <p:cNvPr id="26" name="TextBox 25"/>
          <p:cNvSpPr txBox="1"/>
          <p:nvPr/>
        </p:nvSpPr>
        <p:spPr>
          <a:xfrm>
            <a:off x="7082028" y="4949190"/>
            <a:ext cx="4183380" cy="948690"/>
          </a:xfrm>
          <a:prstGeom prst="rect">
            <a:avLst/>
          </a:prstGeom>
          <a:noFill/>
        </p:spPr>
        <p:txBody>
          <a:bodyPr wrap="square" anchor="ctr" lIns="45720" rIns="45720" tIns="27432" bIns="27432">
            <a:spAutoFit/>
          </a:bodyPr>
          <a:lstStyle/>
          <a:p>
            <a:pPr algn="l"/>
            <a:r>
              <a:rPr sz="1500" b="1">
                <a:solidFill>
                  <a:srgbClr val="1F4E79"/>
                </a:solidFill>
                <a:latin typeface="Calibri"/>
              </a:rPr>
              <a:t>Settlement, access and security  (28)</a:t>
            </a:r>
          </a:p>
          <a:p>
            <a:pPr algn="l">
              <a:spcBef>
                <a:spcPts val="300"/>
              </a:spcBef>
            </a:pPr>
            <a:r>
              <a:rPr sz="1150" b="0">
                <a:solidFill>
                  <a:srgbClr val="333333"/>
                </a:solidFill>
                <a:latin typeface="Calibri"/>
              </a:rPr>
              <a:t>Night lights, population density, travel time, built-up area; conflict events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Estimators</a:t>
            </a:r>
          </a:p>
        </p:txBody>
      </p:sp>
      <p:sp>
        <p:nvSpPr>
          <p:cNvPr id="3" name="Rounded Rectangle 2"/>
          <p:cNvSpPr/>
          <p:nvPr/>
        </p:nvSpPr>
        <p:spPr>
          <a:xfrm>
            <a:off x="841248" y="1691640"/>
            <a:ext cx="5029200" cy="4206240"/>
          </a:xfrm>
          <a:prstGeom prst="roundRect">
            <a:avLst>
              <a:gd name="adj" fmla="val 2608"/>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ounded Rectangle 3"/>
          <p:cNvSpPr/>
          <p:nvPr/>
        </p:nvSpPr>
        <p:spPr>
          <a:xfrm>
            <a:off x="841248" y="1691640"/>
            <a:ext cx="5029200" cy="640080"/>
          </a:xfrm>
          <a:prstGeom prst="roundRect">
            <a:avLst>
              <a:gd name="adj" fmla="val 17142"/>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 name="Picture 4" descr="clock-rotate-left_white.png"/>
          <p:cNvPicPr>
            <a:picLocks noChangeAspect="1"/>
          </p:cNvPicPr>
          <p:nvPr/>
        </p:nvPicPr>
        <p:blipFill>
          <a:blip r:embed="rId2"/>
          <a:stretch>
            <a:fillRect/>
          </a:stretch>
        </p:blipFill>
        <p:spPr>
          <a:xfrm>
            <a:off x="1024128" y="1810512"/>
            <a:ext cx="402336" cy="402336"/>
          </a:xfrm>
          <a:prstGeom prst="rect">
            <a:avLst/>
          </a:prstGeom>
        </p:spPr>
      </p:pic>
      <p:sp>
        <p:nvSpPr>
          <p:cNvPr id="6" name="TextBox 5"/>
          <p:cNvSpPr txBox="1"/>
          <p:nvPr/>
        </p:nvSpPr>
        <p:spPr>
          <a:xfrm>
            <a:off x="1527048" y="1691640"/>
            <a:ext cx="4251960" cy="640080"/>
          </a:xfrm>
          <a:prstGeom prst="rect">
            <a:avLst/>
          </a:prstGeom>
          <a:noFill/>
        </p:spPr>
        <p:txBody>
          <a:bodyPr wrap="square" anchor="ctr" lIns="45720" rIns="45720" tIns="27432" bIns="27432">
            <a:spAutoFit/>
          </a:bodyPr>
          <a:lstStyle/>
          <a:p>
            <a:pPr algn="l"/>
            <a:r>
              <a:rPr sz="1800" b="1">
                <a:solidFill>
                  <a:srgbClr val="FFFFFF"/>
                </a:solidFill>
                <a:latin typeface="Calibri"/>
              </a:rPr>
              <a:t>January: spatial ensemble learning</a:t>
            </a:r>
          </a:p>
        </p:txBody>
      </p:sp>
      <p:pic>
        <p:nvPicPr>
          <p:cNvPr id="7" name="Picture 6" descr="diagram-project_blue.png"/>
          <p:cNvPicPr>
            <a:picLocks noChangeAspect="1"/>
          </p:cNvPicPr>
          <p:nvPr/>
        </p:nvPicPr>
        <p:blipFill>
          <a:blip r:embed="rId3"/>
          <a:stretch>
            <a:fillRect/>
          </a:stretch>
        </p:blipFill>
        <p:spPr>
          <a:xfrm>
            <a:off x="1069848" y="2735580"/>
            <a:ext cx="565785" cy="502920"/>
          </a:xfrm>
          <a:prstGeom prst="rect">
            <a:avLst/>
          </a:prstGeom>
        </p:spPr>
      </p:pic>
      <p:sp>
        <p:nvSpPr>
          <p:cNvPr id="8" name="TextBox 7"/>
          <p:cNvSpPr txBox="1"/>
          <p:nvPr/>
        </p:nvSpPr>
        <p:spPr>
          <a:xfrm>
            <a:off x="1755648" y="2423160"/>
            <a:ext cx="3977640" cy="1127760"/>
          </a:xfrm>
          <a:prstGeom prst="rect">
            <a:avLst/>
          </a:prstGeom>
          <a:noFill/>
        </p:spPr>
        <p:txBody>
          <a:bodyPr wrap="square" anchor="ctr" lIns="45720" rIns="45720" tIns="27432" bIns="27432">
            <a:spAutoFit/>
          </a:bodyPr>
          <a:lstStyle/>
          <a:p>
            <a:pPr algn="l"/>
            <a:r>
              <a:rPr sz="1500" b="1">
                <a:solidFill>
                  <a:srgbClr val="1F4E79"/>
                </a:solidFill>
                <a:latin typeface="Calibri"/>
              </a:rPr>
              <a:t>SuperLearner library</a:t>
            </a:r>
          </a:p>
          <a:p>
            <a:pPr algn="l">
              <a:spcBef>
                <a:spcPts val="300"/>
              </a:spcBef>
            </a:pPr>
            <a:r>
              <a:rPr sz="1200" b="0">
                <a:solidFill>
                  <a:srgbClr val="333333"/>
                </a:solidFill>
                <a:latin typeface="Calibri"/>
              </a:rPr>
              <a:t>Weighted by cross-validated performance.</a:t>
            </a:r>
          </a:p>
        </p:txBody>
      </p:sp>
      <p:pic>
        <p:nvPicPr>
          <p:cNvPr id="9" name="Picture 8" descr="filter_blue.png"/>
          <p:cNvPicPr>
            <a:picLocks noChangeAspect="1"/>
          </p:cNvPicPr>
          <p:nvPr/>
        </p:nvPicPr>
        <p:blipFill>
          <a:blip r:embed="rId4"/>
          <a:stretch>
            <a:fillRect/>
          </a:stretch>
        </p:blipFill>
        <p:spPr>
          <a:xfrm>
            <a:off x="1069848" y="3863340"/>
            <a:ext cx="502920" cy="502920"/>
          </a:xfrm>
          <a:prstGeom prst="rect">
            <a:avLst/>
          </a:prstGeom>
        </p:spPr>
      </p:pic>
      <p:sp>
        <p:nvSpPr>
          <p:cNvPr id="10" name="TextBox 9"/>
          <p:cNvSpPr txBox="1"/>
          <p:nvPr/>
        </p:nvSpPr>
        <p:spPr>
          <a:xfrm>
            <a:off x="1755648" y="3550920"/>
            <a:ext cx="3977640" cy="1127760"/>
          </a:xfrm>
          <a:prstGeom prst="rect">
            <a:avLst/>
          </a:prstGeom>
          <a:noFill/>
        </p:spPr>
        <p:txBody>
          <a:bodyPr wrap="square" anchor="ctr" lIns="45720" rIns="45720" tIns="27432" bIns="27432">
            <a:spAutoFit/>
          </a:bodyPr>
          <a:lstStyle/>
          <a:p>
            <a:pPr algn="l"/>
            <a:r>
              <a:rPr sz="1500" b="1">
                <a:solidFill>
                  <a:srgbClr val="1F4E79"/>
                </a:solidFill>
                <a:latin typeface="Calibri"/>
              </a:rPr>
              <a:t>Prescreening</a:t>
            </a:r>
          </a:p>
          <a:p>
            <a:pPr algn="l">
              <a:spcBef>
                <a:spcPts val="300"/>
              </a:spcBef>
            </a:pPr>
            <a:r>
              <a:rPr sz="1200" b="0">
                <a:solidFill>
                  <a:srgbClr val="333333"/>
                </a:solidFill>
                <a:latin typeface="Calibri"/>
              </a:rPr>
              <a:t>From thousands of predictors to 10 to 100 per model.</a:t>
            </a:r>
          </a:p>
        </p:txBody>
      </p:sp>
      <p:pic>
        <p:nvPicPr>
          <p:cNvPr id="11" name="Picture 10" descr="chart-bar_blue.png"/>
          <p:cNvPicPr>
            <a:picLocks noChangeAspect="1"/>
          </p:cNvPicPr>
          <p:nvPr/>
        </p:nvPicPr>
        <p:blipFill>
          <a:blip r:embed="rId5"/>
          <a:stretch>
            <a:fillRect/>
          </a:stretch>
        </p:blipFill>
        <p:spPr>
          <a:xfrm>
            <a:off x="1069848" y="4991100"/>
            <a:ext cx="502920" cy="502920"/>
          </a:xfrm>
          <a:prstGeom prst="rect">
            <a:avLst/>
          </a:prstGeom>
        </p:spPr>
      </p:pic>
      <p:sp>
        <p:nvSpPr>
          <p:cNvPr id="12" name="TextBox 11"/>
          <p:cNvSpPr txBox="1"/>
          <p:nvPr/>
        </p:nvSpPr>
        <p:spPr>
          <a:xfrm>
            <a:off x="1755648" y="4678680"/>
            <a:ext cx="3977640" cy="1127760"/>
          </a:xfrm>
          <a:prstGeom prst="rect">
            <a:avLst/>
          </a:prstGeom>
          <a:noFill/>
        </p:spPr>
        <p:txBody>
          <a:bodyPr wrap="square" anchor="ctr" lIns="45720" rIns="45720" tIns="27432" bIns="27432">
            <a:spAutoFit/>
          </a:bodyPr>
          <a:lstStyle/>
          <a:p>
            <a:pPr algn="l"/>
            <a:r>
              <a:rPr sz="1500" b="1">
                <a:solidFill>
                  <a:srgbClr val="1F4E79"/>
                </a:solidFill>
                <a:latin typeface="Calibri"/>
              </a:rPr>
              <a:t>Importance</a:t>
            </a:r>
          </a:p>
          <a:p>
            <a:pPr algn="l">
              <a:spcBef>
                <a:spcPts val="300"/>
              </a:spcBef>
            </a:pPr>
            <a:r>
              <a:rPr sz="1200" b="0">
                <a:solidFill>
                  <a:srgbClr val="333333"/>
                </a:solidFill>
                <a:latin typeface="Calibri"/>
              </a:rPr>
              <a:t>Change in mean squared error.</a:t>
            </a:r>
          </a:p>
        </p:txBody>
      </p:sp>
      <p:sp>
        <p:nvSpPr>
          <p:cNvPr id="13" name="Rounded Rectangle 12"/>
          <p:cNvSpPr/>
          <p:nvPr/>
        </p:nvSpPr>
        <p:spPr>
          <a:xfrm>
            <a:off x="6327648" y="1691640"/>
            <a:ext cx="5029200" cy="4206240"/>
          </a:xfrm>
          <a:prstGeom prst="roundRect">
            <a:avLst>
              <a:gd name="adj" fmla="val 2608"/>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ounded Rectangle 13"/>
          <p:cNvSpPr/>
          <p:nvPr/>
        </p:nvSpPr>
        <p:spPr>
          <a:xfrm>
            <a:off x="6327648" y="1691640"/>
            <a:ext cx="5029200" cy="640080"/>
          </a:xfrm>
          <a:prstGeom prst="roundRect">
            <a:avLst>
              <a:gd name="adj" fmla="val 17142"/>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Picture 14" descr="check-double_white.png"/>
          <p:cNvPicPr>
            <a:picLocks noChangeAspect="1"/>
          </p:cNvPicPr>
          <p:nvPr/>
        </p:nvPicPr>
        <p:blipFill>
          <a:blip r:embed="rId6"/>
          <a:stretch>
            <a:fillRect/>
          </a:stretch>
        </p:blipFill>
        <p:spPr>
          <a:xfrm>
            <a:off x="6510528" y="1810512"/>
            <a:ext cx="352044" cy="402336"/>
          </a:xfrm>
          <a:prstGeom prst="rect">
            <a:avLst/>
          </a:prstGeom>
        </p:spPr>
      </p:pic>
      <p:sp>
        <p:nvSpPr>
          <p:cNvPr id="16" name="TextBox 15"/>
          <p:cNvSpPr txBox="1"/>
          <p:nvPr/>
        </p:nvSpPr>
        <p:spPr>
          <a:xfrm>
            <a:off x="7013448" y="1691640"/>
            <a:ext cx="4251960" cy="640080"/>
          </a:xfrm>
          <a:prstGeom prst="rect">
            <a:avLst/>
          </a:prstGeom>
          <a:noFill/>
        </p:spPr>
        <p:txBody>
          <a:bodyPr wrap="square" anchor="ctr" lIns="45720" rIns="45720" tIns="27432" bIns="27432">
            <a:spAutoFit/>
          </a:bodyPr>
          <a:lstStyle/>
          <a:p>
            <a:pPr algn="l"/>
            <a:r>
              <a:rPr sz="1800" b="1">
                <a:solidFill>
                  <a:srgbClr val="FFFFFF"/>
                </a:solidFill>
                <a:latin typeface="Calibri"/>
              </a:rPr>
              <a:t>Current: the corrected protocol</a:t>
            </a:r>
          </a:p>
        </p:txBody>
      </p:sp>
      <p:pic>
        <p:nvPicPr>
          <p:cNvPr id="17" name="Picture 16" descr="scale-balanced_blue.png"/>
          <p:cNvPicPr>
            <a:picLocks noChangeAspect="1"/>
          </p:cNvPicPr>
          <p:nvPr/>
        </p:nvPicPr>
        <p:blipFill>
          <a:blip r:embed="rId7"/>
          <a:stretch>
            <a:fillRect/>
          </a:stretch>
        </p:blipFill>
        <p:spPr>
          <a:xfrm>
            <a:off x="6556248" y="2735580"/>
            <a:ext cx="628650" cy="502920"/>
          </a:xfrm>
          <a:prstGeom prst="rect">
            <a:avLst/>
          </a:prstGeom>
        </p:spPr>
      </p:pic>
      <p:sp>
        <p:nvSpPr>
          <p:cNvPr id="18" name="TextBox 17"/>
          <p:cNvSpPr txBox="1"/>
          <p:nvPr/>
        </p:nvSpPr>
        <p:spPr>
          <a:xfrm>
            <a:off x="7242048" y="2423160"/>
            <a:ext cx="3977640" cy="1127760"/>
          </a:xfrm>
          <a:prstGeom prst="rect">
            <a:avLst/>
          </a:prstGeom>
          <a:noFill/>
        </p:spPr>
        <p:txBody>
          <a:bodyPr wrap="square" anchor="ctr" lIns="45720" rIns="45720" tIns="27432" bIns="27432">
            <a:spAutoFit/>
          </a:bodyPr>
          <a:lstStyle/>
          <a:p>
            <a:pPr algn="l"/>
            <a:r>
              <a:rPr sz="1500" b="1">
                <a:solidFill>
                  <a:srgbClr val="1F4E79"/>
                </a:solidFill>
                <a:latin typeface="Calibri"/>
              </a:rPr>
              <a:t>Zero-tuning index</a:t>
            </a:r>
          </a:p>
          <a:p>
            <a:pPr algn="l">
              <a:spcBef>
                <a:spcPts val="300"/>
              </a:spcBef>
            </a:pPr>
            <a:r>
              <a:rPr sz="1200" b="0">
                <a:solidFill>
                  <a:srgbClr val="333333"/>
                </a:solidFill>
                <a:latin typeface="Calibri"/>
              </a:rPr>
              <a:t>Domain principal components weighted by their training-fold rank correlation with the outcome.</a:t>
            </a:r>
          </a:p>
        </p:txBody>
      </p:sp>
      <p:pic>
        <p:nvPicPr>
          <p:cNvPr id="19" name="Picture 18" descr="code-compare_blue.png"/>
          <p:cNvPicPr>
            <a:picLocks noChangeAspect="1"/>
          </p:cNvPicPr>
          <p:nvPr/>
        </p:nvPicPr>
        <p:blipFill>
          <a:blip r:embed="rId8"/>
          <a:stretch>
            <a:fillRect/>
          </a:stretch>
        </p:blipFill>
        <p:spPr>
          <a:xfrm>
            <a:off x="6556248" y="3863340"/>
            <a:ext cx="502920" cy="502920"/>
          </a:xfrm>
          <a:prstGeom prst="rect">
            <a:avLst/>
          </a:prstGeom>
        </p:spPr>
      </p:pic>
      <p:sp>
        <p:nvSpPr>
          <p:cNvPr id="20" name="TextBox 19"/>
          <p:cNvSpPr txBox="1"/>
          <p:nvPr/>
        </p:nvSpPr>
        <p:spPr>
          <a:xfrm>
            <a:off x="7242048" y="3550920"/>
            <a:ext cx="3977640" cy="1127760"/>
          </a:xfrm>
          <a:prstGeom prst="rect">
            <a:avLst/>
          </a:prstGeom>
          <a:noFill/>
        </p:spPr>
        <p:txBody>
          <a:bodyPr wrap="square" anchor="ctr" lIns="45720" rIns="45720" tIns="27432" bIns="27432">
            <a:spAutoFit/>
          </a:bodyPr>
          <a:lstStyle/>
          <a:p>
            <a:pPr algn="l"/>
            <a:r>
              <a:rPr sz="1500" b="1">
                <a:solidFill>
                  <a:srgbClr val="1F4E79"/>
                </a:solidFill>
                <a:latin typeface="Calibri"/>
              </a:rPr>
              <a:t>SuperLearner retained as a comparison</a:t>
            </a:r>
          </a:p>
          <a:p>
            <a:pPr algn="l">
              <a:spcBef>
                <a:spcPts val="300"/>
              </a:spcBef>
            </a:pPr>
            <a:r>
              <a:rPr sz="1200" b="0">
                <a:solidFill>
                  <a:srgbClr val="333333"/>
                </a:solidFill>
                <a:latin typeface="Calibri"/>
              </a:rPr>
              <a:t>Same folds: index 0.29 against 0.29 for the rank-loss ensemble and 0.27 for random forest.</a:t>
            </a:r>
          </a:p>
        </p:txBody>
      </p:sp>
      <p:pic>
        <p:nvPicPr>
          <p:cNvPr id="21" name="Picture 20" descr="lock_blue.png"/>
          <p:cNvPicPr>
            <a:picLocks noChangeAspect="1"/>
          </p:cNvPicPr>
          <p:nvPr/>
        </p:nvPicPr>
        <p:blipFill>
          <a:blip r:embed="rId9"/>
          <a:stretch>
            <a:fillRect/>
          </a:stretch>
        </p:blipFill>
        <p:spPr>
          <a:xfrm>
            <a:off x="6556248" y="4991100"/>
            <a:ext cx="440055" cy="502920"/>
          </a:xfrm>
          <a:prstGeom prst="rect">
            <a:avLst/>
          </a:prstGeom>
        </p:spPr>
      </p:pic>
      <p:sp>
        <p:nvSpPr>
          <p:cNvPr id="22" name="TextBox 21"/>
          <p:cNvSpPr txBox="1"/>
          <p:nvPr/>
        </p:nvSpPr>
        <p:spPr>
          <a:xfrm>
            <a:off x="7242048" y="4678680"/>
            <a:ext cx="3977640" cy="1127760"/>
          </a:xfrm>
          <a:prstGeom prst="rect">
            <a:avLst/>
          </a:prstGeom>
          <a:noFill/>
        </p:spPr>
        <p:txBody>
          <a:bodyPr wrap="square" anchor="ctr" lIns="45720" rIns="45720" tIns="27432" bIns="27432">
            <a:spAutoFit/>
          </a:bodyPr>
          <a:lstStyle/>
          <a:p>
            <a:pPr algn="l"/>
            <a:r>
              <a:rPr sz="1500" b="1">
                <a:solidFill>
                  <a:srgbClr val="1F4E79"/>
                </a:solidFill>
                <a:latin typeface="Calibri"/>
              </a:rPr>
              <a:t>Nothing chosen on held-out districts</a:t>
            </a:r>
          </a:p>
          <a:p>
            <a:pPr algn="l">
              <a:spcBef>
                <a:spcPts val="300"/>
              </a:spcBef>
            </a:pPr>
            <a:r>
              <a:rPr sz="1200" b="0">
                <a:solidFill>
                  <a:srgbClr val="333333"/>
                </a:solidFill>
                <a:latin typeface="Calibri"/>
              </a:rPr>
              <a:t>Honest folds by district, region and country.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Estimands</a:t>
            </a:r>
          </a:p>
        </p:txBody>
      </p:sp>
      <p:sp>
        <p:nvSpPr>
          <p:cNvPr id="3" name="Rounded Rectangle 2"/>
          <p:cNvSpPr/>
          <p:nvPr/>
        </p:nvSpPr>
        <p:spPr>
          <a:xfrm>
            <a:off x="841248" y="1691640"/>
            <a:ext cx="3230880" cy="4206240"/>
          </a:xfrm>
          <a:prstGeom prst="roundRect">
            <a:avLst>
              <a:gd name="adj" fmla="val 3396"/>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 name="Picture 3" descr="map-location-dot_blue.png"/>
          <p:cNvPicPr>
            <a:picLocks noChangeAspect="1"/>
          </p:cNvPicPr>
          <p:nvPr/>
        </p:nvPicPr>
        <p:blipFill>
          <a:blip r:embed="rId2"/>
          <a:stretch>
            <a:fillRect/>
          </a:stretch>
        </p:blipFill>
        <p:spPr>
          <a:xfrm>
            <a:off x="1999488" y="1920240"/>
            <a:ext cx="1028700" cy="914400"/>
          </a:xfrm>
          <a:prstGeom prst="rect">
            <a:avLst/>
          </a:prstGeom>
        </p:spPr>
      </p:pic>
      <p:sp>
        <p:nvSpPr>
          <p:cNvPr id="5" name="TextBox 4"/>
          <p:cNvSpPr txBox="1"/>
          <p:nvPr/>
        </p:nvSpPr>
        <p:spPr>
          <a:xfrm>
            <a:off x="932688" y="2971800"/>
            <a:ext cx="3048000" cy="457200"/>
          </a:xfrm>
          <a:prstGeom prst="rect">
            <a:avLst/>
          </a:prstGeom>
          <a:noFill/>
        </p:spPr>
        <p:txBody>
          <a:bodyPr wrap="square" anchor="t" lIns="45720" rIns="45720" tIns="27432" bIns="27432">
            <a:spAutoFit/>
          </a:bodyPr>
          <a:lstStyle/>
          <a:p>
            <a:pPr algn="ctr"/>
            <a:r>
              <a:rPr sz="2000" b="1">
                <a:solidFill>
                  <a:srgbClr val="1F4E79"/>
                </a:solidFill>
                <a:latin typeface="Calibri"/>
              </a:rPr>
              <a:t>In-fill</a:t>
            </a:r>
          </a:p>
        </p:txBody>
      </p:sp>
      <p:sp>
        <p:nvSpPr>
          <p:cNvPr id="6" name="TextBox 5"/>
          <p:cNvSpPr txBox="1"/>
          <p:nvPr/>
        </p:nvSpPr>
        <p:spPr>
          <a:xfrm>
            <a:off x="1115568" y="3520440"/>
            <a:ext cx="2682240" cy="2286000"/>
          </a:xfrm>
          <a:prstGeom prst="rect">
            <a:avLst/>
          </a:prstGeom>
          <a:noFill/>
        </p:spPr>
        <p:txBody>
          <a:bodyPr wrap="square" anchor="t" lIns="45720" rIns="45720" tIns="27432" bIns="27432">
            <a:spAutoFit/>
          </a:bodyPr>
          <a:lstStyle/>
          <a:p>
            <a:pPr algn="l">
              <a:spcAft>
                <a:spcPts val="600"/>
              </a:spcAft>
            </a:pPr>
            <a:r>
              <a:rPr sz="1400" b="1">
                <a:solidFill>
                  <a:srgbClr val="1F4E79"/>
                </a:solidFill>
                <a:latin typeface="Calibri"/>
              </a:rPr>
              <a:t>Question:</a:t>
            </a:r>
            <a:r>
              <a:rPr sz="1400">
                <a:solidFill>
                  <a:srgbClr val="333333"/>
                </a:solidFill>
                <a:latin typeface="Calibri"/>
              </a:rPr>
              <a:t> an unsurveyed district in a surveyed region</a:t>
            </a:r>
          </a:p>
          <a:p>
            <a:pPr algn="l">
              <a:spcBef>
                <a:spcPts val="300"/>
              </a:spcBef>
              <a:spcAft>
                <a:spcPts val="600"/>
              </a:spcAft>
            </a:pPr>
            <a:r>
              <a:rPr sz="1400" b="1">
                <a:solidFill>
                  <a:srgbClr val="1F4E79"/>
                </a:solidFill>
                <a:latin typeface="Calibri"/>
              </a:rPr>
              <a:t>Folds:</a:t>
            </a:r>
            <a:r>
              <a:rPr sz="1400">
                <a:solidFill>
                  <a:srgbClr val="333333"/>
                </a:solidFill>
                <a:latin typeface="Calibri"/>
              </a:rPr>
              <a:t> 5-fold by district, 10 draws</a:t>
            </a:r>
          </a:p>
          <a:p>
            <a:pPr algn="l">
              <a:spcBef>
                <a:spcPts val="300"/>
              </a:spcBef>
              <a:spcAft>
                <a:spcPts val="600"/>
              </a:spcAft>
            </a:pPr>
            <a:r>
              <a:rPr sz="1400" b="1">
                <a:solidFill>
                  <a:srgbClr val="1F4E79"/>
                </a:solidFill>
                <a:latin typeface="Calibri"/>
              </a:rPr>
              <a:t>Baseline:</a:t>
            </a:r>
            <a:r>
              <a:rPr sz="1400">
                <a:solidFill>
                  <a:srgbClr val="333333"/>
                </a:solidFill>
                <a:latin typeface="Calibri"/>
              </a:rPr>
              <a:t> jackknifed regional mean; spatial smoother</a:t>
            </a:r>
          </a:p>
        </p:txBody>
      </p:sp>
      <p:sp>
        <p:nvSpPr>
          <p:cNvPr id="7" name="Rounded Rectangle 6"/>
          <p:cNvSpPr/>
          <p:nvPr/>
        </p:nvSpPr>
        <p:spPr>
          <a:xfrm>
            <a:off x="4483608" y="1691640"/>
            <a:ext cx="3230880" cy="4206240"/>
          </a:xfrm>
          <a:prstGeom prst="roundRect">
            <a:avLst>
              <a:gd name="adj" fmla="val 3396"/>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draw-polygon_blue.png"/>
          <p:cNvPicPr>
            <a:picLocks noChangeAspect="1"/>
          </p:cNvPicPr>
          <p:nvPr/>
        </p:nvPicPr>
        <p:blipFill>
          <a:blip r:embed="rId3"/>
          <a:stretch>
            <a:fillRect/>
          </a:stretch>
        </p:blipFill>
        <p:spPr>
          <a:xfrm>
            <a:off x="5641848" y="1920240"/>
            <a:ext cx="800100" cy="914400"/>
          </a:xfrm>
          <a:prstGeom prst="rect">
            <a:avLst/>
          </a:prstGeom>
        </p:spPr>
      </p:pic>
      <p:sp>
        <p:nvSpPr>
          <p:cNvPr id="9" name="TextBox 8"/>
          <p:cNvSpPr txBox="1"/>
          <p:nvPr/>
        </p:nvSpPr>
        <p:spPr>
          <a:xfrm>
            <a:off x="4575048" y="2971800"/>
            <a:ext cx="3048000" cy="457200"/>
          </a:xfrm>
          <a:prstGeom prst="rect">
            <a:avLst/>
          </a:prstGeom>
          <a:noFill/>
        </p:spPr>
        <p:txBody>
          <a:bodyPr wrap="square" anchor="t" lIns="45720" rIns="45720" tIns="27432" bIns="27432">
            <a:spAutoFit/>
          </a:bodyPr>
          <a:lstStyle/>
          <a:p>
            <a:pPr algn="ctr"/>
            <a:r>
              <a:rPr sz="2000" b="1">
                <a:solidFill>
                  <a:srgbClr val="1F4E79"/>
                </a:solidFill>
                <a:latin typeface="Calibri"/>
              </a:rPr>
              <a:t>Region extrapolation</a:t>
            </a:r>
          </a:p>
        </p:txBody>
      </p:sp>
      <p:sp>
        <p:nvSpPr>
          <p:cNvPr id="10" name="TextBox 9"/>
          <p:cNvSpPr txBox="1"/>
          <p:nvPr/>
        </p:nvSpPr>
        <p:spPr>
          <a:xfrm>
            <a:off x="4757928" y="3520440"/>
            <a:ext cx="2682240" cy="2286000"/>
          </a:xfrm>
          <a:prstGeom prst="rect">
            <a:avLst/>
          </a:prstGeom>
          <a:noFill/>
        </p:spPr>
        <p:txBody>
          <a:bodyPr wrap="square" anchor="t" lIns="45720" rIns="45720" tIns="27432" bIns="27432">
            <a:spAutoFit/>
          </a:bodyPr>
          <a:lstStyle/>
          <a:p>
            <a:pPr algn="l">
              <a:spcAft>
                <a:spcPts val="600"/>
              </a:spcAft>
            </a:pPr>
            <a:r>
              <a:rPr sz="1400" b="1">
                <a:solidFill>
                  <a:srgbClr val="1F4E79"/>
                </a:solidFill>
                <a:latin typeface="Calibri"/>
              </a:rPr>
              <a:t>Question:</a:t>
            </a:r>
            <a:r>
              <a:rPr sz="1400">
                <a:solidFill>
                  <a:srgbClr val="333333"/>
                </a:solidFill>
                <a:latin typeface="Calibri"/>
              </a:rPr>
              <a:t> a whole unsurveyed region</a:t>
            </a:r>
          </a:p>
          <a:p>
            <a:pPr algn="l">
              <a:spcBef>
                <a:spcPts val="300"/>
              </a:spcBef>
              <a:spcAft>
                <a:spcPts val="600"/>
              </a:spcAft>
            </a:pPr>
            <a:r>
              <a:rPr sz="1400" b="1">
                <a:solidFill>
                  <a:srgbClr val="1F4E79"/>
                </a:solidFill>
                <a:latin typeface="Calibri"/>
              </a:rPr>
              <a:t>Folds:</a:t>
            </a:r>
            <a:r>
              <a:rPr sz="1400">
                <a:solidFill>
                  <a:srgbClr val="333333"/>
                </a:solidFill>
                <a:latin typeface="Calibri"/>
              </a:rPr>
              <a:t> leave-one-region-out</a:t>
            </a:r>
          </a:p>
          <a:p>
            <a:pPr algn="l">
              <a:spcBef>
                <a:spcPts val="300"/>
              </a:spcBef>
              <a:spcAft>
                <a:spcPts val="600"/>
              </a:spcAft>
            </a:pPr>
            <a:r>
              <a:rPr sz="1400" b="1">
                <a:solidFill>
                  <a:srgbClr val="1F4E79"/>
                </a:solidFill>
                <a:latin typeface="Calibri"/>
              </a:rPr>
              <a:t>Baseline:</a:t>
            </a:r>
            <a:r>
              <a:rPr sz="1400">
                <a:solidFill>
                  <a:srgbClr val="333333"/>
                </a:solidFill>
                <a:latin typeface="Calibri"/>
              </a:rPr>
              <a:t> spatial smoother</a:t>
            </a:r>
          </a:p>
        </p:txBody>
      </p:sp>
      <p:sp>
        <p:nvSpPr>
          <p:cNvPr id="11" name="Rounded Rectangle 10"/>
          <p:cNvSpPr/>
          <p:nvPr/>
        </p:nvSpPr>
        <p:spPr>
          <a:xfrm>
            <a:off x="8125968" y="1691640"/>
            <a:ext cx="3230880" cy="4206240"/>
          </a:xfrm>
          <a:prstGeom prst="roundRect">
            <a:avLst>
              <a:gd name="adj" fmla="val 3396"/>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earth-africa_blue.png"/>
          <p:cNvPicPr>
            <a:picLocks noChangeAspect="1"/>
          </p:cNvPicPr>
          <p:nvPr/>
        </p:nvPicPr>
        <p:blipFill>
          <a:blip r:embed="rId4"/>
          <a:stretch>
            <a:fillRect/>
          </a:stretch>
        </p:blipFill>
        <p:spPr>
          <a:xfrm>
            <a:off x="9284208" y="1920240"/>
            <a:ext cx="914400" cy="914400"/>
          </a:xfrm>
          <a:prstGeom prst="rect">
            <a:avLst/>
          </a:prstGeom>
        </p:spPr>
      </p:pic>
      <p:sp>
        <p:nvSpPr>
          <p:cNvPr id="13" name="TextBox 12"/>
          <p:cNvSpPr txBox="1"/>
          <p:nvPr/>
        </p:nvSpPr>
        <p:spPr>
          <a:xfrm>
            <a:off x="8217408" y="2971800"/>
            <a:ext cx="3048000" cy="457200"/>
          </a:xfrm>
          <a:prstGeom prst="rect">
            <a:avLst/>
          </a:prstGeom>
          <a:noFill/>
        </p:spPr>
        <p:txBody>
          <a:bodyPr wrap="square" anchor="t" lIns="45720" rIns="45720" tIns="27432" bIns="27432">
            <a:spAutoFit/>
          </a:bodyPr>
          <a:lstStyle/>
          <a:p>
            <a:pPr algn="ctr"/>
            <a:r>
              <a:rPr sz="2000" b="1">
                <a:solidFill>
                  <a:srgbClr val="1F4E79"/>
                </a:solidFill>
                <a:latin typeface="Calibri"/>
              </a:rPr>
              <a:t>Country transport</a:t>
            </a:r>
          </a:p>
        </p:txBody>
      </p:sp>
      <p:sp>
        <p:nvSpPr>
          <p:cNvPr id="14" name="TextBox 13"/>
          <p:cNvSpPr txBox="1"/>
          <p:nvPr/>
        </p:nvSpPr>
        <p:spPr>
          <a:xfrm>
            <a:off x="8400288" y="3520440"/>
            <a:ext cx="2682240" cy="2286000"/>
          </a:xfrm>
          <a:prstGeom prst="rect">
            <a:avLst/>
          </a:prstGeom>
          <a:noFill/>
        </p:spPr>
        <p:txBody>
          <a:bodyPr wrap="square" anchor="t" lIns="45720" rIns="45720" tIns="27432" bIns="27432">
            <a:spAutoFit/>
          </a:bodyPr>
          <a:lstStyle/>
          <a:p>
            <a:pPr algn="l">
              <a:spcAft>
                <a:spcPts val="600"/>
              </a:spcAft>
            </a:pPr>
            <a:r>
              <a:rPr sz="1400" b="1">
                <a:solidFill>
                  <a:srgbClr val="1F4E79"/>
                </a:solidFill>
                <a:latin typeface="Calibri"/>
              </a:rPr>
              <a:t>Question:</a:t>
            </a:r>
            <a:r>
              <a:rPr sz="1400">
                <a:solidFill>
                  <a:srgbClr val="333333"/>
                </a:solidFill>
                <a:latin typeface="Calibri"/>
              </a:rPr>
              <a:t> a country with no biomarker survey</a:t>
            </a:r>
          </a:p>
          <a:p>
            <a:pPr algn="l">
              <a:spcBef>
                <a:spcPts val="300"/>
              </a:spcBef>
              <a:spcAft>
                <a:spcPts val="600"/>
              </a:spcAft>
            </a:pPr>
            <a:r>
              <a:rPr sz="1400" b="1">
                <a:solidFill>
                  <a:srgbClr val="1F4E79"/>
                </a:solidFill>
                <a:latin typeface="Calibri"/>
              </a:rPr>
              <a:t>Folds:</a:t>
            </a:r>
            <a:r>
              <a:rPr sz="1400">
                <a:solidFill>
                  <a:srgbClr val="333333"/>
                </a:solidFill>
                <a:latin typeface="Calibri"/>
              </a:rPr>
              <a:t> leave-one-country-out</a:t>
            </a:r>
          </a:p>
          <a:p>
            <a:pPr algn="l">
              <a:spcBef>
                <a:spcPts val="300"/>
              </a:spcBef>
              <a:spcAft>
                <a:spcPts val="600"/>
              </a:spcAft>
            </a:pPr>
            <a:r>
              <a:rPr sz="1400" b="1">
                <a:solidFill>
                  <a:srgbClr val="1F4E79"/>
                </a:solidFill>
                <a:latin typeface="Calibri"/>
              </a:rPr>
              <a:t>Baseline:</a:t>
            </a:r>
            <a:r>
              <a:rPr sz="1400">
                <a:solidFill>
                  <a:srgbClr val="333333"/>
                </a:solidFill>
                <a:latin typeface="Calibri"/>
              </a:rPr>
              <a:t> country-block permutation null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Conclusions</a:t>
            </a:r>
          </a:p>
        </p:txBody>
      </p:sp>
      <p:pic>
        <p:nvPicPr>
          <p:cNvPr id="3" name="Picture 2" descr="map-location-dot_blue.png"/>
          <p:cNvPicPr>
            <a:picLocks noChangeAspect="1"/>
          </p:cNvPicPr>
          <p:nvPr/>
        </p:nvPicPr>
        <p:blipFill>
          <a:blip r:embed="rId2"/>
          <a:stretch>
            <a:fillRect/>
          </a:stretch>
        </p:blipFill>
        <p:spPr>
          <a:xfrm>
            <a:off x="932688" y="1783080"/>
            <a:ext cx="822960" cy="731520"/>
          </a:xfrm>
          <a:prstGeom prst="rect">
            <a:avLst/>
          </a:prstGeom>
        </p:spPr>
      </p:pic>
      <p:sp>
        <p:nvSpPr>
          <p:cNvPr id="4" name="TextBox 3"/>
          <p:cNvSpPr txBox="1"/>
          <p:nvPr/>
        </p:nvSpPr>
        <p:spPr>
          <a:xfrm>
            <a:off x="1984248" y="1691640"/>
            <a:ext cx="9326880" cy="914400"/>
          </a:xfrm>
          <a:prstGeom prst="rect">
            <a:avLst/>
          </a:prstGeom>
          <a:noFill/>
        </p:spPr>
        <p:txBody>
          <a:bodyPr wrap="square" anchor="ctr" lIns="45720" rIns="45720" tIns="27432" bIns="27432">
            <a:spAutoFit/>
          </a:bodyPr>
          <a:lstStyle/>
          <a:p>
            <a:pPr algn="l"/>
            <a:r>
              <a:rPr sz="2000" b="1">
                <a:solidFill>
                  <a:srgbClr val="1F4E79"/>
                </a:solidFill>
                <a:latin typeface="Calibri"/>
              </a:rPr>
              <a:t>In-fill: the index ranks districts (0.40)</a:t>
            </a:r>
          </a:p>
          <a:p>
            <a:pPr algn="l">
              <a:spcBef>
                <a:spcPts val="300"/>
              </a:spcBef>
            </a:pPr>
            <a:r>
              <a:rPr sz="1400" b="0">
                <a:solidFill>
                  <a:srgbClr val="333333"/>
                </a:solidFill>
                <a:latin typeface="Calibri"/>
              </a:rPr>
              <a:t>Against 0.31 for the survey's own regional averages and 0.39 for a covariate-free smoother.</a:t>
            </a:r>
          </a:p>
        </p:txBody>
      </p:sp>
      <p:pic>
        <p:nvPicPr>
          <p:cNvPr id="5" name="Picture 4" descr="earth-africa_blue.png"/>
          <p:cNvPicPr>
            <a:picLocks noChangeAspect="1"/>
          </p:cNvPicPr>
          <p:nvPr/>
        </p:nvPicPr>
        <p:blipFill>
          <a:blip r:embed="rId3"/>
          <a:stretch>
            <a:fillRect/>
          </a:stretch>
        </p:blipFill>
        <p:spPr>
          <a:xfrm>
            <a:off x="932688" y="2880360"/>
            <a:ext cx="731520" cy="731520"/>
          </a:xfrm>
          <a:prstGeom prst="rect">
            <a:avLst/>
          </a:prstGeom>
        </p:spPr>
      </p:pic>
      <p:sp>
        <p:nvSpPr>
          <p:cNvPr id="6" name="TextBox 5"/>
          <p:cNvSpPr txBox="1"/>
          <p:nvPr/>
        </p:nvSpPr>
        <p:spPr>
          <a:xfrm>
            <a:off x="1984248" y="2788920"/>
            <a:ext cx="9326880" cy="914400"/>
          </a:xfrm>
          <a:prstGeom prst="rect">
            <a:avLst/>
          </a:prstGeom>
          <a:noFill/>
        </p:spPr>
        <p:txBody>
          <a:bodyPr wrap="square" anchor="ctr" lIns="45720" rIns="45720" tIns="27432" bIns="27432">
            <a:spAutoFit/>
          </a:bodyPr>
          <a:lstStyle/>
          <a:p>
            <a:pPr algn="l"/>
            <a:r>
              <a:rPr sz="2000" b="1">
                <a:solidFill>
                  <a:srgbClr val="1F4E79"/>
                </a:solidFill>
                <a:latin typeface="Calibri"/>
              </a:rPr>
              <a:t>Transport: rankings carry (0.31), levels do not</a:t>
            </a:r>
          </a:p>
          <a:p>
            <a:pPr algn="l">
              <a:spcBef>
                <a:spcPts val="300"/>
              </a:spcBef>
            </a:pPr>
            <a:r>
              <a:rPr sz="1400" b="0">
                <a:solidFill>
                  <a:srgbClr val="333333"/>
                </a:solidFill>
                <a:latin typeface="Calibri"/>
              </a:rPr>
              <a:t>0.38 from climate and soil alone; permutation null 0.08.</a:t>
            </a:r>
          </a:p>
        </p:txBody>
      </p:sp>
      <p:pic>
        <p:nvPicPr>
          <p:cNvPr id="7" name="Picture 6" descr="satellite_blue.png"/>
          <p:cNvPicPr>
            <a:picLocks noChangeAspect="1"/>
          </p:cNvPicPr>
          <p:nvPr/>
        </p:nvPicPr>
        <p:blipFill>
          <a:blip r:embed="rId4"/>
          <a:stretch>
            <a:fillRect/>
          </a:stretch>
        </p:blipFill>
        <p:spPr>
          <a:xfrm>
            <a:off x="932688" y="3977640"/>
            <a:ext cx="731520" cy="731520"/>
          </a:xfrm>
          <a:prstGeom prst="rect">
            <a:avLst/>
          </a:prstGeom>
        </p:spPr>
      </p:pic>
      <p:sp>
        <p:nvSpPr>
          <p:cNvPr id="8" name="TextBox 7"/>
          <p:cNvSpPr txBox="1"/>
          <p:nvPr/>
        </p:nvSpPr>
        <p:spPr>
          <a:xfrm>
            <a:off x="1984248" y="3886200"/>
            <a:ext cx="9326880" cy="914400"/>
          </a:xfrm>
          <a:prstGeom prst="rect">
            <a:avLst/>
          </a:prstGeom>
          <a:noFill/>
        </p:spPr>
        <p:txBody>
          <a:bodyPr wrap="square" anchor="ctr" lIns="45720" rIns="45720" tIns="27432" bIns="27432">
            <a:spAutoFit/>
          </a:bodyPr>
          <a:lstStyle/>
          <a:p>
            <a:pPr algn="l"/>
            <a:r>
              <a:rPr sz="2000" b="1">
                <a:solidFill>
                  <a:srgbClr val="1F4E79"/>
                </a:solidFill>
                <a:latin typeface="Calibri"/>
              </a:rPr>
              <a:t>Across borders, lean on the environment</a:t>
            </a:r>
          </a:p>
          <a:p>
            <a:pPr algn="l">
              <a:spcBef>
                <a:spcPts val="300"/>
              </a:spcBef>
            </a:pPr>
            <a:r>
              <a:rPr sz="1400" b="0">
                <a:solidFill>
                  <a:srgbClr val="333333"/>
                </a:solidFill>
                <a:latin typeface="Calibri"/>
              </a:rPr>
              <a:t>Survey-derived inputs help inside a country and hold a new country back.</a:t>
            </a:r>
          </a:p>
        </p:txBody>
      </p:sp>
      <p:pic>
        <p:nvPicPr>
          <p:cNvPr id="9" name="Picture 8" descr="anchor_blue.png"/>
          <p:cNvPicPr>
            <a:picLocks noChangeAspect="1"/>
          </p:cNvPicPr>
          <p:nvPr/>
        </p:nvPicPr>
        <p:blipFill>
          <a:blip r:embed="rId5"/>
          <a:stretch>
            <a:fillRect/>
          </a:stretch>
        </p:blipFill>
        <p:spPr>
          <a:xfrm>
            <a:off x="932688" y="5074920"/>
            <a:ext cx="822960" cy="731520"/>
          </a:xfrm>
          <a:prstGeom prst="rect">
            <a:avLst/>
          </a:prstGeom>
        </p:spPr>
      </p:pic>
      <p:sp>
        <p:nvSpPr>
          <p:cNvPr id="10" name="TextBox 9"/>
          <p:cNvSpPr txBox="1"/>
          <p:nvPr/>
        </p:nvSpPr>
        <p:spPr>
          <a:xfrm>
            <a:off x="1984248" y="4983480"/>
            <a:ext cx="9326880" cy="914400"/>
          </a:xfrm>
          <a:prstGeom prst="rect">
            <a:avLst/>
          </a:prstGeom>
          <a:noFill/>
        </p:spPr>
        <p:txBody>
          <a:bodyPr wrap="square" anchor="ctr" lIns="45720" rIns="45720" tIns="27432" bIns="27432">
            <a:spAutoFit/>
          </a:bodyPr>
          <a:lstStyle/>
          <a:p>
            <a:pPr algn="l"/>
            <a:r>
              <a:rPr sz="2000" b="1">
                <a:solidFill>
                  <a:srgbClr val="1F4E79"/>
                </a:solidFill>
                <a:latin typeface="Calibri"/>
              </a:rPr>
              <a:t>A national anchor puts levels on the ranking</a:t>
            </a:r>
          </a:p>
          <a:p>
            <a:pPr algn="l">
              <a:spcBef>
                <a:spcPts val="300"/>
              </a:spcBef>
            </a:pPr>
            <a:r>
              <a:rPr sz="1400" b="0">
                <a:solidFill>
                  <a:srgbClr val="333333"/>
                </a:solidFill>
                <a:latin typeface="Calibri"/>
              </a:rPr>
              <a:t>District error 9.3 points at 5% of a full sample, matched by a district survey at 25%.</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What the models can and cannot do yet</a:t>
            </a:r>
          </a:p>
        </p:txBody>
      </p:sp>
      <p:sp>
        <p:nvSpPr>
          <p:cNvPr id="3" name="Rounded Rectangle 2"/>
          <p:cNvSpPr/>
          <p:nvPr/>
        </p:nvSpPr>
        <p:spPr>
          <a:xfrm>
            <a:off x="841248" y="1691640"/>
            <a:ext cx="10515600" cy="538189"/>
          </a:xfrm>
          <a:prstGeom prst="roundRect">
            <a:avLst>
              <a:gd name="adj" fmla="val 13592"/>
            </a:avLst>
          </a:prstGeom>
          <a:solidFill>
            <a:srgbClr val="E6F2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 name="Picture 3" descr="check_green.png"/>
          <p:cNvPicPr>
            <a:picLocks noChangeAspect="1"/>
          </p:cNvPicPr>
          <p:nvPr/>
        </p:nvPicPr>
        <p:blipFill>
          <a:blip r:embed="rId2"/>
          <a:stretch>
            <a:fillRect/>
          </a:stretch>
        </p:blipFill>
        <p:spPr>
          <a:xfrm>
            <a:off x="1069848" y="1777854"/>
            <a:ext cx="320040" cy="365760"/>
          </a:xfrm>
          <a:prstGeom prst="rect">
            <a:avLst/>
          </a:prstGeom>
        </p:spPr>
      </p:pic>
      <p:sp>
        <p:nvSpPr>
          <p:cNvPr id="5" name="TextBox 4"/>
          <p:cNvSpPr txBox="1"/>
          <p:nvPr/>
        </p:nvSpPr>
        <p:spPr>
          <a:xfrm>
            <a:off x="1618488" y="1691640"/>
            <a:ext cx="5120640" cy="538189"/>
          </a:xfrm>
          <a:prstGeom prst="rect">
            <a:avLst/>
          </a:prstGeom>
          <a:noFill/>
        </p:spPr>
        <p:txBody>
          <a:bodyPr wrap="square" anchor="ctr" lIns="45720" rIns="45720" tIns="27432" bIns="27432">
            <a:spAutoFit/>
          </a:bodyPr>
          <a:lstStyle/>
          <a:p>
            <a:pPr algn="l"/>
            <a:r>
              <a:rPr sz="1600" b="1">
                <a:solidFill>
                  <a:srgbClr val="1F4E79"/>
                </a:solidFill>
                <a:latin typeface="Calibri"/>
              </a:rPr>
              <a:t>Rank districts in a surveyed country?</a:t>
            </a:r>
          </a:p>
        </p:txBody>
      </p:sp>
      <p:sp>
        <p:nvSpPr>
          <p:cNvPr id="6" name="TextBox 5"/>
          <p:cNvSpPr txBox="1"/>
          <p:nvPr/>
        </p:nvSpPr>
        <p:spPr>
          <a:xfrm>
            <a:off x="6784848" y="1691640"/>
            <a:ext cx="4480560" cy="538189"/>
          </a:xfrm>
          <a:prstGeom prst="rect">
            <a:avLst/>
          </a:prstGeom>
          <a:noFill/>
        </p:spPr>
        <p:txBody>
          <a:bodyPr wrap="square" anchor="ctr" lIns="45720" rIns="45720" tIns="27432" bIns="27432">
            <a:spAutoFit/>
          </a:bodyPr>
          <a:lstStyle/>
          <a:p>
            <a:pPr algn="l"/>
            <a:r>
              <a:rPr sz="1500" b="0">
                <a:solidFill>
                  <a:srgbClr val="333333"/>
                </a:solidFill>
                <a:latin typeface="Calibri"/>
              </a:rPr>
              <a:t>Yes: 0.40, null 0.08.</a:t>
            </a:r>
          </a:p>
        </p:txBody>
      </p:sp>
      <p:sp>
        <p:nvSpPr>
          <p:cNvPr id="7" name="Rounded Rectangle 6"/>
          <p:cNvSpPr/>
          <p:nvPr/>
        </p:nvSpPr>
        <p:spPr>
          <a:xfrm>
            <a:off x="841248" y="2302981"/>
            <a:ext cx="10515600" cy="538189"/>
          </a:xfrm>
          <a:prstGeom prst="roundRect">
            <a:avLst>
              <a:gd name="adj" fmla="val 13592"/>
            </a:avLst>
          </a:prstGeom>
          <a:solidFill>
            <a:srgbClr val="FCF3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triangle-exclamation_amber.png"/>
          <p:cNvPicPr>
            <a:picLocks noChangeAspect="1"/>
          </p:cNvPicPr>
          <p:nvPr/>
        </p:nvPicPr>
        <p:blipFill>
          <a:blip r:embed="rId3"/>
          <a:stretch>
            <a:fillRect/>
          </a:stretch>
        </p:blipFill>
        <p:spPr>
          <a:xfrm>
            <a:off x="1069848" y="2389196"/>
            <a:ext cx="365760" cy="365760"/>
          </a:xfrm>
          <a:prstGeom prst="rect">
            <a:avLst/>
          </a:prstGeom>
        </p:spPr>
      </p:pic>
      <p:sp>
        <p:nvSpPr>
          <p:cNvPr id="9" name="TextBox 8"/>
          <p:cNvSpPr txBox="1"/>
          <p:nvPr/>
        </p:nvSpPr>
        <p:spPr>
          <a:xfrm>
            <a:off x="1618488" y="2302981"/>
            <a:ext cx="5120640" cy="538189"/>
          </a:xfrm>
          <a:prstGeom prst="rect">
            <a:avLst/>
          </a:prstGeom>
          <a:noFill/>
        </p:spPr>
        <p:txBody>
          <a:bodyPr wrap="square" anchor="ctr" lIns="45720" rIns="45720" tIns="27432" bIns="27432">
            <a:spAutoFit/>
          </a:bodyPr>
          <a:lstStyle/>
          <a:p>
            <a:pPr algn="l"/>
            <a:r>
              <a:rPr sz="1600" b="1">
                <a:solidFill>
                  <a:srgbClr val="1F4E79"/>
                </a:solidFill>
                <a:latin typeface="Calibri"/>
              </a:rPr>
              <a:t>Rank districts in a new country?</a:t>
            </a:r>
          </a:p>
        </p:txBody>
      </p:sp>
      <p:sp>
        <p:nvSpPr>
          <p:cNvPr id="10" name="TextBox 9"/>
          <p:cNvSpPr txBox="1"/>
          <p:nvPr/>
        </p:nvSpPr>
        <p:spPr>
          <a:xfrm>
            <a:off x="6784848" y="2302981"/>
            <a:ext cx="4480560" cy="538189"/>
          </a:xfrm>
          <a:prstGeom prst="rect">
            <a:avLst/>
          </a:prstGeom>
          <a:noFill/>
        </p:spPr>
        <p:txBody>
          <a:bodyPr wrap="square" anchor="ctr" lIns="45720" rIns="45720" tIns="27432" bIns="27432">
            <a:spAutoFit/>
          </a:bodyPr>
          <a:lstStyle/>
          <a:p>
            <a:pPr algn="l"/>
            <a:r>
              <a:rPr sz="1500" b="0">
                <a:solidFill>
                  <a:srgbClr val="333333"/>
                </a:solidFill>
                <a:latin typeface="Calibri"/>
              </a:rPr>
              <a:t>Yes, less well: 0.31 against 0.08.</a:t>
            </a:r>
          </a:p>
        </p:txBody>
      </p:sp>
      <p:sp>
        <p:nvSpPr>
          <p:cNvPr id="11" name="Rounded Rectangle 10"/>
          <p:cNvSpPr/>
          <p:nvPr/>
        </p:nvSpPr>
        <p:spPr>
          <a:xfrm>
            <a:off x="841248" y="2914323"/>
            <a:ext cx="10515600" cy="538189"/>
          </a:xfrm>
          <a:prstGeom prst="roundRect">
            <a:avLst>
              <a:gd name="adj" fmla="val 13592"/>
            </a:avLst>
          </a:prstGeom>
          <a:solidFill>
            <a:srgbClr val="E6F2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check_green.png"/>
          <p:cNvPicPr>
            <a:picLocks noChangeAspect="1"/>
          </p:cNvPicPr>
          <p:nvPr/>
        </p:nvPicPr>
        <p:blipFill>
          <a:blip r:embed="rId2"/>
          <a:stretch>
            <a:fillRect/>
          </a:stretch>
        </p:blipFill>
        <p:spPr>
          <a:xfrm>
            <a:off x="1069848" y="3000538"/>
            <a:ext cx="320040" cy="365760"/>
          </a:xfrm>
          <a:prstGeom prst="rect">
            <a:avLst/>
          </a:prstGeom>
        </p:spPr>
      </p:pic>
      <p:sp>
        <p:nvSpPr>
          <p:cNvPr id="13" name="TextBox 12"/>
          <p:cNvSpPr txBox="1"/>
          <p:nvPr/>
        </p:nvSpPr>
        <p:spPr>
          <a:xfrm>
            <a:off x="1618488" y="2914323"/>
            <a:ext cx="5120640" cy="538189"/>
          </a:xfrm>
          <a:prstGeom prst="rect">
            <a:avLst/>
          </a:prstGeom>
          <a:noFill/>
        </p:spPr>
        <p:txBody>
          <a:bodyPr wrap="square" anchor="ctr" lIns="45720" rIns="45720" tIns="27432" bIns="27432">
            <a:spAutoFit/>
          </a:bodyPr>
          <a:lstStyle/>
          <a:p>
            <a:pPr algn="l"/>
            <a:r>
              <a:rPr sz="1600" b="1">
                <a:solidFill>
                  <a:srgbClr val="1F4E79"/>
                </a:solidFill>
                <a:latin typeface="Calibri"/>
              </a:rPr>
              <a:t>Which predictors carry the signal?</a:t>
            </a:r>
          </a:p>
        </p:txBody>
      </p:sp>
      <p:sp>
        <p:nvSpPr>
          <p:cNvPr id="14" name="TextBox 13"/>
          <p:cNvSpPr txBox="1"/>
          <p:nvPr/>
        </p:nvSpPr>
        <p:spPr>
          <a:xfrm>
            <a:off x="6784848" y="2914323"/>
            <a:ext cx="4480560" cy="538189"/>
          </a:xfrm>
          <a:prstGeom prst="rect">
            <a:avLst/>
          </a:prstGeom>
          <a:noFill/>
        </p:spPr>
        <p:txBody>
          <a:bodyPr wrap="square" anchor="ctr" lIns="45720" rIns="45720" tIns="27432" bIns="27432">
            <a:spAutoFit/>
          </a:bodyPr>
          <a:lstStyle/>
          <a:p>
            <a:pPr algn="l"/>
            <a:r>
              <a:rPr sz="1500" b="0">
                <a:solidFill>
                  <a:srgbClr val="333333"/>
                </a:solidFill>
                <a:latin typeface="Calibri"/>
              </a:rPr>
              <a:t>Satellite, climate and soil.</a:t>
            </a:r>
          </a:p>
        </p:txBody>
      </p:sp>
      <p:sp>
        <p:nvSpPr>
          <p:cNvPr id="15" name="Rounded Rectangle 14"/>
          <p:cNvSpPr/>
          <p:nvPr/>
        </p:nvSpPr>
        <p:spPr>
          <a:xfrm>
            <a:off x="841248" y="3525665"/>
            <a:ext cx="10515600" cy="538189"/>
          </a:xfrm>
          <a:prstGeom prst="roundRect">
            <a:avLst>
              <a:gd name="adj" fmla="val 13592"/>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xmark_grey.png"/>
          <p:cNvPicPr>
            <a:picLocks noChangeAspect="1"/>
          </p:cNvPicPr>
          <p:nvPr/>
        </p:nvPicPr>
        <p:blipFill>
          <a:blip r:embed="rId4"/>
          <a:stretch>
            <a:fillRect/>
          </a:stretch>
        </p:blipFill>
        <p:spPr>
          <a:xfrm>
            <a:off x="1069848" y="3611880"/>
            <a:ext cx="274320" cy="365760"/>
          </a:xfrm>
          <a:prstGeom prst="rect">
            <a:avLst/>
          </a:prstGeom>
        </p:spPr>
      </p:pic>
      <p:sp>
        <p:nvSpPr>
          <p:cNvPr id="17" name="TextBox 16"/>
          <p:cNvSpPr txBox="1"/>
          <p:nvPr/>
        </p:nvSpPr>
        <p:spPr>
          <a:xfrm>
            <a:off x="1618488" y="3525665"/>
            <a:ext cx="5120640" cy="538189"/>
          </a:xfrm>
          <a:prstGeom prst="rect">
            <a:avLst/>
          </a:prstGeom>
          <a:noFill/>
        </p:spPr>
        <p:txBody>
          <a:bodyPr wrap="square" anchor="ctr" lIns="45720" rIns="45720" tIns="27432" bIns="27432">
            <a:spAutoFit/>
          </a:bodyPr>
          <a:lstStyle/>
          <a:p>
            <a:pPr algn="l"/>
            <a:r>
              <a:rPr sz="1600" b="1">
                <a:solidFill>
                  <a:srgbClr val="1F4E79"/>
                </a:solidFill>
                <a:latin typeface="Calibri"/>
              </a:rPr>
              <a:t>Prevalence in a new country from the model alone?</a:t>
            </a:r>
          </a:p>
        </p:txBody>
      </p:sp>
      <p:sp>
        <p:nvSpPr>
          <p:cNvPr id="18" name="TextBox 17"/>
          <p:cNvSpPr txBox="1"/>
          <p:nvPr/>
        </p:nvSpPr>
        <p:spPr>
          <a:xfrm>
            <a:off x="6784848" y="3525665"/>
            <a:ext cx="4480560" cy="538189"/>
          </a:xfrm>
          <a:prstGeom prst="rect">
            <a:avLst/>
          </a:prstGeom>
          <a:noFill/>
        </p:spPr>
        <p:txBody>
          <a:bodyPr wrap="square" anchor="ctr" lIns="45720" rIns="45720" tIns="27432" bIns="27432">
            <a:spAutoFit/>
          </a:bodyPr>
          <a:lstStyle/>
          <a:p>
            <a:pPr algn="l"/>
            <a:r>
              <a:rPr sz="1500" b="0">
                <a:solidFill>
                  <a:srgbClr val="333333"/>
                </a:solidFill>
                <a:latin typeface="Calibri"/>
              </a:rPr>
              <a:t>Not yet.</a:t>
            </a:r>
          </a:p>
        </p:txBody>
      </p:sp>
      <p:sp>
        <p:nvSpPr>
          <p:cNvPr id="19" name="Rounded Rectangle 18"/>
          <p:cNvSpPr/>
          <p:nvPr/>
        </p:nvSpPr>
        <p:spPr>
          <a:xfrm>
            <a:off x="841248" y="4137006"/>
            <a:ext cx="10515600" cy="538189"/>
          </a:xfrm>
          <a:prstGeom prst="roundRect">
            <a:avLst>
              <a:gd name="adj" fmla="val 13592"/>
            </a:avLst>
          </a:prstGeom>
          <a:solidFill>
            <a:srgbClr val="E6F2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check_green.png"/>
          <p:cNvPicPr>
            <a:picLocks noChangeAspect="1"/>
          </p:cNvPicPr>
          <p:nvPr/>
        </p:nvPicPr>
        <p:blipFill>
          <a:blip r:embed="rId2"/>
          <a:stretch>
            <a:fillRect/>
          </a:stretch>
        </p:blipFill>
        <p:spPr>
          <a:xfrm>
            <a:off x="1069848" y="4223221"/>
            <a:ext cx="320040" cy="365760"/>
          </a:xfrm>
          <a:prstGeom prst="rect">
            <a:avLst/>
          </a:prstGeom>
        </p:spPr>
      </p:pic>
      <p:sp>
        <p:nvSpPr>
          <p:cNvPr id="21" name="TextBox 20"/>
          <p:cNvSpPr txBox="1"/>
          <p:nvPr/>
        </p:nvSpPr>
        <p:spPr>
          <a:xfrm>
            <a:off x="1618488" y="4137006"/>
            <a:ext cx="5120640" cy="538189"/>
          </a:xfrm>
          <a:prstGeom prst="rect">
            <a:avLst/>
          </a:prstGeom>
          <a:noFill/>
        </p:spPr>
        <p:txBody>
          <a:bodyPr wrap="square" anchor="ctr" lIns="45720" rIns="45720" tIns="27432" bIns="27432">
            <a:spAutoFit/>
          </a:bodyPr>
          <a:lstStyle/>
          <a:p>
            <a:pPr algn="l"/>
            <a:r>
              <a:rPr sz="1600" b="1">
                <a:solidFill>
                  <a:srgbClr val="1F4E79"/>
                </a:solidFill>
                <a:latin typeface="Calibri"/>
              </a:rPr>
              <a:t>Prevalence with one national anchor?</a:t>
            </a:r>
          </a:p>
        </p:txBody>
      </p:sp>
      <p:sp>
        <p:nvSpPr>
          <p:cNvPr id="22" name="TextBox 21"/>
          <p:cNvSpPr txBox="1"/>
          <p:nvPr/>
        </p:nvSpPr>
        <p:spPr>
          <a:xfrm>
            <a:off x="6784848" y="4137006"/>
            <a:ext cx="4480560" cy="538189"/>
          </a:xfrm>
          <a:prstGeom prst="rect">
            <a:avLst/>
          </a:prstGeom>
          <a:noFill/>
        </p:spPr>
        <p:txBody>
          <a:bodyPr wrap="square" anchor="ctr" lIns="45720" rIns="45720" tIns="27432" bIns="27432">
            <a:spAutoFit/>
          </a:bodyPr>
          <a:lstStyle/>
          <a:p>
            <a:pPr algn="l"/>
            <a:r>
              <a:rPr sz="1500" b="0">
                <a:solidFill>
                  <a:srgbClr val="333333"/>
                </a:solidFill>
                <a:latin typeface="Calibri"/>
              </a:rPr>
              <a:t>Yes: 9.3 points at a 5% sample.</a:t>
            </a:r>
          </a:p>
        </p:txBody>
      </p:sp>
      <p:sp>
        <p:nvSpPr>
          <p:cNvPr id="23" name="Rounded Rectangle 22"/>
          <p:cNvSpPr/>
          <p:nvPr/>
        </p:nvSpPr>
        <p:spPr>
          <a:xfrm>
            <a:off x="841248" y="4748348"/>
            <a:ext cx="10515600" cy="538189"/>
          </a:xfrm>
          <a:prstGeom prst="roundRect">
            <a:avLst>
              <a:gd name="adj" fmla="val 13592"/>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xmark_grey.png"/>
          <p:cNvPicPr>
            <a:picLocks noChangeAspect="1"/>
          </p:cNvPicPr>
          <p:nvPr/>
        </p:nvPicPr>
        <p:blipFill>
          <a:blip r:embed="rId4"/>
          <a:stretch>
            <a:fillRect/>
          </a:stretch>
        </p:blipFill>
        <p:spPr>
          <a:xfrm>
            <a:off x="1069848" y="4834563"/>
            <a:ext cx="274320" cy="365760"/>
          </a:xfrm>
          <a:prstGeom prst="rect">
            <a:avLst/>
          </a:prstGeom>
        </p:spPr>
      </p:pic>
      <p:sp>
        <p:nvSpPr>
          <p:cNvPr id="25" name="TextBox 24"/>
          <p:cNvSpPr txBox="1"/>
          <p:nvPr/>
        </p:nvSpPr>
        <p:spPr>
          <a:xfrm>
            <a:off x="1618488" y="4748348"/>
            <a:ext cx="5120640" cy="538189"/>
          </a:xfrm>
          <a:prstGeom prst="rect">
            <a:avLst/>
          </a:prstGeom>
          <a:noFill/>
        </p:spPr>
        <p:txBody>
          <a:bodyPr wrap="square" anchor="ctr" lIns="45720" rIns="45720" tIns="27432" bIns="27432">
            <a:spAutoFit/>
          </a:bodyPr>
          <a:lstStyle/>
          <a:p>
            <a:pPr algn="l"/>
            <a:r>
              <a:rPr sz="1600" b="1">
                <a:solidFill>
                  <a:srgbClr val="1F4E79"/>
                </a:solidFill>
                <a:latin typeface="Calibri"/>
              </a:rPr>
              <a:t>Replace biomarker surveys?</a:t>
            </a:r>
          </a:p>
        </p:txBody>
      </p:sp>
      <p:sp>
        <p:nvSpPr>
          <p:cNvPr id="26" name="TextBox 25"/>
          <p:cNvSpPr txBox="1"/>
          <p:nvPr/>
        </p:nvSpPr>
        <p:spPr>
          <a:xfrm>
            <a:off x="6784848" y="4748348"/>
            <a:ext cx="4480560" cy="538189"/>
          </a:xfrm>
          <a:prstGeom prst="rect">
            <a:avLst/>
          </a:prstGeom>
          <a:noFill/>
        </p:spPr>
        <p:txBody>
          <a:bodyPr wrap="square" anchor="ctr" lIns="45720" rIns="45720" tIns="27432" bIns="27432">
            <a:spAutoFit/>
          </a:bodyPr>
          <a:lstStyle/>
          <a:p>
            <a:pPr algn="l"/>
            <a:r>
              <a:rPr sz="1500" b="0">
                <a:solidFill>
                  <a:srgbClr val="333333"/>
                </a:solidFill>
                <a:latin typeface="Calibri"/>
              </a:rPr>
              <a:t>No: the ceiling is the survey's.</a:t>
            </a:r>
          </a:p>
        </p:txBody>
      </p:sp>
      <p:sp>
        <p:nvSpPr>
          <p:cNvPr id="27" name="Rounded Rectangle 26"/>
          <p:cNvSpPr/>
          <p:nvPr/>
        </p:nvSpPr>
        <p:spPr>
          <a:xfrm>
            <a:off x="841248" y="5359690"/>
            <a:ext cx="10515600" cy="538189"/>
          </a:xfrm>
          <a:prstGeom prst="roundRect">
            <a:avLst>
              <a:gd name="adj" fmla="val 13592"/>
            </a:avLst>
          </a:prstGeom>
          <a:solidFill>
            <a:srgbClr val="FCF3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triangle-exclamation_amber.png"/>
          <p:cNvPicPr>
            <a:picLocks noChangeAspect="1"/>
          </p:cNvPicPr>
          <p:nvPr/>
        </p:nvPicPr>
        <p:blipFill>
          <a:blip r:embed="rId3"/>
          <a:stretch>
            <a:fillRect/>
          </a:stretch>
        </p:blipFill>
        <p:spPr>
          <a:xfrm>
            <a:off x="1069848" y="5445905"/>
            <a:ext cx="365760" cy="365760"/>
          </a:xfrm>
          <a:prstGeom prst="rect">
            <a:avLst/>
          </a:prstGeom>
        </p:spPr>
      </p:pic>
      <p:sp>
        <p:nvSpPr>
          <p:cNvPr id="29" name="TextBox 28"/>
          <p:cNvSpPr txBox="1"/>
          <p:nvPr/>
        </p:nvSpPr>
        <p:spPr>
          <a:xfrm>
            <a:off x="1618488" y="5359690"/>
            <a:ext cx="5120640" cy="538189"/>
          </a:xfrm>
          <a:prstGeom prst="rect">
            <a:avLst/>
          </a:prstGeom>
          <a:noFill/>
        </p:spPr>
        <p:txBody>
          <a:bodyPr wrap="square" anchor="ctr" lIns="45720" rIns="45720" tIns="27432" bIns="27432">
            <a:spAutoFit/>
          </a:bodyPr>
          <a:lstStyle/>
          <a:p>
            <a:pPr algn="l"/>
            <a:r>
              <a:rPr sz="1600" b="1">
                <a:solidFill>
                  <a:srgbClr val="1F4E79"/>
                </a:solidFill>
                <a:latin typeface="Calibri"/>
              </a:rPr>
              <a:t>Guide where the next survey samples?</a:t>
            </a:r>
          </a:p>
        </p:txBody>
      </p:sp>
      <p:sp>
        <p:nvSpPr>
          <p:cNvPr id="30" name="TextBox 29"/>
          <p:cNvSpPr txBox="1"/>
          <p:nvPr/>
        </p:nvSpPr>
        <p:spPr>
          <a:xfrm>
            <a:off x="6784848" y="5359690"/>
            <a:ext cx="4480560" cy="538189"/>
          </a:xfrm>
          <a:prstGeom prst="rect">
            <a:avLst/>
          </a:prstGeom>
          <a:noFill/>
        </p:spPr>
        <p:txBody>
          <a:bodyPr wrap="square" anchor="ctr" lIns="45720" rIns="45720" tIns="27432" bIns="27432">
            <a:spAutoFit/>
          </a:bodyPr>
          <a:lstStyle/>
          <a:p>
            <a:pPr algn="l"/>
            <a:r>
              <a:rPr sz="1500" b="0">
                <a:solidFill>
                  <a:srgbClr val="333333"/>
                </a:solidFill>
                <a:latin typeface="Calibri"/>
              </a:rPr>
              <a:t>In design, not piloted.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Next steps</a:t>
            </a:r>
          </a:p>
        </p:txBody>
      </p:sp>
      <p:sp>
        <p:nvSpPr>
          <p:cNvPr id="3" name="Rounded Rectangle 2"/>
          <p:cNvSpPr/>
          <p:nvPr/>
        </p:nvSpPr>
        <p:spPr>
          <a:xfrm>
            <a:off x="841248" y="1691640"/>
            <a:ext cx="5029200" cy="4206240"/>
          </a:xfrm>
          <a:prstGeom prst="roundRect">
            <a:avLst>
              <a:gd name="adj" fmla="val 2608"/>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ounded Rectangle 3"/>
          <p:cNvSpPr/>
          <p:nvPr/>
        </p:nvSpPr>
        <p:spPr>
          <a:xfrm>
            <a:off x="841248" y="1691640"/>
            <a:ext cx="5029200" cy="640080"/>
          </a:xfrm>
          <a:prstGeom prst="roundRect">
            <a:avLst>
              <a:gd name="adj" fmla="val 17142"/>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 name="Picture 4" descr="list-check_white.png"/>
          <p:cNvPicPr>
            <a:picLocks noChangeAspect="1"/>
          </p:cNvPicPr>
          <p:nvPr/>
        </p:nvPicPr>
        <p:blipFill>
          <a:blip r:embed="rId2"/>
          <a:stretch>
            <a:fillRect/>
          </a:stretch>
        </p:blipFill>
        <p:spPr>
          <a:xfrm>
            <a:off x="1024128" y="1810512"/>
            <a:ext cx="402336" cy="402336"/>
          </a:xfrm>
          <a:prstGeom prst="rect">
            <a:avLst/>
          </a:prstGeom>
        </p:spPr>
      </p:pic>
      <p:sp>
        <p:nvSpPr>
          <p:cNvPr id="6" name="TextBox 5"/>
          <p:cNvSpPr txBox="1"/>
          <p:nvPr/>
        </p:nvSpPr>
        <p:spPr>
          <a:xfrm>
            <a:off x="1527048" y="1691640"/>
            <a:ext cx="4251960" cy="640080"/>
          </a:xfrm>
          <a:prstGeom prst="rect">
            <a:avLst/>
          </a:prstGeom>
          <a:noFill/>
        </p:spPr>
        <p:txBody>
          <a:bodyPr wrap="square" anchor="ctr" lIns="45720" rIns="45720" tIns="27432" bIns="27432">
            <a:spAutoFit/>
          </a:bodyPr>
          <a:lstStyle/>
          <a:p>
            <a:pPr algn="l"/>
            <a:r>
              <a:rPr sz="1800" b="1">
                <a:solidFill>
                  <a:srgbClr val="FFFFFF"/>
                </a:solidFill>
                <a:latin typeface="Calibri"/>
              </a:rPr>
              <a:t>Planned</a:t>
            </a:r>
          </a:p>
        </p:txBody>
      </p:sp>
      <p:pic>
        <p:nvPicPr>
          <p:cNvPr id="7" name="Picture 6" descr="flag-checkered_blue.png"/>
          <p:cNvPicPr>
            <a:picLocks noChangeAspect="1"/>
          </p:cNvPicPr>
          <p:nvPr/>
        </p:nvPicPr>
        <p:blipFill>
          <a:blip r:embed="rId3"/>
          <a:stretch>
            <a:fillRect/>
          </a:stretch>
        </p:blipFill>
        <p:spPr>
          <a:xfrm>
            <a:off x="1069848" y="2735580"/>
            <a:ext cx="440055" cy="502920"/>
          </a:xfrm>
          <a:prstGeom prst="rect">
            <a:avLst/>
          </a:prstGeom>
        </p:spPr>
      </p:pic>
      <p:sp>
        <p:nvSpPr>
          <p:cNvPr id="8" name="TextBox 7"/>
          <p:cNvSpPr txBox="1"/>
          <p:nvPr/>
        </p:nvSpPr>
        <p:spPr>
          <a:xfrm>
            <a:off x="1755648" y="2423160"/>
            <a:ext cx="3977640" cy="1127760"/>
          </a:xfrm>
          <a:prstGeom prst="rect">
            <a:avLst/>
          </a:prstGeom>
          <a:noFill/>
        </p:spPr>
        <p:txBody>
          <a:bodyPr wrap="square" anchor="ctr" lIns="45720" rIns="45720" tIns="27432" bIns="27432">
            <a:spAutoFit/>
          </a:bodyPr>
          <a:lstStyle/>
          <a:p>
            <a:pPr algn="l"/>
            <a:r>
              <a:rPr sz="1500" b="1">
                <a:solidFill>
                  <a:srgbClr val="1F4E79"/>
                </a:solidFill>
                <a:latin typeface="Calibri"/>
              </a:rPr>
              <a:t>Score the pre-registered predictions</a:t>
            </a:r>
          </a:p>
          <a:p>
            <a:pPr algn="l">
              <a:spcBef>
                <a:spcPts val="300"/>
              </a:spcBef>
            </a:pPr>
            <a:r>
              <a:rPr sz="1200" b="0">
                <a:solidFill>
                  <a:srgbClr val="333333"/>
                </a:solidFill>
                <a:latin typeface="Calibri"/>
              </a:rPr>
              <a:t>On the next countries added to the panel.</a:t>
            </a:r>
          </a:p>
        </p:txBody>
      </p:sp>
      <p:pic>
        <p:nvPicPr>
          <p:cNvPr id="9" name="Picture 8" descr="rotate_blue.png"/>
          <p:cNvPicPr>
            <a:picLocks noChangeAspect="1"/>
          </p:cNvPicPr>
          <p:nvPr/>
        </p:nvPicPr>
        <p:blipFill>
          <a:blip r:embed="rId4"/>
          <a:stretch>
            <a:fillRect/>
          </a:stretch>
        </p:blipFill>
        <p:spPr>
          <a:xfrm>
            <a:off x="1069848" y="3863340"/>
            <a:ext cx="502920" cy="502920"/>
          </a:xfrm>
          <a:prstGeom prst="rect">
            <a:avLst/>
          </a:prstGeom>
        </p:spPr>
      </p:pic>
      <p:sp>
        <p:nvSpPr>
          <p:cNvPr id="10" name="TextBox 9"/>
          <p:cNvSpPr txBox="1"/>
          <p:nvPr/>
        </p:nvSpPr>
        <p:spPr>
          <a:xfrm>
            <a:off x="1755648" y="3550920"/>
            <a:ext cx="3977640" cy="1127760"/>
          </a:xfrm>
          <a:prstGeom prst="rect">
            <a:avLst/>
          </a:prstGeom>
          <a:noFill/>
        </p:spPr>
        <p:txBody>
          <a:bodyPr wrap="square" anchor="ctr" lIns="45720" rIns="45720" tIns="27432" bIns="27432">
            <a:spAutoFit/>
          </a:bodyPr>
          <a:lstStyle/>
          <a:p>
            <a:pPr algn="l"/>
            <a:r>
              <a:rPr sz="1500" b="1">
                <a:solidFill>
                  <a:srgbClr val="1F4E79"/>
                </a:solidFill>
                <a:latin typeface="Calibri"/>
              </a:rPr>
              <a:t>Rerun the national track</a:t>
            </a:r>
          </a:p>
          <a:p>
            <a:pPr algn="l">
              <a:spcBef>
                <a:spcPts val="300"/>
              </a:spcBef>
            </a:pPr>
            <a:r>
              <a:rPr sz="1200" b="0">
                <a:solidFill>
                  <a:srgbClr val="333333"/>
                </a:solidFill>
                <a:latin typeface="Calibri"/>
              </a:rPr>
              <a:t>Under the corrected protocol.</a:t>
            </a:r>
          </a:p>
        </p:txBody>
      </p:sp>
      <p:pic>
        <p:nvPicPr>
          <p:cNvPr id="11" name="Picture 10" descr="location-crosshairs_blue.png"/>
          <p:cNvPicPr>
            <a:picLocks noChangeAspect="1"/>
          </p:cNvPicPr>
          <p:nvPr/>
        </p:nvPicPr>
        <p:blipFill>
          <a:blip r:embed="rId5"/>
          <a:stretch>
            <a:fillRect/>
          </a:stretch>
        </p:blipFill>
        <p:spPr>
          <a:xfrm>
            <a:off x="1069848" y="4991100"/>
            <a:ext cx="502920" cy="502920"/>
          </a:xfrm>
          <a:prstGeom prst="rect">
            <a:avLst/>
          </a:prstGeom>
        </p:spPr>
      </p:pic>
      <p:sp>
        <p:nvSpPr>
          <p:cNvPr id="12" name="TextBox 11"/>
          <p:cNvSpPr txBox="1"/>
          <p:nvPr/>
        </p:nvSpPr>
        <p:spPr>
          <a:xfrm>
            <a:off x="1755648" y="4678680"/>
            <a:ext cx="3977640" cy="1127760"/>
          </a:xfrm>
          <a:prstGeom prst="rect">
            <a:avLst/>
          </a:prstGeom>
          <a:noFill/>
        </p:spPr>
        <p:txBody>
          <a:bodyPr wrap="square" anchor="ctr" lIns="45720" rIns="45720" tIns="27432" bIns="27432">
            <a:spAutoFit/>
          </a:bodyPr>
          <a:lstStyle/>
          <a:p>
            <a:pPr algn="l"/>
            <a:r>
              <a:rPr sz="1500" b="1">
                <a:solidFill>
                  <a:srgbClr val="1F4E79"/>
                </a:solidFill>
                <a:latin typeface="Calibri"/>
              </a:rPr>
              <a:t>Model-assisted cluster allocation</a:t>
            </a:r>
          </a:p>
          <a:p>
            <a:pPr algn="l">
              <a:spcBef>
                <a:spcPts val="300"/>
              </a:spcBef>
            </a:pPr>
            <a:r>
              <a:rPr sz="1200" b="0">
                <a:solidFill>
                  <a:srgbClr val="333333"/>
                </a:solidFill>
                <a:latin typeface="Calibri"/>
              </a:rPr>
              <a:t>For survey design.</a:t>
            </a:r>
          </a:p>
        </p:txBody>
      </p:sp>
      <p:sp>
        <p:nvSpPr>
          <p:cNvPr id="13" name="Rounded Rectangle 12"/>
          <p:cNvSpPr/>
          <p:nvPr/>
        </p:nvSpPr>
        <p:spPr>
          <a:xfrm>
            <a:off x="6327648" y="1691640"/>
            <a:ext cx="5029200" cy="4206240"/>
          </a:xfrm>
          <a:prstGeom prst="roundRect">
            <a:avLst>
              <a:gd name="adj" fmla="val 2608"/>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ounded Rectangle 13"/>
          <p:cNvSpPr/>
          <p:nvPr/>
        </p:nvSpPr>
        <p:spPr>
          <a:xfrm>
            <a:off x="6327648" y="1691640"/>
            <a:ext cx="5029200" cy="640080"/>
          </a:xfrm>
          <a:prstGeom prst="roundRect">
            <a:avLst>
              <a:gd name="adj" fmla="val 17142"/>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Picture 14" descr="circle-question_white.png"/>
          <p:cNvPicPr>
            <a:picLocks noChangeAspect="1"/>
          </p:cNvPicPr>
          <p:nvPr/>
        </p:nvPicPr>
        <p:blipFill>
          <a:blip r:embed="rId6"/>
          <a:stretch>
            <a:fillRect/>
          </a:stretch>
        </p:blipFill>
        <p:spPr>
          <a:xfrm>
            <a:off x="6510528" y="1810512"/>
            <a:ext cx="402336" cy="402336"/>
          </a:xfrm>
          <a:prstGeom prst="rect">
            <a:avLst/>
          </a:prstGeom>
        </p:spPr>
      </p:pic>
      <p:sp>
        <p:nvSpPr>
          <p:cNvPr id="16" name="TextBox 15"/>
          <p:cNvSpPr txBox="1"/>
          <p:nvPr/>
        </p:nvSpPr>
        <p:spPr>
          <a:xfrm>
            <a:off x="7013448" y="1691640"/>
            <a:ext cx="4251960" cy="640080"/>
          </a:xfrm>
          <a:prstGeom prst="rect">
            <a:avLst/>
          </a:prstGeom>
          <a:noFill/>
        </p:spPr>
        <p:txBody>
          <a:bodyPr wrap="square" anchor="ctr" lIns="45720" rIns="45720" tIns="27432" bIns="27432">
            <a:spAutoFit/>
          </a:bodyPr>
          <a:lstStyle/>
          <a:p>
            <a:pPr algn="l"/>
            <a:r>
              <a:rPr sz="1800" b="1">
                <a:solidFill>
                  <a:srgbClr val="FFFFFF"/>
                </a:solidFill>
                <a:latin typeface="Calibri"/>
              </a:rPr>
              <a:t>Open questions</a:t>
            </a:r>
          </a:p>
        </p:txBody>
      </p:sp>
      <p:pic>
        <p:nvPicPr>
          <p:cNvPr id="17" name="Picture 16" descr="gauge-high_blue.png"/>
          <p:cNvPicPr>
            <a:picLocks noChangeAspect="1"/>
          </p:cNvPicPr>
          <p:nvPr/>
        </p:nvPicPr>
        <p:blipFill>
          <a:blip r:embed="rId7"/>
          <a:stretch>
            <a:fillRect/>
          </a:stretch>
        </p:blipFill>
        <p:spPr>
          <a:xfrm>
            <a:off x="6556248" y="2735580"/>
            <a:ext cx="502920" cy="502920"/>
          </a:xfrm>
          <a:prstGeom prst="rect">
            <a:avLst/>
          </a:prstGeom>
        </p:spPr>
      </p:pic>
      <p:sp>
        <p:nvSpPr>
          <p:cNvPr id="18" name="TextBox 17"/>
          <p:cNvSpPr txBox="1"/>
          <p:nvPr/>
        </p:nvSpPr>
        <p:spPr>
          <a:xfrm>
            <a:off x="7242048" y="2423160"/>
            <a:ext cx="3977640" cy="1127760"/>
          </a:xfrm>
          <a:prstGeom prst="rect">
            <a:avLst/>
          </a:prstGeom>
          <a:noFill/>
        </p:spPr>
        <p:txBody>
          <a:bodyPr wrap="square" anchor="ctr" lIns="45720" rIns="45720" tIns="27432" bIns="27432">
            <a:spAutoFit/>
          </a:bodyPr>
          <a:lstStyle/>
          <a:p>
            <a:pPr algn="l"/>
            <a:r>
              <a:rPr sz="1500" b="1">
                <a:solidFill>
                  <a:srgbClr val="1F4E79"/>
                </a:solidFill>
                <a:latin typeface="Calibri"/>
              </a:rPr>
              <a:t>What rank correlation is sufficient to act on?</a:t>
            </a:r>
          </a:p>
        </p:txBody>
      </p:sp>
      <p:pic>
        <p:nvPicPr>
          <p:cNvPr id="19" name="Picture 18" descr="coins_blue.png"/>
          <p:cNvPicPr>
            <a:picLocks noChangeAspect="1"/>
          </p:cNvPicPr>
          <p:nvPr/>
        </p:nvPicPr>
        <p:blipFill>
          <a:blip r:embed="rId8"/>
          <a:stretch>
            <a:fillRect/>
          </a:stretch>
        </p:blipFill>
        <p:spPr>
          <a:xfrm>
            <a:off x="6556248" y="3863340"/>
            <a:ext cx="502920" cy="502920"/>
          </a:xfrm>
          <a:prstGeom prst="rect">
            <a:avLst/>
          </a:prstGeom>
        </p:spPr>
      </p:pic>
      <p:sp>
        <p:nvSpPr>
          <p:cNvPr id="20" name="TextBox 19"/>
          <p:cNvSpPr txBox="1"/>
          <p:nvPr/>
        </p:nvSpPr>
        <p:spPr>
          <a:xfrm>
            <a:off x="7242048" y="3550920"/>
            <a:ext cx="3977640" cy="1127760"/>
          </a:xfrm>
          <a:prstGeom prst="rect">
            <a:avLst/>
          </a:prstGeom>
          <a:noFill/>
        </p:spPr>
        <p:txBody>
          <a:bodyPr wrap="square" anchor="ctr" lIns="45720" rIns="45720" tIns="27432" bIns="27432">
            <a:spAutoFit/>
          </a:bodyPr>
          <a:lstStyle/>
          <a:p>
            <a:pPr algn="l"/>
            <a:r>
              <a:rPr sz="1500" b="1">
                <a:solidFill>
                  <a:srgbClr val="1F4E79"/>
                </a:solidFill>
                <a:latin typeface="Calibri"/>
              </a:rPr>
              <a:t>Which national number is the cheapest honest anchor?</a:t>
            </a:r>
          </a:p>
        </p:txBody>
      </p:sp>
      <p:pic>
        <p:nvPicPr>
          <p:cNvPr id="21" name="Picture 20" descr="ruler_blue.png"/>
          <p:cNvPicPr>
            <a:picLocks noChangeAspect="1"/>
          </p:cNvPicPr>
          <p:nvPr/>
        </p:nvPicPr>
        <p:blipFill>
          <a:blip r:embed="rId9"/>
          <a:stretch>
            <a:fillRect/>
          </a:stretch>
        </p:blipFill>
        <p:spPr>
          <a:xfrm>
            <a:off x="6556248" y="4991100"/>
            <a:ext cx="502920" cy="502920"/>
          </a:xfrm>
          <a:prstGeom prst="rect">
            <a:avLst/>
          </a:prstGeom>
        </p:spPr>
      </p:pic>
      <p:sp>
        <p:nvSpPr>
          <p:cNvPr id="22" name="TextBox 21"/>
          <p:cNvSpPr txBox="1"/>
          <p:nvPr/>
        </p:nvSpPr>
        <p:spPr>
          <a:xfrm>
            <a:off x="7242048" y="4678680"/>
            <a:ext cx="3977640" cy="1127760"/>
          </a:xfrm>
          <a:prstGeom prst="rect">
            <a:avLst/>
          </a:prstGeom>
          <a:noFill/>
        </p:spPr>
        <p:txBody>
          <a:bodyPr wrap="square" anchor="ctr" lIns="45720" rIns="45720" tIns="27432" bIns="27432">
            <a:spAutoFit/>
          </a:bodyPr>
          <a:lstStyle/>
          <a:p>
            <a:pPr algn="l"/>
            <a:r>
              <a:rPr sz="1500" b="1">
                <a:solidFill>
                  <a:srgbClr val="1F4E79"/>
                </a:solidFill>
                <a:latin typeface="Calibri"/>
              </a:rPr>
              <a:t>Without new biomarker surveys, what benchmarks the models?</a:t>
            </a:r>
          </a:p>
        </p:txBody>
      </p:sp>
    </p:spTree>
  </p:cSld>
  <p:clrMapOvr>
    <a:masterClrMapping/>
  </p:clrMapOvr>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a38c680a-7277-4874-b91e-ca9d73cc987f">
      <Terms xmlns="http://schemas.microsoft.com/office/infopath/2007/PartnerControls"/>
    </lcf76f155ced4ddcb4097134ff3c332f>
    <TaxCatchAll xmlns="a9330557-d790-4a15-81dd-41ac6aafd1e6"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2B25C0FA6767BB4D81A74FDB92ED2A5C" ma:contentTypeVersion="17" ma:contentTypeDescription="Create a new document." ma:contentTypeScope="" ma:versionID="a88687ee43c16e53da457ec19e66ba4b">
  <xsd:schema xmlns:xsd="http://www.w3.org/2001/XMLSchema" xmlns:xs="http://www.w3.org/2001/XMLSchema" xmlns:p="http://schemas.microsoft.com/office/2006/metadata/properties" xmlns:ns2="a38c680a-7277-4874-b91e-ca9d73cc987f" xmlns:ns3="a9330557-d790-4a15-81dd-41ac6aafd1e6" targetNamespace="http://schemas.microsoft.com/office/2006/metadata/properties" ma:root="true" ma:fieldsID="8ec3a2ee81d49c195fdb95562ca4b5a9" ns2:_="" ns3:_="">
    <xsd:import namespace="a38c680a-7277-4874-b91e-ca9d73cc987f"/>
    <xsd:import namespace="a9330557-d790-4a15-81dd-41ac6aafd1e6"/>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38c680a-7277-4874-b91e-ca9d73cc987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806aaa40-c663-4506-a8f2-94edda6b6de5" ma:termSetId="09814cd3-568e-fe90-9814-8d621ff8fb84" ma:anchorId="fba54fb3-c3e1-fe81-a776-ca4b69148c4d" ma:open="true" ma:isKeyword="false">
      <xsd:complexType>
        <xsd:sequence>
          <xsd:element ref="pc:Terms" minOccurs="0" maxOccurs="1"/>
        </xsd:sequence>
      </xsd:complexType>
    </xsd:element>
    <xsd:element name="MediaServiceLocation" ma:index="21" nillable="true" ma:displayName="Location" ma:indexed="true" ma:internalName="MediaServiceLocation" ma:readOnly="true">
      <xsd:simpleType>
        <xsd:restriction base="dms:Text"/>
      </xsd:simpleType>
    </xsd:element>
    <xsd:element name="MediaServiceObjectDetectorVersions" ma:index="22" nillable="true" ma:displayName="MediaServiceObjectDetectorVersions" ma:hidden="true" ma:indexed="true" ma:internalName="MediaServiceObjectDetectorVersions" ma:readOnly="true">
      <xsd:simpleType>
        <xsd:restriction base="dms:Text"/>
      </xsd:simpleType>
    </xsd:element>
    <xsd:element name="MediaServiceSearchProperties" ma:index="23" nillable="true" ma:displayName="MediaServiceSearchProperties" ma:hidden="true" ma:internalName="MediaServiceSearchProperties" ma:readOnly="true">
      <xsd:simpleType>
        <xsd:restriction base="dms:Note"/>
      </xsd:simpleType>
    </xsd:element>
    <xsd:element name="MediaServiceBillingMetadata" ma:index="24"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9330557-d790-4a15-81dd-41ac6aafd1e6" elementFormDefault="qualified">
    <xsd:import namespace="http://schemas.microsoft.com/office/2006/documentManagement/types"/>
    <xsd:import namespace="http://schemas.microsoft.com/office/infopath/2007/PartnerControls"/>
    <xsd:element name="TaxCatchAll" ma:index="20" nillable="true" ma:displayName="Taxonomy Catch All Column" ma:hidden="true" ma:list="{236aa432-09c1-47d7-8cc6-ab1d1b394bda}" ma:internalName="TaxCatchAll" ma:showField="CatchAllData" ma:web="a9330557-d790-4a15-81dd-41ac6aafd1e6">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BEBD7C3-2F1E-40AA-BBFA-3EC1B58B3AFD}">
  <ds:schemaRefs>
    <ds:schemaRef ds:uri="http://schemas.microsoft.com/sharepoint/v3/contenttype/forms"/>
  </ds:schemaRefs>
</ds:datastoreItem>
</file>

<file path=customXml/itemProps2.xml><?xml version="1.0" encoding="utf-8"?>
<ds:datastoreItem xmlns:ds="http://schemas.openxmlformats.org/officeDocument/2006/customXml" ds:itemID="{5BAD0AF9-64B2-44B4-B2EB-63432B1738CC}">
  <ds:schemaRefs>
    <ds:schemaRef ds:uri="http://schemas.microsoft.com/office/2006/metadata/properties"/>
    <ds:schemaRef ds:uri="http://schemas.microsoft.com/office/infopath/2007/PartnerControls"/>
    <ds:schemaRef ds:uri="a38c680a-7277-4874-b91e-ca9d73cc987f"/>
    <ds:schemaRef ds:uri="a9330557-d790-4a15-81dd-41ac6aafd1e6"/>
  </ds:schemaRefs>
</ds:datastoreItem>
</file>

<file path=customXml/itemProps3.xml><?xml version="1.0" encoding="utf-8"?>
<ds:datastoreItem xmlns:ds="http://schemas.openxmlformats.org/officeDocument/2006/customXml" ds:itemID="{0555D80C-35A2-472F-91B6-38EB197E93D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38c680a-7277-4874-b91e-ca9d73cc987f"/>
    <ds:schemaRef ds:uri="a9330557-d790-4a15-81dd-41ac6aafd1e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d026bb9f-849e-4520-adf3-36adc211bebd}" enabled="1" method="Privileged" siteId="{ac144e41-8001-48f0-9e1c-170716ed06b6}" removed="0"/>
</clbl:labelList>
</file>

<file path=docProps/app.xml><?xml version="1.0" encoding="utf-8"?>
<Properties xmlns="http://schemas.openxmlformats.org/officeDocument/2006/extended-properties" xmlns:vt="http://schemas.openxmlformats.org/officeDocument/2006/docPropsVTypes">
  <Template>Office 2013 - 2022 Theme</Template>
  <TotalTime>4824</TotalTime>
  <Words>2454</Words>
  <Application>Microsoft Office PowerPoint</Application>
  <PresentationFormat>Widescreen</PresentationFormat>
  <Paragraphs>309</Paragraphs>
  <Slides>26</Slides>
  <Notes>12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26</vt:i4>
      </vt:variant>
    </vt:vector>
  </HeadingPairs>
  <TitlesOfParts>
    <vt:vector size="31" baseType="lpstr">
      <vt:lpstr>Aptos Narrow</vt:lpstr>
      <vt:lpstr>Arial</vt:lpstr>
      <vt:lpstr>Calibri</vt:lpstr>
      <vt:lpstr>Calibri Light</vt:lpstr>
      <vt:lpstr>Office 2013 - 2022 Theme</vt:lpstr>
      <vt:lpstr>Proxy VMD Modeling Project Andrew Mertens (University of California, Berkeley)  </vt:lpstr>
      <vt:lpstr>PowerPoint Presentation</vt:lpstr>
      <vt:lpstr>Goals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Details on one model-b12</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National-level BRINDA and VMNIS predictions</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Julie Honore</dc:creator>
  <cp:lastModifiedBy>Andrew Mertens</cp:lastModifiedBy>
  <cp:revision>155</cp:revision>
  <dcterms:created xsi:type="dcterms:W3CDTF">2022-06-09T13:01:26Z</dcterms:created>
  <dcterms:modified xsi:type="dcterms:W3CDTF">2026-01-14T14:51:00Z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0x0101002B25C0FA6767BB4D81A74FDB92ED2A5C</vt:lpwstr>
  </property>
  <property fmtid="{D5CDD505-2E9C-101B-9397-08002B2CF9AE}" pid="3" name="MediaServiceImageTags">
    <vt:lpwstr/>
  </property>
</Properties>
</file>