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6" r:id="rId4"/>
  </p:sldMasterIdLst>
  <p:notesMasterIdLst>
    <p:notesMasterId r:id="rId8"/>
  </p:notesMasterIdLst>
  <p:handoutMasterIdLst>
    <p:handoutMasterId r:id="rId9"/>
  </p:handoutMasterIdLst>
  <p:sldIdLst>
    <p:sldId id="258" r:id="rId5"/>
    <p:sldId id="259" r:id="rId6"/>
    <p:sldId id="260" r:id="rId7"/>
  </p:sldIdLst>
  <p:sldSz cx="12192000" cy="6858000"/>
  <p:notesSz cx="6858000" cy="9144000"/>
  <p:defaultText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04A7AC-15B3-45AE-AC7F-FFFBC168BDF3}" v="12" dt="2026-05-28T05:45:53.7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963"/>
    <p:restoredTop sz="94694"/>
  </p:normalViewPr>
  <p:slideViewPr>
    <p:cSldViewPr snapToGrid="0">
      <p:cViewPr>
        <p:scale>
          <a:sx n="66" d="100"/>
          <a:sy n="66" d="100"/>
        </p:scale>
        <p:origin x="450" y="12"/>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tta Dafne" userId="89a71111-275f-4d76-be51-f523b3029291" providerId="ADAL" clId="{47C11647-2FF0-4ECB-AF80-83BD1E959D56}"/>
    <pc:docChg chg="custSel addSld modSld">
      <pc:chgData name="Netta Dafne" userId="89a71111-275f-4d76-be51-f523b3029291" providerId="ADAL" clId="{47C11647-2FF0-4ECB-AF80-83BD1E959D56}" dt="2026-05-28T05:45:53.702" v="60"/>
      <pc:docMkLst>
        <pc:docMk/>
      </pc:docMkLst>
      <pc:sldChg chg="addSp delSp modSp mod">
        <pc:chgData name="Netta Dafne" userId="89a71111-275f-4d76-be51-f523b3029291" providerId="ADAL" clId="{47C11647-2FF0-4ECB-AF80-83BD1E959D56}" dt="2026-05-28T05:45:38.140" v="56" actId="14100"/>
        <pc:sldMkLst>
          <pc:docMk/>
          <pc:sldMk cId="1051702882" sldId="258"/>
        </pc:sldMkLst>
        <pc:spChg chg="mod">
          <ac:chgData name="Netta Dafne" userId="89a71111-275f-4d76-be51-f523b3029291" providerId="ADAL" clId="{47C11647-2FF0-4ECB-AF80-83BD1E959D56}" dt="2026-05-28T05:45:38.140" v="56" actId="14100"/>
          <ac:spMkLst>
            <pc:docMk/>
            <pc:sldMk cId="1051702882" sldId="258"/>
            <ac:spMk id="2" creationId="{710D1EA6-28C5-51DF-6FCC-75CF0B4CEB72}"/>
          </ac:spMkLst>
        </pc:spChg>
        <pc:spChg chg="mod">
          <ac:chgData name="Netta Dafne" userId="89a71111-275f-4d76-be51-f523b3029291" providerId="ADAL" clId="{47C11647-2FF0-4ECB-AF80-83BD1E959D56}" dt="2026-05-28T05:39:14.587" v="0"/>
          <ac:spMkLst>
            <pc:docMk/>
            <pc:sldMk cId="1051702882" sldId="258"/>
            <ac:spMk id="4" creationId="{9A1CCB76-777F-B7E0-FF9E-57A23F8AE2C4}"/>
          </ac:spMkLst>
        </pc:spChg>
        <pc:spChg chg="add mod">
          <ac:chgData name="Netta Dafne" userId="89a71111-275f-4d76-be51-f523b3029291" providerId="ADAL" clId="{47C11647-2FF0-4ECB-AF80-83BD1E959D56}" dt="2026-05-28T05:41:23.073" v="19" actId="20577"/>
          <ac:spMkLst>
            <pc:docMk/>
            <pc:sldMk cId="1051702882" sldId="258"/>
            <ac:spMk id="6" creationId="{244A6222-89C3-8E58-A2D5-AB28D689A7D4}"/>
          </ac:spMkLst>
        </pc:spChg>
        <pc:spChg chg="add mod">
          <ac:chgData name="Netta Dafne" userId="89a71111-275f-4d76-be51-f523b3029291" providerId="ADAL" clId="{47C11647-2FF0-4ECB-AF80-83BD1E959D56}" dt="2026-05-28T05:39:47.256" v="5" actId="1076"/>
          <ac:spMkLst>
            <pc:docMk/>
            <pc:sldMk cId="1051702882" sldId="258"/>
            <ac:spMk id="8" creationId="{6888D7F1-FDF2-9B66-96A3-E76131BE6F5E}"/>
          </ac:spMkLst>
        </pc:spChg>
        <pc:spChg chg="add del mod">
          <ac:chgData name="Netta Dafne" userId="89a71111-275f-4d76-be51-f523b3029291" providerId="ADAL" clId="{47C11647-2FF0-4ECB-AF80-83BD1E959D56}" dt="2026-05-28T05:40:35.369" v="11" actId="478"/>
          <ac:spMkLst>
            <pc:docMk/>
            <pc:sldMk cId="1051702882" sldId="258"/>
            <ac:spMk id="9" creationId="{7C982D71-B125-C6E8-B960-9F540CE27777}"/>
          </ac:spMkLst>
        </pc:spChg>
        <pc:spChg chg="add mod">
          <ac:chgData name="Netta Dafne" userId="89a71111-275f-4d76-be51-f523b3029291" providerId="ADAL" clId="{47C11647-2FF0-4ECB-AF80-83BD1E959D56}" dt="2026-05-28T05:41:56.474" v="21" actId="255"/>
          <ac:spMkLst>
            <pc:docMk/>
            <pc:sldMk cId="1051702882" sldId="258"/>
            <ac:spMk id="10" creationId="{00A7D40E-8463-A698-92F6-EAB158559E3A}"/>
          </ac:spMkLst>
        </pc:spChg>
        <pc:graphicFrameChg chg="del">
          <ac:chgData name="Netta Dafne" userId="89a71111-275f-4d76-be51-f523b3029291" providerId="ADAL" clId="{47C11647-2FF0-4ECB-AF80-83BD1E959D56}" dt="2026-05-28T05:39:49.804" v="6" actId="478"/>
          <ac:graphicFrameMkLst>
            <pc:docMk/>
            <pc:sldMk cId="1051702882" sldId="258"/>
            <ac:graphicFrameMk id="3" creationId="{3E67099B-75A3-71C8-4A16-3A028FC10E61}"/>
          </ac:graphicFrameMkLst>
        </pc:graphicFrameChg>
        <pc:graphicFrameChg chg="del">
          <ac:chgData name="Netta Dafne" userId="89a71111-275f-4d76-be51-f523b3029291" providerId="ADAL" clId="{47C11647-2FF0-4ECB-AF80-83BD1E959D56}" dt="2026-05-28T05:39:24.648" v="1" actId="478"/>
          <ac:graphicFrameMkLst>
            <pc:docMk/>
            <pc:sldMk cId="1051702882" sldId="258"/>
            <ac:graphicFrameMk id="7" creationId="{9C60CB2D-85C6-8331-178D-FE8E50A2B624}"/>
          </ac:graphicFrameMkLst>
        </pc:graphicFrameChg>
      </pc:sldChg>
      <pc:sldChg chg="addSp delSp modSp add mod">
        <pc:chgData name="Netta Dafne" userId="89a71111-275f-4d76-be51-f523b3029291" providerId="ADAL" clId="{47C11647-2FF0-4ECB-AF80-83BD1E959D56}" dt="2026-05-28T05:45:47.150" v="58"/>
        <pc:sldMkLst>
          <pc:docMk/>
          <pc:sldMk cId="735740519" sldId="259"/>
        </pc:sldMkLst>
        <pc:spChg chg="del">
          <ac:chgData name="Netta Dafne" userId="89a71111-275f-4d76-be51-f523b3029291" providerId="ADAL" clId="{47C11647-2FF0-4ECB-AF80-83BD1E959D56}" dt="2026-05-28T05:45:46.457" v="57" actId="478"/>
          <ac:spMkLst>
            <pc:docMk/>
            <pc:sldMk cId="735740519" sldId="259"/>
            <ac:spMk id="2" creationId="{05538306-48C5-94A7-B6F8-FC59B4F5A2D8}"/>
          </ac:spMkLst>
        </pc:spChg>
        <pc:spChg chg="add mod">
          <ac:chgData name="Netta Dafne" userId="89a71111-275f-4d76-be51-f523b3029291" providerId="ADAL" clId="{47C11647-2FF0-4ECB-AF80-83BD1E959D56}" dt="2026-05-28T05:45:47.150" v="58"/>
          <ac:spMkLst>
            <pc:docMk/>
            <pc:sldMk cId="735740519" sldId="259"/>
            <ac:spMk id="3" creationId="{C8A964DC-0FB5-4899-4C13-DADC41CFE32C}"/>
          </ac:spMkLst>
        </pc:spChg>
        <pc:spChg chg="mod">
          <ac:chgData name="Netta Dafne" userId="89a71111-275f-4d76-be51-f523b3029291" providerId="ADAL" clId="{47C11647-2FF0-4ECB-AF80-83BD1E959D56}" dt="2026-05-28T05:45:18.923" v="54"/>
          <ac:spMkLst>
            <pc:docMk/>
            <pc:sldMk cId="735740519" sldId="259"/>
            <ac:spMk id="4" creationId="{69ED4EB7-1F60-4819-63DF-2507DD5D978D}"/>
          </ac:spMkLst>
        </pc:spChg>
        <pc:spChg chg="del">
          <ac:chgData name="Netta Dafne" userId="89a71111-275f-4d76-be51-f523b3029291" providerId="ADAL" clId="{47C11647-2FF0-4ECB-AF80-83BD1E959D56}" dt="2026-05-28T05:42:41.896" v="41" actId="478"/>
          <ac:spMkLst>
            <pc:docMk/>
            <pc:sldMk cId="735740519" sldId="259"/>
            <ac:spMk id="6" creationId="{2B92D0FE-47EB-317F-45FF-80E702C6CCFE}"/>
          </ac:spMkLst>
        </pc:spChg>
        <pc:spChg chg="del mod">
          <ac:chgData name="Netta Dafne" userId="89a71111-275f-4d76-be51-f523b3029291" providerId="ADAL" clId="{47C11647-2FF0-4ECB-AF80-83BD1E959D56}" dt="2026-05-28T05:42:39.554" v="40" actId="478"/>
          <ac:spMkLst>
            <pc:docMk/>
            <pc:sldMk cId="735740519" sldId="259"/>
            <ac:spMk id="8" creationId="{3A64FEE3-7DF0-2112-891E-3BCC23F139CD}"/>
          </ac:spMkLst>
        </pc:spChg>
        <pc:spChg chg="mod">
          <ac:chgData name="Netta Dafne" userId="89a71111-275f-4d76-be51-f523b3029291" providerId="ADAL" clId="{47C11647-2FF0-4ECB-AF80-83BD1E959D56}" dt="2026-05-28T05:42:48.846" v="43" actId="1076"/>
          <ac:spMkLst>
            <pc:docMk/>
            <pc:sldMk cId="735740519" sldId="259"/>
            <ac:spMk id="10" creationId="{E66080FE-D214-3393-0966-975187048BAB}"/>
          </ac:spMkLst>
        </pc:spChg>
      </pc:sldChg>
      <pc:sldChg chg="addSp delSp modSp add mod">
        <pc:chgData name="Netta Dafne" userId="89a71111-275f-4d76-be51-f523b3029291" providerId="ADAL" clId="{47C11647-2FF0-4ECB-AF80-83BD1E959D56}" dt="2026-05-28T05:45:53.702" v="60"/>
        <pc:sldMkLst>
          <pc:docMk/>
          <pc:sldMk cId="4038509521" sldId="260"/>
        </pc:sldMkLst>
        <pc:spChg chg="del">
          <ac:chgData name="Netta Dafne" userId="89a71111-275f-4d76-be51-f523b3029291" providerId="ADAL" clId="{47C11647-2FF0-4ECB-AF80-83BD1E959D56}" dt="2026-05-28T05:45:53.038" v="59" actId="478"/>
          <ac:spMkLst>
            <pc:docMk/>
            <pc:sldMk cId="4038509521" sldId="260"/>
            <ac:spMk id="2" creationId="{B9D64D66-BAC8-9E25-177D-A4727B9A8668}"/>
          </ac:spMkLst>
        </pc:spChg>
        <pc:spChg chg="add mod">
          <ac:chgData name="Netta Dafne" userId="89a71111-275f-4d76-be51-f523b3029291" providerId="ADAL" clId="{47C11647-2FF0-4ECB-AF80-83BD1E959D56}" dt="2026-05-28T05:45:53.702" v="60"/>
          <ac:spMkLst>
            <pc:docMk/>
            <pc:sldMk cId="4038509521" sldId="260"/>
            <ac:spMk id="3" creationId="{3D2E381C-414F-7DBF-E1BB-AA4CE2D63A3F}"/>
          </ac:spMkLst>
        </pc:spChg>
        <pc:spChg chg="mod">
          <ac:chgData name="Netta Dafne" userId="89a71111-275f-4d76-be51-f523b3029291" providerId="ADAL" clId="{47C11647-2FF0-4ECB-AF80-83BD1E959D56}" dt="2026-05-28T05:43:12.342" v="45"/>
          <ac:spMkLst>
            <pc:docMk/>
            <pc:sldMk cId="4038509521" sldId="260"/>
            <ac:spMk id="4" creationId="{A683529C-FD08-6075-729E-42711B60CD4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931999-5B91-1A50-8F81-1072BFFD3F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a:extLst>
              <a:ext uri="{FF2B5EF4-FFF2-40B4-BE49-F238E27FC236}">
                <a16:creationId xmlns:a16="http://schemas.microsoft.com/office/drawing/2014/main" id="{8A46EA67-5E20-4CA3-DC32-9F84A5338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CDA14B-D38D-7645-84FF-CE2170A8AFF1}" type="datetimeFigureOut">
              <a:rPr lang="en-BG" smtClean="0"/>
              <a:t>05/28/2026</a:t>
            </a:fld>
            <a:endParaRPr lang="en-BG"/>
          </a:p>
        </p:txBody>
      </p:sp>
      <p:sp>
        <p:nvSpPr>
          <p:cNvPr id="4" name="Footer Placeholder 3">
            <a:extLst>
              <a:ext uri="{FF2B5EF4-FFF2-40B4-BE49-F238E27FC236}">
                <a16:creationId xmlns:a16="http://schemas.microsoft.com/office/drawing/2014/main" id="{FD584223-8438-BD41-6DCC-22F515C6C1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5" name="Slide Number Placeholder 4">
            <a:extLst>
              <a:ext uri="{FF2B5EF4-FFF2-40B4-BE49-F238E27FC236}">
                <a16:creationId xmlns:a16="http://schemas.microsoft.com/office/drawing/2014/main" id="{CF29F514-8FC2-8210-191C-196F10F4B3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5CF6A-9CF9-7F49-B504-0CD64E7B38C2}" type="slidenum">
              <a:rPr lang="en-BG" smtClean="0"/>
              <a:t>‹#›</a:t>
            </a:fld>
            <a:endParaRPr lang="en-BG"/>
          </a:p>
        </p:txBody>
      </p:sp>
    </p:spTree>
    <p:extLst>
      <p:ext uri="{BB962C8B-B14F-4D97-AF65-F5344CB8AC3E}">
        <p14:creationId xmlns:p14="http://schemas.microsoft.com/office/powerpoint/2010/main" val="186273864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05/28/2026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ANDREW, about 45 seconds (128 words). Micronutrient surveys are rare and expensive. Most countries have no recent estimate, and even where one exists it was designed to report regions, so programmes choose districts with almost no data. Our question: can data that already exist for every district fill that gap? Satellite, climate, soil, crops, disease maps, prices, household surveys. Four national biomarker surveys, in The Gambia, Ghana, Malawi and Sierra Leone, are the ground truth: 206 districts, five nutrients. We linked 575 public layers to every district, none of which needs a blood sample. Each family of layers becomes a few summary scores, weighted by how well it tracks deficiency where blood was drawn. Nothing is tuned. And every number you will see comes from predicting districts, and whole countries, the model never saw.</a:t>
            </a:r>
          </a:p>
        </p:txBody>
      </p:sp>
    </p:spTree>
    <p:extLst>
      <p:ext uri="{BB962C8B-B14F-4D97-AF65-F5344CB8AC3E}">
        <p14:creationId xmlns:p14="http://schemas.microsoft.com/office/powerpoint/2010/main" val="1563259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4EB1-568B-A81B-AC46-EB308A83F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F458C-5771-D7B0-5B78-733E9FD72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5E451-D8D5-06C3-A61A-453236D8B8D8}"/>
              </a:ext>
            </a:extLst>
          </p:cNvPr>
          <p:cNvSpPr>
            <a:spLocks noGrp="1"/>
          </p:cNvSpPr>
          <p:nvPr>
            <p:ph type="body" idx="1"/>
          </p:nvPr>
        </p:nvSpPr>
        <p:spPr/>
        <p:txBody>
          <a:bodyPr/>
          <a:lstStyle/>
          <a:p>
            <a:r>
              <a:t>ANDREW, about 80 seconds (184 words). This is the finding. Each panel is one nutrient, and the bars are the share of the model's weight carried by each family of predictors. The top three bars are the same in every panel: satellite imagery, climate and soil, just under half the weight whichever nutrient you take. Then look below them, because a nutritionist would recognise all of it. B12, the nutrient you get almost only from animal-source food, leans on infant feeding: districts where more infants are fed meat or fish. Iron and folate lean on modelled anaemia, their clinical consequence. Vitamin A leans on child wasting. Children's iron leans on a cereal-and-livestock farming gradient. And the nutrient with the clearest dietary marker is the one we predict best: women's B12 reaches 0.63 inside a country and 0.52 in a country never surveyed, against 0.08 for chance. One practical point. The layers that cross a border are the free ones. Openly downloadable data alone score 0.32 in a new country; adding public survey microdata, which cost us weeks and a registration each, takes it to 0.30, and DHS microdata to 0.28.</a:t>
            </a:r>
          </a:p>
        </p:txBody>
      </p:sp>
    </p:spTree>
    <p:extLst>
      <p:ext uri="{BB962C8B-B14F-4D97-AF65-F5344CB8AC3E}">
        <p14:creationId xmlns:p14="http://schemas.microsoft.com/office/powerpoint/2010/main" val="108123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BD5DD-9EDF-2A9D-135D-B6433BD67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BB73A-F3B2-9CF0-E13F-035B09945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D8A7C-724A-E1F6-6C60-1EB1B25EEBCB}"/>
              </a:ext>
            </a:extLst>
          </p:cNvPr>
          <p:cNvSpPr>
            <a:spLocks noGrp="1"/>
          </p:cNvSpPr>
          <p:nvPr>
            <p:ph type="body" idx="1"/>
          </p:nvPr>
        </p:nvSpPr>
        <p:spPr/>
        <p:txBody>
          <a:bodyPr/>
          <a:lstStyle/>
          <a:p>
            <a:r>
              <a:t>ANDREW, about 55 seconds (135 words). And the caution. Malawi women's B12 is our best-predicted outcome, at 0.70. Inside it, the anaemia layer points the wrong way: districts with more anaemia have better B12 status. No biology says that. The maps say why. Anaemia and malaria peak along the lakeshore and in the south, and that is exactly where households eat fish, the main source of B12 in Malawi. The model found a marker for a place, not a cause, and it cannot tell the difference. So the rule we hold to: these layers tell you where to look, not what to change. What a country gets today is a ranking of its own districts from data it can download, enough to target a programme and to place the next survey. The level still needs one measured national sample. Thank you.</a:t>
            </a:r>
          </a:p>
        </p:txBody>
      </p:sp>
    </p:spTree>
    <p:extLst>
      <p:ext uri="{BB962C8B-B14F-4D97-AF65-F5344CB8AC3E}">
        <p14:creationId xmlns:p14="http://schemas.microsoft.com/office/powerpoint/2010/main" val="2629529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5/28/2026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5/28/2026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5/28/2026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5/28/2026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5/28/2026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5/28/2026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5/28/2026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5/28/2026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5/28/2026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5/28/2026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5/28/2026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8000"/>
            <a:lum/>
          </a:blip>
          <a:srcRect/>
          <a:stretch>
            <a:fillRect t="-4000" b="-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4A5735-1510-7049-BCA2-D05BF1104DA2}" type="datetime1">
              <a:rPr lang="en-US" smtClean="0"/>
              <a:t>5/28/2026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3827C873-E708-78A8-F07F-6BABDF770880}"/>
              </a:ext>
            </a:extLst>
          </p:cNvPr>
          <p:cNvSpPr>
            <a:spLocks noGrp="1"/>
          </p:cNvSpPr>
          <p:nvPr>
            <p:ph type="sldNum" sz="quarter" idx="12"/>
          </p:nvPr>
        </p:nvSpPr>
        <p:spPr/>
        <p:txBody>
          <a:bodyPr/>
          <a:lstStyle/>
          <a:p>
            <a:fld id="{8C903514-D622-FE49-B01E-C0625A22DB6C}" type="slidenum">
              <a:rPr lang="en-BG" smtClean="0"/>
              <a:t>1</a:t>
            </a:fld>
            <a:endParaRPr lang="en-BG" dirty="0"/>
          </a:p>
        </p:txBody>
      </p:sp>
      <p:sp>
        <p:nvSpPr>
          <p:cNvPr id="2" name="Slide Number Placeholder 10">
            <a:extLst>
              <a:ext uri="{FF2B5EF4-FFF2-40B4-BE49-F238E27FC236}">
                <a16:creationId xmlns:a16="http://schemas.microsoft.com/office/drawing/2014/main" id="{710D1EA6-28C5-51DF-6FCC-75CF0B4CEB72}"/>
              </a:ext>
            </a:extLst>
          </p:cNvPr>
          <p:cNvSpPr txBox="1">
            <a:spLocks/>
          </p:cNvSpPr>
          <p:nvPr/>
        </p:nvSpPr>
        <p:spPr>
          <a:xfrm>
            <a:off x="838200" y="6356349"/>
            <a:ext cx="4285343" cy="365125"/>
          </a:xfrm>
          <a:prstGeom prst="rect">
            <a:avLst/>
          </a:prstGeom>
        </p:spPr>
        <p:txBody>
          <a:bodyPr vert="horz" lIns="91440" tIns="45720" rIns="91440" bIns="45720" rtlCol="0" anchor="ctr"/>
          <a:lstStyle>
            <a:defPPr>
              <a:defRPr lang="en-BG"/>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t>Micronutrient Forum 7th Global Conference</a:t>
            </a:r>
            <a:endParaRPr lang="en-BG" sz="1600" dirty="0"/>
          </a:p>
        </p:txBody>
      </p:sp>
      <p:sp>
        <p:nvSpPr>
          <p:cNvPr id="4" name="Title 1">
            <a:extLst>
              <a:ext uri="{FF2B5EF4-FFF2-40B4-BE49-F238E27FC236}">
                <a16:creationId xmlns:a16="http://schemas.microsoft.com/office/drawing/2014/main" id="{9A1CCB76-777F-B7E0-FF9E-57A23F8AE2C4}"/>
              </a:ext>
            </a:extLst>
          </p:cNvPr>
          <p:cNvSpPr txBox="1">
            <a:spLocks/>
          </p:cNvSpPr>
          <p:nvPr/>
        </p:nvSpPr>
        <p:spPr>
          <a:xfrm>
            <a:off x="246888" y="137160"/>
            <a:ext cx="11704320" cy="9601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z="2200"/>
              <a:t>Which public data layers predict micronutrient deficiency, and what they do and do not tell us: evidence from four national biomarker surveys</a:t>
            </a:r>
            <a:endParaRPr lang="bg-BG" dirty="0"/>
          </a:p>
        </p:txBody>
      </p:sp>
      <p:sp>
        <p:nvSpPr>
          <p:cNvPr id="6" name="TextBox 5">
            <a:extLst>
              <a:ext uri="{FF2B5EF4-FFF2-40B4-BE49-F238E27FC236}">
                <a16:creationId xmlns:a16="http://schemas.microsoft.com/office/drawing/2014/main" id="{244A6222-89C3-8E58-A2D5-AB28D689A7D4}"/>
              </a:ext>
            </a:extLst>
          </p:cNvPr>
          <p:cNvSpPr txBox="1"/>
          <p:nvPr/>
        </p:nvSpPr>
        <p:spPr>
          <a:xfrm>
            <a:off x="246888" y="1143000"/>
            <a:ext cx="11704320" cy="685800"/>
          </a:xfrm>
          <a:prstGeom prst="rect">
            <a:avLst/>
          </a:prstGeom>
          <a:noFill/>
        </p:spPr>
        <p:txBody>
          <a:bodyPr wrap="square">
            <a:spAutoFit/>
          </a:bodyPr>
          <a:lstStyle/>
          <a:p>
            <a:r>
              <a:rPr lang="en-US" sz="1200" dirty="0">
                <a:solidFill>
                  <a:schemeClr val="tx1">
                    <a:lumMod val="65000"/>
                    <a:lumOff val="35000"/>
                  </a:schemeClr>
                </a:solidFill>
              </a:rPr>
              <a:t>Andrew N. Mertens (presenting), Reed Atkin, Sorrel Namaste, Demewoz Haile, Kenneth H. Brown, Saskia Osendarp, Xiuping Tan, Eric Stewart, Keith Lividini, Seth Adu-Afarwuah, Nicolai Petry, Aminata S. Koroma, Mary H. Hodges, Fabian Rohner, Haddy Crookes, James P. Wirth, Jonathan Gorstein, Kathy Banke, Sonja Y. Hess</a:t>
            </a:r>
          </a:p>
        </p:txBody>
      </p:sp>
      <p:sp>
        <p:nvSpPr>
          <p:cNvPr id="8" name="Title 23">
            <a:extLst>
              <a:ext uri="{FF2B5EF4-FFF2-40B4-BE49-F238E27FC236}">
                <a16:creationId xmlns:a16="http://schemas.microsoft.com/office/drawing/2014/main" id="{6888D7F1-FDF2-9B66-96A3-E76131BE6F5E}"/>
              </a:ext>
            </a:extLst>
          </p:cNvPr>
          <p:cNvSpPr txBox="1">
            <a:spLocks/>
          </p:cNvSpPr>
          <p:nvPr/>
        </p:nvSpPr>
        <p:spPr>
          <a:xfrm>
            <a:off x="246446" y="1920240"/>
            <a:ext cx="7038712" cy="606251"/>
          </a:xfrm>
          <a:prstGeom prst="rect">
            <a:avLst/>
          </a:prstGeom>
        </p:spPr>
        <p:txBody>
          <a:bodyPr vert="horz" lIns="91440" tIns="45720" rIns="91440" bIns="45720" rtlCol="0" anchor="ctr">
            <a:normAutofit/>
          </a:bodyPr>
          <a:lstStyle>
            <a:defPPr>
              <a:defRPr lang="en-US"/>
            </a:defPPr>
            <a:lvl1pPr marL="0" algn="l" defTabSz="457200" rtl="0" eaLnBrk="1" latinLnBrk="0" hangingPunct="1">
              <a:spcBef>
                <a:spcPct val="0"/>
              </a:spcBef>
              <a:buNone/>
              <a:defRPr sz="3600" kern="1200">
                <a:solidFill>
                  <a:srgbClr val="397188"/>
                </a:solidFill>
                <a:latin typeface="+mj-lt"/>
                <a:ea typeface="+mj-ea"/>
                <a:cs typeface="+mj-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0"/>
              </a:spcBef>
              <a:buClr>
                <a:srgbClr val="144A85"/>
              </a:buClr>
              <a:buSzPts val="2500"/>
            </a:pPr>
            <a:r>
              <a:rPr lang="en-US" sz="2500" b="1" dirty="0">
                <a:solidFill>
                  <a:srgbClr val="144A85"/>
                </a:solidFill>
                <a:latin typeface="Open Sans"/>
                <a:ea typeface="Open Sans"/>
                <a:cs typeface="Open Sans"/>
                <a:sym typeface="Open Sans"/>
              </a:rPr>
              <a:t>Background, aims and methods</a:t>
            </a:r>
          </a:p>
        </p:txBody>
      </p:sp>
      <p:pic>
        <p:nvPicPr>
          <p:cNvPr id="12" name="Picture 11" descr="vial_blue.png"/>
          <p:cNvPicPr>
            <a:picLocks noChangeAspect="1"/>
          </p:cNvPicPr>
          <p:nvPr/>
        </p:nvPicPr>
        <p:blipFill>
          <a:blip r:embed="rId3"/>
          <a:stretch>
            <a:fillRect/>
          </a:stretch>
        </p:blipFill>
        <p:spPr>
          <a:xfrm>
            <a:off x="502920" y="2633472"/>
            <a:ext cx="502920" cy="502920"/>
          </a:xfrm>
          <a:prstGeom prst="rect">
            <a:avLst/>
          </a:prstGeom>
        </p:spPr>
      </p:pic>
      <p:sp>
        <p:nvSpPr>
          <p:cNvPr id="13" name="TextBox 12"/>
          <p:cNvSpPr txBox="1"/>
          <p:nvPr/>
        </p:nvSpPr>
        <p:spPr>
          <a:xfrm>
            <a:off x="1280160" y="2514600"/>
            <a:ext cx="10424160" cy="740664"/>
          </a:xfrm>
          <a:prstGeom prst="rect">
            <a:avLst/>
          </a:prstGeom>
          <a:noFill/>
        </p:spPr>
        <p:txBody>
          <a:bodyPr wrap="square" anchor="ctr" lIns="45720" rIns="45720" tIns="27432" bIns="27432">
            <a:spAutoFit/>
          </a:bodyPr>
          <a:lstStyle/>
          <a:p>
            <a:pPr algn="l"/>
            <a:r>
              <a:rPr sz="1500" b="1">
                <a:solidFill>
                  <a:srgbClr val="1F4E79"/>
                </a:solidFill>
                <a:latin typeface="Calibri"/>
              </a:rPr>
              <a:t>Micronutrient surveys are rare and expensive</a:t>
            </a:r>
          </a:p>
          <a:p>
            <a:pPr algn="l">
              <a:spcBef>
                <a:spcPts val="300"/>
              </a:spcBef>
            </a:pPr>
            <a:r>
              <a:rPr sz="1250" b="0">
                <a:solidFill>
                  <a:srgbClr val="333333"/>
                </a:solidFill>
                <a:latin typeface="Calibri"/>
              </a:rPr>
              <a:t>Most countries have no recent estimate, and almost none can say which districts are worst off.</a:t>
            </a:r>
          </a:p>
        </p:txBody>
      </p:sp>
      <p:pic>
        <p:nvPicPr>
          <p:cNvPr id="14" name="Picture 13" descr="layer-group_blue.png"/>
          <p:cNvPicPr>
            <a:picLocks noChangeAspect="1"/>
          </p:cNvPicPr>
          <p:nvPr/>
        </p:nvPicPr>
        <p:blipFill>
          <a:blip r:embed="rId4"/>
          <a:stretch>
            <a:fillRect/>
          </a:stretch>
        </p:blipFill>
        <p:spPr>
          <a:xfrm>
            <a:off x="502920" y="3374136"/>
            <a:ext cx="565785" cy="502920"/>
          </a:xfrm>
          <a:prstGeom prst="rect">
            <a:avLst/>
          </a:prstGeom>
        </p:spPr>
      </p:pic>
      <p:sp>
        <p:nvSpPr>
          <p:cNvPr id="15" name="TextBox 14"/>
          <p:cNvSpPr txBox="1"/>
          <p:nvPr/>
        </p:nvSpPr>
        <p:spPr>
          <a:xfrm>
            <a:off x="1280160" y="3255264"/>
            <a:ext cx="10424160" cy="740664"/>
          </a:xfrm>
          <a:prstGeom prst="rect">
            <a:avLst/>
          </a:prstGeom>
          <a:noFill/>
        </p:spPr>
        <p:txBody>
          <a:bodyPr wrap="square" anchor="ctr" lIns="45720" rIns="45720" tIns="27432" bIns="27432">
            <a:spAutoFit/>
          </a:bodyPr>
          <a:lstStyle/>
          <a:p>
            <a:pPr algn="l"/>
            <a:r>
              <a:rPr sz="1500" b="1">
                <a:solidFill>
                  <a:srgbClr val="1F4E79"/>
                </a:solidFill>
                <a:latin typeface="Calibri"/>
              </a:rPr>
              <a:t>Can data that already exist for every district fill that gap?</a:t>
            </a:r>
          </a:p>
          <a:p>
            <a:pPr algn="l">
              <a:spcBef>
                <a:spcPts val="300"/>
              </a:spcBef>
            </a:pPr>
            <a:r>
              <a:rPr sz="1250" b="0">
                <a:solidFill>
                  <a:srgbClr val="333333"/>
                </a:solidFill>
                <a:latin typeface="Calibri"/>
              </a:rPr>
              <a:t>Satellite, climate, soil, crops, disease maps, prices, household surveys.</a:t>
            </a:r>
          </a:p>
        </p:txBody>
      </p:sp>
      <p:pic>
        <p:nvPicPr>
          <p:cNvPr id="16" name="Picture 15" descr="earth-africa_blue.png"/>
          <p:cNvPicPr>
            <a:picLocks noChangeAspect="1"/>
          </p:cNvPicPr>
          <p:nvPr/>
        </p:nvPicPr>
        <p:blipFill>
          <a:blip r:embed="rId5"/>
          <a:stretch>
            <a:fillRect/>
          </a:stretch>
        </p:blipFill>
        <p:spPr>
          <a:xfrm>
            <a:off x="502920" y="4114800"/>
            <a:ext cx="502920" cy="502920"/>
          </a:xfrm>
          <a:prstGeom prst="rect">
            <a:avLst/>
          </a:prstGeom>
        </p:spPr>
      </p:pic>
      <p:sp>
        <p:nvSpPr>
          <p:cNvPr id="17" name="TextBox 16"/>
          <p:cNvSpPr txBox="1"/>
          <p:nvPr/>
        </p:nvSpPr>
        <p:spPr>
          <a:xfrm>
            <a:off x="1280160" y="3995928"/>
            <a:ext cx="10424160" cy="740664"/>
          </a:xfrm>
          <a:prstGeom prst="rect">
            <a:avLst/>
          </a:prstGeom>
          <a:noFill/>
        </p:spPr>
        <p:txBody>
          <a:bodyPr wrap="square" anchor="ctr" lIns="45720" rIns="45720" tIns="27432" bIns="27432">
            <a:spAutoFit/>
          </a:bodyPr>
          <a:lstStyle/>
          <a:p>
            <a:pPr algn="l"/>
            <a:r>
              <a:rPr sz="1500" b="1">
                <a:solidFill>
                  <a:srgbClr val="1F4E79"/>
                </a:solidFill>
                <a:latin typeface="Calibri"/>
              </a:rPr>
              <a:t>Four national biomarker surveys as the ground truth</a:t>
            </a:r>
          </a:p>
          <a:p>
            <a:pPr algn="l">
              <a:spcBef>
                <a:spcPts val="300"/>
              </a:spcBef>
            </a:pPr>
            <a:r>
              <a:rPr sz="1250" b="0">
                <a:solidFill>
                  <a:srgbClr val="333333"/>
                </a:solidFill>
                <a:latin typeface="Calibri"/>
              </a:rPr>
              <a:t>The Gambia 2018, Ghana 2017, Malawi 2015-16, Sierra Leone 2013: 206 districts; iron, vitamin A, folate, B12 and zinc.</a:t>
            </a:r>
          </a:p>
        </p:txBody>
      </p:sp>
      <p:pic>
        <p:nvPicPr>
          <p:cNvPr id="18" name="Picture 17" descr="sliders_blue.png"/>
          <p:cNvPicPr>
            <a:picLocks noChangeAspect="1"/>
          </p:cNvPicPr>
          <p:nvPr/>
        </p:nvPicPr>
        <p:blipFill>
          <a:blip r:embed="rId6"/>
          <a:stretch>
            <a:fillRect/>
          </a:stretch>
        </p:blipFill>
        <p:spPr>
          <a:xfrm>
            <a:off x="502920" y="4855464"/>
            <a:ext cx="502920" cy="502920"/>
          </a:xfrm>
          <a:prstGeom prst="rect">
            <a:avLst/>
          </a:prstGeom>
        </p:spPr>
      </p:pic>
      <p:sp>
        <p:nvSpPr>
          <p:cNvPr id="19" name="TextBox 18"/>
          <p:cNvSpPr txBox="1"/>
          <p:nvPr/>
        </p:nvSpPr>
        <p:spPr>
          <a:xfrm>
            <a:off x="1280160" y="4736592"/>
            <a:ext cx="10424160" cy="740664"/>
          </a:xfrm>
          <a:prstGeom prst="rect">
            <a:avLst/>
          </a:prstGeom>
          <a:noFill/>
        </p:spPr>
        <p:txBody>
          <a:bodyPr wrap="square" anchor="ctr" lIns="45720" rIns="45720" tIns="27432" bIns="27432">
            <a:spAutoFit/>
          </a:bodyPr>
          <a:lstStyle/>
          <a:p>
            <a:pPr algn="l"/>
            <a:r>
              <a:rPr sz="1500" b="1">
                <a:solidFill>
                  <a:srgbClr val="1F4E79"/>
                </a:solidFill>
                <a:latin typeface="Calibri"/>
              </a:rPr>
              <a:t>575 public layers per district, none needing a blood sample</a:t>
            </a:r>
          </a:p>
          <a:p>
            <a:pPr algn="l">
              <a:spcBef>
                <a:spcPts val="300"/>
              </a:spcBef>
            </a:pPr>
            <a:r>
              <a:rPr sz="1250" b="0">
                <a:solidFill>
                  <a:srgbClr val="333333"/>
                </a:solidFill>
                <a:latin typeface="Calibri"/>
              </a:rPr>
              <a:t>Each family of layers becomes a few summary scores, weighted by how well it tracks deficiency where blood was drawn. Nothing is tuned.</a:t>
            </a:r>
          </a:p>
        </p:txBody>
      </p:sp>
      <p:pic>
        <p:nvPicPr>
          <p:cNvPr id="20" name="Picture 19" descr="location-crosshairs_blue.png"/>
          <p:cNvPicPr>
            <a:picLocks noChangeAspect="1"/>
          </p:cNvPicPr>
          <p:nvPr/>
        </p:nvPicPr>
        <p:blipFill>
          <a:blip r:embed="rId7"/>
          <a:stretch>
            <a:fillRect/>
          </a:stretch>
        </p:blipFill>
        <p:spPr>
          <a:xfrm>
            <a:off x="502920" y="5596128"/>
            <a:ext cx="502920" cy="502920"/>
          </a:xfrm>
          <a:prstGeom prst="rect">
            <a:avLst/>
          </a:prstGeom>
        </p:spPr>
      </p:pic>
      <p:sp>
        <p:nvSpPr>
          <p:cNvPr id="21" name="TextBox 20"/>
          <p:cNvSpPr txBox="1"/>
          <p:nvPr/>
        </p:nvSpPr>
        <p:spPr>
          <a:xfrm>
            <a:off x="1280160" y="5477256"/>
            <a:ext cx="10424160" cy="740664"/>
          </a:xfrm>
          <a:prstGeom prst="rect">
            <a:avLst/>
          </a:prstGeom>
          <a:noFill/>
        </p:spPr>
        <p:txBody>
          <a:bodyPr wrap="square" anchor="ctr" lIns="45720" rIns="45720" tIns="27432" bIns="27432">
            <a:spAutoFit/>
          </a:bodyPr>
          <a:lstStyle/>
          <a:p>
            <a:pPr algn="l"/>
            <a:r>
              <a:rPr sz="1500" b="1">
                <a:solidFill>
                  <a:srgbClr val="1F4E79"/>
                </a:solidFill>
                <a:latin typeface="Calibri"/>
              </a:rPr>
              <a:t>Tested only on what the model never saw</a:t>
            </a:r>
          </a:p>
          <a:p>
            <a:pPr algn="l">
              <a:spcBef>
                <a:spcPts val="300"/>
              </a:spcBef>
            </a:pPr>
            <a:r>
              <a:rPr sz="1250" b="0">
                <a:solidFill>
                  <a:srgbClr val="333333"/>
                </a:solidFill>
                <a:latin typeface="Calibri"/>
              </a:rPr>
              <a:t>Districts held out one in five, and whole countries held out in turn.</a:t>
            </a:r>
          </a:p>
        </p:txBody>
      </p:sp>
    </p:spTree>
    <p:extLst>
      <p:ext uri="{BB962C8B-B14F-4D97-AF65-F5344CB8AC3E}">
        <p14:creationId xmlns:p14="http://schemas.microsoft.com/office/powerpoint/2010/main" val="1051702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B26BA-F77E-39B2-F3D0-93F7E06F9457}"/>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A0EA4084-E17F-361A-2405-275FC4FB2373}"/>
              </a:ext>
            </a:extLst>
          </p:cNvPr>
          <p:cNvSpPr>
            <a:spLocks noGrp="1"/>
          </p:cNvSpPr>
          <p:nvPr>
            <p:ph type="sldNum" sz="quarter" idx="12"/>
          </p:nvPr>
        </p:nvSpPr>
        <p:spPr/>
        <p:txBody>
          <a:bodyPr/>
          <a:lstStyle/>
          <a:p>
            <a:fld id="{8C903514-D622-FE49-B01E-C0625A22DB6C}" type="slidenum">
              <a:rPr lang="en-BG" smtClean="0"/>
              <a:t>2</a:t>
            </a:fld>
            <a:endParaRPr lang="en-BG" dirty="0"/>
          </a:p>
        </p:txBody>
      </p:sp>
      <p:sp>
        <p:nvSpPr>
          <p:cNvPr id="4" name="Title 1">
            <a:extLst>
              <a:ext uri="{FF2B5EF4-FFF2-40B4-BE49-F238E27FC236}">
                <a16:creationId xmlns:a16="http://schemas.microsoft.com/office/drawing/2014/main" id="{69ED4EB7-1F60-4819-63DF-2507DD5D978D}"/>
              </a:ext>
            </a:extLst>
          </p:cNvPr>
          <p:cNvSpPr txBox="1">
            <a:spLocks/>
          </p:cNvSpPr>
          <p:nvPr/>
        </p:nvSpPr>
        <p:spPr>
          <a:xfrm>
            <a:off x="246888" y="91440"/>
            <a:ext cx="11704320" cy="5669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sz="2400"/>
              <a:t>Every model uses the same three layers; each nutrient adds its own</a:t>
            </a:r>
          </a:p>
        </p:txBody>
      </p:sp>
      <p:sp>
        <p:nvSpPr>
          <p:cNvPr id="10" name="Text Placeholder 2">
            <a:extLst>
              <a:ext uri="{FF2B5EF4-FFF2-40B4-BE49-F238E27FC236}">
                <a16:creationId xmlns:a16="http://schemas.microsoft.com/office/drawing/2014/main" id="{E66080FE-D214-3393-0966-975187048BAB}"/>
              </a:ext>
            </a:extLst>
          </p:cNvPr>
          <p:cNvSpPr txBox="1">
            <a:spLocks/>
          </p:cNvSpPr>
          <p:nvPr/>
        </p:nvSpPr>
        <p:spPr>
          <a:xfrm>
            <a:off x="274320" y="731520"/>
            <a:ext cx="11612880" cy="1874519"/>
          </a:xfrm>
          <a:prstGeom prst="rect">
            <a:avLst/>
          </a:prstGeom>
        </p:spPr>
        <p:txBody>
          <a:bodyPr vert="horz" lIns="91440" tIns="45720" rIns="91440" bIns="45720" rtlCol="0" wrap="square">
            <a:normAutofit/>
          </a:bodyPr>
          <a:lstStyle>
            <a:defPPr>
              <a:defRPr lang="en-US"/>
            </a:defPPr>
            <a:lvl1pPr marL="342900" indent="-342900" algn="l" defTabSz="457200" rtl="0" eaLnBrk="1" latinLnBrk="0" hangingPunct="1">
              <a:spcBef>
                <a:spcPct val="20000"/>
              </a:spcBef>
              <a:buClr>
                <a:srgbClr val="35A9A2"/>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5A9A2"/>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5A9A2"/>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5A9A2"/>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5A9A2"/>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600"/>
              </a:spcAft>
            </a:pPr>
            <a:r>
              <a:rPr lang="en-GB" sz="1300" dirty="0"/>
              <a:t>Three blocks do most of the work for every nutrient: satellite imagery, climate and soil carry 39% to 54% of the model's weight.</a:t>
            </a:r>
          </a:p>
          <a:p>
            <a:pPr>
              <a:spcAft>
                <a:spcPts val="600"/>
              </a:spcAft>
            </a:pPr>
            <a:r>
              <a:rPr lang="en-GB" sz="1300" dirty="0"/>
              <a:t>What each nutrient adds on top is recognisable. B12 leans on infant meat and fish consumption; iron and folate on modelled anaemia; vitamin A on child wasting; children's iron on a cereal-and-livestock farming gradient.</a:t>
            </a:r>
          </a:p>
          <a:p>
            <a:pPr>
              <a:spcAft>
                <a:spcPts val="600"/>
              </a:spcAft>
            </a:pPr>
            <a:r>
              <a:rPr lang="en-GB" sz="1300" dirty="0"/>
              <a:t>The nutrient with the clearest dietary marker is also the best predicted. Women's B12 reaches 0.63 inside a country and 0.52 in a country never surveyed, against 0.08 for chance.</a:t>
            </a:r>
          </a:p>
          <a:p>
            <a:pPr>
              <a:spcAft>
                <a:spcPts val="600"/>
              </a:spcAft>
            </a:pPr>
            <a:r>
              <a:rPr lang="en-GB" sz="1300" dirty="0"/>
              <a:t>The layers that cross a border are the free ones: openly downloadable data alone score 0.32, ahead of adding public survey microdata (0.30) or DHS microdata (0.28).</a:t>
            </a:r>
          </a:p>
        </p:txBody>
      </p:sp>
      <p:sp>
        <p:nvSpPr>
          <p:cNvPr id="3" name="Slide Number Placeholder 10">
            <a:extLst>
              <a:ext uri="{FF2B5EF4-FFF2-40B4-BE49-F238E27FC236}">
                <a16:creationId xmlns:a16="http://schemas.microsoft.com/office/drawing/2014/main" id="{C8A964DC-0FB5-4899-4C13-DADC41CFE32C}"/>
              </a:ext>
            </a:extLst>
          </p:cNvPr>
          <p:cNvSpPr txBox="1">
            <a:spLocks/>
          </p:cNvSpPr>
          <p:nvPr/>
        </p:nvSpPr>
        <p:spPr>
          <a:xfrm>
            <a:off x="838200" y="6356349"/>
            <a:ext cx="4285343" cy="365125"/>
          </a:xfrm>
          <a:prstGeom prst="rect">
            <a:avLst/>
          </a:prstGeom>
        </p:spPr>
        <p:txBody>
          <a:bodyPr vert="horz" lIns="91440" tIns="45720" rIns="91440" bIns="45720" rtlCol="0" anchor="ctr"/>
          <a:lstStyle>
            <a:defPPr>
              <a:defRPr lang="en-BG"/>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t>Micronutrient Forum 7th Global Conference</a:t>
            </a:r>
            <a:endParaRPr lang="en-BG" sz="1600" dirty="0"/>
          </a:p>
        </p:txBody>
      </p:sp>
      <p:pic>
        <p:nvPicPr>
          <p:cNvPr id="12" name="Picture 11" descr="figD_what_each_model_uses.png"/>
          <p:cNvPicPr>
            <a:picLocks noChangeAspect="1"/>
          </p:cNvPicPr>
          <p:nvPr/>
        </p:nvPicPr>
        <p:blipFill>
          <a:blip r:embed="rId3"/>
          <a:stretch>
            <a:fillRect/>
          </a:stretch>
        </p:blipFill>
        <p:spPr>
          <a:xfrm>
            <a:off x="1417320" y="2697480"/>
            <a:ext cx="9326880" cy="4737463"/>
          </a:xfrm>
          <a:prstGeom prst="rect">
            <a:avLst/>
          </a:prstGeom>
        </p:spPr>
      </p:pic>
    </p:spTree>
    <p:extLst>
      <p:ext uri="{BB962C8B-B14F-4D97-AF65-F5344CB8AC3E}">
        <p14:creationId xmlns:p14="http://schemas.microsoft.com/office/powerpoint/2010/main" val="73574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563D-7979-F07D-CBDC-71FAC677245C}"/>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581B6153-C58F-F254-D523-3544D7C647B9}"/>
              </a:ext>
            </a:extLst>
          </p:cNvPr>
          <p:cNvSpPr>
            <a:spLocks noGrp="1"/>
          </p:cNvSpPr>
          <p:nvPr>
            <p:ph type="sldNum" sz="quarter" idx="12"/>
          </p:nvPr>
        </p:nvSpPr>
        <p:spPr/>
        <p:txBody>
          <a:bodyPr/>
          <a:lstStyle/>
          <a:p>
            <a:fld id="{8C903514-D622-FE49-B01E-C0625A22DB6C}" type="slidenum">
              <a:rPr lang="en-BG" smtClean="0"/>
              <a:t>3</a:t>
            </a:fld>
            <a:endParaRPr lang="en-BG" dirty="0"/>
          </a:p>
        </p:txBody>
      </p:sp>
      <p:sp>
        <p:nvSpPr>
          <p:cNvPr id="4" name="Title 1">
            <a:extLst>
              <a:ext uri="{FF2B5EF4-FFF2-40B4-BE49-F238E27FC236}">
                <a16:creationId xmlns:a16="http://schemas.microsoft.com/office/drawing/2014/main" id="{A683529C-FD08-6075-729E-42711B60CD41}"/>
              </a:ext>
            </a:extLst>
          </p:cNvPr>
          <p:cNvSpPr txBox="1">
            <a:spLocks/>
          </p:cNvSpPr>
          <p:nvPr/>
        </p:nvSpPr>
        <p:spPr>
          <a:xfrm>
            <a:off x="246888" y="91440"/>
            <a:ext cx="11704320" cy="5669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z="2400"/>
              <a:t>Malawi: the model finds place-markers, not mechanisms</a:t>
            </a:r>
            <a:endParaRPr lang="en-GB" b="1" dirty="0"/>
          </a:p>
        </p:txBody>
      </p:sp>
      <p:sp>
        <p:nvSpPr>
          <p:cNvPr id="10" name="Text Placeholder 2">
            <a:extLst>
              <a:ext uri="{FF2B5EF4-FFF2-40B4-BE49-F238E27FC236}">
                <a16:creationId xmlns:a16="http://schemas.microsoft.com/office/drawing/2014/main" id="{8C1D09DC-ED1B-DCBC-2D45-E1A90B2DDC31}"/>
              </a:ext>
            </a:extLst>
          </p:cNvPr>
          <p:cNvSpPr txBox="1">
            <a:spLocks/>
          </p:cNvSpPr>
          <p:nvPr/>
        </p:nvSpPr>
        <p:spPr>
          <a:xfrm>
            <a:off x="274320" y="731520"/>
            <a:ext cx="11612880" cy="1874519"/>
          </a:xfrm>
          <a:prstGeom prst="rect">
            <a:avLst/>
          </a:prstGeom>
        </p:spPr>
        <p:txBody>
          <a:bodyPr vert="horz" lIns="91440" tIns="45720" rIns="91440" bIns="45720" rtlCol="0" wrap="square">
            <a:normAutofit/>
          </a:bodyPr>
          <a:lstStyle>
            <a:defPPr>
              <a:defRPr lang="en-US"/>
            </a:defPPr>
            <a:lvl1pPr marL="342900" indent="-342900" algn="l" defTabSz="457200" rtl="0" eaLnBrk="1" latinLnBrk="0" hangingPunct="1">
              <a:spcBef>
                <a:spcPct val="20000"/>
              </a:spcBef>
              <a:buClr>
                <a:srgbClr val="35A9A2"/>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5A9A2"/>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5A9A2"/>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5A9A2"/>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5A9A2"/>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Aft>
                <a:spcPts val="600"/>
              </a:spcAft>
            </a:pPr>
            <a:r>
              <a:rPr lang="en-GB" sz="1300" dirty="0"/>
              <a:t>Malawi women's B12 is our best-predicted outcome (0.70), and it carries a warning: modelled anaemia tracks BETTER B12 status (rho -0.40), which no biology supports.</a:t>
            </a:r>
          </a:p>
          <a:p>
            <a:pPr>
              <a:spcAft>
                <a:spcPts val="600"/>
              </a:spcAft>
            </a:pPr>
            <a:r>
              <a:rPr lang="en-GB" sz="1300" dirty="0"/>
              <a:t>The maps say why. Anaemia and malaria peak along the lakeshore and in the south, and so does eating fish (rho -0.48), the main source of B12 in Malawi.</a:t>
            </a:r>
          </a:p>
          <a:p>
            <a:pPr>
              <a:spcAft>
                <a:spcPts val="600"/>
              </a:spcAft>
            </a:pPr>
            <a:r>
              <a:rPr lang="en-GB" sz="1300" dirty="0"/>
              <a:t>The model found a marker for a place, not a cause, and cannot tell them apart. These layers say where deficiency is; they are not a list of things to change.</a:t>
            </a:r>
          </a:p>
          <a:p>
            <a:pPr>
              <a:spcAft>
                <a:spcPts val="600"/>
              </a:spcAft>
            </a:pPr>
            <a:r>
              <a:rPr lang="en-GB" sz="1300" dirty="0"/>
              <a:t>Impact: a country can rank its own districts today from data it can download, to target programmes and to place the next survey. The level still needs one measured national sample.</a:t>
            </a:r>
          </a:p>
        </p:txBody>
      </p:sp>
      <p:sp>
        <p:nvSpPr>
          <p:cNvPr id="3" name="Slide Number Placeholder 10">
            <a:extLst>
              <a:ext uri="{FF2B5EF4-FFF2-40B4-BE49-F238E27FC236}">
                <a16:creationId xmlns:a16="http://schemas.microsoft.com/office/drawing/2014/main" id="{3D2E381C-414F-7DBF-E1BB-AA4CE2D63A3F}"/>
              </a:ext>
            </a:extLst>
          </p:cNvPr>
          <p:cNvSpPr txBox="1">
            <a:spLocks/>
          </p:cNvSpPr>
          <p:nvPr/>
        </p:nvSpPr>
        <p:spPr>
          <a:xfrm>
            <a:off x="838200" y="6356349"/>
            <a:ext cx="4285343" cy="365125"/>
          </a:xfrm>
          <a:prstGeom prst="rect">
            <a:avLst/>
          </a:prstGeom>
        </p:spPr>
        <p:txBody>
          <a:bodyPr vert="horz" lIns="91440" tIns="45720" rIns="91440" bIns="45720" rtlCol="0" anchor="ctr"/>
          <a:lstStyle>
            <a:defPPr>
              <a:defRPr lang="en-BG"/>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600" dirty="0"/>
              <a:t>Micronutrient Forum 7th Global Conference</a:t>
            </a:r>
            <a:endParaRPr lang="en-BG" sz="1600" dirty="0"/>
          </a:p>
        </p:txBody>
      </p:sp>
      <p:pic>
        <p:nvPicPr>
          <p:cNvPr id="12" name="Picture 11" descr="figM_malawi_b12_surrogate.png"/>
          <p:cNvPicPr>
            <a:picLocks noChangeAspect="1"/>
          </p:cNvPicPr>
          <p:nvPr/>
        </p:nvPicPr>
        <p:blipFill>
          <a:blip r:embed="rId3"/>
          <a:stretch>
            <a:fillRect/>
          </a:stretch>
        </p:blipFill>
        <p:spPr>
          <a:xfrm>
            <a:off x="2697480" y="2697480"/>
            <a:ext cx="8229600" cy="4039985"/>
          </a:xfrm>
          <a:prstGeom prst="rect">
            <a:avLst/>
          </a:prstGeom>
        </p:spPr>
      </p:pic>
    </p:spTree>
    <p:extLst>
      <p:ext uri="{BB962C8B-B14F-4D97-AF65-F5344CB8AC3E}">
        <p14:creationId xmlns:p14="http://schemas.microsoft.com/office/powerpoint/2010/main" val="4038509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FolderID xmlns="eb3f7de7-c935-4ca6-a12c-1f73773710ec" xsi:nil="true"/>
    <KenesDocumentTypeId xmlns="eb3f7de7-c935-4ca6-a12c-1f73773710ec" xsi:nil="true"/>
    <Confidential1 xmlns="eb3f7de7-c935-4ca6-a12c-1f73773710ec">false</Confidential1>
    <Final xmlns="eb3f7de7-c935-4ca6-a12c-1f73773710ec">false</Final>
    <_ip_UnifiedCompliancePolicyUIAction xmlns="http://schemas.microsoft.com/sharepoint/v3" xsi:nil="true"/>
    <TaxCatchAll xmlns="eb3f7de7-c935-4ca6-a12c-1f73773710ec" xsi:nil="true"/>
    <_ip_UnifiedCompliancePolicyProperties xmlns="http://schemas.microsoft.com/sharepoint/v3" xsi:nil="true"/>
    <lcf76f155ced4ddcb4097134ff3c332f xmlns="d72e9c86-ce1e-489a-805e-7419eb99b5d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Kenes Document" ma:contentTypeID="0x01010037EA2DD516505C4D92B92F8677CFB68500EA22B67ECB1D76408BF7B711399C0FD4" ma:contentTypeVersion="12" ma:contentTypeDescription="" ma:contentTypeScope="" ma:versionID="06032500261be35da3a0a0240560c200">
  <xsd:schema xmlns:xsd="http://www.w3.org/2001/XMLSchema" xmlns:xs="http://www.w3.org/2001/XMLSchema" xmlns:p="http://schemas.microsoft.com/office/2006/metadata/properties" xmlns:ns1="http://schemas.microsoft.com/sharepoint/v3" xmlns:ns2="eb3f7de7-c935-4ca6-a12c-1f73773710ec" xmlns:ns3="d72e9c86-ce1e-489a-805e-7419eb99b5d2" targetNamespace="http://schemas.microsoft.com/office/2006/metadata/properties" ma:root="true" ma:fieldsID="e9392f22e3dad9074463082e04503dba" ns1:_="" ns2:_="" ns3:_="">
    <xsd:import namespace="http://schemas.microsoft.com/sharepoint/v3"/>
    <xsd:import namespace="eb3f7de7-c935-4ca6-a12c-1f73773710ec"/>
    <xsd:import namespace="d72e9c86-ce1e-489a-805e-7419eb99b5d2"/>
    <xsd:element name="properties">
      <xsd:complexType>
        <xsd:sequence>
          <xsd:element name="documentManagement">
            <xsd:complexType>
              <xsd:all>
                <xsd:element ref="ns2:FolderID" minOccurs="0"/>
                <xsd:element ref="ns2:KenesDocumentTypeId" minOccurs="0"/>
                <xsd:element ref="ns2:Confidential1" minOccurs="0"/>
                <xsd:element ref="ns2:Final" minOccurs="0"/>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lcf76f155ced4ddcb4097134ff3c332f" minOccurs="0"/>
                <xsd:element ref="ns2:TaxCatchAll" minOccurs="0"/>
                <xsd:element ref="ns3:MediaServiceGenerationTime" minOccurs="0"/>
                <xsd:element ref="ns3: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3f7de7-c935-4ca6-a12c-1f73773710ec" elementFormDefault="qualified">
    <xsd:import namespace="http://schemas.microsoft.com/office/2006/documentManagement/types"/>
    <xsd:import namespace="http://schemas.microsoft.com/office/infopath/2007/PartnerControls"/>
    <xsd:element name="FolderID" ma:index="2" nillable="true" ma:displayName="FolderID" ma:list="{62b5239b-3564-444d-88a9-03f6d13d411f}" ma:internalName="FolderID" ma:showField="Title" ma:web="eb3f7de7-c935-4ca6-a12c-1f73773710ec">
      <xsd:simpleType>
        <xsd:restriction base="dms:Lookup"/>
      </xsd:simpleType>
    </xsd:element>
    <xsd:element name="KenesDocumentTypeId" ma:index="3" nillable="true" ma:displayName="KenesDocumentTypeId" ma:list="{5ca2ab15-5c4e-45db-95e6-5cb4dd45d1b1}" ma:internalName="KenesDocumentTypeId" ma:showField="Title" ma:web="eb3f7de7-c935-4ca6-a12c-1f73773710ec">
      <xsd:simpleType>
        <xsd:restriction base="dms:Lookup"/>
      </xsd:simpleType>
    </xsd:element>
    <xsd:element name="Confidential1" ma:index="4" nillable="true" ma:displayName="Confidential" ma:default="0" ma:internalName="Confidential1">
      <xsd:simpleType>
        <xsd:restriction base="dms:Boolean"/>
      </xsd:simpleType>
    </xsd:element>
    <xsd:element name="Final" ma:index="5" nillable="true" ma:displayName="Final" ma:default="0" ma:internalName="Final">
      <xsd:simpleType>
        <xsd:restriction base="dms:Boolean"/>
      </xsd:simpleType>
    </xsd:element>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TaxCatchAll" ma:index="21" nillable="true" ma:displayName="Taxonomy Catch All Column" ma:hidden="true" ma:list="{7eb20398-0988-4e55-b57f-05d62d7b8281}" ma:internalName="TaxCatchAll" ma:showField="CatchAllData" ma:web="eb3f7de7-c935-4ca6-a12c-1f73773710e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72e9c86-ce1e-489a-805e-7419eb99b5d2" elementFormDefault="qualified">
    <xsd:import namespace="http://schemas.microsoft.com/office/2006/documentManagement/types"/>
    <xsd:import namespace="http://schemas.microsoft.com/office/infopath/2007/PartnerControls"/>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20c72ca-3d5e-4053-bfc4-d5117e56c934" ma:termSetId="09814cd3-568e-fe90-9814-8d621ff8fb84" ma:anchorId="fba54fb3-c3e1-fe81-a776-ca4b69148c4d" ma:open="true" ma:isKeyword="false">
      <xsd:complexType>
        <xsd:sequence>
          <xsd:element ref="pc:Terms" minOccurs="0" maxOccurs="1"/>
        </xsd:sequence>
      </xsd:complex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AECE92-6F92-480E-935A-4CC2F64AB925}">
  <ds:schemaRefs>
    <ds:schemaRef ds:uri="http://schemas.microsoft.com/sharepoint/v3/contenttype/forms"/>
  </ds:schemaRefs>
</ds:datastoreItem>
</file>

<file path=customXml/itemProps2.xml><?xml version="1.0" encoding="utf-8"?>
<ds:datastoreItem xmlns:ds="http://schemas.openxmlformats.org/officeDocument/2006/customXml" ds:itemID="{DF4B3B8D-5EFF-4B84-BCA5-FD7475620758}">
  <ds:schemaRefs>
    <ds:schemaRef ds:uri="http://purl.org/dc/elements/1.1/"/>
    <ds:schemaRef ds:uri="http://schemas.microsoft.com/office/2006/metadata/properties"/>
    <ds:schemaRef ds:uri="http://purl.org/dc/terms/"/>
    <ds:schemaRef ds:uri="eb3f7de7-c935-4ca6-a12c-1f73773710ec"/>
    <ds:schemaRef ds:uri="d72e9c86-ce1e-489a-805e-7419eb99b5d2"/>
    <ds:schemaRef ds:uri="http://schemas.microsoft.com/office/2006/documentManagement/types"/>
    <ds:schemaRef ds:uri="http://schemas.microsoft.com/office/infopath/2007/PartnerControls"/>
    <ds:schemaRef ds:uri="http://schemas.openxmlformats.org/package/2006/metadata/core-properties"/>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8F5B21EE-931E-4994-A03A-24C7C56094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3f7de7-c935-4ca6-a12c-1f73773710ec"/>
    <ds:schemaRef ds:uri="d72e9c86-ce1e-489a-805e-7419eb99b5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225</TotalTime>
  <Words>47</Words>
  <Application>Microsoft Office PowerPoint</Application>
  <PresentationFormat>Widescreen</PresentationFormat>
  <Paragraphs>14</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Open Sans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Ана Балева</dc:creator>
  <cp:lastModifiedBy>Netta Dafne</cp:lastModifiedBy>
  <cp:revision>7</cp:revision>
  <dcterms:created xsi:type="dcterms:W3CDTF">2025-12-19T13:39:55Z</dcterms:created>
  <dcterms:modified xsi:type="dcterms:W3CDTF">2026-05-28T05:45:53Z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0x01010037EA2DD516505C4D92B92F8677CFB68500EA22B67ECB1D76408BF7B711399C0FD4</vt:lpwstr>
  </property>
  <property fmtid="{D5CDD505-2E9C-101B-9397-08002B2CF9AE}" pid="3" name="MediaServiceImageTags">
    <vt:lpwstr/>
  </property>
</Properties>
</file>