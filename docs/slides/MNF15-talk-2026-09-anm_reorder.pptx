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2C_CE887CF4.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103_0.xml" ContentType="application/vnd.ms-powerpoint.comments+xml"/>
  <Override PartName="/ppt/notesSlides/notesSlide5.xml" ContentType="application/vnd.openxmlformats-officedocument.presentationml.notesSlide+xml"/>
  <Override PartName="/ppt/comments/modernComment_104_0.xml" ContentType="application/vnd.ms-powerpoint.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modernComment_105_0.xml" ContentType="application/vnd.ms-powerpoint.comments+xml"/>
  <Override PartName="/ppt/notesSlides/notesSlide8.xml" ContentType="application/vnd.openxmlformats-officedocument.presentationml.notesSlide+xml"/>
  <Override PartName="/ppt/comments/modernComment_106_0.xml" ContentType="application/vnd.ms-powerpoint.comments+xml"/>
  <Override PartName="/ppt/notesSlides/notesSlide9.xml" ContentType="application/vnd.openxmlformats-officedocument.presentationml.notesSlide+xml"/>
  <Override PartName="/ppt/comments/modernComment_10F_320E183D.xml" ContentType="application/vnd.ms-powerpoint.comment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omments/modernComment_116_ED2E752E.xml" ContentType="application/vnd.ms-powerpoint.comment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omments/modernComment_108_0.xml" ContentType="application/vnd.ms-powerpoint.comments+xml"/>
  <Override PartName="/ppt/notesSlides/notesSlide15.xml" ContentType="application/vnd.openxmlformats-officedocument.presentationml.notesSlide+xml"/>
  <Override PartName="/ppt/comments/modernComment_109_0.xml" ContentType="application/vnd.ms-powerpoint.comments+xml"/>
  <Override PartName="/ppt/notesSlides/notesSlide16.xml" ContentType="application/vnd.openxmlformats-officedocument.presentationml.notesSlide+xml"/>
  <Override PartName="/ppt/comments/modernComment_10A_0.xml" ContentType="application/vnd.ms-powerpoint.comments+xml"/>
  <Override PartName="/ppt/notesSlides/notesSlide17.xml" ContentType="application/vnd.openxmlformats-officedocument.presentationml.notesSlide+xml"/>
  <Override PartName="/ppt/comments/modernComment_10B_0.xml" ContentType="application/vnd.ms-powerpoint.comment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omments/modernComment_112_0.xml" ContentType="application/vnd.ms-powerpoint.comment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omments/modernComment_11A_0.xml" ContentType="application/vnd.ms-powerpoint.comments+xml"/>
  <Override PartName="/ppt/notesSlides/notesSlide26.xml" ContentType="application/vnd.openxmlformats-officedocument.presentationml.notesSlide+xml"/>
  <Override PartName="/ppt/comments/modernComment_11B_0.xml" ContentType="application/vnd.ms-powerpoint.comment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omments/modernComment_120_0.xml" ContentType="application/vnd.ms-powerpoint.comment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76" r:id="rId1"/>
  </p:sldMasterIdLst>
  <p:notesMasterIdLst>
    <p:notesMasterId r:id="rId37"/>
  </p:notesMasterIdLst>
  <p:sldIdLst>
    <p:sldId id="256" r:id="rId2"/>
    <p:sldId id="300" r:id="rId3"/>
    <p:sldId id="301" r:id="rId4"/>
    <p:sldId id="291" r:id="rId5"/>
    <p:sldId id="259" r:id="rId6"/>
    <p:sldId id="260" r:id="rId7"/>
    <p:sldId id="292" r:id="rId8"/>
    <p:sldId id="261" r:id="rId9"/>
    <p:sldId id="262" r:id="rId10"/>
    <p:sldId id="271" r:id="rId11"/>
    <p:sldId id="276" r:id="rId12"/>
    <p:sldId id="285" r:id="rId13"/>
    <p:sldId id="278" r:id="rId14"/>
    <p:sldId id="263" r:id="rId15"/>
    <p:sldId id="264" r:id="rId16"/>
    <p:sldId id="265" r:id="rId17"/>
    <p:sldId id="266" r:id="rId18"/>
    <p:sldId id="267" r:id="rId19"/>
    <p:sldId id="268" r:id="rId20"/>
    <p:sldId id="270" r:id="rId21"/>
    <p:sldId id="272" r:id="rId22"/>
    <p:sldId id="273" r:id="rId23"/>
    <p:sldId id="274" r:id="rId24"/>
    <p:sldId id="277" r:id="rId25"/>
    <p:sldId id="279" r:id="rId26"/>
    <p:sldId id="280" r:id="rId27"/>
    <p:sldId id="282" r:id="rId28"/>
    <p:sldId id="283" r:id="rId29"/>
    <p:sldId id="284" r:id="rId30"/>
    <p:sldId id="287" r:id="rId31"/>
    <p:sldId id="288" r:id="rId32"/>
    <p:sldId id="293" r:id="rId33"/>
    <p:sldId id="294" r:id="rId34"/>
    <p:sldId id="297" r:id="rId35"/>
    <p:sldId id="299" r:id="rId36"/>
  </p:sldIdLst>
  <p:sldSz cx="12192000" cy="6858000"/>
  <p:notesSz cx="6858000" cy="9144000"/>
  <p:defaultTextStyle>
    <a:defPPr>
      <a:defRPr lang="en-B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14E4CAE-E167-60D0-ADF6-DC628FC944DC}" name="Andrew Mertens" initials="AM" userId="S::amertens@BERKELEY.EDU::40cc52c3-f288-42ba-b8ef-bfc4fa2900b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0082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963"/>
    <p:restoredTop sz="67185" autoAdjust="0"/>
  </p:normalViewPr>
  <p:slideViewPr>
    <p:cSldViewPr snapToGrid="0">
      <p:cViewPr varScale="1">
        <p:scale>
          <a:sx n="74" d="100"/>
          <a:sy n="74" d="100"/>
        </p:scale>
        <p:origin x="904" y="56"/>
      </p:cViewPr>
      <p:guideLst/>
    </p:cSldViewPr>
  </p:slideViewPr>
  <p:outlineViewPr>
    <p:cViewPr>
      <p:scale>
        <a:sx n="33" d="100"/>
        <a:sy n="33" d="100"/>
      </p:scale>
      <p:origin x="0" y="0"/>
    </p:cViewPr>
  </p:outlineViewPr>
  <p:notesTextViewPr>
    <p:cViewPr>
      <p:scale>
        <a:sx n="20" d="100"/>
        <a:sy n="20" d="100"/>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omments/modernComment_10A_0.xml><?xml version="1.0" encoding="utf-8"?>
<p188:cmLst xmlns:a="http://schemas.openxmlformats.org/drawingml/2006/main" xmlns:r="http://schemas.openxmlformats.org/officeDocument/2006/relationships" xmlns:p188="http://schemas.microsoft.com/office/powerpoint/2018/8/main">
  <p188:cm id="{994571E0-6B52-425B-84F3-B9D4096E4735}" authorId="{014E4CAE-E167-60D0-ADF6-DC628FC944DC}" created="2026-09-27T19:14:33.103">
    <ac:deMkLst xmlns:ac="http://schemas.microsoft.com/office/drawing/2013/main/command">
      <pc:docMk xmlns:pc="http://schemas.microsoft.com/office/powerpoint/2013/main/command"/>
      <pc:sldMk xmlns:pc="http://schemas.microsoft.com/office/powerpoint/2013/main/command" cId="0" sldId="266"/>
      <ac:spMk id="2" creationId="{B2AB3E48-2765-D748-089D-83A321314B8F}"/>
    </ac:deMkLst>
    <p188:txBody>
      <a:bodyPr/>
      <a:lstStyle/>
      <a:p>
        <a:r>
          <a:rPr lang="en-US"/>
          <a:t>This should be reframed in a conclusion slide into what the model can show in 1) a location without surveys, 2) supporting new surveys</a:t>
        </a:r>
      </a:p>
    </p188:txBody>
  </p188:cm>
</p188:cmLst>
</file>

<file path=ppt/comments/modernComment_10B_0.xml><?xml version="1.0" encoding="utf-8"?>
<p188:cmLst xmlns:a="http://schemas.openxmlformats.org/drawingml/2006/main" xmlns:r="http://schemas.openxmlformats.org/officeDocument/2006/relationships" xmlns:p188="http://schemas.microsoft.com/office/powerpoint/2018/8/main">
  <p188:cm id="{48BBF5E9-B837-4342-BEAC-AAC36EBEC4D0}" authorId="{014E4CAE-E167-60D0-ADF6-DC628FC944DC}" created="2026-09-27T19:15:20.305">
    <ac:txMkLst xmlns:ac="http://schemas.microsoft.com/office/drawing/2013/main/command">
      <pc:docMk xmlns:pc="http://schemas.microsoft.com/office/powerpoint/2013/main/command"/>
      <pc:sldMk xmlns:pc="http://schemas.microsoft.com/office/powerpoint/2013/main/command" cId="0" sldId="267"/>
      <ac:spMk id="2" creationId="{B2AB3E48-2765-D748-089D-83A321314B8F}"/>
      <ac:txMk cp="0" len="30">
        <ac:context len="31" hash="1565143623"/>
      </ac:txMk>
    </ac:txMkLst>
    <p188:pos x="6252713" y="618286"/>
    <p188:txBody>
      <a:bodyPr/>
      <a:lstStyle/>
      <a:p>
        <a:r>
          <a:rPr lang="en-US"/>
          <a:t>Sounds like ai</a:t>
        </a:r>
      </a:p>
    </p188:txBody>
  </p188:cm>
</p188:cmLst>
</file>

<file path=ppt/comments/modernComment_10F_320E183D.xml><?xml version="1.0" encoding="utf-8"?>
<p188:cmLst xmlns:a="http://schemas.openxmlformats.org/drawingml/2006/main" xmlns:r="http://schemas.openxmlformats.org/officeDocument/2006/relationships" xmlns:p188="http://schemas.microsoft.com/office/powerpoint/2018/8/main">
  <p188:cm id="{250DD2C9-2C1A-4D49-B5C0-A44DDA43E838}" authorId="{014E4CAE-E167-60D0-ADF6-DC628FC944DC}" created="2026-09-27T19:16:29.525">
    <pc:sldMkLst xmlns:pc="http://schemas.microsoft.com/office/powerpoint/2013/main/command">
      <pc:docMk/>
      <pc:sldMk cId="839784509" sldId="271"/>
    </pc:sldMkLst>
    <p188:txBody>
      <a:bodyPr/>
      <a:lstStyle/>
      <a:p>
        <a:r>
          <a:rPr lang="en-US"/>
          <a:t>Make figure wider, note which outcome, and add superleaner </a:t>
        </a:r>
      </a:p>
    </p188:txBody>
  </p188:cm>
</p188:cmLst>
</file>

<file path=ppt/comments/modernComment_11A_0.xml><?xml version="1.0" encoding="utf-8"?>
<p188:cmLst xmlns:a="http://schemas.openxmlformats.org/drawingml/2006/main" xmlns:r="http://schemas.openxmlformats.org/officeDocument/2006/relationships" xmlns:p188="http://schemas.microsoft.com/office/powerpoint/2018/8/main">
  <p188:cm id="{FB91D660-A3F1-4249-B2C6-A089F23647A9}" authorId="{014E4CAE-E167-60D0-ADF6-DC628FC944DC}" created="2026-09-27T21:01:01.889">
    <ac:txMkLst xmlns:ac="http://schemas.microsoft.com/office/drawing/2013/main/command">
      <pc:docMk xmlns:pc="http://schemas.microsoft.com/office/powerpoint/2013/main/command"/>
      <pc:sldMk xmlns:pc="http://schemas.microsoft.com/office/powerpoint/2013/main/command" cId="0" sldId="282"/>
      <ac:spMk id="2" creationId="{B2AB3E48-2765-D748-089D-83A321314B8F}"/>
      <ac:txMk cp="0" len="58">
        <ac:context len="59" hash="1252197227"/>
      </ac:txMk>
    </ac:txMkLst>
    <p188:pos x="9867181" y="368120"/>
    <p188:txBody>
      <a:bodyPr/>
      <a:lstStyle/>
      <a:p>
        <a:r>
          <a:rPr lang="en-US"/>
          <a:t>Is there a different way of framing “Survey finds…”, like limited district variation in the survey data? Or wait, in this case is there too much district variation?</a:t>
        </a:r>
      </a:p>
    </p188:txBody>
  </p188:cm>
</p188:cmLst>
</file>

<file path=ppt/comments/modernComment_11B_0.xml><?xml version="1.0" encoding="utf-8"?>
<p188:cmLst xmlns:a="http://schemas.openxmlformats.org/drawingml/2006/main" xmlns:r="http://schemas.openxmlformats.org/officeDocument/2006/relationships" xmlns:p188="http://schemas.microsoft.com/office/powerpoint/2018/8/main">
  <p188:cm id="{D9E97658-4092-4C5A-9A78-7D6F4FB59905}" authorId="{014E4CAE-E167-60D0-ADF6-DC628FC944DC}" created="2026-09-27T19:32:17.622">
    <ac:deMkLst xmlns:ac="http://schemas.microsoft.com/office/drawing/2013/main/command">
      <pc:docMk xmlns:pc="http://schemas.microsoft.com/office/powerpoint/2013/main/command"/>
      <pc:sldMk xmlns:pc="http://schemas.microsoft.com/office/powerpoint/2013/main/command" cId="0" sldId="283"/>
      <ac:picMk id="3" creationId="{00000000-0000-0000-0000-000000000000}"/>
    </ac:deMkLst>
    <p188:replyLst>
      <p188:reply id="{A773776A-1CBF-4A6A-A48C-A952FBB0D2CB}" authorId="{014E4CAE-E167-60D0-ADF6-DC628FC944DC}" created="2026-09-27T21:12:02.651">
        <p188:txBody>
          <a:bodyPr/>
          <a:lstStyle/>
          <a:p>
            <a:r>
              <a:rPr lang="en-US"/>
              <a:t>And which country and outcome?</a:t>
            </a:r>
          </a:p>
        </p188:txBody>
      </p188:reply>
    </p188:replyLst>
    <p188:txBody>
      <a:bodyPr/>
      <a:lstStyle/>
      <a:p>
        <a:r>
          <a:rPr lang="en-US"/>
          <a:t>Is this after dropping the 8 with no signal?</a:t>
        </a:r>
      </a:p>
    </p188:txBody>
  </p188:cm>
</p188:cmLst>
</file>

<file path=ppt/comments/modernComment_12C_CE887CF4.xml><?xml version="1.0" encoding="utf-8"?>
<p188:cmLst xmlns:a="http://schemas.openxmlformats.org/drawingml/2006/main" xmlns:r="http://schemas.openxmlformats.org/officeDocument/2006/relationships" xmlns:p188="http://schemas.microsoft.com/office/powerpoint/2018/8/main">
  <p188:cm id="{92E4FCA6-64EE-421C-A795-45F23951AEBC}" authorId="{014E4CAE-E167-60D0-ADF6-DC628FC944DC}" created="2026-09-27T18:53:05.292">
    <ac:deMkLst xmlns:ac="http://schemas.microsoft.com/office/drawing/2013/main/command">
      <pc:docMk xmlns:pc="http://schemas.microsoft.com/office/powerpoint/2013/main/command"/>
      <pc:sldMk xmlns:pc="http://schemas.microsoft.com/office/powerpoint/2013/main/command" cId="3465051380" sldId="300"/>
      <ac:picMk id="5" creationId="{74C47DC2-2024-9531-4129-A4628F5050A0}"/>
    </ac:deMkLst>
    <p188:txBody>
      <a:bodyPr/>
      <a:lstStyle/>
      <a:p>
        <a:r>
          <a:rPr lang="en-US"/>
          <a:t>Or some version of the graphical abstract</a:t>
        </a:r>
      </a:p>
    </p188:txBody>
  </p188:cm>
</p188:cmLst>
</file>

<file path=ppt/comments/modernComment_103_0.xml><?xml version="1.0" encoding="utf-8"?>
<p188:cmLst xmlns:a="http://schemas.openxmlformats.org/drawingml/2006/main" xmlns:r="http://schemas.openxmlformats.org/officeDocument/2006/relationships" xmlns:p188="http://schemas.microsoft.com/office/powerpoint/2018/8/main">
  <p188:cm id="{9DFA7BAE-9DE6-4277-A5CF-0C0A2D849915}" authorId="{014E4CAE-E167-60D0-ADF6-DC628FC944DC}" created="2026-09-27T18:58:31.320">
    <ac:deMkLst xmlns:ac="http://schemas.microsoft.com/office/drawing/2013/main/command">
      <pc:docMk xmlns:pc="http://schemas.microsoft.com/office/powerpoint/2013/main/command"/>
      <pc:sldMk xmlns:pc="http://schemas.microsoft.com/office/powerpoint/2013/main/command" cId="0" sldId="259"/>
      <ac:picMk id="8" creationId="{00000000-0000-0000-0000-000000000000}"/>
    </ac:deMkLst>
    <p188:txBody>
      <a:bodyPr/>
      <a:lstStyle/>
      <a:p>
        <a:r>
          <a:rPr lang="en-US"/>
          <a:t>In general, in this presentation, focus less on the numbers (like clusters) and why this is a challenging statistical problem (maybe in one slide), and instead on our interesting results, and their implication</a:t>
        </a:r>
      </a:p>
    </p188:txBody>
  </p188:cm>
  <p188:cm id="{06F196CE-8ADE-4731-B909-8F4EEAF35885}" authorId="{014E4CAE-E167-60D0-ADF6-DC628FC944DC}" created="2026-09-27T18:59:49.876">
    <ac:deMkLst xmlns:ac="http://schemas.microsoft.com/office/drawing/2013/main/command">
      <pc:docMk xmlns:pc="http://schemas.microsoft.com/office/powerpoint/2013/main/command"/>
      <pc:sldMk xmlns:pc="http://schemas.microsoft.com/office/powerpoint/2013/main/command" cId="0" sldId="259"/>
      <ac:picMk id="8" creationId="{00000000-0000-0000-0000-000000000000}"/>
    </ac:deMkLst>
    <p188:txBody>
      <a:bodyPr/>
      <a:lstStyle/>
      <a:p>
        <a:r>
          <a:rPr lang="en-US"/>
          <a:t>Do we really have genetic risk factors? And blood loss? 
We should verbally note in the script that the direct cause data is still indirect, as we don’t have individual level, just ecologocal, data</a:t>
        </a:r>
      </a:p>
    </p188:txBody>
  </p188:cm>
</p188:cmLst>
</file>

<file path=ppt/comments/modernComment_104_0.xml><?xml version="1.0" encoding="utf-8"?>
<p188:cmLst xmlns:a="http://schemas.openxmlformats.org/drawingml/2006/main" xmlns:r="http://schemas.openxmlformats.org/officeDocument/2006/relationships" xmlns:p188="http://schemas.microsoft.com/office/powerpoint/2018/8/main">
  <p188:cm id="{546A0399-1077-4624-9E93-E2E114B0CE05}" authorId="{014E4CAE-E167-60D0-ADF6-DC628FC944DC}" created="2026-09-27T21:16:55.774">
    <ac:txMkLst xmlns:ac="http://schemas.microsoft.com/office/drawing/2013/main/command">
      <pc:docMk xmlns:pc="http://schemas.microsoft.com/office/powerpoint/2013/main/command"/>
      <pc:sldMk xmlns:pc="http://schemas.microsoft.com/office/powerpoint/2013/main/command" cId="0" sldId="260"/>
      <ac:spMk id="2" creationId="{B2AB3E48-2765-D748-089D-83A321314B8F}"/>
      <ac:txMk cp="0" len="72">
        <ac:context len="73" hash="854127022"/>
      </ac:txMk>
    </ac:txMkLst>
    <p188:pos x="10048336" y="368120"/>
    <p188:txBody>
      <a:bodyPr/>
      <a:lstStyle/>
      <a:p>
        <a:r>
          <a:rPr lang="en-US"/>
          <a:t>AI garbage title- be clear and simple</a:t>
        </a:r>
      </a:p>
    </p188:txBody>
  </p188:cm>
</p188:cmLst>
</file>

<file path=ppt/comments/modernComment_105_0.xml><?xml version="1.0" encoding="utf-8"?>
<p188:cmLst xmlns:a="http://schemas.openxmlformats.org/drawingml/2006/main" xmlns:r="http://schemas.openxmlformats.org/officeDocument/2006/relationships" xmlns:p188="http://schemas.microsoft.com/office/powerpoint/2018/8/main">
  <p188:cm id="{34A576CC-57F9-4990-989F-0AD8480D4D5A}" authorId="{014E4CAE-E167-60D0-ADF6-DC628FC944DC}" created="2026-09-27T19:02:50.728">
    <ac:deMkLst xmlns:ac="http://schemas.microsoft.com/office/drawing/2013/main/command">
      <pc:docMk xmlns:pc="http://schemas.microsoft.com/office/powerpoint/2013/main/command"/>
      <pc:sldMk xmlns:pc="http://schemas.microsoft.com/office/powerpoint/2013/main/command" cId="0" sldId="261"/>
      <ac:picMk id="3" creationId="{00000000-0000-0000-0000-000000000000}"/>
    </ac:deMkLst>
    <p188:txBody>
      <a:bodyPr/>
      <a:lstStyle/>
      <a:p>
        <a:r>
          <a:rPr lang="en-US"/>
          <a:t>Is this the best possible example? 6 to 1 and 24 to 65th is bad
Showing the neighbor map is just as good really undercuts us- don’t we beat it on average?</a:t>
        </a:r>
      </a:p>
    </p188:txBody>
  </p188:cm>
</p188:cmLst>
</file>

<file path=ppt/comments/modernComment_106_0.xml><?xml version="1.0" encoding="utf-8"?>
<p188:cmLst xmlns:a="http://schemas.openxmlformats.org/drawingml/2006/main" xmlns:r="http://schemas.openxmlformats.org/officeDocument/2006/relationships" xmlns:p188="http://schemas.microsoft.com/office/powerpoint/2018/8/main">
  <p188:cm id="{1575CD37-59CA-453B-95AD-AE110731E6D2}" authorId="{014E4CAE-E167-60D0-ADF6-DC628FC944DC}" created="2026-09-27T19:04:18.131">
    <pc:sldMkLst xmlns:pc="http://schemas.microsoft.com/office/powerpoint/2013/main/command">
      <pc:docMk/>
      <pc:sldMk cId="0" sldId="262"/>
    </pc:sldMkLst>
    <p188:txBody>
      <a:bodyPr/>
      <a:lstStyle/>
      <a:p>
        <a:r>
          <a:rPr lang="en-US"/>
          <a:t>Wait, the previous slide showed the model at 0.53- it makes no sense that the loco model is better than the country-specific model. </a:t>
        </a:r>
      </a:p>
    </p188:txBody>
  </p188:cm>
  <p188:cm id="{2F4AEBF9-9154-4B69-9BEA-E384F55A46D8}" authorId="{014E4CAE-E167-60D0-ADF6-DC628FC944DC}" created="2026-09-27T19:05:34.652">
    <ac:txMkLst xmlns:ac="http://schemas.microsoft.com/office/drawing/2013/main/command">
      <pc:docMk xmlns:pc="http://schemas.microsoft.com/office/powerpoint/2013/main/command"/>
      <pc:sldMk xmlns:pc="http://schemas.microsoft.com/office/powerpoint/2013/main/command" cId="0" sldId="262"/>
      <ac:spMk id="2" creationId="{B2AB3E48-2765-D748-089D-83A321314B8F}"/>
      <ac:txMk cp="0" len="7">
        <ac:context len="85" hash="3974248850"/>
      </ac:txMk>
    </ac:txMkLst>
    <p188:pos x="1594449" y="368120"/>
    <p188:txBody>
      <a:bodyPr/>
      <a:lstStyle/>
      <a:p>
        <a:r>
          <a:rPr lang="en-US"/>
          <a:t>I think before this slide, we need one quickly explaining cross-validation and ensemble machine-learning and our winning single model - shows parsimony wins because even though this is a big data project in terms of predictors, it’s a small data project in terms of number of locations (clusters) actually samples</a:t>
        </a:r>
      </a:p>
    </p188:txBody>
  </p188:cm>
</p188:cmLst>
</file>

<file path=ppt/comments/modernComment_108_0.xml><?xml version="1.0" encoding="utf-8"?>
<p188:cmLst xmlns:a="http://schemas.openxmlformats.org/drawingml/2006/main" xmlns:r="http://schemas.openxmlformats.org/officeDocument/2006/relationships" xmlns:p188="http://schemas.microsoft.com/office/powerpoint/2018/8/main">
  <p188:cm id="{AC61CC21-50FE-4379-BFC2-32D3916EBF8C}" authorId="{014E4CAE-E167-60D0-ADF6-DC628FC944DC}" created="2026-09-27T19:09:54.532">
    <ac:deMkLst xmlns:ac="http://schemas.microsoft.com/office/drawing/2013/main/command">
      <pc:docMk xmlns:pc="http://schemas.microsoft.com/office/powerpoint/2013/main/command"/>
      <pc:sldMk xmlns:pc="http://schemas.microsoft.com/office/powerpoint/2013/main/command" cId="0" sldId="264"/>
      <ac:picMk id="3" creationId="{00000000-0000-0000-0000-000000000000}"/>
    </ac:deMkLst>
    <p188:txBody>
      <a:bodyPr/>
      <a:lstStyle/>
      <a:p>
        <a:r>
          <a:rPr lang="en-US"/>
          <a:t>Don’t say “for supplimentation”- that will be confused with suppliment </a:t>
        </a:r>
      </a:p>
    </p188:txBody>
  </p188:cm>
  <p188:cm id="{9238DE8D-16BD-478D-8B2E-2FBAACC80324}" authorId="{014E4CAE-E167-60D0-ADF6-DC628FC944DC}" created="2026-09-27T19:10:11.460">
    <ac:deMkLst xmlns:ac="http://schemas.microsoft.com/office/drawing/2013/main/command">
      <pc:docMk xmlns:pc="http://schemas.microsoft.com/office/powerpoint/2013/main/command"/>
      <pc:sldMk xmlns:pc="http://schemas.microsoft.com/office/powerpoint/2013/main/command" cId="0" sldId="264"/>
      <ac:picMk id="3" creationId="{00000000-0000-0000-0000-000000000000}"/>
    </ac:deMkLst>
    <p188:txBody>
      <a:bodyPr/>
      <a:lstStyle/>
      <a:p>
        <a:r>
          <a:rPr lang="en-US"/>
          <a:t>Say “not testable (measured in 1 country only)”</a:t>
        </a:r>
      </a:p>
    </p188:txBody>
  </p188:cm>
  <p188:cm id="{372387C2-F2BD-4CE7-84AD-76290759DC67}" authorId="{014E4CAE-E167-60D0-ADF6-DC628FC944DC}" created="2026-09-27T19:10:42.471">
    <ac:deMkLst xmlns:ac="http://schemas.microsoft.com/office/drawing/2013/main/command">
      <pc:docMk xmlns:pc="http://schemas.microsoft.com/office/powerpoint/2013/main/command"/>
      <pc:sldMk xmlns:pc="http://schemas.microsoft.com/office/powerpoint/2013/main/command" cId="0" sldId="264"/>
      <ac:picMk id="3" creationId="{00000000-0000-0000-0000-000000000000}"/>
    </ac:deMkLst>
    <p188:txBody>
      <a:bodyPr/>
      <a:lstStyle/>
      <a:p>
        <a:r>
          <a:rPr lang="en-US"/>
          <a:t>Instead of “no district signal…” say “model not better than chance”</a:t>
        </a:r>
      </a:p>
    </p188:txBody>
  </p188:cm>
</p188:cmLst>
</file>

<file path=ppt/comments/modernComment_109_0.xml><?xml version="1.0" encoding="utf-8"?>
<p188:cmLst xmlns:a="http://schemas.openxmlformats.org/drawingml/2006/main" xmlns:r="http://schemas.openxmlformats.org/officeDocument/2006/relationships" xmlns:p188="http://schemas.microsoft.com/office/powerpoint/2018/8/main">
  <p188:cm id="{46AA31A0-0046-42D5-8874-566A6197E270}" authorId="{014E4CAE-E167-60D0-ADF6-DC628FC944DC}" created="2026-09-27T19:11:52.455">
    <pc:sldMkLst xmlns:pc="http://schemas.microsoft.com/office/powerpoint/2013/main/command">
      <pc:docMk/>
      <pc:sldMk cId="0" sldId="265"/>
    </pc:sldMkLst>
    <p188:txBody>
      <a:bodyPr/>
      <a:lstStyle/>
      <a:p>
        <a:r>
          <a:rPr lang="en-US"/>
          <a:t>This should maybe be appendix</a:t>
        </a:r>
      </a:p>
    </p188:txBody>
  </p188:cm>
</p188:cmLst>
</file>

<file path=ppt/comments/modernComment_112_0.xml><?xml version="1.0" encoding="utf-8"?>
<p188:cmLst xmlns:a="http://schemas.openxmlformats.org/drawingml/2006/main" xmlns:r="http://schemas.openxmlformats.org/officeDocument/2006/relationships" xmlns:p188="http://schemas.microsoft.com/office/powerpoint/2018/8/main">
  <p188:cm id="{57AE08B6-64D7-40C9-8635-1D0FA3610D60}" authorId="{014E4CAE-E167-60D0-ADF6-DC628FC944DC}" created="2026-09-27T19:17:08.835">
    <ac:deMkLst xmlns:ac="http://schemas.microsoft.com/office/drawing/2013/main/command">
      <pc:docMk xmlns:pc="http://schemas.microsoft.com/office/powerpoint/2013/main/command"/>
      <pc:sldMk xmlns:pc="http://schemas.microsoft.com/office/powerpoint/2013/main/command" cId="0" sldId="274"/>
      <ac:spMk id="2" creationId="{B2AB3E48-2765-D748-089D-83A321314B8F}"/>
    </ac:deMkLst>
    <p188:txBody>
      <a:bodyPr/>
      <a:lstStyle/>
      <a:p>
        <a:r>
          <a:rPr lang="en-US"/>
          <a:t>This should be deleted as a slide, and one concise bullet point earlier</a:t>
        </a:r>
      </a:p>
    </p188:txBody>
  </p188:cm>
</p188:cmLst>
</file>

<file path=ppt/comments/modernComment_116_ED2E752E.xml><?xml version="1.0" encoding="utf-8"?>
<p188:cmLst xmlns:a="http://schemas.openxmlformats.org/drawingml/2006/main" xmlns:r="http://schemas.openxmlformats.org/officeDocument/2006/relationships" xmlns:p188="http://schemas.microsoft.com/office/powerpoint/2018/8/main">
  <p188:cm id="{0E2D4A33-3BBE-4311-AF7E-0383DB021537}" authorId="{014E4CAE-E167-60D0-ADF6-DC628FC944DC}" created="2026-09-27T19:21:03.894">
    <ac:deMkLst xmlns:ac="http://schemas.microsoft.com/office/drawing/2013/main/command">
      <pc:docMk xmlns:pc="http://schemas.microsoft.com/office/powerpoint/2013/main/command"/>
      <pc:sldMk xmlns:pc="http://schemas.microsoft.com/office/powerpoint/2013/main/command" cId="3979244846" sldId="278"/>
      <ac:picMk id="3" creationId="{00000000-0000-0000-0000-000000000000}"/>
    </ac:deMkLst>
    <p188:replyLst>
      <p188:reply id="{97D08EAB-C212-47D2-A3D2-375F96A5FEEF}" authorId="{014E4CAE-E167-60D0-ADF6-DC628FC944DC}" created="2026-09-27T19:24:25.155">
        <p188:txBody>
          <a:bodyPr/>
          <a:lstStyle/>
          <a:p>
            <a:r>
              <a:rPr lang="en-US"/>
              <a:t>Then add to the right, for the loco model top-10 individual variables (with readable labels, not variable names)</a:t>
            </a:r>
          </a:p>
        </p188:txBody>
      </p188:reply>
    </p188:replyLst>
    <p188:txBody>
      <a:bodyPr/>
      <a:lstStyle/>
      <a:p>
        <a:r>
          <a:rPr lang="en-US"/>
          <a:t>Remove “modeled” from the anemia, and pick a single population and outcome, and show the top 10 domains for models from two individual countries, and then the cross-country model</a:t>
        </a:r>
      </a:p>
    </p188:txBody>
  </p188:cm>
</p188:cmLst>
</file>

<file path=ppt/comments/modernComment_120_0.xml><?xml version="1.0" encoding="utf-8"?>
<p188:cmLst xmlns:a="http://schemas.openxmlformats.org/drawingml/2006/main" xmlns:r="http://schemas.openxmlformats.org/officeDocument/2006/relationships" xmlns:p188="http://schemas.microsoft.com/office/powerpoint/2018/8/main">
  <p188:cm id="{B531EBC8-21E9-46B2-A77A-4D159E99A227}" authorId="{014E4CAE-E167-60D0-ADF6-DC628FC944DC}" created="2026-09-27T21:14:20.909">
    <ac:txMkLst xmlns:ac="http://schemas.microsoft.com/office/drawing/2013/main/command">
      <pc:docMk xmlns:pc="http://schemas.microsoft.com/office/powerpoint/2013/main/command"/>
      <pc:sldMk xmlns:pc="http://schemas.microsoft.com/office/powerpoint/2013/main/command" cId="0" sldId="288"/>
      <ac:spMk id="2" creationId="{B2AB3E48-2765-D748-089D-83A321314B8F}"/>
      <ac:txMk cp="0" len="61">
        <ac:context len="62" hash="2866752793"/>
      </ac:txMk>
    </ac:txMkLst>
    <p188:pos x="10177732" y="368120"/>
    <p188:txBody>
      <a:bodyPr/>
      <a:lstStyle/>
      <a:p>
        <a:r>
          <a:rPr lang="en-US"/>
          <a:t>Can you make a version of this with the predicted prevalences?</a:t>
        </a:r>
      </a:p>
    </p188:txBody>
  </p188:cm>
  <p188:cm id="{53F4CBA9-4565-4B39-9ADB-B159144E1C4B}" authorId="{014E4CAE-E167-60D0-ADF6-DC628FC944DC}" created="2026-09-27T21:15:10.023">
    <ac:deMkLst xmlns:ac="http://schemas.microsoft.com/office/drawing/2013/main/command">
      <pc:docMk xmlns:pc="http://schemas.microsoft.com/office/powerpoint/2013/main/command"/>
      <pc:sldMk xmlns:pc="http://schemas.microsoft.com/office/powerpoint/2013/main/command" cId="0" sldId="288"/>
      <ac:picMk id="3" creationId="{00000000-0000-0000-0000-000000000000}"/>
    </ac:deMkLst>
    <p188:txBody>
      <a:bodyPr/>
      <a:lstStyle/>
      <a:p>
        <a:r>
          <a:rPr lang="en-US"/>
          <a:t>Way too much text- remove the title and 2007 survey zones… text at the bottom</a:t>
        </a:r>
      </a:p>
    </p188:txBody>
  </p188:cm>
  <p188:cm id="{8A5ED962-099B-4A59-B8C1-3A9C89A12FD7}" authorId="{014E4CAE-E167-60D0-ADF6-DC628FC944DC}" created="2026-09-27T21:15:44.565">
    <ac:deMkLst xmlns:ac="http://schemas.microsoft.com/office/drawing/2013/main/command">
      <pc:docMk xmlns:pc="http://schemas.microsoft.com/office/powerpoint/2013/main/command"/>
      <pc:sldMk xmlns:pc="http://schemas.microsoft.com/office/powerpoint/2013/main/command" cId="0" sldId="288"/>
      <ac:picMk id="3" creationId="{00000000-0000-0000-0000-000000000000}"/>
    </ac:deMkLst>
    <p188:txBody>
      <a:bodyPr/>
      <a:lstStyle/>
      <a:p>
        <a:r>
          <a:rPr lang="en-US"/>
          <a:t>Add the cote diviore B12 prediction map and uncertainty map here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GB"/>
              <a:t>mnfconference.org</a:t>
            </a:r>
            <a:endParaRPr lang="en-B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22CFD4-67F2-0A4F-8F9A-7BBE605BC4FC}" type="datetimeFigureOut">
              <a:rPr lang="en-BG" smtClean="0"/>
              <a:t>09/27/2026</a:t>
            </a:fld>
            <a:endParaRPr lang="en-B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B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GB"/>
              <a:t>mnfconference.org  |  </a:t>
            </a:r>
            <a:endParaRPr lang="en-B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582FD5-DD72-EA41-90DE-BC5D4D375366}" type="slidenum">
              <a:rPr lang="en-BG" smtClean="0"/>
              <a:t>‹#›</a:t>
            </a:fld>
            <a:endParaRPr lang="en-BG"/>
          </a:p>
        </p:txBody>
      </p:sp>
    </p:spTree>
    <p:extLst>
      <p:ext uri="{BB962C8B-B14F-4D97-AF65-F5344CB8AC3E}">
        <p14:creationId xmlns:p14="http://schemas.microsoft.com/office/powerpoint/2010/main" val="1494263926"/>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SONJA, about 15 seconds (29 words). Good morning. I'm Sonja Hess from UC Davis. This is joint work with Andrew Mertens at Berkeley, and with the four national survey teams whose data made it possible.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lang="en-US" sz="2000" dirty="0">
                <a:latin typeface="+mn-lt"/>
              </a:rPr>
              <a:t>SONJA, about 60 seconds (127 words).</a:t>
            </a:r>
          </a:p>
          <a:p>
            <a:pPr marL="0" lvl="0" indent="0">
              <a:buNone/>
            </a:pPr>
            <a:endParaRPr lang="en-US" sz="2000" dirty="0">
              <a:latin typeface="+mn-lt"/>
            </a:endParaRPr>
          </a:p>
          <a:p>
            <a:pPr marL="0" lvl="0" indent="0">
              <a:buNone/>
            </a:pPr>
            <a:r>
              <a:rPr lang="en-US" sz="2000" dirty="0">
                <a:latin typeface="+mn-lt"/>
              </a:rPr>
              <a:t>You have just heard why national micronutrient surveys matter, so I won’t repeat it. Our question is how to get more out of each one.</a:t>
            </a:r>
          </a:p>
          <a:p>
            <a:pPr marL="0" lvl="0" indent="0">
              <a:buNone/>
            </a:pPr>
            <a:endParaRPr lang="en-US" sz="2000" dirty="0">
              <a:latin typeface="+mn-lt"/>
            </a:endParaRPr>
          </a:p>
          <a:p>
            <a:pPr marL="0" lvl="0" indent="0">
              <a:buNone/>
            </a:pPr>
            <a:r>
              <a:rPr lang="en-US" sz="2000" dirty="0">
                <a:latin typeface="+mn-lt"/>
              </a:rPr>
              <a:t>Suppose you had to choose ten districts in Ghana for an iron </a:t>
            </a:r>
            <a:r>
              <a:rPr lang="en-US" sz="2000" dirty="0" err="1">
                <a:latin typeface="+mn-lt"/>
              </a:rPr>
              <a:t>programme</a:t>
            </a:r>
            <a:r>
              <a:rPr lang="en-US" sz="2000" dirty="0">
                <a:latin typeface="+mn-lt"/>
              </a:rPr>
              <a:t> tomorrow. Ghana’s 2017 survey did exactly what it was designed to do: a good national number and good regional numbers. But Ghana has 260 districts. The survey reached 75. The other 185 have no measurement of their own; today they get their region’s average. And 62 of the 75 it reached rest on a single cluster, about a dozen children.</a:t>
            </a:r>
          </a:p>
          <a:p>
            <a:pPr marL="0" lvl="0" indent="0">
              <a:buNone/>
            </a:pPr>
            <a:endParaRPr lang="en-US" sz="2000" dirty="0">
              <a:latin typeface="+mn-lt"/>
            </a:endParaRPr>
          </a:p>
          <a:p>
            <a:pPr marL="0" lvl="0" indent="0">
              <a:buNone/>
            </a:pPr>
            <a:r>
              <a:rPr lang="en-US" sz="2000" dirty="0">
                <a:latin typeface="+mn-lt"/>
              </a:rPr>
              <a:t>So we asked: can public data that already exist for every district, for free, rank them? And could the same model help a country with no survey at all?</a:t>
            </a:r>
          </a:p>
          <a:p>
            <a:pPr marL="0" lvl="0" indent="0">
              <a:buNone/>
            </a:pPr>
            <a:endParaRPr lang="en-US" sz="2000" dirty="0">
              <a:latin typeface="+mn-lt"/>
            </a:endParaRPr>
          </a:p>
          <a:p>
            <a:pPr marL="0" lvl="0" indent="0">
              <a:buNone/>
            </a:pPr>
            <a:r>
              <a:rPr lang="en-US" sz="2000" dirty="0">
                <a:latin typeface="+mn-lt"/>
              </a:rPr>
              <a:t>Backup, if asked: The opening sentence assumes the survey talks come first; drop it if the order changes. 62 of 75 single-cluster districts, median 12.5 children tested in each (targets_v2.csv, Ghana child iron). Sonja’s introduction slide is folded in here: her objective is the question at the foot of the slide.</a:t>
            </a:r>
          </a:p>
        </p:txBody>
      </p:sp>
    </p:spTree>
    <p:extLst>
      <p:ext uri="{BB962C8B-B14F-4D97-AF65-F5344CB8AC3E}">
        <p14:creationId xmlns:p14="http://schemas.microsoft.com/office/powerpoint/2010/main" val="39216292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575 district-level predictors from 28 public sources in eight groups, linked to 554 districts in four countries. Of these, 383 (open or public-survey) feed the headline in-country fit.</a:t>
            </a:r>
          </a:p>
        </p:txBody>
      </p:sp>
      <p:sp>
        <p:nvSpPr>
          <p:cNvPr id="4" name="Slide Number Placeholder 3"/>
          <p:cNvSpPr>
            <a:spLocks noGrp="1"/>
          </p:cNvSpPr>
          <p:nvPr>
            <p:ph type="sldNum" sz="quarter" idx="10"/>
          </p:nvPr>
        </p:nvSpPr>
        <p:spPr/>
        <p:txBody>
          <a:bodyPr/>
          <a:lstStyle/>
          <a:p>
            <a:fld id="{57582FD5-DD72-EA41-90DE-BC5D4D375366}" type="slidenum">
              <a:rPr lang="en-US"/>
              <a:t>4</a:t>
            </a:fld>
            <a:endParaRPr lang="en-US"/>
          </a:p>
        </p:txBody>
      </p:sp>
    </p:spTree>
    <p:extLst>
      <p:ext uri="{BB962C8B-B14F-4D97-AF65-F5344CB8AC3E}">
        <p14:creationId xmlns:p14="http://schemas.microsoft.com/office/powerpoint/2010/main" val="24834511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SONJA, about 60 seconds (125 words).</a:t>
            </a:r>
          </a:p>
          <a:p>
            <a:pPr marL="0" lvl="0" indent="0">
              <a:buNone/>
            </a:pPr>
            <a:endParaRPr/>
          </a:p>
          <a:p>
            <a:pPr marL="0" lvl="0" indent="0">
              <a:buNone/>
            </a:pPr>
            <a:r>
              <a:t>Then we went box by box and asked: is there a public, district-level measure of this? Green means yes: climate and ecology from satellites; poverty, schooling, water and sanitation, and infant feeding from household surveys; malaria and worms from disease atlases. Amber means only a national figure or a modelled surface, such as health policy or inflammation. Grey means nothing public reaches it: cultural norms, absorption.</a:t>
            </a:r>
          </a:p>
          <a:p>
            <a:pPr marL="0" lvl="0" indent="0">
              <a:buNone/>
            </a:pPr>
            <a:endParaRPr/>
          </a:p>
          <a:p>
            <a:pPr marL="0" lvl="0" indent="0">
              <a:buNone/>
            </a:pPr>
            <a:r>
              <a:t>So the predictors are not a fishing expedition. They are the parts of this framework that public data happen to cover, and the model can only see those parts.</a:t>
            </a:r>
          </a:p>
          <a:p>
            <a:pPr marL="0" lvl="0" indent="0">
              <a:buNone/>
            </a:pPr>
            <a:endParaRPr/>
          </a:p>
          <a:p>
            <a:pPr marL="0" lvl="0" indent="0">
              <a:buNone/>
            </a:pPr>
            <a:r>
              <a:t>To learn from, we had four national biomarker surveys: The Gambia, Ghana, Sierra Leone and Malawi, 206 districts where blood was drawn. They exist because these teams collected them. Andrew.</a:t>
            </a:r>
          </a:p>
          <a:p>
            <a:pPr marL="0" lvl="0" indent="0">
              <a:buNone/>
            </a:pPr>
            <a:endParaRPr/>
          </a:p>
          <a:p>
            <a:pPr marL="0" lvl="0" indent="0">
              <a:buNone/>
            </a:pPr>
            <a:r>
              <a:t>Backup, if asked: The badges follow the 19 September coverage slide where it had the box. DRAFT calls for Sonja to confirm: genetic risk (Malaria Atlas sickle-cell and G6PD surfaces), built environment (built-up area, night lights, housing), family planning (DHS fertility and reproductive health), obesity (IHME overweight, DHS adult BMI), health and nutrition knowledge (amber: schooling yes, nutrition knowledge no), other micronutrient deficiencies (amber: modelled anaemia, national fortification).</a:t>
            </a:r>
          </a:p>
        </p:txBody>
      </p:sp>
      <p:sp>
        <p:nvSpPr>
          <p:cNvPr id="4" name="Slide Number Placeholder 3"/>
          <p:cNvSpPr>
            <a:spLocks noGrp="1"/>
          </p:cNvSpPr>
          <p:nvPr>
            <p:ph type="sldNum" sz="quarter" idx="10"/>
          </p:nvPr>
        </p:nvSpPr>
        <p:spPr/>
        <p:txBody>
          <a:bodyPr/>
          <a:lstStyle/>
          <a:p>
            <a:fld id="{57582FD5-DD72-EA41-90DE-BC5D4D375366}" type="slidenum">
              <a:rPr lang="en-US"/>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sz="7200" dirty="0"/>
              <a:t>ANDREW, about 70 seconds (152 words).</a:t>
            </a:r>
          </a:p>
          <a:p>
            <a:pPr marL="0" lvl="0" indent="0">
              <a:buNone/>
            </a:pPr>
            <a:endParaRPr sz="7200" dirty="0"/>
          </a:p>
          <a:p>
            <a:pPr marL="0" lvl="0" indent="0">
              <a:buNone/>
            </a:pPr>
            <a:r>
              <a:rPr sz="7200" dirty="0"/>
              <a:t>Thank you, Sonja. The method in one picture. On the left, the 206 districts where blood was drawn. In the middle, 575 public layers we assembled for every district in the four countries: climate and soil, crops and livestock, malaria, food prices, household surveys. None of it had to be bought.</a:t>
            </a:r>
          </a:p>
          <a:p>
            <a:pPr marL="0" lvl="0" indent="0">
              <a:buNone/>
            </a:pPr>
            <a:endParaRPr sz="7200" dirty="0"/>
          </a:p>
          <a:p>
            <a:pPr marL="0" lvl="0" indent="0">
              <a:buNone/>
            </a:pPr>
            <a:r>
              <a:rPr sz="7200" dirty="0"/>
              <a:t>The model learns which combination of layers tracks deficiency where we have blood, and applies it everywhere. We tried fourteen machine-learning methods, including random forests, boosting and ensembles. With 14 to 87 districts per country, none did meaningfully better than a simple weighted index with nothing tuned, so that is what we use.</a:t>
            </a:r>
          </a:p>
          <a:p>
            <a:pPr marL="0" lvl="0" indent="0">
              <a:buNone/>
            </a:pPr>
            <a:endParaRPr sz="7200" dirty="0"/>
          </a:p>
          <a:p>
            <a:pPr marL="0" lvl="0" indent="0">
              <a:buNone/>
            </a:pPr>
            <a:r>
              <a:rPr sz="7200" dirty="0"/>
              <a:t>Every number I show you comes from hiding data and predicting it: one district in five, a whole region, a whole country. And we compare against what a </a:t>
            </a:r>
            <a:r>
              <a:rPr sz="7200" dirty="0" err="1"/>
              <a:t>programme</a:t>
            </a:r>
            <a:r>
              <a:rPr sz="7200" dirty="0"/>
              <a:t> uses today, the regional average. The score runs from zero, guessing, to one, a perfect match with the survey.</a:t>
            </a:r>
          </a:p>
          <a:p>
            <a:pPr marL="0" lvl="0" indent="0">
              <a:buNone/>
            </a:pPr>
            <a:endParaRPr sz="7200" dirty="0"/>
          </a:p>
          <a:p>
            <a:pPr marL="0" lvl="0" indent="0">
              <a:buNone/>
            </a:pPr>
            <a:r>
              <a:rPr sz="7200" dirty="0"/>
              <a:t>Backup, if asked: 14 alternatives on identical folds, 1,304 fits; nothing beat the index by more than 0.03 on any estimand (SL-06). The index: rank every layer within its country, reduce each family of layers to principal components, weight each component by how well it tracked deficiency in the training districts, add up. The in-country fit uses the 383 layers that are open or public-survey; the cross-border fit uses the layers common to all four countries. The match score is the Spearman correlation between the model’s district order and the survey’s.</a:t>
            </a:r>
          </a:p>
        </p:txBody>
      </p:sp>
      <p:sp>
        <p:nvSpPr>
          <p:cNvPr id="4" name="Slide Number Placeholder 3"/>
          <p:cNvSpPr>
            <a:spLocks noGrp="1"/>
          </p:cNvSpPr>
          <p:nvPr>
            <p:ph type="sldNum" sz="quarter" idx="10"/>
          </p:nvPr>
        </p:nvSpPr>
        <p:spPr/>
        <p:txBody>
          <a:bodyPr/>
          <a:lstStyle/>
          <a:p>
            <a:fld id="{57582FD5-DD72-EA41-90DE-BC5D4D375366}" type="slidenum">
              <a:rPr lang="en-US"/>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previous version’s methods slide, kept for anyone who asks for the steps.</a:t>
            </a:r>
          </a:p>
        </p:txBody>
      </p:sp>
      <p:sp>
        <p:nvSpPr>
          <p:cNvPr id="4" name="Slide Number Placeholder 3"/>
          <p:cNvSpPr>
            <a:spLocks noGrp="1"/>
          </p:cNvSpPr>
          <p:nvPr>
            <p:ph type="sldNum" sz="quarter" idx="10"/>
          </p:nvPr>
        </p:nvSpPr>
        <p:spPr/>
        <p:txBody>
          <a:bodyPr/>
          <a:lstStyle/>
          <a:p>
            <a:fld id="{57582FD5-DD72-EA41-90DE-BC5D4D375366}" type="slidenum">
              <a:rPr lang="en-US"/>
              <a:t>7</a:t>
            </a:fld>
            <a:endParaRPr lang="en-US"/>
          </a:p>
        </p:txBody>
      </p:sp>
    </p:spTree>
    <p:extLst>
      <p:ext uri="{BB962C8B-B14F-4D97-AF65-F5344CB8AC3E}">
        <p14:creationId xmlns:p14="http://schemas.microsoft.com/office/powerpoint/2010/main" val="28658359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ANDREW, about 65 seconds (139 words).</a:t>
            </a:r>
          </a:p>
          <a:p>
            <a:pPr marL="0" lvl="0" indent="0">
              <a:buNone/>
            </a:pPr>
            <a:endParaRPr dirty="0"/>
          </a:p>
          <a:p>
            <a:pPr marL="0" lvl="0" indent="0">
              <a:buNone/>
            </a:pPr>
            <a:r>
              <a:rPr dirty="0"/>
              <a:t>Ghana, children’s iron. Left: what the survey measured in the 75 districts it reached. Middle: the model’s prediction for each of those districts with that district’s blood results hidden. Right: the model applied to all 260.</a:t>
            </a:r>
          </a:p>
          <a:p>
            <a:pPr marL="0" lvl="0" indent="0">
              <a:buNone/>
            </a:pPr>
            <a:endParaRPr dirty="0"/>
          </a:p>
          <a:p>
            <a:pPr marL="0" lvl="0" indent="0">
              <a:buNone/>
            </a:pPr>
            <a:r>
              <a:rPr dirty="0"/>
              <a:t>Take </a:t>
            </a:r>
            <a:r>
              <a:rPr dirty="0" err="1"/>
              <a:t>Binduri</a:t>
            </a:r>
            <a:r>
              <a:rPr dirty="0"/>
              <a:t>, in Upper East. The survey measured it 6th worst of 75. Its regional average puts it 12th. The model, which never saw </a:t>
            </a:r>
            <a:r>
              <a:rPr dirty="0" err="1"/>
              <a:t>Binduri’s</a:t>
            </a:r>
            <a:r>
              <a:rPr dirty="0"/>
              <a:t> results, puts it first. And we are wrong in places: </a:t>
            </a:r>
            <a:r>
              <a:rPr dirty="0" err="1"/>
              <a:t>Atiwa</a:t>
            </a:r>
            <a:r>
              <a:rPr dirty="0"/>
              <a:t> East, which the survey put 24th, we put 65th.</a:t>
            </a:r>
          </a:p>
          <a:p>
            <a:pPr marL="0" lvl="0" indent="0">
              <a:buNone/>
            </a:pPr>
            <a:endParaRPr dirty="0"/>
          </a:p>
          <a:p>
            <a:pPr marL="0" lvl="0" indent="0">
              <a:buNone/>
            </a:pPr>
            <a:r>
              <a:rPr dirty="0"/>
              <a:t>Overall the model scores 0.53 here, against 0.36 for the regional average. But I want to be straight with you: a map built only from </a:t>
            </a:r>
            <a:r>
              <a:rPr dirty="0" err="1"/>
              <a:t>neighbouring</a:t>
            </a:r>
            <a:r>
              <a:rPr dirty="0"/>
              <a:t> districts, with no public data at all, also scores 0.53. Inside a surveyed country, geography does most of the work. So why bother? Because most countries have no survey to borrow from.</a:t>
            </a:r>
          </a:p>
          <a:p>
            <a:pPr marL="0" lvl="0" indent="0">
              <a:buNone/>
            </a:pPr>
            <a:endParaRPr dirty="0"/>
          </a:p>
          <a:p>
            <a:pPr marL="0" lvl="0" indent="0">
              <a:buNone/>
            </a:pPr>
            <a:r>
              <a:rPr dirty="0"/>
              <a:t>Backup, if asked: Ranks among the 75 surveyed districts on average iron status, 1 = worst; five-fold, ten draws, reproducing benchmarks_v2_cells.csv exactly (model 0.529, regional average 0.356, </a:t>
            </a:r>
            <a:r>
              <a:rPr dirty="0" err="1"/>
              <a:t>neighbour</a:t>
            </a:r>
            <a:r>
              <a:rPr dirty="0"/>
              <a:t> map 0.526). Per-district ranks: results/tables/</a:t>
            </a:r>
            <a:r>
              <a:rPr dirty="0" err="1"/>
              <a:t>policy_deck</a:t>
            </a:r>
            <a:r>
              <a:rPr dirty="0"/>
              <a:t>/v2_ghana_infill_child_iron_level.csv. </a:t>
            </a:r>
            <a:r>
              <a:rPr dirty="0" err="1"/>
              <a:t>Binduri</a:t>
            </a:r>
            <a:r>
              <a:rPr dirty="0"/>
              <a:t> rests on two survey clusters, </a:t>
            </a:r>
            <a:r>
              <a:rPr dirty="0" err="1"/>
              <a:t>Atiwa</a:t>
            </a:r>
            <a:r>
              <a:rPr dirty="0"/>
              <a:t> East on one, so the survey’s own ranks are noisy too. On the share deficient rather than average status, the model ties the regional average for this outcome (0.50 against 0.50). Averaged over all 18 combinations scored inside a country: model 0.40, </a:t>
            </a:r>
            <a:r>
              <a:rPr dirty="0" err="1"/>
              <a:t>neighbour</a:t>
            </a:r>
            <a:r>
              <a:rPr dirty="0"/>
              <a:t> map 0.39, regional average 0.31.</a:t>
            </a:r>
          </a:p>
        </p:txBody>
      </p:sp>
      <p:sp>
        <p:nvSpPr>
          <p:cNvPr id="4" name="Slide Number Placeholder 3"/>
          <p:cNvSpPr>
            <a:spLocks noGrp="1"/>
          </p:cNvSpPr>
          <p:nvPr>
            <p:ph type="sldNum" sz="quarter" idx="10"/>
          </p:nvPr>
        </p:nvSpPr>
        <p:spPr/>
        <p:txBody>
          <a:bodyPr/>
          <a:lstStyle/>
          <a:p>
            <a:fld id="{57582FD5-DD72-EA41-90DE-BC5D4D375366}" type="slidenum">
              <a:rPr lang="en-US"/>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ANDREW, about 70 seconds (152 words).</a:t>
            </a:r>
          </a:p>
          <a:p>
            <a:pPr marL="0" lvl="0" indent="0">
              <a:buNone/>
            </a:pPr>
            <a:endParaRPr/>
          </a:p>
          <a:p>
            <a:pPr marL="0" lvl="0" indent="0">
              <a:buNone/>
            </a:pPr>
            <a:r>
              <a:t>So here is the harder test, run where we can check the answer. We removed Ghana’s survey entirely. The model learned only from The Gambia, Sierra Leone and Malawi, and never saw a Ghanaian blood sample. It still scores 0.55 for children’s iron: as well as the neighbour map that needed Ghana’s own survey.</a:t>
            </a:r>
          </a:p>
          <a:p>
            <a:pPr marL="0" lvl="0" indent="0">
              <a:buNone/>
            </a:pPr>
            <a:endParaRPr/>
          </a:p>
          <a:p>
            <a:pPr marL="0" lvl="0" indent="0">
              <a:buNone/>
            </a:pPr>
            <a:r>
              <a:t>Ghana’s children’s iron is one of our better cases, and I don’t want to oversell it. Holding out each country in turn, averaged over nutrients, we get 0.60 for The Gambia, 0.35 for Ghana, 0.20 for Malawi and 0.16 for Sierra Leone, where guessing stays below 0.08. In practical terms: when the model puts a district in the worst third of a country it has never seen, it is right about half the time, against a third by guessing. That is a shortlist, not a measurement. But it is a shortlist for a country that today has nothing.</a:t>
            </a:r>
          </a:p>
          <a:p>
            <a:pPr marL="0" lvl="0" indent="0">
              <a:buNone/>
            </a:pPr>
            <a:endParaRPr/>
          </a:p>
          <a:p>
            <a:pPr marL="0" lvl="0" indent="0">
              <a:buNone/>
            </a:pPr>
            <a:r>
              <a:t>Backup, if asked: 0.554 reproduces the committed transport cell exactly (scripts/policy_deck/25_mnf15_v2_ghana_heldout.R). The right-hand map applies the same fit to all 260 districts; on the 75 surveyed ones it agrees with the scored fit at 0.998. Country means are over all 22 transported nutrient-country combinations (mean 0.30); the 95th percentile of the country-block null is 0.08. Worst-third calls land 52 per cent of the time against 33 by chance; of the five worst named, 62 per cent.</a:t>
            </a:r>
          </a:p>
        </p:txBody>
      </p:sp>
      <p:sp>
        <p:nvSpPr>
          <p:cNvPr id="4" name="Slide Number Placeholder 3"/>
          <p:cNvSpPr>
            <a:spLocks noGrp="1"/>
          </p:cNvSpPr>
          <p:nvPr>
            <p:ph type="sldNum" sz="quarter" idx="10"/>
          </p:nvPr>
        </p:nvSpPr>
        <p:spPr/>
        <p:txBody>
          <a:bodyPr/>
          <a:lstStyle/>
          <a:p>
            <a:fld id="{57582FD5-DD72-EA41-90DE-BC5D4D375366}" type="slidenum">
              <a:rPr lang="en-US"/>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Leave-one-region-out, where a spatial smoother has to extrapolate past the edge of its data. The index scores 0.39 on average status against 0.38 for the smoother; the penalised fits collapse. Ghana and Malawi are where this estimand is well determined.</a:t>
            </a:r>
          </a:p>
        </p:txBody>
      </p:sp>
      <p:sp>
        <p:nvSpPr>
          <p:cNvPr id="4" name="Slide Number Placeholder 3"/>
          <p:cNvSpPr>
            <a:spLocks noGrp="1"/>
          </p:cNvSpPr>
          <p:nvPr>
            <p:ph type="sldNum" sz="quarter" idx="10"/>
          </p:nvPr>
        </p:nvSpPr>
        <p:spPr/>
        <p:txBody>
          <a:bodyPr/>
          <a:lstStyle/>
          <a:p>
            <a:fld id="{57582FD5-DD72-EA41-90DE-BC5D4D375366}" type="slidenum">
              <a:rPr lang="en-US"/>
              <a:t>10</a:t>
            </a:fld>
            <a:endParaRPr lang="en-US"/>
          </a:p>
        </p:txBody>
      </p:sp>
    </p:spTree>
    <p:extLst>
      <p:ext uri="{BB962C8B-B14F-4D97-AF65-F5344CB8AC3E}">
        <p14:creationId xmlns:p14="http://schemas.microsoft.com/office/powerpoint/2010/main" val="28428067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Every nutrient-country combination on one axis. The filled point is the model, the cross the survey’s own regional average, the bar the spread over the ten fold draws. Six of the eighteen scored combinations clear 0.5 and average 0.64; the rest average 0.28. Where the regional average wins: Ghana children’s vitamin A, Ghana women’s folate, Malawi children’s iron.</a:t>
            </a:r>
          </a:p>
        </p:txBody>
      </p:sp>
      <p:sp>
        <p:nvSpPr>
          <p:cNvPr id="4" name="Slide Number Placeholder 3"/>
          <p:cNvSpPr>
            <a:spLocks noGrp="1"/>
          </p:cNvSpPr>
          <p:nvPr>
            <p:ph type="sldNum" sz="quarter" idx="10"/>
          </p:nvPr>
        </p:nvSpPr>
        <p:spPr/>
        <p:txBody>
          <a:bodyPr/>
          <a:lstStyle/>
          <a:p>
            <a:fld id="{57582FD5-DD72-EA41-90DE-BC5D4D375366}" type="slidenum">
              <a:rPr lang="en-US"/>
              <a:t>11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B12 0.63 in-country and 0.52 transported; vitamin A 0.58 and 0.54 (women), 0.49 and 0.49 (children); iron 0.44 and 0.39 (women), 0.43 and 0.28 (children); folate 0.40 and 0.07. The grey bar is the ceiling any model could reach against these surveys’ district numbers.</a:t>
            </a:r>
          </a:p>
        </p:txBody>
      </p:sp>
      <p:sp>
        <p:nvSpPr>
          <p:cNvPr id="4" name="Slide Number Placeholder 3"/>
          <p:cNvSpPr>
            <a:spLocks noGrp="1"/>
          </p:cNvSpPr>
          <p:nvPr>
            <p:ph type="sldNum" sz="quarter" idx="10"/>
          </p:nvPr>
        </p:nvSpPr>
        <p:spPr/>
        <p:txBody>
          <a:bodyPr/>
          <a:lstStyle/>
          <a:p>
            <a:fld id="{57582FD5-DD72-EA41-90DE-BC5D4D375366}" type="slidenum">
              <a:rPr lang="en-US"/>
              <a:t>12</a:t>
            </a:fld>
            <a:endParaRPr lang="en-US"/>
          </a:p>
        </p:txBody>
      </p:sp>
    </p:spTree>
    <p:extLst>
      <p:ext uri="{BB962C8B-B14F-4D97-AF65-F5344CB8AC3E}">
        <p14:creationId xmlns:p14="http://schemas.microsoft.com/office/powerpoint/2010/main" val="13874144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six-panel version, children’s outcomes included. Children’s iron leans on the farming system: cereal-dominant cropping, ruminants and cattle mark worse iron status; root crops and market-integrated prices mark better.</a:t>
            </a:r>
          </a:p>
        </p:txBody>
      </p:sp>
      <p:sp>
        <p:nvSpPr>
          <p:cNvPr id="4" name="Slide Number Placeholder 3"/>
          <p:cNvSpPr>
            <a:spLocks noGrp="1"/>
          </p:cNvSpPr>
          <p:nvPr>
            <p:ph type="sldNum" sz="quarter" idx="10"/>
          </p:nvPr>
        </p:nvSpPr>
        <p:spPr/>
        <p:txBody>
          <a:bodyPr/>
          <a:lstStyle/>
          <a:p>
            <a:fld id="{57582FD5-DD72-EA41-90DE-BC5D4D375366}" type="slidenum">
              <a:rPr lang="en-US"/>
              <a:t>13</a:t>
            </a:fld>
            <a:endParaRPr lang="en-US"/>
          </a:p>
        </p:txBody>
      </p:sp>
    </p:spTree>
    <p:extLst>
      <p:ext uri="{BB962C8B-B14F-4D97-AF65-F5344CB8AC3E}">
        <p14:creationId xmlns:p14="http://schemas.microsoft.com/office/powerpoint/2010/main" val="41504343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ANDREW, about 70 seconds (156 words).</a:t>
            </a:r>
          </a:p>
          <a:p>
            <a:pPr marL="0" lvl="0" indent="0">
              <a:buNone/>
            </a:pPr>
            <a:endParaRPr/>
          </a:p>
          <a:p>
            <a:pPr marL="0" lvl="0" indent="0">
              <a:buNone/>
            </a:pPr>
            <a:r>
              <a:t>Most countries in this region have no recent biomarker survey. Côte d’Ivoire is one. Trained on our four countries, the model ranks its 33 districts for children’s iron. The northern savanna comes out worst: Tchologo, Bounkani, Bagoué.</a:t>
            </a:r>
          </a:p>
          <a:p>
            <a:pPr marL="0" lvl="0" indent="0">
              <a:buNone/>
            </a:pPr>
            <a:endParaRPr/>
          </a:p>
          <a:p>
            <a:pPr marL="0" lvl="0" indent="0">
              <a:buNone/>
            </a:pPr>
            <a:r>
              <a:t>Can you trust a map like this? We looked for surveys the model had never seen. The WHO micronutrients database holds regional results from national surveys in Zambia, Ethiopia, Sudan and Nigeria, and in Pakistan and India. None were used to build the model. In 36 of 41 tests its ranking of their regions pointed the right way, scoring 0.33 to 0.40, no worse than inside our own four countries. Iron pointed the right way in every one of the six. And Côte d’Ivoire’s own 2007 survey ranks its nine zones for vitamin B12 almost exactly as the model does.</a:t>
            </a:r>
          </a:p>
          <a:p>
            <a:pPr marL="0" lvl="0" indent="0">
              <a:buNone/>
            </a:pPr>
            <a:endParaRPr/>
          </a:p>
          <a:p>
            <a:pPr marL="0" lvl="0" indent="0">
              <a:buNone/>
            </a:pPr>
            <a:r>
              <a:t>These are regions, not districts, and the checks are published summaries. But they are data we did not touch.</a:t>
            </a:r>
          </a:p>
          <a:p>
            <a:pPr marL="0" lvl="0" indent="0">
              <a:buNone/>
            </a:pPr>
            <a:endParaRPr/>
          </a:p>
          <a:p>
            <a:pPr marL="0" lvl="0" indent="0">
              <a:buNone/>
            </a:pPr>
            <a:r>
              <a:t>Backup, if asked: XV-01/02 (22 September): climate and soil index, admin-1. Africa, average status 0.40, 12 of 12 positive; prevalence 0.33, 17 of 21; off the continent, prevalence 0.39, 7 of 8; country-block nulls 0.18 to 0.23. Not the pre-registered test, which needs a new country’s own microdata at district level. Côte d’Ivoire 2007 B12: Spearman 0.95 over nine zones, centroid crosswalk. The WFP and MIMI vitamin A map for Côte d’Ivoire agrees at 0.50 over 33 districts and survives latitude adjustment.</a:t>
            </a:r>
          </a:p>
        </p:txBody>
      </p:sp>
      <p:sp>
        <p:nvSpPr>
          <p:cNvPr id="4" name="Slide Number Placeholder 3"/>
          <p:cNvSpPr>
            <a:spLocks noGrp="1"/>
          </p:cNvSpPr>
          <p:nvPr>
            <p:ph type="sldNum" sz="quarter" idx="10"/>
          </p:nvPr>
        </p:nvSpPr>
        <p:spPr/>
        <p:txBody>
          <a:bodyPr/>
          <a:lstStyle/>
          <a:p>
            <a:fld id="{57582FD5-DD72-EA41-90DE-BC5D4D375366}" type="slidenum">
              <a:rPr lang="en-US"/>
              <a:t>14</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ANDREW, about 55 seconds (119 words).</a:t>
            </a:r>
          </a:p>
          <a:p>
            <a:pPr marL="0" lvl="0" indent="0">
              <a:buNone/>
            </a:pPr>
            <a:endParaRPr/>
          </a:p>
          <a:p>
            <a:pPr marL="0" lvl="0" indent="0">
              <a:buNone/>
            </a:pPr>
            <a:r>
              <a:t>Not every deficiency can be mapped this way. Vitamin B12 maps best, inside a country and across borders, probably because it follows animal-source foods. Iron works and held up externally. Vitamin A ranked well inside our four countries but was the weakest in the external check, so for vitamin A supplementation we would not lean on it yet. Folate ranks districts within a country but not across borders, most likely because the surveys measured it with different assays. And zinc, measured only in Malawi, cannot be mapped by district: the survey’s own district zinc numbers carry no signal. None of this follows how common a deficiency is. Folate and zinc are the commonest in our data, and the hardest.</a:t>
            </a:r>
          </a:p>
          <a:p>
            <a:pPr marL="0" lvl="0" indent="0">
              <a:buNone/>
            </a:pPr>
            <a:endParaRPr/>
          </a:p>
          <a:p>
            <a:pPr marL="0" lvl="0" indent="0">
              <a:buNone/>
            </a:pPr>
            <a:r>
              <a:t>Backup, if asked: External by nutrient, African deposits: B12 0.70 (4 of 4 tests positive), iron 0.42 (10 of 11), folate 0.30 (3 of 4), vitamin A 0.23 (12 of 14; the two clear misses, Zambia children and Ethiopia women at -0.43, are both vitamin A). Vitamin A is the strongest outcome in India and Pakistan. In Ghana children’s vitamin A the regional average beats the model (0.41 against 0.28). Folate: immunoassay in Ghana and Sierra Leone, microbiologic assay in Malawi; a constant offset would not change a ranking, so the likelier story is that the two assays and cut-offs do not measure the same thing. Folate did transport to Ethiopia in the external check (0.87 on prevalence, one cell).</a:t>
            </a:r>
          </a:p>
        </p:txBody>
      </p:sp>
      <p:sp>
        <p:nvSpPr>
          <p:cNvPr id="4" name="Slide Number Placeholder 3"/>
          <p:cNvSpPr>
            <a:spLocks noGrp="1"/>
          </p:cNvSpPr>
          <p:nvPr>
            <p:ph type="sldNum" sz="quarter" idx="10"/>
          </p:nvPr>
        </p:nvSpPr>
        <p:spPr/>
        <p:txBody>
          <a:bodyPr/>
          <a:lstStyle/>
          <a:p>
            <a:fld id="{57582FD5-DD72-EA41-90DE-BC5D4D375366}" type="slidenum">
              <a:rPr lang="en-US"/>
              <a:t>15</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ANDREW, about 70 seconds (159 words).</a:t>
            </a:r>
          </a:p>
          <a:p>
            <a:pPr marL="0" lvl="0" indent="0">
              <a:buNone/>
            </a:pPr>
            <a:endParaRPr/>
          </a:p>
          <a:p>
            <a:pPr marL="0" lvl="0" indent="0">
              <a:buNone/>
            </a:pPr>
            <a:r>
              <a:t>The third use matters most right now, with survey budgets under pressure: making each survey go further.</a:t>
            </a:r>
          </a:p>
          <a:p>
            <a:pPr marL="0" lvl="0" indent="0">
              <a:buNone/>
            </a:pPr>
            <a:endParaRPr/>
          </a:p>
          <a:p>
            <a:pPr marL="0" lvl="0" indent="0">
              <a:buNone/>
            </a:pPr>
            <a:r>
              <a:t>First, how districts are sampled. Across our four surveys, three districts in four rest on a single cluster. Against numbers that noisy, even a perfect model would score only about 0.55. Two clusters per district lifts that ceiling to about 0.66, three to 0.73, for our maps and for the survey’s own district estimates. If district estimates matter, put two or three clusters in a district.</a:t>
            </a:r>
          </a:p>
          <a:p>
            <a:pPr marL="0" lvl="0" indent="0">
              <a:buNone/>
            </a:pPr>
            <a:endParaRPr/>
          </a:p>
          <a:p>
            <a:pPr marL="0" lvl="0" indent="0">
              <a:buNone/>
            </a:pPr>
            <a:r>
              <a:t>Second, what to do before a full survey. A small national sample, about forty blood draws per nutrient, is enough to anchor the ranking; district planning figures then typically land within about ten percentage points.</a:t>
            </a:r>
          </a:p>
          <a:p>
            <a:pPr marL="0" lvl="0" indent="0">
              <a:buNone/>
            </a:pPr>
            <a:endParaRPr/>
          </a:p>
          <a:p>
            <a:pPr marL="0" lvl="0" indent="0">
              <a:buNone/>
            </a:pPr>
            <a:r>
              <a:t>Third, where to look first. The ranking tells a survey or a programme which unsurveyed districts to confirm first, and the dashboard’s planning tab lets you try a design.</a:t>
            </a:r>
          </a:p>
          <a:p>
            <a:pPr marL="0" lvl="0" indent="0">
              <a:buNone/>
            </a:pPr>
            <a:endParaRPr/>
          </a:p>
          <a:p>
            <a:pPr marL="0" lvl="0" indent="0">
              <a:buNone/>
            </a:pPr>
            <a:r>
              <a:t>None of this replaces a survey. It helps each one reach further.</a:t>
            </a:r>
          </a:p>
          <a:p>
            <a:pPr marL="0" lvl="0" indent="0">
              <a:buNone/>
            </a:pPr>
            <a:endParaRPr/>
          </a:p>
          <a:p>
            <a:pPr marL="0" lvl="0" indent="0">
              <a:buNone/>
            </a:pPr>
            <a:r>
              <a:t>Backup, if asked: The staircase is projected from these surveys’ own variance structure (0.539, 0.663, 0.731), not from an experiment. Sierra Leone has the most clusters per district (4.3) and the weakest results: 14 districts of half a million people is the wrong unit, not the wrong design. Anchor: a 5 per cent national sample, 24 to 71 respondents (median about 42), gives a median district error of 9.3 points; a regional survey of the same size 11.7. Survey planner (SP-01, 27 September): visiting half the districts keeps about 90 per cent of the ranking accuracy; model-guided choice is about equal to random choice (0.362 against 0.357) and both beat population-weighted choice (0.312); with design weights the national estimate stays unbiased. The model does not let you field a smaller survey: shrink the sample and its error degrades faster than the survey’s.</a:t>
            </a:r>
          </a:p>
        </p:txBody>
      </p:sp>
      <p:sp>
        <p:nvSpPr>
          <p:cNvPr id="4" name="Slide Number Placeholder 3"/>
          <p:cNvSpPr>
            <a:spLocks noGrp="1"/>
          </p:cNvSpPr>
          <p:nvPr>
            <p:ph type="sldNum" sz="quarter" idx="10"/>
          </p:nvPr>
        </p:nvSpPr>
        <p:spPr/>
        <p:txBody>
          <a:bodyPr/>
          <a:lstStyle/>
          <a:p>
            <a:fld id="{57582FD5-DD72-EA41-90DE-BC5D4D375366}" type="slidenum">
              <a:rPr lang="en-US"/>
              <a:t>16</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ANDREW, about 75 seconds (162 words).</a:t>
            </a:r>
          </a:p>
          <a:p>
            <a:pPr marL="0" lvl="0" indent="0">
              <a:buNone/>
            </a:pPr>
            <a:endParaRPr/>
          </a:p>
          <a:p>
            <a:pPr marL="0" lvl="0" indent="0">
              <a:buNone/>
            </a:pPr>
            <a:r>
              <a:t>So what can you use it for? Use it to put districts in order: who to reach first, how to sequence a roll-out, which unsurveyed districts to check first. That is where it beats what programmes use today.</a:t>
            </a:r>
          </a:p>
          <a:p>
            <a:pPr marL="0" lvl="0" indent="0">
              <a:buNone/>
            </a:pPr>
            <a:endParaRPr/>
          </a:p>
          <a:p>
            <a:pPr marL="0" lvl="0" indent="0">
              <a:buNone/>
            </a:pPr>
            <a:r>
              <a:t>Use it together with survey data for anything that needs a number. The ranking has no level of its own. Anchored to a survey, it gives planning prevalences with honest, wide bands. And if the goal is to reach the most deficient people rather than the highest rates, multiply by population: in Ghana, simply going to the most populous fifth of districts reaches almost half of the deficient children.</a:t>
            </a:r>
          </a:p>
          <a:p>
            <a:pPr marL="0" lvl="0" indent="0">
              <a:buNone/>
            </a:pPr>
            <a:endParaRPr/>
          </a:p>
          <a:p>
            <a:pPr marL="0" lvl="0" indent="0">
              <a:buNone/>
            </a:pPr>
            <a:r>
              <a:t>Don’t use it to replace a survey, to judge whether a programme worked, or to decide what to change. The model says where deficiency is, not why.</a:t>
            </a:r>
          </a:p>
          <a:p>
            <a:pPr marL="0" lvl="0" indent="0">
              <a:buNone/>
            </a:pPr>
            <a:endParaRPr/>
          </a:p>
          <a:p>
            <a:pPr marL="0" lvl="0" indent="0">
              <a:buNone/>
            </a:pPr>
            <a:r>
              <a:t>All of this is in a public dashboard: every district in the four countries and Côte d’Ivoire, with one-page country briefs. The QR code is on the screen.</a:t>
            </a:r>
          </a:p>
          <a:p>
            <a:pPr marL="0" lvl="0" indent="0">
              <a:buNone/>
            </a:pPr>
            <a:endParaRPr/>
          </a:p>
          <a:p>
            <a:pPr marL="0" lvl="0" indent="0">
              <a:buNone/>
            </a:pPr>
            <a:r>
              <a:t>Backup, if asked: Bands: split conformal on out-of-fold residuals (CP-01, 27 September), 90 per cent, leave-one-out coverage 0.90 to 0.93 in every cell; median half-width 26 points, iron 30 to 37, much of it the survey’s own single-cluster noise. Targeting: the model’s worst fifth by rate holds 21.9 per cent of the deficient people, the regional averages’ 20.3, a random fifth about 20, a perfect map 47.5; the most populous fifth of Ghana’s districts holds 46 per cent for children’s iron. Programme evaluation: one point in time, and only three district-level programme columns in the headline set. Why weights are not causes: in Malawi the anaemia and malaria surfaces carry weight in the wrong direction for B12 because they mark the fish-eating lakeshore (see the short oral).</a:t>
            </a:r>
          </a:p>
        </p:txBody>
      </p:sp>
      <p:sp>
        <p:nvSpPr>
          <p:cNvPr id="4" name="Slide Number Placeholder 3"/>
          <p:cNvSpPr>
            <a:spLocks noGrp="1"/>
          </p:cNvSpPr>
          <p:nvPr>
            <p:ph type="sldNum" sz="quarter" idx="10"/>
          </p:nvPr>
        </p:nvSpPr>
        <p:spPr/>
        <p:txBody>
          <a:bodyPr/>
          <a:lstStyle/>
          <a:p>
            <a:fld id="{57582FD5-DD72-EA41-90DE-BC5D4D375366}" type="slidenum">
              <a:rPr lang="en-US"/>
              <a:t>17</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ANDREW, about 55 seconds (125 words).</a:t>
            </a:r>
          </a:p>
          <a:p>
            <a:pPr marL="0" lvl="0" indent="0">
              <a:buNone/>
            </a:pPr>
            <a:endParaRPr/>
          </a:p>
          <a:p>
            <a:pPr marL="0" lvl="0" indent="0">
              <a:buNone/>
            </a:pPr>
            <a:r>
              <a:t>Three things to take home. Free public data carry real information about micronutrient deficiency, much of it in climate and soil, measured everywhere, every year. That information ranks districts better than regional averages, and it works in countries the model has never seen. And the limit today is surveys, not data: on average, each survey we added improved the ranking for the countries held out.</a:t>
            </a:r>
          </a:p>
          <a:p>
            <a:pPr marL="0" lvl="0" indent="0">
              <a:buNone/>
            </a:pPr>
            <a:endParaRPr/>
          </a:p>
          <a:p>
            <a:pPr marL="0" lvl="0" indent="0">
              <a:buNone/>
            </a:pPr>
            <a:r>
              <a:t>So three asks. If your country has a micronutrient survey, recent, planned or sitting in a drawer, share it with the pool. If you are planning one, let’s design it together. And tell us how accurate a district ranking needs to be before you would use it.</a:t>
            </a:r>
          </a:p>
          <a:p>
            <a:pPr marL="0" lvl="0" indent="0">
              <a:buNone/>
            </a:pPr>
            <a:endParaRPr/>
          </a:p>
          <a:p>
            <a:pPr marL="0" lvl="0" indent="0">
              <a:buNone/>
            </a:pPr>
            <a:r>
              <a:t>Modelling extends a survey’s reach. It does not replace the survey. Thank you.</a:t>
            </a:r>
          </a:p>
          <a:p>
            <a:pPr marL="0" lvl="0" indent="0">
              <a:buNone/>
            </a:pPr>
            <a:endParaRPr/>
          </a:p>
          <a:p>
            <a:pPr marL="0" lvl="0" indent="0">
              <a:buNone/>
            </a:pPr>
            <a:r>
              <a:t>Backup, if asked: Pooling curve: 0.20 with one training survey, 0.26 with two, 0.30 with three; the gain so far is in The Gambia and Ghana as held-out countries, not yet in Malawi or Sierra Leone. Eleven new predictor blocks were scored this year and none moved the median by more than 0.01. Two candidate models were written down on 3 September 2026, so a fifth survey is a real test. Optional fourth line for Sonja: next, with the MIMI and GBD teams, we will compare our predictors framework by framework.</a:t>
            </a:r>
          </a:p>
        </p:txBody>
      </p:sp>
      <p:sp>
        <p:nvSpPr>
          <p:cNvPr id="4" name="Slide Number Placeholder 3"/>
          <p:cNvSpPr>
            <a:spLocks noGrp="1"/>
          </p:cNvSpPr>
          <p:nvPr>
            <p:ph type="sldNum" sz="quarter" idx="10"/>
          </p:nvPr>
        </p:nvSpPr>
        <p:spPr/>
        <p:txBody>
          <a:bodyPr/>
          <a:lstStyle/>
          <a:p>
            <a:fld id="{57582FD5-DD72-EA41-90DE-BC5D4D375366}" type="slidenum">
              <a:rPr lang="en-US"/>
              <a:t>18</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Inside a surveyed country, geography does most of the work, and we say so on slide 6: the covariate-free neighbour map scores 0.39 against the model’s 0.40 over 18 combinations. The DHS Program’s model-based geostatistics (INLA-SPDE spatial field plus covariates, fitted at the survey clusters) ranks worse on the same folds (0.27 against 0.38) but estimates levels better (9.2 against 10.7 points of error), because it shrinks uncertain districts toward a level. It needs measured clusters inside the country, so it has no answer for a country with no survey. The Côte d’Ivoire vitamin A ranking correlates 0.73 with latitude, yet its agreement with the independent WFP and MIMI map survives adjusting for latitude (0.495 to 0.479). Not yet computed: a latitude-only ranking under country hold-out.</a:t>
            </a:r>
          </a:p>
        </p:txBody>
      </p:sp>
      <p:sp>
        <p:nvSpPr>
          <p:cNvPr id="4" name="Slide Number Placeholder 3"/>
          <p:cNvSpPr>
            <a:spLocks noGrp="1"/>
          </p:cNvSpPr>
          <p:nvPr>
            <p:ph type="sldNum" sz="quarter" idx="10"/>
          </p:nvPr>
        </p:nvSpPr>
        <p:spPr/>
        <p:txBody>
          <a:bodyPr/>
          <a:lstStyle/>
          <a:p>
            <a:fld id="{57582FD5-DD72-EA41-90DE-BC5D4D375366}" type="slidenum">
              <a:rPr lang="en-US"/>
              <a:t>20</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Four ways to get district numbers, costed in units of survey sample. A national sample at 5 per cent of a full survey, with the transported ranking spread across districts, gives a median district error of about 9 to 10 points; a district-representative survey needs a quarter to two-fifths of a full sample to match it. A regional survey at 10 to 15 per cent does the same job on level, and the anchored design loses to a district survey on burden captured at every size. The dashboard’s planning prevalences carry calibrated 90 per cent bands (CP-01, 27 September): leave-one-out coverage 0.90 to 0.93, median half-width 26 points. Predicting a national level from world indicators (69 countries) missed Sierra Leone by 29 points and Malawi by 22, which is why the anchor has to be measured.</a:t>
            </a:r>
          </a:p>
        </p:txBody>
      </p:sp>
      <p:sp>
        <p:nvSpPr>
          <p:cNvPr id="4" name="Slide Number Placeholder 3"/>
          <p:cNvSpPr>
            <a:spLocks noGrp="1"/>
          </p:cNvSpPr>
          <p:nvPr>
            <p:ph type="sldNum" sz="quarter" idx="10"/>
          </p:nvPr>
        </p:nvSpPr>
        <p:spPr/>
        <p:txBody>
          <a:bodyPr/>
          <a:lstStyle/>
          <a:p>
            <a:fld id="{57582FD5-DD72-EA41-90DE-BC5D4D375366}" type="slidenum">
              <a:rPr lang="en-US"/>
              <a:t>21</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Every method on the same held-out folds, match score on average status. Inside a surveyed country: the index 0.40, the neighbour smoother with proxies 0.39, the neighbour smoother alone 0.39, a twenty-layer composite 0.36, penalised regression 0.33, the regional average 0.31. A region held out: 0.39, 0.38, 0.38, 0.34 and 0.26. A country with no survey: the index 0.30, the twenty-layer composite 0.23, penalised regression 0.27; the smoothers and the regional average need a survey and cannot run. This is the main talk’s point in one figure: with a survey, geography does most of the work; without one, only the proxies can rank.</a:t>
            </a:r>
          </a:p>
          <a:p>
            <a:pPr marL="0" lvl="0" indent="0">
              <a:buNone/>
            </a:pPr>
            <a:endParaRPr/>
          </a:p>
          <a:p>
            <a:pPr marL="0" lvl="0" indent="0">
              <a:buNone/>
            </a:pPr>
            <a:r>
              <a:t>Separately (SL-06), fourteen algorithms on identical folds, 1,304 fits, including random forests, boosting and four SuperLearner ensembles: nothing beat the index by more than 0.03 on any estimand. With 14 to 87 districts per country, anything that tunes a parameter shrinks toward the average: a sample-size finding, not a claim about machine learning. “Nothing is tuned inside a fit” is not “nothing was chosen on these data”: the estimator and the domain sets were chosen while looking at these four countries, which is why the fifth survey is pre-registered.</a:t>
            </a:r>
          </a:p>
        </p:txBody>
      </p:sp>
      <p:sp>
        <p:nvSpPr>
          <p:cNvPr id="4" name="Slide Number Placeholder 3"/>
          <p:cNvSpPr>
            <a:spLocks noGrp="1"/>
          </p:cNvSpPr>
          <p:nvPr>
            <p:ph type="sldNum" sz="quarter" idx="10"/>
          </p:nvPr>
        </p:nvSpPr>
        <p:spPr/>
        <p:txBody>
          <a:bodyPr/>
          <a:lstStyle/>
          <a:p>
            <a:fld id="{57582FD5-DD72-EA41-90DE-BC5D4D375366}" type="slidenum">
              <a:rPr lang="en-US"/>
              <a:t>22</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Across the four surveys, three districts in four rest on a single cluster; in Ghana and Malawi more than eight in ten. With one cluster per district, a model that knew each district’s true prevalence exactly would still only score about 0.54 against the survey’s own district numbers; two clusters 0.66, three 0.73. Projected from these surveys’ own variance structure. Sierra Leone has the most clusters per district (4.3) and the weakest results, because 14 units of half a million people is the wrong unit, not the wrong design.</a:t>
            </a:r>
          </a:p>
        </p:txBody>
      </p:sp>
      <p:sp>
        <p:nvSpPr>
          <p:cNvPr id="4" name="Slide Number Placeholder 3"/>
          <p:cNvSpPr>
            <a:spLocks noGrp="1"/>
          </p:cNvSpPr>
          <p:nvPr>
            <p:ph type="sldNum" sz="quarter" idx="10"/>
          </p:nvPr>
        </p:nvSpPr>
        <p:spPr/>
        <p:txBody>
          <a:bodyPr/>
          <a:lstStyle/>
          <a:p>
            <a:fld id="{57582FD5-DD72-EA41-90DE-BC5D4D375366}" type="slidenum">
              <a:rPr lang="en-US"/>
              <a:t>23</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Climate, soil and a satellite summary of what a district looks like carry just under half the weight whichever nutrient you take. What each nutrient adds is what a nutritionist would recognise: B12 leans on infant feeding with meat and fish, iron and folate on modelled anaemia, vitamin A on schooling and household wealth. District-level associations, not causes. The satellite summary is Google’s AlphaEarth embedding: a year of imagery compressed into 64 numbers.</a:t>
            </a:r>
          </a:p>
        </p:txBody>
      </p:sp>
      <p:sp>
        <p:nvSpPr>
          <p:cNvPr id="4" name="Slide Number Placeholder 3"/>
          <p:cNvSpPr>
            <a:spLocks noGrp="1"/>
          </p:cNvSpPr>
          <p:nvPr>
            <p:ph type="sldNum" sz="quarter" idx="10"/>
          </p:nvPr>
        </p:nvSpPr>
        <p:spPr/>
        <p:txBody>
          <a:bodyPr/>
          <a:lstStyle/>
          <a:p>
            <a:fld id="{57582FD5-DD72-EA41-90DE-BC5D4D375366}" type="slidenum">
              <a:rPr lang="en-US"/>
              <a:t>24</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Malawi women’s B12 is the best-predicted combination in the study, 0.70 within the country. The modelled anaemia surface carries weight in the wrong direction: districts with more anaemia have better B12 status (rho -0.40), because anaemia and malaria are highest along the lakeshore, where households eat fish (rho -0.48). The model found a marker for a place, not a mechanism. This is why the weights must never be read as a list of things to change.</a:t>
            </a:r>
          </a:p>
        </p:txBody>
      </p:sp>
      <p:sp>
        <p:nvSpPr>
          <p:cNvPr id="4" name="Slide Number Placeholder 3"/>
          <p:cNvSpPr>
            <a:spLocks noGrp="1"/>
          </p:cNvSpPr>
          <p:nvPr>
            <p:ph type="sldNum" sz="quarter" idx="10"/>
          </p:nvPr>
        </p:nvSpPr>
        <p:spPr/>
        <p:txBody>
          <a:bodyPr/>
          <a:lstStyle/>
          <a:p>
            <a:fld id="{57582FD5-DD72-EA41-90DE-BC5D4D375366}" type="slidenum">
              <a:rPr lang="en-US"/>
              <a:t>25</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Right: the width of each district’s 90 per cent rank interval over 400 bootstrap refits of the training districts. Dark = firm, light = could move up to nine places. This is stability under retraining, not a confidence interval: holding out each surveyed country, the survey’s rank falls inside the nominal 90 per cent interval only 38 per cent of the time. The calibrated statement is a class probability: worst-third calls land 52 per cent of the time against 33 by chance.</a:t>
            </a:r>
          </a:p>
        </p:txBody>
      </p:sp>
      <p:sp>
        <p:nvSpPr>
          <p:cNvPr id="4" name="Slide Number Placeholder 3"/>
          <p:cNvSpPr>
            <a:spLocks noGrp="1"/>
          </p:cNvSpPr>
          <p:nvPr>
            <p:ph type="sldNum" sz="quarter" idx="10"/>
          </p:nvPr>
        </p:nvSpPr>
        <p:spPr/>
        <p:txBody>
          <a:bodyPr/>
          <a:lstStyle/>
          <a:p>
            <a:fld id="{57582FD5-DD72-EA41-90DE-BC5D4D375366}" type="slidenum">
              <a:rPr lang="en-US"/>
              <a:t>26</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screen applied before any model is fitted: keep a combination if national prevalence is at least 2 per cent and the survey’s own district estimates carry district-level signal. Eight of 24 fail. The screen uses only prevalence and the survey’s resolution, never the model’s score, and every threshold pair from 2 to 10 per cent and 0 to 0.40 gives the same answer.</a:t>
            </a:r>
          </a:p>
        </p:txBody>
      </p:sp>
      <p:sp>
        <p:nvSpPr>
          <p:cNvPr id="4" name="Slide Number Placeholder 3"/>
          <p:cNvSpPr>
            <a:spLocks noGrp="1"/>
          </p:cNvSpPr>
          <p:nvPr>
            <p:ph type="sldNum" sz="quarter" idx="10"/>
          </p:nvPr>
        </p:nvSpPr>
        <p:spPr/>
        <p:txBody>
          <a:bodyPr/>
          <a:lstStyle/>
          <a:p>
            <a:fld id="{57582FD5-DD72-EA41-90DE-BC5D4D375366}" type="slidenum">
              <a:rPr lang="en-US"/>
              <a:t>27</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programme reaching the fifth of districts the model ranks worst reaches 21.9 per cent of the deficient people; the survey’s regional averages 20.3; a random fifth about 20; a perfect map 47.5. In Ghana children’s iron, the most populous fifth of districts reaches 46 per cent. Rank by predicted rate times population, and read ours as the rate.</a:t>
            </a:r>
          </a:p>
        </p:txBody>
      </p:sp>
      <p:sp>
        <p:nvSpPr>
          <p:cNvPr id="4" name="Slide Number Placeholder 3"/>
          <p:cNvSpPr>
            <a:spLocks noGrp="1"/>
          </p:cNvSpPr>
          <p:nvPr>
            <p:ph type="sldNum" sz="quarter" idx="10"/>
          </p:nvPr>
        </p:nvSpPr>
        <p:spPr/>
        <p:txBody>
          <a:bodyPr/>
          <a:lstStyle/>
          <a:p>
            <a:fld id="{57582FD5-DD72-EA41-90DE-BC5D4D375366}" type="slidenum">
              <a:rPr lang="en-US"/>
              <a:t>28</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previous version’s accuracy slide. Share of district pairs put in the survey’s order, pooled over 18 combinations, each district hidden: coin 50, regional average 56, neighbour map 59, model 60, the six best combinations 70. Pooled over two situations, which is why the main talk now splits them.</a:t>
            </a:r>
          </a:p>
        </p:txBody>
      </p:sp>
      <p:sp>
        <p:nvSpPr>
          <p:cNvPr id="4" name="Slide Number Placeholder 3"/>
          <p:cNvSpPr>
            <a:spLocks noGrp="1"/>
          </p:cNvSpPr>
          <p:nvPr>
            <p:ph type="sldNum" sz="quarter" idx="10"/>
          </p:nvPr>
        </p:nvSpPr>
        <p:spPr/>
        <p:txBody>
          <a:bodyPr/>
          <a:lstStyle/>
          <a:p>
            <a:fld id="{57582FD5-DD72-EA41-90DE-BC5D4D375366}" type="slidenum">
              <a:rPr lang="en-US"/>
              <a:t>29</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Every subset of training countries scored on each held-out country: about +0.05 per country added, monotone across all four specifications, not flattened at three; the gain is in The Gambia and Ghana.</a:t>
            </a:r>
          </a:p>
        </p:txBody>
      </p:sp>
      <p:sp>
        <p:nvSpPr>
          <p:cNvPr id="4" name="Slide Number Placeholder 3"/>
          <p:cNvSpPr>
            <a:spLocks noGrp="1"/>
          </p:cNvSpPr>
          <p:nvPr>
            <p:ph type="sldNum" sz="quarter" idx="10"/>
          </p:nvPr>
        </p:nvSpPr>
        <p:spPr/>
        <p:txBody>
          <a:bodyPr/>
          <a:lstStyle/>
          <a:p>
            <a:fld id="{57582FD5-DD72-EA41-90DE-BC5D4D375366}" type="slidenum">
              <a:rPr lang="en-US"/>
              <a:t>30</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WHO holds the 2007 national nutrition survey’s women’s B12 deficiency for nine survey zones, 49 per cent in the north to nearly zero in Abidjan. The transported B12 ranking, never shown an Ivorian blood sample, puts them in almost the same order: Spearman -0.95 between measured deficiency and the model’s mean district rank. Nineteen years old, zones not administrative units (districts assigned by centroid), nine points.</a:t>
            </a:r>
          </a:p>
        </p:txBody>
      </p:sp>
      <p:sp>
        <p:nvSpPr>
          <p:cNvPr id="4" name="Slide Number Placeholder 3"/>
          <p:cNvSpPr>
            <a:spLocks noGrp="1"/>
          </p:cNvSpPr>
          <p:nvPr>
            <p:ph type="sldNum" sz="quarter" idx="10"/>
          </p:nvPr>
        </p:nvSpPr>
        <p:spPr/>
        <p:txBody>
          <a:bodyPr/>
          <a:lstStyle/>
          <a:p>
            <a:fld id="{57582FD5-DD72-EA41-90DE-BC5D4D375366}" type="slidenum">
              <a:rPr lang="en-US"/>
              <a:t>31</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Trained on three countries and applied to the fourth: 0.30 at district level over 22 combinations, positive in 18, against a country-block null whose 95th percentile is 0.08. The bottom panel is why levels do not travel: national mean biomarker concentrations differ several-fold between the surveys, so what crosses a border is the order of districts, not a prevalence.</a:t>
            </a:r>
          </a:p>
        </p:txBody>
      </p:sp>
      <p:sp>
        <p:nvSpPr>
          <p:cNvPr id="4" name="Slide Number Placeholder 3"/>
          <p:cNvSpPr>
            <a:spLocks noGrp="1"/>
          </p:cNvSpPr>
          <p:nvPr>
            <p:ph type="sldNum" sz="quarter" idx="10"/>
          </p:nvPr>
        </p:nvSpPr>
        <p:spPr/>
        <p:txBody>
          <a:bodyPr/>
          <a:lstStyle/>
          <a:p>
            <a:fld id="{57582FD5-DD72-EA41-90DE-BC5D4D375366}" type="slidenum">
              <a:rPr lang="en-US"/>
              <a:t>32</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Each district’s survey estimate against its held-out prediction. The cloud is tilted but not on the line: the model ranks, and compresses the range. Hollow points are single-cluster districts; much of the vertical scatter is the survey’s noise. The largest circles, the districts with the most respondents, sit closest to the line.</a:t>
            </a:r>
          </a:p>
        </p:txBody>
      </p:sp>
      <p:sp>
        <p:nvSpPr>
          <p:cNvPr id="4" name="Slide Number Placeholder 3"/>
          <p:cNvSpPr>
            <a:spLocks noGrp="1"/>
          </p:cNvSpPr>
          <p:nvPr>
            <p:ph type="sldNum" sz="quarter" idx="10"/>
          </p:nvPr>
        </p:nvSpPr>
        <p:spPr/>
        <p:txBody>
          <a:bodyPr/>
          <a:lstStyle/>
          <a:p>
            <a:fld id="{57582FD5-DD72-EA41-90DE-BC5D4D375366}" type="slidenum">
              <a:rPr lang="en-US"/>
              <a:t>33</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amertens.shinyapps.io/micronutrient-burden, rebuilt 27 September 2026: every district of the four countries and Côte d’Ivoire, with four views per district (priority ranking, planning prevalence anchored to the national survey, WHO severity class, people affected), calibrated uncertainty, the external check, a survey planner and one-page country briefs.</a:t>
            </a:r>
          </a:p>
        </p:txBody>
      </p:sp>
      <p:sp>
        <p:nvSpPr>
          <p:cNvPr id="4" name="Slide Number Placeholder 3"/>
          <p:cNvSpPr>
            <a:spLocks noGrp="1"/>
          </p:cNvSpPr>
          <p:nvPr>
            <p:ph type="sldNum" sz="quarter" idx="10"/>
          </p:nvPr>
        </p:nvSpPr>
        <p:spPr/>
        <p:txBody>
          <a:bodyPr/>
          <a:lstStyle/>
          <a:p>
            <a:fld id="{57582FD5-DD72-EA41-90DE-BC5D4D375366}" type="slidenum">
              <a:rPr lang="en-US"/>
              <a:t>34</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January approach, kept as a sensitivity analysis: a person-level ensemble under district-blocked folds has a mean AUC of 0.50 on district proxies, 0.52 on the survey’s own respondent variables and 0.53 on both. Aggregating a person-level classifier also biases area means, which is why the area-level model is the headline.</a:t>
            </a:r>
          </a:p>
        </p:txBody>
      </p:sp>
      <p:sp>
        <p:nvSpPr>
          <p:cNvPr id="4" name="Slide Number Placeholder 3"/>
          <p:cNvSpPr>
            <a:spLocks noGrp="1"/>
          </p:cNvSpPr>
          <p:nvPr>
            <p:ph type="sldNum" sz="quarter" idx="10"/>
          </p:nvPr>
        </p:nvSpPr>
        <p:spPr/>
        <p:txBody>
          <a:bodyPr/>
          <a:lstStyle/>
          <a:p>
            <a:fld id="{57582FD5-DD72-EA41-90DE-BC5D4D375366}" type="slidenum">
              <a:rPr lang="en-US"/>
              <a:t>35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4E27C-59E1-959C-59F1-778BEA920FE3}"/>
              </a:ext>
            </a:extLst>
          </p:cNvPr>
          <p:cNvSpPr>
            <a:spLocks noGrp="1"/>
          </p:cNvSpPr>
          <p:nvPr>
            <p:ph type="ctrTitle"/>
          </p:nvPr>
        </p:nvSpPr>
        <p:spPr>
          <a:xfrm>
            <a:off x="1524000" y="1122363"/>
            <a:ext cx="9144000" cy="2387600"/>
          </a:xfrm>
        </p:spPr>
        <p:txBody>
          <a:bodyPr anchor="b"/>
          <a:lstStyle>
            <a:lvl1pPr algn="ctr">
              <a:defRPr sz="3600"/>
            </a:lvl1pPr>
          </a:lstStyle>
          <a:p>
            <a:r>
              <a:rPr lang="en-GB"/>
              <a:t>Click to edit Master title style</a:t>
            </a:r>
            <a:endParaRPr lang="en-BG"/>
          </a:p>
        </p:txBody>
      </p:sp>
      <p:sp>
        <p:nvSpPr>
          <p:cNvPr id="3" name="Subtitle 2">
            <a:extLst>
              <a:ext uri="{FF2B5EF4-FFF2-40B4-BE49-F238E27FC236}">
                <a16:creationId xmlns:a16="http://schemas.microsoft.com/office/drawing/2014/main" id="{BFE7854F-01CE-7662-EA6B-3FD1C4D423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BG"/>
          </a:p>
        </p:txBody>
      </p:sp>
      <p:sp>
        <p:nvSpPr>
          <p:cNvPr id="4" name="Date Placeholder 3">
            <a:extLst>
              <a:ext uri="{FF2B5EF4-FFF2-40B4-BE49-F238E27FC236}">
                <a16:creationId xmlns:a16="http://schemas.microsoft.com/office/drawing/2014/main" id="{2263929F-88AA-CA48-AF0A-AC827F137431}"/>
              </a:ext>
            </a:extLst>
          </p:cNvPr>
          <p:cNvSpPr>
            <a:spLocks noGrp="1"/>
          </p:cNvSpPr>
          <p:nvPr>
            <p:ph type="dt" sz="half" idx="10"/>
          </p:nvPr>
        </p:nvSpPr>
        <p:spPr/>
        <p:txBody>
          <a:bodyPr/>
          <a:lstStyle/>
          <a:p>
            <a:fld id="{4DA0349A-A6D6-3945-B600-E696345C6FEC}" type="datetime1">
              <a:rPr lang="en-US" smtClean="0"/>
              <a:t>9/27/2026</a:t>
            </a:fld>
            <a:endParaRPr lang="en-BG"/>
          </a:p>
        </p:txBody>
      </p:sp>
      <p:sp>
        <p:nvSpPr>
          <p:cNvPr id="5" name="Footer Placeholder 4">
            <a:extLst>
              <a:ext uri="{FF2B5EF4-FFF2-40B4-BE49-F238E27FC236}">
                <a16:creationId xmlns:a16="http://schemas.microsoft.com/office/drawing/2014/main" id="{D43DC429-1CDF-1153-5178-688B4F993C1B}"/>
              </a:ext>
            </a:extLst>
          </p:cNvPr>
          <p:cNvSpPr>
            <a:spLocks noGrp="1"/>
          </p:cNvSpPr>
          <p:nvPr>
            <p:ph type="ftr" sz="quarter" idx="11"/>
          </p:nvPr>
        </p:nvSpPr>
        <p:spPr/>
        <p:txBody>
          <a:bodyPr/>
          <a:lstStyle/>
          <a:p>
            <a:r>
              <a:rPr lang="en-GB"/>
              <a:t>Micronutrient Forum 7th Global Conference</a:t>
            </a:r>
            <a:endParaRPr lang="en-BG"/>
          </a:p>
        </p:txBody>
      </p:sp>
      <p:sp>
        <p:nvSpPr>
          <p:cNvPr id="6" name="Slide Number Placeholder 5">
            <a:extLst>
              <a:ext uri="{FF2B5EF4-FFF2-40B4-BE49-F238E27FC236}">
                <a16:creationId xmlns:a16="http://schemas.microsoft.com/office/drawing/2014/main" id="{F15C6C9D-0A92-303C-CAA2-551CA77BAAFB}"/>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26271971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r>
              <a:rPr lang="en-GB"/>
              <a:t>Click to edit Master title style</a:t>
            </a:r>
            <a:endParaRPr lang="en-BG"/>
          </a:p>
        </p:txBody>
      </p:sp>
      <p:sp>
        <p:nvSpPr>
          <p:cNvPr id="3" name="Content Placeholder 2">
            <a:extLst>
              <a:ext uri="{FF2B5EF4-FFF2-40B4-BE49-F238E27FC236}">
                <a16:creationId xmlns:a16="http://schemas.microsoft.com/office/drawing/2014/main" id="{869312CD-D207-4B39-1878-4998D48F0B8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4" name="Date Placeholder 3">
            <a:extLst>
              <a:ext uri="{FF2B5EF4-FFF2-40B4-BE49-F238E27FC236}">
                <a16:creationId xmlns:a16="http://schemas.microsoft.com/office/drawing/2014/main" id="{2396E2FA-EC7F-8687-8A05-DAF60C6BE25C}"/>
              </a:ext>
            </a:extLst>
          </p:cNvPr>
          <p:cNvSpPr>
            <a:spLocks noGrp="1"/>
          </p:cNvSpPr>
          <p:nvPr>
            <p:ph type="dt" sz="half" idx="10"/>
          </p:nvPr>
        </p:nvSpPr>
        <p:spPr/>
        <p:txBody>
          <a:bodyPr/>
          <a:lstStyle/>
          <a:p>
            <a:fld id="{A569796A-BA6B-7A47-9589-BE2D5549C8C0}" type="datetime1">
              <a:rPr lang="en-US" smtClean="0"/>
              <a:t>9/27/2026</a:t>
            </a:fld>
            <a:endParaRPr lang="en-BG"/>
          </a:p>
        </p:txBody>
      </p:sp>
      <p:sp>
        <p:nvSpPr>
          <p:cNvPr id="5" name="Footer Placeholder 4">
            <a:extLst>
              <a:ext uri="{FF2B5EF4-FFF2-40B4-BE49-F238E27FC236}">
                <a16:creationId xmlns:a16="http://schemas.microsoft.com/office/drawing/2014/main" id="{9D9141D3-7475-FFFE-CCE2-86C5E41D7464}"/>
              </a:ext>
            </a:extLst>
          </p:cNvPr>
          <p:cNvSpPr>
            <a:spLocks noGrp="1"/>
          </p:cNvSpPr>
          <p:nvPr>
            <p:ph type="ftr" sz="quarter" idx="11"/>
          </p:nvPr>
        </p:nvSpPr>
        <p:spPr/>
        <p:txBody>
          <a:bodyPr/>
          <a:lstStyle/>
          <a:p>
            <a:r>
              <a:rPr lang="en-GB"/>
              <a:t>Micronutrient Forum 7th Global Conference</a:t>
            </a:r>
            <a:endParaRPr lang="en-BG"/>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866589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D54DC-FB72-5297-5F8C-C5018B014C1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BG"/>
          </a:p>
        </p:txBody>
      </p:sp>
      <p:sp>
        <p:nvSpPr>
          <p:cNvPr id="3" name="Text Placeholder 2">
            <a:extLst>
              <a:ext uri="{FF2B5EF4-FFF2-40B4-BE49-F238E27FC236}">
                <a16:creationId xmlns:a16="http://schemas.microsoft.com/office/drawing/2014/main" id="{E0FFC3BD-80C6-9769-80B9-A6BD93E24BA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B9FBFEB-1288-7C7C-472C-12E4A72BA29F}"/>
              </a:ext>
            </a:extLst>
          </p:cNvPr>
          <p:cNvSpPr>
            <a:spLocks noGrp="1"/>
          </p:cNvSpPr>
          <p:nvPr>
            <p:ph type="dt" sz="half" idx="10"/>
          </p:nvPr>
        </p:nvSpPr>
        <p:spPr/>
        <p:txBody>
          <a:bodyPr/>
          <a:lstStyle/>
          <a:p>
            <a:fld id="{BCC84B04-1F41-EF4B-98F8-4C038AD3A24D}" type="datetime1">
              <a:rPr lang="en-US" smtClean="0"/>
              <a:t>9/27/2026</a:t>
            </a:fld>
            <a:endParaRPr lang="en-BG"/>
          </a:p>
        </p:txBody>
      </p:sp>
      <p:sp>
        <p:nvSpPr>
          <p:cNvPr id="5" name="Footer Placeholder 4">
            <a:extLst>
              <a:ext uri="{FF2B5EF4-FFF2-40B4-BE49-F238E27FC236}">
                <a16:creationId xmlns:a16="http://schemas.microsoft.com/office/drawing/2014/main" id="{9B9D6253-509A-1620-5684-CC17C908751B}"/>
              </a:ext>
            </a:extLst>
          </p:cNvPr>
          <p:cNvSpPr>
            <a:spLocks noGrp="1"/>
          </p:cNvSpPr>
          <p:nvPr>
            <p:ph type="ftr" sz="quarter" idx="11"/>
          </p:nvPr>
        </p:nvSpPr>
        <p:spPr/>
        <p:txBody>
          <a:bodyPr/>
          <a:lstStyle/>
          <a:p>
            <a:r>
              <a:rPr lang="en-GB"/>
              <a:t>Micronutrient Forum 7th Global Conference</a:t>
            </a:r>
            <a:endParaRPr lang="en-BG"/>
          </a:p>
        </p:txBody>
      </p:sp>
      <p:sp>
        <p:nvSpPr>
          <p:cNvPr id="6" name="Slide Number Placeholder 5">
            <a:extLst>
              <a:ext uri="{FF2B5EF4-FFF2-40B4-BE49-F238E27FC236}">
                <a16:creationId xmlns:a16="http://schemas.microsoft.com/office/drawing/2014/main" id="{C949C2AB-C32B-F139-A9B4-170A9888AC27}"/>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3451009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E2CBA-5A11-5AEE-644F-228E9B86DB9D}"/>
              </a:ext>
            </a:extLst>
          </p:cNvPr>
          <p:cNvSpPr>
            <a:spLocks noGrp="1"/>
          </p:cNvSpPr>
          <p:nvPr>
            <p:ph type="title"/>
          </p:nvPr>
        </p:nvSpPr>
        <p:spPr/>
        <p:txBody>
          <a:bodyPr/>
          <a:lstStyle/>
          <a:p>
            <a:r>
              <a:rPr lang="en-GB"/>
              <a:t>Click to edit Master title style</a:t>
            </a:r>
            <a:endParaRPr lang="en-BG"/>
          </a:p>
        </p:txBody>
      </p:sp>
      <p:sp>
        <p:nvSpPr>
          <p:cNvPr id="3" name="Content Placeholder 2">
            <a:extLst>
              <a:ext uri="{FF2B5EF4-FFF2-40B4-BE49-F238E27FC236}">
                <a16:creationId xmlns:a16="http://schemas.microsoft.com/office/drawing/2014/main" id="{03B2A08F-AE11-FC4E-33FC-623D7AA3EFB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4" name="Content Placeholder 3">
            <a:extLst>
              <a:ext uri="{FF2B5EF4-FFF2-40B4-BE49-F238E27FC236}">
                <a16:creationId xmlns:a16="http://schemas.microsoft.com/office/drawing/2014/main" id="{4327201C-1AB1-5155-A12D-BBF575B2CA5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5" name="Date Placeholder 4">
            <a:extLst>
              <a:ext uri="{FF2B5EF4-FFF2-40B4-BE49-F238E27FC236}">
                <a16:creationId xmlns:a16="http://schemas.microsoft.com/office/drawing/2014/main" id="{631F99A8-E26C-E011-1C1A-576810E2FE41}"/>
              </a:ext>
            </a:extLst>
          </p:cNvPr>
          <p:cNvSpPr>
            <a:spLocks noGrp="1"/>
          </p:cNvSpPr>
          <p:nvPr>
            <p:ph type="dt" sz="half" idx="10"/>
          </p:nvPr>
        </p:nvSpPr>
        <p:spPr/>
        <p:txBody>
          <a:bodyPr/>
          <a:lstStyle/>
          <a:p>
            <a:fld id="{AD77CCEF-7735-3946-801D-962C1B28F1D5}" type="datetime1">
              <a:rPr lang="en-US" smtClean="0"/>
              <a:t>9/27/2026</a:t>
            </a:fld>
            <a:endParaRPr lang="en-BG"/>
          </a:p>
        </p:txBody>
      </p:sp>
      <p:sp>
        <p:nvSpPr>
          <p:cNvPr id="6" name="Footer Placeholder 5">
            <a:extLst>
              <a:ext uri="{FF2B5EF4-FFF2-40B4-BE49-F238E27FC236}">
                <a16:creationId xmlns:a16="http://schemas.microsoft.com/office/drawing/2014/main" id="{CDDA6176-5FB6-EB80-4208-0598E8D21C27}"/>
              </a:ext>
            </a:extLst>
          </p:cNvPr>
          <p:cNvSpPr>
            <a:spLocks noGrp="1"/>
          </p:cNvSpPr>
          <p:nvPr>
            <p:ph type="ftr" sz="quarter" idx="11"/>
          </p:nvPr>
        </p:nvSpPr>
        <p:spPr/>
        <p:txBody>
          <a:bodyPr/>
          <a:lstStyle/>
          <a:p>
            <a:r>
              <a:rPr lang="en-GB"/>
              <a:t>Micronutrient Forum 7th Global Conference</a:t>
            </a:r>
            <a:endParaRPr lang="en-BG"/>
          </a:p>
        </p:txBody>
      </p:sp>
      <p:sp>
        <p:nvSpPr>
          <p:cNvPr id="7" name="Slide Number Placeholder 6">
            <a:extLst>
              <a:ext uri="{FF2B5EF4-FFF2-40B4-BE49-F238E27FC236}">
                <a16:creationId xmlns:a16="http://schemas.microsoft.com/office/drawing/2014/main" id="{F5B86B62-BAFD-3A50-FBA9-961B856E0252}"/>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1410707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095D2-A2BD-30EE-6D2D-7430178F1AEC}"/>
              </a:ext>
            </a:extLst>
          </p:cNvPr>
          <p:cNvSpPr>
            <a:spLocks noGrp="1"/>
          </p:cNvSpPr>
          <p:nvPr>
            <p:ph type="title"/>
          </p:nvPr>
        </p:nvSpPr>
        <p:spPr>
          <a:xfrm>
            <a:off x="839788" y="365125"/>
            <a:ext cx="10515600" cy="1325563"/>
          </a:xfrm>
        </p:spPr>
        <p:txBody>
          <a:bodyPr/>
          <a:lstStyle/>
          <a:p>
            <a:r>
              <a:rPr lang="en-GB"/>
              <a:t>Click to edit Master title style</a:t>
            </a:r>
            <a:endParaRPr lang="en-BG"/>
          </a:p>
        </p:txBody>
      </p:sp>
      <p:sp>
        <p:nvSpPr>
          <p:cNvPr id="3" name="Text Placeholder 2">
            <a:extLst>
              <a:ext uri="{FF2B5EF4-FFF2-40B4-BE49-F238E27FC236}">
                <a16:creationId xmlns:a16="http://schemas.microsoft.com/office/drawing/2014/main" id="{2690CC31-127F-0D5F-D3C5-7E9ECCD437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86C0E15-4E28-7987-AF1B-0DA8E286E30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5" name="Text Placeholder 4">
            <a:extLst>
              <a:ext uri="{FF2B5EF4-FFF2-40B4-BE49-F238E27FC236}">
                <a16:creationId xmlns:a16="http://schemas.microsoft.com/office/drawing/2014/main" id="{8F8A81A2-A428-6A78-7486-E1E749F469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30213699-AAD7-5D56-83F8-C8055F185AAE}"/>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7" name="Date Placeholder 6">
            <a:extLst>
              <a:ext uri="{FF2B5EF4-FFF2-40B4-BE49-F238E27FC236}">
                <a16:creationId xmlns:a16="http://schemas.microsoft.com/office/drawing/2014/main" id="{CF37350C-26C0-7FD2-EB4E-D43A06C2797C}"/>
              </a:ext>
            </a:extLst>
          </p:cNvPr>
          <p:cNvSpPr>
            <a:spLocks noGrp="1"/>
          </p:cNvSpPr>
          <p:nvPr>
            <p:ph type="dt" sz="half" idx="10"/>
          </p:nvPr>
        </p:nvSpPr>
        <p:spPr/>
        <p:txBody>
          <a:bodyPr/>
          <a:lstStyle/>
          <a:p>
            <a:fld id="{500B6463-0D64-2746-95DF-3D8E93807C79}" type="datetime1">
              <a:rPr lang="en-US" smtClean="0"/>
              <a:t>9/27/2026</a:t>
            </a:fld>
            <a:endParaRPr lang="en-BG"/>
          </a:p>
        </p:txBody>
      </p:sp>
      <p:sp>
        <p:nvSpPr>
          <p:cNvPr id="8" name="Footer Placeholder 7">
            <a:extLst>
              <a:ext uri="{FF2B5EF4-FFF2-40B4-BE49-F238E27FC236}">
                <a16:creationId xmlns:a16="http://schemas.microsoft.com/office/drawing/2014/main" id="{579BB519-C431-4AFC-1999-6C78D2976776}"/>
              </a:ext>
            </a:extLst>
          </p:cNvPr>
          <p:cNvSpPr>
            <a:spLocks noGrp="1"/>
          </p:cNvSpPr>
          <p:nvPr>
            <p:ph type="ftr" sz="quarter" idx="11"/>
          </p:nvPr>
        </p:nvSpPr>
        <p:spPr/>
        <p:txBody>
          <a:bodyPr/>
          <a:lstStyle/>
          <a:p>
            <a:r>
              <a:rPr lang="en-GB"/>
              <a:t>Micronutrient Forum 7th Global Conference</a:t>
            </a:r>
            <a:endParaRPr lang="en-BG"/>
          </a:p>
        </p:txBody>
      </p:sp>
      <p:sp>
        <p:nvSpPr>
          <p:cNvPr id="9" name="Slide Number Placeholder 8">
            <a:extLst>
              <a:ext uri="{FF2B5EF4-FFF2-40B4-BE49-F238E27FC236}">
                <a16:creationId xmlns:a16="http://schemas.microsoft.com/office/drawing/2014/main" id="{506ACEE6-300A-374B-3C2B-3F470737D040}"/>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18750877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7BFBF-ED9A-4C84-23BD-C822C5301144}"/>
              </a:ext>
            </a:extLst>
          </p:cNvPr>
          <p:cNvSpPr>
            <a:spLocks noGrp="1"/>
          </p:cNvSpPr>
          <p:nvPr>
            <p:ph type="title"/>
          </p:nvPr>
        </p:nvSpPr>
        <p:spPr/>
        <p:txBody>
          <a:bodyPr/>
          <a:lstStyle/>
          <a:p>
            <a:r>
              <a:rPr lang="en-GB"/>
              <a:t>Click to edit Master title style</a:t>
            </a:r>
            <a:endParaRPr lang="en-BG"/>
          </a:p>
        </p:txBody>
      </p:sp>
      <p:sp>
        <p:nvSpPr>
          <p:cNvPr id="3" name="Date Placeholder 2">
            <a:extLst>
              <a:ext uri="{FF2B5EF4-FFF2-40B4-BE49-F238E27FC236}">
                <a16:creationId xmlns:a16="http://schemas.microsoft.com/office/drawing/2014/main" id="{BA7E8A34-420D-477F-0CF1-AD19AABC7026}"/>
              </a:ext>
            </a:extLst>
          </p:cNvPr>
          <p:cNvSpPr>
            <a:spLocks noGrp="1"/>
          </p:cNvSpPr>
          <p:nvPr>
            <p:ph type="dt" sz="half" idx="10"/>
          </p:nvPr>
        </p:nvSpPr>
        <p:spPr/>
        <p:txBody>
          <a:bodyPr/>
          <a:lstStyle/>
          <a:p>
            <a:fld id="{D3023895-0D23-8E49-B871-82612DE48DA5}" type="datetime1">
              <a:rPr lang="en-US" smtClean="0"/>
              <a:t>9/27/2026</a:t>
            </a:fld>
            <a:endParaRPr lang="en-BG"/>
          </a:p>
        </p:txBody>
      </p:sp>
      <p:sp>
        <p:nvSpPr>
          <p:cNvPr id="4" name="Footer Placeholder 3">
            <a:extLst>
              <a:ext uri="{FF2B5EF4-FFF2-40B4-BE49-F238E27FC236}">
                <a16:creationId xmlns:a16="http://schemas.microsoft.com/office/drawing/2014/main" id="{33ABF9B4-D5AF-8CFE-C32A-FF037DA4272E}"/>
              </a:ext>
            </a:extLst>
          </p:cNvPr>
          <p:cNvSpPr>
            <a:spLocks noGrp="1"/>
          </p:cNvSpPr>
          <p:nvPr>
            <p:ph type="ftr" sz="quarter" idx="11"/>
          </p:nvPr>
        </p:nvSpPr>
        <p:spPr/>
        <p:txBody>
          <a:bodyPr/>
          <a:lstStyle/>
          <a:p>
            <a:r>
              <a:rPr lang="en-GB"/>
              <a:t>Micronutrient Forum 7th Global Conference</a:t>
            </a:r>
            <a:endParaRPr lang="en-BG"/>
          </a:p>
        </p:txBody>
      </p:sp>
      <p:sp>
        <p:nvSpPr>
          <p:cNvPr id="5" name="Slide Number Placeholder 4">
            <a:extLst>
              <a:ext uri="{FF2B5EF4-FFF2-40B4-BE49-F238E27FC236}">
                <a16:creationId xmlns:a16="http://schemas.microsoft.com/office/drawing/2014/main" id="{810233B8-2DB4-E1E4-D018-07FD0338F6FE}"/>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20639803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FE01E9-07FC-C525-ED88-47D4AA1D93D0}"/>
              </a:ext>
            </a:extLst>
          </p:cNvPr>
          <p:cNvSpPr>
            <a:spLocks noGrp="1"/>
          </p:cNvSpPr>
          <p:nvPr>
            <p:ph type="dt" sz="half" idx="10"/>
          </p:nvPr>
        </p:nvSpPr>
        <p:spPr/>
        <p:txBody>
          <a:bodyPr/>
          <a:lstStyle/>
          <a:p>
            <a:fld id="{A2A0016C-4D4C-4444-9C30-4C9311EFABBD}" type="datetime1">
              <a:rPr lang="en-US" smtClean="0"/>
              <a:t>9/27/2026</a:t>
            </a:fld>
            <a:endParaRPr lang="en-BG"/>
          </a:p>
        </p:txBody>
      </p:sp>
      <p:sp>
        <p:nvSpPr>
          <p:cNvPr id="3" name="Footer Placeholder 2">
            <a:extLst>
              <a:ext uri="{FF2B5EF4-FFF2-40B4-BE49-F238E27FC236}">
                <a16:creationId xmlns:a16="http://schemas.microsoft.com/office/drawing/2014/main" id="{4926118E-6E2D-1DE0-6646-1F74AA3D3C87}"/>
              </a:ext>
            </a:extLst>
          </p:cNvPr>
          <p:cNvSpPr>
            <a:spLocks noGrp="1"/>
          </p:cNvSpPr>
          <p:nvPr>
            <p:ph type="ftr" sz="quarter" idx="11"/>
          </p:nvPr>
        </p:nvSpPr>
        <p:spPr/>
        <p:txBody>
          <a:bodyPr/>
          <a:lstStyle/>
          <a:p>
            <a:r>
              <a:rPr lang="en-GB"/>
              <a:t>Micronutrient Forum 7th Global Conference</a:t>
            </a:r>
            <a:endParaRPr lang="en-BG"/>
          </a:p>
        </p:txBody>
      </p:sp>
      <p:sp>
        <p:nvSpPr>
          <p:cNvPr id="4" name="Slide Number Placeholder 3">
            <a:extLst>
              <a:ext uri="{FF2B5EF4-FFF2-40B4-BE49-F238E27FC236}">
                <a16:creationId xmlns:a16="http://schemas.microsoft.com/office/drawing/2014/main" id="{E323B8E6-EA84-3D2F-EBBE-4B10458DA766}"/>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2538801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4907C-20EF-0CCF-21FB-C006565528E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G"/>
          </a:p>
        </p:txBody>
      </p:sp>
      <p:sp>
        <p:nvSpPr>
          <p:cNvPr id="3" name="Content Placeholder 2">
            <a:extLst>
              <a:ext uri="{FF2B5EF4-FFF2-40B4-BE49-F238E27FC236}">
                <a16:creationId xmlns:a16="http://schemas.microsoft.com/office/drawing/2014/main" id="{D4733A89-AC6B-F200-966F-0C32E0376A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4" name="Text Placeholder 3">
            <a:extLst>
              <a:ext uri="{FF2B5EF4-FFF2-40B4-BE49-F238E27FC236}">
                <a16:creationId xmlns:a16="http://schemas.microsoft.com/office/drawing/2014/main" id="{32A6884C-FEF6-C29D-D749-4050A968F4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DBBAE82-533D-C866-4FDC-C98150986200}"/>
              </a:ext>
            </a:extLst>
          </p:cNvPr>
          <p:cNvSpPr>
            <a:spLocks noGrp="1"/>
          </p:cNvSpPr>
          <p:nvPr>
            <p:ph type="dt" sz="half" idx="10"/>
          </p:nvPr>
        </p:nvSpPr>
        <p:spPr/>
        <p:txBody>
          <a:bodyPr/>
          <a:lstStyle/>
          <a:p>
            <a:fld id="{2A900CA0-6551-0446-9D2F-5743A643800E}" type="datetime1">
              <a:rPr lang="en-US" smtClean="0"/>
              <a:t>9/27/2026</a:t>
            </a:fld>
            <a:endParaRPr lang="en-BG"/>
          </a:p>
        </p:txBody>
      </p:sp>
      <p:sp>
        <p:nvSpPr>
          <p:cNvPr id="6" name="Footer Placeholder 5">
            <a:extLst>
              <a:ext uri="{FF2B5EF4-FFF2-40B4-BE49-F238E27FC236}">
                <a16:creationId xmlns:a16="http://schemas.microsoft.com/office/drawing/2014/main" id="{DF4ED846-F849-8890-E522-44465A5EB4D3}"/>
              </a:ext>
            </a:extLst>
          </p:cNvPr>
          <p:cNvSpPr>
            <a:spLocks noGrp="1"/>
          </p:cNvSpPr>
          <p:nvPr>
            <p:ph type="ftr" sz="quarter" idx="11"/>
          </p:nvPr>
        </p:nvSpPr>
        <p:spPr/>
        <p:txBody>
          <a:bodyPr/>
          <a:lstStyle/>
          <a:p>
            <a:r>
              <a:rPr lang="en-GB"/>
              <a:t>Micronutrient Forum 7th Global Conference</a:t>
            </a:r>
            <a:endParaRPr lang="en-BG"/>
          </a:p>
        </p:txBody>
      </p:sp>
      <p:sp>
        <p:nvSpPr>
          <p:cNvPr id="7" name="Slide Number Placeholder 6">
            <a:extLst>
              <a:ext uri="{FF2B5EF4-FFF2-40B4-BE49-F238E27FC236}">
                <a16:creationId xmlns:a16="http://schemas.microsoft.com/office/drawing/2014/main" id="{8BA36B92-4C6F-23BA-6D2D-475437683EFE}"/>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5091864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54C5F-2AE5-752F-D699-D7609DC752F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G"/>
          </a:p>
        </p:txBody>
      </p:sp>
      <p:sp>
        <p:nvSpPr>
          <p:cNvPr id="3" name="Picture Placeholder 2">
            <a:extLst>
              <a:ext uri="{FF2B5EF4-FFF2-40B4-BE49-F238E27FC236}">
                <a16:creationId xmlns:a16="http://schemas.microsoft.com/office/drawing/2014/main" id="{46E73131-BAC4-54B6-1CBE-4BB93A3EEF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BG"/>
          </a:p>
        </p:txBody>
      </p:sp>
      <p:sp>
        <p:nvSpPr>
          <p:cNvPr id="4" name="Text Placeholder 3">
            <a:extLst>
              <a:ext uri="{FF2B5EF4-FFF2-40B4-BE49-F238E27FC236}">
                <a16:creationId xmlns:a16="http://schemas.microsoft.com/office/drawing/2014/main" id="{61913CC5-7E08-0A26-3A04-CC35255609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4A6F24F-4C05-E8D9-745E-EBD04ED9AFF3}"/>
              </a:ext>
            </a:extLst>
          </p:cNvPr>
          <p:cNvSpPr>
            <a:spLocks noGrp="1"/>
          </p:cNvSpPr>
          <p:nvPr>
            <p:ph type="dt" sz="half" idx="10"/>
          </p:nvPr>
        </p:nvSpPr>
        <p:spPr/>
        <p:txBody>
          <a:bodyPr/>
          <a:lstStyle/>
          <a:p>
            <a:fld id="{F0D44285-9839-6742-9B19-5E4024F394C1}" type="datetime1">
              <a:rPr lang="en-US" smtClean="0"/>
              <a:t>9/27/2026</a:t>
            </a:fld>
            <a:endParaRPr lang="en-BG"/>
          </a:p>
        </p:txBody>
      </p:sp>
      <p:sp>
        <p:nvSpPr>
          <p:cNvPr id="6" name="Footer Placeholder 5">
            <a:extLst>
              <a:ext uri="{FF2B5EF4-FFF2-40B4-BE49-F238E27FC236}">
                <a16:creationId xmlns:a16="http://schemas.microsoft.com/office/drawing/2014/main" id="{80470FAA-AC52-973C-470B-CF5AEFC5A8D1}"/>
              </a:ext>
            </a:extLst>
          </p:cNvPr>
          <p:cNvSpPr>
            <a:spLocks noGrp="1"/>
          </p:cNvSpPr>
          <p:nvPr>
            <p:ph type="ftr" sz="quarter" idx="11"/>
          </p:nvPr>
        </p:nvSpPr>
        <p:spPr/>
        <p:txBody>
          <a:bodyPr/>
          <a:lstStyle/>
          <a:p>
            <a:r>
              <a:rPr lang="en-US"/>
              <a:t>Micronutrient Forum 7th Global Conference</a:t>
            </a:r>
            <a:endParaRPr lang="en-US" dirty="0"/>
          </a:p>
        </p:txBody>
      </p:sp>
      <p:sp>
        <p:nvSpPr>
          <p:cNvPr id="7" name="Slide Number Placeholder 6">
            <a:extLst>
              <a:ext uri="{FF2B5EF4-FFF2-40B4-BE49-F238E27FC236}">
                <a16:creationId xmlns:a16="http://schemas.microsoft.com/office/drawing/2014/main" id="{23B4F77A-26C7-7652-1A10-A26B8420E740}"/>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586630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5476-2B41-13C8-0898-9934A604BE0D}"/>
              </a:ext>
            </a:extLst>
          </p:cNvPr>
          <p:cNvSpPr>
            <a:spLocks noGrp="1"/>
          </p:cNvSpPr>
          <p:nvPr>
            <p:ph type="title"/>
          </p:nvPr>
        </p:nvSpPr>
        <p:spPr/>
        <p:txBody>
          <a:bodyPr/>
          <a:lstStyle/>
          <a:p>
            <a:r>
              <a:rPr lang="en-GB"/>
              <a:t>Click to edit Master title style</a:t>
            </a:r>
            <a:endParaRPr lang="en-BG"/>
          </a:p>
        </p:txBody>
      </p:sp>
      <p:sp>
        <p:nvSpPr>
          <p:cNvPr id="3" name="Vertical Text Placeholder 2">
            <a:extLst>
              <a:ext uri="{FF2B5EF4-FFF2-40B4-BE49-F238E27FC236}">
                <a16:creationId xmlns:a16="http://schemas.microsoft.com/office/drawing/2014/main" id="{A263FA52-E192-2D6D-EE53-2D27E1285FF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4" name="Date Placeholder 3">
            <a:extLst>
              <a:ext uri="{FF2B5EF4-FFF2-40B4-BE49-F238E27FC236}">
                <a16:creationId xmlns:a16="http://schemas.microsoft.com/office/drawing/2014/main" id="{12E1A833-D43B-6E41-A783-07CBB8162244}"/>
              </a:ext>
            </a:extLst>
          </p:cNvPr>
          <p:cNvSpPr>
            <a:spLocks noGrp="1"/>
          </p:cNvSpPr>
          <p:nvPr>
            <p:ph type="dt" sz="half" idx="10"/>
          </p:nvPr>
        </p:nvSpPr>
        <p:spPr/>
        <p:txBody>
          <a:bodyPr/>
          <a:lstStyle/>
          <a:p>
            <a:fld id="{E898FA6F-B7A3-A743-BCB2-B9EF20F12D4F}" type="datetime1">
              <a:rPr lang="en-US" smtClean="0"/>
              <a:t>9/27/2026</a:t>
            </a:fld>
            <a:endParaRPr lang="en-BG"/>
          </a:p>
        </p:txBody>
      </p:sp>
      <p:sp>
        <p:nvSpPr>
          <p:cNvPr id="5" name="Footer Placeholder 4">
            <a:extLst>
              <a:ext uri="{FF2B5EF4-FFF2-40B4-BE49-F238E27FC236}">
                <a16:creationId xmlns:a16="http://schemas.microsoft.com/office/drawing/2014/main" id="{9F33F4D0-1654-9BB0-342D-64B3B247FB29}"/>
              </a:ext>
            </a:extLst>
          </p:cNvPr>
          <p:cNvSpPr>
            <a:spLocks noGrp="1"/>
          </p:cNvSpPr>
          <p:nvPr>
            <p:ph type="ftr" sz="quarter" idx="11"/>
          </p:nvPr>
        </p:nvSpPr>
        <p:spPr/>
        <p:txBody>
          <a:bodyPr/>
          <a:lstStyle/>
          <a:p>
            <a:r>
              <a:rPr lang="en-GB"/>
              <a:t>Micronutrient Forum 7th Global Conference</a:t>
            </a:r>
            <a:endParaRPr lang="en-BG"/>
          </a:p>
        </p:txBody>
      </p:sp>
      <p:sp>
        <p:nvSpPr>
          <p:cNvPr id="6" name="Slide Number Placeholder 5">
            <a:extLst>
              <a:ext uri="{FF2B5EF4-FFF2-40B4-BE49-F238E27FC236}">
                <a16:creationId xmlns:a16="http://schemas.microsoft.com/office/drawing/2014/main" id="{B45D8943-EFEE-C7D7-A1B0-F7B34D8F7444}"/>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7546407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1E9516C-A5C3-B394-CCC6-CC9E98F29C9D}"/>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BG"/>
          </a:p>
        </p:txBody>
      </p:sp>
      <p:sp>
        <p:nvSpPr>
          <p:cNvPr id="3" name="Vertical Text Placeholder 2">
            <a:extLst>
              <a:ext uri="{FF2B5EF4-FFF2-40B4-BE49-F238E27FC236}">
                <a16:creationId xmlns:a16="http://schemas.microsoft.com/office/drawing/2014/main" id="{0C837AD8-F6F4-19C0-99E6-A1298567D29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4" name="Date Placeholder 3">
            <a:extLst>
              <a:ext uri="{FF2B5EF4-FFF2-40B4-BE49-F238E27FC236}">
                <a16:creationId xmlns:a16="http://schemas.microsoft.com/office/drawing/2014/main" id="{8CE5D298-741C-3A59-AFD1-6C796F3F2BA3}"/>
              </a:ext>
            </a:extLst>
          </p:cNvPr>
          <p:cNvSpPr>
            <a:spLocks noGrp="1"/>
          </p:cNvSpPr>
          <p:nvPr>
            <p:ph type="dt" sz="half" idx="10"/>
          </p:nvPr>
        </p:nvSpPr>
        <p:spPr/>
        <p:txBody>
          <a:bodyPr/>
          <a:lstStyle/>
          <a:p>
            <a:fld id="{7A45FA1C-3388-4845-85D5-186908EBBF00}" type="datetime1">
              <a:rPr lang="en-US" smtClean="0"/>
              <a:t>9/27/2026</a:t>
            </a:fld>
            <a:endParaRPr lang="en-BG"/>
          </a:p>
        </p:txBody>
      </p:sp>
      <p:sp>
        <p:nvSpPr>
          <p:cNvPr id="5" name="Footer Placeholder 4">
            <a:extLst>
              <a:ext uri="{FF2B5EF4-FFF2-40B4-BE49-F238E27FC236}">
                <a16:creationId xmlns:a16="http://schemas.microsoft.com/office/drawing/2014/main" id="{86A8288D-1F58-E2D5-0354-651ACD37A8DA}"/>
              </a:ext>
            </a:extLst>
          </p:cNvPr>
          <p:cNvSpPr>
            <a:spLocks noGrp="1"/>
          </p:cNvSpPr>
          <p:nvPr>
            <p:ph type="ftr" sz="quarter" idx="11"/>
          </p:nvPr>
        </p:nvSpPr>
        <p:spPr/>
        <p:txBody>
          <a:bodyPr/>
          <a:lstStyle/>
          <a:p>
            <a:r>
              <a:rPr lang="en-GB"/>
              <a:t>Micronutrient Forum 7th Global Conference</a:t>
            </a:r>
            <a:endParaRPr lang="en-BG"/>
          </a:p>
        </p:txBody>
      </p:sp>
      <p:sp>
        <p:nvSpPr>
          <p:cNvPr id="6" name="Slide Number Placeholder 5">
            <a:extLst>
              <a:ext uri="{FF2B5EF4-FFF2-40B4-BE49-F238E27FC236}">
                <a16:creationId xmlns:a16="http://schemas.microsoft.com/office/drawing/2014/main" id="{76D1D088-6C49-1A81-697E-E68CB25C68A0}"/>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2613389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48000"/>
            <a:lum/>
          </a:blip>
          <a:srcRect/>
          <a:stretch>
            <a:fillRect t="-4000" b="-4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C754CC2-F5AB-F5CA-2461-FA1578B5F0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BG"/>
          </a:p>
        </p:txBody>
      </p:sp>
      <p:sp>
        <p:nvSpPr>
          <p:cNvPr id="3" name="Text Placeholder 2">
            <a:extLst>
              <a:ext uri="{FF2B5EF4-FFF2-40B4-BE49-F238E27FC236}">
                <a16:creationId xmlns:a16="http://schemas.microsoft.com/office/drawing/2014/main" id="{49E67A3B-D1BE-0BD1-1068-2E289943D2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4" name="Date Placeholder 3">
            <a:extLst>
              <a:ext uri="{FF2B5EF4-FFF2-40B4-BE49-F238E27FC236}">
                <a16:creationId xmlns:a16="http://schemas.microsoft.com/office/drawing/2014/main" id="{D2563397-A025-132E-8587-E084AAAABC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34A5735-1510-7049-BCA2-D05BF1104DA2}" type="datetime1">
              <a:rPr lang="en-US" smtClean="0"/>
              <a:t>9/27/2026</a:t>
            </a:fld>
            <a:endParaRPr lang="en-BG"/>
          </a:p>
        </p:txBody>
      </p:sp>
      <p:sp>
        <p:nvSpPr>
          <p:cNvPr id="5" name="Footer Placeholder 4">
            <a:extLst>
              <a:ext uri="{FF2B5EF4-FFF2-40B4-BE49-F238E27FC236}">
                <a16:creationId xmlns:a16="http://schemas.microsoft.com/office/drawing/2014/main" id="{909DFC3B-6DA0-5D89-738B-9EC851A0051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GB"/>
              <a:t>Micronutrient Forum 7th Global Conference</a:t>
            </a:r>
            <a:endParaRPr lang="en-BG"/>
          </a:p>
        </p:txBody>
      </p:sp>
      <p:sp>
        <p:nvSpPr>
          <p:cNvPr id="6" name="Slide Number Placeholder 5">
            <a:extLst>
              <a:ext uri="{FF2B5EF4-FFF2-40B4-BE49-F238E27FC236}">
                <a16:creationId xmlns:a16="http://schemas.microsoft.com/office/drawing/2014/main" id="{B49B7BA3-B89F-FD2C-3403-80AB176913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C903514-D622-FE49-B01E-C0625A22DB6C}" type="slidenum">
              <a:rPr lang="en-BG" smtClean="0"/>
              <a:t>‹#›</a:t>
            </a:fld>
            <a:endParaRPr lang="en-BG"/>
          </a:p>
        </p:txBody>
      </p:sp>
    </p:spTree>
    <p:extLst>
      <p:ext uri="{BB962C8B-B14F-4D97-AF65-F5344CB8AC3E}">
        <p14:creationId xmlns:p14="http://schemas.microsoft.com/office/powerpoint/2010/main" val="2277563779"/>
      </p:ext>
    </p:extLst>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microsoft.com/office/2018/10/relationships/comments" Target="../comments/modernComment_12C_CE887CF4.xm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microsoft.com/office/2018/10/relationships/comments" Target="../comments/modernComment_103_0.xm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microsoft.com/office/2018/10/relationships/comments" Target="../comments/modernComment_104_0.xml"/><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9.png"/><Relationship Id="rId7"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26.png"/><Relationship Id="rId5" Type="http://schemas.openxmlformats.org/officeDocument/2006/relationships/image" Target="../media/image21.png"/><Relationship Id="rId10" Type="http://schemas.openxmlformats.org/officeDocument/2006/relationships/image" Target="../media/image25.png"/><Relationship Id="rId4" Type="http://schemas.openxmlformats.org/officeDocument/2006/relationships/image" Target="../media/image20.png"/><Relationship Id="rId9"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microsoft.com/office/2018/10/relationships/comments" Target="../comments/modernComment_105_0.xm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microsoft.com/office/2018/10/relationships/comments" Target="../comments/modernComment_106_0.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microsoft.com/office/2018/10/relationships/comments" Target="../comments/modernComment_10F_320E183D.xm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18/10/relationships/comments" Target="../comments/modernComment_116_ED2E752E.xm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microsoft.com/office/2018/10/relationships/comments" Target="../comments/modernComment_108_0.xm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microsoft.com/office/2018/10/relationships/comments" Target="../comments/modernComment_109_0.xml"/><Relationship Id="rId7"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microsoft.com/office/2018/10/relationships/comments" Target="../comments/modernComment_10A_0.xml"/><Relationship Id="rId7" Type="http://schemas.openxmlformats.org/officeDocument/2006/relationships/image" Target="../media/image41.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8.xml.rels><?xml version="1.0" encoding="UTF-8" standalone="yes"?>
<Relationships xmlns="http://schemas.openxmlformats.org/package/2006/relationships"><Relationship Id="rId8" Type="http://schemas.openxmlformats.org/officeDocument/2006/relationships/image" Target="../media/image43.png"/><Relationship Id="rId3" Type="http://schemas.microsoft.com/office/2018/10/relationships/comments" Target="../comments/modernComment_10B_0.xml"/><Relationship Id="rId7" Type="http://schemas.openxmlformats.org/officeDocument/2006/relationships/image" Target="../media/image21.png"/><Relationship Id="rId12" Type="http://schemas.openxmlformats.org/officeDocument/2006/relationships/image" Target="../media/image41.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image" Target="../media/image44.png"/><Relationship Id="rId5" Type="http://schemas.openxmlformats.org/officeDocument/2006/relationships/image" Target="../media/image7.png"/><Relationship Id="rId10" Type="http://schemas.openxmlformats.org/officeDocument/2006/relationships/image" Target="../media/image36.png"/><Relationship Id="rId4" Type="http://schemas.openxmlformats.org/officeDocument/2006/relationships/image" Target="../media/image42.png"/><Relationship Id="rId9"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microsoft.com/office/2018/10/relationships/comments" Target="../comments/modernComment_112_0.xml"/><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2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microsoft.com/office/2018/10/relationships/comments" Target="../comments/modernComment_11A_0.xml"/><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28.xml.rels><?xml version="1.0" encoding="UTF-8" standalone="yes"?>
<Relationships xmlns="http://schemas.openxmlformats.org/package/2006/relationships"><Relationship Id="rId3" Type="http://schemas.microsoft.com/office/2018/10/relationships/comments" Target="../comments/modernComment_11B_0.xml"/><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2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microsoft.com/office/2018/10/relationships/comments" Target="../comments/modernComment_120_0.xml"/><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3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4E27C-59E1-959C-59F1-778BEA920FE3}"/>
              </a:ext>
            </a:extLst>
          </p:cNvPr>
          <p:cNvSpPr>
            <a:spLocks noGrp="1"/>
          </p:cNvSpPr>
          <p:nvPr>
            <p:ph type="ctrTitle"/>
          </p:nvPr>
        </p:nvSpPr>
        <p:spPr>
          <a:xfrm>
            <a:off x="1524000" y="1122363"/>
            <a:ext cx="9144000" cy="2387600"/>
          </a:xfrm>
        </p:spPr>
        <p:txBody>
          <a:bodyPr/>
          <a:lstStyle/>
          <a:p>
            <a:pPr marL="0" lvl="0" indent="0">
              <a:buNone/>
            </a:pPr>
            <a:r>
              <a:rPr sz="3000"/>
              <a:t>Predicting Micronutrient Deficiency Prevalence in Sub-Saharan Africa Using Proxy Indicators: A Multi-country Machine Learning Framework</a:t>
            </a:r>
          </a:p>
        </p:txBody>
      </p:sp>
      <p:sp>
        <p:nvSpPr>
          <p:cNvPr id="3" name="Subtitle 2">
            <a:extLst>
              <a:ext uri="{FF2B5EF4-FFF2-40B4-BE49-F238E27FC236}">
                <a16:creationId xmlns:a16="http://schemas.microsoft.com/office/drawing/2014/main" id="{BFE7854F-01CE-7662-EA6B-3FD1C4D423B6}"/>
              </a:ext>
            </a:extLst>
          </p:cNvPr>
          <p:cNvSpPr>
            <a:spLocks noGrp="1"/>
          </p:cNvSpPr>
          <p:nvPr>
            <p:ph type="subTitle" idx="1"/>
          </p:nvPr>
        </p:nvSpPr>
        <p:spPr>
          <a:xfrm>
            <a:off x="1524000" y="3602038"/>
            <a:ext cx="9144000" cy="1188720"/>
          </a:xfrm>
        </p:spPr>
        <p:txBody>
          <a:bodyPr>
            <a:normAutofit lnSpcReduction="10000"/>
          </a:bodyPr>
          <a:lstStyle/>
          <a:p>
            <a:pPr marL="0" lvl="0" indent="0">
              <a:buNone/>
            </a:pPr>
            <a:br/>
            <a:br/>
            <a:r>
              <a:rPr sz="1800"/>
              <a:t>Andrew N. Mertens (University of California, Berkeley) and Sonja Y. Hess (University of California, Davis)</a:t>
            </a:r>
          </a:p>
        </p:txBody>
      </p:sp>
      <p:sp>
        <p:nvSpPr>
          <p:cNvPr id="4" name="Date Placeholder 3">
            <a:extLst>
              <a:ext uri="{FF2B5EF4-FFF2-40B4-BE49-F238E27FC236}">
                <a16:creationId xmlns:a16="http://schemas.microsoft.com/office/drawing/2014/main" id="{2263929F-88AA-CA48-AF0A-AC827F137431}"/>
              </a:ext>
            </a:extLst>
          </p:cNvPr>
          <p:cNvSpPr>
            <a:spLocks noGrp="1"/>
          </p:cNvSpPr>
          <p:nvPr>
            <p:ph type="dt" sz="half" idx="10"/>
          </p:nvPr>
        </p:nvSpPr>
        <p:spPr/>
        <p:txBody>
          <a:bodyPr/>
          <a:lstStyle/>
          <a:p>
            <a:pPr marL="0" lvl="0" indent="0">
              <a:buNone/>
            </a:pPr>
            <a:r>
              <a:rPr sz="1800"/>
              <a:t>2026-10-01</a:t>
            </a:r>
          </a:p>
        </p:txBody>
      </p:sp>
      <p:sp>
        <p:nvSpPr>
          <p:cNvPr id="6" name="Slide Number Placeholder 5">
            <a:extLst>
              <a:ext uri="{FF2B5EF4-FFF2-40B4-BE49-F238E27FC236}">
                <a16:creationId xmlns:a16="http://schemas.microsoft.com/office/drawing/2014/main" id="{F15C6C9D-0A92-303C-CAA2-551CA77BAAFB}"/>
              </a:ext>
            </a:extLst>
          </p:cNvPr>
          <p:cNvSpPr>
            <a:spLocks noGrp="1"/>
          </p:cNvSpPr>
          <p:nvPr>
            <p:ph type="sldNum" sz="quarter" idx="12"/>
          </p:nvPr>
        </p:nvSpPr>
        <p:spPr/>
        <p:txBody>
          <a:bodyPr/>
          <a:lstStyle/>
          <a:p>
            <a:fld id="{8C903514-D622-FE49-B01E-C0625A22DB6C}" type="slidenum">
              <a:rPr lang="en-BG" smtClean="0"/>
              <a:t>1</a:t>
            </a:fld>
            <a:endParaRPr lang="en-BG"/>
          </a:p>
        </p:txBody>
      </p:sp>
      <p:pic>
        <p:nvPicPr>
          <p:cNvPr id="7" name="Picture 6" descr="logo_ucberkeley.png"/>
          <p:cNvPicPr>
            <a:picLocks noChangeAspect="1"/>
          </p:cNvPicPr>
          <p:nvPr/>
        </p:nvPicPr>
        <p:blipFill>
          <a:blip r:embed="rId3"/>
          <a:stretch>
            <a:fillRect/>
          </a:stretch>
        </p:blipFill>
        <p:spPr>
          <a:xfrm>
            <a:off x="2167128" y="4983480"/>
            <a:ext cx="2116765" cy="502920"/>
          </a:xfrm>
          <a:prstGeom prst="rect">
            <a:avLst/>
          </a:prstGeom>
        </p:spPr>
      </p:pic>
      <p:pic>
        <p:nvPicPr>
          <p:cNvPr id="8" name="Picture 7" descr="logo_ucdavis.png"/>
          <p:cNvPicPr>
            <a:picLocks noChangeAspect="1"/>
          </p:cNvPicPr>
          <p:nvPr/>
        </p:nvPicPr>
        <p:blipFill>
          <a:blip r:embed="rId4"/>
          <a:stretch>
            <a:fillRect/>
          </a:stretch>
        </p:blipFill>
        <p:spPr>
          <a:xfrm>
            <a:off x="5184648" y="5045562"/>
            <a:ext cx="2194560" cy="378756"/>
          </a:xfrm>
          <a:prstGeom prst="rect">
            <a:avLst/>
          </a:prstGeom>
        </p:spPr>
      </p:pic>
      <p:pic>
        <p:nvPicPr>
          <p:cNvPr id="9" name="Picture 8" descr="logo_mnforum.png"/>
          <p:cNvPicPr>
            <a:picLocks noChangeAspect="1"/>
          </p:cNvPicPr>
          <p:nvPr/>
        </p:nvPicPr>
        <p:blipFill>
          <a:blip r:embed="rId5"/>
          <a:stretch>
            <a:fillRect/>
          </a:stretch>
        </p:blipFill>
        <p:spPr>
          <a:xfrm>
            <a:off x="8202168" y="4983480"/>
            <a:ext cx="1233439" cy="502920"/>
          </a:xfrm>
          <a:prstGeom prst="rect">
            <a:avLst/>
          </a:prstGeom>
        </p:spPr>
      </p:pic>
      <p:sp>
        <p:nvSpPr>
          <p:cNvPr id="10" name="TextBox 9"/>
          <p:cNvSpPr txBox="1"/>
          <p:nvPr/>
        </p:nvSpPr>
        <p:spPr>
          <a:xfrm>
            <a:off x="841248" y="5577840"/>
            <a:ext cx="10515600" cy="365760"/>
          </a:xfrm>
          <a:prstGeom prst="rect">
            <a:avLst/>
          </a:prstGeom>
          <a:noFill/>
        </p:spPr>
        <p:txBody>
          <a:bodyPr wrap="square" lIns="45720" tIns="27432" rIns="45720" bIns="27432" anchor="t">
            <a:spAutoFit/>
          </a:bodyPr>
          <a:lstStyle/>
          <a:p>
            <a:pPr algn="ctr"/>
            <a:r>
              <a:rPr sz="1200" b="0">
                <a:solidFill>
                  <a:srgbClr val="666666"/>
                </a:solidFill>
                <a:latin typeface="Calibri"/>
              </a:rPr>
              <a:t>We are grateful for the funding support of the Gates Foundation.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1B909-6D43-CF83-631A-FED91F130126}"/>
              </a:ext>
            </a:extLst>
          </p:cNvPr>
          <p:cNvSpPr>
            <a:spLocks noGrp="1"/>
          </p:cNvSpPr>
          <p:nvPr>
            <p:ph type="title"/>
          </p:nvPr>
        </p:nvSpPr>
        <p:spPr/>
        <p:txBody>
          <a:bodyPr/>
          <a:lstStyle/>
          <a:p>
            <a:r>
              <a:rPr lang="en-US" dirty="0"/>
              <a:t>Introduction and Study Objectives	</a:t>
            </a:r>
          </a:p>
        </p:txBody>
      </p:sp>
      <p:sp>
        <p:nvSpPr>
          <p:cNvPr id="3" name="Content Placeholder 2">
            <a:extLst>
              <a:ext uri="{FF2B5EF4-FFF2-40B4-BE49-F238E27FC236}">
                <a16:creationId xmlns:a16="http://schemas.microsoft.com/office/drawing/2014/main" id="{C525EAD1-AEDF-168D-9F11-73AFD6983706}"/>
              </a:ext>
            </a:extLst>
          </p:cNvPr>
          <p:cNvSpPr>
            <a:spLocks noGrp="1"/>
          </p:cNvSpPr>
          <p:nvPr>
            <p:ph idx="1"/>
          </p:nvPr>
        </p:nvSpPr>
        <p:spPr>
          <a:xfrm>
            <a:off x="838200" y="1825625"/>
            <a:ext cx="4520453" cy="4351338"/>
          </a:xfrm>
        </p:spPr>
        <p:txBody>
          <a:bodyPr>
            <a:normAutofit fontScale="77500" lnSpcReduction="20000"/>
          </a:bodyPr>
          <a:lstStyle/>
          <a:p>
            <a:r>
              <a:rPr lang="en-US" dirty="0"/>
              <a:t>Information on the prevalence of vitamin and mineral deficiencies (VMD) is limited</a:t>
            </a:r>
          </a:p>
          <a:p>
            <a:r>
              <a:rPr lang="en-US" dirty="0"/>
              <a:t>In an inter-institutional, multi-disciplinary workshop we brainstormed potential approaches, and relevant data domains and data sources</a:t>
            </a:r>
          </a:p>
          <a:p>
            <a:r>
              <a:rPr lang="en-US" dirty="0"/>
              <a:t>Developed conceptual frameworks to guide targeted machine learning</a:t>
            </a:r>
          </a:p>
          <a:p>
            <a:endParaRPr lang="en-US" dirty="0"/>
          </a:p>
          <a:p>
            <a:endParaRPr lang="en-US" dirty="0"/>
          </a:p>
          <a:p>
            <a:pPr marL="0" indent="0">
              <a:buNone/>
            </a:pPr>
            <a:r>
              <a:rPr lang="en-US" b="1" dirty="0"/>
              <a:t>Objectives</a:t>
            </a:r>
          </a:p>
          <a:p>
            <a:r>
              <a:rPr lang="en-US" dirty="0"/>
              <a:t>To explore whether machine learning can help fill the data gap in VMD prevalence with proxy variables using targeted machine learning</a:t>
            </a:r>
          </a:p>
          <a:p>
            <a:pPr marL="0" indent="0">
              <a:buNone/>
            </a:pPr>
            <a:endParaRPr lang="en-US" dirty="0"/>
          </a:p>
          <a:p>
            <a:endParaRPr lang="en-US" dirty="0"/>
          </a:p>
        </p:txBody>
      </p:sp>
      <p:pic>
        <p:nvPicPr>
          <p:cNvPr id="5" name="Picture 1" descr="../../results/figures/mnf15_v2/v2_gap.png">
            <a:extLst>
              <a:ext uri="{FF2B5EF4-FFF2-40B4-BE49-F238E27FC236}">
                <a16:creationId xmlns:a16="http://schemas.microsoft.com/office/drawing/2014/main" id="{74C47DC2-2024-9531-4129-A4628F5050A0}"/>
              </a:ext>
            </a:extLst>
          </p:cNvPr>
          <p:cNvPicPr>
            <a:picLocks noGrp="1" noChangeAspect="1"/>
          </p:cNvPicPr>
          <p:nvPr/>
        </p:nvPicPr>
        <p:blipFill>
          <a:blip r:embed="rId4"/>
          <a:stretch>
            <a:fillRect/>
          </a:stretch>
        </p:blipFill>
        <p:spPr bwMode="auto">
          <a:xfrm>
            <a:off x="5176065" y="2400300"/>
            <a:ext cx="6464968" cy="2834640"/>
          </a:xfrm>
          <a:prstGeom prst="rect">
            <a:avLst/>
          </a:prstGeom>
          <a:noFill/>
          <a:ln w="9525">
            <a:noFill/>
            <a:headEnd/>
            <a:tailEnd/>
          </a:ln>
        </p:spPr>
      </p:pic>
    </p:spTree>
    <p:extLst>
      <p:ext uri="{BB962C8B-B14F-4D97-AF65-F5344CB8AC3E}">
        <p14:creationId xmlns:p14="http://schemas.microsoft.com/office/powerpoint/2010/main" val="3465051380"/>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2">
            <a:extLst>
              <a:ext uri="{FF2B5EF4-FFF2-40B4-BE49-F238E27FC236}">
                <a16:creationId xmlns:a16="http://schemas.microsoft.com/office/drawing/2014/main" id="{8ABA8998-CCE2-2500-074C-E0A533567A0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5" name="Picture 14">
            <a:extLst>
              <a:ext uri="{FF2B5EF4-FFF2-40B4-BE49-F238E27FC236}">
                <a16:creationId xmlns:a16="http://schemas.microsoft.com/office/drawing/2014/main" id="{1C3BA4A8-DD58-9DBD-332E-0E8E0DEC42D0}"/>
              </a:ext>
            </a:extLst>
          </p:cNvPr>
          <p:cNvPicPr>
            <a:picLocks noChangeAspect="1"/>
          </p:cNvPicPr>
          <p:nvPr/>
        </p:nvPicPr>
        <p:blipFill>
          <a:blip r:embed="rId2"/>
          <a:stretch>
            <a:fillRect/>
          </a:stretch>
        </p:blipFill>
        <p:spPr>
          <a:xfrm>
            <a:off x="3462922" y="0"/>
            <a:ext cx="9040487" cy="6601746"/>
          </a:xfrm>
          <a:prstGeom prst="rect">
            <a:avLst/>
          </a:prstGeom>
        </p:spPr>
      </p:pic>
      <p:sp>
        <p:nvSpPr>
          <p:cNvPr id="16" name="TextBox 15">
            <a:extLst>
              <a:ext uri="{FF2B5EF4-FFF2-40B4-BE49-F238E27FC236}">
                <a16:creationId xmlns:a16="http://schemas.microsoft.com/office/drawing/2014/main" id="{4D369A80-7957-2672-5459-EC901297BDA3}"/>
              </a:ext>
            </a:extLst>
          </p:cNvPr>
          <p:cNvSpPr txBox="1"/>
          <p:nvPr/>
        </p:nvSpPr>
        <p:spPr>
          <a:xfrm>
            <a:off x="350196" y="428017"/>
            <a:ext cx="2752927" cy="646331"/>
          </a:xfrm>
          <a:prstGeom prst="rect">
            <a:avLst/>
          </a:prstGeom>
          <a:noFill/>
        </p:spPr>
        <p:txBody>
          <a:bodyPr wrap="square" rtlCol="0">
            <a:spAutoFit/>
          </a:bodyPr>
          <a:lstStyle/>
          <a:p>
            <a:r>
              <a:rPr lang="en-US" b="1" dirty="0"/>
              <a:t>Conceptual Framework</a:t>
            </a:r>
          </a:p>
          <a:p>
            <a:r>
              <a:rPr lang="en-US" b="1" dirty="0"/>
              <a:t>Of Iron Deficiency</a:t>
            </a:r>
          </a:p>
        </p:txBody>
      </p:sp>
      <p:sp>
        <p:nvSpPr>
          <p:cNvPr id="17" name="TextBox 16">
            <a:extLst>
              <a:ext uri="{FF2B5EF4-FFF2-40B4-BE49-F238E27FC236}">
                <a16:creationId xmlns:a16="http://schemas.microsoft.com/office/drawing/2014/main" id="{AE3E440B-671A-9C18-63E9-F2DDF877C031}"/>
              </a:ext>
            </a:extLst>
          </p:cNvPr>
          <p:cNvSpPr txBox="1"/>
          <p:nvPr/>
        </p:nvSpPr>
        <p:spPr>
          <a:xfrm>
            <a:off x="111057" y="4520930"/>
            <a:ext cx="3231204" cy="2836674"/>
          </a:xfrm>
          <a:prstGeom prst="rect">
            <a:avLst/>
          </a:prstGeom>
          <a:noFill/>
        </p:spPr>
        <p:txBody>
          <a:bodyPr wrap="square" rtlCol="0">
            <a:spAutoFit/>
          </a:bodyPr>
          <a:lstStyle/>
          <a:p>
            <a:r>
              <a:rPr lang="en-US" sz="1100" baseline="30000" dirty="0"/>
              <a:t>1</a:t>
            </a:r>
            <a:r>
              <a:rPr lang="en-US" sz="1100" dirty="0"/>
              <a:t> High nutrient requirement due to growth and pregnancy, and increased susceptibility to infections during childhood and pregnancy</a:t>
            </a:r>
          </a:p>
          <a:p>
            <a:endParaRPr lang="en-US" sz="1100" dirty="0"/>
          </a:p>
          <a:p>
            <a:r>
              <a:rPr lang="en-US" sz="1100" baseline="30000" dirty="0"/>
              <a:t>2</a:t>
            </a:r>
            <a:r>
              <a:rPr lang="en-US" sz="1100" dirty="0"/>
              <a:t> Early onset of childbearing, high parity and short birth spacing </a:t>
            </a:r>
          </a:p>
          <a:p>
            <a:endParaRPr lang="en-US" sz="1100" baseline="30000" dirty="0"/>
          </a:p>
          <a:p>
            <a:r>
              <a:rPr lang="en-US" sz="1100" baseline="30000" dirty="0"/>
              <a:t>3</a:t>
            </a:r>
            <a:r>
              <a:rPr lang="en-US" sz="1100" dirty="0"/>
              <a:t> Inherited red blood cell disorders include sickle cell disorders, </a:t>
            </a:r>
            <a:r>
              <a:rPr lang="en-US" sz="1100" dirty="0" err="1"/>
              <a:t>thalassemias</a:t>
            </a:r>
            <a:r>
              <a:rPr lang="en-US" sz="1100" dirty="0"/>
              <a:t>, and other haemoglobinopathies</a:t>
            </a:r>
          </a:p>
          <a:p>
            <a:endParaRPr lang="en-US" sz="1200" dirty="0"/>
          </a:p>
          <a:p>
            <a:r>
              <a:rPr lang="en-US" sz="1200" dirty="0"/>
              <a:t>Source: adapted from Hess et al, Ann N Y Acad Sci 2023</a:t>
            </a:r>
          </a:p>
          <a:p>
            <a:endParaRPr lang="en-US" dirty="0"/>
          </a:p>
          <a:p>
            <a:endParaRPr lang="en-US" dirty="0"/>
          </a:p>
        </p:txBody>
      </p:sp>
    </p:spTree>
    <p:extLst>
      <p:ext uri="{BB962C8B-B14F-4D97-AF65-F5344CB8AC3E}">
        <p14:creationId xmlns:p14="http://schemas.microsoft.com/office/powerpoint/2010/main" val="23766324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Where the predictors come from</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4</a:t>
            </a:fld>
            <a:endParaRPr lang="en-BG"/>
          </a:p>
        </p:txBody>
      </p:sp>
      <p:sp>
        <p:nvSpPr>
          <p:cNvPr id="7" name="Rounded Rectangle 6"/>
          <p:cNvSpPr/>
          <p:nvPr/>
        </p:nvSpPr>
        <p:spPr>
          <a:xfrm>
            <a:off x="841248" y="1691640"/>
            <a:ext cx="5097780" cy="822960"/>
          </a:xfrm>
          <a:prstGeom prst="roundRect">
            <a:avLst>
              <a:gd name="adj" fmla="val 1111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satellite_blue.png"/>
          <p:cNvPicPr>
            <a:picLocks noChangeAspect="1"/>
          </p:cNvPicPr>
          <p:nvPr/>
        </p:nvPicPr>
        <p:blipFill>
          <a:blip r:embed="rId3"/>
          <a:stretch>
            <a:fillRect/>
          </a:stretch>
        </p:blipFill>
        <p:spPr>
          <a:xfrm>
            <a:off x="978408" y="1828800"/>
            <a:ext cx="548640" cy="548640"/>
          </a:xfrm>
          <a:prstGeom prst="rect">
            <a:avLst/>
          </a:prstGeom>
        </p:spPr>
      </p:pic>
      <p:sp>
        <p:nvSpPr>
          <p:cNvPr id="9" name="TextBox 8"/>
          <p:cNvSpPr txBox="1"/>
          <p:nvPr/>
        </p:nvSpPr>
        <p:spPr>
          <a:xfrm>
            <a:off x="1664208" y="1691640"/>
            <a:ext cx="4183380" cy="822960"/>
          </a:xfrm>
          <a:prstGeom prst="rect">
            <a:avLst/>
          </a:prstGeom>
          <a:noFill/>
        </p:spPr>
        <p:txBody>
          <a:bodyPr wrap="square" lIns="45720" tIns="27432" rIns="45720" bIns="27432" anchor="ctr">
            <a:spAutoFit/>
          </a:bodyPr>
          <a:lstStyle/>
          <a:p>
            <a:pPr algn="l"/>
            <a:r>
              <a:rPr sz="1500" b="1">
                <a:solidFill>
                  <a:srgbClr val="1F4E79"/>
                </a:solidFill>
                <a:latin typeface="Calibri"/>
              </a:rPr>
              <a:t>Climate, satellite imagery, greenness  (144)</a:t>
            </a:r>
          </a:p>
          <a:p>
            <a:pPr algn="l">
              <a:spcBef>
                <a:spcPts val="300"/>
              </a:spcBef>
            </a:pPr>
            <a:r>
              <a:rPr sz="1150" b="0">
                <a:solidFill>
                  <a:srgbClr val="333333"/>
                </a:solidFill>
                <a:latin typeface="Calibri"/>
              </a:rPr>
              <a:t>TerraClimate rainfall and temperature; MODIS greenness; AlphaEarth satellite embedding; distance to water and coast</a:t>
            </a:r>
          </a:p>
        </p:txBody>
      </p:sp>
      <p:sp>
        <p:nvSpPr>
          <p:cNvPr id="10" name="Rounded Rectangle 9"/>
          <p:cNvSpPr/>
          <p:nvPr/>
        </p:nvSpPr>
        <p:spPr>
          <a:xfrm>
            <a:off x="6259068" y="1691640"/>
            <a:ext cx="5097780" cy="822960"/>
          </a:xfrm>
          <a:prstGeom prst="roundRect">
            <a:avLst>
              <a:gd name="adj" fmla="val 1111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 name="Picture 10" descr="mound_blue.png"/>
          <p:cNvPicPr>
            <a:picLocks noChangeAspect="1"/>
          </p:cNvPicPr>
          <p:nvPr/>
        </p:nvPicPr>
        <p:blipFill>
          <a:blip r:embed="rId4"/>
          <a:stretch>
            <a:fillRect/>
          </a:stretch>
        </p:blipFill>
        <p:spPr>
          <a:xfrm>
            <a:off x="6396228" y="1828800"/>
            <a:ext cx="617220" cy="548640"/>
          </a:xfrm>
          <a:prstGeom prst="rect">
            <a:avLst/>
          </a:prstGeom>
        </p:spPr>
      </p:pic>
      <p:sp>
        <p:nvSpPr>
          <p:cNvPr id="12" name="TextBox 11"/>
          <p:cNvSpPr txBox="1"/>
          <p:nvPr/>
        </p:nvSpPr>
        <p:spPr>
          <a:xfrm>
            <a:off x="7082028" y="1691640"/>
            <a:ext cx="4183380" cy="822960"/>
          </a:xfrm>
          <a:prstGeom prst="rect">
            <a:avLst/>
          </a:prstGeom>
          <a:noFill/>
        </p:spPr>
        <p:txBody>
          <a:bodyPr wrap="square" lIns="45720" tIns="27432" rIns="45720" bIns="27432" anchor="ctr">
            <a:spAutoFit/>
          </a:bodyPr>
          <a:lstStyle/>
          <a:p>
            <a:pPr algn="l"/>
            <a:r>
              <a:rPr sz="1500" b="1">
                <a:solidFill>
                  <a:srgbClr val="1F4E79"/>
                </a:solidFill>
                <a:latin typeface="Calibri"/>
              </a:rPr>
              <a:t>Soil chemistry  (45)</a:t>
            </a:r>
          </a:p>
          <a:p>
            <a:pPr algn="l">
              <a:spcBef>
                <a:spcPts val="300"/>
              </a:spcBef>
            </a:pPr>
            <a:r>
              <a:rPr sz="1150" b="0">
                <a:solidFill>
                  <a:srgbClr val="333333"/>
                </a:solidFill>
                <a:latin typeface="Calibri"/>
              </a:rPr>
              <a:t>SoilGrids and iSDA: pH, organic carbon, texture, nutrient availability</a:t>
            </a:r>
          </a:p>
        </p:txBody>
      </p:sp>
      <p:sp>
        <p:nvSpPr>
          <p:cNvPr id="13" name="Rounded Rectangle 12"/>
          <p:cNvSpPr/>
          <p:nvPr/>
        </p:nvSpPr>
        <p:spPr>
          <a:xfrm>
            <a:off x="841248" y="2651760"/>
            <a:ext cx="5097780" cy="822960"/>
          </a:xfrm>
          <a:prstGeom prst="roundRect">
            <a:avLst>
              <a:gd name="adj" fmla="val 1111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tractor_blue.png"/>
          <p:cNvPicPr>
            <a:picLocks noChangeAspect="1"/>
          </p:cNvPicPr>
          <p:nvPr/>
        </p:nvPicPr>
        <p:blipFill>
          <a:blip r:embed="rId5"/>
          <a:stretch>
            <a:fillRect/>
          </a:stretch>
        </p:blipFill>
        <p:spPr>
          <a:xfrm>
            <a:off x="978408" y="2788920"/>
            <a:ext cx="685800" cy="548640"/>
          </a:xfrm>
          <a:prstGeom prst="rect">
            <a:avLst/>
          </a:prstGeom>
        </p:spPr>
      </p:pic>
      <p:sp>
        <p:nvSpPr>
          <p:cNvPr id="15" name="TextBox 14"/>
          <p:cNvSpPr txBox="1"/>
          <p:nvPr/>
        </p:nvSpPr>
        <p:spPr>
          <a:xfrm>
            <a:off x="1664208" y="2651760"/>
            <a:ext cx="4183380" cy="822960"/>
          </a:xfrm>
          <a:prstGeom prst="rect">
            <a:avLst/>
          </a:prstGeom>
          <a:noFill/>
        </p:spPr>
        <p:txBody>
          <a:bodyPr wrap="square" lIns="45720" tIns="27432" rIns="45720" bIns="27432" anchor="ctr">
            <a:spAutoFit/>
          </a:bodyPr>
          <a:lstStyle/>
          <a:p>
            <a:pPr algn="l"/>
            <a:r>
              <a:rPr sz="1500" b="1">
                <a:solidFill>
                  <a:srgbClr val="1F4E79"/>
                </a:solidFill>
                <a:latin typeface="Calibri"/>
              </a:rPr>
              <a:t>Crops and livestock  (37)</a:t>
            </a:r>
          </a:p>
          <a:p>
            <a:pPr algn="l">
              <a:spcBef>
                <a:spcPts val="300"/>
              </a:spcBef>
            </a:pPr>
            <a:r>
              <a:rPr sz="1150" b="0">
                <a:solidFill>
                  <a:srgbClr val="333333"/>
                </a:solidFill>
                <a:latin typeface="Calibri"/>
              </a:rPr>
              <a:t>MapSPAM crop mix and cropland; cattle, goat and poultry density (Gridded Livestock of the World)</a:t>
            </a:r>
          </a:p>
        </p:txBody>
      </p:sp>
      <p:sp>
        <p:nvSpPr>
          <p:cNvPr id="16" name="Rounded Rectangle 15"/>
          <p:cNvSpPr/>
          <p:nvPr/>
        </p:nvSpPr>
        <p:spPr>
          <a:xfrm>
            <a:off x="6259068" y="2651760"/>
            <a:ext cx="5097780" cy="822960"/>
          </a:xfrm>
          <a:prstGeom prst="roundRect">
            <a:avLst>
              <a:gd name="adj" fmla="val 1111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7" name="Picture 16" descr="basket-shopping_blue.png"/>
          <p:cNvPicPr>
            <a:picLocks noChangeAspect="1"/>
          </p:cNvPicPr>
          <p:nvPr/>
        </p:nvPicPr>
        <p:blipFill>
          <a:blip r:embed="rId6"/>
          <a:stretch>
            <a:fillRect/>
          </a:stretch>
        </p:blipFill>
        <p:spPr>
          <a:xfrm>
            <a:off x="6396228" y="2788920"/>
            <a:ext cx="617220" cy="548640"/>
          </a:xfrm>
          <a:prstGeom prst="rect">
            <a:avLst/>
          </a:prstGeom>
        </p:spPr>
      </p:pic>
      <p:sp>
        <p:nvSpPr>
          <p:cNvPr id="18" name="TextBox 17"/>
          <p:cNvSpPr txBox="1"/>
          <p:nvPr/>
        </p:nvSpPr>
        <p:spPr>
          <a:xfrm>
            <a:off x="7082028" y="2651760"/>
            <a:ext cx="4183380" cy="822960"/>
          </a:xfrm>
          <a:prstGeom prst="rect">
            <a:avLst/>
          </a:prstGeom>
          <a:noFill/>
        </p:spPr>
        <p:txBody>
          <a:bodyPr wrap="square" lIns="45720" tIns="27432" rIns="45720" bIns="27432" anchor="ctr">
            <a:spAutoFit/>
          </a:bodyPr>
          <a:lstStyle/>
          <a:p>
            <a:pPr algn="l"/>
            <a:r>
              <a:rPr sz="1500" b="1">
                <a:solidFill>
                  <a:srgbClr val="1F4E79"/>
                </a:solidFill>
                <a:latin typeface="Calibri"/>
              </a:rPr>
              <a:t>Food prices, diet, fortification  (83)</a:t>
            </a:r>
          </a:p>
          <a:p>
            <a:pPr algn="l">
              <a:spcBef>
                <a:spcPts val="300"/>
              </a:spcBef>
            </a:pPr>
            <a:r>
              <a:rPr sz="1150" b="0">
                <a:solidFill>
                  <a:srgbClr val="333333"/>
                </a:solidFill>
                <a:latin typeface="Calibri"/>
              </a:rPr>
              <a:t>WFP and World Bank prices; household budget surveys; GFDx fortification coverage</a:t>
            </a:r>
          </a:p>
        </p:txBody>
      </p:sp>
      <p:sp>
        <p:nvSpPr>
          <p:cNvPr id="19" name="Rounded Rectangle 18"/>
          <p:cNvSpPr/>
          <p:nvPr/>
        </p:nvSpPr>
        <p:spPr>
          <a:xfrm>
            <a:off x="841248" y="3611880"/>
            <a:ext cx="5097780" cy="822960"/>
          </a:xfrm>
          <a:prstGeom prst="roundRect">
            <a:avLst>
              <a:gd name="adj" fmla="val 1111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Picture 19" descr="virus_blue.png"/>
          <p:cNvPicPr>
            <a:picLocks noChangeAspect="1"/>
          </p:cNvPicPr>
          <p:nvPr/>
        </p:nvPicPr>
        <p:blipFill>
          <a:blip r:embed="rId7"/>
          <a:stretch>
            <a:fillRect/>
          </a:stretch>
        </p:blipFill>
        <p:spPr>
          <a:xfrm>
            <a:off x="978408" y="3749040"/>
            <a:ext cx="548640" cy="548640"/>
          </a:xfrm>
          <a:prstGeom prst="rect">
            <a:avLst/>
          </a:prstGeom>
        </p:spPr>
      </p:pic>
      <p:sp>
        <p:nvSpPr>
          <p:cNvPr id="21" name="TextBox 20"/>
          <p:cNvSpPr txBox="1"/>
          <p:nvPr/>
        </p:nvSpPr>
        <p:spPr>
          <a:xfrm>
            <a:off x="1664208" y="3611880"/>
            <a:ext cx="4183380" cy="822960"/>
          </a:xfrm>
          <a:prstGeom prst="rect">
            <a:avLst/>
          </a:prstGeom>
          <a:noFill/>
        </p:spPr>
        <p:txBody>
          <a:bodyPr wrap="square" lIns="45720" tIns="27432" rIns="45720" bIns="27432" anchor="ctr">
            <a:spAutoFit/>
          </a:bodyPr>
          <a:lstStyle/>
          <a:p>
            <a:pPr algn="l"/>
            <a:r>
              <a:rPr sz="1500" b="1">
                <a:solidFill>
                  <a:srgbClr val="1F4E79"/>
                </a:solidFill>
                <a:latin typeface="Calibri"/>
              </a:rPr>
              <a:t>Infectious disease and immunisation  (84)</a:t>
            </a:r>
          </a:p>
          <a:p>
            <a:pPr algn="l">
              <a:spcBef>
                <a:spcPts val="300"/>
              </a:spcBef>
            </a:pPr>
            <a:r>
              <a:rPr sz="1150" b="0">
                <a:solidFill>
                  <a:srgbClr val="333333"/>
                </a:solidFill>
                <a:latin typeface="Calibri"/>
              </a:rPr>
              <a:t>Malaria Atlas; WHO ESPEN helminths; IHME child morbidity and mortality; immunisation coverage</a:t>
            </a:r>
          </a:p>
        </p:txBody>
      </p:sp>
      <p:sp>
        <p:nvSpPr>
          <p:cNvPr id="22" name="Rounded Rectangle 21"/>
          <p:cNvSpPr/>
          <p:nvPr/>
        </p:nvSpPr>
        <p:spPr>
          <a:xfrm>
            <a:off x="6259068" y="3611880"/>
            <a:ext cx="5097780" cy="822960"/>
          </a:xfrm>
          <a:prstGeom prst="roundRect">
            <a:avLst>
              <a:gd name="adj" fmla="val 1111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Picture 22" descr="child_blue.png"/>
          <p:cNvPicPr>
            <a:picLocks noChangeAspect="1"/>
          </p:cNvPicPr>
          <p:nvPr/>
        </p:nvPicPr>
        <p:blipFill>
          <a:blip r:embed="rId8"/>
          <a:stretch>
            <a:fillRect/>
          </a:stretch>
        </p:blipFill>
        <p:spPr>
          <a:xfrm>
            <a:off x="6396228" y="3749040"/>
            <a:ext cx="342900" cy="548640"/>
          </a:xfrm>
          <a:prstGeom prst="rect">
            <a:avLst/>
          </a:prstGeom>
        </p:spPr>
      </p:pic>
      <p:sp>
        <p:nvSpPr>
          <p:cNvPr id="24" name="TextBox 23"/>
          <p:cNvSpPr txBox="1"/>
          <p:nvPr/>
        </p:nvSpPr>
        <p:spPr>
          <a:xfrm>
            <a:off x="7082028" y="3611880"/>
            <a:ext cx="4183380" cy="822960"/>
          </a:xfrm>
          <a:prstGeom prst="rect">
            <a:avLst/>
          </a:prstGeom>
          <a:noFill/>
        </p:spPr>
        <p:txBody>
          <a:bodyPr wrap="square" lIns="45720" tIns="27432" rIns="45720" bIns="27432" anchor="ctr">
            <a:spAutoFit/>
          </a:bodyPr>
          <a:lstStyle/>
          <a:p>
            <a:pPr algn="l"/>
            <a:r>
              <a:rPr sz="1500" b="1">
                <a:solidFill>
                  <a:srgbClr val="1F4E79"/>
                </a:solidFill>
                <a:latin typeface="Calibri"/>
              </a:rPr>
              <a:t>Nutrition status and infant feeding  (64)</a:t>
            </a:r>
          </a:p>
          <a:p>
            <a:pPr algn="l">
              <a:spcBef>
                <a:spcPts val="300"/>
              </a:spcBef>
            </a:pPr>
            <a:r>
              <a:rPr sz="1150" b="0">
                <a:solidFill>
                  <a:srgbClr val="333333"/>
                </a:solidFill>
                <a:latin typeface="Calibri"/>
              </a:rPr>
              <a:t>Stunting and wasting; anaemia (modelled); infant and young child feeding (IHME, MICS, DHS)</a:t>
            </a:r>
          </a:p>
        </p:txBody>
      </p:sp>
      <p:sp>
        <p:nvSpPr>
          <p:cNvPr id="25" name="Rounded Rectangle 24"/>
          <p:cNvSpPr/>
          <p:nvPr/>
        </p:nvSpPr>
        <p:spPr>
          <a:xfrm>
            <a:off x="841248" y="4572000"/>
            <a:ext cx="5097780" cy="822960"/>
          </a:xfrm>
          <a:prstGeom prst="roundRect">
            <a:avLst>
              <a:gd name="adj" fmla="val 1111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6" name="Picture 25" descr="house-chimney_blue.png"/>
          <p:cNvPicPr>
            <a:picLocks noChangeAspect="1"/>
          </p:cNvPicPr>
          <p:nvPr/>
        </p:nvPicPr>
        <p:blipFill>
          <a:blip r:embed="rId9"/>
          <a:stretch>
            <a:fillRect/>
          </a:stretch>
        </p:blipFill>
        <p:spPr>
          <a:xfrm>
            <a:off x="978408" y="4709160"/>
            <a:ext cx="617220" cy="548640"/>
          </a:xfrm>
          <a:prstGeom prst="rect">
            <a:avLst/>
          </a:prstGeom>
        </p:spPr>
      </p:pic>
      <p:sp>
        <p:nvSpPr>
          <p:cNvPr id="27" name="TextBox 26"/>
          <p:cNvSpPr txBox="1"/>
          <p:nvPr/>
        </p:nvSpPr>
        <p:spPr>
          <a:xfrm>
            <a:off x="1664208" y="4572000"/>
            <a:ext cx="4183380" cy="822960"/>
          </a:xfrm>
          <a:prstGeom prst="rect">
            <a:avLst/>
          </a:prstGeom>
          <a:noFill/>
        </p:spPr>
        <p:txBody>
          <a:bodyPr wrap="square" lIns="45720" tIns="27432" rIns="45720" bIns="27432" anchor="ctr">
            <a:spAutoFit/>
          </a:bodyPr>
          <a:lstStyle/>
          <a:p>
            <a:pPr algn="l"/>
            <a:r>
              <a:rPr sz="1500" b="1">
                <a:solidFill>
                  <a:srgbClr val="1F4E79"/>
                </a:solidFill>
                <a:latin typeface="Calibri"/>
              </a:rPr>
              <a:t>Households, schooling, water, health access  (90)</a:t>
            </a:r>
          </a:p>
          <a:p>
            <a:pPr algn="l">
              <a:spcBef>
                <a:spcPts val="300"/>
              </a:spcBef>
            </a:pPr>
            <a:r>
              <a:rPr sz="1150" b="0">
                <a:solidFill>
                  <a:srgbClr val="333333"/>
                </a:solidFill>
                <a:latin typeface="Calibri"/>
              </a:rPr>
              <a:t>Assets, schooling, employment; water and sanitation; fertility; access to care (MICS, DHS)</a:t>
            </a:r>
          </a:p>
        </p:txBody>
      </p:sp>
      <p:sp>
        <p:nvSpPr>
          <p:cNvPr id="28" name="Rounded Rectangle 27"/>
          <p:cNvSpPr/>
          <p:nvPr/>
        </p:nvSpPr>
        <p:spPr>
          <a:xfrm>
            <a:off x="6259068" y="4572000"/>
            <a:ext cx="5097780" cy="822960"/>
          </a:xfrm>
          <a:prstGeom prst="roundRect">
            <a:avLst>
              <a:gd name="adj" fmla="val 1111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9" name="Picture 28" descr="city_blue.png"/>
          <p:cNvPicPr>
            <a:picLocks noChangeAspect="1"/>
          </p:cNvPicPr>
          <p:nvPr/>
        </p:nvPicPr>
        <p:blipFill>
          <a:blip r:embed="rId10"/>
          <a:stretch>
            <a:fillRect/>
          </a:stretch>
        </p:blipFill>
        <p:spPr>
          <a:xfrm>
            <a:off x="6396228" y="4709160"/>
            <a:ext cx="685800" cy="548640"/>
          </a:xfrm>
          <a:prstGeom prst="rect">
            <a:avLst/>
          </a:prstGeom>
        </p:spPr>
      </p:pic>
      <p:sp>
        <p:nvSpPr>
          <p:cNvPr id="30" name="TextBox 29"/>
          <p:cNvSpPr txBox="1"/>
          <p:nvPr/>
        </p:nvSpPr>
        <p:spPr>
          <a:xfrm>
            <a:off x="7082028" y="4572000"/>
            <a:ext cx="4183380" cy="822960"/>
          </a:xfrm>
          <a:prstGeom prst="rect">
            <a:avLst/>
          </a:prstGeom>
          <a:noFill/>
        </p:spPr>
        <p:txBody>
          <a:bodyPr wrap="square" lIns="45720" tIns="27432" rIns="45720" bIns="27432" anchor="ctr">
            <a:spAutoFit/>
          </a:bodyPr>
          <a:lstStyle/>
          <a:p>
            <a:pPr algn="l"/>
            <a:r>
              <a:rPr sz="1500" b="1">
                <a:solidFill>
                  <a:srgbClr val="1F4E79"/>
                </a:solidFill>
                <a:latin typeface="Calibri"/>
              </a:rPr>
              <a:t>Settlement, population, conflict  (28)</a:t>
            </a:r>
          </a:p>
          <a:p>
            <a:pPr algn="l">
              <a:spcBef>
                <a:spcPts val="300"/>
              </a:spcBef>
            </a:pPr>
            <a:r>
              <a:rPr sz="1150" b="0">
                <a:solidFill>
                  <a:srgbClr val="333333"/>
                </a:solidFill>
                <a:latin typeface="Calibri"/>
              </a:rPr>
              <a:t>Night lights, population density, built-up area (WorldPop, GHSL); ACLED conflict events</a:t>
            </a:r>
          </a:p>
        </p:txBody>
      </p:sp>
      <p:sp>
        <p:nvSpPr>
          <p:cNvPr id="31" name="TextBox 30"/>
          <p:cNvSpPr txBox="1"/>
          <p:nvPr/>
        </p:nvSpPr>
        <p:spPr>
          <a:xfrm>
            <a:off x="841248" y="5440680"/>
            <a:ext cx="10515600" cy="457200"/>
          </a:xfrm>
          <a:prstGeom prst="rect">
            <a:avLst/>
          </a:prstGeom>
          <a:noFill/>
        </p:spPr>
        <p:txBody>
          <a:bodyPr wrap="square" lIns="45720" tIns="27432" rIns="45720" bIns="27432" anchor="t">
            <a:spAutoFit/>
          </a:bodyPr>
          <a:lstStyle/>
          <a:p>
            <a:pPr algn="l"/>
            <a:r>
              <a:rPr sz="800" b="0">
                <a:solidFill>
                  <a:srgbClr val="666666"/>
                </a:solidFill>
                <a:latin typeface="Calibri"/>
              </a:rPr>
              <a:t>575 district-level predictors from 28 public sources, linked to 554 districts in four countries. Number of predictors in brackets; every layer is public.</a:t>
            </a:r>
          </a:p>
        </p:txBody>
      </p:sp>
    </p:spTree>
    <p:extLst>
      <p:ext uri="{BB962C8B-B14F-4D97-AF65-F5344CB8AC3E}">
        <p14:creationId xmlns:p14="http://schemas.microsoft.com/office/powerpoint/2010/main" val="6935704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a:xfrm>
            <a:off x="411480" y="365760"/>
            <a:ext cx="3383280" cy="2011680"/>
          </a:xfrm>
        </p:spPr>
        <p:txBody>
          <a:bodyPr wrap="square"/>
          <a:lstStyle/>
          <a:p>
            <a:pPr marL="0" lvl="0" indent="0" algn="l">
              <a:buNone/>
            </a:pPr>
            <a:r>
              <a:rPr sz="2600"/>
              <a:t>We started from what causes deficiency, not from what data exist</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5</a:t>
            </a:fld>
            <a:endParaRPr lang="en-BG"/>
          </a:p>
        </p:txBody>
      </p:sp>
      <p:sp>
        <p:nvSpPr>
          <p:cNvPr id="7" name="Rectangle 6"/>
          <p:cNvSpPr/>
          <p:nvPr/>
        </p:nvSpPr>
        <p:spPr>
          <a:xfrm>
            <a:off x="502920" y="4133087"/>
            <a:ext cx="219456" cy="182880"/>
          </a:xfrm>
          <a:prstGeom prst="rect">
            <a:avLst/>
          </a:prstGeom>
          <a:noFill/>
          <a:ln w="31750">
            <a:solidFill>
              <a:srgbClr val="0F7B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v2_framework_coverage.png"/>
          <p:cNvPicPr>
            <a:picLocks noChangeAspect="1"/>
          </p:cNvPicPr>
          <p:nvPr/>
        </p:nvPicPr>
        <p:blipFill>
          <a:blip r:embed="rId4"/>
          <a:stretch>
            <a:fillRect/>
          </a:stretch>
        </p:blipFill>
        <p:spPr>
          <a:xfrm>
            <a:off x="3931920" y="274320"/>
            <a:ext cx="8138160" cy="6157217"/>
          </a:xfrm>
          <a:prstGeom prst="rect">
            <a:avLst/>
          </a:prstGeom>
        </p:spPr>
      </p:pic>
      <p:sp>
        <p:nvSpPr>
          <p:cNvPr id="9" name="Oval 8"/>
          <p:cNvSpPr/>
          <p:nvPr/>
        </p:nvSpPr>
        <p:spPr>
          <a:xfrm>
            <a:off x="502920" y="2862072"/>
            <a:ext cx="219456" cy="219456"/>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502920" y="3209544"/>
            <a:ext cx="219456" cy="219456"/>
          </a:xfrm>
          <a:prstGeom prst="ellipse">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502920" y="3776472"/>
            <a:ext cx="219456" cy="219456"/>
          </a:xfrm>
          <a:prstGeom prst="ellipse">
            <a:avLst/>
          </a:prstGeom>
          <a:solidFill>
            <a:srgbClr val="9696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2377440"/>
            <a:ext cx="3429000" cy="286232"/>
          </a:xfrm>
          <a:prstGeom prst="rect">
            <a:avLst/>
          </a:prstGeom>
          <a:noFill/>
        </p:spPr>
        <p:txBody>
          <a:bodyPr wrap="square" lIns="45720" tIns="27432" rIns="45720" bIns="27432" anchor="t">
            <a:spAutoFit/>
          </a:bodyPr>
          <a:lstStyle/>
          <a:p>
            <a:pPr algn="l"/>
            <a:r>
              <a:rPr lang="en-US" sz="1500" b="1" dirty="0">
                <a:solidFill>
                  <a:srgbClr val="1A1A1A"/>
                </a:solidFill>
                <a:latin typeface="Calibri"/>
              </a:rPr>
              <a:t>Are</a:t>
            </a:r>
            <a:r>
              <a:rPr sz="1500" b="1" dirty="0">
                <a:solidFill>
                  <a:srgbClr val="1A1A1A"/>
                </a:solidFill>
                <a:latin typeface="Calibri"/>
              </a:rPr>
              <a:t> there</a:t>
            </a:r>
            <a:r>
              <a:rPr lang="en-US" sz="1500" b="1" dirty="0">
                <a:solidFill>
                  <a:srgbClr val="1A1A1A"/>
                </a:solidFill>
                <a:latin typeface="Calibri"/>
              </a:rPr>
              <a:t> widespread</a:t>
            </a:r>
            <a:r>
              <a:rPr sz="1500" b="1" dirty="0">
                <a:solidFill>
                  <a:srgbClr val="1A1A1A"/>
                </a:solidFill>
                <a:latin typeface="Calibri"/>
              </a:rPr>
              <a:t> public</a:t>
            </a:r>
            <a:r>
              <a:rPr lang="en-US" sz="1500" b="1" dirty="0">
                <a:solidFill>
                  <a:srgbClr val="1A1A1A"/>
                </a:solidFill>
                <a:latin typeface="Calibri"/>
              </a:rPr>
              <a:t> measure</a:t>
            </a:r>
            <a:endParaRPr sz="1500" b="1" dirty="0">
              <a:solidFill>
                <a:srgbClr val="1A1A1A"/>
              </a:solidFill>
              <a:latin typeface="Calibri"/>
            </a:endParaRPr>
          </a:p>
        </p:txBody>
      </p:sp>
      <p:sp>
        <p:nvSpPr>
          <p:cNvPr id="13" name="TextBox 12"/>
          <p:cNvSpPr txBox="1"/>
          <p:nvPr/>
        </p:nvSpPr>
        <p:spPr>
          <a:xfrm>
            <a:off x="822960" y="2788920"/>
            <a:ext cx="3063240" cy="365760"/>
          </a:xfrm>
          <a:prstGeom prst="rect">
            <a:avLst/>
          </a:prstGeom>
          <a:noFill/>
        </p:spPr>
        <p:txBody>
          <a:bodyPr wrap="square" lIns="45720" tIns="27432" rIns="45720" bIns="27432" anchor="t">
            <a:spAutoFit/>
          </a:bodyPr>
          <a:lstStyle/>
          <a:p>
            <a:pPr algn="l"/>
            <a:r>
              <a:rPr sz="1400" b="0" dirty="0">
                <a:solidFill>
                  <a:srgbClr val="333333"/>
                </a:solidFill>
                <a:latin typeface="Calibri"/>
              </a:rPr>
              <a:t>Yes: a district-level public layer</a:t>
            </a:r>
          </a:p>
        </p:txBody>
      </p:sp>
      <p:sp>
        <p:nvSpPr>
          <p:cNvPr id="14" name="TextBox 13"/>
          <p:cNvSpPr txBox="1"/>
          <p:nvPr/>
        </p:nvSpPr>
        <p:spPr>
          <a:xfrm>
            <a:off x="822960" y="3136392"/>
            <a:ext cx="3063240" cy="566928"/>
          </a:xfrm>
          <a:prstGeom prst="rect">
            <a:avLst/>
          </a:prstGeom>
          <a:noFill/>
        </p:spPr>
        <p:txBody>
          <a:bodyPr wrap="square" lIns="45720" tIns="27432" rIns="45720" bIns="27432" anchor="t">
            <a:spAutoFit/>
          </a:bodyPr>
          <a:lstStyle/>
          <a:p>
            <a:pPr algn="l"/>
            <a:r>
              <a:rPr sz="1400" b="0" dirty="0">
                <a:solidFill>
                  <a:srgbClr val="333333"/>
                </a:solidFill>
                <a:latin typeface="Calibri"/>
              </a:rPr>
              <a:t>Partly: national or modelled only, or part of the box</a:t>
            </a:r>
          </a:p>
        </p:txBody>
      </p:sp>
      <p:sp>
        <p:nvSpPr>
          <p:cNvPr id="15" name="TextBox 14"/>
          <p:cNvSpPr txBox="1"/>
          <p:nvPr/>
        </p:nvSpPr>
        <p:spPr>
          <a:xfrm>
            <a:off x="822960" y="3703320"/>
            <a:ext cx="3063240" cy="270843"/>
          </a:xfrm>
          <a:prstGeom prst="rect">
            <a:avLst/>
          </a:prstGeom>
          <a:noFill/>
        </p:spPr>
        <p:txBody>
          <a:bodyPr wrap="square" lIns="45720" tIns="27432" rIns="45720" bIns="27432" anchor="t">
            <a:spAutoFit/>
          </a:bodyPr>
          <a:lstStyle/>
          <a:p>
            <a:pPr algn="l"/>
            <a:r>
              <a:rPr lang="en-US" sz="1400" b="0" dirty="0">
                <a:solidFill>
                  <a:srgbClr val="333333"/>
                </a:solidFill>
                <a:latin typeface="Calibri"/>
              </a:rPr>
              <a:t>Not </a:t>
            </a:r>
            <a:r>
              <a:rPr lang="en-US" sz="1400" b="0" dirty="0" err="1">
                <a:solidFill>
                  <a:srgbClr val="333333"/>
                </a:solidFill>
                <a:latin typeface="Calibri"/>
              </a:rPr>
              <a:t>publically</a:t>
            </a:r>
            <a:r>
              <a:rPr lang="en-US" sz="1400" b="0" dirty="0">
                <a:solidFill>
                  <a:srgbClr val="333333"/>
                </a:solidFill>
                <a:latin typeface="Calibri"/>
              </a:rPr>
              <a:t> available</a:t>
            </a:r>
            <a:endParaRPr sz="1400" b="0" dirty="0">
              <a:solidFill>
                <a:srgbClr val="333333"/>
              </a:solidFill>
              <a:latin typeface="Calibri"/>
            </a:endParaRPr>
          </a:p>
        </p:txBody>
      </p:sp>
      <p:sp>
        <p:nvSpPr>
          <p:cNvPr id="16" name="TextBox 15"/>
          <p:cNvSpPr txBox="1"/>
          <p:nvPr/>
        </p:nvSpPr>
        <p:spPr>
          <a:xfrm>
            <a:off x="822960" y="4050791"/>
            <a:ext cx="3063240" cy="365760"/>
          </a:xfrm>
          <a:prstGeom prst="rect">
            <a:avLst/>
          </a:prstGeom>
          <a:noFill/>
        </p:spPr>
        <p:txBody>
          <a:bodyPr wrap="square" lIns="45720" tIns="27432" rIns="45720" bIns="27432" anchor="t">
            <a:spAutoFit/>
          </a:bodyPr>
          <a:lstStyle/>
          <a:p>
            <a:pPr algn="l"/>
            <a:r>
              <a:rPr sz="1400" b="0">
                <a:solidFill>
                  <a:srgbClr val="333333"/>
                </a:solidFill>
                <a:latin typeface="Calibri"/>
              </a:rPr>
              <a:t>The outcome the surveys measured</a:t>
            </a:r>
          </a:p>
        </p:txBody>
      </p:sp>
      <p:sp>
        <p:nvSpPr>
          <p:cNvPr id="17" name="TextBox 16"/>
          <p:cNvSpPr txBox="1"/>
          <p:nvPr/>
        </p:nvSpPr>
        <p:spPr>
          <a:xfrm>
            <a:off x="457200" y="4526280"/>
            <a:ext cx="3383280" cy="1737360"/>
          </a:xfrm>
          <a:prstGeom prst="rect">
            <a:avLst/>
          </a:prstGeom>
          <a:noFill/>
        </p:spPr>
        <p:txBody>
          <a:bodyPr wrap="square" lIns="45720" tIns="27432" rIns="45720" bIns="27432" anchor="t">
            <a:spAutoFit/>
          </a:bodyPr>
          <a:lstStyle/>
          <a:p>
            <a:pPr algn="l"/>
            <a:r>
              <a:rPr sz="1500" b="1" dirty="0">
                <a:solidFill>
                  <a:srgbClr val="0F7B8A"/>
                </a:solidFill>
                <a:latin typeface="Calibri"/>
              </a:rPr>
              <a:t>What the model learns from</a:t>
            </a:r>
          </a:p>
          <a:p>
            <a:pPr algn="l">
              <a:spcBef>
                <a:spcPts val="300"/>
              </a:spcBef>
            </a:pPr>
            <a:r>
              <a:rPr sz="1300" b="0" dirty="0">
                <a:solidFill>
                  <a:srgbClr val="333333"/>
                </a:solidFill>
                <a:latin typeface="Calibri"/>
              </a:rPr>
              <a:t>The Gambia 2018: 30 districts</a:t>
            </a:r>
          </a:p>
          <a:p>
            <a:pPr algn="l">
              <a:spcBef>
                <a:spcPts val="300"/>
              </a:spcBef>
            </a:pPr>
            <a:r>
              <a:rPr sz="1300" b="0" dirty="0">
                <a:solidFill>
                  <a:srgbClr val="333333"/>
                </a:solidFill>
                <a:latin typeface="Calibri"/>
              </a:rPr>
              <a:t>Ghana 2017: 75 of 260 districts</a:t>
            </a:r>
          </a:p>
          <a:p>
            <a:pPr algn="l">
              <a:spcBef>
                <a:spcPts val="300"/>
              </a:spcBef>
            </a:pPr>
            <a:r>
              <a:rPr sz="1300" b="0" dirty="0">
                <a:solidFill>
                  <a:srgbClr val="333333"/>
                </a:solidFill>
                <a:latin typeface="Calibri"/>
              </a:rPr>
              <a:t>Sierra Leone 2013: 14 districts</a:t>
            </a:r>
          </a:p>
          <a:p>
            <a:pPr algn="l">
              <a:spcBef>
                <a:spcPts val="300"/>
              </a:spcBef>
            </a:pPr>
            <a:r>
              <a:rPr sz="1300" b="0" dirty="0">
                <a:solidFill>
                  <a:srgbClr val="333333"/>
                </a:solidFill>
                <a:latin typeface="Calibri"/>
              </a:rPr>
              <a:t>Malawi 2015-16: 87 Traditional Authorities</a:t>
            </a:r>
          </a:p>
        </p:txBody>
      </p:sp>
    </p:spTree>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rPr dirty="0"/>
              <a:t>Learn where blood was drawn, apply everywhere, test on what it never saw</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6</a:t>
            </a:fld>
            <a:endParaRPr lang="en-BG"/>
          </a:p>
        </p:txBody>
      </p:sp>
      <p:sp>
        <p:nvSpPr>
          <p:cNvPr id="7" name="Rounded Rectangle 6"/>
          <p:cNvSpPr/>
          <p:nvPr/>
        </p:nvSpPr>
        <p:spPr>
          <a:xfrm>
            <a:off x="841248" y="1691640"/>
            <a:ext cx="2251710" cy="3227832"/>
          </a:xfrm>
          <a:prstGeom prst="roundRect">
            <a:avLst>
              <a:gd name="adj" fmla="val 4873"/>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vials_blue.png"/>
          <p:cNvPicPr>
            <a:picLocks noChangeAspect="1"/>
          </p:cNvPicPr>
          <p:nvPr/>
        </p:nvPicPr>
        <p:blipFill>
          <a:blip r:embed="rId4"/>
          <a:stretch>
            <a:fillRect/>
          </a:stretch>
        </p:blipFill>
        <p:spPr>
          <a:xfrm>
            <a:off x="1692783" y="1874520"/>
            <a:ext cx="548640" cy="548640"/>
          </a:xfrm>
          <a:prstGeom prst="rect">
            <a:avLst/>
          </a:prstGeom>
        </p:spPr>
      </p:pic>
      <p:sp>
        <p:nvSpPr>
          <p:cNvPr id="9" name="TextBox 8"/>
          <p:cNvSpPr txBox="1"/>
          <p:nvPr/>
        </p:nvSpPr>
        <p:spPr>
          <a:xfrm>
            <a:off x="950976" y="2545330"/>
            <a:ext cx="2032254" cy="578620"/>
          </a:xfrm>
          <a:prstGeom prst="rect">
            <a:avLst/>
          </a:prstGeom>
          <a:noFill/>
        </p:spPr>
        <p:txBody>
          <a:bodyPr wrap="square" lIns="45720" tIns="27432" rIns="45720" bIns="27432" anchor="ctr">
            <a:spAutoFit/>
          </a:bodyPr>
          <a:lstStyle/>
          <a:p>
            <a:pPr algn="ctr"/>
            <a:r>
              <a:rPr sz="1700" b="1" dirty="0">
                <a:solidFill>
                  <a:srgbClr val="1F4E79"/>
                </a:solidFill>
                <a:latin typeface="Calibri"/>
              </a:rPr>
              <a:t>1. Four national </a:t>
            </a:r>
            <a:r>
              <a:rPr lang="en-US" sz="1700" b="1" dirty="0">
                <a:solidFill>
                  <a:srgbClr val="1F4E79"/>
                </a:solidFill>
                <a:latin typeface="Calibri"/>
              </a:rPr>
              <a:t>biomarker </a:t>
            </a:r>
            <a:r>
              <a:rPr sz="1700" b="1" dirty="0">
                <a:solidFill>
                  <a:srgbClr val="1F4E79"/>
                </a:solidFill>
                <a:latin typeface="Calibri"/>
              </a:rPr>
              <a:t>surveys</a:t>
            </a:r>
          </a:p>
        </p:txBody>
      </p:sp>
      <p:sp>
        <p:nvSpPr>
          <p:cNvPr id="10" name="TextBox 9"/>
          <p:cNvSpPr txBox="1"/>
          <p:nvPr/>
        </p:nvSpPr>
        <p:spPr>
          <a:xfrm>
            <a:off x="978408" y="3246120"/>
            <a:ext cx="1977390" cy="1581912"/>
          </a:xfrm>
          <a:prstGeom prst="rect">
            <a:avLst/>
          </a:prstGeom>
          <a:noFill/>
        </p:spPr>
        <p:txBody>
          <a:bodyPr wrap="square" lIns="45720" tIns="27432" rIns="45720" bIns="27432" anchor="t">
            <a:spAutoFit/>
          </a:bodyPr>
          <a:lstStyle/>
          <a:p>
            <a:pPr algn="l"/>
            <a:r>
              <a:rPr sz="1450" b="0">
                <a:solidFill>
                  <a:srgbClr val="333333"/>
                </a:solidFill>
                <a:latin typeface="Calibri"/>
              </a:rPr>
              <a:t>206 districts where blood was drawn, in The Gambia, Ghana, Sierra Leone and Malawi</a:t>
            </a:r>
          </a:p>
        </p:txBody>
      </p:sp>
      <p:sp>
        <p:nvSpPr>
          <p:cNvPr id="11" name="Chevron 10"/>
          <p:cNvSpPr/>
          <p:nvPr/>
        </p:nvSpPr>
        <p:spPr>
          <a:xfrm>
            <a:off x="3220974" y="3159252"/>
            <a:ext cx="256032" cy="292608"/>
          </a:xfrm>
          <a:prstGeom prst="chevron">
            <a:avLst/>
          </a:prstGeom>
          <a:solidFill>
            <a:srgbClr val="6B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595878" y="1691640"/>
            <a:ext cx="2251710" cy="3227832"/>
          </a:xfrm>
          <a:prstGeom prst="roundRect">
            <a:avLst>
              <a:gd name="adj" fmla="val 4873"/>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satellite_blue.png"/>
          <p:cNvPicPr>
            <a:picLocks noChangeAspect="1"/>
          </p:cNvPicPr>
          <p:nvPr/>
        </p:nvPicPr>
        <p:blipFill>
          <a:blip r:embed="rId5"/>
          <a:stretch>
            <a:fillRect/>
          </a:stretch>
        </p:blipFill>
        <p:spPr>
          <a:xfrm>
            <a:off x="4447413" y="1874520"/>
            <a:ext cx="548640" cy="548640"/>
          </a:xfrm>
          <a:prstGeom prst="rect">
            <a:avLst/>
          </a:prstGeom>
        </p:spPr>
      </p:pic>
      <p:sp>
        <p:nvSpPr>
          <p:cNvPr id="14" name="TextBox 13"/>
          <p:cNvSpPr txBox="1"/>
          <p:nvPr/>
        </p:nvSpPr>
        <p:spPr>
          <a:xfrm>
            <a:off x="3705606" y="2545330"/>
            <a:ext cx="2032254" cy="578620"/>
          </a:xfrm>
          <a:prstGeom prst="rect">
            <a:avLst/>
          </a:prstGeom>
          <a:noFill/>
        </p:spPr>
        <p:txBody>
          <a:bodyPr wrap="square" lIns="45720" tIns="27432" rIns="45720" bIns="27432" anchor="ctr">
            <a:spAutoFit/>
          </a:bodyPr>
          <a:lstStyle/>
          <a:p>
            <a:pPr algn="ctr"/>
            <a:r>
              <a:rPr sz="1700" b="1" dirty="0">
                <a:solidFill>
                  <a:srgbClr val="1F4E79"/>
                </a:solidFill>
                <a:latin typeface="Calibri"/>
              </a:rPr>
              <a:t>2. 575 p</a:t>
            </a:r>
            <a:r>
              <a:rPr lang="en-US" sz="1700" b="1" dirty="0">
                <a:solidFill>
                  <a:srgbClr val="1F4E79"/>
                </a:solidFill>
                <a:latin typeface="Calibri"/>
              </a:rPr>
              <a:t>roxy variables</a:t>
            </a:r>
            <a:endParaRPr sz="1700" b="1" dirty="0">
              <a:solidFill>
                <a:srgbClr val="1F4E79"/>
              </a:solidFill>
              <a:latin typeface="Calibri"/>
            </a:endParaRPr>
          </a:p>
        </p:txBody>
      </p:sp>
      <p:sp>
        <p:nvSpPr>
          <p:cNvPr id="15" name="TextBox 14"/>
          <p:cNvSpPr txBox="1"/>
          <p:nvPr/>
        </p:nvSpPr>
        <p:spPr>
          <a:xfrm>
            <a:off x="3733038" y="3246120"/>
            <a:ext cx="1977390" cy="1581912"/>
          </a:xfrm>
          <a:prstGeom prst="rect">
            <a:avLst/>
          </a:prstGeom>
          <a:noFill/>
        </p:spPr>
        <p:txBody>
          <a:bodyPr wrap="square" lIns="45720" tIns="27432" rIns="45720" bIns="27432" anchor="t">
            <a:spAutoFit/>
          </a:bodyPr>
          <a:lstStyle/>
          <a:p>
            <a:pPr algn="l"/>
            <a:r>
              <a:rPr sz="1450" b="0">
                <a:solidFill>
                  <a:srgbClr val="333333"/>
                </a:solidFill>
                <a:latin typeface="Calibri"/>
              </a:rPr>
              <a:t>Climate, soil, crops and livestock, disease, food prices, household surveys: every district, 28 sources, none bought</a:t>
            </a:r>
          </a:p>
        </p:txBody>
      </p:sp>
      <p:sp>
        <p:nvSpPr>
          <p:cNvPr id="16" name="Chevron 15"/>
          <p:cNvSpPr/>
          <p:nvPr/>
        </p:nvSpPr>
        <p:spPr>
          <a:xfrm>
            <a:off x="5975604" y="3159252"/>
            <a:ext cx="256032" cy="292608"/>
          </a:xfrm>
          <a:prstGeom prst="chevron">
            <a:avLst/>
          </a:prstGeom>
          <a:solidFill>
            <a:srgbClr val="6B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350508" y="1691640"/>
            <a:ext cx="2251710" cy="3227832"/>
          </a:xfrm>
          <a:prstGeom prst="roundRect">
            <a:avLst>
              <a:gd name="adj" fmla="val 4873"/>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descr="scale-balanced_blue.png"/>
          <p:cNvPicPr>
            <a:picLocks noChangeAspect="1"/>
          </p:cNvPicPr>
          <p:nvPr/>
        </p:nvPicPr>
        <p:blipFill>
          <a:blip r:embed="rId6"/>
          <a:stretch>
            <a:fillRect/>
          </a:stretch>
        </p:blipFill>
        <p:spPr>
          <a:xfrm>
            <a:off x="7202043" y="1874520"/>
            <a:ext cx="685800" cy="548640"/>
          </a:xfrm>
          <a:prstGeom prst="rect">
            <a:avLst/>
          </a:prstGeom>
        </p:spPr>
      </p:pic>
      <p:sp>
        <p:nvSpPr>
          <p:cNvPr id="19" name="TextBox 18"/>
          <p:cNvSpPr txBox="1"/>
          <p:nvPr/>
        </p:nvSpPr>
        <p:spPr>
          <a:xfrm>
            <a:off x="6460236" y="2545330"/>
            <a:ext cx="2032254" cy="578620"/>
          </a:xfrm>
          <a:prstGeom prst="rect">
            <a:avLst/>
          </a:prstGeom>
          <a:noFill/>
        </p:spPr>
        <p:txBody>
          <a:bodyPr wrap="square" lIns="45720" tIns="27432" rIns="45720" bIns="27432" anchor="ctr">
            <a:spAutoFit/>
          </a:bodyPr>
          <a:lstStyle/>
          <a:p>
            <a:pPr algn="ctr"/>
            <a:r>
              <a:rPr lang="en-US" sz="1700" b="1" dirty="0">
                <a:solidFill>
                  <a:srgbClr val="1F4E79"/>
                </a:solidFill>
                <a:latin typeface="Calibri"/>
              </a:rPr>
              <a:t>Ensemble machine learning</a:t>
            </a:r>
            <a:endParaRPr sz="1700" b="1" dirty="0">
              <a:solidFill>
                <a:srgbClr val="1F4E79"/>
              </a:solidFill>
              <a:latin typeface="Calibri"/>
            </a:endParaRPr>
          </a:p>
        </p:txBody>
      </p:sp>
      <p:sp>
        <p:nvSpPr>
          <p:cNvPr id="20" name="TextBox 19"/>
          <p:cNvSpPr txBox="1"/>
          <p:nvPr/>
        </p:nvSpPr>
        <p:spPr>
          <a:xfrm>
            <a:off x="6487668" y="3246120"/>
            <a:ext cx="1977390" cy="1581912"/>
          </a:xfrm>
          <a:prstGeom prst="rect">
            <a:avLst/>
          </a:prstGeom>
          <a:noFill/>
        </p:spPr>
        <p:txBody>
          <a:bodyPr wrap="square" lIns="45720" tIns="27432" rIns="45720" bIns="27432" anchor="t">
            <a:spAutoFit/>
          </a:bodyPr>
          <a:lstStyle/>
          <a:p>
            <a:pPr algn="l"/>
            <a:r>
              <a:rPr sz="1450" b="0" dirty="0">
                <a:solidFill>
                  <a:srgbClr val="333333"/>
                </a:solidFill>
                <a:latin typeface="Calibri"/>
              </a:rPr>
              <a:t>Learns which layers track deficiency where blood was drawn. Nothing tuned: 14 machine-learning alternatives did no better</a:t>
            </a:r>
          </a:p>
        </p:txBody>
      </p:sp>
      <p:sp>
        <p:nvSpPr>
          <p:cNvPr id="21" name="Chevron 20"/>
          <p:cNvSpPr/>
          <p:nvPr/>
        </p:nvSpPr>
        <p:spPr>
          <a:xfrm>
            <a:off x="8730234" y="3159252"/>
            <a:ext cx="256032" cy="292608"/>
          </a:xfrm>
          <a:prstGeom prst="chevron">
            <a:avLst/>
          </a:prstGeom>
          <a:solidFill>
            <a:srgbClr val="6B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9105138" y="1691640"/>
            <a:ext cx="2251710" cy="3227832"/>
          </a:xfrm>
          <a:prstGeom prst="roundRect">
            <a:avLst>
              <a:gd name="adj" fmla="val 4873"/>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Picture 22" descr="ranking-star_blue.png"/>
          <p:cNvPicPr>
            <a:picLocks noChangeAspect="1"/>
          </p:cNvPicPr>
          <p:nvPr/>
        </p:nvPicPr>
        <p:blipFill>
          <a:blip r:embed="rId7"/>
          <a:stretch>
            <a:fillRect/>
          </a:stretch>
        </p:blipFill>
        <p:spPr>
          <a:xfrm>
            <a:off x="9956673" y="1874520"/>
            <a:ext cx="685800" cy="548640"/>
          </a:xfrm>
          <a:prstGeom prst="rect">
            <a:avLst/>
          </a:prstGeom>
        </p:spPr>
      </p:pic>
      <p:sp>
        <p:nvSpPr>
          <p:cNvPr id="24" name="TextBox 23"/>
          <p:cNvSpPr txBox="1"/>
          <p:nvPr/>
        </p:nvSpPr>
        <p:spPr>
          <a:xfrm>
            <a:off x="9214866" y="2283720"/>
            <a:ext cx="2032254" cy="1101840"/>
          </a:xfrm>
          <a:prstGeom prst="rect">
            <a:avLst/>
          </a:prstGeom>
          <a:noFill/>
        </p:spPr>
        <p:txBody>
          <a:bodyPr wrap="square" lIns="45720" tIns="27432" rIns="45720" bIns="27432" anchor="ctr">
            <a:spAutoFit/>
          </a:bodyPr>
          <a:lstStyle/>
          <a:p>
            <a:pPr algn="ctr"/>
            <a:r>
              <a:rPr sz="1700" b="1" dirty="0">
                <a:solidFill>
                  <a:srgbClr val="1F4E79"/>
                </a:solidFill>
                <a:latin typeface="Calibri"/>
              </a:rPr>
              <a:t>4. </a:t>
            </a:r>
            <a:r>
              <a:rPr lang="en-US" sz="1700" b="1" dirty="0">
                <a:solidFill>
                  <a:srgbClr val="1F4E79"/>
                </a:solidFill>
                <a:latin typeface="Calibri"/>
              </a:rPr>
              <a:t>National and subnational </a:t>
            </a:r>
            <a:r>
              <a:rPr sz="1700" b="1" dirty="0">
                <a:solidFill>
                  <a:srgbClr val="1F4E79"/>
                </a:solidFill>
                <a:latin typeface="Calibri"/>
              </a:rPr>
              <a:t>rank</a:t>
            </a:r>
            <a:r>
              <a:rPr lang="en-US" sz="1700" b="1" dirty="0">
                <a:solidFill>
                  <a:srgbClr val="1F4E79"/>
                </a:solidFill>
                <a:latin typeface="Calibri"/>
              </a:rPr>
              <a:t>ing and prevalence predictions</a:t>
            </a:r>
            <a:endParaRPr sz="1700" b="1" dirty="0">
              <a:solidFill>
                <a:srgbClr val="1F4E79"/>
              </a:solidFill>
              <a:latin typeface="Calibri"/>
            </a:endParaRPr>
          </a:p>
        </p:txBody>
      </p:sp>
      <p:sp>
        <p:nvSpPr>
          <p:cNvPr id="25" name="TextBox 24"/>
          <p:cNvSpPr txBox="1"/>
          <p:nvPr/>
        </p:nvSpPr>
        <p:spPr>
          <a:xfrm>
            <a:off x="9242298" y="3246120"/>
            <a:ext cx="1977390" cy="1581912"/>
          </a:xfrm>
          <a:prstGeom prst="rect">
            <a:avLst/>
          </a:prstGeom>
          <a:noFill/>
        </p:spPr>
        <p:txBody>
          <a:bodyPr wrap="square" lIns="45720" tIns="27432" rIns="45720" bIns="27432" anchor="t">
            <a:spAutoFit/>
          </a:bodyPr>
          <a:lstStyle/>
          <a:p>
            <a:pPr algn="l"/>
            <a:r>
              <a:rPr sz="1450" b="0">
                <a:solidFill>
                  <a:srgbClr val="333333"/>
                </a:solidFill>
                <a:latin typeface="Calibri"/>
              </a:rPr>
              <a:t>Including the districts no survey reached, and countries with no survey at all</a:t>
            </a:r>
          </a:p>
        </p:txBody>
      </p:sp>
      <p:sp>
        <p:nvSpPr>
          <p:cNvPr id="26" name="Rounded Rectangle 25"/>
          <p:cNvSpPr/>
          <p:nvPr/>
        </p:nvSpPr>
        <p:spPr>
          <a:xfrm>
            <a:off x="841248" y="5120640"/>
            <a:ext cx="10515600" cy="777240"/>
          </a:xfrm>
          <a:prstGeom prst="roundRect">
            <a:avLst>
              <a:gd name="adj" fmla="val 14117"/>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1115568" y="5250727"/>
            <a:ext cx="9966960" cy="517065"/>
          </a:xfrm>
          <a:prstGeom prst="rect">
            <a:avLst/>
          </a:prstGeom>
          <a:noFill/>
        </p:spPr>
        <p:txBody>
          <a:bodyPr wrap="square" lIns="45720" tIns="27432" rIns="45720" bIns="27432" anchor="ctr">
            <a:spAutoFit/>
          </a:bodyPr>
          <a:lstStyle/>
          <a:p>
            <a:pPr algn="ctr"/>
            <a:r>
              <a:rPr sz="1500" b="1" dirty="0">
                <a:solidFill>
                  <a:srgbClr val="FFFFFF"/>
                </a:solidFill>
                <a:latin typeface="Calibri"/>
              </a:rPr>
              <a:t>Tested by h</a:t>
            </a:r>
            <a:r>
              <a:rPr lang="en-US" sz="1500" b="1" dirty="0">
                <a:solidFill>
                  <a:srgbClr val="FFFFFF"/>
                </a:solidFill>
                <a:latin typeface="Calibri"/>
              </a:rPr>
              <a:t>olding out</a:t>
            </a:r>
            <a:r>
              <a:rPr sz="1500" b="1" dirty="0">
                <a:solidFill>
                  <a:srgbClr val="FFFFFF"/>
                </a:solidFill>
                <a:latin typeface="Calibri"/>
              </a:rPr>
              <a:t> one district in five, then a whole region, then a whole country, and compared with the regional average </a:t>
            </a:r>
            <a:r>
              <a:rPr sz="1500" b="1" dirty="0" err="1">
                <a:solidFill>
                  <a:srgbClr val="FFFFFF"/>
                </a:solidFill>
                <a:latin typeface="Calibri"/>
              </a:rPr>
              <a:t>programmes</a:t>
            </a:r>
            <a:r>
              <a:rPr sz="1500" b="1" dirty="0">
                <a:solidFill>
                  <a:srgbClr val="FFFFFF"/>
                </a:solidFill>
                <a:latin typeface="Calibri"/>
              </a:rPr>
              <a:t> use today</a:t>
            </a:r>
          </a:p>
        </p:txBody>
      </p:sp>
    </p:spTree>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How the model is built and how it is tested</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7</a:t>
            </a:fld>
            <a:endParaRPr lang="en-BG"/>
          </a:p>
        </p:txBody>
      </p:sp>
      <p:sp>
        <p:nvSpPr>
          <p:cNvPr id="7" name="Rounded Rectangle 6"/>
          <p:cNvSpPr/>
          <p:nvPr/>
        </p:nvSpPr>
        <p:spPr>
          <a:xfrm>
            <a:off x="841248" y="1691640"/>
            <a:ext cx="5029200" cy="4206240"/>
          </a:xfrm>
          <a:prstGeom prst="roundRect">
            <a:avLst>
              <a:gd name="adj" fmla="val 260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ounded Rectangle 7"/>
          <p:cNvSpPr/>
          <p:nvPr/>
        </p:nvSpPr>
        <p:spPr>
          <a:xfrm>
            <a:off x="841248" y="1691640"/>
            <a:ext cx="5029200" cy="640080"/>
          </a:xfrm>
          <a:prstGeom prst="roundRect">
            <a:avLst>
              <a:gd name="adj" fmla="val 17142"/>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9" name="Picture 8" descr="sliders_white.png"/>
          <p:cNvPicPr>
            <a:picLocks noChangeAspect="1"/>
          </p:cNvPicPr>
          <p:nvPr/>
        </p:nvPicPr>
        <p:blipFill>
          <a:blip r:embed="rId3"/>
          <a:stretch>
            <a:fillRect/>
          </a:stretch>
        </p:blipFill>
        <p:spPr>
          <a:xfrm>
            <a:off x="1024128" y="1810512"/>
            <a:ext cx="402336" cy="402336"/>
          </a:xfrm>
          <a:prstGeom prst="rect">
            <a:avLst/>
          </a:prstGeom>
        </p:spPr>
      </p:pic>
      <p:sp>
        <p:nvSpPr>
          <p:cNvPr id="10" name="TextBox 9"/>
          <p:cNvSpPr txBox="1"/>
          <p:nvPr/>
        </p:nvSpPr>
        <p:spPr>
          <a:xfrm>
            <a:off x="1527048" y="1691640"/>
            <a:ext cx="4251960" cy="640080"/>
          </a:xfrm>
          <a:prstGeom prst="rect">
            <a:avLst/>
          </a:prstGeom>
          <a:noFill/>
        </p:spPr>
        <p:txBody>
          <a:bodyPr wrap="square" lIns="45720" tIns="27432" rIns="45720" bIns="27432" anchor="ctr">
            <a:spAutoFit/>
          </a:bodyPr>
          <a:lstStyle/>
          <a:p>
            <a:pPr algn="l"/>
            <a:r>
              <a:rPr sz="1800" b="1">
                <a:solidFill>
                  <a:srgbClr val="FFFFFF"/>
                </a:solidFill>
                <a:latin typeface="Calibri"/>
              </a:rPr>
              <a:t>How the model is built</a:t>
            </a:r>
          </a:p>
        </p:txBody>
      </p:sp>
      <p:pic>
        <p:nvPicPr>
          <p:cNvPr id="11" name="Picture 10" descr="arrow-down-wide-short_blue.png"/>
          <p:cNvPicPr>
            <a:picLocks noChangeAspect="1"/>
          </p:cNvPicPr>
          <p:nvPr/>
        </p:nvPicPr>
        <p:blipFill>
          <a:blip r:embed="rId4"/>
          <a:stretch>
            <a:fillRect/>
          </a:stretch>
        </p:blipFill>
        <p:spPr>
          <a:xfrm>
            <a:off x="1069848" y="2594610"/>
            <a:ext cx="565785" cy="502920"/>
          </a:xfrm>
          <a:prstGeom prst="rect">
            <a:avLst/>
          </a:prstGeom>
        </p:spPr>
      </p:pic>
      <p:sp>
        <p:nvSpPr>
          <p:cNvPr id="12" name="TextBox 11"/>
          <p:cNvSpPr txBox="1"/>
          <p:nvPr/>
        </p:nvSpPr>
        <p:spPr>
          <a:xfrm>
            <a:off x="1755648" y="2423160"/>
            <a:ext cx="3977640" cy="845820"/>
          </a:xfrm>
          <a:prstGeom prst="rect">
            <a:avLst/>
          </a:prstGeom>
          <a:noFill/>
        </p:spPr>
        <p:txBody>
          <a:bodyPr wrap="square" lIns="45720" tIns="27432" rIns="45720" bIns="27432" anchor="ctr">
            <a:spAutoFit/>
          </a:bodyPr>
          <a:lstStyle/>
          <a:p>
            <a:pPr algn="l"/>
            <a:r>
              <a:rPr sz="1500" b="1">
                <a:solidFill>
                  <a:srgbClr val="1F4E79"/>
                </a:solidFill>
                <a:latin typeface="Calibri"/>
              </a:rPr>
              <a:t>Every layer becomes a within-country rank</a:t>
            </a:r>
          </a:p>
          <a:p>
            <a:pPr algn="l">
              <a:spcBef>
                <a:spcPts val="300"/>
              </a:spcBef>
            </a:pPr>
            <a:r>
              <a:rPr sz="1200" b="0">
                <a:solidFill>
                  <a:srgbClr val="333333"/>
                </a:solidFill>
                <a:latin typeface="Calibri"/>
              </a:rPr>
              <a:t>A level difference between surveys cannot act as signal.</a:t>
            </a:r>
          </a:p>
        </p:txBody>
      </p:sp>
      <p:pic>
        <p:nvPicPr>
          <p:cNvPr id="13" name="Picture 12" descr="layer-group_blue.png"/>
          <p:cNvPicPr>
            <a:picLocks noChangeAspect="1"/>
          </p:cNvPicPr>
          <p:nvPr/>
        </p:nvPicPr>
        <p:blipFill>
          <a:blip r:embed="rId5"/>
          <a:stretch>
            <a:fillRect/>
          </a:stretch>
        </p:blipFill>
        <p:spPr>
          <a:xfrm>
            <a:off x="1069848" y="3440430"/>
            <a:ext cx="565785" cy="502920"/>
          </a:xfrm>
          <a:prstGeom prst="rect">
            <a:avLst/>
          </a:prstGeom>
        </p:spPr>
      </p:pic>
      <p:sp>
        <p:nvSpPr>
          <p:cNvPr id="14" name="TextBox 13"/>
          <p:cNvSpPr txBox="1"/>
          <p:nvPr/>
        </p:nvSpPr>
        <p:spPr>
          <a:xfrm>
            <a:off x="1755648" y="3268980"/>
            <a:ext cx="3977640" cy="845820"/>
          </a:xfrm>
          <a:prstGeom prst="rect">
            <a:avLst/>
          </a:prstGeom>
          <a:noFill/>
        </p:spPr>
        <p:txBody>
          <a:bodyPr wrap="square" lIns="45720" tIns="27432" rIns="45720" bIns="27432" anchor="ctr">
            <a:spAutoFit/>
          </a:bodyPr>
          <a:lstStyle/>
          <a:p>
            <a:pPr algn="l"/>
            <a:r>
              <a:rPr sz="1500" b="1">
                <a:solidFill>
                  <a:srgbClr val="1F4E79"/>
                </a:solidFill>
                <a:latin typeface="Calibri"/>
              </a:rPr>
              <a:t>Each family of layers is reduced to a few summary scores</a:t>
            </a:r>
          </a:p>
          <a:p>
            <a:pPr algn="l">
              <a:spcBef>
                <a:spcPts val="300"/>
              </a:spcBef>
            </a:pPr>
            <a:r>
              <a:rPr sz="1200" b="0">
                <a:solidFill>
                  <a:srgbClr val="333333"/>
                </a:solidFill>
                <a:latin typeface="Calibri"/>
              </a:rPr>
              <a:t>Learned from the predictors only, never from the outcome.</a:t>
            </a:r>
          </a:p>
        </p:txBody>
      </p:sp>
      <p:pic>
        <p:nvPicPr>
          <p:cNvPr id="15" name="Picture 14" descr="scale-balanced_blue.png"/>
          <p:cNvPicPr>
            <a:picLocks noChangeAspect="1"/>
          </p:cNvPicPr>
          <p:nvPr/>
        </p:nvPicPr>
        <p:blipFill>
          <a:blip r:embed="rId6"/>
          <a:stretch>
            <a:fillRect/>
          </a:stretch>
        </p:blipFill>
        <p:spPr>
          <a:xfrm>
            <a:off x="1069848" y="4286250"/>
            <a:ext cx="628650" cy="502920"/>
          </a:xfrm>
          <a:prstGeom prst="rect">
            <a:avLst/>
          </a:prstGeom>
        </p:spPr>
      </p:pic>
      <p:sp>
        <p:nvSpPr>
          <p:cNvPr id="16" name="TextBox 15"/>
          <p:cNvSpPr txBox="1"/>
          <p:nvPr/>
        </p:nvSpPr>
        <p:spPr>
          <a:xfrm>
            <a:off x="1755648" y="4114800"/>
            <a:ext cx="3977640" cy="845820"/>
          </a:xfrm>
          <a:prstGeom prst="rect">
            <a:avLst/>
          </a:prstGeom>
          <a:noFill/>
        </p:spPr>
        <p:txBody>
          <a:bodyPr wrap="square" lIns="45720" tIns="27432" rIns="45720" bIns="27432" anchor="ctr">
            <a:spAutoFit/>
          </a:bodyPr>
          <a:lstStyle/>
          <a:p>
            <a:pPr algn="l"/>
            <a:r>
              <a:rPr sz="1500" b="1">
                <a:solidFill>
                  <a:srgbClr val="1F4E79"/>
                </a:solidFill>
                <a:latin typeface="Calibri"/>
              </a:rPr>
              <a:t>Each score is weighted by how well it tracked deficiency</a:t>
            </a:r>
          </a:p>
          <a:p>
            <a:pPr algn="l">
              <a:spcBef>
                <a:spcPts val="300"/>
              </a:spcBef>
            </a:pPr>
            <a:r>
              <a:rPr sz="1200" b="0">
                <a:solidFill>
                  <a:srgbClr val="333333"/>
                </a:solidFill>
                <a:latin typeface="Calibri"/>
              </a:rPr>
              <a:t>In the training districts, where blood was drawn.</a:t>
            </a:r>
          </a:p>
        </p:txBody>
      </p:sp>
      <p:pic>
        <p:nvPicPr>
          <p:cNvPr id="17" name="Picture 16" descr="lock_blue.png"/>
          <p:cNvPicPr>
            <a:picLocks noChangeAspect="1"/>
          </p:cNvPicPr>
          <p:nvPr/>
        </p:nvPicPr>
        <p:blipFill>
          <a:blip r:embed="rId7"/>
          <a:stretch>
            <a:fillRect/>
          </a:stretch>
        </p:blipFill>
        <p:spPr>
          <a:xfrm>
            <a:off x="1069848" y="5132070"/>
            <a:ext cx="440055" cy="502920"/>
          </a:xfrm>
          <a:prstGeom prst="rect">
            <a:avLst/>
          </a:prstGeom>
        </p:spPr>
      </p:pic>
      <p:sp>
        <p:nvSpPr>
          <p:cNvPr id="18" name="TextBox 17"/>
          <p:cNvSpPr txBox="1"/>
          <p:nvPr/>
        </p:nvSpPr>
        <p:spPr>
          <a:xfrm>
            <a:off x="1755648" y="4960620"/>
            <a:ext cx="3977640" cy="845820"/>
          </a:xfrm>
          <a:prstGeom prst="rect">
            <a:avLst/>
          </a:prstGeom>
          <a:noFill/>
        </p:spPr>
        <p:txBody>
          <a:bodyPr wrap="square" lIns="45720" tIns="27432" rIns="45720" bIns="27432" anchor="ctr">
            <a:spAutoFit/>
          </a:bodyPr>
          <a:lstStyle/>
          <a:p>
            <a:pPr algn="l"/>
            <a:r>
              <a:rPr sz="1500" b="1">
                <a:solidFill>
                  <a:srgbClr val="1F4E79"/>
                </a:solidFill>
                <a:latin typeface="Calibri"/>
              </a:rPr>
              <a:t>The weighted sum, rescaled to the training districts' spread</a:t>
            </a:r>
          </a:p>
          <a:p>
            <a:pPr algn="l">
              <a:spcBef>
                <a:spcPts val="300"/>
              </a:spcBef>
            </a:pPr>
            <a:r>
              <a:rPr sz="1200" b="0">
                <a:solidFill>
                  <a:srgbClr val="333333"/>
                </a:solidFill>
                <a:latin typeface="Calibri"/>
              </a:rPr>
              <a:t>Nothing is tuned.</a:t>
            </a:r>
          </a:p>
        </p:txBody>
      </p:sp>
      <p:sp>
        <p:nvSpPr>
          <p:cNvPr id="19" name="Rounded Rectangle 18"/>
          <p:cNvSpPr/>
          <p:nvPr/>
        </p:nvSpPr>
        <p:spPr>
          <a:xfrm>
            <a:off x="6327648" y="1691640"/>
            <a:ext cx="5029200" cy="4206240"/>
          </a:xfrm>
          <a:prstGeom prst="roundRect">
            <a:avLst>
              <a:gd name="adj" fmla="val 260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ounded Rectangle 19"/>
          <p:cNvSpPr/>
          <p:nvPr/>
        </p:nvSpPr>
        <p:spPr>
          <a:xfrm>
            <a:off x="6327648" y="1691640"/>
            <a:ext cx="5029200" cy="640080"/>
          </a:xfrm>
          <a:prstGeom prst="roundRect">
            <a:avLst>
              <a:gd name="adj" fmla="val 17142"/>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1" name="Picture 20" descr="clipboard-check_white.png"/>
          <p:cNvPicPr>
            <a:picLocks noChangeAspect="1"/>
          </p:cNvPicPr>
          <p:nvPr/>
        </p:nvPicPr>
        <p:blipFill>
          <a:blip r:embed="rId8"/>
          <a:stretch>
            <a:fillRect/>
          </a:stretch>
        </p:blipFill>
        <p:spPr>
          <a:xfrm>
            <a:off x="6510528" y="1810512"/>
            <a:ext cx="301752" cy="402336"/>
          </a:xfrm>
          <a:prstGeom prst="rect">
            <a:avLst/>
          </a:prstGeom>
        </p:spPr>
      </p:pic>
      <p:sp>
        <p:nvSpPr>
          <p:cNvPr id="22" name="TextBox 21"/>
          <p:cNvSpPr txBox="1"/>
          <p:nvPr/>
        </p:nvSpPr>
        <p:spPr>
          <a:xfrm>
            <a:off x="7013448" y="1691640"/>
            <a:ext cx="4251960" cy="640080"/>
          </a:xfrm>
          <a:prstGeom prst="rect">
            <a:avLst/>
          </a:prstGeom>
          <a:noFill/>
        </p:spPr>
        <p:txBody>
          <a:bodyPr wrap="square" lIns="45720" tIns="27432" rIns="45720" bIns="27432" anchor="ctr">
            <a:spAutoFit/>
          </a:bodyPr>
          <a:lstStyle/>
          <a:p>
            <a:pPr algn="l"/>
            <a:r>
              <a:rPr sz="1800" b="1">
                <a:solidFill>
                  <a:srgbClr val="FFFFFF"/>
                </a:solidFill>
                <a:latin typeface="Calibri"/>
              </a:rPr>
              <a:t>How it is tested</a:t>
            </a:r>
          </a:p>
        </p:txBody>
      </p:sp>
      <p:pic>
        <p:nvPicPr>
          <p:cNvPr id="23" name="Picture 22" descr="location-crosshairs_blue.png"/>
          <p:cNvPicPr>
            <a:picLocks noChangeAspect="1"/>
          </p:cNvPicPr>
          <p:nvPr/>
        </p:nvPicPr>
        <p:blipFill>
          <a:blip r:embed="rId9"/>
          <a:stretch>
            <a:fillRect/>
          </a:stretch>
        </p:blipFill>
        <p:spPr>
          <a:xfrm>
            <a:off x="6556248" y="2735580"/>
            <a:ext cx="502920" cy="502920"/>
          </a:xfrm>
          <a:prstGeom prst="rect">
            <a:avLst/>
          </a:prstGeom>
        </p:spPr>
      </p:pic>
      <p:sp>
        <p:nvSpPr>
          <p:cNvPr id="24" name="TextBox 23"/>
          <p:cNvSpPr txBox="1"/>
          <p:nvPr/>
        </p:nvSpPr>
        <p:spPr>
          <a:xfrm>
            <a:off x="7242048" y="2423160"/>
            <a:ext cx="3977640" cy="1127760"/>
          </a:xfrm>
          <a:prstGeom prst="rect">
            <a:avLst/>
          </a:prstGeom>
          <a:noFill/>
        </p:spPr>
        <p:txBody>
          <a:bodyPr wrap="square" lIns="45720" tIns="27432" rIns="45720" bIns="27432" anchor="ctr">
            <a:spAutoFit/>
          </a:bodyPr>
          <a:lstStyle/>
          <a:p>
            <a:pPr algn="l"/>
            <a:r>
              <a:rPr sz="1500" b="1">
                <a:solidFill>
                  <a:srgbClr val="1F4E79"/>
                </a:solidFill>
                <a:latin typeface="Calibri"/>
              </a:rPr>
              <a:t>One district in five is hidden</a:t>
            </a:r>
          </a:p>
          <a:p>
            <a:pPr algn="l">
              <a:spcBef>
                <a:spcPts val="300"/>
              </a:spcBef>
            </a:pPr>
            <a:r>
              <a:rPr sz="1200" b="0">
                <a:solidFill>
                  <a:srgbClr val="333333"/>
                </a:solidFill>
                <a:latin typeface="Calibri"/>
              </a:rPr>
              <a:t>Compared against the region's average, computed without that district.</a:t>
            </a:r>
          </a:p>
        </p:txBody>
      </p:sp>
      <p:pic>
        <p:nvPicPr>
          <p:cNvPr id="25" name="Picture 24" descr="draw-polygon_blue.png"/>
          <p:cNvPicPr>
            <a:picLocks noChangeAspect="1"/>
          </p:cNvPicPr>
          <p:nvPr/>
        </p:nvPicPr>
        <p:blipFill>
          <a:blip r:embed="rId10"/>
          <a:stretch>
            <a:fillRect/>
          </a:stretch>
        </p:blipFill>
        <p:spPr>
          <a:xfrm>
            <a:off x="6556248" y="3863340"/>
            <a:ext cx="440055" cy="502920"/>
          </a:xfrm>
          <a:prstGeom prst="rect">
            <a:avLst/>
          </a:prstGeom>
        </p:spPr>
      </p:pic>
      <p:sp>
        <p:nvSpPr>
          <p:cNvPr id="26" name="TextBox 25"/>
          <p:cNvSpPr txBox="1"/>
          <p:nvPr/>
        </p:nvSpPr>
        <p:spPr>
          <a:xfrm>
            <a:off x="7242048" y="3550920"/>
            <a:ext cx="3977640" cy="1127760"/>
          </a:xfrm>
          <a:prstGeom prst="rect">
            <a:avLst/>
          </a:prstGeom>
          <a:noFill/>
        </p:spPr>
        <p:txBody>
          <a:bodyPr wrap="square" lIns="45720" tIns="27432" rIns="45720" bIns="27432" anchor="ctr">
            <a:spAutoFit/>
          </a:bodyPr>
          <a:lstStyle/>
          <a:p>
            <a:pPr algn="l"/>
            <a:r>
              <a:rPr sz="1500" b="1">
                <a:solidFill>
                  <a:srgbClr val="1F4E79"/>
                </a:solidFill>
                <a:latin typeface="Calibri"/>
              </a:rPr>
              <a:t>A whole region is hidden</a:t>
            </a:r>
          </a:p>
          <a:p>
            <a:pPr algn="l">
              <a:spcBef>
                <a:spcPts val="300"/>
              </a:spcBef>
            </a:pPr>
            <a:r>
              <a:rPr sz="1200" b="0">
                <a:solidFill>
                  <a:srgbClr val="333333"/>
                </a:solidFill>
                <a:latin typeface="Calibri"/>
              </a:rPr>
              <a:t>Compared against a map of the neighbouring districts.</a:t>
            </a:r>
          </a:p>
        </p:txBody>
      </p:sp>
      <p:pic>
        <p:nvPicPr>
          <p:cNvPr id="27" name="Picture 26" descr="earth-africa_blue.png"/>
          <p:cNvPicPr>
            <a:picLocks noChangeAspect="1"/>
          </p:cNvPicPr>
          <p:nvPr/>
        </p:nvPicPr>
        <p:blipFill>
          <a:blip r:embed="rId11"/>
          <a:stretch>
            <a:fillRect/>
          </a:stretch>
        </p:blipFill>
        <p:spPr>
          <a:xfrm>
            <a:off x="6556248" y="4991100"/>
            <a:ext cx="502920" cy="502920"/>
          </a:xfrm>
          <a:prstGeom prst="rect">
            <a:avLst/>
          </a:prstGeom>
        </p:spPr>
      </p:pic>
      <p:sp>
        <p:nvSpPr>
          <p:cNvPr id="28" name="TextBox 27"/>
          <p:cNvSpPr txBox="1"/>
          <p:nvPr/>
        </p:nvSpPr>
        <p:spPr>
          <a:xfrm>
            <a:off x="7242048" y="4678680"/>
            <a:ext cx="3977640" cy="1127760"/>
          </a:xfrm>
          <a:prstGeom prst="rect">
            <a:avLst/>
          </a:prstGeom>
          <a:noFill/>
        </p:spPr>
        <p:txBody>
          <a:bodyPr wrap="square" lIns="45720" tIns="27432" rIns="45720" bIns="27432" anchor="ctr">
            <a:spAutoFit/>
          </a:bodyPr>
          <a:lstStyle/>
          <a:p>
            <a:pPr algn="l"/>
            <a:r>
              <a:rPr sz="1500" b="1">
                <a:solidFill>
                  <a:srgbClr val="1F4E79"/>
                </a:solidFill>
                <a:latin typeface="Calibri"/>
              </a:rPr>
              <a:t>A whole country is hidden</a:t>
            </a:r>
          </a:p>
          <a:p>
            <a:pPr algn="l">
              <a:spcBef>
                <a:spcPts val="300"/>
              </a:spcBef>
            </a:pPr>
            <a:r>
              <a:rPr sz="1200" b="0">
                <a:solidFill>
                  <a:srgbClr val="333333"/>
                </a:solidFill>
                <a:latin typeface="Calibri"/>
              </a:rPr>
              <a:t>Compared against chance, with countries kept whole.</a:t>
            </a:r>
          </a:p>
        </p:txBody>
      </p:sp>
    </p:spTree>
    <p:extLst>
      <p:ext uri="{BB962C8B-B14F-4D97-AF65-F5344CB8AC3E}">
        <p14:creationId xmlns:p14="http://schemas.microsoft.com/office/powerpoint/2010/main" val="9193741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rPr lang="en-US" dirty="0"/>
              <a:t>Example</a:t>
            </a:r>
            <a:r>
              <a:rPr dirty="0"/>
              <a:t>: all 260 of Ghana’s districts ranked</a:t>
            </a:r>
          </a:p>
        </p:txBody>
      </p:sp>
      <p:pic>
        <p:nvPicPr>
          <p:cNvPr id="3" name="Picture 1" descr="../../results/figures/mnf15_v2/v2_ghana_infill.png"/>
          <p:cNvPicPr>
            <a:picLocks noGrp="1" noChangeAspect="1"/>
          </p:cNvPicPr>
          <p:nvPr/>
        </p:nvPicPr>
        <p:blipFill>
          <a:blip r:embed="rId4"/>
          <a:stretch>
            <a:fillRect/>
          </a:stretch>
        </p:blipFill>
        <p:spPr bwMode="auto">
          <a:xfrm>
            <a:off x="1042416" y="1600200"/>
            <a:ext cx="10104120"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8</a:t>
            </a:fld>
            <a:endParaRPr lang="en-BG"/>
          </a:p>
        </p:txBody>
      </p:sp>
    </p:spTree>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rPr dirty="0"/>
              <a:t>Without any Ghanaian blood samples, the model ranks Ghana just as well</a:t>
            </a:r>
            <a:r>
              <a:rPr lang="en-US" dirty="0"/>
              <a:t> as the survey</a:t>
            </a:r>
            <a:endParaRPr dirty="0"/>
          </a:p>
        </p:txBody>
      </p:sp>
      <p:pic>
        <p:nvPicPr>
          <p:cNvPr id="3" name="Picture 1" descr="../../results/figures/mnf15_v2/v2_ghana_heldout.png"/>
          <p:cNvPicPr>
            <a:picLocks noGrp="1" noChangeAspect="1"/>
          </p:cNvPicPr>
          <p:nvPr/>
        </p:nvPicPr>
        <p:blipFill>
          <a:blip r:embed="rId4"/>
          <a:stretch>
            <a:fillRect/>
          </a:stretch>
        </p:blipFill>
        <p:spPr bwMode="auto">
          <a:xfrm>
            <a:off x="1042416" y="1600200"/>
            <a:ext cx="10104120"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9</a:t>
            </a:fld>
            <a:endParaRPr lang="en-BG"/>
          </a:p>
        </p:txBody>
      </p:sp>
    </p:spTree>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Holding out a whole region</a:t>
            </a:r>
          </a:p>
        </p:txBody>
      </p:sp>
      <p:pic>
        <p:nvPicPr>
          <p:cNvPr id="3" name="Picture 1" descr="../../results/figures/full_talk_extracts/ft_region_extrapolation.png"/>
          <p:cNvPicPr>
            <a:picLocks noGrp="1" noChangeAspect="1"/>
          </p:cNvPicPr>
          <p:nvPr/>
        </p:nvPicPr>
        <p:blipFill>
          <a:blip r:embed="rId4"/>
          <a:stretch>
            <a:fillRect/>
          </a:stretch>
        </p:blipFill>
        <p:spPr bwMode="auto">
          <a:xfrm>
            <a:off x="3155963" y="1600200"/>
            <a:ext cx="5877025"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10</a:t>
            </a:fld>
            <a:endParaRPr lang="en-BG"/>
          </a:p>
        </p:txBody>
      </p:sp>
    </p:spTree>
    <p:extLst>
      <p:ext uri="{BB962C8B-B14F-4D97-AF65-F5344CB8AC3E}">
        <p14:creationId xmlns:p14="http://schemas.microsoft.com/office/powerpoint/2010/main" val="839784509"/>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rPr dirty="0"/>
              <a:t>Where the ranking works, nutrient by nutrient and country by country</a:t>
            </a:r>
          </a:p>
        </p:txBody>
      </p:sp>
      <p:pic>
        <p:nvPicPr>
          <p:cNvPr id="3" name="Picture 1" descr="../../results/figures/full_talk_extracts/ft_percell_ranking.png"/>
          <p:cNvPicPr>
            <a:picLocks noGrp="1" noChangeAspect="1"/>
          </p:cNvPicPr>
          <p:nvPr/>
        </p:nvPicPr>
        <p:blipFill>
          <a:blip r:embed="rId3"/>
          <a:stretch>
            <a:fillRect/>
          </a:stretch>
        </p:blipFill>
        <p:spPr bwMode="auto">
          <a:xfrm>
            <a:off x="1240135" y="1600200"/>
            <a:ext cx="9708682"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11</a:t>
            </a:fld>
            <a:endParaRPr lang="en-BG"/>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Accuracy by nutrient, against what the survey can show</a:t>
            </a:r>
          </a:p>
        </p:txBody>
      </p:sp>
      <p:pic>
        <p:nvPicPr>
          <p:cNvPr id="3" name="Picture 1" descr="../../results/figures/mnf15_v2/v2_accuracy_by_nutrient.png"/>
          <p:cNvPicPr>
            <a:picLocks noGrp="1" noChangeAspect="1"/>
          </p:cNvPicPr>
          <p:nvPr/>
        </p:nvPicPr>
        <p:blipFill>
          <a:blip r:embed="rId3"/>
          <a:stretch>
            <a:fillRect/>
          </a:stretch>
        </p:blipFill>
        <p:spPr bwMode="auto">
          <a:xfrm>
            <a:off x="1356039" y="1600200"/>
            <a:ext cx="9476873"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12</a:t>
            </a:fld>
            <a:endParaRPr lang="en-BG"/>
          </a:p>
        </p:txBody>
      </p:sp>
    </p:spTree>
    <p:extLst>
      <p:ext uri="{BB962C8B-B14F-4D97-AF65-F5344CB8AC3E}">
        <p14:creationId xmlns:p14="http://schemas.microsoft.com/office/powerpoint/2010/main" val="77870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rPr lang="en-US" dirty="0"/>
              <a:t>What variable domains drive the models? </a:t>
            </a:r>
            <a:endParaRPr dirty="0"/>
          </a:p>
        </p:txBody>
      </p:sp>
      <p:pic>
        <p:nvPicPr>
          <p:cNvPr id="3" name="Picture 1" descr="../../results/figures/mnf15/figD_what_each_model_uses.png"/>
          <p:cNvPicPr>
            <a:picLocks noGrp="1" noChangeAspect="1"/>
          </p:cNvPicPr>
          <p:nvPr/>
        </p:nvPicPr>
        <p:blipFill>
          <a:blip r:embed="rId4"/>
          <a:stretch>
            <a:fillRect/>
          </a:stretch>
        </p:blipFill>
        <p:spPr bwMode="auto">
          <a:xfrm>
            <a:off x="1506033" y="1600200"/>
            <a:ext cx="9176886"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13</a:t>
            </a:fld>
            <a:endParaRPr lang="en-BG"/>
          </a:p>
        </p:txBody>
      </p:sp>
    </p:spTree>
    <p:extLst>
      <p:ext uri="{BB962C8B-B14F-4D97-AF65-F5344CB8AC3E}">
        <p14:creationId xmlns:p14="http://schemas.microsoft.com/office/powerpoint/2010/main" val="3979244846"/>
      </p:ext>
    </p:extLst>
  </p:cSld>
  <p:clrMapOvr>
    <a:masterClrMapping/>
  </p:clrMapOvr>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No survey at all? A first map, checked in six countries it never saw</a:t>
            </a:r>
          </a:p>
        </p:txBody>
      </p:sp>
      <p:pic>
        <p:nvPicPr>
          <p:cNvPr id="3" name="Picture 1" descr="../../results/figures/mnf15_v2/v2_civ_checked.png"/>
          <p:cNvPicPr>
            <a:picLocks noGrp="1" noChangeAspect="1"/>
          </p:cNvPicPr>
          <p:nvPr/>
        </p:nvPicPr>
        <p:blipFill>
          <a:blip r:embed="rId3"/>
          <a:stretch>
            <a:fillRect/>
          </a:stretch>
        </p:blipFill>
        <p:spPr bwMode="auto">
          <a:xfrm>
            <a:off x="681068" y="1600200"/>
            <a:ext cx="10826816"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14</a:t>
            </a:fld>
            <a:endParaRPr lang="en-BG"/>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rPr dirty="0"/>
              <a:t>Some deficiencies </a:t>
            </a:r>
            <a:r>
              <a:rPr lang="en-US" dirty="0"/>
              <a:t>are more predictable from proxy data</a:t>
            </a:r>
            <a:endParaRPr dirty="0"/>
          </a:p>
        </p:txBody>
      </p:sp>
      <p:pic>
        <p:nvPicPr>
          <p:cNvPr id="3" name="Picture 1" descr="../../results/figures/mnf15_v2/v2_nutrients.png"/>
          <p:cNvPicPr>
            <a:picLocks noGrp="1" noChangeAspect="1"/>
          </p:cNvPicPr>
          <p:nvPr/>
        </p:nvPicPr>
        <p:blipFill>
          <a:blip r:embed="rId4"/>
          <a:stretch>
            <a:fillRect/>
          </a:stretch>
        </p:blipFill>
        <p:spPr bwMode="auto">
          <a:xfrm>
            <a:off x="502920" y="1608826"/>
            <a:ext cx="11183112" cy="4647174"/>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15</a:t>
            </a:fld>
            <a:endParaRPr lang="en-BG"/>
          </a:p>
        </p:txBody>
      </p:sp>
    </p:spTree>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Making the next survey count for more</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16</a:t>
            </a:fld>
            <a:endParaRPr lang="en-BG"/>
          </a:p>
        </p:txBody>
      </p:sp>
      <p:pic>
        <p:nvPicPr>
          <p:cNvPr id="7" name="Picture 6" descr="layer-group_blue.png"/>
          <p:cNvPicPr>
            <a:picLocks noChangeAspect="1"/>
          </p:cNvPicPr>
          <p:nvPr/>
        </p:nvPicPr>
        <p:blipFill>
          <a:blip r:embed="rId4"/>
          <a:stretch>
            <a:fillRect/>
          </a:stretch>
        </p:blipFill>
        <p:spPr>
          <a:xfrm>
            <a:off x="932688" y="1920240"/>
            <a:ext cx="925830" cy="822960"/>
          </a:xfrm>
          <a:prstGeom prst="rect">
            <a:avLst/>
          </a:prstGeom>
        </p:spPr>
      </p:pic>
      <p:sp>
        <p:nvSpPr>
          <p:cNvPr id="8" name="TextBox 7"/>
          <p:cNvSpPr txBox="1"/>
          <p:nvPr/>
        </p:nvSpPr>
        <p:spPr>
          <a:xfrm>
            <a:off x="1984248" y="1691640"/>
            <a:ext cx="5166360" cy="1280160"/>
          </a:xfrm>
          <a:prstGeom prst="rect">
            <a:avLst/>
          </a:prstGeom>
          <a:noFill/>
        </p:spPr>
        <p:txBody>
          <a:bodyPr wrap="square" lIns="45720" tIns="27432" rIns="45720" bIns="27432" anchor="ctr">
            <a:spAutoFit/>
          </a:bodyPr>
          <a:lstStyle/>
          <a:p>
            <a:pPr algn="l"/>
            <a:r>
              <a:rPr sz="1800" b="1">
                <a:solidFill>
                  <a:srgbClr val="1F4E79"/>
                </a:solidFill>
                <a:latin typeface="Calibri"/>
              </a:rPr>
              <a:t>Put two or three clusters in a district, not one</a:t>
            </a:r>
          </a:p>
          <a:p>
            <a:pPr algn="l">
              <a:spcBef>
                <a:spcPts val="300"/>
              </a:spcBef>
            </a:pPr>
            <a:r>
              <a:rPr sz="1400" b="0">
                <a:solidFill>
                  <a:srgbClr val="333333"/>
                </a:solidFill>
                <a:latin typeface="Calibri"/>
              </a:rPr>
              <a:t>Three districts in four rest on one cluster today. That caps what any model, and the survey's own district numbers, can show.</a:t>
            </a:r>
          </a:p>
        </p:txBody>
      </p:sp>
      <p:pic>
        <p:nvPicPr>
          <p:cNvPr id="9" name="Picture 8" descr="vial_blue.png"/>
          <p:cNvPicPr>
            <a:picLocks noChangeAspect="1"/>
          </p:cNvPicPr>
          <p:nvPr/>
        </p:nvPicPr>
        <p:blipFill>
          <a:blip r:embed="rId5"/>
          <a:stretch>
            <a:fillRect/>
          </a:stretch>
        </p:blipFill>
        <p:spPr>
          <a:xfrm>
            <a:off x="932688" y="3383280"/>
            <a:ext cx="822960" cy="822960"/>
          </a:xfrm>
          <a:prstGeom prst="rect">
            <a:avLst/>
          </a:prstGeom>
        </p:spPr>
      </p:pic>
      <p:sp>
        <p:nvSpPr>
          <p:cNvPr id="10" name="TextBox 9"/>
          <p:cNvSpPr txBox="1"/>
          <p:nvPr/>
        </p:nvSpPr>
        <p:spPr>
          <a:xfrm>
            <a:off x="1984248" y="3154680"/>
            <a:ext cx="5166360" cy="1280160"/>
          </a:xfrm>
          <a:prstGeom prst="rect">
            <a:avLst/>
          </a:prstGeom>
          <a:noFill/>
        </p:spPr>
        <p:txBody>
          <a:bodyPr wrap="square" lIns="45720" tIns="27432" rIns="45720" bIns="27432" anchor="ctr">
            <a:spAutoFit/>
          </a:bodyPr>
          <a:lstStyle/>
          <a:p>
            <a:pPr algn="l"/>
            <a:r>
              <a:rPr sz="1800" b="1">
                <a:solidFill>
                  <a:srgbClr val="1F4E79"/>
                </a:solidFill>
                <a:latin typeface="Calibri"/>
              </a:rPr>
              <a:t>Before a full survey, take a small national sample</a:t>
            </a:r>
          </a:p>
          <a:p>
            <a:pPr algn="l">
              <a:spcBef>
                <a:spcPts val="300"/>
              </a:spcBef>
            </a:pPr>
            <a:r>
              <a:rPr sz="1400" b="0">
                <a:solidFill>
                  <a:srgbClr val="333333"/>
                </a:solidFill>
                <a:latin typeface="Calibri"/>
              </a:rPr>
              <a:t>About 40 blood draws per nutrient anchor the ranking; district planning figures then typically land within about 10 points.</a:t>
            </a:r>
          </a:p>
        </p:txBody>
      </p:sp>
      <p:pic>
        <p:nvPicPr>
          <p:cNvPr id="11" name="Picture 10" descr="map-location-dot_blue.png"/>
          <p:cNvPicPr>
            <a:picLocks noChangeAspect="1"/>
          </p:cNvPicPr>
          <p:nvPr/>
        </p:nvPicPr>
        <p:blipFill>
          <a:blip r:embed="rId6"/>
          <a:stretch>
            <a:fillRect/>
          </a:stretch>
        </p:blipFill>
        <p:spPr>
          <a:xfrm>
            <a:off x="932688" y="4846320"/>
            <a:ext cx="925830" cy="822960"/>
          </a:xfrm>
          <a:prstGeom prst="rect">
            <a:avLst/>
          </a:prstGeom>
        </p:spPr>
      </p:pic>
      <p:sp>
        <p:nvSpPr>
          <p:cNvPr id="12" name="TextBox 11"/>
          <p:cNvSpPr txBox="1"/>
          <p:nvPr/>
        </p:nvSpPr>
        <p:spPr>
          <a:xfrm>
            <a:off x="1984248" y="4617720"/>
            <a:ext cx="5166360" cy="1280160"/>
          </a:xfrm>
          <a:prstGeom prst="rect">
            <a:avLst/>
          </a:prstGeom>
          <a:noFill/>
        </p:spPr>
        <p:txBody>
          <a:bodyPr wrap="square" lIns="45720" tIns="27432" rIns="45720" bIns="27432" anchor="ctr">
            <a:spAutoFit/>
          </a:bodyPr>
          <a:lstStyle/>
          <a:p>
            <a:pPr algn="l"/>
            <a:r>
              <a:rPr sz="1800" b="1">
                <a:solidFill>
                  <a:srgbClr val="1F4E79"/>
                </a:solidFill>
                <a:latin typeface="Calibri"/>
              </a:rPr>
              <a:t>Confirm the model's shortlist first</a:t>
            </a:r>
          </a:p>
          <a:p>
            <a:pPr algn="l">
              <a:spcBef>
                <a:spcPts val="300"/>
              </a:spcBef>
            </a:pPr>
            <a:r>
              <a:rPr sz="1400" b="0">
                <a:solidFill>
                  <a:srgbClr val="333333"/>
                </a:solidFill>
                <a:latin typeface="Calibri"/>
              </a:rPr>
              <a:t>The ranking says which unsurveyed districts to check first. The dashboard's planning tab lets you try a design.</a:t>
            </a:r>
          </a:p>
        </p:txBody>
      </p:sp>
      <p:pic>
        <p:nvPicPr>
          <p:cNvPr id="13" name="Picture 12" descr="v2_ceiling.png"/>
          <p:cNvPicPr>
            <a:picLocks noChangeAspect="1"/>
          </p:cNvPicPr>
          <p:nvPr/>
        </p:nvPicPr>
        <p:blipFill>
          <a:blip r:embed="rId7"/>
          <a:stretch>
            <a:fillRect/>
          </a:stretch>
        </p:blipFill>
        <p:spPr>
          <a:xfrm>
            <a:off x="7516368" y="1783080"/>
            <a:ext cx="3840480" cy="3360420"/>
          </a:xfrm>
          <a:prstGeom prst="rect">
            <a:avLst/>
          </a:prstGeom>
        </p:spPr>
      </p:pic>
    </p:spTree>
  </p:cSld>
  <p:clrMapOvr>
    <a:masterClrMapping/>
  </p:clrMapOvr>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rPr dirty="0"/>
              <a:t>What the model can and cannot do for you</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17</a:t>
            </a:fld>
            <a:endParaRPr lang="en-BG"/>
          </a:p>
        </p:txBody>
      </p:sp>
      <p:sp>
        <p:nvSpPr>
          <p:cNvPr id="7" name="Rounded Rectangle 6"/>
          <p:cNvSpPr/>
          <p:nvPr/>
        </p:nvSpPr>
        <p:spPr>
          <a:xfrm>
            <a:off x="841248" y="1691640"/>
            <a:ext cx="2682240" cy="4206240"/>
          </a:xfrm>
          <a:prstGeom prst="roundRect">
            <a:avLst>
              <a:gd name="adj" fmla="val 409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check_green.png"/>
          <p:cNvPicPr>
            <a:picLocks noChangeAspect="1"/>
          </p:cNvPicPr>
          <p:nvPr/>
        </p:nvPicPr>
        <p:blipFill>
          <a:blip r:embed="rId4"/>
          <a:stretch>
            <a:fillRect/>
          </a:stretch>
        </p:blipFill>
        <p:spPr>
          <a:xfrm>
            <a:off x="1839468" y="1920240"/>
            <a:ext cx="600075" cy="685800"/>
          </a:xfrm>
          <a:prstGeom prst="rect">
            <a:avLst/>
          </a:prstGeom>
        </p:spPr>
      </p:pic>
      <p:sp>
        <p:nvSpPr>
          <p:cNvPr id="9" name="TextBox 8"/>
          <p:cNvSpPr txBox="1"/>
          <p:nvPr/>
        </p:nvSpPr>
        <p:spPr>
          <a:xfrm>
            <a:off x="932688" y="2743200"/>
            <a:ext cx="2499360" cy="457200"/>
          </a:xfrm>
          <a:prstGeom prst="rect">
            <a:avLst/>
          </a:prstGeom>
          <a:noFill/>
        </p:spPr>
        <p:txBody>
          <a:bodyPr wrap="square" lIns="45720" tIns="27432" rIns="45720" bIns="27432" anchor="t">
            <a:spAutoFit/>
          </a:bodyPr>
          <a:lstStyle/>
          <a:p>
            <a:pPr algn="ctr"/>
            <a:r>
              <a:rPr sz="1800" b="1">
                <a:solidFill>
                  <a:srgbClr val="1F4E79"/>
                </a:solidFill>
                <a:latin typeface="Calibri"/>
              </a:rPr>
              <a:t>Use it to</a:t>
            </a:r>
          </a:p>
        </p:txBody>
      </p:sp>
      <p:sp>
        <p:nvSpPr>
          <p:cNvPr id="10" name="TextBox 9"/>
          <p:cNvSpPr txBox="1"/>
          <p:nvPr/>
        </p:nvSpPr>
        <p:spPr>
          <a:xfrm>
            <a:off x="1115568" y="3291840"/>
            <a:ext cx="2133600" cy="2514600"/>
          </a:xfrm>
          <a:prstGeom prst="rect">
            <a:avLst/>
          </a:prstGeom>
          <a:noFill/>
        </p:spPr>
        <p:txBody>
          <a:bodyPr wrap="square" lIns="45720" tIns="27432" rIns="45720" bIns="27432" anchor="t">
            <a:spAutoFit/>
          </a:bodyPr>
          <a:lstStyle/>
          <a:p>
            <a:pPr algn="l">
              <a:spcAft>
                <a:spcPts val="600"/>
              </a:spcAft>
            </a:pPr>
            <a:r>
              <a:rPr sz="1600" b="0">
                <a:solidFill>
                  <a:srgbClr val="333333"/>
                </a:solidFill>
                <a:latin typeface="Calibri"/>
              </a:rPr>
              <a:t>Put districts in order to reach first</a:t>
            </a:r>
          </a:p>
          <a:p>
            <a:pPr algn="l">
              <a:spcBef>
                <a:spcPts val="300"/>
              </a:spcBef>
              <a:spcAft>
                <a:spcPts val="600"/>
              </a:spcAft>
            </a:pPr>
            <a:r>
              <a:rPr sz="1600" b="0">
                <a:solidFill>
                  <a:srgbClr val="333333"/>
                </a:solidFill>
                <a:latin typeface="Calibri"/>
              </a:rPr>
              <a:t>Sequence a programme roll-out</a:t>
            </a:r>
          </a:p>
          <a:p>
            <a:pPr algn="l">
              <a:spcBef>
                <a:spcPts val="300"/>
              </a:spcBef>
              <a:spcAft>
                <a:spcPts val="600"/>
              </a:spcAft>
            </a:pPr>
            <a:r>
              <a:rPr sz="1600" b="0">
                <a:solidFill>
                  <a:srgbClr val="333333"/>
                </a:solidFill>
                <a:latin typeface="Calibri"/>
              </a:rPr>
              <a:t>Choose which unsurveyed districts to confirm first</a:t>
            </a:r>
          </a:p>
        </p:txBody>
      </p:sp>
      <p:sp>
        <p:nvSpPr>
          <p:cNvPr id="11" name="Rounded Rectangle 10"/>
          <p:cNvSpPr/>
          <p:nvPr/>
        </p:nvSpPr>
        <p:spPr>
          <a:xfrm>
            <a:off x="3934968" y="1691640"/>
            <a:ext cx="2682240" cy="4206240"/>
          </a:xfrm>
          <a:prstGeom prst="roundRect">
            <a:avLst>
              <a:gd name="adj" fmla="val 409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triangle-exclamation_amber.png"/>
          <p:cNvPicPr>
            <a:picLocks noChangeAspect="1"/>
          </p:cNvPicPr>
          <p:nvPr/>
        </p:nvPicPr>
        <p:blipFill>
          <a:blip r:embed="rId5"/>
          <a:stretch>
            <a:fillRect/>
          </a:stretch>
        </p:blipFill>
        <p:spPr>
          <a:xfrm>
            <a:off x="4933188" y="1920240"/>
            <a:ext cx="685800" cy="685800"/>
          </a:xfrm>
          <a:prstGeom prst="rect">
            <a:avLst/>
          </a:prstGeom>
        </p:spPr>
      </p:pic>
      <p:sp>
        <p:nvSpPr>
          <p:cNvPr id="13" name="TextBox 12"/>
          <p:cNvSpPr txBox="1"/>
          <p:nvPr/>
        </p:nvSpPr>
        <p:spPr>
          <a:xfrm>
            <a:off x="4026408" y="2743200"/>
            <a:ext cx="2499360" cy="457200"/>
          </a:xfrm>
          <a:prstGeom prst="rect">
            <a:avLst/>
          </a:prstGeom>
          <a:noFill/>
        </p:spPr>
        <p:txBody>
          <a:bodyPr wrap="square" lIns="45720" tIns="27432" rIns="45720" bIns="27432" anchor="t">
            <a:spAutoFit/>
          </a:bodyPr>
          <a:lstStyle/>
          <a:p>
            <a:pPr algn="ctr"/>
            <a:r>
              <a:rPr sz="1800" b="1">
                <a:solidFill>
                  <a:srgbClr val="1F4E79"/>
                </a:solidFill>
                <a:latin typeface="Calibri"/>
              </a:rPr>
              <a:t>Use with survey data</a:t>
            </a:r>
          </a:p>
        </p:txBody>
      </p:sp>
      <p:sp>
        <p:nvSpPr>
          <p:cNvPr id="14" name="TextBox 13"/>
          <p:cNvSpPr txBox="1"/>
          <p:nvPr/>
        </p:nvSpPr>
        <p:spPr>
          <a:xfrm>
            <a:off x="4209288" y="3291840"/>
            <a:ext cx="2133600" cy="2514600"/>
          </a:xfrm>
          <a:prstGeom prst="rect">
            <a:avLst/>
          </a:prstGeom>
          <a:noFill/>
        </p:spPr>
        <p:txBody>
          <a:bodyPr wrap="square" lIns="45720" tIns="27432" rIns="45720" bIns="27432" anchor="t">
            <a:spAutoFit/>
          </a:bodyPr>
          <a:lstStyle/>
          <a:p>
            <a:pPr algn="l">
              <a:spcAft>
                <a:spcPts val="600"/>
              </a:spcAft>
            </a:pPr>
            <a:r>
              <a:rPr sz="1600" b="1" dirty="0">
                <a:solidFill>
                  <a:srgbClr val="1F4E79"/>
                </a:solidFill>
                <a:latin typeface="Calibri"/>
              </a:rPr>
              <a:t>Planning prevalence:</a:t>
            </a:r>
            <a:r>
              <a:rPr sz="1600" dirty="0">
                <a:solidFill>
                  <a:srgbClr val="333333"/>
                </a:solidFill>
                <a:latin typeface="Calibri"/>
              </a:rPr>
              <a:t> anchored to a survey, 90% bands of about 25 points either side</a:t>
            </a:r>
          </a:p>
          <a:p>
            <a:pPr algn="l">
              <a:spcBef>
                <a:spcPts val="300"/>
              </a:spcBef>
              <a:spcAft>
                <a:spcPts val="600"/>
              </a:spcAft>
            </a:pPr>
            <a:r>
              <a:rPr sz="1600" b="1" dirty="0">
                <a:solidFill>
                  <a:srgbClr val="1F4E79"/>
                </a:solidFill>
                <a:latin typeface="Calibri"/>
              </a:rPr>
              <a:t>Reaching the most deficient people:</a:t>
            </a:r>
            <a:r>
              <a:rPr sz="1600" dirty="0">
                <a:solidFill>
                  <a:srgbClr val="333333"/>
                </a:solidFill>
                <a:latin typeface="Calibri"/>
              </a:rPr>
              <a:t> multiply the rate by population</a:t>
            </a:r>
          </a:p>
        </p:txBody>
      </p:sp>
      <p:sp>
        <p:nvSpPr>
          <p:cNvPr id="15" name="Rounded Rectangle 14"/>
          <p:cNvSpPr/>
          <p:nvPr/>
        </p:nvSpPr>
        <p:spPr>
          <a:xfrm>
            <a:off x="7028688" y="1691640"/>
            <a:ext cx="2682240" cy="4206240"/>
          </a:xfrm>
          <a:prstGeom prst="roundRect">
            <a:avLst>
              <a:gd name="adj" fmla="val 409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xmark_grey.png"/>
          <p:cNvPicPr>
            <a:picLocks noChangeAspect="1"/>
          </p:cNvPicPr>
          <p:nvPr/>
        </p:nvPicPr>
        <p:blipFill>
          <a:blip r:embed="rId6"/>
          <a:stretch>
            <a:fillRect/>
          </a:stretch>
        </p:blipFill>
        <p:spPr>
          <a:xfrm>
            <a:off x="8026908" y="1920240"/>
            <a:ext cx="514350" cy="685800"/>
          </a:xfrm>
          <a:prstGeom prst="rect">
            <a:avLst/>
          </a:prstGeom>
        </p:spPr>
      </p:pic>
      <p:sp>
        <p:nvSpPr>
          <p:cNvPr id="17" name="TextBox 16"/>
          <p:cNvSpPr txBox="1"/>
          <p:nvPr/>
        </p:nvSpPr>
        <p:spPr>
          <a:xfrm>
            <a:off x="7120128" y="2743200"/>
            <a:ext cx="2499360" cy="457200"/>
          </a:xfrm>
          <a:prstGeom prst="rect">
            <a:avLst/>
          </a:prstGeom>
          <a:noFill/>
        </p:spPr>
        <p:txBody>
          <a:bodyPr wrap="square" lIns="45720" tIns="27432" rIns="45720" bIns="27432" anchor="t">
            <a:spAutoFit/>
          </a:bodyPr>
          <a:lstStyle/>
          <a:p>
            <a:pPr algn="ctr"/>
            <a:r>
              <a:rPr sz="1800" b="1">
                <a:solidFill>
                  <a:srgbClr val="1F4E79"/>
                </a:solidFill>
                <a:latin typeface="Calibri"/>
              </a:rPr>
              <a:t>Do not use it to</a:t>
            </a:r>
          </a:p>
        </p:txBody>
      </p:sp>
      <p:sp>
        <p:nvSpPr>
          <p:cNvPr id="18" name="TextBox 17"/>
          <p:cNvSpPr txBox="1"/>
          <p:nvPr/>
        </p:nvSpPr>
        <p:spPr>
          <a:xfrm>
            <a:off x="7303008" y="3291840"/>
            <a:ext cx="2133600" cy="2514600"/>
          </a:xfrm>
          <a:prstGeom prst="rect">
            <a:avLst/>
          </a:prstGeom>
          <a:noFill/>
        </p:spPr>
        <p:txBody>
          <a:bodyPr wrap="square" lIns="45720" tIns="27432" rIns="45720" bIns="27432" anchor="t">
            <a:spAutoFit/>
          </a:bodyPr>
          <a:lstStyle/>
          <a:p>
            <a:pPr algn="l">
              <a:spcAft>
                <a:spcPts val="600"/>
              </a:spcAft>
            </a:pPr>
            <a:r>
              <a:rPr sz="1600" b="0">
                <a:solidFill>
                  <a:srgbClr val="333333"/>
                </a:solidFill>
                <a:latin typeface="Calibri"/>
              </a:rPr>
              <a:t>Replace a survey</a:t>
            </a:r>
          </a:p>
          <a:p>
            <a:pPr algn="l">
              <a:spcBef>
                <a:spcPts val="300"/>
              </a:spcBef>
              <a:spcAft>
                <a:spcPts val="600"/>
              </a:spcAft>
            </a:pPr>
            <a:r>
              <a:rPr sz="1600" b="0">
                <a:solidFill>
                  <a:srgbClr val="333333"/>
                </a:solidFill>
                <a:latin typeface="Calibri"/>
              </a:rPr>
              <a:t>Judge whether a programme worked</a:t>
            </a:r>
          </a:p>
          <a:p>
            <a:pPr algn="l">
              <a:spcBef>
                <a:spcPts val="300"/>
              </a:spcBef>
              <a:spcAft>
                <a:spcPts val="600"/>
              </a:spcAft>
            </a:pPr>
            <a:r>
              <a:rPr sz="1600" b="1">
                <a:solidFill>
                  <a:srgbClr val="1F4E79"/>
                </a:solidFill>
                <a:latin typeface="Calibri"/>
              </a:rPr>
              <a:t>Decide what to change:</a:t>
            </a:r>
            <a:r>
              <a:rPr sz="1600">
                <a:solidFill>
                  <a:srgbClr val="333333"/>
                </a:solidFill>
                <a:latin typeface="Calibri"/>
              </a:rPr>
              <a:t> it says where, not why</a:t>
            </a:r>
          </a:p>
        </p:txBody>
      </p:sp>
      <p:pic>
        <p:nvPicPr>
          <p:cNvPr id="19" name="Picture 18" descr="qr_dashboard.png"/>
          <p:cNvPicPr>
            <a:picLocks noChangeAspect="1"/>
          </p:cNvPicPr>
          <p:nvPr/>
        </p:nvPicPr>
        <p:blipFill>
          <a:blip r:embed="rId7"/>
          <a:stretch>
            <a:fillRect/>
          </a:stretch>
        </p:blipFill>
        <p:spPr>
          <a:xfrm>
            <a:off x="10012680" y="1920240"/>
            <a:ext cx="1737360" cy="1737360"/>
          </a:xfrm>
          <a:prstGeom prst="rect">
            <a:avLst/>
          </a:prstGeom>
        </p:spPr>
      </p:pic>
      <p:sp>
        <p:nvSpPr>
          <p:cNvPr id="20" name="TextBox 19"/>
          <p:cNvSpPr txBox="1"/>
          <p:nvPr/>
        </p:nvSpPr>
        <p:spPr>
          <a:xfrm>
            <a:off x="9852660" y="3694176"/>
            <a:ext cx="2057400" cy="1005840"/>
          </a:xfrm>
          <a:prstGeom prst="rect">
            <a:avLst/>
          </a:prstGeom>
          <a:noFill/>
        </p:spPr>
        <p:txBody>
          <a:bodyPr wrap="square" lIns="45720" tIns="27432" rIns="45720" bIns="27432" anchor="t">
            <a:spAutoFit/>
          </a:bodyPr>
          <a:lstStyle/>
          <a:p>
            <a:pPr algn="ctr"/>
            <a:r>
              <a:rPr sz="1100" b="0">
                <a:solidFill>
                  <a:srgbClr val="333333"/>
                </a:solidFill>
                <a:latin typeface="Calibri"/>
              </a:rPr>
              <a:t>Every district, five countries:</a:t>
            </a:r>
          </a:p>
          <a:p>
            <a:pPr algn="ctr">
              <a:spcBef>
                <a:spcPts val="0"/>
              </a:spcBef>
            </a:pPr>
            <a:r>
              <a:rPr sz="1100" b="0">
                <a:solidFill>
                  <a:srgbClr val="333333"/>
                </a:solidFill>
                <a:latin typeface="Calibri"/>
              </a:rPr>
              <a:t>amertens.shinyapps.io/</a:t>
            </a:r>
          </a:p>
          <a:p>
            <a:pPr algn="ctr">
              <a:spcBef>
                <a:spcPts val="0"/>
              </a:spcBef>
            </a:pPr>
            <a:r>
              <a:rPr sz="1100" b="0">
                <a:solidFill>
                  <a:srgbClr val="333333"/>
                </a:solidFill>
                <a:latin typeface="Calibri"/>
              </a:rPr>
              <a:t>micronutrient-burden</a:t>
            </a:r>
          </a:p>
        </p:txBody>
      </p:sp>
    </p:spTree>
  </p:cSld>
  <p:clrMapOvr>
    <a:masterClrMapping/>
  </p:clrMapOvr>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rPr dirty="0"/>
              <a:t>What we found, and what we ask</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18</a:t>
            </a:fld>
            <a:endParaRPr lang="en-BG"/>
          </a:p>
        </p:txBody>
      </p:sp>
      <p:sp>
        <p:nvSpPr>
          <p:cNvPr id="7" name="Rounded Rectangle 6"/>
          <p:cNvSpPr/>
          <p:nvPr/>
        </p:nvSpPr>
        <p:spPr>
          <a:xfrm>
            <a:off x="841248" y="1691640"/>
            <a:ext cx="4206240" cy="3346704"/>
          </a:xfrm>
          <a:prstGeom prst="roundRect">
            <a:avLst>
              <a:gd name="adj" fmla="val 327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ounded Rectangle 7"/>
          <p:cNvSpPr/>
          <p:nvPr/>
        </p:nvSpPr>
        <p:spPr>
          <a:xfrm>
            <a:off x="841248" y="1691640"/>
            <a:ext cx="4206240" cy="640080"/>
          </a:xfrm>
          <a:prstGeom prst="roundRect">
            <a:avLst>
              <a:gd name="adj" fmla="val 17142"/>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9" name="Picture 8" descr="magnifying-glass-chart_white.png"/>
          <p:cNvPicPr>
            <a:picLocks noChangeAspect="1"/>
          </p:cNvPicPr>
          <p:nvPr/>
        </p:nvPicPr>
        <p:blipFill>
          <a:blip r:embed="rId4"/>
          <a:stretch>
            <a:fillRect/>
          </a:stretch>
        </p:blipFill>
        <p:spPr>
          <a:xfrm>
            <a:off x="1024128" y="1810512"/>
            <a:ext cx="402336" cy="402336"/>
          </a:xfrm>
          <a:prstGeom prst="rect">
            <a:avLst/>
          </a:prstGeom>
        </p:spPr>
      </p:pic>
      <p:sp>
        <p:nvSpPr>
          <p:cNvPr id="10" name="TextBox 9"/>
          <p:cNvSpPr txBox="1"/>
          <p:nvPr/>
        </p:nvSpPr>
        <p:spPr>
          <a:xfrm>
            <a:off x="1527048" y="1691640"/>
            <a:ext cx="3429000" cy="640080"/>
          </a:xfrm>
          <a:prstGeom prst="rect">
            <a:avLst/>
          </a:prstGeom>
          <a:noFill/>
        </p:spPr>
        <p:txBody>
          <a:bodyPr wrap="square" lIns="45720" tIns="27432" rIns="45720" bIns="27432" anchor="ctr">
            <a:spAutoFit/>
          </a:bodyPr>
          <a:lstStyle/>
          <a:p>
            <a:pPr algn="l"/>
            <a:r>
              <a:rPr sz="1800" b="1">
                <a:solidFill>
                  <a:srgbClr val="FFFFFF"/>
                </a:solidFill>
                <a:latin typeface="Calibri"/>
              </a:rPr>
              <a:t>What we found</a:t>
            </a:r>
          </a:p>
        </p:txBody>
      </p:sp>
      <p:pic>
        <p:nvPicPr>
          <p:cNvPr id="11" name="Picture 10" descr="satellite_blue.png"/>
          <p:cNvPicPr>
            <a:picLocks noChangeAspect="1"/>
          </p:cNvPicPr>
          <p:nvPr/>
        </p:nvPicPr>
        <p:blipFill>
          <a:blip r:embed="rId5"/>
          <a:stretch>
            <a:fillRect/>
          </a:stretch>
        </p:blipFill>
        <p:spPr>
          <a:xfrm>
            <a:off x="1069848" y="2592324"/>
            <a:ext cx="502920" cy="502920"/>
          </a:xfrm>
          <a:prstGeom prst="rect">
            <a:avLst/>
          </a:prstGeom>
        </p:spPr>
      </p:pic>
      <p:sp>
        <p:nvSpPr>
          <p:cNvPr id="12" name="TextBox 11"/>
          <p:cNvSpPr txBox="1"/>
          <p:nvPr/>
        </p:nvSpPr>
        <p:spPr>
          <a:xfrm>
            <a:off x="1755648" y="2423160"/>
            <a:ext cx="3154680" cy="841248"/>
          </a:xfrm>
          <a:prstGeom prst="rect">
            <a:avLst/>
          </a:prstGeom>
          <a:noFill/>
        </p:spPr>
        <p:txBody>
          <a:bodyPr wrap="square" lIns="45720" tIns="27432" rIns="45720" bIns="27432" anchor="ctr">
            <a:spAutoFit/>
          </a:bodyPr>
          <a:lstStyle/>
          <a:p>
            <a:pPr algn="l"/>
            <a:r>
              <a:rPr sz="1500" b="1">
                <a:solidFill>
                  <a:srgbClr val="1F4E79"/>
                </a:solidFill>
                <a:latin typeface="Calibri"/>
              </a:rPr>
              <a:t>Free public data carry real signal</a:t>
            </a:r>
          </a:p>
          <a:p>
            <a:pPr algn="l">
              <a:spcBef>
                <a:spcPts val="300"/>
              </a:spcBef>
            </a:pPr>
            <a:r>
              <a:rPr sz="1250" b="0">
                <a:solidFill>
                  <a:srgbClr val="333333"/>
                </a:solidFill>
                <a:latin typeface="Calibri"/>
              </a:rPr>
              <a:t>Much of it in climate and soil, measured everywhere, every year.</a:t>
            </a:r>
          </a:p>
        </p:txBody>
      </p:sp>
      <p:pic>
        <p:nvPicPr>
          <p:cNvPr id="13" name="Picture 12" descr="ranking-star_blue.png"/>
          <p:cNvPicPr>
            <a:picLocks noChangeAspect="1"/>
          </p:cNvPicPr>
          <p:nvPr/>
        </p:nvPicPr>
        <p:blipFill>
          <a:blip r:embed="rId6"/>
          <a:stretch>
            <a:fillRect/>
          </a:stretch>
        </p:blipFill>
        <p:spPr>
          <a:xfrm>
            <a:off x="1069848" y="3433572"/>
            <a:ext cx="628650" cy="502920"/>
          </a:xfrm>
          <a:prstGeom prst="rect">
            <a:avLst/>
          </a:prstGeom>
        </p:spPr>
      </p:pic>
      <p:sp>
        <p:nvSpPr>
          <p:cNvPr id="14" name="TextBox 13"/>
          <p:cNvSpPr txBox="1"/>
          <p:nvPr/>
        </p:nvSpPr>
        <p:spPr>
          <a:xfrm>
            <a:off x="1755648" y="3264408"/>
            <a:ext cx="3154680" cy="841248"/>
          </a:xfrm>
          <a:prstGeom prst="rect">
            <a:avLst/>
          </a:prstGeom>
          <a:noFill/>
        </p:spPr>
        <p:txBody>
          <a:bodyPr wrap="square" lIns="45720" tIns="27432" rIns="45720" bIns="27432" anchor="ctr">
            <a:spAutoFit/>
          </a:bodyPr>
          <a:lstStyle/>
          <a:p>
            <a:pPr algn="l"/>
            <a:r>
              <a:rPr sz="1500" b="1">
                <a:solidFill>
                  <a:srgbClr val="1F4E79"/>
                </a:solidFill>
                <a:latin typeface="Calibri"/>
              </a:rPr>
              <a:t>Better than today's regional averages</a:t>
            </a:r>
          </a:p>
          <a:p>
            <a:pPr algn="l">
              <a:spcBef>
                <a:spcPts val="300"/>
              </a:spcBef>
            </a:pPr>
            <a:r>
              <a:rPr sz="1250" b="0">
                <a:solidFill>
                  <a:srgbClr val="333333"/>
                </a:solidFill>
                <a:latin typeface="Calibri"/>
              </a:rPr>
              <a:t>Inside a surveyed country, and in countries it never saw.</a:t>
            </a:r>
          </a:p>
        </p:txBody>
      </p:sp>
      <p:pic>
        <p:nvPicPr>
          <p:cNvPr id="15" name="Picture 14" descr="layer-group_blue.png"/>
          <p:cNvPicPr>
            <a:picLocks noChangeAspect="1"/>
          </p:cNvPicPr>
          <p:nvPr/>
        </p:nvPicPr>
        <p:blipFill>
          <a:blip r:embed="rId7"/>
          <a:stretch>
            <a:fillRect/>
          </a:stretch>
        </p:blipFill>
        <p:spPr>
          <a:xfrm>
            <a:off x="1069848" y="4274820"/>
            <a:ext cx="565785" cy="502920"/>
          </a:xfrm>
          <a:prstGeom prst="rect">
            <a:avLst/>
          </a:prstGeom>
        </p:spPr>
      </p:pic>
      <p:sp>
        <p:nvSpPr>
          <p:cNvPr id="16" name="TextBox 15"/>
          <p:cNvSpPr txBox="1"/>
          <p:nvPr/>
        </p:nvSpPr>
        <p:spPr>
          <a:xfrm>
            <a:off x="1755648" y="4105656"/>
            <a:ext cx="3154680" cy="841248"/>
          </a:xfrm>
          <a:prstGeom prst="rect">
            <a:avLst/>
          </a:prstGeom>
          <a:noFill/>
        </p:spPr>
        <p:txBody>
          <a:bodyPr wrap="square" lIns="45720" tIns="27432" rIns="45720" bIns="27432" anchor="ctr">
            <a:spAutoFit/>
          </a:bodyPr>
          <a:lstStyle/>
          <a:p>
            <a:pPr algn="l"/>
            <a:r>
              <a:rPr sz="1500" b="1">
                <a:solidFill>
                  <a:srgbClr val="1F4E79"/>
                </a:solidFill>
                <a:latin typeface="Calibri"/>
              </a:rPr>
              <a:t>The limit today is surveys, not data</a:t>
            </a:r>
          </a:p>
          <a:p>
            <a:pPr algn="l">
              <a:spcBef>
                <a:spcPts val="300"/>
              </a:spcBef>
            </a:pPr>
            <a:r>
              <a:rPr sz="1250" b="0">
                <a:solidFill>
                  <a:srgbClr val="333333"/>
                </a:solidFill>
                <a:latin typeface="Calibri"/>
              </a:rPr>
              <a:t>On average, each added survey improved the ranking for countries held out.</a:t>
            </a:r>
          </a:p>
        </p:txBody>
      </p:sp>
      <p:sp>
        <p:nvSpPr>
          <p:cNvPr id="17" name="Rounded Rectangle 16"/>
          <p:cNvSpPr/>
          <p:nvPr/>
        </p:nvSpPr>
        <p:spPr>
          <a:xfrm>
            <a:off x="5504688" y="1691640"/>
            <a:ext cx="4206240" cy="3346704"/>
          </a:xfrm>
          <a:prstGeom prst="roundRect">
            <a:avLst>
              <a:gd name="adj" fmla="val 327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ounded Rectangle 17"/>
          <p:cNvSpPr/>
          <p:nvPr/>
        </p:nvSpPr>
        <p:spPr>
          <a:xfrm>
            <a:off x="5504688" y="1691640"/>
            <a:ext cx="4206240" cy="640080"/>
          </a:xfrm>
          <a:prstGeom prst="roundRect">
            <a:avLst>
              <a:gd name="adj" fmla="val 17142"/>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9" name="Picture 18" descr="handshake_white.png"/>
          <p:cNvPicPr>
            <a:picLocks noChangeAspect="1"/>
          </p:cNvPicPr>
          <p:nvPr/>
        </p:nvPicPr>
        <p:blipFill>
          <a:blip r:embed="rId8"/>
          <a:stretch>
            <a:fillRect/>
          </a:stretch>
        </p:blipFill>
        <p:spPr>
          <a:xfrm>
            <a:off x="5687568" y="1810512"/>
            <a:ext cx="502920" cy="402336"/>
          </a:xfrm>
          <a:prstGeom prst="rect">
            <a:avLst/>
          </a:prstGeom>
        </p:spPr>
      </p:pic>
      <p:sp>
        <p:nvSpPr>
          <p:cNvPr id="20" name="TextBox 19"/>
          <p:cNvSpPr txBox="1"/>
          <p:nvPr/>
        </p:nvSpPr>
        <p:spPr>
          <a:xfrm>
            <a:off x="6190488" y="1691640"/>
            <a:ext cx="3429000" cy="640080"/>
          </a:xfrm>
          <a:prstGeom prst="rect">
            <a:avLst/>
          </a:prstGeom>
          <a:noFill/>
        </p:spPr>
        <p:txBody>
          <a:bodyPr wrap="square" lIns="45720" tIns="27432" rIns="45720" bIns="27432" anchor="ctr">
            <a:spAutoFit/>
          </a:bodyPr>
          <a:lstStyle/>
          <a:p>
            <a:pPr algn="l"/>
            <a:r>
              <a:rPr sz="1800" b="1">
                <a:solidFill>
                  <a:srgbClr val="FFFFFF"/>
                </a:solidFill>
                <a:latin typeface="Calibri"/>
              </a:rPr>
              <a:t>What we ask</a:t>
            </a:r>
          </a:p>
        </p:txBody>
      </p:sp>
      <p:pic>
        <p:nvPicPr>
          <p:cNvPr id="21" name="Picture 20" descr="vials_blue.png"/>
          <p:cNvPicPr>
            <a:picLocks noChangeAspect="1"/>
          </p:cNvPicPr>
          <p:nvPr/>
        </p:nvPicPr>
        <p:blipFill>
          <a:blip r:embed="rId9"/>
          <a:stretch>
            <a:fillRect/>
          </a:stretch>
        </p:blipFill>
        <p:spPr>
          <a:xfrm>
            <a:off x="5733288" y="2592324"/>
            <a:ext cx="502920" cy="502920"/>
          </a:xfrm>
          <a:prstGeom prst="rect">
            <a:avLst/>
          </a:prstGeom>
        </p:spPr>
      </p:pic>
      <p:sp>
        <p:nvSpPr>
          <p:cNvPr id="22" name="TextBox 21"/>
          <p:cNvSpPr txBox="1"/>
          <p:nvPr/>
        </p:nvSpPr>
        <p:spPr>
          <a:xfrm>
            <a:off x="6419088" y="2423160"/>
            <a:ext cx="3154680" cy="841248"/>
          </a:xfrm>
          <a:prstGeom prst="rect">
            <a:avLst/>
          </a:prstGeom>
          <a:noFill/>
        </p:spPr>
        <p:txBody>
          <a:bodyPr wrap="square" lIns="45720" tIns="27432" rIns="45720" bIns="27432" anchor="ctr">
            <a:spAutoFit/>
          </a:bodyPr>
          <a:lstStyle/>
          <a:p>
            <a:pPr algn="l"/>
            <a:r>
              <a:rPr sz="1500" b="1">
                <a:solidFill>
                  <a:srgbClr val="1F4E79"/>
                </a:solidFill>
                <a:latin typeface="Calibri"/>
              </a:rPr>
              <a:t>Share your survey with the pool</a:t>
            </a:r>
          </a:p>
          <a:p>
            <a:pPr algn="l">
              <a:spcBef>
                <a:spcPts val="300"/>
              </a:spcBef>
            </a:pPr>
            <a:r>
              <a:rPr sz="1250" b="0">
                <a:solidFill>
                  <a:srgbClr val="333333"/>
                </a:solidFill>
                <a:latin typeface="Calibri"/>
              </a:rPr>
              <a:t>Recent, planned, or sitting in a drawer.</a:t>
            </a:r>
          </a:p>
        </p:txBody>
      </p:sp>
      <p:pic>
        <p:nvPicPr>
          <p:cNvPr id="23" name="Picture 22" descr="map-location-dot_blue.png"/>
          <p:cNvPicPr>
            <a:picLocks noChangeAspect="1"/>
          </p:cNvPicPr>
          <p:nvPr/>
        </p:nvPicPr>
        <p:blipFill>
          <a:blip r:embed="rId10"/>
          <a:stretch>
            <a:fillRect/>
          </a:stretch>
        </p:blipFill>
        <p:spPr>
          <a:xfrm>
            <a:off x="5733288" y="3433572"/>
            <a:ext cx="565785" cy="502920"/>
          </a:xfrm>
          <a:prstGeom prst="rect">
            <a:avLst/>
          </a:prstGeom>
        </p:spPr>
      </p:pic>
      <p:sp>
        <p:nvSpPr>
          <p:cNvPr id="24" name="TextBox 23"/>
          <p:cNvSpPr txBox="1"/>
          <p:nvPr/>
        </p:nvSpPr>
        <p:spPr>
          <a:xfrm>
            <a:off x="6419088" y="3264408"/>
            <a:ext cx="3154680" cy="841248"/>
          </a:xfrm>
          <a:prstGeom prst="rect">
            <a:avLst/>
          </a:prstGeom>
          <a:noFill/>
        </p:spPr>
        <p:txBody>
          <a:bodyPr wrap="square" lIns="45720" tIns="27432" rIns="45720" bIns="27432" anchor="ctr">
            <a:spAutoFit/>
          </a:bodyPr>
          <a:lstStyle/>
          <a:p>
            <a:pPr algn="l"/>
            <a:r>
              <a:rPr sz="1500" b="1">
                <a:solidFill>
                  <a:srgbClr val="1F4E79"/>
                </a:solidFill>
                <a:latin typeface="Calibri"/>
              </a:rPr>
              <a:t>Design the next survey with us</a:t>
            </a:r>
          </a:p>
          <a:p>
            <a:pPr algn="l">
              <a:spcBef>
                <a:spcPts val="300"/>
              </a:spcBef>
            </a:pPr>
            <a:r>
              <a:rPr sz="1250" b="0">
                <a:solidFill>
                  <a:srgbClr val="333333"/>
                </a:solidFill>
                <a:latin typeface="Calibri"/>
              </a:rPr>
              <a:t>Where to sample, and how many clusters in a district.</a:t>
            </a:r>
          </a:p>
        </p:txBody>
      </p:sp>
      <p:pic>
        <p:nvPicPr>
          <p:cNvPr id="25" name="Picture 24" descr="circle-question_blue.png"/>
          <p:cNvPicPr>
            <a:picLocks noChangeAspect="1"/>
          </p:cNvPicPr>
          <p:nvPr/>
        </p:nvPicPr>
        <p:blipFill>
          <a:blip r:embed="rId11"/>
          <a:stretch>
            <a:fillRect/>
          </a:stretch>
        </p:blipFill>
        <p:spPr>
          <a:xfrm>
            <a:off x="5733288" y="4274820"/>
            <a:ext cx="502920" cy="502920"/>
          </a:xfrm>
          <a:prstGeom prst="rect">
            <a:avLst/>
          </a:prstGeom>
        </p:spPr>
      </p:pic>
      <p:sp>
        <p:nvSpPr>
          <p:cNvPr id="26" name="TextBox 25"/>
          <p:cNvSpPr txBox="1"/>
          <p:nvPr/>
        </p:nvSpPr>
        <p:spPr>
          <a:xfrm>
            <a:off x="6419088" y="4105656"/>
            <a:ext cx="3154680" cy="841248"/>
          </a:xfrm>
          <a:prstGeom prst="rect">
            <a:avLst/>
          </a:prstGeom>
          <a:noFill/>
        </p:spPr>
        <p:txBody>
          <a:bodyPr wrap="square" lIns="45720" tIns="27432" rIns="45720" bIns="27432" anchor="ctr">
            <a:spAutoFit/>
          </a:bodyPr>
          <a:lstStyle/>
          <a:p>
            <a:pPr algn="l"/>
            <a:r>
              <a:rPr sz="1500" b="1">
                <a:solidFill>
                  <a:srgbClr val="1F4E79"/>
                </a:solidFill>
                <a:latin typeface="Calibri"/>
              </a:rPr>
              <a:t>Tell us what is good enough</a:t>
            </a:r>
          </a:p>
          <a:p>
            <a:pPr algn="l">
              <a:spcBef>
                <a:spcPts val="300"/>
              </a:spcBef>
            </a:pPr>
            <a:r>
              <a:rPr sz="1250" b="0">
                <a:solidFill>
                  <a:srgbClr val="333333"/>
                </a:solidFill>
                <a:latin typeface="Calibri"/>
              </a:rPr>
              <a:t>How accurate must a district ranking be before you would use it?</a:t>
            </a:r>
          </a:p>
        </p:txBody>
      </p:sp>
      <p:sp>
        <p:nvSpPr>
          <p:cNvPr id="27" name="Rounded Rectangle 26"/>
          <p:cNvSpPr/>
          <p:nvPr/>
        </p:nvSpPr>
        <p:spPr>
          <a:xfrm>
            <a:off x="841248" y="5239512"/>
            <a:ext cx="8869680" cy="658368"/>
          </a:xfrm>
          <a:prstGeom prst="roundRect">
            <a:avLst>
              <a:gd name="adj" fmla="val 16666"/>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1115568" y="5239512"/>
            <a:ext cx="8321040" cy="658368"/>
          </a:xfrm>
          <a:prstGeom prst="rect">
            <a:avLst/>
          </a:prstGeom>
          <a:noFill/>
        </p:spPr>
        <p:txBody>
          <a:bodyPr wrap="square" lIns="45720" tIns="27432" rIns="45720" bIns="27432" anchor="ctr">
            <a:spAutoFit/>
          </a:bodyPr>
          <a:lstStyle/>
          <a:p>
            <a:pPr algn="ctr"/>
            <a:r>
              <a:rPr sz="1900" b="1">
                <a:solidFill>
                  <a:srgbClr val="FFFFFF"/>
                </a:solidFill>
                <a:latin typeface="Calibri"/>
              </a:rPr>
              <a:t>Modelling extends a survey's reach. It does not replace the survey.</a:t>
            </a:r>
          </a:p>
        </p:txBody>
      </p:sp>
      <p:pic>
        <p:nvPicPr>
          <p:cNvPr id="29" name="Picture 28" descr="qr_dashboard.png"/>
          <p:cNvPicPr>
            <a:picLocks noChangeAspect="1"/>
          </p:cNvPicPr>
          <p:nvPr/>
        </p:nvPicPr>
        <p:blipFill>
          <a:blip r:embed="rId12"/>
          <a:stretch>
            <a:fillRect/>
          </a:stretch>
        </p:blipFill>
        <p:spPr>
          <a:xfrm>
            <a:off x="10012680" y="2103120"/>
            <a:ext cx="1737360" cy="1737360"/>
          </a:xfrm>
          <a:prstGeom prst="rect">
            <a:avLst/>
          </a:prstGeom>
        </p:spPr>
      </p:pic>
      <p:sp>
        <p:nvSpPr>
          <p:cNvPr id="30" name="TextBox 29"/>
          <p:cNvSpPr txBox="1"/>
          <p:nvPr/>
        </p:nvSpPr>
        <p:spPr>
          <a:xfrm>
            <a:off x="9852660" y="3877056"/>
            <a:ext cx="2057400" cy="822960"/>
          </a:xfrm>
          <a:prstGeom prst="rect">
            <a:avLst/>
          </a:prstGeom>
          <a:noFill/>
        </p:spPr>
        <p:txBody>
          <a:bodyPr wrap="square" lIns="45720" tIns="27432" rIns="45720" bIns="27432" anchor="t">
            <a:spAutoFit/>
          </a:bodyPr>
          <a:lstStyle/>
          <a:p>
            <a:pPr algn="ctr"/>
            <a:r>
              <a:rPr sz="1100" b="0">
                <a:solidFill>
                  <a:srgbClr val="333333"/>
                </a:solidFill>
                <a:latin typeface="Calibri"/>
              </a:rPr>
              <a:t>Try it:</a:t>
            </a:r>
          </a:p>
          <a:p>
            <a:pPr algn="ctr">
              <a:spcBef>
                <a:spcPts val="0"/>
              </a:spcBef>
            </a:pPr>
            <a:r>
              <a:rPr sz="1100" b="0">
                <a:solidFill>
                  <a:srgbClr val="333333"/>
                </a:solidFill>
                <a:latin typeface="Calibri"/>
              </a:rPr>
              <a:t>amertens.shinyapps.io/</a:t>
            </a:r>
          </a:p>
          <a:p>
            <a:pPr algn="ctr">
              <a:spcBef>
                <a:spcPts val="0"/>
              </a:spcBef>
            </a:pPr>
            <a:r>
              <a:rPr sz="1100" b="0">
                <a:solidFill>
                  <a:srgbClr val="333333"/>
                </a:solidFill>
                <a:latin typeface="Calibri"/>
              </a:rPr>
              <a:t>micronutrient-burden</a:t>
            </a:r>
          </a:p>
        </p:txBody>
      </p:sp>
    </p:spTree>
  </p:cSld>
  <p:clrMapOvr>
    <a:masterClrMapping/>
  </p:clrMapOvr>
  <p:extLst>
    <p:ext uri="{6950BFC3-D8DA-4A85-94F7-54DA5524770B}">
      <p188:commentRel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D54DC-FB72-5297-5F8C-C5018B014C17}"/>
              </a:ext>
            </a:extLst>
          </p:cNvPr>
          <p:cNvSpPr>
            <a:spLocks noGrp="1"/>
          </p:cNvSpPr>
          <p:nvPr>
            <p:ph type="title"/>
          </p:nvPr>
        </p:nvSpPr>
        <p:spPr>
          <a:xfrm>
            <a:off x="831850" y="1709738"/>
            <a:ext cx="10515600" cy="2852737"/>
          </a:xfrm>
        </p:spPr>
        <p:txBody>
          <a:bodyPr/>
          <a:lstStyle/>
          <a:p>
            <a:pPr marL="0" lvl="0" indent="0">
              <a:buNone/>
            </a:pPr>
            <a:r>
              <a:t>Appendix</a:t>
            </a:r>
          </a:p>
        </p:txBody>
      </p:sp>
      <p:sp>
        <p:nvSpPr>
          <p:cNvPr id="6" name="Slide Number Placeholder 5">
            <a:extLst>
              <a:ext uri="{FF2B5EF4-FFF2-40B4-BE49-F238E27FC236}">
                <a16:creationId xmlns:a16="http://schemas.microsoft.com/office/drawing/2014/main" id="{C949C2AB-C32B-F139-A9B4-170A9888AC27}"/>
              </a:ext>
            </a:extLst>
          </p:cNvPr>
          <p:cNvSpPr>
            <a:spLocks noGrp="1"/>
          </p:cNvSpPr>
          <p:nvPr>
            <p:ph type="sldNum" sz="quarter" idx="12"/>
          </p:nvPr>
        </p:nvSpPr>
        <p:spPr/>
        <p:txBody>
          <a:bodyPr/>
          <a:lstStyle/>
          <a:p>
            <a:fld id="{8C903514-D622-FE49-B01E-C0625A22DB6C}" type="slidenum">
              <a:rPr lang="en-BG" smtClean="0"/>
              <a:t>19</a:t>
            </a:fld>
            <a:endParaRPr lang="en-BG"/>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Is it just geography? The DHS-style geostatistical model</a:t>
            </a:r>
          </a:p>
        </p:txBody>
      </p:sp>
      <p:pic>
        <p:nvPicPr>
          <p:cNvPr id="3" name="Picture 1" descr="../../results/figures/policy_deck/fig9_geostatistical.png"/>
          <p:cNvPicPr>
            <a:picLocks noGrp="1" noChangeAspect="1"/>
          </p:cNvPicPr>
          <p:nvPr/>
        </p:nvPicPr>
        <p:blipFill>
          <a:blip r:embed="rId3"/>
          <a:stretch>
            <a:fillRect/>
          </a:stretch>
        </p:blipFill>
        <p:spPr bwMode="auto">
          <a:xfrm>
            <a:off x="1581030" y="1600200"/>
            <a:ext cx="9026892"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20</a:t>
            </a:fld>
            <a:endParaRPr lang="en-BG"/>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rPr dirty="0"/>
              <a:t>How do I get a prevalence, not a rank?</a:t>
            </a:r>
          </a:p>
        </p:txBody>
      </p:sp>
      <p:pic>
        <p:nvPicPr>
          <p:cNvPr id="3" name="Picture 1" descr="../../results/figures/full_talk_extracts/ft_anchor_design.png"/>
          <p:cNvPicPr>
            <a:picLocks noGrp="1" noChangeAspect="1"/>
          </p:cNvPicPr>
          <p:nvPr/>
        </p:nvPicPr>
        <p:blipFill>
          <a:blip r:embed="rId3"/>
          <a:stretch>
            <a:fillRect/>
          </a:stretch>
        </p:blipFill>
        <p:spPr bwMode="auto">
          <a:xfrm>
            <a:off x="3019605" y="1600200"/>
            <a:ext cx="6149741"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21</a:t>
            </a:fld>
            <a:endParaRPr lang="en-BG"/>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rPr dirty="0"/>
              <a:t>What we compared the model against</a:t>
            </a:r>
          </a:p>
        </p:txBody>
      </p:sp>
      <p:pic>
        <p:nvPicPr>
          <p:cNvPr id="3" name="Picture 1" descr="../../results/figures/policy_deck/fig1_model_comparison.png"/>
          <p:cNvPicPr>
            <a:picLocks noGrp="1" noChangeAspect="1"/>
          </p:cNvPicPr>
          <p:nvPr/>
        </p:nvPicPr>
        <p:blipFill>
          <a:blip r:embed="rId3"/>
          <a:stretch>
            <a:fillRect/>
          </a:stretch>
        </p:blipFill>
        <p:spPr bwMode="auto">
          <a:xfrm>
            <a:off x="1785567" y="1600200"/>
            <a:ext cx="8617818"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22</a:t>
            </a:fld>
            <a:endParaRPr lang="en-BG"/>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rPr dirty="0"/>
              <a:t>The survey itself sets the ceiling</a:t>
            </a:r>
          </a:p>
        </p:txBody>
      </p:sp>
      <p:pic>
        <p:nvPicPr>
          <p:cNvPr id="3" name="Picture 1" descr="../../results/figures/mnf15/figJ_ceiling_staircase.png"/>
          <p:cNvPicPr>
            <a:picLocks noGrp="1" noChangeAspect="1"/>
          </p:cNvPicPr>
          <p:nvPr/>
        </p:nvPicPr>
        <p:blipFill>
          <a:blip r:embed="rId4"/>
          <a:stretch>
            <a:fillRect/>
          </a:stretch>
        </p:blipFill>
        <p:spPr bwMode="auto">
          <a:xfrm>
            <a:off x="1131049" y="1600200"/>
            <a:ext cx="9926854"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23</a:t>
            </a:fld>
            <a:endParaRPr lang="en-BG"/>
          </a:p>
        </p:txBody>
      </p:sp>
    </p:spTree>
  </p:cSld>
  <p:clrMapOvr>
    <a:masterClrMapping/>
  </p:clrMapOvr>
  <p:extLst>
    <p:ext uri="{6950BFC3-D8DA-4A85-94F7-54DA5524770B}">
      <p188:commentRel xmlns:p188="http://schemas.microsoft.com/office/powerpoint/2018/8/main" r:id="rId3"/>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What the model leans on, women’s outcomes</a:t>
            </a:r>
          </a:p>
        </p:txBody>
      </p:sp>
      <p:pic>
        <p:nvPicPr>
          <p:cNvPr id="3" name="Picture 1" descr="../../results/figures/mnf15/figD_women_domains.png"/>
          <p:cNvPicPr>
            <a:picLocks noGrp="1" noChangeAspect="1"/>
          </p:cNvPicPr>
          <p:nvPr/>
        </p:nvPicPr>
        <p:blipFill>
          <a:blip r:embed="rId3"/>
          <a:stretch>
            <a:fillRect/>
          </a:stretch>
        </p:blipFill>
        <p:spPr bwMode="auto">
          <a:xfrm>
            <a:off x="1356039" y="1600200"/>
            <a:ext cx="9476873"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24</a:t>
            </a:fld>
            <a:endParaRPr lang="en-BG"/>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rPr dirty="0"/>
              <a:t>Malawi: </a:t>
            </a:r>
            <a:r>
              <a:rPr lang="en-US" dirty="0"/>
              <a:t>geography-driven surrogates</a:t>
            </a:r>
            <a:endParaRPr dirty="0"/>
          </a:p>
        </p:txBody>
      </p:sp>
      <p:pic>
        <p:nvPicPr>
          <p:cNvPr id="3" name="Picture 1" descr="../../results/figures/mnf15/figM_malawi_b12_surrogate.png"/>
          <p:cNvPicPr>
            <a:picLocks noGrp="1" noChangeAspect="1"/>
          </p:cNvPicPr>
          <p:nvPr/>
        </p:nvPicPr>
        <p:blipFill>
          <a:blip r:embed="rId3"/>
          <a:stretch>
            <a:fillRect/>
          </a:stretch>
        </p:blipFill>
        <p:spPr bwMode="auto">
          <a:xfrm>
            <a:off x="1342403" y="1600200"/>
            <a:ext cx="9504145"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25</a:t>
            </a:fld>
            <a:endParaRPr lang="en-BG"/>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How firmly each Côte d’Ivoire district is placed</a:t>
            </a:r>
          </a:p>
        </p:txBody>
      </p:sp>
      <p:pic>
        <p:nvPicPr>
          <p:cNvPr id="3" name="Picture 1" descr="../../results/figures/mnf15_v2/v2_civ_firmness.png"/>
          <p:cNvPicPr>
            <a:picLocks noGrp="1" noChangeAspect="1"/>
          </p:cNvPicPr>
          <p:nvPr/>
        </p:nvPicPr>
        <p:blipFill>
          <a:blip r:embed="rId3"/>
          <a:stretch>
            <a:fillRect/>
          </a:stretch>
        </p:blipFill>
        <p:spPr bwMode="auto">
          <a:xfrm>
            <a:off x="844697" y="1600200"/>
            <a:ext cx="10499557"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26</a:t>
            </a:fld>
            <a:endParaRPr lang="en-BG"/>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rPr dirty="0"/>
              <a:t>Which deficiencies can be mapped at district level at all?</a:t>
            </a:r>
          </a:p>
        </p:txBody>
      </p:sp>
      <p:pic>
        <p:nvPicPr>
          <p:cNvPr id="3" name="Picture 1" descr="../../results/figures/mnf15/figA_measurability_screen.png"/>
          <p:cNvPicPr>
            <a:picLocks noGrp="1" noChangeAspect="1"/>
          </p:cNvPicPr>
          <p:nvPr/>
        </p:nvPicPr>
        <p:blipFill>
          <a:blip r:embed="rId4"/>
          <a:stretch>
            <a:fillRect/>
          </a:stretch>
        </p:blipFill>
        <p:spPr bwMode="auto">
          <a:xfrm>
            <a:off x="626524" y="1600200"/>
            <a:ext cx="10935903"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27</a:t>
            </a:fld>
            <a:endParaRPr lang="en-BG"/>
          </a:p>
        </p:txBody>
      </p:sp>
    </p:spTree>
  </p:cSld>
  <p:clrMapOvr>
    <a:masterClrMapping/>
  </p:clrMapOvr>
  <p:extLst>
    <p:ext uri="{6950BFC3-D8DA-4A85-94F7-54DA5524770B}">
      <p188:commentRel xmlns:p188="http://schemas.microsoft.com/office/powerpoint/2018/8/main" r:id="rId3"/>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Does targeting reach more deficient people?</a:t>
            </a:r>
          </a:p>
        </p:txBody>
      </p:sp>
      <p:pic>
        <p:nvPicPr>
          <p:cNvPr id="3" name="Picture 1" descr="../../results/figures/policy_deck/fig6_targeting.png"/>
          <p:cNvPicPr>
            <a:picLocks noGrp="1" noChangeAspect="1"/>
          </p:cNvPicPr>
          <p:nvPr/>
        </p:nvPicPr>
        <p:blipFill>
          <a:blip r:embed="rId4"/>
          <a:stretch>
            <a:fillRect/>
          </a:stretch>
        </p:blipFill>
        <p:spPr bwMode="auto">
          <a:xfrm>
            <a:off x="1356039" y="1600200"/>
            <a:ext cx="9476873"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28</a:t>
            </a:fld>
            <a:endParaRPr lang="en-BG"/>
          </a:p>
        </p:txBody>
      </p:sp>
    </p:spTree>
  </p:cSld>
  <p:clrMapOvr>
    <a:masterClrMapping/>
  </p:clrMapOvr>
  <p:extLst>
    <p:ext uri="{6950BFC3-D8DA-4A85-94F7-54DA5524770B}">
      <p188:commentRel xmlns:p188="http://schemas.microsoft.com/office/powerpoint/2018/8/main" r:id="rId3"/>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rPr dirty="0"/>
              <a:t>The same comparison in district pairs</a:t>
            </a:r>
          </a:p>
        </p:txBody>
      </p:sp>
      <p:pic>
        <p:nvPicPr>
          <p:cNvPr id="3" name="Picture 1" descr="../../results/figures/mnf15/figE_odds_ruler.png"/>
          <p:cNvPicPr>
            <a:picLocks noGrp="1" noChangeAspect="1"/>
          </p:cNvPicPr>
          <p:nvPr/>
        </p:nvPicPr>
        <p:blipFill>
          <a:blip r:embed="rId3"/>
          <a:stretch>
            <a:fillRect/>
          </a:stretch>
        </p:blipFill>
        <p:spPr bwMode="auto">
          <a:xfrm>
            <a:off x="502920" y="1600200"/>
            <a:ext cx="11183112" cy="4578592"/>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29</a:t>
            </a:fld>
            <a:endParaRPr lang="en-BG"/>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Does each survey added help the others?</a:t>
            </a:r>
          </a:p>
        </p:txBody>
      </p:sp>
      <p:pic>
        <p:nvPicPr>
          <p:cNvPr id="3" name="Picture 1" descr="../../results/figures/full_talk_extracts/ft_training_curve.png"/>
          <p:cNvPicPr>
            <a:picLocks noGrp="1" noChangeAspect="1"/>
          </p:cNvPicPr>
          <p:nvPr/>
        </p:nvPicPr>
        <p:blipFill>
          <a:blip r:embed="rId3"/>
          <a:stretch>
            <a:fillRect/>
          </a:stretch>
        </p:blipFill>
        <p:spPr bwMode="auto">
          <a:xfrm>
            <a:off x="3019605" y="1600200"/>
            <a:ext cx="6149741"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30</a:t>
            </a:fld>
            <a:endParaRPr lang="en-BG"/>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rPr dirty="0"/>
              <a:t>The 2007 Côte d’Ivoire survey and the transported B12 ranking</a:t>
            </a:r>
          </a:p>
        </p:txBody>
      </p:sp>
      <p:pic>
        <p:nvPicPr>
          <p:cNvPr id="3" name="Picture 1" descr="../../results/figures/mnf15/figQ_civ_2007_b12_check.png"/>
          <p:cNvPicPr>
            <a:picLocks noGrp="1" noChangeAspect="1"/>
          </p:cNvPicPr>
          <p:nvPr/>
        </p:nvPicPr>
        <p:blipFill>
          <a:blip r:embed="rId4"/>
          <a:stretch>
            <a:fillRect/>
          </a:stretch>
        </p:blipFill>
        <p:spPr bwMode="auto">
          <a:xfrm>
            <a:off x="1724205" y="1600200"/>
            <a:ext cx="8740541"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31</a:t>
            </a:fld>
            <a:endParaRPr lang="en-BG"/>
          </a:p>
        </p:txBody>
      </p:sp>
    </p:spTree>
  </p:cSld>
  <p:clrMapOvr>
    <a:masterClrMapping/>
  </p:clrMapOvr>
  <p:extLst>
    <p:ext uri="{6950BFC3-D8DA-4A85-94F7-54DA5524770B}">
      <p188:commentRel xmlns:p188="http://schemas.microsoft.com/office/powerpoint/2018/8/main" r:id="rId3"/>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Holding out a whole country</a:t>
            </a:r>
          </a:p>
        </p:txBody>
      </p:sp>
      <p:pic>
        <p:nvPicPr>
          <p:cNvPr id="3" name="Picture 1" descr="../../results/figures/full_talk_extracts/ft_transport.png"/>
          <p:cNvPicPr>
            <a:picLocks noGrp="1" noChangeAspect="1"/>
          </p:cNvPicPr>
          <p:nvPr/>
        </p:nvPicPr>
        <p:blipFill>
          <a:blip r:embed="rId3"/>
          <a:stretch>
            <a:fillRect/>
          </a:stretch>
        </p:blipFill>
        <p:spPr bwMode="auto">
          <a:xfrm>
            <a:off x="3762756" y="1600200"/>
            <a:ext cx="4663440"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32</a:t>
            </a:fld>
            <a:endParaRPr lang="en-BG"/>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Does the model track the survey, district by district?</a:t>
            </a:r>
          </a:p>
        </p:txBody>
      </p:sp>
      <p:pic>
        <p:nvPicPr>
          <p:cNvPr id="3" name="Picture 1" descr="../../results/figures/full_talk_extracts/ft_pred_vs_observed.png"/>
          <p:cNvPicPr>
            <a:picLocks noGrp="1" noChangeAspect="1"/>
          </p:cNvPicPr>
          <p:nvPr/>
        </p:nvPicPr>
        <p:blipFill>
          <a:blip r:embed="rId3"/>
          <a:stretch>
            <a:fillRect/>
          </a:stretch>
        </p:blipFill>
        <p:spPr bwMode="auto">
          <a:xfrm>
            <a:off x="502920" y="1600200"/>
            <a:ext cx="11183112" cy="4470543"/>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33</a:t>
            </a:fld>
            <a:endParaRPr lang="en-BG"/>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The live dashboard</a:t>
            </a:r>
          </a:p>
        </p:txBody>
      </p:sp>
      <p:pic>
        <p:nvPicPr>
          <p:cNvPr id="3" name="Picture 1" descr="../../results/figures/mnf15/figS_dashboard_start.png"/>
          <p:cNvPicPr>
            <a:picLocks noGrp="1" noChangeAspect="1"/>
          </p:cNvPicPr>
          <p:nvPr/>
        </p:nvPicPr>
        <p:blipFill>
          <a:blip r:embed="rId3"/>
          <a:stretch>
            <a:fillRect/>
          </a:stretch>
        </p:blipFill>
        <p:spPr bwMode="auto">
          <a:xfrm>
            <a:off x="2446902" y="1600200"/>
            <a:ext cx="7295147"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34</a:t>
            </a:fld>
            <a:endParaRPr lang="en-BG"/>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marL="0" lvl="0" indent="0">
              <a:buNone/>
            </a:pPr>
            <a:r>
              <a:t>Person-level models: a coin toss on proxies alone</a:t>
            </a:r>
          </a:p>
        </p:txBody>
      </p:sp>
      <p:pic>
        <p:nvPicPr>
          <p:cNvPr id="3" name="Picture 1" descr="../../results/figures/full_talk_extracts/ft_individual_level.png"/>
          <p:cNvPicPr>
            <a:picLocks noGrp="1" noChangeAspect="1"/>
          </p:cNvPicPr>
          <p:nvPr/>
        </p:nvPicPr>
        <p:blipFill>
          <a:blip r:embed="rId3"/>
          <a:stretch>
            <a:fillRect/>
          </a:stretch>
        </p:blipFill>
        <p:spPr bwMode="auto">
          <a:xfrm>
            <a:off x="3155963" y="1600200"/>
            <a:ext cx="5877025"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35</a:t>
            </a:fld>
            <a:endParaRPr lang="en-BG"/>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NF2026" id="{C297CF86-E7ED-3F4F-A7BA-F3C55265C4A3}" vid="{7623D2EC-82FD-2D4E-ADF7-7C90E80A226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146</TotalTime>
  <Words>6061</Words>
  <Application>Microsoft Office PowerPoint</Application>
  <PresentationFormat>Widescreen</PresentationFormat>
  <Paragraphs>322</Paragraphs>
  <Slides>35</Slides>
  <Notes>33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Aptos</vt:lpstr>
      <vt:lpstr>Aptos Display</vt:lpstr>
      <vt:lpstr>Arial</vt:lpstr>
      <vt:lpstr>Calibri</vt:lpstr>
      <vt:lpstr>Office Theme</vt:lpstr>
      <vt:lpstr>Predicting Micronutrient Deficiency Prevalence in Sub-Saharan Africa Using Proxy Indicators: A Multi-country Machine Learning Framework</vt:lpstr>
      <vt:lpstr>Introduction and Study Objectives </vt:lpstr>
      <vt:lpstr>PowerPoint Presentation</vt:lpstr>
      <vt:lpstr>Where the predictors come from</vt:lpstr>
      <vt:lpstr>We started from what causes deficiency, not from what data exist</vt:lpstr>
      <vt:lpstr>Learn where blood was drawn, apply everywhere, test on what it never saw</vt:lpstr>
      <vt:lpstr>How the model is built and how it is tested</vt:lpstr>
      <vt:lpstr>Example: all 260 of Ghana’s districts ranked</vt:lpstr>
      <vt:lpstr>Without any Ghanaian blood samples, the model ranks Ghana just as well as the survey</vt:lpstr>
      <vt:lpstr>Holding out a whole region</vt:lpstr>
      <vt:lpstr>Where the ranking works, nutrient by nutrient and country by country</vt:lpstr>
      <vt:lpstr>Accuracy by nutrient, against what the survey can show</vt:lpstr>
      <vt:lpstr>What variable domains drive the models? </vt:lpstr>
      <vt:lpstr>No survey at all? A first map, checked in six countries it never saw</vt:lpstr>
      <vt:lpstr>Some deficiencies are more predictable from proxy data</vt:lpstr>
      <vt:lpstr>Making the next survey count for more</vt:lpstr>
      <vt:lpstr>What the model can and cannot do for you</vt:lpstr>
      <vt:lpstr>What we found, and what we ask</vt:lpstr>
      <vt:lpstr>Appendix</vt:lpstr>
      <vt:lpstr>Is it just geography? The DHS-style geostatistical model</vt:lpstr>
      <vt:lpstr>How do I get a prevalence, not a rank?</vt:lpstr>
      <vt:lpstr>What we compared the model against</vt:lpstr>
      <vt:lpstr>The survey itself sets the ceiling</vt:lpstr>
      <vt:lpstr>What the model leans on, women’s outcomes</vt:lpstr>
      <vt:lpstr>Malawi: geography-driven surrogates</vt:lpstr>
      <vt:lpstr>How firmly each Côte d’Ivoire district is placed</vt:lpstr>
      <vt:lpstr>Which deficiencies can be mapped at district level at all?</vt:lpstr>
      <vt:lpstr>Does targeting reach more deficient people?</vt:lpstr>
      <vt:lpstr>The same comparison in district pairs</vt:lpstr>
      <vt:lpstr>Does each survey added help the others?</vt:lpstr>
      <vt:lpstr>The 2007 Côte d’Ivoire survey and the transported B12 ranking</vt:lpstr>
      <vt:lpstr>Holding out a whole country</vt:lpstr>
      <vt:lpstr>Does the model track the survey, district by district?</vt:lpstr>
      <vt:lpstr>The live dashboard</vt:lpstr>
      <vt:lpstr>Person-level models: a coin toss on proxies alone</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emplate/>
  <TotalTime>215</TotalTime>
  <Words>17</Words>
  <Application>Microsoft Office PowerPoint</Application>
  <PresentationFormat>Widescreen</PresentationFormat>
  <Paragraphs>7</Paragraphs>
  <Slides>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Aptos</vt:lpstr>
      <vt:lpstr>Aptos Display</vt:lpstr>
      <vt:lpstr>Arial</vt:lpstr>
      <vt:lpstr>Commissioner</vt:lpstr>
      <vt:lpstr>Commissioner SemiBold</vt:lpstr>
      <vt:lpstr>Office Theme</vt:lpstr>
      <vt:lpstr>PowerPoint Presentation</vt:lpstr>
      <vt:lpstr>Title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Micronutrient Deficiency Prevalence in Sub-Saharan Africa Using Proxy Indicators: A Multi-country Machine Learning Framework</dc:title>
  <dc:creator>Andrew N. Mertens (University of California, Berkeley) and Sonja Y. Hess (University of California, Davis)</dc:creator>
  <cp:keywords/>
  <cp:lastModifiedBy>Andrew Mertens</cp:lastModifiedBy>
  <cp:revision>7</cp:revision>
  <dcterms:created xsi:type="dcterms:W3CDTF">2026-09-27T15:07:04Z</dcterms:created>
  <dcterms:modified xsi:type="dcterms:W3CDTF">2026-09-27T21:18:42Z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2026-10-01</vt:lpwstr>
  </property>
  <property fmtid="{D5CDD505-2E9C-101B-9397-08002B2CF9AE}" pid="6" name="execute">
    <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labels">
    <vt:lpwstr/>
  </property>
  <property fmtid="{D5CDD505-2E9C-101B-9397-08002B2CF9AE}" pid="11" name="toc-title">
    <vt:lpwstr>Table of contents</vt:lpwstr>
  </property>
</Properties>
</file>