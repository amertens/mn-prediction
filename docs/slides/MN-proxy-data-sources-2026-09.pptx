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sldIdLst>
    <p:sldId id="339" r:id="rId2"/>
    <p:sldId id="340" r:id="rId3"/>
    <p:sldId id="257" r:id="rId4"/>
    <p:sldId id="258" r:id="rId5"/>
    <p:sldId id="259" r:id="rId6"/>
    <p:sldId id="260" r:id="rId7"/>
    <p:sldId id="261" r:id="rId8"/>
    <p:sldId id="262" r:id="rId9"/>
    <p:sldId id="263" r:id="rId10"/>
    <p:sldId id="264" r:id="rId11"/>
    <p:sldId id="265" r:id="rId12"/>
    <p:sldId id="2913" r:id="rId13"/>
    <p:sldId id="266" r:id="rId14"/>
    <p:sldId id="267" r:id="rId15"/>
    <p:sldId id="269" r:id="rId16"/>
    <p:sldId id="268" r:id="rId17"/>
    <p:sldId id="271" r:id="rId18"/>
    <p:sldId id="272" r:id="rId19"/>
    <p:sldId id="273"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478" autoAdjust="0"/>
  </p:normalViewPr>
  <p:slideViewPr>
    <p:cSldViewPr snapToGrid="0">
      <p:cViewPr varScale="1">
        <p:scale>
          <a:sx n="87" d="100"/>
          <a:sy n="87" d="100"/>
        </p:scale>
        <p:origin x="145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68F7-1A27-4717-A728-A996FAEDE383}" type="datetimeFigureOut">
              <a:rPr lang="en-GB" smtClean="0"/>
              <a:t>16/09/2026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43B92-3A2D-4964-BD32-AF28A47106C9}" type="slidenum">
              <a:rPr lang="en-GB" smtClean="0"/>
              <a:t>‹#›</a:t>
            </a:fld>
            <a:endParaRPr lang="en-GB"/>
          </a:p>
        </p:txBody>
      </p:sp>
    </p:spTree>
    <p:extLst>
      <p:ext uri="{BB962C8B-B14F-4D97-AF65-F5344CB8AC3E}">
        <p14:creationId xmlns:p14="http://schemas.microsoft.com/office/powerpoint/2010/main" val="158170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A43B92-3A2D-4964-BD32-AF28A47106C9}" type="slidenum">
              <a:rPr lang="en-GB" smtClean="0"/>
              <a:t>2</a:t>
            </a:fld>
            <a:endParaRPr lang="en-GB"/>
          </a:p>
        </p:txBody>
      </p:sp>
    </p:spTree>
    <p:extLst>
      <p:ext uri="{BB962C8B-B14F-4D97-AF65-F5344CB8AC3E}">
        <p14:creationId xmlns:p14="http://schemas.microsoft.com/office/powerpoint/2010/main" val="1039460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talk is about the right-hand side of the model: where the 570 columns come from, how each one gets from its native form to a district value, how we line them up with four surveys taken in four different years, and which of them the model leans on. The analysis deck covers what the ranking achieves; this one covers what it is made of. The leakage rule is the second bullet: a district aggregate of the same survey instance we score is excluded (docs/findings, LK-02), and where a MICS or DHS was fielded inside the biomarker survey’s own clusters those clusters are dropped from the aggregate (The Gambia 2018: 70 MICS clusters; Malawi 2015-16: 105 DHS clusters). The record behind the fourth bullet is the shared metadata file and results/tables/protocol_v2/variable_sheet.csv. One consequence of the first bullet: 45 of the 570 columns are national series with one value per country, and a value that is the same in every district cannot rank districts, so the models drop them when they are fitted.</a:t>
            </a:r>
          </a:p>
        </p:txBody>
      </p:sp>
      <p:sp>
        <p:nvSpPr>
          <p:cNvPr id="4" name="Slide Number Placeholder 3"/>
          <p:cNvSpPr>
            <a:spLocks noGrp="1"/>
          </p:cNvSpPr>
          <p:nvPr>
            <p:ph type="sldNum" sz="quarter" idx="10"/>
          </p:nvPr>
        </p:nvSpPr>
        <p:spPr/>
        <p:txBody>
          <a:bodyPr/>
          <a:lstStyle/>
          <a:p>
            <a:fld id="{E2A43B92-3A2D-4964-BD32-AF28A47106C9}"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Read the bar chart from the top. One harmonised set feeds every model: the in-country models use whatever a country has, the cross-country models the columns all four share, so the light segment (household budget survey diet items for two countries, RTFP prices for two, MIMI for Ghana, MICS items missing from one round, a few IHME surfaces) works at home and not abroad. Behind the set sits a larger extraction: about 740 columns per country in the raw files (1,968 distinct names across the four, mostly the same quantity under country-specific names), harmonised to a common vocabulary; what did not harmonise was used only in the pre-protocol models. The Earth Engine block is climate (TerraClimate at the survey year and as 30-year normals), land cover, night lights, built-up surface, vegetation and evapotranspiration, night-time land surface temperature; the satellite embedding is Google’s AlphaEarth, 64 numbers per district that summarise a year of imagery; soil is iSDA and SoilGrids, ten nutrient concentrations at two depths plus texture and pH; crops are MapSPAM’s 2010 allocation; livestock is GLW4. The health and nutrition surfaces are IHME’s modelled estimates (anaemia, child growth, WASH, education, ORS, HIV, malaria, vaccination) and the Malaria Atlas layers; ESPEN gives helminth endemicity. Prices come from WFP markets, the World Bank’s RTFP panel and FAOSTAT balances; fortification from GFDx. The public microdata blocks are new since 15 September: 30 indicators from the MICS files for all four countries and 15 diet and consumption indicators from the household budget surveys (IHS 2015/16, GLSS7, IHS4, SLIHS 2018). The DHS block is 150 district aggregates from the round paired with each survey (Ghana 2014, Malawi 2015-16, Sierra Leone 2013, The Gambia 2019-20), estimated with a cluster-level spatial model so every district has a value. Everything here is listed with its source, year and definition in results/tables/protocol_v2/variable_sheet.csv and in the dashboard’s catalogue.</a:t>
            </a:r>
          </a:p>
        </p:txBody>
      </p:sp>
      <p:sp>
        <p:nvSpPr>
          <p:cNvPr id="4" name="Slide Number Placeholder 3"/>
          <p:cNvSpPr>
            <a:spLocks noGrp="1"/>
          </p:cNvSpPr>
          <p:nvPr>
            <p:ph type="sldNum" sz="quarter" idx="10"/>
          </p:nvPr>
        </p:nvSpPr>
        <p:spPr/>
        <p:txBody>
          <a:bodyPr/>
          <a:lstStyle/>
          <a:p>
            <a:fld id="{E2A43B92-3A2D-4964-BD32-AF28A47106C9}" type="slidenum">
              <a:rPr lang="en-US"/>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Rasters are the easy case: exactextractr over the GADM polygon, weighting by WorldPop where the quantity is about people (the IHME surfaces) and by area where it is about land (climate, soil, greenness). Twelve of the IHME columns were still joined by district name until this week; the tabular files predate Ghana’s 2019 district splits and left 56 percent of Ghana empty, so they were re-extracted from the 5 km GeoTIFFs. Survey microdata with GPS goes point-in-polygon after the leakage clusters are removed, with a minimum of 30 households and 5 clusters per district before a district gets its own value; below that it takes the parent region’s value and is flagged. Ghana’s MICS 2017-18 identifies the ten old regions and Malawi’s MICS 2013-14 the 27 districts, so those blocks vary at that level only and every column carries a subnational flag saying so. National series are kept in the set for documentation and completeness, but a constant cannot rank districts; the fit-time policy removes 45 of them (FAOSTAT, most GFDx fields, WHO anaemia national estimates, VAS, FluNet).</a:t>
            </a:r>
          </a:p>
        </p:txBody>
      </p:sp>
      <p:sp>
        <p:nvSpPr>
          <p:cNvPr id="4" name="Slide Number Placeholder 3"/>
          <p:cNvSpPr>
            <a:spLocks noGrp="1"/>
          </p:cNvSpPr>
          <p:nvPr>
            <p:ph type="sldNum" sz="quarter" idx="10"/>
          </p:nvPr>
        </p:nvSpPr>
        <p:spPr/>
        <p:txBody>
          <a:bodyPr/>
          <a:lstStyle/>
          <a:p>
            <a:fld id="{E2A43B92-3A2D-4964-BD32-AF28A47106C9}" type="slidenum">
              <a:rPr lang="en-US"/>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spine is metadata/admin2_spine.csv; the helpers in R/admin2_keys.R do every join in the pipeline and a lint test (tests/testthat/test-admin2-join-lint.R) reads every script for a join on a bare Admin2 name. The p-codes came from OCHA’s COD-AB for all four countries this week, both directions, so an OCHA-coded source (IPC, ACLED, cluster surveys) joins without any matching. Fuzzy matching, where it is still needed, is Jaro-Winkler with a 0.15 cap and a review file that lists every non-exact match for a human to accept. The population defect: the dashboard’s population table had been deduplicated by district name, so Chikwawa’s TA Lundu and Nsanje’s TA Ngabu, Salima’s TA Pemba and Zomba’s TA Malemia lost one member each, two of them surveyed districts, and every population-weighted figure silently excluded them. Fixed 15 September from WorldPop density, and the population table is now asserted complete in the tests.</a:t>
            </a:r>
          </a:p>
        </p:txBody>
      </p:sp>
      <p:sp>
        <p:nvSpPr>
          <p:cNvPr id="4" name="Slide Number Placeholder 3"/>
          <p:cNvSpPr>
            <a:spLocks noGrp="1"/>
          </p:cNvSpPr>
          <p:nvPr>
            <p:ph type="sldNum" sz="quarter" idx="10"/>
          </p:nvPr>
        </p:nvSpPr>
        <p:spPr/>
        <p:txBody>
          <a:bodyPr/>
          <a:lstStyle/>
          <a:p>
            <a:fld id="{E2A43B92-3A2D-4964-BD32-AF28A47106C9}" type="slidenum">
              <a:rPr lang="en-US"/>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rules live in metadata/covariates/temporal_alignment.csv, 45 of them, one regular expression each: survey_year where an annual series exists (TerraClimate, MODIS NDVI, MAP, WorldPop density, WFP prices, RTFP windows), nearest available year where a series ends early (IHME’s child growth, education and WASH stop at 2017, anaemia and malaria at 2019), a fixed vintage where there is only one (AlphaEarth 2017, MapSPAM 2010, GLW 2015, RWI 2019), a per-country round for the household surveys, and static for soil, terrain, climate normals and zones. Climate and greenness enter as a 30-year normal plus the survey-year anomaly in standard-deviation units, which is what transports; the calendar-year series that lagged the survey by up to eight years were retired. Sierra Leone’s 2013 survey is the awkward one: AlphaEarth starts in 2017, Copernicus land cover in 2015, and the MICS round nearest it is 2017, so its gaps are the orange and red bands. Ghana’s are the DHS block: the round paired with the 2017 survey is the 2014 DHS, three years off for 140 columns. The gaps that apply everywhere are the single-vintage products: MapSPAM 2010, GLW 2015, WorldPop’s 2020 age-sex structure. The stamp is per column and per country (results/tables/predictor_alignment_2026-09-16.csv), and the audit lists everything three or more years off.</a:t>
            </a:r>
          </a:p>
        </p:txBody>
      </p:sp>
      <p:sp>
        <p:nvSpPr>
          <p:cNvPr id="4" name="Slide Number Placeholder 3"/>
          <p:cNvSpPr>
            <a:spLocks noGrp="1"/>
          </p:cNvSpPr>
          <p:nvPr>
            <p:ph type="sldNum" sz="quarter" idx="10"/>
          </p:nvPr>
        </p:nvSpPr>
        <p:spPr/>
        <p:txBody>
          <a:bodyPr/>
          <a:lstStyle/>
          <a:p>
            <a:fld id="{E2A43B92-3A2D-4964-BD32-AF28A47106C9}" type="slidenum">
              <a:rPr lang="en-US"/>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Why domains: 570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anaemia,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analyses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E2A43B92-3A2D-4964-BD32-AF28A47106C9}" type="slidenum">
              <a:rPr lang="en-US"/>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shell script runs the chain (scripts/covariates/rebuild_shared_tail.sh) and ends in an audit that fails the build on a domain-key collision, a column declared subnational that does not vary, or a join that fans out. The exclusion file has 22 rules and every rule states its evidence: a nitrogen layer whose medians differ thirtyfold between countries, an NDVI product declared available only to 2013, calendar-year series superseded by survey-year values. This week’s most instructive mistake was in the exclusions. A review labelled the soil dispersion bands and the 20-50 cm depth means “redundant” on a mechanistic argument, and the climate-and-soil result fell from 0.37 to 0.34 across districts and from 0.45 to 0.40 across regions. The bands correlate only 0.03 to 0.69 with the depth means, so the label was wrong; restoring them brought both numbers back. We now hold to one rule: nothing is added or regrouped because a score likes it, an exclusion whose stated premise fails on its own metric is reverted, and every set change is checked against the transport arms before a run. What a model can see is the last two rows: 525 columns vary within a country, of which 464 have a value in all four countries and so can be used to predict a new one. The rest are per-country data gaps: household budget diet indicators pending for Ghana and Sierra Leone, RTFP for The Gambia and Malawi only, MICS items absent from one round.</a:t>
            </a:r>
          </a:p>
        </p:txBody>
      </p:sp>
      <p:sp>
        <p:nvSpPr>
          <p:cNvPr id="4" name="Slide Number Placeholder 3"/>
          <p:cNvSpPr>
            <a:spLocks noGrp="1"/>
          </p:cNvSpPr>
          <p:nvPr>
            <p:ph type="sldNum" sz="quarter" idx="10"/>
          </p:nvPr>
        </p:nvSpPr>
        <p:spPr/>
        <p:txBody>
          <a:bodyPr/>
          <a:lstStyle/>
          <a:p>
            <a:fld id="{E2A43B92-3A2D-4964-BD32-AF28A47106C9}" type="slidenum">
              <a:rPr lang="en-US"/>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D7DEE-0538-7780-E068-AF4C5CF89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99398-B569-D222-6E0E-A98AC3700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DB2E2-D9D1-3344-49C2-40598AF5B5E3}"/>
              </a:ext>
            </a:extLst>
          </p:cNvPr>
          <p:cNvSpPr>
            <a:spLocks noGrp="1"/>
          </p:cNvSpPr>
          <p:nvPr>
            <p:ph type="body" idx="1"/>
          </p:nvPr>
        </p:nvSpPr>
        <p:spPr/>
        <p:txBody>
          <a:bodyPr/>
          <a:lstStyle/>
          <a:p>
            <a:pPr marL="457189" marR="0" lvl="0" indent="-457189"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No penalty other than computation time to add more algorithms</a:t>
            </a:r>
            <a:endParaRPr lang="en-US" sz="1600" dirty="0">
              <a:latin typeface="Arial"/>
              <a:cs typeface="Arial"/>
            </a:endParaRPr>
          </a:p>
          <a:p>
            <a:pPr marL="457189" indent="-457189">
              <a:buFont typeface="Arial" panose="020B0604020202020204" pitchFamily="34" charset="0"/>
              <a:buChar char="•"/>
            </a:pPr>
            <a:endParaRPr lang="en-US" sz="1600" dirty="0">
              <a:latin typeface="Arial"/>
              <a:cs typeface="Arial"/>
            </a:endParaRPr>
          </a:p>
          <a:p>
            <a:pPr marL="457189" indent="-457189">
              <a:buFont typeface="Arial" panose="020B0604020202020204" pitchFamily="34" charset="0"/>
              <a:buChar char="•"/>
            </a:pPr>
            <a:r>
              <a:rPr lang="en-US" sz="1600" dirty="0">
                <a:latin typeface="Arial"/>
                <a:cs typeface="Arial"/>
              </a:rPr>
              <a:t>Ensemble strengths:</a:t>
            </a:r>
          </a:p>
          <a:p>
            <a:pPr marL="1066773" lvl="1" indent="-457189">
              <a:buFont typeface="Arial" panose="020B0604020202020204" pitchFamily="34" charset="0"/>
              <a:buChar char="•"/>
            </a:pPr>
            <a:r>
              <a:rPr lang="en-US" sz="1600" dirty="0"/>
              <a:t>Diversity </a:t>
            </a:r>
          </a:p>
          <a:p>
            <a:pPr marL="1066773" lvl="1" indent="-457189">
              <a:buFont typeface="Arial" panose="020B0604020202020204" pitchFamily="34" charset="0"/>
              <a:buChar char="•"/>
            </a:pPr>
            <a:r>
              <a:rPr lang="en-US" sz="1600" dirty="0">
                <a:latin typeface="Arial"/>
                <a:cs typeface="Arial"/>
              </a:rPr>
              <a:t>Redundancy</a:t>
            </a:r>
          </a:p>
          <a:p>
            <a:pPr marL="1066773" lvl="1" indent="-457189">
              <a:buFont typeface="Arial" panose="020B0604020202020204" pitchFamily="34" charset="0"/>
              <a:buChar char="•"/>
            </a:pPr>
            <a:r>
              <a:rPr lang="en-US" sz="1600" dirty="0">
                <a:latin typeface="Arial"/>
                <a:cs typeface="Arial"/>
              </a:rPr>
              <a:t>Synergy</a:t>
            </a:r>
          </a:p>
          <a:p>
            <a:endParaRPr lang="en-US" dirty="0"/>
          </a:p>
        </p:txBody>
      </p:sp>
      <p:sp>
        <p:nvSpPr>
          <p:cNvPr id="4" name="Slide Number Placeholder 3">
            <a:extLst>
              <a:ext uri="{FF2B5EF4-FFF2-40B4-BE49-F238E27FC236}">
                <a16:creationId xmlns:a16="http://schemas.microsoft.com/office/drawing/2014/main" id="{933800EA-0692-B29E-23BD-FB00F835E244}"/>
              </a:ext>
            </a:extLst>
          </p:cNvPr>
          <p:cNvSpPr>
            <a:spLocks noGrp="1"/>
          </p:cNvSpPr>
          <p:nvPr>
            <p:ph type="sldNum" sz="quarter" idx="5"/>
          </p:nvPr>
        </p:nvSpPr>
        <p:spPr/>
        <p:txBody>
          <a:bodyPr/>
          <a:lstStyle/>
          <a:p>
            <a:fld id="{E2A43B92-3A2D-4964-BD32-AF28A47106C9}" type="slidenum">
              <a:rPr lang="en-GB" smtClean="0"/>
              <a:t>12</a:t>
            </a:fld>
            <a:endParaRPr lang="en-GB"/>
          </a:p>
        </p:txBody>
      </p:sp>
    </p:spTree>
    <p:extLst>
      <p:ext uri="{BB962C8B-B14F-4D97-AF65-F5344CB8AC3E}">
        <p14:creationId xmlns:p14="http://schemas.microsoft.com/office/powerpoint/2010/main" val="2710008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five largest weights per outcome in the pooled four-country fit, biomarker level, from results/tables/protocol_v2/index_importance_top.csv. These are individual columns, but the model is fitted at the district level: each weight is a column’s standardised contribution to the district index, projected back from the domain components (R/protocol_v2_importance.R), not a person-level effect. One gradient runs through all six outcomes: districts that are drier and grassier, less productive, more pastoral, poorer and with more stunted children rank worse on every deficiency. The groups behind it are the physical environment: satellite imagery, climate and soil carry 40% to 54% of the index inside a country depending on the outcome. The weights locate deficiency; they do not say what to change. Livestock density ranking positive for iron and B12 is the ecology of dry, poor, pastoral zones rather than a dietary effect of cattle. The twenty-layer list for child iron, in the appendix, is the same story as a list a country could rebuild itself; all twenty keep their direction in every leave-one-country-out fit.</a:t>
            </a:r>
          </a:p>
        </p:txBody>
      </p:sp>
      <p:sp>
        <p:nvSpPr>
          <p:cNvPr id="4" name="Slide Number Placeholder 3"/>
          <p:cNvSpPr>
            <a:spLocks noGrp="1"/>
          </p:cNvSpPr>
          <p:nvPr>
            <p:ph type="sldNum" sz="quarter" idx="10"/>
          </p:nvPr>
        </p:nvSpPr>
        <p:spPr/>
        <p:txBody>
          <a:bodyPr/>
          <a:lstStyle/>
          <a:p>
            <a:fld id="{E2A43B92-3A2D-4964-BD32-AF28A47106C9}" type="slidenum">
              <a:rPr lang="en-US"/>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Malawi, women’s B12, biomarker level: the cell with the best in-fill ranking of the 24 (Spearman 0.70; The Gambia child vitamin A is next at 0.69). The index is linear in the rank-</a:t>
            </a:r>
            <a:r>
              <a:rPr dirty="0" err="1"/>
              <a:t>normalised</a:t>
            </a:r>
            <a:r>
              <a:rPr dirty="0"/>
              <a:t> columns, so every column has a </a:t>
            </a:r>
            <a:r>
              <a:rPr dirty="0" err="1"/>
              <a:t>standardised</a:t>
            </a:r>
            <a:r>
              <a:rPr dirty="0"/>
              <a:t> weight in a fit; the twenty largest are shown. Intervals: the index was refitted on 300 bootstrap resamples of Malawi’s 87 surveyed districts, with the domain components re-oriented and the weights re-learned each time; the bar is the 5th to 95th percentile and the hollow marker the weight in the full fit. Every one of the twenty keeps its sign in at least 95 percent of refits. The level target is the negated log concentration, so a positive weight means worse status. Read the signs as district-level associations in Malawi: districts where more infants are fed meat or fish, more households ate fish last week and the wealth score is higher have better B12 status, and districts that are poorer, grassier, further from permanent water and with more pigs have worse. The diet items point the way a nutritional story would expect; the </a:t>
            </a:r>
            <a:r>
              <a:rPr dirty="0" err="1"/>
              <a:t>anaemia</a:t>
            </a:r>
            <a:r>
              <a:rPr dirty="0"/>
              <a:t> and malaria surfaces run the other way (more </a:t>
            </a:r>
            <a:r>
              <a:rPr dirty="0" err="1"/>
              <a:t>anaemia</a:t>
            </a:r>
            <a:r>
              <a:rPr dirty="0"/>
              <a:t> and malaria, better B12), which is the lakeshore and the south against the uplands, and a reminder that these are ecological associations, not effects. Script: scripts/</a:t>
            </a:r>
            <a:r>
              <a:rPr dirty="0" err="1"/>
              <a:t>policy_deck</a:t>
            </a:r>
            <a:r>
              <a:rPr dirty="0"/>
              <a:t>/09_vim_forest_example.R, which takes any country, outcome and target through environment variables. B12 is measured in three of the four surveys, so this cell does not enter the cross-country transport figures.</a:t>
            </a:r>
          </a:p>
        </p:txBody>
      </p:sp>
      <p:sp>
        <p:nvSpPr>
          <p:cNvPr id="4" name="Slide Number Placeholder 3"/>
          <p:cNvSpPr>
            <a:spLocks noGrp="1"/>
          </p:cNvSpPr>
          <p:nvPr>
            <p:ph type="sldNum" sz="quarter" idx="10"/>
          </p:nvPr>
        </p:nvSpPr>
        <p:spPr/>
        <p:txBody>
          <a:bodyPr/>
          <a:lstStyle/>
          <a:p>
            <a:fld id="{E2A43B92-3A2D-4964-BD32-AF28A47106C9}" type="slidenum">
              <a:rPr lang="en-US"/>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domain_ablation_loco.csv, leave-one-country-out, biomarker level. Positive means the domain is load-bearing for a country the model has never seen. Climate (+0.03) and soil (+0.03) carry most; the anaemia surfaces, agriculture and greenness are behind them. The survey-derived constructs sit at or below zero: water and sanitation and education help inside a country and not across borders, and by source the MICS microdata block is the one whose removal improves transport (-0.02). The physical environment carries the signal, and it is also what a country without a survey can download. The two-domain climate-and-soil index reaches 0.38 across districts; it was found on these four countries and is pre-registered for the fifth. These ablations are scored on the open and public-microdata columns, the set the analysis deck’s headline models use; that deck also reports the arms with the DHS block in and with the open layers alone.</a:t>
            </a:r>
          </a:p>
        </p:txBody>
      </p:sp>
      <p:sp>
        <p:nvSpPr>
          <p:cNvPr id="4" name="Slide Number Placeholder 3"/>
          <p:cNvSpPr>
            <a:spLocks noGrp="1"/>
          </p:cNvSpPr>
          <p:nvPr>
            <p:ph type="sldNum" sz="quarter" idx="10"/>
          </p:nvPr>
        </p:nvSpPr>
        <p:spPr/>
        <p:txBody>
          <a:bodyPr/>
          <a:lstStyle/>
          <a:p>
            <a:fld id="{E2A43B92-3A2D-4964-BD32-AF28A47106C9}" type="slidenum">
              <a:rPr lang="en-US"/>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results/tables/protocol_v2/index_importance_columns.csv, scope “loco”: the index fitted on three countries, projected back to columns, for each of the 22 held-out country and outcome combinations on the biomarker level; a column counts once per fit in which it is among the twenty largest standardised weights. Every column named on the slide keeps the same sign in every fit where it appears (33 of the 39 columns that recur in five or more fits are unanimous). The pattern is the one on the previous two slides seen from the other side: what a model trained elsewhere reaches for in a new country is the physical environment and the modelled nutrition surfaces built from it, not the country’s own survey items. The staple-price and malaria signs are worth saying aloud: relatively expensive staples mark market-integrated, better-off districts, and high malaria transmission marks the wet, productive lowlands where diets are more diverse; neither is a mechanism to act on.</a:t>
            </a:r>
          </a:p>
        </p:txBody>
      </p:sp>
      <p:sp>
        <p:nvSpPr>
          <p:cNvPr id="4" name="Slide Number Placeholder 3"/>
          <p:cNvSpPr>
            <a:spLocks noGrp="1"/>
          </p:cNvSpPr>
          <p:nvPr>
            <p:ph type="sldNum" sz="quarter" idx="10"/>
          </p:nvPr>
        </p:nvSpPr>
        <p:spPr/>
        <p:txBody>
          <a:bodyPr/>
          <a:lstStyle/>
          <a:p>
            <a:fld id="{E2A43B92-3A2D-4964-BD32-AF28A47106C9}" type="slidenum">
              <a:rPr lang="en-US"/>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Tier: open means downloadable by anyone; public survey microdata means a registration with the survey programme; DHS means the DHS Program’s access agreement. Year rule names are the rule identifiers in metadata/covariates/temporal_alignment.csv. The largest gap is the worst case over the four countries; static layers have none.</a:t>
            </a:r>
          </a:p>
        </p:txBody>
      </p:sp>
      <p:sp>
        <p:nvSpPr>
          <p:cNvPr id="4" name="Slide Number Placeholder 3"/>
          <p:cNvSpPr>
            <a:spLocks noGrp="1"/>
          </p:cNvSpPr>
          <p:nvPr>
            <p:ph type="sldNum" sz="quarter" idx="10"/>
          </p:nvPr>
        </p:nvSpPr>
        <p:spPr/>
        <p:txBody>
          <a:bodyPr/>
          <a:lstStyle/>
          <a:p>
            <a:fld id="{E2A43B92-3A2D-4964-BD32-AF28A47106C9}" type="slidenum">
              <a:rPr lang="en-US"/>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index_importance_top.csv, child iron, biomarker level, the twenty largest weights in the pooled fit. All twenty keep the same direction in every leave-one-country-out fit; ten of the twenty also keep it in each country’s own fit, the stricter test. None requires a blood sample. The twenty-layer equal-weight composite scores about the same as the full index for a new country, so a short auditable list loses nothing.</a:t>
            </a:r>
          </a:p>
        </p:txBody>
      </p:sp>
      <p:sp>
        <p:nvSpPr>
          <p:cNvPr id="4" name="Slide Number Placeholder 3"/>
          <p:cNvSpPr>
            <a:spLocks noGrp="1"/>
          </p:cNvSpPr>
          <p:nvPr>
            <p:ph type="sldNum" sz="quarter" idx="10"/>
          </p:nvPr>
        </p:nvSpPr>
        <p:spPr/>
        <p:txBody>
          <a:bodyPr/>
          <a:lstStyle/>
          <a:p>
            <a:fld id="{E2A43B92-3A2D-4964-BD32-AF28A47106C9}" type="slidenum">
              <a:rPr lang="en-US"/>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Modelled surfaces are estimates produced by someone else’s model (IHME, MAP, the MIMI dietary inadequacy estimates); they are included by default and the protocol has a switch (V2_DROP_MODELLED=1) to score without them. Columns that do not vary within a country are the national constants dropped at fit time.</a:t>
            </a:r>
          </a:p>
        </p:txBody>
      </p:sp>
      <p:sp>
        <p:nvSpPr>
          <p:cNvPr id="4" name="Slide Number Placeholder 3"/>
          <p:cNvSpPr>
            <a:spLocks noGrp="1"/>
          </p:cNvSpPr>
          <p:nvPr>
            <p:ph type="sldNum" sz="quarter" idx="10"/>
          </p:nvPr>
        </p:nvSpPr>
        <p:spPr/>
        <p:txBody>
          <a:bodyPr/>
          <a:lstStyle/>
          <a:p>
            <a:fld id="{E2A43B92-3A2D-4964-BD32-AF28A47106C9}" type="slidenum">
              <a:rPr lang="en-US"/>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extBox 6">
            <a:extLst>
              <a:ext uri="{FF2B5EF4-FFF2-40B4-BE49-F238E27FC236}">
                <a16:creationId xmlns:a16="http://schemas.microsoft.com/office/drawing/2014/main" id="{DBB63C27-DD85-8476-375D-EB16F5A6ADB0}"/>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8446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E1C6CC3-8F74-EDBB-C900-31606B76182B}"/>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76138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7FA9F931-E5AE-F452-FEFF-7D5D0E3B6E23}"/>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7926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6792EBD8-CFBD-9CA6-B371-55CFC4AF9CA6}"/>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41771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A3B38-64E1-431E-BEA9-6580D124E61C}" type="datetimeFigureOut">
              <a:rPr lang="en-GB" smtClean="0"/>
              <a:t>16/09/2026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58A8C7-06A4-4826-B9D4-6AFEE114A5DB}" type="slidenum">
              <a:rPr lang="en-GB" smtClean="0"/>
              <a:t>‹#›</a:t>
            </a:fld>
            <a:endParaRPr lang="en-GB"/>
          </a:p>
        </p:txBody>
      </p:sp>
      <p:sp>
        <p:nvSpPr>
          <p:cNvPr id="10" name="TextBox 9">
            <a:extLst>
              <a:ext uri="{FF2B5EF4-FFF2-40B4-BE49-F238E27FC236}">
                <a16:creationId xmlns:a16="http://schemas.microsoft.com/office/drawing/2014/main" id="{B9BEB713-6C4A-8232-ACDD-6FA7B502F31D}"/>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08707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A3B38-64E1-431E-BEA9-6580D124E61C}" type="datetimeFigureOut">
              <a:rPr lang="en-GB" smtClean="0"/>
              <a:t>16/09/2026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58A8C7-06A4-4826-B9D4-6AFEE114A5DB}" type="slidenum">
              <a:rPr lang="en-GB" smtClean="0"/>
              <a:t>‹#›</a:t>
            </a:fld>
            <a:endParaRPr lang="en-GB"/>
          </a:p>
        </p:txBody>
      </p:sp>
      <p:sp>
        <p:nvSpPr>
          <p:cNvPr id="6" name="TextBox 5">
            <a:extLst>
              <a:ext uri="{FF2B5EF4-FFF2-40B4-BE49-F238E27FC236}">
                <a16:creationId xmlns:a16="http://schemas.microsoft.com/office/drawing/2014/main" id="{EDB3E47D-A329-EFAE-BBAF-0D11D0605DC9}"/>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0963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3B38-64E1-431E-BEA9-6580D124E61C}" type="datetimeFigureOut">
              <a:rPr lang="en-GB" smtClean="0"/>
              <a:t>16/09/2026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58A8C7-06A4-4826-B9D4-6AFEE114A5DB}" type="slidenum">
              <a:rPr lang="en-GB" smtClean="0"/>
              <a:t>‹#›</a:t>
            </a:fld>
            <a:endParaRPr lang="en-GB"/>
          </a:p>
        </p:txBody>
      </p:sp>
      <p:sp>
        <p:nvSpPr>
          <p:cNvPr id="5" name="TextBox 4">
            <a:extLst>
              <a:ext uri="{FF2B5EF4-FFF2-40B4-BE49-F238E27FC236}">
                <a16:creationId xmlns:a16="http://schemas.microsoft.com/office/drawing/2014/main" id="{B1477A53-470A-CC57-81B5-B7AEF3704FA4}"/>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93284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0FEBA640-1EAD-1558-1817-2B531018C357}"/>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14940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Tree>
    <p:extLst>
      <p:ext uri="{BB962C8B-B14F-4D97-AF65-F5344CB8AC3E}">
        <p14:creationId xmlns:p14="http://schemas.microsoft.com/office/powerpoint/2010/main" val="235678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EC4FC9C3-F78F-EDAD-63EB-2DBDD24DFA28}"/>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7715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22A0341-EDCF-508D-A7A9-B7A8B8B805AF}"/>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291448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A3B38-64E1-431E-BEA9-6580D124E61C}" type="datetimeFigureOut">
              <a:rPr lang="en-GB" smtClean="0"/>
              <a:t>16/09/2026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A8C7-06A4-4826-B9D4-6AFEE114A5DB}" type="slidenum">
              <a:rPr lang="en-GB" smtClean="0"/>
              <a:t>‹#›</a:t>
            </a:fld>
            <a:endParaRPr lang="en-GB"/>
          </a:p>
        </p:txBody>
      </p:sp>
      <p:pic>
        <p:nvPicPr>
          <p:cNvPr id="7" name="Image 9">
            <a:extLst>
              <a:ext uri="{FF2B5EF4-FFF2-40B4-BE49-F238E27FC236}">
                <a16:creationId xmlns:a16="http://schemas.microsoft.com/office/drawing/2014/main" id="{C0C6644B-E5FD-0AA4-EE55-11FB45AB938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45200"/>
            <a:ext cx="12192000" cy="812800"/>
          </a:xfrm>
          <a:prstGeom prst="rect">
            <a:avLst/>
          </a:prstGeom>
        </p:spPr>
      </p:pic>
    </p:spTree>
    <p:extLst>
      <p:ext uri="{BB962C8B-B14F-4D97-AF65-F5344CB8AC3E}">
        <p14:creationId xmlns:p14="http://schemas.microsoft.com/office/powerpoint/2010/main" val="31755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28D7-B05A-42D0-994A-874F574E0E2B}"/>
              </a:ext>
            </a:extLst>
          </p:cNvPr>
          <p:cNvSpPr>
            <a:spLocks noGrp="1"/>
          </p:cNvSpPr>
          <p:nvPr>
            <p:ph type="ctrTitle"/>
          </p:nvPr>
        </p:nvSpPr>
        <p:spPr/>
        <p:txBody>
          <a:bodyPr>
            <a:normAutofit/>
          </a:bodyPr>
          <a:lstStyle/>
          <a:p>
            <a:pPr algn="ctr"/>
            <a:r>
              <a:rPr lang="en-US" dirty="0"/>
              <a:t>Proxy dataset creation</a:t>
            </a:r>
            <a:br>
              <a:rPr lang="en-US" dirty="0"/>
            </a:br>
            <a:r>
              <a:rPr lang="en-US" sz="2200" b="1" i="1" dirty="0"/>
              <a:t>Andrew Mertens (University of California, Berkeley)</a:t>
            </a:r>
            <a:br>
              <a:rPr lang="en-US" dirty="0"/>
            </a:br>
            <a:br>
              <a:rPr lang="en-US" sz="2500" dirty="0"/>
            </a:br>
            <a:endParaRPr lang="en-US" sz="4400" dirty="0"/>
          </a:p>
        </p:txBody>
      </p:sp>
      <p:pic>
        <p:nvPicPr>
          <p:cNvPr id="9" name="Picture 8">
            <a:extLst>
              <a:ext uri="{FF2B5EF4-FFF2-40B4-BE49-F238E27FC236}">
                <a16:creationId xmlns:a16="http://schemas.microsoft.com/office/drawing/2014/main" id="{81D13CCB-C71F-464D-8008-490D815B1144}"/>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097279" y="4844207"/>
            <a:ext cx="1788795" cy="336621"/>
          </a:xfrm>
          <a:prstGeom prst="rect">
            <a:avLst/>
          </a:prstGeom>
        </p:spPr>
      </p:pic>
      <p:pic>
        <p:nvPicPr>
          <p:cNvPr id="10" name="Picture 9">
            <a:extLst>
              <a:ext uri="{FF2B5EF4-FFF2-40B4-BE49-F238E27FC236}">
                <a16:creationId xmlns:a16="http://schemas.microsoft.com/office/drawing/2014/main" id="{573AE941-7939-4EC5-AF0E-14282484C49C}"/>
              </a:ext>
            </a:extLst>
          </p:cNvPr>
          <p:cNvPicPr/>
          <p:nvPr/>
        </p:nvPicPr>
        <p:blipFill>
          <a:blip r:embed="rId3"/>
          <a:stretch>
            <a:fillRect/>
          </a:stretch>
        </p:blipFill>
        <p:spPr>
          <a:xfrm>
            <a:off x="4828562" y="4763481"/>
            <a:ext cx="1788795" cy="482682"/>
          </a:xfrm>
          <a:prstGeom prst="rect">
            <a:avLst/>
          </a:prstGeom>
        </p:spPr>
      </p:pic>
      <p:pic>
        <p:nvPicPr>
          <p:cNvPr id="11" name="Picture 10">
            <a:extLst>
              <a:ext uri="{FF2B5EF4-FFF2-40B4-BE49-F238E27FC236}">
                <a16:creationId xmlns:a16="http://schemas.microsoft.com/office/drawing/2014/main" id="{7221145A-18FA-4C4C-9A89-D4769AC6470F}"/>
              </a:ext>
            </a:extLst>
          </p:cNvPr>
          <p:cNvPicPr/>
          <p:nvPr/>
        </p:nvPicPr>
        <p:blipFill>
          <a:blip r:embed="rId4"/>
          <a:stretch>
            <a:fillRect/>
          </a:stretch>
        </p:blipFill>
        <p:spPr>
          <a:xfrm>
            <a:off x="8868224" y="4671574"/>
            <a:ext cx="1788794" cy="711026"/>
          </a:xfrm>
          <a:prstGeom prst="rect">
            <a:avLst/>
          </a:prstGeom>
        </p:spPr>
      </p:pic>
      <p:sp>
        <p:nvSpPr>
          <p:cNvPr id="5" name="TextBox 4">
            <a:extLst>
              <a:ext uri="{FF2B5EF4-FFF2-40B4-BE49-F238E27FC236}">
                <a16:creationId xmlns:a16="http://schemas.microsoft.com/office/drawing/2014/main" id="{5E78FE3D-F75C-C9AE-5DD5-558073EAD102}"/>
              </a:ext>
            </a:extLst>
          </p:cNvPr>
          <p:cNvSpPr txBox="1"/>
          <p:nvPr/>
        </p:nvSpPr>
        <p:spPr>
          <a:xfrm>
            <a:off x="1620387" y="5613077"/>
            <a:ext cx="8513379" cy="369332"/>
          </a:xfrm>
          <a:prstGeom prst="rect">
            <a:avLst/>
          </a:prstGeom>
          <a:noFill/>
        </p:spPr>
        <p:txBody>
          <a:bodyPr wrap="square" rtlCol="0">
            <a:spAutoFit/>
          </a:bodyPr>
          <a:lstStyle/>
          <a:p>
            <a:pPr algn="ctr"/>
            <a:r>
              <a:rPr lang="en-US" dirty="0"/>
              <a:t>We are grateful for the funding support by the Gates Foundation</a:t>
            </a:r>
          </a:p>
        </p:txBody>
      </p:sp>
    </p:spTree>
    <p:extLst>
      <p:ext uri="{BB962C8B-B14F-4D97-AF65-F5344CB8AC3E}">
        <p14:creationId xmlns:p14="http://schemas.microsoft.com/office/powerpoint/2010/main" val="2800003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A693541-B577-A479-01ED-C1690596B59F}"/>
              </a:ext>
            </a:extLst>
          </p:cNvPr>
          <p:cNvPicPr>
            <a:picLocks noChangeAspect="1"/>
          </p:cNvPicPr>
          <p:nvPr/>
        </p:nvPicPr>
        <p:blipFill>
          <a:blip r:embed="rId3"/>
          <a:stretch>
            <a:fillRect/>
          </a:stretch>
        </p:blipFill>
        <p:spPr>
          <a:xfrm>
            <a:off x="3663580" y="0"/>
            <a:ext cx="8528420" cy="6858000"/>
          </a:xfrm>
          <a:prstGeom prst="rect">
            <a:avLst/>
          </a:prstGeom>
        </p:spPr>
      </p:pic>
      <p:sp>
        <p:nvSpPr>
          <p:cNvPr id="2" name="Title 1">
            <a:extLst>
              <a:ext uri="{FF2B5EF4-FFF2-40B4-BE49-F238E27FC236}">
                <a16:creationId xmlns:a16="http://schemas.microsoft.com/office/drawing/2014/main" id="{786A1D10-F7D0-4BDD-9672-FB92EFD0E65B}"/>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597C87CC-FCFD-4D79-9541-B32988536F66}"/>
              </a:ext>
            </a:extLst>
          </p:cNvPr>
          <p:cNvSpPr>
            <a:spLocks noGrp="1"/>
          </p:cNvSpPr>
          <p:nvPr>
            <p:ph idx="1"/>
          </p:nvPr>
        </p:nvSpPr>
        <p:spPr>
          <a:xfrm>
            <a:off x="76062" y="1690688"/>
            <a:ext cx="3953246" cy="4023360"/>
          </a:xfrm>
        </p:spPr>
        <p:txBody>
          <a:bodyPr>
            <a:normAutofit/>
          </a:bodyPr>
          <a:lstStyle/>
          <a:p>
            <a:pPr>
              <a:buFont typeface="+mj-lt"/>
              <a:buAutoNum type="arabicPeriod"/>
            </a:pPr>
            <a:r>
              <a:rPr lang="en-US" sz="1800" dirty="0"/>
              <a:t>To generate national and sub-national prevalence estimates for micronutrient deficiency using a wide range of proxy indicators and validated against the prevalence of these same vitamin and mineral deficiencies (VMD) determined by biomarker assessment</a:t>
            </a:r>
          </a:p>
          <a:p>
            <a:pPr>
              <a:buFont typeface="+mj-lt"/>
              <a:buAutoNum type="arabicPeriod"/>
            </a:pPr>
            <a:r>
              <a:rPr lang="en-US" sz="1800" dirty="0"/>
              <a:t>To identify subnational regions at greatest risk of deficiency</a:t>
            </a:r>
          </a:p>
          <a:p>
            <a:pPr>
              <a:buFont typeface="+mj-lt"/>
              <a:buAutoNum type="arabicPeriod"/>
            </a:pPr>
            <a:r>
              <a:rPr lang="en-US" sz="1800" dirty="0"/>
              <a:t>To engage with national stakeholders and decision-makers throughout project</a:t>
            </a:r>
          </a:p>
        </p:txBody>
      </p:sp>
      <p:pic>
        <p:nvPicPr>
          <p:cNvPr id="5" name="Picture 4">
            <a:extLst>
              <a:ext uri="{FF2B5EF4-FFF2-40B4-BE49-F238E27FC236}">
                <a16:creationId xmlns:a16="http://schemas.microsoft.com/office/drawing/2014/main" id="{4FBA4BF7-0442-930A-7A8A-370E2837910E}"/>
              </a:ext>
            </a:extLst>
          </p:cNvPr>
          <p:cNvPicPr>
            <a:picLocks noChangeAspect="1"/>
          </p:cNvPicPr>
          <p:nvPr/>
        </p:nvPicPr>
        <p:blipFill>
          <a:blip r:embed="rId4"/>
          <a:stretch>
            <a:fillRect/>
          </a:stretch>
        </p:blipFill>
        <p:spPr>
          <a:xfrm>
            <a:off x="10669695" y="2228174"/>
            <a:ext cx="1522305" cy="2123760"/>
          </a:xfrm>
          <a:prstGeom prst="rect">
            <a:avLst/>
          </a:prstGeom>
        </p:spPr>
      </p:pic>
    </p:spTree>
    <p:extLst>
      <p:ext uri="{BB962C8B-B14F-4D97-AF65-F5344CB8AC3E}">
        <p14:creationId xmlns:p14="http://schemas.microsoft.com/office/powerpoint/2010/main" val="376750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Proxy requirements</a:t>
            </a:r>
            <a:endParaRPr dirty="0"/>
          </a:p>
        </p:txBody>
      </p:sp>
      <p:sp>
        <p:nvSpPr>
          <p:cNvPr id="3" name="Content Placeholder 2"/>
          <p:cNvSpPr>
            <a:spLocks noGrp="1"/>
          </p:cNvSpPr>
          <p:nvPr>
            <p:ph idx="1"/>
          </p:nvPr>
        </p:nvSpPr>
        <p:spPr/>
        <p:txBody>
          <a:bodyPr/>
          <a:lstStyle/>
          <a:p>
            <a:pPr lvl="0"/>
            <a:r>
              <a:rPr sz="1800" dirty="0"/>
              <a:t>Available for every district of every country, surveyed or not, from a </a:t>
            </a:r>
            <a:r>
              <a:rPr lang="en-US" sz="1800" dirty="0"/>
              <a:t>non-DUA source</a:t>
            </a:r>
            <a:endParaRPr sz="1800" dirty="0"/>
          </a:p>
          <a:p>
            <a:r>
              <a:rPr sz="1800" dirty="0"/>
              <a:t>Independent of the outcome</a:t>
            </a:r>
            <a:r>
              <a:rPr lang="en-US" sz="1800" dirty="0"/>
              <a:t> but plausibly related to the outcomes</a:t>
            </a:r>
          </a:p>
          <a:p>
            <a:pPr lvl="0"/>
            <a:r>
              <a:rPr sz="1800" dirty="0"/>
              <a:t>Placed at the survey year, or as close to it as the source allows, with the gap recorded.</a:t>
            </a:r>
            <a:endParaRPr lang="en-US" sz="1800" dirty="0"/>
          </a:p>
          <a:p>
            <a:pPr lvl="0"/>
            <a:r>
              <a:rPr lang="en-US" sz="1800" dirty="0"/>
              <a:t>Using any type of data: direct survey responses, calculated indices, remote sensed layers, and modeled estimates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Predictor sources: </a:t>
            </a:r>
            <a:r>
              <a:rPr dirty="0"/>
              <a:t>land, climate, agriculture</a:t>
            </a:r>
          </a:p>
        </p:txBody>
      </p:sp>
      <p:graphicFrame>
        <p:nvGraphicFramePr>
          <p:cNvPr id="6" name="Content Placeholder 5"/>
          <p:cNvGraphicFramePr>
            <a:graphicFrameLocks noGrp="1"/>
          </p:cNvGraphicFramePr>
          <p:nvPr>
            <p:ph idx="1"/>
          </p:nvPr>
        </p:nvGraphicFramePr>
        <p:xfrm>
          <a:off x="838200" y="1816100"/>
          <a:ext cx="10515600" cy="292608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7594600">
                  <a:extLst>
                    <a:ext uri="{9D8B030D-6E8A-4147-A177-3AD203B41FA5}">
                      <a16:colId xmlns:a16="http://schemas.microsoft.com/office/drawing/2014/main" val="20001"/>
                    </a:ext>
                  </a:extLst>
                </a:gridCol>
              </a:tblGrid>
              <a:tr h="0">
                <a:tc>
                  <a:txBody>
                    <a:bodyPr/>
                    <a:lstStyle/>
                    <a:p>
                      <a:pPr marL="0" lvl="0" indent="0" algn="l">
                        <a:buNone/>
                      </a:pPr>
                      <a:r>
                        <a:rPr sz="1000"/>
                        <a:t>Source</a:t>
                      </a:r>
                    </a:p>
                  </a:txBody>
                  <a:tcPr/>
                </a:tc>
                <a:tc>
                  <a:txBody>
                    <a:bodyPr/>
                    <a:lstStyle/>
                    <a:p>
                      <a:pPr marL="0" lvl="0" indent="0" algn="l">
                        <a:buNone/>
                      </a:pPr>
                      <a:r>
                        <a:rPr sz="1000"/>
                        <a:t>What it is</a:t>
                      </a:r>
                    </a:p>
                  </a:txBody>
                  <a:tcPr/>
                </a:tc>
                <a:extLst>
                  <a:ext uri="{0D108BD9-81ED-4DB2-BD59-A6C34878D82A}">
                    <a16:rowId xmlns:a16="http://schemas.microsoft.com/office/drawing/2014/main" val="10000"/>
                  </a:ext>
                </a:extLst>
              </a:tr>
              <a:tr h="0">
                <a:tc>
                  <a:txBody>
                    <a:bodyPr/>
                    <a:lstStyle/>
                    <a:p>
                      <a:pPr marL="0" lvl="0" indent="0" algn="l">
                        <a:buNone/>
                      </a:pPr>
                      <a:r>
                        <a:rPr sz="1000"/>
                        <a:t>Earth Engine: TerraClimate</a:t>
                      </a:r>
                    </a:p>
                  </a:txBody>
                  <a:tcPr/>
                </a:tc>
                <a:tc>
                  <a:txBody>
                    <a:bodyPr/>
                    <a:lstStyle/>
                    <a:p>
                      <a:pPr marL="0" lvl="0" indent="0" algn="l">
                        <a:buNone/>
                      </a:pPr>
                      <a:r>
                        <a:rPr sz="1000"/>
                        <a:t>Monthly climate (rain, temperature, evapotranspiration, soil moisture), 4 km; survey year and 1991-2020 normals</a:t>
                      </a:r>
                    </a:p>
                  </a:txBody>
                  <a:tcPr/>
                </a:tc>
                <a:extLst>
                  <a:ext uri="{0D108BD9-81ED-4DB2-BD59-A6C34878D82A}">
                    <a16:rowId xmlns:a16="http://schemas.microsoft.com/office/drawing/2014/main" val="10001"/>
                  </a:ext>
                </a:extLst>
              </a:tr>
              <a:tr h="0">
                <a:tc>
                  <a:txBody>
                    <a:bodyPr/>
                    <a:lstStyle/>
                    <a:p>
                      <a:pPr marL="0" lvl="0" indent="0" algn="l">
                        <a:buNone/>
                      </a:pPr>
                      <a:r>
                        <a:rPr sz="1000"/>
                        <a:t>Earth Engine: MODIS</a:t>
                      </a:r>
                    </a:p>
                  </a:txBody>
                  <a:tcPr/>
                </a:tc>
                <a:tc>
                  <a:txBody>
                    <a:bodyPr/>
                    <a:lstStyle/>
                    <a:p>
                      <a:pPr marL="0" lvl="0" indent="0" algn="l">
                        <a:buNone/>
                      </a:pPr>
                      <a:r>
                        <a:rPr sz="1000"/>
                        <a:t>Land-surface temperature (1 km), NDVI and EVI (250 m) at the survey year, plus climatology and anomaly</a:t>
                      </a:r>
                    </a:p>
                  </a:txBody>
                  <a:tcPr/>
                </a:tc>
                <a:extLst>
                  <a:ext uri="{0D108BD9-81ED-4DB2-BD59-A6C34878D82A}">
                    <a16:rowId xmlns:a16="http://schemas.microsoft.com/office/drawing/2014/main" val="10002"/>
                  </a:ext>
                </a:extLst>
              </a:tr>
              <a:tr h="0">
                <a:tc>
                  <a:txBody>
                    <a:bodyPr/>
                    <a:lstStyle/>
                    <a:p>
                      <a:pPr marL="0" lvl="0" indent="0" algn="l">
                        <a:buNone/>
                      </a:pPr>
                      <a:r>
                        <a:rPr sz="1000"/>
                        <a:t>Earth Engine: land cover, lights, built-up</a:t>
                      </a:r>
                    </a:p>
                  </a:txBody>
                  <a:tcPr/>
                </a:tc>
                <a:tc>
                  <a:txBody>
                    <a:bodyPr/>
                    <a:lstStyle/>
                    <a:p>
                      <a:pPr marL="0" lvl="0" indent="0" algn="l">
                        <a:buNone/>
                      </a:pPr>
                      <a:r>
                        <a:rPr sz="1000"/>
                        <a:t>Copernicus land-cover fractions, night lights, GHSL built-up surface, human modification</a:t>
                      </a:r>
                    </a:p>
                  </a:txBody>
                  <a:tcPr/>
                </a:tc>
                <a:extLst>
                  <a:ext uri="{0D108BD9-81ED-4DB2-BD59-A6C34878D82A}">
                    <a16:rowId xmlns:a16="http://schemas.microsoft.com/office/drawing/2014/main" val="10003"/>
                  </a:ext>
                </a:extLst>
              </a:tr>
              <a:tr h="0">
                <a:tc>
                  <a:txBody>
                    <a:bodyPr/>
                    <a:lstStyle/>
                    <a:p>
                      <a:pPr marL="0" lvl="0" indent="0" algn="l">
                        <a:buNone/>
                      </a:pPr>
                      <a:r>
                        <a:rPr sz="1000"/>
                        <a:t>Earth Engine: productivity</a:t>
                      </a:r>
                    </a:p>
                  </a:txBody>
                  <a:tcPr/>
                </a:tc>
                <a:tc>
                  <a:txBody>
                    <a:bodyPr/>
                    <a:lstStyle/>
                    <a:p>
                      <a:pPr marL="0" lvl="0" indent="0" algn="l">
                        <a:buNone/>
                      </a:pPr>
                      <a:r>
                        <a:rPr sz="1000"/>
                        <a:t>MODIS NPP and GPP, WaPOR evapotranspiration, leaf area, grassland cover</a:t>
                      </a:r>
                    </a:p>
                  </a:txBody>
                  <a:tcPr/>
                </a:tc>
                <a:extLst>
                  <a:ext uri="{0D108BD9-81ED-4DB2-BD59-A6C34878D82A}">
                    <a16:rowId xmlns:a16="http://schemas.microsoft.com/office/drawing/2014/main" val="10004"/>
                  </a:ext>
                </a:extLst>
              </a:tr>
              <a:tr h="0">
                <a:tc>
                  <a:txBody>
                    <a:bodyPr/>
                    <a:lstStyle/>
                    <a:p>
                      <a:pPr marL="0" lvl="0" indent="0" algn="l">
                        <a:buNone/>
                      </a:pPr>
                      <a:r>
                        <a:rPr sz="1000"/>
                        <a:t>AlphaEarth</a:t>
                      </a:r>
                    </a:p>
                  </a:txBody>
                  <a:tcPr/>
                </a:tc>
                <a:tc>
                  <a:txBody>
                    <a:bodyPr/>
                    <a:lstStyle/>
                    <a:p>
                      <a:pPr marL="0" lvl="0" indent="0" algn="l">
                        <a:buNone/>
                      </a:pPr>
                      <a:r>
                        <a:rPr sz="1000"/>
                        <a:t>Google’s 64-number satellite embedding of a year of imagery, 10 m, 2017</a:t>
                      </a:r>
                    </a:p>
                  </a:txBody>
                  <a:tcPr/>
                </a:tc>
                <a:extLst>
                  <a:ext uri="{0D108BD9-81ED-4DB2-BD59-A6C34878D82A}">
                    <a16:rowId xmlns:a16="http://schemas.microsoft.com/office/drawing/2014/main" val="10005"/>
                  </a:ext>
                </a:extLst>
              </a:tr>
              <a:tr h="0">
                <a:tc>
                  <a:txBody>
                    <a:bodyPr/>
                    <a:lstStyle/>
                    <a:p>
                      <a:pPr marL="0" lvl="0" indent="0" algn="l">
                        <a:buNone/>
                      </a:pPr>
                      <a:r>
                        <a:rPr sz="1000"/>
                        <a:t>SoilGrids / iSDA</a:t>
                      </a:r>
                    </a:p>
                  </a:txBody>
                  <a:tcPr/>
                </a:tc>
                <a:tc>
                  <a:txBody>
                    <a:bodyPr/>
                    <a:lstStyle/>
                    <a:p>
                      <a:pPr marL="0" lvl="0" indent="0" algn="l">
                        <a:buNone/>
                      </a:pPr>
                      <a:r>
                        <a:rPr sz="1000"/>
                        <a:t>Soil nutrients at two depths, pH, texture, organic carbon (iSDA 30 m, SoilGrids 250 m)</a:t>
                      </a:r>
                    </a:p>
                  </a:txBody>
                  <a:tcPr/>
                </a:tc>
                <a:extLst>
                  <a:ext uri="{0D108BD9-81ED-4DB2-BD59-A6C34878D82A}">
                    <a16:rowId xmlns:a16="http://schemas.microsoft.com/office/drawing/2014/main" val="10006"/>
                  </a:ext>
                </a:extLst>
              </a:tr>
              <a:tr h="0">
                <a:tc>
                  <a:txBody>
                    <a:bodyPr/>
                    <a:lstStyle/>
                    <a:p>
                      <a:pPr marL="0" lvl="0" indent="0" algn="l">
                        <a:buNone/>
                      </a:pPr>
                      <a:r>
                        <a:rPr sz="1000"/>
                        <a:t>Koppen / AEZ</a:t>
                      </a:r>
                    </a:p>
                  </a:txBody>
                  <a:tcPr/>
                </a:tc>
                <a:tc>
                  <a:txBody>
                    <a:bodyPr/>
                    <a:lstStyle/>
                    <a:p>
                      <a:pPr marL="0" lvl="0" indent="0" algn="l">
                        <a:buNone/>
                      </a:pPr>
                      <a:r>
                        <a:rPr sz="1000"/>
                        <a:t>Climate classes and agro-ecological zones: class shares and purity</a:t>
                      </a:r>
                    </a:p>
                  </a:txBody>
                  <a:tcPr/>
                </a:tc>
                <a:extLst>
                  <a:ext uri="{0D108BD9-81ED-4DB2-BD59-A6C34878D82A}">
                    <a16:rowId xmlns:a16="http://schemas.microsoft.com/office/drawing/2014/main" val="10007"/>
                  </a:ext>
                </a:extLst>
              </a:tr>
              <a:tr h="0">
                <a:tc>
                  <a:txBody>
                    <a:bodyPr/>
                    <a:lstStyle/>
                    <a:p>
                      <a:pPr marL="0" lvl="0" indent="0" algn="l">
                        <a:buNone/>
                      </a:pPr>
                      <a:r>
                        <a:rPr sz="1000"/>
                        <a:t>JRC Surface Water / LSIB</a:t>
                      </a:r>
                    </a:p>
                  </a:txBody>
                  <a:tcPr/>
                </a:tc>
                <a:tc>
                  <a:txBody>
                    <a:bodyPr/>
                    <a:lstStyle/>
                    <a:p>
                      <a:pPr marL="0" lvl="0" indent="0" algn="l">
                        <a:buNone/>
                      </a:pPr>
                      <a:r>
                        <a:rPr sz="1000"/>
                        <a:t>Distance to permanent and seasonal water and to the coast</a:t>
                      </a:r>
                    </a:p>
                  </a:txBody>
                  <a:tcPr/>
                </a:tc>
                <a:extLst>
                  <a:ext uri="{0D108BD9-81ED-4DB2-BD59-A6C34878D82A}">
                    <a16:rowId xmlns:a16="http://schemas.microsoft.com/office/drawing/2014/main" val="10008"/>
                  </a:ext>
                </a:extLst>
              </a:tr>
              <a:tr h="0">
                <a:tc>
                  <a:txBody>
                    <a:bodyPr/>
                    <a:lstStyle/>
                    <a:p>
                      <a:pPr marL="0" lvl="0" indent="0" algn="l">
                        <a:buNone/>
                      </a:pPr>
                      <a:r>
                        <a:rPr sz="1000"/>
                        <a:t>MapSPAM</a:t>
                      </a:r>
                    </a:p>
                  </a:txBody>
                  <a:tcPr/>
                </a:tc>
                <a:tc>
                  <a:txBody>
                    <a:bodyPr/>
                    <a:lstStyle/>
                    <a:p>
                      <a:pPr marL="0" lvl="0" indent="0" algn="l">
                        <a:buNone/>
                      </a:pPr>
                      <a:r>
                        <a:rPr sz="1000"/>
                        <a:t>Crop area and production by crop, 10 km, 2010</a:t>
                      </a:r>
                    </a:p>
                  </a:txBody>
                  <a:tcPr/>
                </a:tc>
                <a:extLst>
                  <a:ext uri="{0D108BD9-81ED-4DB2-BD59-A6C34878D82A}">
                    <a16:rowId xmlns:a16="http://schemas.microsoft.com/office/drawing/2014/main" val="10009"/>
                  </a:ext>
                </a:extLst>
              </a:tr>
              <a:tr h="0">
                <a:tc>
                  <a:txBody>
                    <a:bodyPr/>
                    <a:lstStyle/>
                    <a:p>
                      <a:pPr marL="0" lvl="0" indent="0" algn="l">
                        <a:buNone/>
                      </a:pPr>
                      <a:r>
                        <a:rPr sz="1000"/>
                        <a:t>Gridded Livestock of the World</a:t>
                      </a:r>
                    </a:p>
                  </a:txBody>
                  <a:tcPr/>
                </a:tc>
                <a:tc>
                  <a:txBody>
                    <a:bodyPr/>
                    <a:lstStyle/>
                    <a:p>
                      <a:pPr marL="0" lvl="0" indent="0" algn="l">
                        <a:buNone/>
                      </a:pPr>
                      <a:r>
                        <a:rPr sz="1000"/>
                        <a:t>Cattle, sheep, goats, pigs and poultry per km2, 10 km, 2015</a:t>
                      </a:r>
                    </a:p>
                  </a:txBody>
                  <a:tcPr/>
                </a:tc>
                <a:extLst>
                  <a:ext uri="{0D108BD9-81ED-4DB2-BD59-A6C34878D82A}">
                    <a16:rowId xmlns:a16="http://schemas.microsoft.com/office/drawing/2014/main" val="10010"/>
                  </a:ext>
                </a:extLst>
              </a:tr>
              <a:tr h="0">
                <a:tc>
                  <a:txBody>
                    <a:bodyPr/>
                    <a:lstStyle/>
                    <a:p>
                      <a:pPr marL="0" lvl="0" indent="0" algn="l">
                        <a:buNone/>
                      </a:pPr>
                      <a:r>
                        <a:rPr sz="1000"/>
                        <a:t>WorldPop / GHSL / GPW / RWI</a:t>
                      </a:r>
                    </a:p>
                  </a:txBody>
                  <a:tcPr/>
                </a:tc>
                <a:tc>
                  <a:txBody>
                    <a:bodyPr/>
                    <a:lstStyle/>
                    <a:p>
                      <a:pPr marL="0" lvl="0" indent="0" algn="l">
                        <a:buNone/>
                      </a:pPr>
                      <a:r>
                        <a:rPr sz="1000"/>
                        <a:t>Population, age-sex structure and density; Meta’s relative wealth index</a:t>
                      </a: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Predictor sources: </a:t>
            </a:r>
            <a:r>
              <a:rPr dirty="0"/>
              <a:t>health, food, households</a:t>
            </a:r>
          </a:p>
        </p:txBody>
      </p:sp>
      <p:graphicFrame>
        <p:nvGraphicFramePr>
          <p:cNvPr id="6" name="Content Placeholder 5"/>
          <p:cNvGraphicFramePr>
            <a:graphicFrameLocks noGrp="1"/>
          </p:cNvGraphicFramePr>
          <p:nvPr>
            <p:ph idx="1"/>
          </p:nvPr>
        </p:nvGraphicFramePr>
        <p:xfrm>
          <a:off x="838200" y="1816100"/>
          <a:ext cx="10515600" cy="3169920"/>
        </p:xfrm>
        <a:graphic>
          <a:graphicData uri="http://schemas.openxmlformats.org/drawingml/2006/table">
            <a:tbl>
              <a:tblPr firstRow="1" bandRow="1">
                <a:tableStyleId>{5C22544A-7EE6-4342-B048-85BDC9FD1C3A}</a:tableStyleId>
              </a:tblPr>
              <a:tblGrid>
                <a:gridCol w="2336800">
                  <a:extLst>
                    <a:ext uri="{9D8B030D-6E8A-4147-A177-3AD203B41FA5}">
                      <a16:colId xmlns:a16="http://schemas.microsoft.com/office/drawing/2014/main" val="20000"/>
                    </a:ext>
                  </a:extLst>
                </a:gridCol>
                <a:gridCol w="8178800">
                  <a:extLst>
                    <a:ext uri="{9D8B030D-6E8A-4147-A177-3AD203B41FA5}">
                      <a16:colId xmlns:a16="http://schemas.microsoft.com/office/drawing/2014/main" val="20001"/>
                    </a:ext>
                  </a:extLst>
                </a:gridCol>
              </a:tblGrid>
              <a:tr h="0">
                <a:tc>
                  <a:txBody>
                    <a:bodyPr/>
                    <a:lstStyle/>
                    <a:p>
                      <a:pPr marL="0" lvl="0" indent="0" algn="l">
                        <a:buNone/>
                      </a:pPr>
                      <a:r>
                        <a:rPr sz="1000"/>
                        <a:t>Source</a:t>
                      </a:r>
                    </a:p>
                  </a:txBody>
                  <a:tcPr/>
                </a:tc>
                <a:tc>
                  <a:txBody>
                    <a:bodyPr/>
                    <a:lstStyle/>
                    <a:p>
                      <a:pPr marL="0" lvl="0" indent="0" algn="l">
                        <a:buNone/>
                      </a:pPr>
                      <a:r>
                        <a:rPr sz="1000"/>
                        <a:t>What it is</a:t>
                      </a:r>
                    </a:p>
                  </a:txBody>
                  <a:tcPr/>
                </a:tc>
                <a:extLst>
                  <a:ext uri="{0D108BD9-81ED-4DB2-BD59-A6C34878D82A}">
                    <a16:rowId xmlns:a16="http://schemas.microsoft.com/office/drawing/2014/main" val="10000"/>
                  </a:ext>
                </a:extLst>
              </a:tr>
              <a:tr h="0">
                <a:tc>
                  <a:txBody>
                    <a:bodyPr/>
                    <a:lstStyle/>
                    <a:p>
                      <a:pPr marL="0" lvl="0" indent="0" algn="l">
                        <a:buNone/>
                      </a:pPr>
                      <a:r>
                        <a:rPr sz="1000"/>
                        <a:t>IHME modelled surfaces</a:t>
                      </a:r>
                    </a:p>
                  </a:txBody>
                  <a:tcPr/>
                </a:tc>
                <a:tc>
                  <a:txBody>
                    <a:bodyPr/>
                    <a:lstStyle/>
                    <a:p>
                      <a:pPr marL="0" lvl="0" indent="0" algn="l">
                        <a:buNone/>
                      </a:pPr>
                      <a:r>
                        <a:rPr sz="1000"/>
                        <a:t>5 km modelled surfaces: child growth, anaemia, WASH, education, ORS, HIV, malaria, measles vaccination</a:t>
                      </a:r>
                    </a:p>
                  </a:txBody>
                  <a:tcPr/>
                </a:tc>
                <a:extLst>
                  <a:ext uri="{0D108BD9-81ED-4DB2-BD59-A6C34878D82A}">
                    <a16:rowId xmlns:a16="http://schemas.microsoft.com/office/drawing/2014/main" val="10001"/>
                  </a:ext>
                </a:extLst>
              </a:tr>
              <a:tr h="0">
                <a:tc>
                  <a:txBody>
                    <a:bodyPr/>
                    <a:lstStyle/>
                    <a:p>
                      <a:pPr marL="0" lvl="0" indent="0" algn="l">
                        <a:buNone/>
                      </a:pPr>
                      <a:r>
                        <a:rPr sz="1000"/>
                        <a:t>Malaria Atlas Project</a:t>
                      </a:r>
                    </a:p>
                  </a:txBody>
                  <a:tcPr/>
                </a:tc>
                <a:tc>
                  <a:txBody>
                    <a:bodyPr/>
                    <a:lstStyle/>
                    <a:p>
                      <a:pPr marL="0" lvl="0" indent="0" algn="l">
                        <a:buNone/>
                      </a:pPr>
                      <a:r>
                        <a:rPr sz="1000"/>
                        <a:t>Parasite rate, incidence, mortality, net use and spraying, 5 km, at the survey year</a:t>
                      </a:r>
                    </a:p>
                  </a:txBody>
                  <a:tcPr/>
                </a:tc>
                <a:extLst>
                  <a:ext uri="{0D108BD9-81ED-4DB2-BD59-A6C34878D82A}">
                    <a16:rowId xmlns:a16="http://schemas.microsoft.com/office/drawing/2014/main" val="10002"/>
                  </a:ext>
                </a:extLst>
              </a:tr>
              <a:tr h="0">
                <a:tc>
                  <a:txBody>
                    <a:bodyPr/>
                    <a:lstStyle/>
                    <a:p>
                      <a:pPr marL="0" lvl="0" indent="0" algn="l">
                        <a:buNone/>
                      </a:pPr>
                      <a:r>
                        <a:rPr sz="1000"/>
                        <a:t>WHO ESPEN</a:t>
                      </a:r>
                    </a:p>
                  </a:txBody>
                  <a:tcPr/>
                </a:tc>
                <a:tc>
                  <a:txBody>
                    <a:bodyPr/>
                    <a:lstStyle/>
                    <a:p>
                      <a:pPr marL="0" lvl="0" indent="0" algn="l">
                        <a:buNone/>
                      </a:pPr>
                      <a:r>
                        <a:rPr sz="1000"/>
                        <a:t>Helminth endemicity and mass-treatment coverage by implementation unit</a:t>
                      </a:r>
                    </a:p>
                  </a:txBody>
                  <a:tcPr/>
                </a:tc>
                <a:extLst>
                  <a:ext uri="{0D108BD9-81ED-4DB2-BD59-A6C34878D82A}">
                    <a16:rowId xmlns:a16="http://schemas.microsoft.com/office/drawing/2014/main" val="10003"/>
                  </a:ext>
                </a:extLst>
              </a:tr>
              <a:tr h="0">
                <a:tc>
                  <a:txBody>
                    <a:bodyPr/>
                    <a:lstStyle/>
                    <a:p>
                      <a:pPr marL="0" lvl="0" indent="0" algn="l">
                        <a:buNone/>
                      </a:pPr>
                      <a:r>
                        <a:rPr sz="1000"/>
                        <a:t>WHO anaemia; UNICEF VAS; WHO FluNet</a:t>
                      </a:r>
                    </a:p>
                  </a:txBody>
                  <a:tcPr/>
                </a:tc>
                <a:tc>
                  <a:txBody>
                    <a:bodyPr/>
                    <a:lstStyle/>
                    <a:p>
                      <a:pPr marL="0" lvl="0" indent="0" algn="l">
                        <a:buNone/>
                      </a:pPr>
                      <a:r>
                        <a:rPr sz="1000"/>
                        <a:t>National series: anaemia prevalence, vitamin A supplementation, influenza counts</a:t>
                      </a:r>
                    </a:p>
                  </a:txBody>
                  <a:tcPr/>
                </a:tc>
                <a:extLst>
                  <a:ext uri="{0D108BD9-81ED-4DB2-BD59-A6C34878D82A}">
                    <a16:rowId xmlns:a16="http://schemas.microsoft.com/office/drawing/2014/main" val="10004"/>
                  </a:ext>
                </a:extLst>
              </a:tr>
              <a:tr h="0">
                <a:tc>
                  <a:txBody>
                    <a:bodyPr/>
                    <a:lstStyle/>
                    <a:p>
                      <a:pPr marL="0" lvl="0" indent="0" algn="l">
                        <a:buNone/>
                      </a:pPr>
                      <a:r>
                        <a:rPr sz="1000"/>
                        <a:t>WFP market prices; World Bank RTFP</a:t>
                      </a:r>
                    </a:p>
                  </a:txBody>
                  <a:tcPr/>
                </a:tc>
                <a:tc>
                  <a:txBody>
                    <a:bodyPr/>
                    <a:lstStyle/>
                    <a:p>
                      <a:pPr marL="0" lvl="0" indent="0" algn="l">
                        <a:buNone/>
                      </a:pPr>
                      <a:r>
                        <a:rPr sz="1000"/>
                        <a:t>Monthly market food prices, distance-weighted to districts over the survey year (RTFP: Gambia, Malawi)</a:t>
                      </a:r>
                    </a:p>
                  </a:txBody>
                  <a:tcPr/>
                </a:tc>
                <a:extLst>
                  <a:ext uri="{0D108BD9-81ED-4DB2-BD59-A6C34878D82A}">
                    <a16:rowId xmlns:a16="http://schemas.microsoft.com/office/drawing/2014/main" val="10005"/>
                  </a:ext>
                </a:extLst>
              </a:tr>
              <a:tr h="0">
                <a:tc>
                  <a:txBody>
                    <a:bodyPr/>
                    <a:lstStyle/>
                    <a:p>
                      <a:pPr marL="0" lvl="0" indent="0" algn="l">
                        <a:buNone/>
                      </a:pPr>
                      <a:r>
                        <a:rPr sz="1000"/>
                        <a:t>FAOSTAT; HFID</a:t>
                      </a:r>
                    </a:p>
                  </a:txBody>
                  <a:tcPr/>
                </a:tc>
                <a:tc>
                  <a:txBody>
                    <a:bodyPr/>
                    <a:lstStyle/>
                    <a:p>
                      <a:pPr marL="0" lvl="0" indent="0" algn="l">
                        <a:buNone/>
                      </a:pPr>
                      <a:r>
                        <a:rPr sz="1000"/>
                        <a:t>National food balance sheets; FEWS NET / IPC food-security phases and indicators</a:t>
                      </a:r>
                    </a:p>
                  </a:txBody>
                  <a:tcPr/>
                </a:tc>
                <a:extLst>
                  <a:ext uri="{0D108BD9-81ED-4DB2-BD59-A6C34878D82A}">
                    <a16:rowId xmlns:a16="http://schemas.microsoft.com/office/drawing/2014/main" val="10006"/>
                  </a:ext>
                </a:extLst>
              </a:tr>
              <a:tr h="0">
                <a:tc>
                  <a:txBody>
                    <a:bodyPr/>
                    <a:lstStyle/>
                    <a:p>
                      <a:pPr marL="0" lvl="0" indent="0" algn="l">
                        <a:buNone/>
                      </a:pPr>
                      <a:r>
                        <a:rPr sz="1000"/>
                        <a:t>GFDx</a:t>
                      </a:r>
                    </a:p>
                  </a:txBody>
                  <a:tcPr/>
                </a:tc>
                <a:tc>
                  <a:txBody>
                    <a:bodyPr/>
                    <a:lstStyle/>
                    <a:p>
                      <a:pPr marL="0" lvl="0" indent="0" algn="l">
                        <a:buNone/>
                      </a:pPr>
                      <a:r>
                        <a:rPr sz="1000"/>
                        <a:t>Fortification standards and coverage by food vehicle, mostly national</a:t>
                      </a:r>
                    </a:p>
                  </a:txBody>
                  <a:tcPr/>
                </a:tc>
                <a:extLst>
                  <a:ext uri="{0D108BD9-81ED-4DB2-BD59-A6C34878D82A}">
                    <a16:rowId xmlns:a16="http://schemas.microsoft.com/office/drawing/2014/main" val="10007"/>
                  </a:ext>
                </a:extLst>
              </a:tr>
              <a:tr h="0">
                <a:tc>
                  <a:txBody>
                    <a:bodyPr/>
                    <a:lstStyle/>
                    <a:p>
                      <a:pPr marL="0" lvl="0" indent="0" algn="l">
                        <a:buNone/>
                      </a:pPr>
                      <a:r>
                        <a:rPr sz="1000"/>
                        <a:t>MIMI (Tang et al. 2026)</a:t>
                      </a:r>
                    </a:p>
                  </a:txBody>
                  <a:tcPr/>
                </a:tc>
                <a:tc>
                  <a:txBody>
                    <a:bodyPr/>
                    <a:lstStyle/>
                    <a:p>
                      <a:pPr marL="0" lvl="0" indent="0" algn="l">
                        <a:buNone/>
                      </a:pPr>
                      <a:r>
                        <a:rPr sz="1000"/>
                        <a:t>Modelled dietary micronutrient inadequacy from GLSS7, Ghana regions</a:t>
                      </a:r>
                    </a:p>
                  </a:txBody>
                  <a:tcPr/>
                </a:tc>
                <a:extLst>
                  <a:ext uri="{0D108BD9-81ED-4DB2-BD59-A6C34878D82A}">
                    <a16:rowId xmlns:a16="http://schemas.microsoft.com/office/drawing/2014/main" val="10008"/>
                  </a:ext>
                </a:extLst>
              </a:tr>
              <a:tr h="0">
                <a:tc>
                  <a:txBody>
                    <a:bodyPr/>
                    <a:lstStyle/>
                    <a:p>
                      <a:pPr marL="0" lvl="0" indent="0" algn="l">
                        <a:buNone/>
                      </a:pPr>
                      <a:r>
                        <a:rPr sz="1000"/>
                        <a:t>DHS</a:t>
                      </a:r>
                    </a:p>
                  </a:txBody>
                  <a:tcPr/>
                </a:tc>
                <a:tc>
                  <a:txBody>
                    <a:bodyPr/>
                    <a:lstStyle/>
                    <a:p>
                      <a:pPr marL="0" lvl="0" indent="0" algn="l">
                        <a:buNone/>
                      </a:pPr>
                      <a:r>
                        <a:rPr sz="1000"/>
                        <a:t>150 district indicators from the paired round, cluster spatial model</a:t>
                      </a:r>
                    </a:p>
                  </a:txBody>
                  <a:tcPr/>
                </a:tc>
                <a:extLst>
                  <a:ext uri="{0D108BD9-81ED-4DB2-BD59-A6C34878D82A}">
                    <a16:rowId xmlns:a16="http://schemas.microsoft.com/office/drawing/2014/main" val="10009"/>
                  </a:ext>
                </a:extLst>
              </a:tr>
              <a:tr h="0">
                <a:tc>
                  <a:txBody>
                    <a:bodyPr/>
                    <a:lstStyle/>
                    <a:p>
                      <a:pPr marL="0" lvl="0" indent="0" algn="l">
                        <a:buNone/>
                      </a:pPr>
                      <a:r>
                        <a:rPr sz="1000"/>
                        <a:t>MICS microdata; MICS via WHO HEAT</a:t>
                      </a:r>
                    </a:p>
                  </a:txBody>
                  <a:tcPr/>
                </a:tc>
                <a:tc>
                  <a:txBody>
                    <a:bodyPr/>
                    <a:lstStyle/>
                    <a:p>
                      <a:pPr marL="0" lvl="0" indent="0" algn="l">
                        <a:buNone/>
                      </a:pPr>
                      <a:r>
                        <a:rPr sz="1000"/>
                        <a:t>30 indicators from the public microdata (WASH, wealth, education, child feeding, health); 19 regional indicators via WHO HEAT</a:t>
                      </a:r>
                    </a:p>
                  </a:txBody>
                  <a:tcPr/>
                </a:tc>
                <a:extLst>
                  <a:ext uri="{0D108BD9-81ED-4DB2-BD59-A6C34878D82A}">
                    <a16:rowId xmlns:a16="http://schemas.microsoft.com/office/drawing/2014/main" val="10010"/>
                  </a:ext>
                </a:extLst>
              </a:tr>
              <a:tr h="0">
                <a:tc>
                  <a:txBody>
                    <a:bodyPr/>
                    <a:lstStyle/>
                    <a:p>
                      <a:pPr marL="0" lvl="0" indent="0" algn="l">
                        <a:buNone/>
                      </a:pPr>
                      <a:r>
                        <a:rPr sz="1000"/>
                        <a:t>Household budget surveys (HCES)</a:t>
                      </a:r>
                    </a:p>
                  </a:txBody>
                  <a:tcPr/>
                </a:tc>
                <a:tc>
                  <a:txBody>
                    <a:bodyPr/>
                    <a:lstStyle/>
                    <a:p>
                      <a:pPr marL="0" lvl="0" indent="0" algn="l">
                        <a:buNone/>
                      </a:pPr>
                      <a:r>
                        <a:rPr sz="1000"/>
                        <a:t>Food share, own production, consumption level, 7-day food groups (IHS, GLSS7, IHS4, SLIHS)</a:t>
                      </a:r>
                    </a:p>
                  </a:txBody>
                  <a:tcPr/>
                </a:tc>
                <a:extLst>
                  <a:ext uri="{0D108BD9-81ED-4DB2-BD59-A6C34878D82A}">
                    <a16:rowId xmlns:a16="http://schemas.microsoft.com/office/drawing/2014/main" val="10011"/>
                  </a:ext>
                </a:extLst>
              </a:tr>
              <a:tr h="0">
                <a:tc>
                  <a:txBody>
                    <a:bodyPr/>
                    <a:lstStyle/>
                    <a:p>
                      <a:pPr marL="0" lvl="0" indent="0" algn="l">
                        <a:buNone/>
                      </a:pPr>
                      <a:r>
                        <a:rPr sz="1000"/>
                        <a:t>Global Data Lab</a:t>
                      </a:r>
                    </a:p>
                  </a:txBody>
                  <a:tcPr/>
                </a:tc>
                <a:tc>
                  <a:txBody>
                    <a:bodyPr/>
                    <a:lstStyle/>
                    <a:p>
                      <a:pPr marL="0" lvl="0" indent="0" algn="l">
                        <a:buNone/>
                      </a:pPr>
                      <a:r>
                        <a:rPr sz="1000"/>
                        <a:t>Subnational human development index</a:t>
                      </a: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Proxy predictor counts</a:t>
            </a:r>
            <a:endParaRPr dirty="0"/>
          </a:p>
        </p:txBody>
      </p:sp>
      <p:sp>
        <p:nvSpPr>
          <p:cNvPr id="3" name="Content Placeholder 2"/>
          <p:cNvSpPr>
            <a:spLocks noGrp="1"/>
          </p:cNvSpPr>
          <p:nvPr>
            <p:ph sz="half" idx="1"/>
          </p:nvPr>
        </p:nvSpPr>
        <p:spPr/>
        <p:txBody>
          <a:bodyPr/>
          <a:lstStyle/>
          <a:p>
            <a:pPr marL="0" lvl="0" indent="0">
              <a:buNone/>
            </a:pPr>
            <a:r>
              <a:rPr sz="1800" dirty="0"/>
              <a:t>570 </a:t>
            </a:r>
            <a:r>
              <a:rPr lang="en-US" sz="1800" dirty="0"/>
              <a:t>harmonized variables</a:t>
            </a:r>
            <a:r>
              <a:rPr sz="1800" dirty="0"/>
              <a:t> from 28 sources. 510 exist in all four countries and can serve a model for a new country; the other 60 exist in one to three and are used inside the countries that have them.</a:t>
            </a:r>
          </a:p>
        </p:txBody>
      </p:sp>
      <p:pic>
        <p:nvPicPr>
          <p:cNvPr id="4" name="Picture 1" descr="MN-proxy-data-sources-2026-09_files/figure-pptx/sources-1.png"/>
          <p:cNvPicPr>
            <a:picLocks noGrp="1" noChangeAspect="1"/>
          </p:cNvPicPr>
          <p:nvPr/>
        </p:nvPicPr>
        <p:blipFill>
          <a:blip r:embed="rId3"/>
          <a:stretch>
            <a:fillRect/>
          </a:stretch>
        </p:blipFill>
        <p:spPr bwMode="auto">
          <a:xfrm>
            <a:off x="6273800" y="1816100"/>
            <a:ext cx="4991100" cy="43434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Types</a:t>
            </a:r>
            <a:r>
              <a:rPr dirty="0"/>
              <a:t> of data</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7606304"/>
              </p:ext>
            </p:extLst>
          </p:nvPr>
        </p:nvGraphicFramePr>
        <p:xfrm>
          <a:off x="838200" y="1816100"/>
          <a:ext cx="10515600" cy="182880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4584700">
                  <a:extLst>
                    <a:ext uri="{9D8B030D-6E8A-4147-A177-3AD203B41FA5}">
                      <a16:colId xmlns:a16="http://schemas.microsoft.com/office/drawing/2014/main" val="20002"/>
                    </a:ext>
                  </a:extLst>
                </a:gridCol>
                <a:gridCol w="2184400">
                  <a:extLst>
                    <a:ext uri="{9D8B030D-6E8A-4147-A177-3AD203B41FA5}">
                      <a16:colId xmlns:a16="http://schemas.microsoft.com/office/drawing/2014/main" val="20003"/>
                    </a:ext>
                  </a:extLst>
                </a:gridCol>
              </a:tblGrid>
              <a:tr h="0">
                <a:tc>
                  <a:txBody>
                    <a:bodyPr/>
                    <a:lstStyle/>
                    <a:p>
                      <a:pPr marL="0" lvl="0" indent="0" algn="l">
                        <a:buNone/>
                      </a:pPr>
                      <a:r>
                        <a:rPr lang="en-US" sz="1000" dirty="0"/>
                        <a:t>Raw </a:t>
                      </a:r>
                      <a:r>
                        <a:rPr sz="1000" dirty="0"/>
                        <a:t> form</a:t>
                      </a:r>
                    </a:p>
                  </a:txBody>
                  <a:tcPr/>
                </a:tc>
                <a:tc>
                  <a:txBody>
                    <a:bodyPr/>
                    <a:lstStyle/>
                    <a:p>
                      <a:pPr marL="0" lvl="0" indent="0" algn="l">
                        <a:buNone/>
                      </a:pPr>
                      <a:r>
                        <a:rPr sz="1000"/>
                        <a:t>Examples</a:t>
                      </a:r>
                    </a:p>
                  </a:txBody>
                  <a:tcPr/>
                </a:tc>
                <a:tc>
                  <a:txBody>
                    <a:bodyPr/>
                    <a:lstStyle/>
                    <a:p>
                      <a:pPr marL="0" lvl="0" indent="0" algn="l">
                        <a:buNone/>
                      </a:pPr>
                      <a:r>
                        <a:rPr sz="1000"/>
                        <a:t>To a district</a:t>
                      </a:r>
                    </a:p>
                  </a:txBody>
                  <a:tcPr/>
                </a:tc>
                <a:tc>
                  <a:txBody>
                    <a:bodyPr/>
                    <a:lstStyle/>
                    <a:p>
                      <a:pPr marL="0" lvl="0" indent="0" algn="l">
                        <a:buNone/>
                      </a:pPr>
                      <a:r>
                        <a:rPr sz="1000"/>
                        <a:t>Time</a:t>
                      </a:r>
                    </a:p>
                  </a:txBody>
                  <a:tcPr/>
                </a:tc>
                <a:extLst>
                  <a:ext uri="{0D108BD9-81ED-4DB2-BD59-A6C34878D82A}">
                    <a16:rowId xmlns:a16="http://schemas.microsoft.com/office/drawing/2014/main" val="10000"/>
                  </a:ext>
                </a:extLst>
              </a:tr>
              <a:tr h="0">
                <a:tc>
                  <a:txBody>
                    <a:bodyPr/>
                    <a:lstStyle/>
                    <a:p>
                      <a:pPr marL="0" lvl="0" indent="0" algn="l">
                        <a:buNone/>
                      </a:pPr>
                      <a:r>
                        <a:rPr sz="1000"/>
                        <a:t>Gridded raster (30 m to 10 km)</a:t>
                      </a:r>
                    </a:p>
                  </a:txBody>
                  <a:tcPr/>
                </a:tc>
                <a:tc>
                  <a:txBody>
                    <a:bodyPr/>
                    <a:lstStyle/>
                    <a:p>
                      <a:pPr marL="0" lvl="0" indent="0" algn="l">
                        <a:buNone/>
                      </a:pPr>
                      <a:r>
                        <a:rPr sz="1000"/>
                        <a:t>Climate, soil, satellite, IHME and MAP surfaces, population</a:t>
                      </a:r>
                    </a:p>
                  </a:txBody>
                  <a:tcPr/>
                </a:tc>
                <a:tc>
                  <a:txBody>
                    <a:bodyPr/>
                    <a:lstStyle/>
                    <a:p>
                      <a:pPr marL="0" lvl="0" indent="0" algn="l">
                        <a:buNone/>
                      </a:pPr>
                      <a:r>
                        <a:rPr sz="1000"/>
                        <a:t>Zonal mean over the district polygon, area- or population-weighted</a:t>
                      </a:r>
                    </a:p>
                  </a:txBody>
                  <a:tcPr/>
                </a:tc>
                <a:tc>
                  <a:txBody>
                    <a:bodyPr/>
                    <a:lstStyle/>
                    <a:p>
                      <a:pPr marL="0" lvl="0" indent="0" algn="l">
                        <a:buNone/>
                      </a:pPr>
                      <a:r>
                        <a:rPr sz="1000" dirty="0"/>
                        <a:t>Survey year, nearest year, or 30-year normal plus anomaly</a:t>
                      </a:r>
                    </a:p>
                  </a:txBody>
                  <a:tcPr/>
                </a:tc>
                <a:extLst>
                  <a:ext uri="{0D108BD9-81ED-4DB2-BD59-A6C34878D82A}">
                    <a16:rowId xmlns:a16="http://schemas.microsoft.com/office/drawing/2014/main" val="10001"/>
                  </a:ext>
                </a:extLst>
              </a:tr>
              <a:tr h="0">
                <a:tc>
                  <a:txBody>
                    <a:bodyPr/>
                    <a:lstStyle/>
                    <a:p>
                      <a:pPr marL="0" lvl="0" indent="0" algn="l">
                        <a:buNone/>
                      </a:pPr>
                      <a:r>
                        <a:rPr sz="1000"/>
                        <a:t>Survey with GPS clusters</a:t>
                      </a:r>
                    </a:p>
                  </a:txBody>
                  <a:tcPr/>
                </a:tc>
                <a:tc>
                  <a:txBody>
                    <a:bodyPr/>
                    <a:lstStyle/>
                    <a:p>
                      <a:pPr marL="0" lvl="0" indent="0" algn="l">
                        <a:buNone/>
                      </a:pPr>
                      <a:r>
                        <a:rPr sz="1000"/>
                        <a:t>DHS; MICS 2018 in The Gambia, 2017 in Sierra Leone</a:t>
                      </a:r>
                    </a:p>
                  </a:txBody>
                  <a:tcPr/>
                </a:tc>
                <a:tc>
                  <a:txBody>
                    <a:bodyPr/>
                    <a:lstStyle/>
                    <a:p>
                      <a:pPr marL="0" lvl="0" indent="0" algn="l">
                        <a:buNone/>
                      </a:pPr>
                      <a:r>
                        <a:rPr sz="1000" dirty="0"/>
                        <a:t>DHS: cluster spatial model (BYM2) so every district has a value; MICS: clusters inside the polygon, minimum 30 households</a:t>
                      </a:r>
                    </a:p>
                  </a:txBody>
                  <a:tcPr/>
                </a:tc>
                <a:tc>
                  <a:txBody>
                    <a:bodyPr/>
                    <a:lstStyle/>
                    <a:p>
                      <a:pPr marL="0" lvl="0" indent="0" algn="l">
                        <a:buNone/>
                      </a:pPr>
                      <a:r>
                        <a:rPr sz="1000"/>
                        <a:t>The round paired with the biomarker survey</a:t>
                      </a:r>
                    </a:p>
                  </a:txBody>
                  <a:tcPr/>
                </a:tc>
                <a:extLst>
                  <a:ext uri="{0D108BD9-81ED-4DB2-BD59-A6C34878D82A}">
                    <a16:rowId xmlns:a16="http://schemas.microsoft.com/office/drawing/2014/main" val="10002"/>
                  </a:ext>
                </a:extLst>
              </a:tr>
              <a:tr h="0">
                <a:tc>
                  <a:txBody>
                    <a:bodyPr/>
                    <a:lstStyle/>
                    <a:p>
                      <a:pPr marL="0" lvl="0" indent="0" algn="l">
                        <a:buNone/>
                      </a:pPr>
                      <a:r>
                        <a:rPr sz="1000"/>
                        <a:t>Survey identified to region or district</a:t>
                      </a:r>
                    </a:p>
                  </a:txBody>
                  <a:tcPr/>
                </a:tc>
                <a:tc>
                  <a:txBody>
                    <a:bodyPr/>
                    <a:lstStyle/>
                    <a:p>
                      <a:pPr marL="0" lvl="0" indent="0" algn="l">
                        <a:buNone/>
                      </a:pPr>
                      <a:r>
                        <a:rPr sz="1000"/>
                        <a:t>MICS in Ghana and Malawi; household budget surveys</a:t>
                      </a:r>
                    </a:p>
                  </a:txBody>
                  <a:tcPr/>
                </a:tc>
                <a:tc>
                  <a:txBody>
                    <a:bodyPr/>
                    <a:lstStyle/>
                    <a:p>
                      <a:pPr marL="0" lvl="0" indent="0" algn="l">
                        <a:buNone/>
                      </a:pPr>
                      <a:r>
                        <a:rPr sz="1000"/>
                        <a:t>Value of the smallest survey unit that contains the district, flagged as the parent’s value</a:t>
                      </a:r>
                    </a:p>
                  </a:txBody>
                  <a:tcPr/>
                </a:tc>
                <a:tc>
                  <a:txBody>
                    <a:bodyPr/>
                    <a:lstStyle/>
                    <a:p>
                      <a:pPr marL="0" lvl="0" indent="0" algn="l">
                        <a:buNone/>
                      </a:pPr>
                      <a:r>
                        <a:rPr sz="1000"/>
                        <a:t>The round nearest the survey</a:t>
                      </a:r>
                    </a:p>
                  </a:txBody>
                  <a:tcPr/>
                </a:tc>
                <a:extLst>
                  <a:ext uri="{0D108BD9-81ED-4DB2-BD59-A6C34878D82A}">
                    <a16:rowId xmlns:a16="http://schemas.microsoft.com/office/drawing/2014/main" val="10003"/>
                  </a:ext>
                </a:extLst>
              </a:tr>
              <a:tr h="0">
                <a:tc>
                  <a:txBody>
                    <a:bodyPr/>
                    <a:lstStyle/>
                    <a:p>
                      <a:pPr marL="0" lvl="0" indent="0" algn="l">
                        <a:buNone/>
                      </a:pPr>
                      <a:r>
                        <a:rPr sz="1000"/>
                        <a:t>National series</a:t>
                      </a:r>
                    </a:p>
                  </a:txBody>
                  <a:tcPr/>
                </a:tc>
                <a:tc>
                  <a:txBody>
                    <a:bodyPr/>
                    <a:lstStyle/>
                    <a:p>
                      <a:pPr marL="0" lvl="0" indent="0" algn="l">
                        <a:buNone/>
                      </a:pPr>
                      <a:r>
                        <a:rPr sz="1000"/>
                        <a:t>FAOSTAT balances, GFDx programme fields, FluNet</a:t>
                      </a:r>
                    </a:p>
                  </a:txBody>
                  <a:tcPr/>
                </a:tc>
                <a:tc>
                  <a:txBody>
                    <a:bodyPr/>
                    <a:lstStyle/>
                    <a:p>
                      <a:pPr marL="0" lvl="0" indent="0" algn="l">
                        <a:buNone/>
                      </a:pPr>
                      <a:r>
                        <a:rPr sz="1000"/>
                        <a:t>Constant within a country; dropped when the model is fitted</a:t>
                      </a:r>
                    </a:p>
                  </a:txBody>
                  <a:tcPr/>
                </a:tc>
                <a:tc>
                  <a:txBody>
                    <a:bodyPr/>
                    <a:lstStyle/>
                    <a:p>
                      <a:pPr marL="0" lvl="0" indent="0" algn="l">
                        <a:buNone/>
                      </a:pPr>
                      <a:r>
                        <a:rPr sz="1000" dirty="0"/>
                        <a:t>Survey year</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Linking in space</a:t>
            </a:r>
          </a:p>
        </p:txBody>
      </p:sp>
      <p:sp>
        <p:nvSpPr>
          <p:cNvPr id="3" name="Content Placeholder 2"/>
          <p:cNvSpPr>
            <a:spLocks noGrp="1"/>
          </p:cNvSpPr>
          <p:nvPr>
            <p:ph sz="half" idx="1"/>
          </p:nvPr>
        </p:nvSpPr>
        <p:spPr/>
        <p:txBody>
          <a:bodyPr/>
          <a:lstStyle/>
          <a:p>
            <a:pPr lvl="0"/>
            <a:r>
              <a:rPr sz="1800" dirty="0"/>
              <a:t>554 districts on GADM 4.1: Gambia 37, Ghana 260, Malawi 243, Sierra Leone 14.</a:t>
            </a:r>
          </a:p>
          <a:p>
            <a:pPr lvl="0"/>
            <a:r>
              <a:rPr sz="1800" dirty="0"/>
              <a:t>Every unit carries its GADM code, HASC code and the OCHA p-code, so a join is by code where the source has one.</a:t>
            </a:r>
          </a:p>
          <a:p>
            <a:pPr lvl="0"/>
            <a:r>
              <a:rPr sz="1800" dirty="0"/>
              <a:t>Names are matched only as a last resort, through a reviewed alias table with a distance cap, and always on the region-district pair</a:t>
            </a:r>
          </a:p>
        </p:txBody>
      </p:sp>
      <p:sp>
        <p:nvSpPr>
          <p:cNvPr id="4" name="Content Placeholder 3"/>
          <p:cNvSpPr>
            <a:spLocks noGrp="1"/>
          </p:cNvSpPr>
          <p:nvPr>
            <p:ph sz="half" idx="2"/>
          </p:nvPr>
        </p:nvSpPr>
        <p:spPr/>
        <p:txBody>
          <a:bodyPr/>
          <a:lstStyle/>
          <a:p>
            <a:pPr lvl="0"/>
            <a:r>
              <a:rPr sz="1800" dirty="0"/>
              <a:t>Ghana: 260 districts on the 2019 boundaries; sources on the 2012 boundaries (216) or the ten old regions </a:t>
            </a:r>
            <a:endParaRPr lang="en-US" sz="1800" dirty="0"/>
          </a:p>
          <a:p>
            <a:pPr lvl="0"/>
            <a:r>
              <a:rPr sz="1800" dirty="0"/>
              <a:t>Malawi: 243 Traditional Authorities; sources at district level (28) are broadcast down and flagged.</a:t>
            </a:r>
          </a:p>
          <a:p>
            <a:pPr lvl="0"/>
            <a:r>
              <a:rPr sz="1800" dirty="0"/>
              <a:t>The Gambia: 37 districts</a:t>
            </a:r>
            <a:endParaRPr lang="en-US" sz="1800" dirty="0"/>
          </a:p>
          <a:p>
            <a:pPr lvl="0"/>
            <a:r>
              <a:rPr sz="1800" dirty="0"/>
              <a:t> Sierra Leone: 14 districts. </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Linking in time</a:t>
            </a:r>
          </a:p>
        </p:txBody>
      </p:sp>
      <p:sp>
        <p:nvSpPr>
          <p:cNvPr id="3" name="Content Placeholder 2"/>
          <p:cNvSpPr>
            <a:spLocks noGrp="1"/>
          </p:cNvSpPr>
          <p:nvPr>
            <p:ph sz="half" idx="1"/>
          </p:nvPr>
        </p:nvSpPr>
        <p:spPr/>
        <p:txBody>
          <a:bodyPr/>
          <a:lstStyle/>
          <a:p>
            <a:r>
              <a:rPr sz="1800" dirty="0"/>
              <a:t>Surveys: The Gambia 2018, Ghana 2017, Malawi 2016, Sierra Leone 2013. </a:t>
            </a:r>
            <a:endParaRPr lang="en-US" sz="1800" dirty="0"/>
          </a:p>
          <a:p>
            <a:r>
              <a:rPr sz="1800" dirty="0"/>
              <a:t>131 </a:t>
            </a:r>
            <a:r>
              <a:rPr lang="en-US" sz="1800" dirty="0"/>
              <a:t>variables are from</a:t>
            </a:r>
            <a:r>
              <a:rPr sz="1800" dirty="0"/>
              <a:t> the survey year in every country and 78 are static layers.</a:t>
            </a:r>
            <a:endParaRPr lang="en-US" sz="1800" dirty="0"/>
          </a:p>
          <a:p>
            <a:r>
              <a:rPr sz="1800" dirty="0"/>
              <a:t> 306 are three or more years off in at least one country:</a:t>
            </a:r>
            <a:endParaRPr lang="en-US" sz="1800" dirty="0"/>
          </a:p>
          <a:p>
            <a:pPr lvl="1"/>
            <a:r>
              <a:rPr sz="1400" dirty="0"/>
              <a:t> the DHS round paired with Ghana’s 2017 survey is from 2014</a:t>
            </a:r>
            <a:endParaRPr lang="en-US" sz="1400" dirty="0"/>
          </a:p>
          <a:p>
            <a:pPr lvl="1"/>
            <a:r>
              <a:rPr sz="1400" dirty="0"/>
              <a:t>Sierra Leone’s 2013 survey predates the satellite embedding and its nearest MICS by four years</a:t>
            </a:r>
            <a:endParaRPr lang="en-US" sz="1400" dirty="0"/>
          </a:p>
          <a:p>
            <a:pPr lvl="1"/>
            <a:r>
              <a:rPr sz="1400" dirty="0" err="1"/>
              <a:t>MapSPAM’s</a:t>
            </a:r>
            <a:r>
              <a:rPr sz="1400" dirty="0"/>
              <a:t> 2010 crop map is the oldest layer everywhere.</a:t>
            </a:r>
          </a:p>
        </p:txBody>
      </p:sp>
      <p:pic>
        <p:nvPicPr>
          <p:cNvPr id="4" name="Picture 1" descr="MN-proxy-data-sources-2026-09_files/figure-pptx/time-1.png"/>
          <p:cNvPicPr>
            <a:picLocks noGrp="1" noChangeAspect="1"/>
          </p:cNvPicPr>
          <p:nvPr/>
        </p:nvPicPr>
        <p:blipFill>
          <a:blip r:embed="rId3"/>
          <a:stretch>
            <a:fillRect/>
          </a:stretch>
        </p:blipFill>
        <p:spPr bwMode="auto">
          <a:xfrm>
            <a:off x="6172200" y="2146300"/>
            <a:ext cx="5181600" cy="3683000"/>
          </a:xfrm>
          <a:prstGeom prst="rect">
            <a:avLst/>
          </a:prstGeom>
          <a:noFill/>
          <a:ln w="9525">
            <a:noFill/>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Variable domains</a:t>
            </a:r>
            <a:endParaRPr dirty="0"/>
          </a:p>
        </p:txBody>
      </p:sp>
      <p:sp>
        <p:nvSpPr>
          <p:cNvPr id="3" name="Content Placeholder 2"/>
          <p:cNvSpPr>
            <a:spLocks noGrp="1"/>
          </p:cNvSpPr>
          <p:nvPr>
            <p:ph sz="half" idx="1"/>
          </p:nvPr>
        </p:nvSpPr>
        <p:spPr/>
        <p:txBody>
          <a:bodyPr/>
          <a:lstStyle/>
          <a:p>
            <a:r>
              <a:rPr sz="1800" dirty="0"/>
              <a:t>28 domains. </a:t>
            </a:r>
            <a:endParaRPr lang="en-US" sz="1800" dirty="0"/>
          </a:p>
          <a:p>
            <a:r>
              <a:rPr sz="1800" dirty="0"/>
              <a:t>Each domain enters </a:t>
            </a:r>
            <a:r>
              <a:rPr lang="en-US" sz="1800" dirty="0"/>
              <a:t>our best</a:t>
            </a:r>
            <a:r>
              <a:rPr sz="1800" dirty="0"/>
              <a:t> model as its leading principal components, to 80% of variance and at most twelve, learned on the training districts only.</a:t>
            </a:r>
          </a:p>
        </p:txBody>
      </p:sp>
      <p:pic>
        <p:nvPicPr>
          <p:cNvPr id="4" name="Picture 1" descr="MN-proxy-data-sources-2026-09_files/figure-pptx/domains-1.png"/>
          <p:cNvPicPr>
            <a:picLocks noGrp="1" noChangeAspect="1"/>
          </p:cNvPicPr>
          <p:nvPr/>
        </p:nvPicPr>
        <p:blipFill>
          <a:blip r:embed="rId3"/>
          <a:stretch>
            <a:fillRect/>
          </a:stretch>
        </p:blipFill>
        <p:spPr bwMode="auto">
          <a:xfrm>
            <a:off x="6362700" y="1816100"/>
            <a:ext cx="4813300" cy="43434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Proxy dataset CONSORT</a:t>
            </a:r>
            <a:endParaRPr dirty="0"/>
          </a:p>
        </p:txBody>
      </p:sp>
      <p:graphicFrame>
        <p:nvGraphicFramePr>
          <p:cNvPr id="6" name="Content Placeholder 5"/>
          <p:cNvGraphicFramePr>
            <a:graphicFrameLocks noGrp="1"/>
          </p:cNvGraphicFramePr>
          <p:nvPr>
            <p:ph idx="1"/>
          </p:nvPr>
        </p:nvGraphicFramePr>
        <p:xfrm>
          <a:off x="838200" y="1816100"/>
          <a:ext cx="10515600" cy="1828800"/>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20000"/>
                    </a:ext>
                  </a:extLst>
                </a:gridCol>
                <a:gridCol w="83439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tblGrid>
              <a:tr h="0">
                <a:tc>
                  <a:txBody>
                    <a:bodyPr/>
                    <a:lstStyle/>
                    <a:p>
                      <a:pPr marL="0" lvl="0" indent="0" algn="l">
                        <a:buNone/>
                      </a:pPr>
                      <a:r>
                        <a:rPr sz="1000"/>
                        <a:t>Step</a:t>
                      </a:r>
                    </a:p>
                  </a:txBody>
                  <a:tcPr/>
                </a:tc>
                <a:tc>
                  <a:txBody>
                    <a:bodyPr/>
                    <a:lstStyle/>
                    <a:p>
                      <a:pPr marL="0" lvl="0" indent="0" algn="l">
                        <a:buNone/>
                      </a:pPr>
                      <a:r>
                        <a:rPr sz="1000"/>
                        <a:t>What happens</a:t>
                      </a:r>
                    </a:p>
                  </a:txBody>
                  <a:tcPr/>
                </a:tc>
                <a:tc>
                  <a:txBody>
                    <a:bodyPr/>
                    <a:lstStyle/>
                    <a:p>
                      <a:pPr marL="0" lvl="0" indent="0" algn="l">
                        <a:buNone/>
                      </a:pPr>
                      <a:r>
                        <a:rPr sz="1000"/>
                        <a:t>Columns</a:t>
                      </a:r>
                    </a:p>
                  </a:txBody>
                  <a:tcPr/>
                </a:tc>
                <a:extLst>
                  <a:ext uri="{0D108BD9-81ED-4DB2-BD59-A6C34878D82A}">
                    <a16:rowId xmlns:a16="http://schemas.microsoft.com/office/drawing/2014/main" val="10000"/>
                  </a:ext>
                </a:extLst>
              </a:tr>
              <a:tr h="0">
                <a:tc>
                  <a:txBody>
                    <a:bodyPr/>
                    <a:lstStyle/>
                    <a:p>
                      <a:pPr marL="0" lvl="0" indent="0" algn="l">
                        <a:buNone/>
                      </a:pPr>
                      <a:r>
                        <a:rPr sz="1000"/>
                        <a:t>Assemble</a:t>
                      </a:r>
                    </a:p>
                  </a:txBody>
                  <a:tcPr/>
                </a:tc>
                <a:tc>
                  <a:txBody>
                    <a:bodyPr/>
                    <a:lstStyle/>
                    <a:p>
                      <a:pPr marL="0" lvl="0" indent="0" algn="l">
                        <a:buNone/>
                      </a:pPr>
                      <a:r>
                        <a:rPr sz="1000"/>
                        <a:t>Base extraction on the spine, food environment, extra sources, add-back sources</a:t>
                      </a:r>
                    </a:p>
                  </a:txBody>
                  <a:tcPr/>
                </a:tc>
                <a:tc>
                  <a:txBody>
                    <a:bodyPr/>
                    <a:lstStyle/>
                    <a:p>
                      <a:endParaRPr/>
                    </a:p>
                  </a:txBody>
                  <a:tcPr/>
                </a:tc>
                <a:extLst>
                  <a:ext uri="{0D108BD9-81ED-4DB2-BD59-A6C34878D82A}">
                    <a16:rowId xmlns:a16="http://schemas.microsoft.com/office/drawing/2014/main" val="10001"/>
                  </a:ext>
                </a:extLst>
              </a:tr>
              <a:tr h="0">
                <a:tc>
                  <a:txBody>
                    <a:bodyPr/>
                    <a:lstStyle/>
                    <a:p>
                      <a:pPr marL="0" lvl="0" indent="0" algn="l">
                        <a:buNone/>
                      </a:pPr>
                      <a:r>
                        <a:rPr sz="1000"/>
                        <a:t>Append blocks</a:t>
                      </a:r>
                    </a:p>
                  </a:txBody>
                  <a:tcPr/>
                </a:tc>
                <a:tc>
                  <a:txBody>
                    <a:bodyPr/>
                    <a:lstStyle/>
                    <a:p>
                      <a:pPr marL="0" lvl="0" indent="0" algn="l">
                        <a:buNone/>
                      </a:pPr>
                      <a:r>
                        <a:rPr sz="1000"/>
                        <a:t>Household budget surveys, MICS microdata, RTFP prices, MODIS NDVI, climate normals</a:t>
                      </a:r>
                    </a:p>
                  </a:txBody>
                  <a:tcPr/>
                </a:tc>
                <a:tc>
                  <a:txBody>
                    <a:bodyPr/>
                    <a:lstStyle/>
                    <a:p>
                      <a:pPr marL="0" lvl="0" indent="0" algn="l">
                        <a:buNone/>
                      </a:pPr>
                      <a:r>
                        <a:rPr sz="1000"/>
                        <a:t>614</a:t>
                      </a:r>
                    </a:p>
                  </a:txBody>
                  <a:tcPr/>
                </a:tc>
                <a:extLst>
                  <a:ext uri="{0D108BD9-81ED-4DB2-BD59-A6C34878D82A}">
                    <a16:rowId xmlns:a16="http://schemas.microsoft.com/office/drawing/2014/main" val="10002"/>
                  </a:ext>
                </a:extLst>
              </a:tr>
              <a:tr h="0">
                <a:tc>
                  <a:txBody>
                    <a:bodyPr/>
                    <a:lstStyle/>
                    <a:p>
                      <a:pPr marL="0" lvl="0" indent="0" algn="l">
                        <a:buNone/>
                      </a:pPr>
                      <a:r>
                        <a:rPr sz="1000"/>
                        <a:t>Exclude</a:t>
                      </a:r>
                    </a:p>
                  </a:txBody>
                  <a:tcPr/>
                </a:tc>
                <a:tc>
                  <a:txBody>
                    <a:bodyPr/>
                    <a:lstStyle/>
                    <a:p>
                      <a:pPr marL="0" lvl="0" indent="0" algn="l">
                        <a:buNone/>
                      </a:pPr>
                      <a:r>
                        <a:rPr sz="1000"/>
                        <a:t>Rules with a written reason: data defects, superseded layers, redundant twins</a:t>
                      </a:r>
                    </a:p>
                  </a:txBody>
                  <a:tcPr/>
                </a:tc>
                <a:tc>
                  <a:txBody>
                    <a:bodyPr/>
                    <a:lstStyle/>
                    <a:p>
                      <a:pPr marL="0" lvl="0" indent="0" algn="l">
                        <a:buNone/>
                      </a:pPr>
                      <a:r>
                        <a:rPr sz="1000"/>
                        <a:t>570</a:t>
                      </a:r>
                    </a:p>
                  </a:txBody>
                  <a:tcPr/>
                </a:tc>
                <a:extLst>
                  <a:ext uri="{0D108BD9-81ED-4DB2-BD59-A6C34878D82A}">
                    <a16:rowId xmlns:a16="http://schemas.microsoft.com/office/drawing/2014/main" val="10003"/>
                  </a:ext>
                </a:extLst>
              </a:tr>
              <a:tr h="0">
                <a:tc>
                  <a:txBody>
                    <a:bodyPr/>
                    <a:lstStyle/>
                    <a:p>
                      <a:pPr marL="0" lvl="0" indent="0" algn="l">
                        <a:buNone/>
                      </a:pPr>
                      <a:r>
                        <a:rPr sz="1000"/>
                        <a:t>Stamp</a:t>
                      </a:r>
                    </a:p>
                  </a:txBody>
                  <a:tcPr/>
                </a:tc>
                <a:tc>
                  <a:txBody>
                    <a:bodyPr/>
                    <a:lstStyle/>
                    <a:p>
                      <a:pPr marL="0" lvl="0" indent="0" algn="l">
                        <a:buNone/>
                      </a:pPr>
                      <a:r>
                        <a:rPr sz="1000"/>
                        <a:t>Access tier, within-country variation, alignment rule, year used and gap, modelled-surface flag</a:t>
                      </a:r>
                    </a:p>
                  </a:txBody>
                  <a:tcPr/>
                </a:tc>
                <a:tc>
                  <a:txBody>
                    <a:bodyPr/>
                    <a:lstStyle/>
                    <a:p>
                      <a:pPr marL="0" lvl="0" indent="0" algn="l">
                        <a:buNone/>
                      </a:pPr>
                      <a:r>
                        <a:rPr sz="1000"/>
                        <a:t>570</a:t>
                      </a:r>
                    </a:p>
                  </a:txBody>
                  <a:tcPr/>
                </a:tc>
                <a:extLst>
                  <a:ext uri="{0D108BD9-81ED-4DB2-BD59-A6C34878D82A}">
                    <a16:rowId xmlns:a16="http://schemas.microsoft.com/office/drawing/2014/main" val="10004"/>
                  </a:ext>
                </a:extLst>
              </a:tr>
              <a:tr h="0">
                <a:tc>
                  <a:txBody>
                    <a:bodyPr/>
                    <a:lstStyle/>
                    <a:p>
                      <a:pPr marL="0" lvl="0" indent="0" algn="l">
                        <a:buNone/>
                      </a:pPr>
                      <a:r>
                        <a:rPr sz="1000"/>
                        <a:t>Fit-time policy</a:t>
                      </a:r>
                    </a:p>
                  </a:txBody>
                  <a:tcPr/>
                </a:tc>
                <a:tc>
                  <a:txBody>
                    <a:bodyPr/>
                    <a:lstStyle/>
                    <a:p>
                      <a:pPr marL="0" lvl="0" indent="0" algn="l">
                        <a:buNone/>
                      </a:pPr>
                      <a:r>
                        <a:rPr sz="1000"/>
                        <a:t>Drop national constants and leakage columns</a:t>
                      </a:r>
                    </a:p>
                  </a:txBody>
                  <a:tcPr/>
                </a:tc>
                <a:tc>
                  <a:txBody>
                    <a:bodyPr/>
                    <a:lstStyle/>
                    <a:p>
                      <a:pPr marL="0" lvl="0" indent="0" algn="l">
                        <a:buNone/>
                      </a:pPr>
                      <a:r>
                        <a:rPr sz="1000"/>
                        <a:t>525</a:t>
                      </a:r>
                    </a:p>
                  </a:txBody>
                  <a:tcPr/>
                </a:tc>
                <a:extLst>
                  <a:ext uri="{0D108BD9-81ED-4DB2-BD59-A6C34878D82A}">
                    <a16:rowId xmlns:a16="http://schemas.microsoft.com/office/drawing/2014/main" val="10005"/>
                  </a:ext>
                </a:extLst>
              </a:tr>
              <a:tr h="0">
                <a:tc>
                  <a:txBody>
                    <a:bodyPr/>
                    <a:lstStyle/>
                    <a:p>
                      <a:pPr marL="0" lvl="0" indent="0" algn="l">
                        <a:buNone/>
                      </a:pPr>
                      <a:r>
                        <a:rPr sz="1000"/>
                        <a:t>Transport matrix</a:t>
                      </a:r>
                    </a:p>
                  </a:txBody>
                  <a:tcPr/>
                </a:tc>
                <a:tc>
                  <a:txBody>
                    <a:bodyPr/>
                    <a:lstStyle/>
                    <a:p>
                      <a:pPr marL="0" lvl="0" indent="0" algn="l">
                        <a:buNone/>
                      </a:pPr>
                      <a:r>
                        <a:rPr sz="1000"/>
                        <a:t>Per country: coverage of at least 70% and some variation; then the four-country intersection</a:t>
                      </a:r>
                    </a:p>
                  </a:txBody>
                  <a:tcPr/>
                </a:tc>
                <a:tc>
                  <a:txBody>
                    <a:bodyPr/>
                    <a:lstStyle/>
                    <a:p>
                      <a:pPr marL="0" lvl="0" indent="0" algn="l">
                        <a:buNone/>
                      </a:pPr>
                      <a:r>
                        <a:rPr sz="1000"/>
                        <a:t>464</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1DBB8-88F1-035C-DB0E-82B28ABC077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2C15F3F-29DD-76E8-445E-20CD991387F2}"/>
              </a:ext>
            </a:extLst>
          </p:cNvPr>
          <p:cNvSpPr/>
          <p:nvPr/>
        </p:nvSpPr>
        <p:spPr>
          <a:xfrm>
            <a:off x="0" y="0"/>
            <a:ext cx="12188952" cy="1280160"/>
          </a:xfrm>
          <a:prstGeom prst="rect">
            <a:avLst/>
          </a:prstGeom>
          <a:solidFill>
            <a:srgbClr val="053486"/>
          </a:solidFill>
          <a:ln>
            <a:solidFill>
              <a:srgbClr val="053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rgbClr val="FFFFFF"/>
                </a:solidFill>
              </a:rPr>
              <a:t>Ensemble Machine Learning</a:t>
            </a:r>
          </a:p>
        </p:txBody>
      </p:sp>
      <p:pic>
        <p:nvPicPr>
          <p:cNvPr id="5" name="Picture 4">
            <a:extLst>
              <a:ext uri="{FF2B5EF4-FFF2-40B4-BE49-F238E27FC236}">
                <a16:creationId xmlns:a16="http://schemas.microsoft.com/office/drawing/2014/main" id="{B525BAD5-2F9C-D7A6-3A5E-CFE8947354D3}"/>
              </a:ext>
            </a:extLst>
          </p:cNvPr>
          <p:cNvPicPr>
            <a:picLocks noChangeAspect="1"/>
          </p:cNvPicPr>
          <p:nvPr/>
        </p:nvPicPr>
        <p:blipFill>
          <a:blip r:embed="rId3"/>
          <a:stretch>
            <a:fillRect/>
          </a:stretch>
        </p:blipFill>
        <p:spPr>
          <a:xfrm>
            <a:off x="8951479" y="3315725"/>
            <a:ext cx="2638353" cy="2405559"/>
          </a:xfrm>
          <a:prstGeom prst="rect">
            <a:avLst/>
          </a:prstGeom>
        </p:spPr>
      </p:pic>
      <p:pic>
        <p:nvPicPr>
          <p:cNvPr id="6" name="Picture 5">
            <a:extLst>
              <a:ext uri="{FF2B5EF4-FFF2-40B4-BE49-F238E27FC236}">
                <a16:creationId xmlns:a16="http://schemas.microsoft.com/office/drawing/2014/main" id="{2C5DD55E-1B6A-E416-DF95-5A4FE18F31E8}"/>
              </a:ext>
            </a:extLst>
          </p:cNvPr>
          <p:cNvPicPr>
            <a:picLocks noChangeAspect="1"/>
          </p:cNvPicPr>
          <p:nvPr/>
        </p:nvPicPr>
        <p:blipFill>
          <a:blip r:embed="rId4"/>
          <a:stretch>
            <a:fillRect/>
          </a:stretch>
        </p:blipFill>
        <p:spPr>
          <a:xfrm>
            <a:off x="8544305" y="1943393"/>
            <a:ext cx="3484143" cy="1371881"/>
          </a:xfrm>
          <a:prstGeom prst="rect">
            <a:avLst/>
          </a:prstGeom>
        </p:spPr>
      </p:pic>
      <p:sp>
        <p:nvSpPr>
          <p:cNvPr id="7" name="TextBox 6">
            <a:extLst>
              <a:ext uri="{FF2B5EF4-FFF2-40B4-BE49-F238E27FC236}">
                <a16:creationId xmlns:a16="http://schemas.microsoft.com/office/drawing/2014/main" id="{7DCEFA12-A6DB-7D6F-5EC6-707130DE2060}"/>
              </a:ext>
            </a:extLst>
          </p:cNvPr>
          <p:cNvSpPr txBox="1"/>
          <p:nvPr/>
        </p:nvSpPr>
        <p:spPr>
          <a:xfrm>
            <a:off x="584731" y="1514058"/>
            <a:ext cx="5445272" cy="4955203"/>
          </a:xfrm>
          <a:prstGeom prst="rect">
            <a:avLst/>
          </a:prstGeom>
          <a:noFill/>
        </p:spPr>
        <p:txBody>
          <a:bodyPr wrap="square">
            <a:spAutoFit/>
          </a:bodyPr>
          <a:lstStyle/>
          <a:p>
            <a:pPr>
              <a:lnSpc>
                <a:spcPct val="100000"/>
              </a:lnSpc>
            </a:pPr>
            <a:r>
              <a:rPr lang="en-US" sz="1600" dirty="0">
                <a:latin typeface="Arial"/>
                <a:cs typeface="Arial"/>
              </a:rPr>
              <a:t>Competition” of algorithms</a:t>
            </a:r>
          </a:p>
          <a:p>
            <a:pPr marL="285750" indent="-285750">
              <a:buFont typeface="Arial" panose="020B0604020202020204" pitchFamily="34" charset="0"/>
              <a:buChar char="•"/>
            </a:pPr>
            <a:r>
              <a:rPr lang="en-US" sz="1600" dirty="0">
                <a:latin typeface="Arial"/>
                <a:cs typeface="Arial"/>
              </a:rPr>
              <a:t>Combinations of simple regressions and more complex machine learning models to allow interactions and nonlinear associations.</a:t>
            </a:r>
          </a:p>
          <a:p>
            <a:pPr>
              <a:lnSpc>
                <a:spcPct val="100000"/>
              </a:lnSpc>
            </a:pPr>
            <a:r>
              <a:rPr lang="en-US" sz="1600" dirty="0">
                <a:latin typeface="Arial"/>
                <a:cs typeface="Arial"/>
              </a:rPr>
              <a:t>Best “team” wins</a:t>
            </a:r>
          </a:p>
          <a:p>
            <a:pPr marL="609573" indent="-457189">
              <a:buFont typeface="Arial" panose="020B0604020202020204" pitchFamily="34" charset="0"/>
              <a:buChar char="•"/>
            </a:pPr>
            <a:r>
              <a:rPr lang="en-US" sz="1600" dirty="0">
                <a:latin typeface="Arial"/>
                <a:cs typeface="Arial"/>
              </a:rPr>
              <a:t>Weighted combination of algorithms</a:t>
            </a:r>
          </a:p>
          <a:p>
            <a:pPr>
              <a:lnSpc>
                <a:spcPct val="100000"/>
              </a:lnSpc>
            </a:pPr>
            <a:r>
              <a:rPr lang="en-US" sz="1600" dirty="0">
                <a:latin typeface="Arial"/>
                <a:cs typeface="Arial"/>
              </a:rPr>
              <a:t>Performance judged on independent data</a:t>
            </a:r>
          </a:p>
          <a:p>
            <a:pPr marL="609573" indent="-457189">
              <a:buFont typeface="Arial" panose="020B0604020202020204" pitchFamily="34" charset="0"/>
              <a:buChar char="•"/>
            </a:pPr>
            <a:r>
              <a:rPr lang="en-US" sz="1600" dirty="0">
                <a:latin typeface="Arial"/>
                <a:cs typeface="Arial"/>
              </a:rPr>
              <a:t>V-fold cross validation (Internal data splits) to avoid overfitting</a:t>
            </a:r>
          </a:p>
          <a:p>
            <a:r>
              <a:rPr lang="en-US" sz="1600" dirty="0">
                <a:latin typeface="Arial"/>
                <a:cs typeface="Arial"/>
              </a:rPr>
              <a:t>Library:</a:t>
            </a:r>
          </a:p>
          <a:p>
            <a:pPr marL="457189" indent="-457189">
              <a:buFont typeface="Arial" panose="020B0604020202020204" pitchFamily="34" charset="0"/>
              <a:buChar char="•"/>
            </a:pPr>
            <a:r>
              <a:rPr lang="en-US" sz="1600" dirty="0">
                <a:latin typeface="Arial"/>
                <a:cs typeface="Arial"/>
              </a:rPr>
              <a:t>Simple mean</a:t>
            </a:r>
          </a:p>
          <a:p>
            <a:pPr marL="457189" indent="-457189">
              <a:buFont typeface="Arial" panose="020B0604020202020204" pitchFamily="34" charset="0"/>
              <a:buChar char="•"/>
            </a:pPr>
            <a:r>
              <a:rPr lang="en-US" sz="1600" dirty="0">
                <a:latin typeface="Arial"/>
                <a:cs typeface="Arial"/>
              </a:rPr>
              <a:t>Penalized regressions</a:t>
            </a:r>
          </a:p>
          <a:p>
            <a:pPr marL="457189" indent="-457189">
              <a:buFont typeface="Arial" panose="020B0604020202020204" pitchFamily="34" charset="0"/>
              <a:buChar char="•"/>
            </a:pPr>
            <a:r>
              <a:rPr lang="en-US" sz="1600" dirty="0">
                <a:latin typeface="Arial"/>
                <a:cs typeface="Arial"/>
              </a:rPr>
              <a:t>Random forest models</a:t>
            </a:r>
          </a:p>
          <a:p>
            <a:pPr marL="457189" indent="-457189">
              <a:buFont typeface="Arial" panose="020B0604020202020204" pitchFamily="34" charset="0"/>
              <a:buChar char="•"/>
            </a:pPr>
            <a:r>
              <a:rPr lang="en-US" sz="1600" dirty="0">
                <a:latin typeface="Arial"/>
                <a:cs typeface="Arial"/>
              </a:rPr>
              <a:t>Gradient Boosting models</a:t>
            </a:r>
          </a:p>
          <a:p>
            <a:pPr marL="457189" indent="-457189">
              <a:buFont typeface="Arial" panose="020B0604020202020204" pitchFamily="34" charset="0"/>
              <a:buChar char="•"/>
            </a:pPr>
            <a:r>
              <a:rPr lang="en-US" sz="1600" dirty="0">
                <a:latin typeface="Arial"/>
                <a:cs typeface="Arial"/>
              </a:rPr>
              <a:t>PCA-HAL</a:t>
            </a:r>
          </a:p>
          <a:p>
            <a:pPr marL="457189" indent="-457189">
              <a:buFont typeface="Arial" panose="020B0604020202020204" pitchFamily="34" charset="0"/>
              <a:buChar char="•"/>
            </a:pPr>
            <a:r>
              <a:rPr lang="en-US" sz="1600" dirty="0">
                <a:latin typeface="Arial"/>
                <a:cs typeface="Arial"/>
              </a:rPr>
              <a:t>Bayesian Additive and Regression trees</a:t>
            </a:r>
          </a:p>
          <a:p>
            <a:pPr marL="457189" indent="-457189">
              <a:buFont typeface="Arial" panose="020B0604020202020204" pitchFamily="34" charset="0"/>
              <a:buChar char="•"/>
            </a:pPr>
            <a:r>
              <a:rPr lang="en-US" sz="1600" dirty="0">
                <a:latin typeface="Arial"/>
                <a:cs typeface="Arial"/>
              </a:rPr>
              <a:t>Bayesian Geostatistical Models</a:t>
            </a:r>
          </a:p>
          <a:p>
            <a:pPr lvl="1">
              <a:defRPr sz="1400"/>
            </a:pPr>
            <a:endParaRPr sz="1600" dirty="0"/>
          </a:p>
          <a:p>
            <a:pPr lvl="1">
              <a:defRPr sz="1400"/>
            </a:pPr>
            <a:endParaRPr lang="en-US" sz="1400" dirty="0"/>
          </a:p>
          <a:p>
            <a:pPr lvl="1">
              <a:defRPr sz="1400"/>
            </a:pPr>
            <a:endParaRPr sz="1400" dirty="0"/>
          </a:p>
        </p:txBody>
      </p:sp>
      <p:pic>
        <p:nvPicPr>
          <p:cNvPr id="2" name="object 2">
            <a:extLst>
              <a:ext uri="{FF2B5EF4-FFF2-40B4-BE49-F238E27FC236}">
                <a16:creationId xmlns:a16="http://schemas.microsoft.com/office/drawing/2014/main" id="{1991F9EF-AC44-EC3B-786D-C9126269F273}"/>
              </a:ext>
            </a:extLst>
          </p:cNvPr>
          <p:cNvPicPr/>
          <p:nvPr/>
        </p:nvPicPr>
        <p:blipFill>
          <a:blip r:embed="rId5" cstate="print"/>
          <a:stretch>
            <a:fillRect/>
          </a:stretch>
        </p:blipFill>
        <p:spPr>
          <a:xfrm>
            <a:off x="6161998" y="1796556"/>
            <a:ext cx="2320364" cy="3939388"/>
          </a:xfrm>
          <a:prstGeom prst="rect">
            <a:avLst/>
          </a:prstGeom>
        </p:spPr>
      </p:pic>
    </p:spTree>
    <p:extLst>
      <p:ext uri="{BB962C8B-B14F-4D97-AF65-F5344CB8AC3E}">
        <p14:creationId xmlns:p14="http://schemas.microsoft.com/office/powerpoint/2010/main" val="41838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Variable importance</a:t>
            </a:r>
            <a:endParaRPr dirty="0"/>
          </a:p>
        </p:txBody>
      </p:sp>
      <p:pic>
        <p:nvPicPr>
          <p:cNvPr id="3" name="Picture 1" descr="../../results/figures/policy_deck/fig3_top_predictors.png"/>
          <p:cNvPicPr>
            <a:picLocks noGrp="1" noChangeAspect="1"/>
          </p:cNvPicPr>
          <p:nvPr/>
        </p:nvPicPr>
        <p:blipFill>
          <a:blip r:embed="rId3"/>
          <a:stretch>
            <a:fillRect/>
          </a:stretch>
        </p:blipFill>
        <p:spPr bwMode="auto">
          <a:xfrm>
            <a:off x="2212248" y="1430509"/>
            <a:ext cx="7569200" cy="4343400"/>
          </a:xfrm>
          <a:prstGeom prst="rect">
            <a:avLst/>
          </a:prstGeom>
          <a:noFill/>
          <a:ln w="9525">
            <a:noFill/>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lvl="0"/>
            <a:r>
              <a:rPr lang="en-US" sz="3000" dirty="0"/>
              <a:t>Variable importance: Malawi B12 concentrations in women</a:t>
            </a:r>
            <a:endParaRPr sz="3000" dirty="0"/>
          </a:p>
        </p:txBody>
      </p:sp>
      <p:pic>
        <p:nvPicPr>
          <p:cNvPr id="4" name="Picture 3">
            <a:extLst>
              <a:ext uri="{FF2B5EF4-FFF2-40B4-BE49-F238E27FC236}">
                <a16:creationId xmlns:a16="http://schemas.microsoft.com/office/drawing/2014/main" id="{BAADF193-C77F-F023-AD3D-19AE1F11ED9D}"/>
              </a:ext>
            </a:extLst>
          </p:cNvPr>
          <p:cNvPicPr>
            <a:picLocks noChangeAspect="1"/>
          </p:cNvPicPr>
          <p:nvPr/>
        </p:nvPicPr>
        <p:blipFill>
          <a:blip r:embed="rId3"/>
          <a:stretch>
            <a:fillRect/>
          </a:stretch>
        </p:blipFill>
        <p:spPr>
          <a:xfrm>
            <a:off x="1924080" y="857938"/>
            <a:ext cx="8347512" cy="51476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Variable importance- cross country models</a:t>
            </a:r>
            <a:endParaRPr dirty="0"/>
          </a:p>
        </p:txBody>
      </p:sp>
      <p:sp>
        <p:nvSpPr>
          <p:cNvPr id="3" name="Content Placeholder 2"/>
          <p:cNvSpPr>
            <a:spLocks noGrp="1"/>
          </p:cNvSpPr>
          <p:nvPr>
            <p:ph sz="half" idx="1"/>
          </p:nvPr>
        </p:nvSpPr>
        <p:spPr/>
        <p:txBody>
          <a:bodyPr/>
          <a:lstStyle/>
          <a:p>
            <a:pPr marL="0" lvl="0" indent="0">
              <a:buNone/>
            </a:pPr>
            <a:endParaRPr sz="1800" dirty="0"/>
          </a:p>
        </p:txBody>
      </p:sp>
      <p:pic>
        <p:nvPicPr>
          <p:cNvPr id="4" name="Picture 1" descr="MN-proxy-data-sources-2026-09_files/figure-pptx/travels-1.png"/>
          <p:cNvPicPr>
            <a:picLocks noGrp="1" noChangeAspect="1"/>
          </p:cNvPicPr>
          <p:nvPr/>
        </p:nvPicPr>
        <p:blipFill>
          <a:blip r:embed="rId3"/>
          <a:stretch>
            <a:fillRect/>
          </a:stretch>
        </p:blipFill>
        <p:spPr bwMode="auto">
          <a:xfrm>
            <a:off x="3233910" y="1690688"/>
            <a:ext cx="4813300" cy="4343400"/>
          </a:xfrm>
          <a:prstGeom prst="rect">
            <a:avLst/>
          </a:prstGeom>
          <a:noFill/>
          <a:ln w="9525">
            <a:noFill/>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rPr sz="3600" dirty="0"/>
              <a:t>What </a:t>
            </a:r>
            <a:r>
              <a:rPr lang="en-US" sz="3600" dirty="0"/>
              <a:t>works in the cross-country </a:t>
            </a:r>
            <a:r>
              <a:rPr sz="3600" dirty="0"/>
              <a:t>transport models</a:t>
            </a:r>
          </a:p>
        </p:txBody>
      </p:sp>
      <p:sp>
        <p:nvSpPr>
          <p:cNvPr id="3" name="Content Placeholder 2"/>
          <p:cNvSpPr>
            <a:spLocks noGrp="1"/>
          </p:cNvSpPr>
          <p:nvPr>
            <p:ph idx="1"/>
          </p:nvPr>
        </p:nvSpPr>
        <p:spPr/>
        <p:txBody>
          <a:bodyPr/>
          <a:lstStyle/>
          <a:p>
            <a:pPr lvl="0"/>
            <a:r>
              <a:rPr sz="1800" dirty="0"/>
              <a:t>The landscape gradient: grassland and cropland cover, the share of ruminants in the herd (top twenty in 14 of the 22 held-out fits), cattle and sheep density, cereal-heavy cropping, and low plant productivity. Dry, grassy, pastoral, unproductive districts rank worse on every outcome.</a:t>
            </a:r>
          </a:p>
          <a:p>
            <a:pPr lvl="0"/>
            <a:r>
              <a:rPr sz="1800" dirty="0"/>
              <a:t>The modelled child-growth and </a:t>
            </a:r>
            <a:r>
              <a:rPr sz="1800" dirty="0" err="1"/>
              <a:t>anaemia</a:t>
            </a:r>
            <a:r>
              <a:rPr sz="1800" dirty="0"/>
              <a:t> surfaces: wasting, underweight and </a:t>
            </a:r>
            <a:r>
              <a:rPr sz="1800" dirty="0" err="1"/>
              <a:t>anaemia</a:t>
            </a:r>
            <a:r>
              <a:rPr sz="1800" dirty="0"/>
              <a:t> point to worse status; overweight points the other way and behaves as a wealth proxy.</a:t>
            </a:r>
          </a:p>
          <a:p>
            <a:pPr lvl="0"/>
            <a:r>
              <a:rPr sz="1800" dirty="0"/>
              <a:t>The food economy: the local staple price relative to the national level appears in 13 fits across 5 outcomes.</a:t>
            </a:r>
          </a:p>
          <a:p>
            <a:pPr lvl="0"/>
            <a:r>
              <a:rPr sz="1800" dirty="0"/>
              <a:t>Remoteness and demography: distance to the coast and the dependency ratio, in about a third of the fits.</a:t>
            </a:r>
          </a:p>
          <a:p>
            <a:pPr lvl="0"/>
            <a:r>
              <a:rPr sz="1800" dirty="0"/>
              <a:t>Malaria intensity recurs, with the sign a nutritional story would not predict: the high-malaria zones are the wetter, more productive ones. Single household-survey items rarely recur; malaria treatment in pregnancy and infant feeding of legumes are the exceptions.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Appendix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Sources and time-alignment</a:t>
            </a:r>
            <a:endParaRPr dirty="0"/>
          </a:p>
        </p:txBody>
      </p:sp>
      <p:graphicFrame>
        <p:nvGraphicFramePr>
          <p:cNvPr id="6" name="Content Placeholder 5"/>
          <p:cNvGraphicFramePr>
            <a:graphicFrameLocks noGrp="1"/>
          </p:cNvGraphicFramePr>
          <p:nvPr>
            <p:ph idx="1"/>
          </p:nvPr>
        </p:nvGraphicFramePr>
        <p:xfrm>
          <a:off x="838200" y="1816100"/>
          <a:ext cx="10515600" cy="649224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gridCol w="38227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tblGrid>
              <a:tr h="0">
                <a:tc>
                  <a:txBody>
                    <a:bodyPr/>
                    <a:lstStyle/>
                    <a:p>
                      <a:pPr marL="0" lvl="0" indent="0" algn="l">
                        <a:buNone/>
                      </a:pPr>
                      <a:r>
                        <a:rPr sz="1000"/>
                        <a:t>Source</a:t>
                      </a:r>
                    </a:p>
                  </a:txBody>
                  <a:tcPr/>
                </a:tc>
                <a:tc>
                  <a:txBody>
                    <a:bodyPr/>
                    <a:lstStyle/>
                    <a:p>
                      <a:pPr marL="0" lvl="0" indent="0" algn="r">
                        <a:buNone/>
                      </a:pPr>
                      <a:r>
                        <a:rPr sz="1000"/>
                        <a:t>Columns</a:t>
                      </a:r>
                    </a:p>
                  </a:txBody>
                  <a:tcPr/>
                </a:tc>
                <a:tc>
                  <a:txBody>
                    <a:bodyPr/>
                    <a:lstStyle/>
                    <a:p>
                      <a:pPr marL="0" lvl="0" indent="0" algn="l">
                        <a:buNone/>
                      </a:pPr>
                      <a:r>
                        <a:rPr sz="1000"/>
                        <a:t>Tier</a:t>
                      </a:r>
                    </a:p>
                  </a:txBody>
                  <a:tcPr/>
                </a:tc>
                <a:tc>
                  <a:txBody>
                    <a:bodyPr/>
                    <a:lstStyle/>
                    <a:p>
                      <a:pPr marL="0" lvl="0" indent="0" algn="r">
                        <a:buNone/>
                      </a:pPr>
                      <a:r>
                        <a:rPr sz="1000"/>
                        <a:t>Domains</a:t>
                      </a:r>
                    </a:p>
                  </a:txBody>
                  <a:tcPr/>
                </a:tc>
                <a:tc>
                  <a:txBody>
                    <a:bodyPr/>
                    <a:lstStyle/>
                    <a:p>
                      <a:pPr marL="0" lvl="0" indent="0" algn="l">
                        <a:buNone/>
                      </a:pPr>
                      <a:r>
                        <a:rPr sz="1000"/>
                        <a:t>Year rule</a:t>
                      </a:r>
                    </a:p>
                  </a:txBody>
                  <a:tcPr/>
                </a:tc>
                <a:tc>
                  <a:txBody>
                    <a:bodyPr/>
                    <a:lstStyle/>
                    <a:p>
                      <a:pPr marL="0" lvl="0" indent="0" algn="l">
                        <a:buNone/>
                      </a:pPr>
                      <a:r>
                        <a:rPr sz="1000"/>
                        <a:t>Largest gap (years)</a:t>
                      </a:r>
                    </a:p>
                  </a:txBody>
                  <a:tcPr/>
                </a:tc>
                <a:extLst>
                  <a:ext uri="{0D108BD9-81ED-4DB2-BD59-A6C34878D82A}">
                    <a16:rowId xmlns:a16="http://schemas.microsoft.com/office/drawing/2014/main" val="10000"/>
                  </a:ext>
                </a:extLst>
              </a:tr>
              <a:tr h="0">
                <a:tc>
                  <a:txBody>
                    <a:bodyPr/>
                    <a:lstStyle/>
                    <a:p>
                      <a:pPr marL="0" lvl="0" indent="0" algn="l">
                        <a:buNone/>
                      </a:pPr>
                      <a:r>
                        <a:rPr sz="1000"/>
                        <a:t>DHS indicators</a:t>
                      </a:r>
                    </a:p>
                  </a:txBody>
                  <a:tcPr/>
                </a:tc>
                <a:tc>
                  <a:txBody>
                    <a:bodyPr/>
                    <a:lstStyle/>
                    <a:p>
                      <a:pPr marL="0" lvl="0" indent="0" algn="r">
                        <a:buNone/>
                      </a:pPr>
                      <a:r>
                        <a:rPr sz="1000"/>
                        <a:t>150</a:t>
                      </a:r>
                    </a:p>
                  </a:txBody>
                  <a:tcPr/>
                </a:tc>
                <a:tc>
                  <a:txBody>
                    <a:bodyPr/>
                    <a:lstStyle/>
                    <a:p>
                      <a:pPr marL="0" lvl="0" indent="0" algn="l">
                        <a:buNone/>
                      </a:pPr>
                      <a:r>
                        <a:rPr sz="1000"/>
                        <a:t>DHS (access agreement)</a:t>
                      </a:r>
                    </a:p>
                  </a:txBody>
                  <a:tcPr/>
                </a:tc>
                <a:tc>
                  <a:txBody>
                    <a:bodyPr/>
                    <a:lstStyle/>
                    <a:p>
                      <a:pPr marL="0" lvl="0" indent="0" algn="r">
                        <a:buNone/>
                      </a:pPr>
                      <a:r>
                        <a:rPr sz="1000"/>
                        <a:t>16</a:t>
                      </a:r>
                    </a:p>
                  </a:txBody>
                  <a:tcPr/>
                </a:tc>
                <a:tc>
                  <a:txBody>
                    <a:bodyPr/>
                    <a:lstStyle/>
                    <a:p>
                      <a:pPr marL="0" lvl="0" indent="0" algn="l">
                        <a:buNone/>
                      </a:pPr>
                      <a:r>
                        <a:rPr sz="1000"/>
                        <a:t>dhs_round</a:t>
                      </a:r>
                    </a:p>
                  </a:txBody>
                  <a:tcPr/>
                </a:tc>
                <a:tc>
                  <a:txBody>
                    <a:bodyPr/>
                    <a:lstStyle/>
                    <a:p>
                      <a:pPr marL="0" lvl="0" indent="0" algn="l">
                        <a:buNone/>
                      </a:pPr>
                      <a:r>
                        <a:rPr sz="1000"/>
                        <a:t>3</a:t>
                      </a:r>
                    </a:p>
                  </a:txBody>
                  <a:tcPr/>
                </a:tc>
                <a:extLst>
                  <a:ext uri="{0D108BD9-81ED-4DB2-BD59-A6C34878D82A}">
                    <a16:rowId xmlns:a16="http://schemas.microsoft.com/office/drawing/2014/main" val="10001"/>
                  </a:ext>
                </a:extLst>
              </a:tr>
              <a:tr h="0">
                <a:tc>
                  <a:txBody>
                    <a:bodyPr/>
                    <a:lstStyle/>
                    <a:p>
                      <a:pPr marL="0" lvl="0" indent="0" algn="l">
                        <a:buNone/>
                      </a:pPr>
                      <a:r>
                        <a:rPr sz="1000"/>
                        <a:t>Earth Engine: climate, land, built environment</a:t>
                      </a:r>
                    </a:p>
                  </a:txBody>
                  <a:tcPr/>
                </a:tc>
                <a:tc>
                  <a:txBody>
                    <a:bodyPr/>
                    <a:lstStyle/>
                    <a:p>
                      <a:pPr marL="0" lvl="0" indent="0" algn="r">
                        <a:buNone/>
                      </a:pPr>
                      <a:r>
                        <a:rPr sz="1000"/>
                        <a:t>80</a:t>
                      </a:r>
                    </a:p>
                  </a:txBody>
                  <a:tcPr/>
                </a:tc>
                <a:tc>
                  <a:txBody>
                    <a:bodyPr/>
                    <a:lstStyle/>
                    <a:p>
                      <a:pPr marL="0" lvl="0" indent="0" algn="l">
                        <a:buNone/>
                      </a:pPr>
                      <a:r>
                        <a:rPr sz="1000"/>
                        <a:t>Open data</a:t>
                      </a:r>
                    </a:p>
                  </a:txBody>
                  <a:tcPr/>
                </a:tc>
                <a:tc>
                  <a:txBody>
                    <a:bodyPr/>
                    <a:lstStyle/>
                    <a:p>
                      <a:pPr marL="0" lvl="0" indent="0" algn="r">
                        <a:buNone/>
                      </a:pPr>
                      <a:r>
                        <a:rPr sz="1000"/>
                        <a:t>4</a:t>
                      </a:r>
                    </a:p>
                  </a:txBody>
                  <a:tcPr/>
                </a:tc>
                <a:tc>
                  <a:txBody>
                    <a:bodyPr/>
                    <a:lstStyle/>
                    <a:p>
                      <a:pPr marL="0" lvl="0" indent="0" algn="l">
                        <a:buNone/>
                      </a:pPr>
                      <a:r>
                        <a:rPr sz="1000"/>
                        <a:t>access_2019, ccnl_2013, clim_anomaly, clim_normals, gee_t…</a:t>
                      </a:r>
                    </a:p>
                  </a:txBody>
                  <a:tcPr/>
                </a:tc>
                <a:tc>
                  <a:txBody>
                    <a:bodyPr/>
                    <a:lstStyle/>
                    <a:p>
                      <a:pPr marL="0" lvl="0" indent="0" algn="l">
                        <a:buNone/>
                      </a:pPr>
                      <a:r>
                        <a:rPr sz="1000"/>
                        <a:t>6</a:t>
                      </a:r>
                    </a:p>
                  </a:txBody>
                  <a:tcPr/>
                </a:tc>
                <a:extLst>
                  <a:ext uri="{0D108BD9-81ED-4DB2-BD59-A6C34878D82A}">
                    <a16:rowId xmlns:a16="http://schemas.microsoft.com/office/drawing/2014/main" val="10002"/>
                  </a:ext>
                </a:extLst>
              </a:tr>
              <a:tr h="0">
                <a:tc>
                  <a:txBody>
                    <a:bodyPr/>
                    <a:lstStyle/>
                    <a:p>
                      <a:pPr marL="0" lvl="0" indent="0" algn="l">
                        <a:buNone/>
                      </a:pPr>
                      <a:r>
                        <a:rPr sz="1000"/>
                        <a:t>AlphaEarth satellite embedding</a:t>
                      </a:r>
                    </a:p>
                  </a:txBody>
                  <a:tcPr/>
                </a:tc>
                <a:tc>
                  <a:txBody>
                    <a:bodyPr/>
                    <a:lstStyle/>
                    <a:p>
                      <a:pPr marL="0" lvl="0" indent="0" algn="r">
                        <a:buNone/>
                      </a:pPr>
                      <a:r>
                        <a:rPr sz="1000"/>
                        <a:t>64</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alphaearth_2017</a:t>
                      </a:r>
                    </a:p>
                  </a:txBody>
                  <a:tcPr/>
                </a:tc>
                <a:tc>
                  <a:txBody>
                    <a:bodyPr/>
                    <a:lstStyle/>
                    <a:p>
                      <a:pPr marL="0" lvl="0" indent="0" algn="l">
                        <a:buNone/>
                      </a:pPr>
                      <a:r>
                        <a:rPr sz="1000"/>
                        <a:t>4</a:t>
                      </a:r>
                    </a:p>
                  </a:txBody>
                  <a:tcPr/>
                </a:tc>
                <a:extLst>
                  <a:ext uri="{0D108BD9-81ED-4DB2-BD59-A6C34878D82A}">
                    <a16:rowId xmlns:a16="http://schemas.microsoft.com/office/drawing/2014/main" val="10003"/>
                  </a:ext>
                </a:extLst>
              </a:tr>
              <a:tr h="0">
                <a:tc>
                  <a:txBody>
                    <a:bodyPr/>
                    <a:lstStyle/>
                    <a:p>
                      <a:pPr marL="0" lvl="0" indent="0" algn="l">
                        <a:buNone/>
                      </a:pPr>
                      <a:r>
                        <a:rPr sz="1000"/>
                        <a:t>SoilGrids / iSDA soil</a:t>
                      </a:r>
                    </a:p>
                  </a:txBody>
                  <a:tcPr/>
                </a:tc>
                <a:tc>
                  <a:txBody>
                    <a:bodyPr/>
                    <a:lstStyle/>
                    <a:p>
                      <a:pPr marL="0" lvl="0" indent="0" algn="r">
                        <a:buNone/>
                      </a:pPr>
                      <a:r>
                        <a:rPr sz="1000"/>
                        <a:t>45</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soil_static</a:t>
                      </a:r>
                    </a:p>
                  </a:txBody>
                  <a:tcPr/>
                </a:tc>
                <a:tc>
                  <a:txBody>
                    <a:bodyPr/>
                    <a:lstStyle/>
                    <a:p>
                      <a:pPr marL="0" lvl="0" indent="0" algn="l">
                        <a:buNone/>
                      </a:pPr>
                      <a:r>
                        <a:rPr sz="1000"/>
                        <a:t>static</a:t>
                      </a:r>
                    </a:p>
                  </a:txBody>
                  <a:tcPr/>
                </a:tc>
                <a:extLst>
                  <a:ext uri="{0D108BD9-81ED-4DB2-BD59-A6C34878D82A}">
                    <a16:rowId xmlns:a16="http://schemas.microsoft.com/office/drawing/2014/main" val="10004"/>
                  </a:ext>
                </a:extLst>
              </a:tr>
              <a:tr h="0">
                <a:tc>
                  <a:txBody>
                    <a:bodyPr/>
                    <a:lstStyle/>
                    <a:p>
                      <a:pPr marL="0" lvl="0" indent="0" algn="l">
                        <a:buNone/>
                      </a:pPr>
                      <a:r>
                        <a:rPr sz="1000"/>
                        <a:t>IHME modelled surfaces</a:t>
                      </a:r>
                    </a:p>
                  </a:txBody>
                  <a:tcPr/>
                </a:tc>
                <a:tc>
                  <a:txBody>
                    <a:bodyPr/>
                    <a:lstStyle/>
                    <a:p>
                      <a:pPr marL="0" lvl="0" indent="0" algn="r">
                        <a:buNone/>
                      </a:pPr>
                      <a:r>
                        <a:rPr sz="1000"/>
                        <a:t>34</a:t>
                      </a:r>
                    </a:p>
                  </a:txBody>
                  <a:tcPr/>
                </a:tc>
                <a:tc>
                  <a:txBody>
                    <a:bodyPr/>
                    <a:lstStyle/>
                    <a:p>
                      <a:pPr marL="0" lvl="0" indent="0" algn="l">
                        <a:buNone/>
                      </a:pPr>
                      <a:r>
                        <a:rPr sz="1000"/>
                        <a:t>Open data</a:t>
                      </a:r>
                    </a:p>
                  </a:txBody>
                  <a:tcPr/>
                </a:tc>
                <a:tc>
                  <a:txBody>
                    <a:bodyPr/>
                    <a:lstStyle/>
                    <a:p>
                      <a:pPr marL="0" lvl="0" indent="0" algn="r">
                        <a:buNone/>
                      </a:pPr>
                      <a:r>
                        <a:rPr sz="1000"/>
                        <a:t>7</a:t>
                      </a:r>
                    </a:p>
                  </a:txBody>
                  <a:tcPr/>
                </a:tc>
                <a:tc>
                  <a:txBody>
                    <a:bodyPr/>
                    <a:lstStyle/>
                    <a:p>
                      <a:pPr marL="0" lvl="0" indent="0" algn="l">
                        <a:buNone/>
                      </a:pPr>
                      <a:r>
                        <a:rPr sz="1000"/>
                        <a:t>ihme_to_2017, ihme_to_2018, ihme_to_2019</a:t>
                      </a:r>
                    </a:p>
                  </a:txBody>
                  <a:tcPr/>
                </a:tc>
                <a:tc>
                  <a:txBody>
                    <a:bodyPr/>
                    <a:lstStyle/>
                    <a:p>
                      <a:pPr marL="0" lvl="0" indent="0" algn="l">
                        <a:buNone/>
                      </a:pPr>
                      <a:r>
                        <a:rPr sz="1000"/>
                        <a:t>1</a:t>
                      </a:r>
                    </a:p>
                  </a:txBody>
                  <a:tcPr/>
                </a:tc>
                <a:extLst>
                  <a:ext uri="{0D108BD9-81ED-4DB2-BD59-A6C34878D82A}">
                    <a16:rowId xmlns:a16="http://schemas.microsoft.com/office/drawing/2014/main" val="10005"/>
                  </a:ext>
                </a:extLst>
              </a:tr>
              <a:tr h="0">
                <a:tc>
                  <a:txBody>
                    <a:bodyPr/>
                    <a:lstStyle/>
                    <a:p>
                      <a:pPr marL="0" lvl="0" indent="0" algn="l">
                        <a:buNone/>
                      </a:pPr>
                      <a:r>
                        <a:rPr sz="1000"/>
                        <a:t>MICS microdata</a:t>
                      </a:r>
                    </a:p>
                  </a:txBody>
                  <a:tcPr/>
                </a:tc>
                <a:tc>
                  <a:txBody>
                    <a:bodyPr/>
                    <a:lstStyle/>
                    <a:p>
                      <a:pPr marL="0" lvl="0" indent="0" algn="r">
                        <a:buNone/>
                      </a:pPr>
                      <a:r>
                        <a:rPr sz="1000"/>
                        <a:t>30</a:t>
                      </a:r>
                    </a:p>
                  </a:txBody>
                  <a:tcPr/>
                </a:tc>
                <a:tc>
                  <a:txBody>
                    <a:bodyPr/>
                    <a:lstStyle/>
                    <a:p>
                      <a:pPr marL="0" lvl="0" indent="0" algn="l">
                        <a:buNone/>
                      </a:pPr>
                      <a:r>
                        <a:rPr sz="1000"/>
                        <a:t>Public survey microdata</a:t>
                      </a:r>
                    </a:p>
                  </a:txBody>
                  <a:tcPr/>
                </a:tc>
                <a:tc>
                  <a:txBody>
                    <a:bodyPr/>
                    <a:lstStyle/>
                    <a:p>
                      <a:pPr marL="0" lvl="0" indent="0" algn="r">
                        <a:buNone/>
                      </a:pPr>
                      <a:r>
                        <a:rPr sz="1000"/>
                        <a:t>7</a:t>
                      </a:r>
                    </a:p>
                  </a:txBody>
                  <a:tcPr/>
                </a:tc>
                <a:tc>
                  <a:txBody>
                    <a:bodyPr/>
                    <a:lstStyle/>
                    <a:p>
                      <a:pPr marL="0" lvl="0" indent="0" algn="l">
                        <a:buNone/>
                      </a:pPr>
                      <a:r>
                        <a:rPr sz="1000"/>
                        <a:t>mics_microdata</a:t>
                      </a:r>
                    </a:p>
                  </a:txBody>
                  <a:tcPr/>
                </a:tc>
                <a:tc>
                  <a:txBody>
                    <a:bodyPr/>
                    <a:lstStyle/>
                    <a:p>
                      <a:pPr marL="0" lvl="0" indent="0" algn="l">
                        <a:buNone/>
                      </a:pPr>
                      <a:r>
                        <a:rPr sz="1000"/>
                        <a:t>4</a:t>
                      </a:r>
                    </a:p>
                  </a:txBody>
                  <a:tcPr/>
                </a:tc>
                <a:extLst>
                  <a:ext uri="{0D108BD9-81ED-4DB2-BD59-A6C34878D82A}">
                    <a16:rowId xmlns:a16="http://schemas.microsoft.com/office/drawing/2014/main" val="10006"/>
                  </a:ext>
                </a:extLst>
              </a:tr>
              <a:tr h="0">
                <a:tc>
                  <a:txBody>
                    <a:bodyPr/>
                    <a:lstStyle/>
                    <a:p>
                      <a:pPr marL="0" lvl="0" indent="0" algn="l">
                        <a:buNone/>
                      </a:pPr>
                      <a:r>
                        <a:rPr sz="1000"/>
                        <a:t>GFDx fortification</a:t>
                      </a:r>
                    </a:p>
                  </a:txBody>
                  <a:tcPr/>
                </a:tc>
                <a:tc>
                  <a:txBody>
                    <a:bodyPr/>
                    <a:lstStyle/>
                    <a:p>
                      <a:pPr marL="0" lvl="0" indent="0" algn="r">
                        <a:buNone/>
                      </a:pPr>
                      <a:r>
                        <a:rPr sz="1000"/>
                        <a:t>27</a:t>
                      </a:r>
                    </a:p>
                  </a:txBody>
                  <a:tcPr/>
                </a:tc>
                <a:tc>
                  <a:txBody>
                    <a:bodyPr/>
                    <a:lstStyle/>
                    <a:p>
                      <a:pPr marL="0" lvl="0" indent="0" algn="l">
                        <a:buNone/>
                      </a:pPr>
                      <a:r>
                        <a:rPr sz="1000"/>
                        <a:t>Open data</a:t>
                      </a:r>
                    </a:p>
                  </a:txBody>
                  <a:tcPr/>
                </a:tc>
                <a:tc>
                  <a:txBody>
                    <a:bodyPr/>
                    <a:lstStyle/>
                    <a:p>
                      <a:pPr marL="0" lvl="0" indent="0" algn="r">
                        <a:buNone/>
                      </a:pPr>
                      <a:r>
                        <a:rPr sz="1000"/>
                        <a:t>3</a:t>
                      </a:r>
                    </a:p>
                  </a:txBody>
                  <a:tcPr/>
                </a:tc>
                <a:tc>
                  <a:txBody>
                    <a:bodyPr/>
                    <a:lstStyle/>
                    <a:p>
                      <a:pPr marL="0" lvl="0" indent="0" algn="l">
                        <a:buNone/>
                      </a:pPr>
                      <a:r>
                        <a:rPr sz="1000"/>
                        <a:t>gfdx_ntd_2015, gfdx_survey_year, gfdx_who_anaemia_2011, g…</a:t>
                      </a:r>
                    </a:p>
                  </a:txBody>
                  <a:tcPr/>
                </a:tc>
                <a:tc>
                  <a:txBody>
                    <a:bodyPr/>
                    <a:lstStyle/>
                    <a:p>
                      <a:pPr marL="0" lvl="0" indent="0" algn="l">
                        <a:buNone/>
                      </a:pPr>
                      <a:r>
                        <a:rPr sz="1000"/>
                        <a:t>6</a:t>
                      </a:r>
                    </a:p>
                  </a:txBody>
                  <a:tcPr/>
                </a:tc>
                <a:extLst>
                  <a:ext uri="{0D108BD9-81ED-4DB2-BD59-A6C34878D82A}">
                    <a16:rowId xmlns:a16="http://schemas.microsoft.com/office/drawing/2014/main" val="10007"/>
                  </a:ext>
                </a:extLst>
              </a:tr>
              <a:tr h="0">
                <a:tc>
                  <a:txBody>
                    <a:bodyPr/>
                    <a:lstStyle/>
                    <a:p>
                      <a:pPr marL="0" lvl="0" indent="0" algn="l">
                        <a:buNone/>
                      </a:pPr>
                      <a:r>
                        <a:rPr sz="1000"/>
                        <a:t>MICS via WHO HEAT</a:t>
                      </a:r>
                    </a:p>
                  </a:txBody>
                  <a:tcPr/>
                </a:tc>
                <a:tc>
                  <a:txBody>
                    <a:bodyPr/>
                    <a:lstStyle/>
                    <a:p>
                      <a:pPr marL="0" lvl="0" indent="0" algn="r">
                        <a:buNone/>
                      </a:pPr>
                      <a:r>
                        <a:rPr sz="1000"/>
                        <a:t>19</a:t>
                      </a:r>
                    </a:p>
                  </a:txBody>
                  <a:tcPr/>
                </a:tc>
                <a:tc>
                  <a:txBody>
                    <a:bodyPr/>
                    <a:lstStyle/>
                    <a:p>
                      <a:pPr marL="0" lvl="0" indent="0" algn="l">
                        <a:buNone/>
                      </a:pPr>
                      <a:r>
                        <a:rPr sz="1000"/>
                        <a:t>Public survey microdata</a:t>
                      </a:r>
                    </a:p>
                  </a:txBody>
                  <a:tcPr/>
                </a:tc>
                <a:tc>
                  <a:txBody>
                    <a:bodyPr/>
                    <a:lstStyle/>
                    <a:p>
                      <a:pPr marL="0" lvl="0" indent="0" algn="r">
                        <a:buNone/>
                      </a:pPr>
                      <a:r>
                        <a:rPr sz="1000"/>
                        <a:t>1</a:t>
                      </a:r>
                    </a:p>
                  </a:txBody>
                  <a:tcPr/>
                </a:tc>
                <a:tc>
                  <a:txBody>
                    <a:bodyPr/>
                    <a:lstStyle/>
                    <a:p>
                      <a:pPr marL="0" lvl="0" indent="0" algn="l">
                        <a:buNone/>
                      </a:pPr>
                      <a:r>
                        <a:rPr sz="1000"/>
                        <a:t>mics_heat_round</a:t>
                      </a:r>
                    </a:p>
                  </a:txBody>
                  <a:tcPr/>
                </a:tc>
                <a:tc>
                  <a:txBody>
                    <a:bodyPr/>
                    <a:lstStyle/>
                    <a:p>
                      <a:pPr marL="0" lvl="0" indent="0" algn="l">
                        <a:buNone/>
                      </a:pPr>
                      <a:r>
                        <a:rPr sz="1000"/>
                        <a:t>3</a:t>
                      </a:r>
                    </a:p>
                  </a:txBody>
                  <a:tcPr/>
                </a:tc>
                <a:extLst>
                  <a:ext uri="{0D108BD9-81ED-4DB2-BD59-A6C34878D82A}">
                    <a16:rowId xmlns:a16="http://schemas.microsoft.com/office/drawing/2014/main" val="10008"/>
                  </a:ext>
                </a:extLst>
              </a:tr>
              <a:tr h="0">
                <a:tc>
                  <a:txBody>
                    <a:bodyPr/>
                    <a:lstStyle/>
                    <a:p>
                      <a:pPr marL="0" lvl="0" indent="0" algn="l">
                        <a:buNone/>
                      </a:pPr>
                      <a:r>
                        <a:rPr sz="1000"/>
                        <a:t>Household budget surveys (HCES)</a:t>
                      </a:r>
                    </a:p>
                  </a:txBody>
                  <a:tcPr/>
                </a:tc>
                <a:tc>
                  <a:txBody>
                    <a:bodyPr/>
                    <a:lstStyle/>
                    <a:p>
                      <a:pPr marL="0" lvl="0" indent="0" algn="r">
                        <a:buNone/>
                      </a:pPr>
                      <a:r>
                        <a:rPr sz="1000"/>
                        <a:t>15</a:t>
                      </a:r>
                    </a:p>
                  </a:txBody>
                  <a:tcPr/>
                </a:tc>
                <a:tc>
                  <a:txBody>
                    <a:bodyPr/>
                    <a:lstStyle/>
                    <a:p>
                      <a:pPr marL="0" lvl="0" indent="0" algn="l">
                        <a:buNone/>
                      </a:pPr>
                      <a:r>
                        <a:rPr sz="1000"/>
                        <a:t>Public survey microdata</a:t>
                      </a:r>
                    </a:p>
                  </a:txBody>
                  <a:tcPr/>
                </a:tc>
                <a:tc>
                  <a:txBody>
                    <a:bodyPr/>
                    <a:lstStyle/>
                    <a:p>
                      <a:pPr marL="0" lvl="0" indent="0" algn="r">
                        <a:buNone/>
                      </a:pPr>
                      <a:r>
                        <a:rPr sz="1000"/>
                        <a:t>1</a:t>
                      </a:r>
                    </a:p>
                  </a:txBody>
                  <a:tcPr/>
                </a:tc>
                <a:tc>
                  <a:txBody>
                    <a:bodyPr/>
                    <a:lstStyle/>
                    <a:p>
                      <a:pPr marL="0" lvl="0" indent="0" algn="l">
                        <a:buNone/>
                      </a:pPr>
                      <a:r>
                        <a:rPr sz="1000"/>
                        <a:t>hces_year</a:t>
                      </a:r>
                    </a:p>
                  </a:txBody>
                  <a:tcPr/>
                </a:tc>
                <a:tc>
                  <a:txBody>
                    <a:bodyPr/>
                    <a:lstStyle/>
                    <a:p>
                      <a:pPr marL="0" lvl="0" indent="0" algn="l">
                        <a:buNone/>
                      </a:pPr>
                      <a:r>
                        <a:rPr sz="1000"/>
                        <a:t>5</a:t>
                      </a:r>
                    </a:p>
                  </a:txBody>
                  <a:tcPr/>
                </a:tc>
                <a:extLst>
                  <a:ext uri="{0D108BD9-81ED-4DB2-BD59-A6C34878D82A}">
                    <a16:rowId xmlns:a16="http://schemas.microsoft.com/office/drawing/2014/main" val="10009"/>
                  </a:ext>
                </a:extLst>
              </a:tr>
              <a:tr h="0">
                <a:tc>
                  <a:txBody>
                    <a:bodyPr/>
                    <a:lstStyle/>
                    <a:p>
                      <a:pPr marL="0" lvl="0" indent="0" algn="l">
                        <a:buNone/>
                      </a:pPr>
                      <a:r>
                        <a:rPr sz="1000"/>
                        <a:t>MapSPAM crops</a:t>
                      </a:r>
                    </a:p>
                  </a:txBody>
                  <a:tcPr/>
                </a:tc>
                <a:tc>
                  <a:txBody>
                    <a:bodyPr/>
                    <a:lstStyle/>
                    <a:p>
                      <a:pPr marL="0" lvl="0" indent="0" algn="r">
                        <a:buNone/>
                      </a:pPr>
                      <a:r>
                        <a:rPr sz="1000"/>
                        <a:t>12</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spam_2010</a:t>
                      </a:r>
                    </a:p>
                  </a:txBody>
                  <a:tcPr/>
                </a:tc>
                <a:tc>
                  <a:txBody>
                    <a:bodyPr/>
                    <a:lstStyle/>
                    <a:p>
                      <a:pPr marL="0" lvl="0" indent="0" algn="l">
                        <a:buNone/>
                      </a:pPr>
                      <a:r>
                        <a:rPr sz="1000"/>
                        <a:t>8</a:t>
                      </a:r>
                    </a:p>
                  </a:txBody>
                  <a:tcPr/>
                </a:tc>
                <a:extLst>
                  <a:ext uri="{0D108BD9-81ED-4DB2-BD59-A6C34878D82A}">
                    <a16:rowId xmlns:a16="http://schemas.microsoft.com/office/drawing/2014/main" val="10010"/>
                  </a:ext>
                </a:extLst>
              </a:tr>
              <a:tr h="0">
                <a:tc>
                  <a:txBody>
                    <a:bodyPr/>
                    <a:lstStyle/>
                    <a:p>
                      <a:pPr marL="0" lvl="0" indent="0" algn="l">
                        <a:buNone/>
                      </a:pPr>
                      <a:r>
                        <a:rPr sz="1000"/>
                        <a:t>Malaria Atlas Project</a:t>
                      </a:r>
                    </a:p>
                  </a:txBody>
                  <a:tcPr/>
                </a:tc>
                <a:tc>
                  <a:txBody>
                    <a:bodyPr/>
                    <a:lstStyle/>
                    <a:p>
                      <a:pPr marL="0" lvl="0" indent="0" algn="r">
                        <a:buNone/>
                      </a:pPr>
                      <a:r>
                        <a:rPr sz="1000"/>
                        <a:t>11</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map_blood_2012, map_survey_year</a:t>
                      </a:r>
                    </a:p>
                  </a:txBody>
                  <a:tcPr/>
                </a:tc>
                <a:tc>
                  <a:txBody>
                    <a:bodyPr/>
                    <a:lstStyle/>
                    <a:p>
                      <a:pPr marL="0" lvl="0" indent="0" algn="l">
                        <a:buNone/>
                      </a:pPr>
                      <a:r>
                        <a:rPr sz="1000"/>
                        <a:t>6</a:t>
                      </a:r>
                    </a:p>
                  </a:txBody>
                  <a:tcPr/>
                </a:tc>
                <a:extLst>
                  <a:ext uri="{0D108BD9-81ED-4DB2-BD59-A6C34878D82A}">
                    <a16:rowId xmlns:a16="http://schemas.microsoft.com/office/drawing/2014/main" val="10011"/>
                  </a:ext>
                </a:extLst>
              </a:tr>
              <a:tr h="0">
                <a:tc>
                  <a:txBody>
                    <a:bodyPr/>
                    <a:lstStyle/>
                    <a:p>
                      <a:pPr marL="0" lvl="0" indent="0" algn="l">
                        <a:buNone/>
                      </a:pPr>
                      <a:r>
                        <a:rPr sz="1000"/>
                        <a:t>WorldPop / GHS / RWI</a:t>
                      </a:r>
                    </a:p>
                  </a:txBody>
                  <a:tcPr/>
                </a:tc>
                <a:tc>
                  <a:txBody>
                    <a:bodyPr/>
                    <a:lstStyle/>
                    <a:p>
                      <a:pPr marL="0" lvl="0" indent="0" algn="r">
                        <a:buNone/>
                      </a:pPr>
                      <a:r>
                        <a:rPr sz="1000"/>
                        <a:t>10</a:t>
                      </a:r>
                    </a:p>
                  </a:txBody>
                  <a:tcPr/>
                </a:tc>
                <a:tc>
                  <a:txBody>
                    <a:bodyPr/>
                    <a:lstStyle/>
                    <a:p>
                      <a:pPr marL="0" lvl="0" indent="0" algn="l">
                        <a:buNone/>
                      </a:pPr>
                      <a:r>
                        <a:rPr sz="1000"/>
                        <a:t>Open data</a:t>
                      </a:r>
                    </a:p>
                  </a:txBody>
                  <a:tcPr/>
                </a:tc>
                <a:tc>
                  <a:txBody>
                    <a:bodyPr/>
                    <a:lstStyle/>
                    <a:p>
                      <a:pPr marL="0" lvl="0" indent="0" algn="r">
                        <a:buNone/>
                      </a:pPr>
                      <a:r>
                        <a:rPr sz="1000"/>
                        <a:t>3</a:t>
                      </a:r>
                    </a:p>
                  </a:txBody>
                  <a:tcPr/>
                </a:tc>
                <a:tc>
                  <a:txBody>
                    <a:bodyPr/>
                    <a:lstStyle/>
                    <a:p>
                      <a:pPr marL="0" lvl="0" indent="0" algn="l">
                        <a:buNone/>
                      </a:pPr>
                      <a:r>
                        <a:rPr sz="1000"/>
                        <a:t>ghsl_epoch, rwi_2019, wpop_2020, wpop_density_sy</a:t>
                      </a:r>
                    </a:p>
                  </a:txBody>
                  <a:tcPr/>
                </a:tc>
                <a:tc>
                  <a:txBody>
                    <a:bodyPr/>
                    <a:lstStyle/>
                    <a:p>
                      <a:pPr marL="0" lvl="0" indent="0" algn="l">
                        <a:buNone/>
                      </a:pPr>
                      <a:r>
                        <a:rPr sz="1000"/>
                        <a:t>7</a:t>
                      </a:r>
                    </a:p>
                  </a:txBody>
                  <a:tcPr/>
                </a:tc>
                <a:extLst>
                  <a:ext uri="{0D108BD9-81ED-4DB2-BD59-A6C34878D82A}">
                    <a16:rowId xmlns:a16="http://schemas.microsoft.com/office/drawing/2014/main" val="10012"/>
                  </a:ext>
                </a:extLst>
              </a:tr>
              <a:tr h="0">
                <a:tc>
                  <a:txBody>
                    <a:bodyPr/>
                    <a:lstStyle/>
                    <a:p>
                      <a:pPr marL="0" lvl="0" indent="0" algn="l">
                        <a:buNone/>
                      </a:pPr>
                      <a:r>
                        <a:rPr sz="1000"/>
                        <a:t>Koppen / agro-ecological zones</a:t>
                      </a:r>
                    </a:p>
                  </a:txBody>
                  <a:tcPr/>
                </a:tc>
                <a:tc>
                  <a:txBody>
                    <a:bodyPr/>
                    <a:lstStyle/>
                    <a:p>
                      <a:pPr marL="0" lvl="0" indent="0" algn="r">
                        <a:buNone/>
                      </a:pPr>
                      <a:r>
                        <a:rPr sz="1000"/>
                        <a:t>9</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aez_static, koppen_static</a:t>
                      </a:r>
                    </a:p>
                  </a:txBody>
                  <a:tcPr/>
                </a:tc>
                <a:tc>
                  <a:txBody>
                    <a:bodyPr/>
                    <a:lstStyle/>
                    <a:p>
                      <a:pPr marL="0" lvl="0" indent="0" algn="l">
                        <a:buNone/>
                      </a:pPr>
                      <a:r>
                        <a:rPr sz="1000"/>
                        <a:t>static</a:t>
                      </a:r>
                    </a:p>
                  </a:txBody>
                  <a:tcPr/>
                </a:tc>
                <a:extLst>
                  <a:ext uri="{0D108BD9-81ED-4DB2-BD59-A6C34878D82A}">
                    <a16:rowId xmlns:a16="http://schemas.microsoft.com/office/drawing/2014/main" val="10013"/>
                  </a:ext>
                </a:extLst>
              </a:tr>
              <a:tr h="0">
                <a:tc>
                  <a:txBody>
                    <a:bodyPr/>
                    <a:lstStyle/>
                    <a:p>
                      <a:pPr marL="0" lvl="0" indent="0" algn="l">
                        <a:buNone/>
                      </a:pPr>
                      <a:r>
                        <a:rPr sz="1000"/>
                        <a:t>WFP market prices</a:t>
                      </a:r>
                    </a:p>
                  </a:txBody>
                  <a:tcPr/>
                </a:tc>
                <a:tc>
                  <a:txBody>
                    <a:bodyPr/>
                    <a:lstStyle/>
                    <a:p>
                      <a:pPr marL="0" lvl="0" indent="0" algn="r">
                        <a:buNone/>
                      </a:pPr>
                      <a:r>
                        <a:rPr sz="1000"/>
                        <a:t>9</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fprice_window</a:t>
                      </a:r>
                    </a:p>
                  </a:txBody>
                  <a:tcPr/>
                </a:tc>
                <a:tc>
                  <a:txBody>
                    <a:bodyPr/>
                    <a:lstStyle/>
                    <a:p>
                      <a:pPr marL="0" lvl="0" indent="0" algn="l">
                        <a:buNone/>
                      </a:pPr>
                      <a:r>
                        <a:rPr sz="1000"/>
                        <a:t>0</a:t>
                      </a:r>
                    </a:p>
                  </a:txBody>
                  <a:tcPr/>
                </a:tc>
                <a:extLst>
                  <a:ext uri="{0D108BD9-81ED-4DB2-BD59-A6C34878D82A}">
                    <a16:rowId xmlns:a16="http://schemas.microsoft.com/office/drawing/2014/main" val="10014"/>
                  </a:ext>
                </a:extLst>
              </a:tr>
              <a:tr h="0">
                <a:tc>
                  <a:txBody>
                    <a:bodyPr/>
                    <a:lstStyle/>
                    <a:p>
                      <a:pPr marL="0" lvl="0" indent="0" algn="l">
                        <a:buNone/>
                      </a:pPr>
                      <a:r>
                        <a:rPr sz="1000"/>
                        <a:t>FAOSTAT food balance (national)</a:t>
                      </a:r>
                    </a:p>
                  </a:txBody>
                  <a:tcPr/>
                </a:tc>
                <a:tc>
                  <a:txBody>
                    <a:bodyPr/>
                    <a:lstStyle/>
                    <a:p>
                      <a:pPr marL="0" lvl="0" indent="0" algn="r">
                        <a:buNone/>
                      </a:pPr>
                      <a:r>
                        <a:rPr sz="1000"/>
                        <a:t>8</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fao_supply</a:t>
                      </a:r>
                    </a:p>
                  </a:txBody>
                  <a:tcPr/>
                </a:tc>
                <a:tc>
                  <a:txBody>
                    <a:bodyPr/>
                    <a:lstStyle/>
                    <a:p>
                      <a:pPr marL="0" lvl="0" indent="0" algn="l">
                        <a:buNone/>
                      </a:pPr>
                      <a:r>
                        <a:rPr sz="1000"/>
                        <a:t>0</a:t>
                      </a:r>
                    </a:p>
                  </a:txBody>
                  <a:tcPr/>
                </a:tc>
                <a:extLst>
                  <a:ext uri="{0D108BD9-81ED-4DB2-BD59-A6C34878D82A}">
                    <a16:rowId xmlns:a16="http://schemas.microsoft.com/office/drawing/2014/main" val="10015"/>
                  </a:ext>
                </a:extLst>
              </a:tr>
              <a:tr h="0">
                <a:tc>
                  <a:txBody>
                    <a:bodyPr/>
                    <a:lstStyle/>
                    <a:p>
                      <a:pPr marL="0" lvl="0" indent="0" algn="l">
                        <a:buNone/>
                      </a:pPr>
                      <a:r>
                        <a:rPr sz="1000"/>
                        <a:t>Gridded Livestock of the World</a:t>
                      </a:r>
                    </a:p>
                  </a:txBody>
                  <a:tcPr/>
                </a:tc>
                <a:tc>
                  <a:txBody>
                    <a:bodyPr/>
                    <a:lstStyle/>
                    <a:p>
                      <a:pPr marL="0" lvl="0" indent="0" algn="r">
                        <a:buNone/>
                      </a:pPr>
                      <a:r>
                        <a:rPr sz="1000"/>
                        <a:t>8</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glw4</a:t>
                      </a:r>
                    </a:p>
                  </a:txBody>
                  <a:tcPr/>
                </a:tc>
                <a:tc>
                  <a:txBody>
                    <a:bodyPr/>
                    <a:lstStyle/>
                    <a:p>
                      <a:pPr marL="0" lvl="0" indent="0" algn="l">
                        <a:buNone/>
                      </a:pPr>
                      <a:r>
                        <a:rPr sz="1000"/>
                        <a:t>3</a:t>
                      </a:r>
                    </a:p>
                  </a:txBody>
                  <a:tcPr/>
                </a:tc>
                <a:extLst>
                  <a:ext uri="{0D108BD9-81ED-4DB2-BD59-A6C34878D82A}">
                    <a16:rowId xmlns:a16="http://schemas.microsoft.com/office/drawing/2014/main" val="10016"/>
                  </a:ext>
                </a:extLst>
              </a:tr>
              <a:tr h="0">
                <a:tc>
                  <a:txBody>
                    <a:bodyPr/>
                    <a:lstStyle/>
                    <a:p>
                      <a:pPr marL="0" lvl="0" indent="0" algn="l">
                        <a:buNone/>
                      </a:pPr>
                      <a:r>
                        <a:rPr sz="1000"/>
                        <a:t>Earth Engine: water and coast distance</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water_static</a:t>
                      </a:r>
                    </a:p>
                  </a:txBody>
                  <a:tcPr/>
                </a:tc>
                <a:tc>
                  <a:txBody>
                    <a:bodyPr/>
                    <a:lstStyle/>
                    <a:p>
                      <a:pPr marL="0" lvl="0" indent="0" algn="l">
                        <a:buNone/>
                      </a:pPr>
                      <a:r>
                        <a:rPr sz="1000"/>
                        <a:t>static</a:t>
                      </a:r>
                    </a:p>
                  </a:txBody>
                  <a:tcPr/>
                </a:tc>
                <a:extLst>
                  <a:ext uri="{0D108BD9-81ED-4DB2-BD59-A6C34878D82A}">
                    <a16:rowId xmlns:a16="http://schemas.microsoft.com/office/drawing/2014/main" val="10017"/>
                  </a:ext>
                </a:extLst>
              </a:tr>
              <a:tr h="0">
                <a:tc>
                  <a:txBody>
                    <a:bodyPr/>
                    <a:lstStyle/>
                    <a:p>
                      <a:pPr marL="0" lvl="0" indent="0" algn="l">
                        <a:buNone/>
                      </a:pPr>
                      <a:r>
                        <a:rPr sz="1000"/>
                        <a:t>MIMI dietary inadequacy (Ghana)</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mimi_glss7</a:t>
                      </a:r>
                    </a:p>
                  </a:txBody>
                  <a:tcPr/>
                </a:tc>
                <a:tc>
                  <a:txBody>
                    <a:bodyPr/>
                    <a:lstStyle/>
                    <a:p>
                      <a:pPr marL="0" lvl="0" indent="0" algn="l">
                        <a:buNone/>
                      </a:pPr>
                      <a:r>
                        <a:rPr sz="1000"/>
                        <a:t>1</a:t>
                      </a:r>
                    </a:p>
                  </a:txBody>
                  <a:tcPr/>
                </a:tc>
                <a:extLst>
                  <a:ext uri="{0D108BD9-81ED-4DB2-BD59-A6C34878D82A}">
                    <a16:rowId xmlns:a16="http://schemas.microsoft.com/office/drawing/2014/main" val="10018"/>
                  </a:ext>
                </a:extLst>
              </a:tr>
              <a:tr h="0">
                <a:tc>
                  <a:txBody>
                    <a:bodyPr/>
                    <a:lstStyle/>
                    <a:p>
                      <a:pPr marL="0" lvl="0" indent="0" algn="l">
                        <a:buNone/>
                      </a:pPr>
                      <a:r>
                        <a:rPr sz="1000"/>
                        <a:t>WHO ESPEN helminths</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espen_mda, espen_nearest</a:t>
                      </a:r>
                    </a:p>
                  </a:txBody>
                  <a:tcPr/>
                </a:tc>
                <a:tc>
                  <a:txBody>
                    <a:bodyPr/>
                    <a:lstStyle/>
                    <a:p>
                      <a:pPr marL="0" lvl="0" indent="0" algn="l">
                        <a:buNone/>
                      </a:pPr>
                      <a:r>
                        <a:rPr sz="1000"/>
                        <a:t>3</a:t>
                      </a:r>
                    </a:p>
                  </a:txBody>
                  <a:tcPr/>
                </a:tc>
                <a:extLst>
                  <a:ext uri="{0D108BD9-81ED-4DB2-BD59-A6C34878D82A}">
                    <a16:rowId xmlns:a16="http://schemas.microsoft.com/office/drawing/2014/main" val="10019"/>
                  </a:ext>
                </a:extLst>
              </a:tr>
              <a:tr h="0">
                <a:tc>
                  <a:txBody>
                    <a:bodyPr/>
                    <a:lstStyle/>
                    <a:p>
                      <a:pPr marL="0" lvl="0" indent="0" algn="l">
                        <a:buNone/>
                      </a:pPr>
                      <a:r>
                        <a:rPr sz="1000"/>
                        <a:t>World Bank RTFP prices</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rtfp_window</a:t>
                      </a:r>
                    </a:p>
                  </a:txBody>
                  <a:tcPr/>
                </a:tc>
                <a:tc>
                  <a:txBody>
                    <a:bodyPr/>
                    <a:lstStyle/>
                    <a:p>
                      <a:pPr marL="0" lvl="0" indent="0" algn="l">
                        <a:buNone/>
                      </a:pPr>
                      <a:r>
                        <a:rPr sz="1000"/>
                        <a:t>0</a:t>
                      </a:r>
                    </a:p>
                  </a:txBody>
                  <a:tcPr/>
                </a:tc>
                <a:extLst>
                  <a:ext uri="{0D108BD9-81ED-4DB2-BD59-A6C34878D82A}">
                    <a16:rowId xmlns:a16="http://schemas.microsoft.com/office/drawing/2014/main" val="10020"/>
                  </a:ext>
                </a:extLst>
              </a:tr>
              <a:tr h="0">
                <a:tc>
                  <a:txBody>
                    <a:bodyPr/>
                    <a:lstStyle/>
                    <a:p>
                      <a:pPr marL="0" lvl="0" indent="0" algn="l">
                        <a:buNone/>
                      </a:pPr>
                      <a:r>
                        <a:rPr sz="1000"/>
                        <a:t>WHO anaemia estimates</a:t>
                      </a:r>
                    </a:p>
                  </a:txBody>
                  <a:tcPr/>
                </a:tc>
                <a:tc>
                  <a:txBody>
                    <a:bodyPr/>
                    <a:lstStyle/>
                    <a:p>
                      <a:pPr marL="0" lvl="0" indent="0" algn="r">
                        <a:buNone/>
                      </a:pPr>
                      <a:r>
                        <a:rPr sz="1000"/>
                        <a:t>5</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who_anaemia_sy</a:t>
                      </a:r>
                    </a:p>
                  </a:txBody>
                  <a:tcPr/>
                </a:tc>
                <a:tc>
                  <a:txBody>
                    <a:bodyPr/>
                    <a:lstStyle/>
                    <a:p>
                      <a:pPr marL="0" lvl="0" indent="0" algn="l">
                        <a:buNone/>
                      </a:pPr>
                      <a:r>
                        <a:rPr sz="1000"/>
                        <a:t>0</a:t>
                      </a:r>
                    </a:p>
                  </a:txBody>
                  <a:tcPr/>
                </a:tc>
                <a:extLst>
                  <a:ext uri="{0D108BD9-81ED-4DB2-BD59-A6C34878D82A}">
                    <a16:rowId xmlns:a16="http://schemas.microsoft.com/office/drawing/2014/main" val="10021"/>
                  </a:ext>
                </a:extLst>
              </a:tr>
              <a:tr h="0">
                <a:tc>
                  <a:txBody>
                    <a:bodyPr/>
                    <a:lstStyle/>
                    <a:p>
                      <a:pPr marL="0" lvl="0" indent="0" algn="l">
                        <a:buNone/>
                      </a:pPr>
                      <a:r>
                        <a:rPr sz="1000"/>
                        <a:t>HFID food security</a:t>
                      </a:r>
                    </a:p>
                  </a:txBody>
                  <a:tcPr/>
                </a:tc>
                <a:tc>
                  <a:txBody>
                    <a:bodyPr/>
                    <a:lstStyle/>
                    <a:p>
                      <a:pPr marL="0" lvl="0" indent="0" algn="r">
                        <a:buNone/>
                      </a:pPr>
                      <a:r>
                        <a:rPr sz="1000"/>
                        <a:t>4</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fsec_window</a:t>
                      </a:r>
                    </a:p>
                  </a:txBody>
                  <a:tcPr/>
                </a:tc>
                <a:tc>
                  <a:txBody>
                    <a:bodyPr/>
                    <a:lstStyle/>
                    <a:p>
                      <a:pPr marL="0" lvl="0" indent="0" algn="l">
                        <a:buNone/>
                      </a:pPr>
                      <a:r>
                        <a:rPr sz="1000"/>
                        <a:t>0</a:t>
                      </a:r>
                    </a:p>
                  </a:txBody>
                  <a:tcPr/>
                </a:tc>
                <a:extLst>
                  <a:ext uri="{0D108BD9-81ED-4DB2-BD59-A6C34878D82A}">
                    <a16:rowId xmlns:a16="http://schemas.microsoft.com/office/drawing/2014/main" val="10022"/>
                  </a:ext>
                </a:extLst>
              </a:tr>
              <a:tr h="0">
                <a:tc>
                  <a:txBody>
                    <a:bodyPr/>
                    <a:lstStyle/>
                    <a:p>
                      <a:pPr marL="0" lvl="0" indent="0" algn="l">
                        <a:buNone/>
                      </a:pPr>
                      <a:r>
                        <a:rPr sz="1000"/>
                        <a:t>WHO FluNet</a:t>
                      </a:r>
                    </a:p>
                  </a:txBody>
                  <a:tcPr/>
                </a:tc>
                <a:tc>
                  <a:txBody>
                    <a:bodyPr/>
                    <a:lstStyle/>
                    <a:p>
                      <a:pPr marL="0" lvl="0" indent="0" algn="r">
                        <a:buNone/>
                      </a:pPr>
                      <a:r>
                        <a:rPr sz="1000"/>
                        <a:t>3</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flunet_sy</a:t>
                      </a:r>
                    </a:p>
                  </a:txBody>
                  <a:tcPr/>
                </a:tc>
                <a:tc>
                  <a:txBody>
                    <a:bodyPr/>
                    <a:lstStyle/>
                    <a:p>
                      <a:pPr marL="0" lvl="0" indent="0" algn="l">
                        <a:buNone/>
                      </a:pPr>
                      <a:r>
                        <a:rPr sz="1000"/>
                        <a:t>0</a:t>
                      </a:r>
                    </a:p>
                  </a:txBody>
                  <a:tcPr/>
                </a:tc>
                <a:extLst>
                  <a:ext uri="{0D108BD9-81ED-4DB2-BD59-A6C34878D82A}">
                    <a16:rowId xmlns:a16="http://schemas.microsoft.com/office/drawing/2014/main" val="10023"/>
                  </a:ext>
                </a:extLst>
              </a:tr>
              <a:tr h="0">
                <a:tc>
                  <a:txBody>
                    <a:bodyPr/>
                    <a:lstStyle/>
                    <a:p>
                      <a:pPr marL="0" lvl="0" indent="0" algn="l">
                        <a:buNone/>
                      </a:pPr>
                      <a:r>
                        <a:rPr sz="1000"/>
                        <a:t>Global Data Lab HDI</a:t>
                      </a:r>
                    </a:p>
                  </a:txBody>
                  <a:tcPr/>
                </a:tc>
                <a:tc>
                  <a:txBody>
                    <a:bodyPr/>
                    <a:lstStyle/>
                    <a:p>
                      <a:pPr marL="0" lvl="0" indent="0" algn="r">
                        <a:buNone/>
                      </a:pPr>
                      <a:r>
                        <a:rPr sz="1000"/>
                        <a:t>2</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gdl_sy</a:t>
                      </a:r>
                    </a:p>
                  </a:txBody>
                  <a:tcPr/>
                </a:tc>
                <a:tc>
                  <a:txBody>
                    <a:bodyPr/>
                    <a:lstStyle/>
                    <a:p>
                      <a:pPr marL="0" lvl="0" indent="0" algn="l">
                        <a:buNone/>
                      </a:pPr>
                      <a:r>
                        <a:rPr sz="1000"/>
                        <a:t>0</a:t>
                      </a:r>
                    </a:p>
                  </a:txBody>
                  <a:tcPr/>
                </a:tc>
                <a:extLst>
                  <a:ext uri="{0D108BD9-81ED-4DB2-BD59-A6C34878D82A}">
                    <a16:rowId xmlns:a16="http://schemas.microsoft.com/office/drawing/2014/main" val="10024"/>
                  </a:ext>
                </a:extLst>
              </a:tr>
              <a:tr h="0">
                <a:tc>
                  <a:txBody>
                    <a:bodyPr/>
                    <a:lstStyle/>
                    <a:p>
                      <a:pPr marL="0" lvl="0" indent="0" algn="l">
                        <a:buNone/>
                      </a:pPr>
                      <a:r>
                        <a:rPr sz="1000"/>
                        <a:t>UNICEF vitamin A supplementation</a:t>
                      </a:r>
                    </a:p>
                  </a:txBody>
                  <a:tcPr/>
                </a:tc>
                <a:tc>
                  <a:txBody>
                    <a:bodyPr/>
                    <a:lstStyle/>
                    <a:p>
                      <a:pPr marL="0" lvl="0" indent="0" algn="r">
                        <a:buNone/>
                      </a:pPr>
                      <a:r>
                        <a:rPr sz="1000"/>
                        <a:t>1</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vas_sy</a:t>
                      </a:r>
                    </a:p>
                  </a:txBody>
                  <a:tcPr/>
                </a:tc>
                <a:tc>
                  <a:txBody>
                    <a:bodyPr/>
                    <a:lstStyle/>
                    <a:p>
                      <a:pPr marL="0" lvl="0" indent="0" algn="l">
                        <a:buNone/>
                      </a:pPr>
                      <a:r>
                        <a:rPr sz="1000"/>
                        <a:t>0</a:t>
                      </a:r>
                    </a:p>
                  </a:txBody>
                  <a:tcPr/>
                </a:tc>
                <a:extLst>
                  <a:ext uri="{0D108BD9-81ED-4DB2-BD59-A6C34878D82A}">
                    <a16:rowId xmlns:a16="http://schemas.microsoft.com/office/drawing/2014/main" val="1002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Variable importance for child iron.</a:t>
            </a:r>
            <a:endParaRPr dirty="0"/>
          </a:p>
        </p:txBody>
      </p:sp>
      <p:pic>
        <p:nvPicPr>
          <p:cNvPr id="4" name="Picture 3">
            <a:extLst>
              <a:ext uri="{FF2B5EF4-FFF2-40B4-BE49-F238E27FC236}">
                <a16:creationId xmlns:a16="http://schemas.microsoft.com/office/drawing/2014/main" id="{2D13BDAF-BEC8-6A13-13D8-236643AE8AE5}"/>
              </a:ext>
            </a:extLst>
          </p:cNvPr>
          <p:cNvPicPr>
            <a:picLocks noChangeAspect="1"/>
          </p:cNvPicPr>
          <p:nvPr/>
        </p:nvPicPr>
        <p:blipFill>
          <a:blip r:embed="rId3"/>
          <a:stretch>
            <a:fillRect/>
          </a:stretch>
        </p:blipFill>
        <p:spPr>
          <a:xfrm>
            <a:off x="1674091" y="1582522"/>
            <a:ext cx="7602112" cy="442304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 set by domain and tier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156720755"/>
              </p:ext>
            </p:extLst>
          </p:nvPr>
        </p:nvGraphicFramePr>
        <p:xfrm>
          <a:off x="838200" y="1496611"/>
          <a:ext cx="10502900" cy="7223760"/>
        </p:xfrm>
        <a:graphic>
          <a:graphicData uri="http://schemas.openxmlformats.org/drawingml/2006/table">
            <a:tbl>
              <a:tblPr firstRow="1" bandRow="1">
                <a:tableStyleId>{5C22544A-7EE6-4342-B048-85BDC9FD1C3A}</a:tableStyleId>
              </a:tblPr>
              <a:tblGrid>
                <a:gridCol w="4254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gridCol w="342900">
                  <a:extLst>
                    <a:ext uri="{9D8B030D-6E8A-4147-A177-3AD203B41FA5}">
                      <a16:colId xmlns:a16="http://schemas.microsoft.com/office/drawing/2014/main" val="20004"/>
                    </a:ext>
                  </a:extLst>
                </a:gridCol>
                <a:gridCol w="1739900">
                  <a:extLst>
                    <a:ext uri="{9D8B030D-6E8A-4147-A177-3AD203B41FA5}">
                      <a16:colId xmlns:a16="http://schemas.microsoft.com/office/drawing/2014/main" val="20005"/>
                    </a:ext>
                  </a:extLst>
                </a:gridCol>
                <a:gridCol w="1562100">
                  <a:extLst>
                    <a:ext uri="{9D8B030D-6E8A-4147-A177-3AD203B41FA5}">
                      <a16:colId xmlns:a16="http://schemas.microsoft.com/office/drawing/2014/main" val="20006"/>
                    </a:ext>
                  </a:extLst>
                </a:gridCol>
              </a:tblGrid>
              <a:tr h="0">
                <a:tc>
                  <a:txBody>
                    <a:bodyPr/>
                    <a:lstStyle/>
                    <a:p>
                      <a:pPr marL="0" lvl="0" indent="0" algn="l">
                        <a:buNone/>
                      </a:pPr>
                      <a:r>
                        <a:rPr sz="1000"/>
                        <a:t>Domain</a:t>
                      </a:r>
                    </a:p>
                  </a:txBody>
                  <a:tcPr/>
                </a:tc>
                <a:tc>
                  <a:txBody>
                    <a:bodyPr/>
                    <a:lstStyle/>
                    <a:p>
                      <a:pPr marL="0" lvl="0" indent="0" algn="r">
                        <a:buNone/>
                      </a:pPr>
                      <a:r>
                        <a:rPr sz="1000"/>
                        <a:t>Columns</a:t>
                      </a:r>
                    </a:p>
                  </a:txBody>
                  <a:tcPr/>
                </a:tc>
                <a:tc>
                  <a:txBody>
                    <a:bodyPr/>
                    <a:lstStyle/>
                    <a:p>
                      <a:pPr marL="0" lvl="0" indent="0" algn="r">
                        <a:buNone/>
                      </a:pPr>
                      <a:r>
                        <a:rPr sz="1000"/>
                        <a:t>Open</a:t>
                      </a:r>
                    </a:p>
                  </a:txBody>
                  <a:tcPr/>
                </a:tc>
                <a:tc>
                  <a:txBody>
                    <a:bodyPr/>
                    <a:lstStyle/>
                    <a:p>
                      <a:pPr marL="0" lvl="0" indent="0" algn="r">
                        <a:buNone/>
                      </a:pPr>
                      <a:r>
                        <a:rPr sz="1000"/>
                        <a:t>Public microdata</a:t>
                      </a:r>
                    </a:p>
                  </a:txBody>
                  <a:tcPr/>
                </a:tc>
                <a:tc>
                  <a:txBody>
                    <a:bodyPr/>
                    <a:lstStyle/>
                    <a:p>
                      <a:pPr marL="0" lvl="0" indent="0" algn="r">
                        <a:buNone/>
                      </a:pPr>
                      <a:r>
                        <a:rPr sz="1000"/>
                        <a:t>DHS</a:t>
                      </a:r>
                    </a:p>
                  </a:txBody>
                  <a:tcPr/>
                </a:tc>
                <a:tc>
                  <a:txBody>
                    <a:bodyPr/>
                    <a:lstStyle/>
                    <a:p>
                      <a:pPr marL="0" lvl="0" indent="0" algn="r">
                        <a:buNone/>
                      </a:pPr>
                      <a:r>
                        <a:rPr sz="1000"/>
                        <a:t>Vary within country</a:t>
                      </a:r>
                    </a:p>
                  </a:txBody>
                  <a:tcPr/>
                </a:tc>
                <a:tc>
                  <a:txBody>
                    <a:bodyPr/>
                    <a:lstStyle/>
                    <a:p>
                      <a:pPr marL="0" lvl="0" indent="0" algn="r">
                        <a:buNone/>
                      </a:pPr>
                      <a:r>
                        <a:rPr sz="1000"/>
                        <a:t>Modelled surfaces</a:t>
                      </a:r>
                    </a:p>
                  </a:txBody>
                  <a:tcPr/>
                </a:tc>
                <a:extLst>
                  <a:ext uri="{0D108BD9-81ED-4DB2-BD59-A6C34878D82A}">
                    <a16:rowId xmlns:a16="http://schemas.microsoft.com/office/drawing/2014/main" val="10000"/>
                  </a:ext>
                </a:extLst>
              </a:tr>
              <a:tr h="0">
                <a:tc>
                  <a:txBody>
                    <a:bodyPr/>
                    <a:lstStyle/>
                    <a:p>
                      <a:pPr marL="0" lvl="0" indent="0" algn="l">
                        <a:buNone/>
                      </a:pPr>
                      <a:r>
                        <a:rPr sz="1000"/>
                        <a:t>Satellite embedding</a:t>
                      </a:r>
                    </a:p>
                  </a:txBody>
                  <a:tcPr/>
                </a:tc>
                <a:tc>
                  <a:txBody>
                    <a:bodyPr/>
                    <a:lstStyle/>
                    <a:p>
                      <a:pPr marL="0" lvl="0" indent="0" algn="r">
                        <a:buNone/>
                      </a:pPr>
                      <a:r>
                        <a:rPr sz="1000"/>
                        <a:t>64</a:t>
                      </a:r>
                    </a:p>
                  </a:txBody>
                  <a:tcPr/>
                </a:tc>
                <a:tc>
                  <a:txBody>
                    <a:bodyPr/>
                    <a:lstStyle/>
                    <a:p>
                      <a:pPr marL="0" lvl="0" indent="0" algn="r">
                        <a:buNone/>
                      </a:pPr>
                      <a:r>
                        <a:rPr sz="1000"/>
                        <a:t>64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64</a:t>
                      </a:r>
                    </a:p>
                  </a:txBody>
                  <a:tcPr/>
                </a:tc>
                <a:tc>
                  <a:txBody>
                    <a:bodyPr/>
                    <a:lstStyle/>
                    <a:p>
                      <a:pPr marL="0" lvl="0" indent="0" algn="r">
                        <a:buNone/>
                      </a:pPr>
                      <a:r>
                        <a:rPr sz="1000"/>
                        <a:t>0</a:t>
                      </a:r>
                    </a:p>
                  </a:txBody>
                  <a:tcPr/>
                </a:tc>
                <a:extLst>
                  <a:ext uri="{0D108BD9-81ED-4DB2-BD59-A6C34878D82A}">
                    <a16:rowId xmlns:a16="http://schemas.microsoft.com/office/drawing/2014/main" val="10001"/>
                  </a:ext>
                </a:extLst>
              </a:tr>
              <a:tr h="0">
                <a:tc>
                  <a:txBody>
                    <a:bodyPr/>
                    <a:lstStyle/>
                    <a:p>
                      <a:pPr marL="0" lvl="0" indent="0" algn="l">
                        <a:buNone/>
                      </a:pPr>
                      <a:r>
                        <a:rPr sz="1000"/>
                        <a:t>Climate and weather</a:t>
                      </a:r>
                    </a:p>
                  </a:txBody>
                  <a:tcPr/>
                </a:tc>
                <a:tc>
                  <a:txBody>
                    <a:bodyPr/>
                    <a:lstStyle/>
                    <a:p>
                      <a:pPr marL="0" lvl="0" indent="0" algn="r">
                        <a:buNone/>
                      </a:pPr>
                      <a:r>
                        <a:rPr sz="1000"/>
                        <a:t>60</a:t>
                      </a:r>
                    </a:p>
                  </a:txBody>
                  <a:tcPr/>
                </a:tc>
                <a:tc>
                  <a:txBody>
                    <a:bodyPr/>
                    <a:lstStyle/>
                    <a:p>
                      <a:pPr marL="0" lvl="0" indent="0" algn="r">
                        <a:buNone/>
                      </a:pPr>
                      <a:r>
                        <a:rPr sz="1000"/>
                        <a:t>60</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60</a:t>
                      </a:r>
                    </a:p>
                  </a:txBody>
                  <a:tcPr/>
                </a:tc>
                <a:tc>
                  <a:txBody>
                    <a:bodyPr/>
                    <a:lstStyle/>
                    <a:p>
                      <a:pPr marL="0" lvl="0" indent="0" algn="r">
                        <a:buNone/>
                      </a:pPr>
                      <a:r>
                        <a:rPr sz="1000"/>
                        <a:t>0</a:t>
                      </a:r>
                    </a:p>
                  </a:txBody>
                  <a:tcPr/>
                </a:tc>
                <a:extLst>
                  <a:ext uri="{0D108BD9-81ED-4DB2-BD59-A6C34878D82A}">
                    <a16:rowId xmlns:a16="http://schemas.microsoft.com/office/drawing/2014/main" val="10002"/>
                  </a:ext>
                </a:extLst>
              </a:tr>
              <a:tr h="0">
                <a:tc>
                  <a:txBody>
                    <a:bodyPr/>
                    <a:lstStyle/>
                    <a:p>
                      <a:pPr marL="0" lvl="0" indent="0" algn="l">
                        <a:buNone/>
                      </a:pPr>
                      <a:r>
                        <a:rPr sz="1000" dirty="0"/>
                        <a:t>Soil characteristics</a:t>
                      </a:r>
                    </a:p>
                  </a:txBody>
                  <a:tcPr/>
                </a:tc>
                <a:tc>
                  <a:txBody>
                    <a:bodyPr/>
                    <a:lstStyle/>
                    <a:p>
                      <a:pPr marL="0" lvl="0" indent="0" algn="r">
                        <a:buNone/>
                      </a:pPr>
                      <a:r>
                        <a:rPr sz="1000"/>
                        <a:t>45</a:t>
                      </a:r>
                    </a:p>
                  </a:txBody>
                  <a:tcPr/>
                </a:tc>
                <a:tc>
                  <a:txBody>
                    <a:bodyPr/>
                    <a:lstStyle/>
                    <a:p>
                      <a:pPr marL="0" lvl="0" indent="0" algn="r">
                        <a:buNone/>
                      </a:pPr>
                      <a:r>
                        <a:rPr sz="1000"/>
                        <a:t>45</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45</a:t>
                      </a:r>
                    </a:p>
                  </a:txBody>
                  <a:tcPr/>
                </a:tc>
                <a:tc>
                  <a:txBody>
                    <a:bodyPr/>
                    <a:lstStyle/>
                    <a:p>
                      <a:pPr marL="0" lvl="0" indent="0" algn="r">
                        <a:buNone/>
                      </a:pPr>
                      <a:r>
                        <a:rPr sz="1000"/>
                        <a:t>0</a:t>
                      </a:r>
                    </a:p>
                  </a:txBody>
                  <a:tcPr/>
                </a:tc>
                <a:extLst>
                  <a:ext uri="{0D108BD9-81ED-4DB2-BD59-A6C34878D82A}">
                    <a16:rowId xmlns:a16="http://schemas.microsoft.com/office/drawing/2014/main" val="10003"/>
                  </a:ext>
                </a:extLst>
              </a:tr>
              <a:tr h="0">
                <a:tc>
                  <a:txBody>
                    <a:bodyPr/>
                    <a:lstStyle/>
                    <a:p>
                      <a:pPr marL="0" lvl="0" indent="0" algn="l">
                        <a:buNone/>
                      </a:pPr>
                      <a:r>
                        <a:rPr sz="1000"/>
                        <a:t>Infection and inflammation burden</a:t>
                      </a:r>
                    </a:p>
                  </a:txBody>
                  <a:tcPr/>
                </a:tc>
                <a:tc>
                  <a:txBody>
                    <a:bodyPr/>
                    <a:lstStyle/>
                    <a:p>
                      <a:pPr marL="0" lvl="0" indent="0" algn="r">
                        <a:buNone/>
                      </a:pPr>
                      <a:r>
                        <a:rPr sz="1000"/>
                        <a:t>42</a:t>
                      </a:r>
                    </a:p>
                  </a:txBody>
                  <a:tcPr/>
                </a:tc>
                <a:tc>
                  <a:txBody>
                    <a:bodyPr/>
                    <a:lstStyle/>
                    <a:p>
                      <a:pPr marL="0" lvl="0" indent="0" algn="r">
                        <a:buNone/>
                      </a:pPr>
                      <a:r>
                        <a:rPr sz="1000"/>
                        <a:t>30</a:t>
                      </a:r>
                    </a:p>
                  </a:txBody>
                  <a:tcPr/>
                </a:tc>
                <a:tc>
                  <a:txBody>
                    <a:bodyPr/>
                    <a:lstStyle/>
                    <a:p>
                      <a:pPr marL="0" lvl="0" indent="0" algn="r">
                        <a:buNone/>
                      </a:pPr>
                      <a:r>
                        <a:rPr sz="1000"/>
                        <a:t>4</a:t>
                      </a:r>
                    </a:p>
                  </a:txBody>
                  <a:tcPr/>
                </a:tc>
                <a:tc>
                  <a:txBody>
                    <a:bodyPr/>
                    <a:lstStyle/>
                    <a:p>
                      <a:pPr marL="0" lvl="0" indent="0" algn="r">
                        <a:buNone/>
                      </a:pPr>
                      <a:r>
                        <a:rPr sz="1000"/>
                        <a:t>8</a:t>
                      </a:r>
                    </a:p>
                  </a:txBody>
                  <a:tcPr/>
                </a:tc>
                <a:tc>
                  <a:txBody>
                    <a:bodyPr/>
                    <a:lstStyle/>
                    <a:p>
                      <a:pPr marL="0" lvl="0" indent="0" algn="r">
                        <a:buNone/>
                      </a:pPr>
                      <a:r>
                        <a:rPr sz="1000"/>
                        <a:t>39</a:t>
                      </a:r>
                    </a:p>
                  </a:txBody>
                  <a:tcPr/>
                </a:tc>
                <a:tc>
                  <a:txBody>
                    <a:bodyPr/>
                    <a:lstStyle/>
                    <a:p>
                      <a:pPr marL="0" lvl="0" indent="0" algn="r">
                        <a:buNone/>
                      </a:pPr>
                      <a:r>
                        <a:rPr sz="1000"/>
                        <a:t>10</a:t>
                      </a:r>
                    </a:p>
                  </a:txBody>
                  <a:tcPr/>
                </a:tc>
                <a:extLst>
                  <a:ext uri="{0D108BD9-81ED-4DB2-BD59-A6C34878D82A}">
                    <a16:rowId xmlns:a16="http://schemas.microsoft.com/office/drawing/2014/main" val="10004"/>
                  </a:ext>
                </a:extLst>
              </a:tr>
              <a:tr h="0">
                <a:tc>
                  <a:txBody>
                    <a:bodyPr/>
                    <a:lstStyle/>
                    <a:p>
                      <a:pPr marL="0" lvl="0" indent="0" algn="l">
                        <a:buNone/>
                      </a:pPr>
                      <a:r>
                        <a:rPr sz="1000"/>
                        <a:t>Food fortification and supplementation</a:t>
                      </a:r>
                    </a:p>
                  </a:txBody>
                  <a:tcPr/>
                </a:tc>
                <a:tc>
                  <a:txBody>
                    <a:bodyPr/>
                    <a:lstStyle/>
                    <a:p>
                      <a:pPr marL="0" lvl="0" indent="0" algn="r">
                        <a:buNone/>
                      </a:pPr>
                      <a:r>
                        <a:rPr sz="1000"/>
                        <a:t>35</a:t>
                      </a:r>
                    </a:p>
                  </a:txBody>
                  <a:tcPr/>
                </a:tc>
                <a:tc>
                  <a:txBody>
                    <a:bodyPr/>
                    <a:lstStyle/>
                    <a:p>
                      <a:pPr marL="0" lvl="0" indent="0" algn="r">
                        <a:buNone/>
                      </a:pPr>
                      <a:r>
                        <a:rPr sz="1000"/>
                        <a:t>25</a:t>
                      </a:r>
                    </a:p>
                  </a:txBody>
                  <a:tcPr/>
                </a:tc>
                <a:tc>
                  <a:txBody>
                    <a:bodyPr/>
                    <a:lstStyle/>
                    <a:p>
                      <a:pPr marL="0" lvl="0" indent="0" algn="r">
                        <a:buNone/>
                      </a:pPr>
                      <a:r>
                        <a:rPr sz="1000"/>
                        <a:t>3</a:t>
                      </a:r>
                    </a:p>
                  </a:txBody>
                  <a:tcPr/>
                </a:tc>
                <a:tc>
                  <a:txBody>
                    <a:bodyPr/>
                    <a:lstStyle/>
                    <a:p>
                      <a:pPr marL="0" lvl="0" indent="0" algn="r">
                        <a:buNone/>
                      </a:pPr>
                      <a:r>
                        <a:rPr sz="1000"/>
                        <a:t>7</a:t>
                      </a:r>
                    </a:p>
                  </a:txBody>
                  <a:tcPr/>
                </a:tc>
                <a:tc>
                  <a:txBody>
                    <a:bodyPr/>
                    <a:lstStyle/>
                    <a:p>
                      <a:pPr marL="0" lvl="0" indent="0" algn="r">
                        <a:buNone/>
                      </a:pPr>
                      <a:r>
                        <a:rPr sz="1000"/>
                        <a:t>10</a:t>
                      </a:r>
                    </a:p>
                  </a:txBody>
                  <a:tcPr/>
                </a:tc>
                <a:tc>
                  <a:txBody>
                    <a:bodyPr/>
                    <a:lstStyle/>
                    <a:p>
                      <a:pPr marL="0" lvl="0" indent="0" algn="r">
                        <a:buNone/>
                      </a:pPr>
                      <a:r>
                        <a:rPr sz="1000"/>
                        <a:t>0</a:t>
                      </a:r>
                    </a:p>
                  </a:txBody>
                  <a:tcPr/>
                </a:tc>
                <a:extLst>
                  <a:ext uri="{0D108BD9-81ED-4DB2-BD59-A6C34878D82A}">
                    <a16:rowId xmlns:a16="http://schemas.microsoft.com/office/drawing/2014/main" val="10005"/>
                  </a:ext>
                </a:extLst>
              </a:tr>
              <a:tr h="0">
                <a:tc>
                  <a:txBody>
                    <a:bodyPr/>
                    <a:lstStyle/>
                    <a:p>
                      <a:pPr marL="0" lvl="0" indent="0" algn="l">
                        <a:buNone/>
                      </a:pPr>
                      <a:r>
                        <a:rPr sz="1000"/>
                        <a:t>Immunisation</a:t>
                      </a:r>
                    </a:p>
                  </a:txBody>
                  <a:tcPr/>
                </a:tc>
                <a:tc>
                  <a:txBody>
                    <a:bodyPr/>
                    <a:lstStyle/>
                    <a:p>
                      <a:pPr marL="0" lvl="0" indent="0" algn="r">
                        <a:buNone/>
                      </a:pPr>
                      <a:r>
                        <a:rPr sz="1000"/>
                        <a:t>32</a:t>
                      </a:r>
                    </a:p>
                  </a:txBody>
                  <a:tcPr/>
                </a:tc>
                <a:tc>
                  <a:txBody>
                    <a:bodyPr/>
                    <a:lstStyle/>
                    <a:p>
                      <a:pPr marL="0" lvl="0" indent="0" algn="r">
                        <a:buNone/>
                      </a:pPr>
                      <a:r>
                        <a:rPr sz="1000"/>
                        <a:t>1</a:t>
                      </a:r>
                    </a:p>
                  </a:txBody>
                  <a:tcPr/>
                </a:tc>
                <a:tc>
                  <a:txBody>
                    <a:bodyPr/>
                    <a:lstStyle/>
                    <a:p>
                      <a:pPr marL="0" lvl="0" indent="0" algn="r">
                        <a:buNone/>
                      </a:pPr>
                      <a:r>
                        <a:rPr sz="1000"/>
                        <a:t>19</a:t>
                      </a:r>
                    </a:p>
                  </a:txBody>
                  <a:tcPr/>
                </a:tc>
                <a:tc>
                  <a:txBody>
                    <a:bodyPr/>
                    <a:lstStyle/>
                    <a:p>
                      <a:pPr marL="0" lvl="0" indent="0" algn="r">
                        <a:buNone/>
                      </a:pPr>
                      <a:r>
                        <a:rPr sz="1000"/>
                        <a:t>12</a:t>
                      </a:r>
                    </a:p>
                  </a:txBody>
                  <a:tcPr/>
                </a:tc>
                <a:tc>
                  <a:txBody>
                    <a:bodyPr/>
                    <a:lstStyle/>
                    <a:p>
                      <a:pPr marL="0" lvl="0" indent="0" algn="r">
                        <a:buNone/>
                      </a:pPr>
                      <a:r>
                        <a:rPr sz="1000"/>
                        <a:t>32</a:t>
                      </a:r>
                    </a:p>
                  </a:txBody>
                  <a:tcPr/>
                </a:tc>
                <a:tc>
                  <a:txBody>
                    <a:bodyPr/>
                    <a:lstStyle/>
                    <a:p>
                      <a:pPr marL="0" lvl="0" indent="0" algn="r">
                        <a:buNone/>
                      </a:pPr>
                      <a:r>
                        <a:rPr sz="1000"/>
                        <a:t>1</a:t>
                      </a:r>
                    </a:p>
                  </a:txBody>
                  <a:tcPr/>
                </a:tc>
                <a:extLst>
                  <a:ext uri="{0D108BD9-81ED-4DB2-BD59-A6C34878D82A}">
                    <a16:rowId xmlns:a16="http://schemas.microsoft.com/office/drawing/2014/main" val="10006"/>
                  </a:ext>
                </a:extLst>
              </a:tr>
              <a:tr h="0">
                <a:tc>
                  <a:txBody>
                    <a:bodyPr/>
                    <a:lstStyle/>
                    <a:p>
                      <a:pPr marL="0" lvl="0" indent="0" algn="l">
                        <a:buNone/>
                      </a:pPr>
                      <a:r>
                        <a:rPr sz="1000"/>
                        <a:t>Agricultural production, land use</a:t>
                      </a:r>
                    </a:p>
                  </a:txBody>
                  <a:tcPr/>
                </a:tc>
                <a:tc>
                  <a:txBody>
                    <a:bodyPr/>
                    <a:lstStyle/>
                    <a:p>
                      <a:pPr marL="0" lvl="0" indent="0" algn="r">
                        <a:buNone/>
                      </a:pPr>
                      <a:r>
                        <a:rPr sz="1000"/>
                        <a:t>29</a:t>
                      </a:r>
                    </a:p>
                  </a:txBody>
                  <a:tcPr/>
                </a:tc>
                <a:tc>
                  <a:txBody>
                    <a:bodyPr/>
                    <a:lstStyle/>
                    <a:p>
                      <a:pPr marL="0" lvl="0" indent="0" algn="r">
                        <a:buNone/>
                      </a:pPr>
                      <a:r>
                        <a:rPr sz="1000"/>
                        <a:t>12</a:t>
                      </a:r>
                    </a:p>
                  </a:txBody>
                  <a:tcPr/>
                </a:tc>
                <a:tc>
                  <a:txBody>
                    <a:bodyPr/>
                    <a:lstStyle/>
                    <a:p>
                      <a:pPr marL="0" lvl="0" indent="0" algn="r">
                        <a:buNone/>
                      </a:pPr>
                      <a:r>
                        <a:rPr sz="1000"/>
                        <a:t>0</a:t>
                      </a:r>
                    </a:p>
                  </a:txBody>
                  <a:tcPr/>
                </a:tc>
                <a:tc>
                  <a:txBody>
                    <a:bodyPr/>
                    <a:lstStyle/>
                    <a:p>
                      <a:pPr marL="0" lvl="0" indent="0" algn="r">
                        <a:buNone/>
                      </a:pPr>
                      <a:r>
                        <a:rPr sz="1000"/>
                        <a:t>17</a:t>
                      </a:r>
                    </a:p>
                  </a:txBody>
                  <a:tcPr/>
                </a:tc>
                <a:tc>
                  <a:txBody>
                    <a:bodyPr/>
                    <a:lstStyle/>
                    <a:p>
                      <a:pPr marL="0" lvl="0" indent="0" algn="r">
                        <a:buNone/>
                      </a:pPr>
                      <a:r>
                        <a:rPr sz="1000"/>
                        <a:t>29</a:t>
                      </a:r>
                    </a:p>
                  </a:txBody>
                  <a:tcPr/>
                </a:tc>
                <a:tc>
                  <a:txBody>
                    <a:bodyPr/>
                    <a:lstStyle/>
                    <a:p>
                      <a:pPr marL="0" lvl="0" indent="0" algn="r">
                        <a:buNone/>
                      </a:pPr>
                      <a:r>
                        <a:rPr sz="1000"/>
                        <a:t>0</a:t>
                      </a:r>
                    </a:p>
                  </a:txBody>
                  <a:tcPr/>
                </a:tc>
                <a:extLst>
                  <a:ext uri="{0D108BD9-81ED-4DB2-BD59-A6C34878D82A}">
                    <a16:rowId xmlns:a16="http://schemas.microsoft.com/office/drawing/2014/main" val="10007"/>
                  </a:ext>
                </a:extLst>
              </a:tr>
              <a:tr h="0">
                <a:tc>
                  <a:txBody>
                    <a:bodyPr/>
                    <a:lstStyle/>
                    <a:p>
                      <a:pPr marL="0" lvl="0" indent="0" algn="l">
                        <a:buNone/>
                      </a:pPr>
                      <a:r>
                        <a:rPr sz="1000"/>
                        <a:t>Education, employment, SES</a:t>
                      </a:r>
                    </a:p>
                  </a:txBody>
                  <a:tcPr/>
                </a:tc>
                <a:tc>
                  <a:txBody>
                    <a:bodyPr/>
                    <a:lstStyle/>
                    <a:p>
                      <a:pPr marL="0" lvl="0" indent="0" algn="r">
                        <a:buNone/>
                      </a:pPr>
                      <a:r>
                        <a:rPr sz="1000"/>
                        <a:t>26</a:t>
                      </a:r>
                    </a:p>
                  </a:txBody>
                  <a:tcPr/>
                </a:tc>
                <a:tc>
                  <a:txBody>
                    <a:bodyPr/>
                    <a:lstStyle/>
                    <a:p>
                      <a:pPr marL="0" lvl="0" indent="0" algn="r">
                        <a:buNone/>
                      </a:pPr>
                      <a:r>
                        <a:rPr sz="1000"/>
                        <a:t>9</a:t>
                      </a:r>
                    </a:p>
                  </a:txBody>
                  <a:tcPr/>
                </a:tc>
                <a:tc>
                  <a:txBody>
                    <a:bodyPr/>
                    <a:lstStyle/>
                    <a:p>
                      <a:pPr marL="0" lvl="0" indent="0" algn="r">
                        <a:buNone/>
                      </a:pPr>
                      <a:r>
                        <a:rPr sz="1000"/>
                        <a:t>4</a:t>
                      </a:r>
                    </a:p>
                  </a:txBody>
                  <a:tcPr/>
                </a:tc>
                <a:tc>
                  <a:txBody>
                    <a:bodyPr/>
                    <a:lstStyle/>
                    <a:p>
                      <a:pPr marL="0" lvl="0" indent="0" algn="r">
                        <a:buNone/>
                      </a:pPr>
                      <a:r>
                        <a:rPr sz="1000"/>
                        <a:t>13</a:t>
                      </a:r>
                    </a:p>
                  </a:txBody>
                  <a:tcPr/>
                </a:tc>
                <a:tc>
                  <a:txBody>
                    <a:bodyPr/>
                    <a:lstStyle/>
                    <a:p>
                      <a:pPr marL="0" lvl="0" indent="0" algn="r">
                        <a:buNone/>
                      </a:pPr>
                      <a:r>
                        <a:rPr sz="1000"/>
                        <a:t>26</a:t>
                      </a:r>
                    </a:p>
                  </a:txBody>
                  <a:tcPr/>
                </a:tc>
                <a:tc>
                  <a:txBody>
                    <a:bodyPr/>
                    <a:lstStyle/>
                    <a:p>
                      <a:pPr marL="0" lvl="0" indent="0" algn="r">
                        <a:buNone/>
                      </a:pPr>
                      <a:r>
                        <a:rPr sz="1000"/>
                        <a:t>4</a:t>
                      </a:r>
                    </a:p>
                  </a:txBody>
                  <a:tcPr/>
                </a:tc>
                <a:extLst>
                  <a:ext uri="{0D108BD9-81ED-4DB2-BD59-A6C34878D82A}">
                    <a16:rowId xmlns:a16="http://schemas.microsoft.com/office/drawing/2014/main" val="10008"/>
                  </a:ext>
                </a:extLst>
              </a:tr>
              <a:tr h="0">
                <a:tc>
                  <a:txBody>
                    <a:bodyPr/>
                    <a:lstStyle/>
                    <a:p>
                      <a:pPr marL="0" lvl="0" indent="0" algn="l">
                        <a:buNone/>
                      </a:pPr>
                      <a:r>
                        <a:rPr sz="1000"/>
                        <a:t>Infant and young child feeding</a:t>
                      </a:r>
                    </a:p>
                  </a:txBody>
                  <a:tcPr/>
                </a:tc>
                <a:tc>
                  <a:txBody>
                    <a:bodyPr/>
                    <a:lstStyle/>
                    <a:p>
                      <a:pPr marL="0" lvl="0" indent="0" algn="r">
                        <a:buNone/>
                      </a:pPr>
                      <a:r>
                        <a:rPr sz="1000"/>
                        <a:t>24</a:t>
                      </a:r>
                    </a:p>
                  </a:txBody>
                  <a:tcPr/>
                </a:tc>
                <a:tc>
                  <a:txBody>
                    <a:bodyPr/>
                    <a:lstStyle/>
                    <a:p>
                      <a:pPr marL="0" lvl="0" indent="0" algn="r">
                        <a:buNone/>
                      </a:pPr>
                      <a:r>
                        <a:rPr sz="1000"/>
                        <a:t>1</a:t>
                      </a:r>
                    </a:p>
                  </a:txBody>
                  <a:tcPr/>
                </a:tc>
                <a:tc>
                  <a:txBody>
                    <a:bodyPr/>
                    <a:lstStyle/>
                    <a:p>
                      <a:pPr marL="0" lvl="0" indent="0" algn="r">
                        <a:buNone/>
                      </a:pPr>
                      <a:r>
                        <a:rPr sz="1000"/>
                        <a:t>7</a:t>
                      </a:r>
                    </a:p>
                  </a:txBody>
                  <a:tcPr/>
                </a:tc>
                <a:tc>
                  <a:txBody>
                    <a:bodyPr/>
                    <a:lstStyle/>
                    <a:p>
                      <a:pPr marL="0" lvl="0" indent="0" algn="r">
                        <a:buNone/>
                      </a:pPr>
                      <a:r>
                        <a:rPr sz="1000"/>
                        <a:t>16</a:t>
                      </a:r>
                    </a:p>
                  </a:txBody>
                  <a:tcPr/>
                </a:tc>
                <a:tc>
                  <a:txBody>
                    <a:bodyPr/>
                    <a:lstStyle/>
                    <a:p>
                      <a:pPr marL="0" lvl="0" indent="0" algn="r">
                        <a:buNone/>
                      </a:pPr>
                      <a:r>
                        <a:rPr sz="1000"/>
                        <a:t>24</a:t>
                      </a:r>
                    </a:p>
                  </a:txBody>
                  <a:tcPr/>
                </a:tc>
                <a:tc>
                  <a:txBody>
                    <a:bodyPr/>
                    <a:lstStyle/>
                    <a:p>
                      <a:pPr marL="0" lvl="0" indent="0" algn="r">
                        <a:buNone/>
                      </a:pPr>
                      <a:r>
                        <a:rPr sz="1000"/>
                        <a:t>1</a:t>
                      </a:r>
                    </a:p>
                  </a:txBody>
                  <a:tcPr/>
                </a:tc>
                <a:extLst>
                  <a:ext uri="{0D108BD9-81ED-4DB2-BD59-A6C34878D82A}">
                    <a16:rowId xmlns:a16="http://schemas.microsoft.com/office/drawing/2014/main" val="10009"/>
                  </a:ext>
                </a:extLst>
              </a:tr>
              <a:tr h="0">
                <a:tc>
                  <a:txBody>
                    <a:bodyPr/>
                    <a:lstStyle/>
                    <a:p>
                      <a:pPr marL="0" lvl="0" indent="0" algn="l">
                        <a:buNone/>
                      </a:pPr>
                      <a:r>
                        <a:rPr sz="1000"/>
                        <a:t>Water and sanitation</a:t>
                      </a:r>
                    </a:p>
                  </a:txBody>
                  <a:tcPr/>
                </a:tc>
                <a:tc>
                  <a:txBody>
                    <a:bodyPr/>
                    <a:lstStyle/>
                    <a:p>
                      <a:pPr marL="0" lvl="0" indent="0" algn="r">
                        <a:buNone/>
                      </a:pPr>
                      <a:r>
                        <a:rPr sz="1000"/>
                        <a:t>24</a:t>
                      </a:r>
                    </a:p>
                  </a:txBody>
                  <a:tcPr/>
                </a:tc>
                <a:tc>
                  <a:txBody>
                    <a:bodyPr/>
                    <a:lstStyle/>
                    <a:p>
                      <a:pPr marL="0" lvl="0" indent="0" algn="r">
                        <a:buNone/>
                      </a:pPr>
                      <a:r>
                        <a:rPr sz="1000"/>
                        <a:t>10</a:t>
                      </a:r>
                    </a:p>
                  </a:txBody>
                  <a:tcPr/>
                </a:tc>
                <a:tc>
                  <a:txBody>
                    <a:bodyPr/>
                    <a:lstStyle/>
                    <a:p>
                      <a:pPr marL="0" lvl="0" indent="0" algn="r">
                        <a:buNone/>
                      </a:pPr>
                      <a:r>
                        <a:rPr sz="1000"/>
                        <a:t>5</a:t>
                      </a:r>
                    </a:p>
                  </a:txBody>
                  <a:tcPr/>
                </a:tc>
                <a:tc>
                  <a:txBody>
                    <a:bodyPr/>
                    <a:lstStyle/>
                    <a:p>
                      <a:pPr marL="0" lvl="0" indent="0" algn="r">
                        <a:buNone/>
                      </a:pPr>
                      <a:r>
                        <a:rPr sz="1000"/>
                        <a:t>9</a:t>
                      </a:r>
                    </a:p>
                  </a:txBody>
                  <a:tcPr/>
                </a:tc>
                <a:tc>
                  <a:txBody>
                    <a:bodyPr/>
                    <a:lstStyle/>
                    <a:p>
                      <a:pPr marL="0" lvl="0" indent="0" algn="r">
                        <a:buNone/>
                      </a:pPr>
                      <a:r>
                        <a:rPr sz="1000"/>
                        <a:t>24</a:t>
                      </a:r>
                    </a:p>
                  </a:txBody>
                  <a:tcPr/>
                </a:tc>
                <a:tc>
                  <a:txBody>
                    <a:bodyPr/>
                    <a:lstStyle/>
                    <a:p>
                      <a:pPr marL="0" lvl="0" indent="0" algn="r">
                        <a:buNone/>
                      </a:pPr>
                      <a:r>
                        <a:rPr sz="1000"/>
                        <a:t>10</a:t>
                      </a:r>
                    </a:p>
                  </a:txBody>
                  <a:tcPr/>
                </a:tc>
                <a:extLst>
                  <a:ext uri="{0D108BD9-81ED-4DB2-BD59-A6C34878D82A}">
                    <a16:rowId xmlns:a16="http://schemas.microsoft.com/office/drawing/2014/main" val="10010"/>
                  </a:ext>
                </a:extLst>
              </a:tr>
              <a:tr h="0">
                <a:tc>
                  <a:txBody>
                    <a:bodyPr/>
                    <a:lstStyle/>
                    <a:p>
                      <a:pPr marL="0" lvl="0" indent="0" algn="l">
                        <a:buNone/>
                      </a:pPr>
                      <a:r>
                        <a:rPr sz="1000"/>
                        <a:t>Food prices and supply</a:t>
                      </a:r>
                    </a:p>
                  </a:txBody>
                  <a:tcPr/>
                </a:tc>
                <a:tc>
                  <a:txBody>
                    <a:bodyPr/>
                    <a:lstStyle/>
                    <a:p>
                      <a:pPr marL="0" lvl="0" indent="0" algn="r">
                        <a:buNone/>
                      </a:pPr>
                      <a:r>
                        <a:rPr sz="1000"/>
                        <a:t>21</a:t>
                      </a:r>
                    </a:p>
                  </a:txBody>
                  <a:tcPr/>
                </a:tc>
                <a:tc>
                  <a:txBody>
                    <a:bodyPr/>
                    <a:lstStyle/>
                    <a:p>
                      <a:pPr marL="0" lvl="0" indent="0" algn="r">
                        <a:buNone/>
                      </a:pPr>
                      <a:r>
                        <a:rPr sz="1000"/>
                        <a:t>21</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12</a:t>
                      </a:r>
                    </a:p>
                  </a:txBody>
                  <a:tcPr/>
                </a:tc>
                <a:tc>
                  <a:txBody>
                    <a:bodyPr/>
                    <a:lstStyle/>
                    <a:p>
                      <a:pPr marL="0" lvl="0" indent="0" algn="r">
                        <a:buNone/>
                      </a:pPr>
                      <a:r>
                        <a:rPr sz="1000"/>
                        <a:t>0</a:t>
                      </a:r>
                    </a:p>
                  </a:txBody>
                  <a:tcPr/>
                </a:tc>
                <a:extLst>
                  <a:ext uri="{0D108BD9-81ED-4DB2-BD59-A6C34878D82A}">
                    <a16:rowId xmlns:a16="http://schemas.microsoft.com/office/drawing/2014/main" val="10011"/>
                  </a:ext>
                </a:extLst>
              </a:tr>
              <a:tr h="0">
                <a:tc>
                  <a:txBody>
                    <a:bodyPr/>
                    <a:lstStyle/>
                    <a:p>
                      <a:pPr marL="0" lvl="0" indent="0" algn="l">
                        <a:buNone/>
                      </a:pPr>
                      <a:r>
                        <a:rPr sz="1000"/>
                        <a:t>Child anthropometry</a:t>
                      </a:r>
                    </a:p>
                  </a:txBody>
                  <a:tcPr/>
                </a:tc>
                <a:tc>
                  <a:txBody>
                    <a:bodyPr/>
                    <a:lstStyle/>
                    <a:p>
                      <a:pPr marL="0" lvl="0" indent="0" algn="r">
                        <a:buNone/>
                      </a:pPr>
                      <a:r>
                        <a:rPr sz="1000"/>
                        <a:t>20</a:t>
                      </a:r>
                    </a:p>
                  </a:txBody>
                  <a:tcPr/>
                </a:tc>
                <a:tc>
                  <a:txBody>
                    <a:bodyPr/>
                    <a:lstStyle/>
                    <a:p>
                      <a:pPr marL="0" lvl="0" indent="0" algn="r">
                        <a:buNone/>
                      </a:pPr>
                      <a:r>
                        <a:rPr sz="1000"/>
                        <a:t>4</a:t>
                      </a:r>
                    </a:p>
                  </a:txBody>
                  <a:tcPr/>
                </a:tc>
                <a:tc>
                  <a:txBody>
                    <a:bodyPr/>
                    <a:lstStyle/>
                    <a:p>
                      <a:pPr marL="0" lvl="0" indent="0" algn="r">
                        <a:buNone/>
                      </a:pPr>
                      <a:r>
                        <a:rPr sz="1000"/>
                        <a:t>4</a:t>
                      </a:r>
                    </a:p>
                  </a:txBody>
                  <a:tcPr/>
                </a:tc>
                <a:tc>
                  <a:txBody>
                    <a:bodyPr/>
                    <a:lstStyle/>
                    <a:p>
                      <a:pPr marL="0" lvl="0" indent="0" algn="r">
                        <a:buNone/>
                      </a:pPr>
                      <a:r>
                        <a:rPr sz="1000"/>
                        <a:t>12</a:t>
                      </a:r>
                    </a:p>
                  </a:txBody>
                  <a:tcPr/>
                </a:tc>
                <a:tc>
                  <a:txBody>
                    <a:bodyPr/>
                    <a:lstStyle/>
                    <a:p>
                      <a:pPr marL="0" lvl="0" indent="0" algn="r">
                        <a:buNone/>
                      </a:pPr>
                      <a:r>
                        <a:rPr sz="1000"/>
                        <a:t>20</a:t>
                      </a:r>
                    </a:p>
                  </a:txBody>
                  <a:tcPr/>
                </a:tc>
                <a:tc>
                  <a:txBody>
                    <a:bodyPr/>
                    <a:lstStyle/>
                    <a:p>
                      <a:pPr marL="0" lvl="0" indent="0" algn="r">
                        <a:buNone/>
                      </a:pPr>
                      <a:r>
                        <a:rPr sz="1000"/>
                        <a:t>4</a:t>
                      </a:r>
                    </a:p>
                  </a:txBody>
                  <a:tcPr/>
                </a:tc>
                <a:extLst>
                  <a:ext uri="{0D108BD9-81ED-4DB2-BD59-A6C34878D82A}">
                    <a16:rowId xmlns:a16="http://schemas.microsoft.com/office/drawing/2014/main" val="10012"/>
                  </a:ext>
                </a:extLst>
              </a:tr>
              <a:tr h="0">
                <a:tc>
                  <a:txBody>
                    <a:bodyPr/>
                    <a:lstStyle/>
                    <a:p>
                      <a:pPr marL="0" lvl="0" indent="0" algn="l">
                        <a:buNone/>
                      </a:pPr>
                      <a:r>
                        <a:rPr sz="1000"/>
                        <a:t>Household assets and characteristics</a:t>
                      </a:r>
                    </a:p>
                  </a:txBody>
                  <a:tcPr/>
                </a:tc>
                <a:tc>
                  <a:txBody>
                    <a:bodyPr/>
                    <a:lstStyle/>
                    <a:p>
                      <a:pPr marL="0" lvl="0" indent="0" algn="r">
                        <a:buNone/>
                      </a:pPr>
                      <a:r>
                        <a:rPr sz="1000"/>
                        <a:t>19</a:t>
                      </a:r>
                    </a:p>
                  </a:txBody>
                  <a:tcPr/>
                </a:tc>
                <a:tc>
                  <a:txBody>
                    <a:bodyPr/>
                    <a:lstStyle/>
                    <a:p>
                      <a:pPr marL="0" lvl="0" indent="0" algn="r">
                        <a:buNone/>
                      </a:pPr>
                      <a:r>
                        <a:rPr sz="1000"/>
                        <a:t>5</a:t>
                      </a:r>
                    </a:p>
                  </a:txBody>
                  <a:tcPr/>
                </a:tc>
                <a:tc>
                  <a:txBody>
                    <a:bodyPr/>
                    <a:lstStyle/>
                    <a:p>
                      <a:pPr marL="0" lvl="0" indent="0" algn="r">
                        <a:buNone/>
                      </a:pPr>
                      <a:r>
                        <a:rPr sz="1000"/>
                        <a:t>3</a:t>
                      </a:r>
                    </a:p>
                  </a:txBody>
                  <a:tcPr/>
                </a:tc>
                <a:tc>
                  <a:txBody>
                    <a:bodyPr/>
                    <a:lstStyle/>
                    <a:p>
                      <a:pPr marL="0" lvl="0" indent="0" algn="r">
                        <a:buNone/>
                      </a:pPr>
                      <a:r>
                        <a:rPr sz="1000"/>
                        <a:t>11</a:t>
                      </a:r>
                    </a:p>
                  </a:txBody>
                  <a:tcPr/>
                </a:tc>
                <a:tc>
                  <a:txBody>
                    <a:bodyPr/>
                    <a:lstStyle/>
                    <a:p>
                      <a:pPr marL="0" lvl="0" indent="0" algn="r">
                        <a:buNone/>
                      </a:pPr>
                      <a:r>
                        <a:rPr sz="1000"/>
                        <a:t>19</a:t>
                      </a:r>
                    </a:p>
                  </a:txBody>
                  <a:tcPr/>
                </a:tc>
                <a:tc>
                  <a:txBody>
                    <a:bodyPr/>
                    <a:lstStyle/>
                    <a:p>
                      <a:pPr marL="0" lvl="0" indent="0" algn="r">
                        <a:buNone/>
                      </a:pPr>
                      <a:r>
                        <a:rPr sz="1000"/>
                        <a:t>0</a:t>
                      </a:r>
                    </a:p>
                  </a:txBody>
                  <a:tcPr/>
                </a:tc>
                <a:extLst>
                  <a:ext uri="{0D108BD9-81ED-4DB2-BD59-A6C34878D82A}">
                    <a16:rowId xmlns:a16="http://schemas.microsoft.com/office/drawing/2014/main" val="10013"/>
                  </a:ext>
                </a:extLst>
              </a:tr>
              <a:tr h="0">
                <a:tc>
                  <a:txBody>
                    <a:bodyPr/>
                    <a:lstStyle/>
                    <a:p>
                      <a:pPr marL="0" lvl="0" indent="0" algn="l">
                        <a:buNone/>
                      </a:pPr>
                      <a:r>
                        <a:rPr sz="1000"/>
                        <a:t>Anaemia and haemoglobin</a:t>
                      </a:r>
                    </a:p>
                  </a:txBody>
                  <a:tcPr/>
                </a:tc>
                <a:tc>
                  <a:txBody>
                    <a:bodyPr/>
                    <a:lstStyle/>
                    <a:p>
                      <a:pPr marL="0" lvl="0" indent="0" algn="r">
                        <a:buNone/>
                      </a:pPr>
                      <a:r>
                        <a:rPr sz="1000"/>
                        <a:t>16</a:t>
                      </a:r>
                    </a:p>
                  </a:txBody>
                  <a:tcPr/>
                </a:tc>
                <a:tc>
                  <a:txBody>
                    <a:bodyPr/>
                    <a:lstStyle/>
                    <a:p>
                      <a:pPr marL="0" lvl="0" indent="0" algn="r">
                        <a:buNone/>
                      </a:pPr>
                      <a:r>
                        <a:rPr sz="1000"/>
                        <a:t>11</a:t>
                      </a:r>
                    </a:p>
                  </a:txBody>
                  <a:tcPr/>
                </a:tc>
                <a:tc>
                  <a:txBody>
                    <a:bodyPr/>
                    <a:lstStyle/>
                    <a:p>
                      <a:pPr marL="0" lvl="0" indent="0" algn="r">
                        <a:buNone/>
                      </a:pPr>
                      <a:r>
                        <a:rPr sz="1000"/>
                        <a:t>0</a:t>
                      </a:r>
                    </a:p>
                  </a:txBody>
                  <a:tcPr/>
                </a:tc>
                <a:tc>
                  <a:txBody>
                    <a:bodyPr/>
                    <a:lstStyle/>
                    <a:p>
                      <a:pPr marL="0" lvl="0" indent="0" algn="r">
                        <a:buNone/>
                      </a:pPr>
                      <a:r>
                        <a:rPr sz="1000"/>
                        <a:t>5</a:t>
                      </a:r>
                    </a:p>
                  </a:txBody>
                  <a:tcPr/>
                </a:tc>
                <a:tc>
                  <a:txBody>
                    <a:bodyPr/>
                    <a:lstStyle/>
                    <a:p>
                      <a:pPr marL="0" lvl="0" indent="0" algn="r">
                        <a:buNone/>
                      </a:pPr>
                      <a:r>
                        <a:rPr sz="1000"/>
                        <a:t>9</a:t>
                      </a:r>
                    </a:p>
                  </a:txBody>
                  <a:tcPr/>
                </a:tc>
                <a:tc>
                  <a:txBody>
                    <a:bodyPr/>
                    <a:lstStyle/>
                    <a:p>
                      <a:pPr marL="0" lvl="0" indent="0" algn="r">
                        <a:buNone/>
                      </a:pPr>
                      <a:r>
                        <a:rPr sz="1000"/>
                        <a:t>11</a:t>
                      </a:r>
                    </a:p>
                  </a:txBody>
                  <a:tcPr/>
                </a:tc>
                <a:extLst>
                  <a:ext uri="{0D108BD9-81ED-4DB2-BD59-A6C34878D82A}">
                    <a16:rowId xmlns:a16="http://schemas.microsoft.com/office/drawing/2014/main" val="10014"/>
                  </a:ext>
                </a:extLst>
              </a:tr>
              <a:tr h="0">
                <a:tc>
                  <a:txBody>
                    <a:bodyPr/>
                    <a:lstStyle/>
                    <a:p>
                      <a:pPr marL="0" lvl="0" indent="0" algn="l">
                        <a:buNone/>
                      </a:pPr>
                      <a:r>
                        <a:rPr sz="1000"/>
                        <a:t>Fertility, reproductive health</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15</a:t>
                      </a:r>
                    </a:p>
                  </a:txBody>
                  <a:tcPr/>
                </a:tc>
                <a:tc>
                  <a:txBody>
                    <a:bodyPr/>
                    <a:lstStyle/>
                    <a:p>
                      <a:pPr marL="0" lvl="0" indent="0" algn="r">
                        <a:buNone/>
                      </a:pPr>
                      <a:r>
                        <a:rPr sz="1000"/>
                        <a:t>0</a:t>
                      </a:r>
                    </a:p>
                  </a:txBody>
                  <a:tcPr/>
                </a:tc>
                <a:extLst>
                  <a:ext uri="{0D108BD9-81ED-4DB2-BD59-A6C34878D82A}">
                    <a16:rowId xmlns:a16="http://schemas.microsoft.com/office/drawing/2014/main" val="10015"/>
                  </a:ext>
                </a:extLst>
              </a:tr>
              <a:tr h="0">
                <a:tc>
                  <a:txBody>
                    <a:bodyPr/>
                    <a:lstStyle/>
                    <a:p>
                      <a:pPr marL="0" lvl="0" indent="0" algn="l">
                        <a:buNone/>
                      </a:pPr>
                      <a:r>
                        <a:rPr sz="1000"/>
                        <a:t>Household diet and consumption (HCES)</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0</a:t>
                      </a:r>
                    </a:p>
                  </a:txBody>
                  <a:tcPr/>
                </a:tc>
                <a:extLst>
                  <a:ext uri="{0D108BD9-81ED-4DB2-BD59-A6C34878D82A}">
                    <a16:rowId xmlns:a16="http://schemas.microsoft.com/office/drawing/2014/main" val="10016"/>
                  </a:ext>
                </a:extLst>
              </a:tr>
              <a:tr h="0">
                <a:tc>
                  <a:txBody>
                    <a:bodyPr/>
                    <a:lstStyle/>
                    <a:p>
                      <a:pPr marL="0" lvl="0" indent="0" algn="l">
                        <a:buNone/>
                      </a:pPr>
                      <a:r>
                        <a:rPr sz="1000"/>
                        <a:t>Ecosystem productivity/greenness</a:t>
                      </a:r>
                    </a:p>
                  </a:txBody>
                  <a:tcPr/>
                </a:tc>
                <a:tc>
                  <a:txBody>
                    <a:bodyPr/>
                    <a:lstStyle/>
                    <a:p>
                      <a:pPr marL="0" lvl="0" indent="0" algn="r">
                        <a:buNone/>
                      </a:pPr>
                      <a:r>
                        <a:rPr sz="1000"/>
                        <a:t>14</a:t>
                      </a:r>
                    </a:p>
                  </a:txBody>
                  <a:tcPr/>
                </a:tc>
                <a:tc>
                  <a:txBody>
                    <a:bodyPr/>
                    <a:lstStyle/>
                    <a:p>
                      <a:pPr marL="0" lvl="0" indent="0" algn="r">
                        <a:buNone/>
                      </a:pPr>
                      <a:r>
                        <a:rPr sz="1000"/>
                        <a:t>14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14</a:t>
                      </a:r>
                    </a:p>
                  </a:txBody>
                  <a:tcPr/>
                </a:tc>
                <a:tc>
                  <a:txBody>
                    <a:bodyPr/>
                    <a:lstStyle/>
                    <a:p>
                      <a:pPr marL="0" lvl="0" indent="0" algn="r">
                        <a:buNone/>
                      </a:pPr>
                      <a:r>
                        <a:rPr sz="1000"/>
                        <a:t>0</a:t>
                      </a:r>
                    </a:p>
                  </a:txBody>
                  <a:tcPr/>
                </a:tc>
                <a:extLst>
                  <a:ext uri="{0D108BD9-81ED-4DB2-BD59-A6C34878D82A}">
                    <a16:rowId xmlns:a16="http://schemas.microsoft.com/office/drawing/2014/main" val="10017"/>
                  </a:ext>
                </a:extLst>
              </a:tr>
              <a:tr h="0">
                <a:tc>
                  <a:txBody>
                    <a:bodyPr/>
                    <a:lstStyle/>
                    <a:p>
                      <a:pPr marL="0" lvl="0" indent="0" algn="l">
                        <a:buNone/>
                      </a:pPr>
                      <a:r>
                        <a:rPr sz="1000"/>
                        <a:t>Built environment</a:t>
                      </a:r>
                    </a:p>
                  </a:txBody>
                  <a:tcPr/>
                </a:tc>
                <a:tc>
                  <a:txBody>
                    <a:bodyPr/>
                    <a:lstStyle/>
                    <a:p>
                      <a:pPr marL="0" lvl="0" indent="0" algn="r">
                        <a:buNone/>
                      </a:pPr>
                      <a:r>
                        <a:rPr sz="1000"/>
                        <a:t>13</a:t>
                      </a:r>
                    </a:p>
                  </a:txBody>
                  <a:tcPr/>
                </a:tc>
                <a:tc>
                  <a:txBody>
                    <a:bodyPr/>
                    <a:lstStyle/>
                    <a:p>
                      <a:pPr marL="0" lvl="0" indent="0" algn="r">
                        <a:buNone/>
                      </a:pPr>
                      <a:r>
                        <a:rPr sz="1000"/>
                        <a:t>10</a:t>
                      </a:r>
                    </a:p>
                  </a:txBody>
                  <a:tcPr/>
                </a:tc>
                <a:tc>
                  <a:txBody>
                    <a:bodyPr/>
                    <a:lstStyle/>
                    <a:p>
                      <a:pPr marL="0" lvl="0" indent="0" algn="r">
                        <a:buNone/>
                      </a:pPr>
                      <a:r>
                        <a:rPr sz="1000"/>
                        <a:t>0</a:t>
                      </a:r>
                    </a:p>
                  </a:txBody>
                  <a:tcPr/>
                </a:tc>
                <a:tc>
                  <a:txBody>
                    <a:bodyPr/>
                    <a:lstStyle/>
                    <a:p>
                      <a:pPr marL="0" lvl="0" indent="0" algn="r">
                        <a:buNone/>
                      </a:pPr>
                      <a:r>
                        <a:rPr sz="1000"/>
                        <a:t>3</a:t>
                      </a:r>
                    </a:p>
                  </a:txBody>
                  <a:tcPr/>
                </a:tc>
                <a:tc>
                  <a:txBody>
                    <a:bodyPr/>
                    <a:lstStyle/>
                    <a:p>
                      <a:pPr marL="0" lvl="0" indent="0" algn="r">
                        <a:buNone/>
                      </a:pPr>
                      <a:r>
                        <a:rPr sz="1000"/>
                        <a:t>13</a:t>
                      </a:r>
                    </a:p>
                  </a:txBody>
                  <a:tcPr/>
                </a:tc>
                <a:tc>
                  <a:txBody>
                    <a:bodyPr/>
                    <a:lstStyle/>
                    <a:p>
                      <a:pPr marL="0" lvl="0" indent="0" algn="r">
                        <a:buNone/>
                      </a:pPr>
                      <a:r>
                        <a:rPr sz="1000"/>
                        <a:t>0</a:t>
                      </a:r>
                    </a:p>
                  </a:txBody>
                  <a:tcPr/>
                </a:tc>
                <a:extLst>
                  <a:ext uri="{0D108BD9-81ED-4DB2-BD59-A6C34878D82A}">
                    <a16:rowId xmlns:a16="http://schemas.microsoft.com/office/drawing/2014/main" val="10018"/>
                  </a:ext>
                </a:extLst>
              </a:tr>
              <a:tr h="0">
                <a:tc>
                  <a:txBody>
                    <a:bodyPr/>
                    <a:lstStyle/>
                    <a:p>
                      <a:pPr marL="0" lvl="0" indent="0" algn="l">
                        <a:buNone/>
                      </a:pPr>
                      <a:r>
                        <a:rPr sz="1000"/>
                        <a:t>Adult and maternal mortality</a:t>
                      </a:r>
                    </a:p>
                  </a:txBody>
                  <a:tcPr/>
                </a:tc>
                <a:tc>
                  <a:txBody>
                    <a:bodyPr/>
                    <a:lstStyle/>
                    <a:p>
                      <a:pPr marL="0" lvl="0" indent="0" algn="r">
                        <a:buNone/>
                      </a:pPr>
                      <a:r>
                        <a:rPr sz="1000"/>
                        <a:t>9</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9</a:t>
                      </a:r>
                    </a:p>
                  </a:txBody>
                  <a:tcPr/>
                </a:tc>
                <a:tc>
                  <a:txBody>
                    <a:bodyPr/>
                    <a:lstStyle/>
                    <a:p>
                      <a:pPr marL="0" lvl="0" indent="0" algn="r">
                        <a:buNone/>
                      </a:pPr>
                      <a:r>
                        <a:rPr sz="1000"/>
                        <a:t>9</a:t>
                      </a:r>
                    </a:p>
                  </a:txBody>
                  <a:tcPr/>
                </a:tc>
                <a:tc>
                  <a:txBody>
                    <a:bodyPr/>
                    <a:lstStyle/>
                    <a:p>
                      <a:pPr marL="0" lvl="0" indent="0" algn="r">
                        <a:buNone/>
                      </a:pPr>
                      <a:r>
                        <a:rPr sz="1000"/>
                        <a:t>0</a:t>
                      </a:r>
                    </a:p>
                  </a:txBody>
                  <a:tcPr/>
                </a:tc>
                <a:extLst>
                  <a:ext uri="{0D108BD9-81ED-4DB2-BD59-A6C34878D82A}">
                    <a16:rowId xmlns:a16="http://schemas.microsoft.com/office/drawing/2014/main" val="10019"/>
                  </a:ext>
                </a:extLst>
              </a:tr>
              <a:tr h="0">
                <a:tc>
                  <a:txBody>
                    <a:bodyPr/>
                    <a:lstStyle/>
                    <a:p>
                      <a:pPr marL="0" lvl="0" indent="0" algn="l">
                        <a:buNone/>
                      </a:pPr>
                      <a:r>
                        <a:rPr sz="1000"/>
                        <a:t>Livestock density</a:t>
                      </a:r>
                    </a:p>
                  </a:txBody>
                  <a:tcPr/>
                </a:tc>
                <a:tc>
                  <a:txBody>
                    <a:bodyPr/>
                    <a:lstStyle/>
                    <a:p>
                      <a:pPr marL="0" lvl="0" indent="0" algn="r">
                        <a:buNone/>
                      </a:pPr>
                      <a:r>
                        <a:rPr sz="1000"/>
                        <a:t>8</a:t>
                      </a:r>
                    </a:p>
                  </a:txBody>
                  <a:tcPr/>
                </a:tc>
                <a:tc>
                  <a:txBody>
                    <a:bodyPr/>
                    <a:lstStyle/>
                    <a:p>
                      <a:pPr marL="0" lvl="0" indent="0" algn="r">
                        <a:buNone/>
                      </a:pPr>
                      <a:r>
                        <a:rPr sz="1000"/>
                        <a:t>8</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8</a:t>
                      </a:r>
                    </a:p>
                  </a:txBody>
                  <a:tcPr/>
                </a:tc>
                <a:tc>
                  <a:txBody>
                    <a:bodyPr/>
                    <a:lstStyle/>
                    <a:p>
                      <a:pPr marL="0" lvl="0" indent="0" algn="r">
                        <a:buNone/>
                      </a:pPr>
                      <a:r>
                        <a:rPr sz="1000"/>
                        <a:t>0</a:t>
                      </a:r>
                    </a:p>
                  </a:txBody>
                  <a:tcPr/>
                </a:tc>
                <a:extLst>
                  <a:ext uri="{0D108BD9-81ED-4DB2-BD59-A6C34878D82A}">
                    <a16:rowId xmlns:a16="http://schemas.microsoft.com/office/drawing/2014/main" val="10020"/>
                  </a:ext>
                </a:extLst>
              </a:tr>
              <a:tr h="0">
                <a:tc>
                  <a:txBody>
                    <a:bodyPr/>
                    <a:lstStyle/>
                    <a:p>
                      <a:pPr marL="0" lvl="0" indent="0" algn="l">
                        <a:buNone/>
                      </a:pPr>
                      <a:r>
                        <a:rPr sz="1000"/>
                        <a:t>Ruralness, population density, built environment</a:t>
                      </a:r>
                    </a:p>
                  </a:txBody>
                  <a:tcPr/>
                </a:tc>
                <a:tc>
                  <a:txBody>
                    <a:bodyPr/>
                    <a:lstStyle/>
                    <a:p>
                      <a:pPr marL="0" lvl="0" indent="0" algn="r">
                        <a:buNone/>
                      </a:pPr>
                      <a:r>
                        <a:rPr sz="1000"/>
                        <a:t>7</a:t>
                      </a:r>
                    </a:p>
                  </a:txBody>
                  <a:tcPr/>
                </a:tc>
                <a:tc>
                  <a:txBody>
                    <a:bodyPr/>
                    <a:lstStyle/>
                    <a:p>
                      <a:pPr marL="0" lvl="0" indent="0" algn="r">
                        <a:buNone/>
                      </a:pPr>
                      <a:r>
                        <a:rPr sz="1000"/>
                        <a:t>7</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7</a:t>
                      </a:r>
                    </a:p>
                  </a:txBody>
                  <a:tcPr/>
                </a:tc>
                <a:tc>
                  <a:txBody>
                    <a:bodyPr/>
                    <a:lstStyle/>
                    <a:p>
                      <a:pPr marL="0" lvl="0" indent="0" algn="r">
                        <a:buNone/>
                      </a:pPr>
                      <a:r>
                        <a:rPr sz="1000"/>
                        <a:t>0</a:t>
                      </a:r>
                    </a:p>
                  </a:txBody>
                  <a:tcPr/>
                </a:tc>
                <a:extLst>
                  <a:ext uri="{0D108BD9-81ED-4DB2-BD59-A6C34878D82A}">
                    <a16:rowId xmlns:a16="http://schemas.microsoft.com/office/drawing/2014/main" val="10021"/>
                  </a:ext>
                </a:extLst>
              </a:tr>
              <a:tr h="0">
                <a:tc>
                  <a:txBody>
                    <a:bodyPr/>
                    <a:lstStyle/>
                    <a:p>
                      <a:pPr marL="0" lvl="0" indent="0" algn="l">
                        <a:buNone/>
                      </a:pPr>
                      <a:r>
                        <a:rPr sz="1000"/>
                        <a:t>Dietary inadequacy (MODELLED SURFACE, HCES)</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6</a:t>
                      </a:r>
                    </a:p>
                  </a:txBody>
                  <a:tcPr/>
                </a:tc>
                <a:extLst>
                  <a:ext uri="{0D108BD9-81ED-4DB2-BD59-A6C34878D82A}">
                    <a16:rowId xmlns:a16="http://schemas.microsoft.com/office/drawing/2014/main" val="10022"/>
                  </a:ext>
                </a:extLst>
              </a:tr>
              <a:tr h="0">
                <a:tc>
                  <a:txBody>
                    <a:bodyPr/>
                    <a:lstStyle/>
                    <a:p>
                      <a:pPr marL="0" lvl="0" indent="0" algn="l">
                        <a:buNone/>
                      </a:pPr>
                      <a:r>
                        <a:rPr sz="1000"/>
                        <a:t>Healthcare access</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3"/>
                  </a:ext>
                </a:extLst>
              </a:tr>
              <a:tr h="0">
                <a:tc>
                  <a:txBody>
                    <a:bodyPr/>
                    <a:lstStyle/>
                    <a:p>
                      <a:pPr marL="0" lvl="0" indent="0" algn="l">
                        <a:buNone/>
                      </a:pPr>
                      <a:r>
                        <a:rPr sz="1000"/>
                        <a:t>Market prices (RTFP)</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4"/>
                  </a:ext>
                </a:extLst>
              </a:tr>
              <a:tr h="0">
                <a:tc>
                  <a:txBody>
                    <a:bodyPr/>
                    <a:lstStyle/>
                    <a:p>
                      <a:pPr marL="0" lvl="0" indent="0" algn="l">
                        <a:buNone/>
                      </a:pPr>
                      <a:r>
                        <a:rPr sz="1000"/>
                        <a:t>Water and coast proximity</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5"/>
                  </a:ext>
                </a:extLst>
              </a:tr>
              <a:tr h="0">
                <a:tc>
                  <a:txBody>
                    <a:bodyPr/>
                    <a:lstStyle/>
                    <a:p>
                      <a:pPr marL="0" lvl="0" indent="0" algn="l">
                        <a:buNone/>
                      </a:pPr>
                      <a:r>
                        <a:rPr sz="1000"/>
                        <a:t>Child mortality</a:t>
                      </a:r>
                    </a:p>
                  </a:txBody>
                  <a:tcPr/>
                </a:tc>
                <a:tc>
                  <a:txBody>
                    <a:bodyPr/>
                    <a:lstStyle/>
                    <a:p>
                      <a:pPr marL="0" lvl="0" indent="0" algn="r">
                        <a:buNone/>
                      </a:pPr>
                      <a:r>
                        <a:rPr sz="1000"/>
                        <a:t>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4</a:t>
                      </a:r>
                    </a:p>
                  </a:txBody>
                  <a:tcPr/>
                </a:tc>
                <a:tc>
                  <a:txBody>
                    <a:bodyPr/>
                    <a:lstStyle/>
                    <a:p>
                      <a:pPr marL="0" lvl="0" indent="0" algn="r">
                        <a:buNone/>
                      </a:pPr>
                      <a:r>
                        <a:rPr sz="1000"/>
                        <a:t>4</a:t>
                      </a:r>
                    </a:p>
                  </a:txBody>
                  <a:tcPr/>
                </a:tc>
                <a:tc>
                  <a:txBody>
                    <a:bodyPr/>
                    <a:lstStyle/>
                    <a:p>
                      <a:pPr marL="0" lvl="0" indent="0" algn="r">
                        <a:buNone/>
                      </a:pPr>
                      <a:r>
                        <a:rPr sz="1000"/>
                        <a:t>0</a:t>
                      </a:r>
                    </a:p>
                  </a:txBody>
                  <a:tcPr/>
                </a:tc>
                <a:extLst>
                  <a:ext uri="{0D108BD9-81ED-4DB2-BD59-A6C34878D82A}">
                    <a16:rowId xmlns:a16="http://schemas.microsoft.com/office/drawing/2014/main" val="10026"/>
                  </a:ext>
                </a:extLst>
              </a:tr>
              <a:tr h="0">
                <a:tc>
                  <a:txBody>
                    <a:bodyPr/>
                    <a:lstStyle/>
                    <a:p>
                      <a:pPr marL="0" lvl="0" indent="0" algn="l">
                        <a:buNone/>
                      </a:pPr>
                      <a:r>
                        <a:rPr sz="1000"/>
                        <a:t>Adult nutrition</a:t>
                      </a:r>
                    </a:p>
                  </a:txBody>
                  <a:tcPr/>
                </a:tc>
                <a:tc>
                  <a:txBody>
                    <a:bodyPr/>
                    <a:lstStyle/>
                    <a:p>
                      <a:pPr marL="0" lvl="0" indent="0" algn="r">
                        <a:buNone/>
                      </a:pPr>
                      <a:r>
                        <a:rPr sz="1000"/>
                        <a:t>3</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3</a:t>
                      </a:r>
                    </a:p>
                  </a:txBody>
                  <a:tcPr/>
                </a:tc>
                <a:tc>
                  <a:txBody>
                    <a:bodyPr/>
                    <a:lstStyle/>
                    <a:p>
                      <a:pPr marL="0" lvl="0" indent="0" algn="r">
                        <a:buNone/>
                      </a:pPr>
                      <a:r>
                        <a:rPr sz="1000"/>
                        <a:t>3</a:t>
                      </a:r>
                    </a:p>
                  </a:txBody>
                  <a:tcPr/>
                </a:tc>
                <a:tc>
                  <a:txBody>
                    <a:bodyPr/>
                    <a:lstStyle/>
                    <a:p>
                      <a:pPr marL="0" lvl="0" indent="0" algn="r">
                        <a:buNone/>
                      </a:pPr>
                      <a:r>
                        <a:rPr sz="1000"/>
                        <a:t>0</a:t>
                      </a:r>
                    </a:p>
                  </a:txBody>
                  <a:tcPr/>
                </a:tc>
                <a:extLst>
                  <a:ext uri="{0D108BD9-81ED-4DB2-BD59-A6C34878D82A}">
                    <a16:rowId xmlns:a16="http://schemas.microsoft.com/office/drawing/2014/main" val="10027"/>
                  </a:ext>
                </a:extLst>
              </a:tr>
              <a:tr h="0">
                <a:tc>
                  <a:txBody>
                    <a:bodyPr/>
                    <a:lstStyle/>
                    <a:p>
                      <a:pPr marL="0" lvl="0" indent="0" algn="l">
                        <a:buNone/>
                      </a:pPr>
                      <a:r>
                        <a:rPr sz="1000"/>
                        <a:t>Nutrition status (MODELLED SURFACE)</a:t>
                      </a:r>
                    </a:p>
                  </a:txBody>
                  <a:tcPr/>
                </a:tc>
                <a:tc>
                  <a:txBody>
                    <a:bodyPr/>
                    <a:lstStyle/>
                    <a:p>
                      <a:pPr marL="0" lvl="0" indent="0" algn="r">
                        <a:buNone/>
                      </a:pPr>
                      <a:r>
                        <a:rPr sz="1000"/>
                        <a:t>1</a:t>
                      </a:r>
                    </a:p>
                  </a:txBody>
                  <a:tcPr/>
                </a:tc>
                <a:tc>
                  <a:txBody>
                    <a:bodyPr/>
                    <a:lstStyle/>
                    <a:p>
                      <a:pPr marL="0" lvl="0" indent="0" algn="r">
                        <a:buNone/>
                      </a:pPr>
                      <a:r>
                        <a:rPr sz="1000"/>
                        <a:t>1</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dirty="0"/>
                        <a:t>1</a:t>
                      </a:r>
                    </a:p>
                  </a:txBody>
                  <a:tcPr/>
                </a:tc>
                <a:extLst>
                  <a:ext uri="{0D108BD9-81ED-4DB2-BD59-A6C34878D82A}">
                    <a16:rowId xmlns:a16="http://schemas.microsoft.com/office/drawing/2014/main" val="10028"/>
                  </a:ext>
                </a:extLst>
              </a:tr>
            </a:tbl>
          </a:graphicData>
        </a:graphic>
      </p:graphicFrame>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5018</Words>
  <Application>Microsoft Office PowerPoint</Application>
  <PresentationFormat>Widescreen</PresentationFormat>
  <Paragraphs>549</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2013 - 2022 Theme</vt:lpstr>
      <vt:lpstr>Proxy dataset creation Andrew Mertens (University of California, Berkeley)  </vt:lpstr>
      <vt:lpstr>Goals</vt:lpstr>
      <vt:lpstr>Proxy requirements</vt:lpstr>
      <vt:lpstr>Predictor sources: land, climate, agriculture</vt:lpstr>
      <vt:lpstr>Predictor sources: health, food, households</vt:lpstr>
      <vt:lpstr>Proxy predictor counts</vt:lpstr>
      <vt:lpstr>Types of data</vt:lpstr>
      <vt:lpstr>Linking in space</vt:lpstr>
      <vt:lpstr>Linking in time</vt:lpstr>
      <vt:lpstr>Variable domains</vt:lpstr>
      <vt:lpstr>Proxy dataset CONSORT</vt:lpstr>
      <vt:lpstr>PowerPoint Presentation</vt:lpstr>
      <vt:lpstr>Variable importance</vt:lpstr>
      <vt:lpstr>Variable importance: Malawi B12 concentrations in women</vt:lpstr>
      <vt:lpstr>Variable importance- cross country models</vt:lpstr>
      <vt:lpstr>What works in the cross-country transport models</vt:lpstr>
      <vt:lpstr>Appendix</vt:lpstr>
      <vt:lpstr>Sources and time-alignment</vt:lpstr>
      <vt:lpstr>Variable importance for child iron.</vt:lpstr>
      <vt:lpstr>Predictor set by domain and tier</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Office 2013 - 2022 Theme</Template>
  <TotalTime>4824</TotalTime>
  <Words>2454</Words>
  <Application>Microsoft Office PowerPoint</Application>
  <PresentationFormat>Widescreen</PresentationFormat>
  <Paragraphs>309</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 Narrow</vt:lpstr>
      <vt:lpstr>Arial</vt:lpstr>
      <vt:lpstr>Calibri</vt:lpstr>
      <vt:lpstr>Calibri Light</vt:lpstr>
      <vt:lpstr>Office 2013 - 2022 Theme</vt:lpstr>
      <vt:lpstr>Proxy VMD Modeling Project Andrew Mertens (University of California, Berkeley)  </vt:lpstr>
      <vt:lpstr>PowerPoint Presentation</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Details on one model-b12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National-level BRINDA and VMNIS predictions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public data behind the district ranking</dc:title>
  <dc:creator>Andrew N. Mertens, University of California, Berkeley</dc:creator>
  <cp:keywords/>
  <cp:lastModifiedBy>Andrew Mertens</cp:lastModifiedBy>
  <cp:revision>12</cp:revision>
  <dcterms:created xsi:type="dcterms:W3CDTF">2026-09-16T14:48:13Z</dcterms:created>
  <dcterms:modified xsi:type="dcterms:W3CDTF">2026-09-16T15:38:58Z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2026-09-16</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Sources, aggregation, alignment in space and time, and what carries the signal</vt:lpwstr>
  </property>
  <property fmtid="{D5CDD505-2E9C-101B-9397-08002B2CF9AE}" pid="12" name="toc-title">
    <vt:lpwstr>Table of contents</vt:lpwstr>
  </property>
</Properties>
</file>