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16C_1564D0B6.xml" ContentType="application/vnd.ms-powerpoint.comments+xml"/>
  <Override PartName="/ppt/notesSlides/notesSlide4.xml" ContentType="application/vnd.openxmlformats-officedocument.presentationml.notesSlide+xml"/>
  <Override PartName="/ppt/comments/modernComment_138_93B3FB8D.xml" ContentType="application/vnd.ms-powerpoint.comments+xml"/>
  <Override PartName="/ppt/comments/modernComment_B57_9084675A.xml" ContentType="application/vnd.ms-powerpoint.comments+xml"/>
  <Override PartName="/ppt/comments/modernComment_15C_71114D21.xml" ContentType="application/vnd.ms-powerpoint.comments+xml"/>
  <Override PartName="/ppt/comments/modernComment_164_C60F2928.xml" ContentType="application/vnd.ms-powerpoint.comments+xml"/>
  <Override PartName="/ppt/notesSlides/notesSlide5.xml" ContentType="application/vnd.openxmlformats-officedocument.presentationml.notesSlide+xml"/>
  <Override PartName="/ppt/comments/modernComment_163_CDB1E405.xml" ContentType="application/vnd.ms-powerpoint.comments+xml"/>
  <Override PartName="/ppt/comments/modernComment_167_EC119DA0.xml" ContentType="application/vnd.ms-powerpoint.comments+xml"/>
  <Override PartName="/ppt/comments/modernComment_16D_5D834127.xml" ContentType="application/vnd.ms-powerpoint.comments+xml"/>
  <Override PartName="/ppt/comments/modernComment_16B_E8B5056C.xml" ContentType="application/vnd.ms-powerpoint.comments+xml"/>
  <Override PartName="/ppt/comments/modernComment_16F_F6EE9D4E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4"/>
  </p:sldMasterIdLst>
  <p:notesMasterIdLst>
    <p:notesMasterId r:id="rId18"/>
  </p:notesMasterIdLst>
  <p:sldIdLst>
    <p:sldId id="339" r:id="rId5"/>
    <p:sldId id="256" r:id="rId6"/>
    <p:sldId id="258" r:id="rId7"/>
    <p:sldId id="364" r:id="rId8"/>
    <p:sldId id="312" r:id="rId9"/>
    <p:sldId id="2903" r:id="rId10"/>
    <p:sldId id="348" r:id="rId11"/>
    <p:sldId id="356" r:id="rId12"/>
    <p:sldId id="355" r:id="rId13"/>
    <p:sldId id="359" r:id="rId14"/>
    <p:sldId id="365" r:id="rId15"/>
    <p:sldId id="363" r:id="rId16"/>
    <p:sldId id="367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2E3BB6D-0EAA-4316-2420-1846E43079D6}" name="Alessandra Damant" initials="AD" userId="S::alessandra.damant@wearemci.com::291fd3aa-10d7-44ec-97fe-abce176fd9e3" providerId="AD"/>
  <p188:author id="{014E4CAE-E167-60D0-ADF6-DC628FC944DC}" name="Andrew Mertens" initials="AM" userId="S::amertens@BERKELEY.EDU::40cc52c3-f288-42ba-b8ef-bfc4fa2900b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34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8478" autoAdjust="0"/>
  </p:normalViewPr>
  <p:slideViewPr>
    <p:cSldViewPr snapToGrid="0">
      <p:cViewPr varScale="1">
        <p:scale>
          <a:sx n="86" d="100"/>
          <a:sy n="86" d="100"/>
        </p:scale>
        <p:origin x="152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omments/modernComment_15C_71114D2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62F1437-659C-43D9-B427-DEC73BB8F222}" authorId="{014E4CAE-E167-60D0-ADF6-DC628FC944DC}" created="2026-09-27T21:48:33.36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896959265" sldId="348"/>
      <ac:picMk id="4" creationId="{E64B673D-2B6B-A3E8-3684-1B6CDEE1B567}"/>
    </ac:deMkLst>
    <p188:txBody>
      <a:bodyPr/>
      <a:lstStyle/>
      <a:p>
        <a:r>
          <a:rPr lang="en-US"/>
          <a:t>Need a version of this plot for the updated district prevalence models (with a different metric) or individual model</a:t>
        </a:r>
      </a:p>
    </p188:txBody>
  </p188:cm>
</p188:cmLst>
</file>

<file path=ppt/comments/modernComment_16B_E8B5056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8D5BA34-C428-4B40-B47F-5596C2EC31A0}" authorId="{014E4CAE-E167-60D0-ADF6-DC628FC944DC}" created="2026-09-27T21:50:54.03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904177516" sldId="363"/>
      <ac:spMk id="16" creationId="{97169D5D-78EA-AA74-A1F4-8A41F90451B6}"/>
      <ac:txMk cp="0" len="74">
        <ac:context len="75" hash="961002467"/>
      </ac:txMk>
    </ac:txMkLst>
    <p188:pos x="11812859" y="602166"/>
    <p188:txBody>
      <a:bodyPr/>
      <a:lstStyle/>
      <a:p>
        <a:r>
          <a:rPr lang="en-US"/>
          <a:t>Need an updated slide like this (with fun graphics along with each important domains (which may vary a lot from this, like I don’t think reproductive health is important</a:t>
        </a:r>
      </a:p>
    </p188:txBody>
  </p188:cm>
</p188:cmLst>
</file>

<file path=ppt/comments/modernComment_16C_1564D0B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D0D58DC-C3A7-46BC-B492-F850B43F8ABE}" authorId="{014E4CAE-E167-60D0-ADF6-DC628FC944DC}" created="2026-09-27T21:41:12.32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58928566" sldId="364"/>
      <ac:spMk id="5" creationId="{0106C989-AD6B-B3C0-1938-69F4BC370A7F}"/>
    </ac:deMkLst>
    <p188:txBody>
      <a:bodyPr/>
      <a:lstStyle/>
      <a:p>
        <a:r>
          <a:rPr lang="en-US"/>
          <a:t>This slide is too wordy, but somewhere needs to list the surveys and years</a:t>
        </a:r>
      </a:p>
    </p188:txBody>
  </p188:cm>
</p188:cmLst>
</file>

<file path=ppt/comments/modernComment_16D_5D83412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2CF7F2D-2CBB-4C57-96D5-177C1CDCB8D5}" authorId="{014E4CAE-E167-60D0-ADF6-DC628FC944DC}" created="2026-09-27T21:49:58.38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568882983" sldId="365"/>
      <ac:spMk id="5" creationId="{DEAE9FF7-1EEE-EE2D-2EB5-6C30A8BBC8EA}"/>
      <ac:txMk cp="0" len="67">
        <ac:context len="68" hash="2952935542"/>
      </ac:txMk>
    </ac:txMkLst>
    <p188:pos x="11337073" y="602166"/>
    <p188:txBody>
      <a:bodyPr/>
      <a:lstStyle/>
      <a:p>
        <a:r>
          <a:rPr lang="en-US"/>
          <a:t>Make an updated version of this</a:t>
        </a:r>
      </a:p>
    </p188:txBody>
  </p188:cm>
</p188:cmLst>
</file>

<file path=ppt/comments/modernComment_16F_F6EE9D4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068592B-D12D-42E4-96D6-7CCF4F8402A9}" authorId="{014E4CAE-E167-60D0-ADF6-DC628FC944DC}" created="2026-09-27T21:51:16.35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142832974" sldId="367"/>
      <ac:spMk id="16" creationId="{A097A967-39FD-2D08-51B3-9513A1241478}"/>
      <ac:txMk cp="0" len="50">
        <ac:context len="51" hash="604972236"/>
      </ac:txMk>
    </ac:txMkLst>
    <p188:pos x="10043532" y="602166"/>
    <p188:txBody>
      <a:bodyPr/>
      <a:lstStyle/>
      <a:p>
        <a:r>
          <a:rPr lang="en-US"/>
          <a:t>Similar updated version of this slide</a:t>
        </a:r>
      </a:p>
    </p188:txBody>
  </p188:cm>
</p188:cmLst>
</file>

<file path=ppt/comments/modernComment_138_93B3FB8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91B4654-6119-46BA-AED2-76C3A3EBDD17}" authorId="{014E4CAE-E167-60D0-ADF6-DC628FC944DC}" created="2026-09-27T21:36:41.25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478046093" sldId="312"/>
      <ac:spMk id="5" creationId="{B36D2D99-0053-0C15-3C86-3387B062AD29}"/>
      <ac:txMk cp="0" len="23">
        <ac:context len="24" hash="3763643862"/>
      </ac:txMk>
    </ac:txMkLst>
    <p188:pos x="8088351" y="341971"/>
    <p188:txBody>
      <a:bodyPr/>
      <a:lstStyle/>
      <a:p>
        <a:r>
          <a:rPr lang="en-US"/>
          <a:t>Add as an appendix slide after checking for accuracy</a:t>
        </a:r>
      </a:p>
    </p188:txBody>
  </p188:cm>
</p188:cmLst>
</file>

<file path=ppt/comments/modernComment_163_CDB1E40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B921425-31D6-47B8-91A5-6539052A0D53}" authorId="{014E4CAE-E167-60D0-ADF6-DC628FC944DC}" created="2026-09-27T21:49:14.19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450987525" sldId="355"/>
      <ac:picMk id="7" creationId="{7DF30D10-C26E-3FAB-5456-8ED03B46F726}"/>
    </ac:deMkLst>
    <p188:txBody>
      <a:bodyPr/>
      <a:lstStyle/>
      <a:p>
        <a:r>
          <a:rPr lang="en-US"/>
          <a:t>Definitely make an updated version of this</a:t>
        </a:r>
      </a:p>
    </p188:txBody>
  </p188:cm>
</p188:cmLst>
</file>

<file path=ppt/comments/modernComment_164_C60F292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4406BED-A430-49CF-AAED-A74063D95CD0}" authorId="{014E4CAE-E167-60D0-ADF6-DC628FC944DC}" created="2026-09-27T21:48:57.13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322882344" sldId="356"/>
      <ac:spMk id="3" creationId="{27DE7E25-2014-C47E-15BF-3A3115470CF8}"/>
    </ac:deMkLst>
    <p188:txBody>
      <a:bodyPr/>
      <a:lstStyle/>
      <a:p>
        <a:r>
          <a:rPr lang="en-US"/>
          <a:t>This would be nice to update for the best performing model</a:t>
        </a:r>
      </a:p>
    </p188:txBody>
  </p188:cm>
</p188:cmLst>
</file>

<file path=ppt/comments/modernComment_167_EC119DA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963D990-BAD9-4D7F-90FD-E2FAB26E2B2C}" authorId="{014E4CAE-E167-60D0-ADF6-DC628FC944DC}" created="2026-09-27T21:49:38.20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960577440" sldId="359"/>
      <ac:spMk id="5" creationId="{0A17336F-6A5D-DF65-18A5-D50817A2C305}"/>
      <ac:txMk cp="0" len="44">
        <ac:context len="45" hash="4233355215"/>
      </ac:txMk>
    </ac:txMkLst>
    <p188:pos x="9597483" y="297366"/>
    <p188:txBody>
      <a:bodyPr/>
      <a:lstStyle/>
      <a:p>
        <a:r>
          <a:rPr lang="en-US"/>
          <a:t>Use this title for an existing slide</a:t>
        </a:r>
      </a:p>
    </p188:txBody>
  </p188:cm>
</p188:cmLst>
</file>

<file path=ppt/comments/modernComment_B57_9084675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6D4257E-49C4-433A-9A80-ADDB0F3C6A2A}" authorId="{014E4CAE-E167-60D0-ADF6-DC628FC944DC}" created="2026-09-27T21:42:23.83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424596314" sldId="2903"/>
      <ac:picMk id="2" creationId="{498673EE-77EC-3D49-2D42-88B7FE0403E1}"/>
    </ac:deMkLst>
    <p188:txBody>
      <a:bodyPr/>
      <a:lstStyle/>
      <a:p>
        <a:r>
          <a:rPr lang="en-US"/>
          <a:t>Need to show the CV- process in the methods slides, maybe with a figure showing help out regions of a map, along with the CV graphc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0068F7-1A27-4717-A728-A996FAEDE383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A43B92-3A2D-4964-BD32-AF28A47106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1707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A43B92-3A2D-4964-BD32-AF28A47106C9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94601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9A702-323A-FDDD-8A13-D906FD3E7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CE825C-43FE-9F04-BE11-79B8BBF0B4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49D60C-16D2-C01F-6203-225850CC5D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C1F4B6-9355-FF1D-C4A3-1D6FFC5989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5451767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A43B92-3A2D-4964-BD32-AF28A47106C9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54312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A43B92-3A2D-4964-BD32-AF28A47106C9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1949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B63C27-DD85-8476-375D-EB16F5A6ADB0}"/>
              </a:ext>
            </a:extLst>
          </p:cNvPr>
          <p:cNvSpPr txBox="1"/>
          <p:nvPr userDrawn="1"/>
        </p:nvSpPr>
        <p:spPr>
          <a:xfrm>
            <a:off x="4091354" y="6096000"/>
            <a:ext cx="3165231" cy="709246"/>
          </a:xfrm>
          <a:prstGeom prst="rect">
            <a:avLst/>
          </a:prstGeom>
          <a:solidFill>
            <a:srgbClr val="053486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4691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A3B38-64E1-431E-BEA9-6580D124E61C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8A8C7-06A4-4826-B9D4-6AFEE114A5DB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1C6CC3-8F74-EDBB-C900-31606B76182B}"/>
              </a:ext>
            </a:extLst>
          </p:cNvPr>
          <p:cNvSpPr txBox="1"/>
          <p:nvPr userDrawn="1"/>
        </p:nvSpPr>
        <p:spPr>
          <a:xfrm>
            <a:off x="4091354" y="6096000"/>
            <a:ext cx="3165231" cy="709246"/>
          </a:xfrm>
          <a:prstGeom prst="rect">
            <a:avLst/>
          </a:prstGeom>
          <a:solidFill>
            <a:srgbClr val="053486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1388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A3B38-64E1-431E-BEA9-6580D124E61C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8A8C7-06A4-4826-B9D4-6AFEE114A5DB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A9F931-E5AE-F452-FEFF-7D5D0E3B6E23}"/>
              </a:ext>
            </a:extLst>
          </p:cNvPr>
          <p:cNvSpPr txBox="1"/>
          <p:nvPr userDrawn="1"/>
        </p:nvSpPr>
        <p:spPr>
          <a:xfrm>
            <a:off x="4091354" y="6096000"/>
            <a:ext cx="3165231" cy="709246"/>
          </a:xfrm>
          <a:prstGeom prst="rect">
            <a:avLst/>
          </a:prstGeom>
          <a:solidFill>
            <a:srgbClr val="053486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266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A3B38-64E1-431E-BEA9-6580D124E61C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8A8C7-06A4-4826-B9D4-6AFEE114A5DB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92EBD8-CFBD-9CA6-B371-55CFC4AF9CA6}"/>
              </a:ext>
            </a:extLst>
          </p:cNvPr>
          <p:cNvSpPr txBox="1"/>
          <p:nvPr userDrawn="1"/>
        </p:nvSpPr>
        <p:spPr>
          <a:xfrm>
            <a:off x="4091354" y="6096000"/>
            <a:ext cx="3165231" cy="709246"/>
          </a:xfrm>
          <a:prstGeom prst="rect">
            <a:avLst/>
          </a:prstGeom>
          <a:solidFill>
            <a:srgbClr val="053486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712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A3B38-64E1-431E-BEA9-6580D124E61C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8A8C7-06A4-4826-B9D4-6AFEE114A5DB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BEB713-6C4A-8232-ACDD-6FA7B502F31D}"/>
              </a:ext>
            </a:extLst>
          </p:cNvPr>
          <p:cNvSpPr txBox="1"/>
          <p:nvPr userDrawn="1"/>
        </p:nvSpPr>
        <p:spPr>
          <a:xfrm>
            <a:off x="4091354" y="6096000"/>
            <a:ext cx="3165231" cy="709246"/>
          </a:xfrm>
          <a:prstGeom prst="rect">
            <a:avLst/>
          </a:prstGeom>
          <a:solidFill>
            <a:srgbClr val="053486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7072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A3B38-64E1-431E-BEA9-6580D124E61C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8A8C7-06A4-4826-B9D4-6AFEE114A5DB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B3E47D-A329-EFAE-BBAF-0D11D0605DC9}"/>
              </a:ext>
            </a:extLst>
          </p:cNvPr>
          <p:cNvSpPr txBox="1"/>
          <p:nvPr userDrawn="1"/>
        </p:nvSpPr>
        <p:spPr>
          <a:xfrm>
            <a:off x="4091354" y="6096000"/>
            <a:ext cx="3165231" cy="709246"/>
          </a:xfrm>
          <a:prstGeom prst="rect">
            <a:avLst/>
          </a:prstGeom>
          <a:solidFill>
            <a:srgbClr val="053486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32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A3B38-64E1-431E-BEA9-6580D124E61C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8A8C7-06A4-4826-B9D4-6AFEE114A5DB}" type="slidenum">
              <a:rPr lang="en-GB" smtClean="0"/>
              <a:t>‹#›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477A53-470A-CC57-81B5-B7AEF3704FA4}"/>
              </a:ext>
            </a:extLst>
          </p:cNvPr>
          <p:cNvSpPr txBox="1"/>
          <p:nvPr userDrawn="1"/>
        </p:nvSpPr>
        <p:spPr>
          <a:xfrm>
            <a:off x="4091354" y="6096000"/>
            <a:ext cx="3165231" cy="709246"/>
          </a:xfrm>
          <a:prstGeom prst="rect">
            <a:avLst/>
          </a:prstGeom>
          <a:solidFill>
            <a:srgbClr val="053486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2842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A3B38-64E1-431E-BEA9-6580D124E61C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8A8C7-06A4-4826-B9D4-6AFEE114A5DB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EBA640-1EAD-1558-1817-2B531018C357}"/>
              </a:ext>
            </a:extLst>
          </p:cNvPr>
          <p:cNvSpPr txBox="1"/>
          <p:nvPr userDrawn="1"/>
        </p:nvSpPr>
        <p:spPr>
          <a:xfrm>
            <a:off x="4091354" y="6096000"/>
            <a:ext cx="3165231" cy="709246"/>
          </a:xfrm>
          <a:prstGeom prst="rect">
            <a:avLst/>
          </a:prstGeom>
          <a:solidFill>
            <a:srgbClr val="053486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940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A3B38-64E1-431E-BEA9-6580D124E61C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8A8C7-06A4-4826-B9D4-6AFEE114A5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6787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A3B38-64E1-431E-BEA9-6580D124E61C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8A8C7-06A4-4826-B9D4-6AFEE114A5DB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4FC9C3-F78F-EDAD-63EB-2DBDD24DFA28}"/>
              </a:ext>
            </a:extLst>
          </p:cNvPr>
          <p:cNvSpPr txBox="1"/>
          <p:nvPr userDrawn="1"/>
        </p:nvSpPr>
        <p:spPr>
          <a:xfrm>
            <a:off x="4091354" y="6096000"/>
            <a:ext cx="3165231" cy="709246"/>
          </a:xfrm>
          <a:prstGeom prst="rect">
            <a:avLst/>
          </a:prstGeom>
          <a:solidFill>
            <a:srgbClr val="053486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54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A3B38-64E1-431E-BEA9-6580D124E61C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8A8C7-06A4-4826-B9D4-6AFEE114A5DB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2A0341-EDCF-508D-A7A9-B7A8B8B805AF}"/>
              </a:ext>
            </a:extLst>
          </p:cNvPr>
          <p:cNvSpPr txBox="1"/>
          <p:nvPr userDrawn="1"/>
        </p:nvSpPr>
        <p:spPr>
          <a:xfrm>
            <a:off x="4091354" y="6096000"/>
            <a:ext cx="3165231" cy="709246"/>
          </a:xfrm>
          <a:prstGeom prst="rect">
            <a:avLst/>
          </a:prstGeom>
          <a:solidFill>
            <a:srgbClr val="053486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448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9A3B38-64E1-431E-BEA9-6580D124E61C}" type="datetimeFigureOut">
              <a:rPr lang="en-GB" smtClean="0"/>
              <a:t>27/09/2026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58A8C7-06A4-4826-B9D4-6AFEE114A5DB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Image 9">
            <a:extLst>
              <a:ext uri="{FF2B5EF4-FFF2-40B4-BE49-F238E27FC236}">
                <a16:creationId xmlns:a16="http://schemas.microsoft.com/office/drawing/2014/main" id="{C0C6644B-E5FD-0AA4-EE55-11FB45AB938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5200"/>
            <a:ext cx="121920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565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6C_1564D0B6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38_93B3FB8D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microsoft.com/office/2018/10/relationships/comments" Target="../comments/modernComment_B57_9084675A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microsoft.com/office/2018/10/relationships/comments" Target="../comments/modernComment_15C_71114D2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64_C60F292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63_CDB1E40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microsoft.com/office/2018/10/relationships/comments" Target="../comments/modernComment_167_EC119DA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microsoft.com/office/2018/10/relationships/comments" Target="../comments/modernComment_16D_5D834127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6B_E8B5056C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6F_F6EE9D4E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928D7-B05A-42D0-994A-874F574E0E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Proxy VMD Modeling Project</a:t>
            </a:r>
            <a:br>
              <a:rPr lang="en-US" dirty="0"/>
            </a:br>
            <a:r>
              <a:rPr lang="en-US" sz="2200" b="1" i="1" dirty="0"/>
              <a:t>Andrew Mertens (University of California, Berkeley)</a:t>
            </a:r>
            <a:br>
              <a:rPr lang="en-US" dirty="0"/>
            </a:br>
            <a:br>
              <a:rPr lang="en-US" sz="2500" dirty="0"/>
            </a:br>
            <a:endParaRPr lang="en-US" sz="4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1D13CCB-C71F-464D-8008-490D815B114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79" y="4844207"/>
            <a:ext cx="1788795" cy="3366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73AE941-7939-4EC5-AF0E-14282484C49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828562" y="4763481"/>
            <a:ext cx="1788795" cy="48268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221145A-18FA-4C4C-9A89-D4769AC6470F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8868224" y="4671574"/>
            <a:ext cx="1788794" cy="7110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E78FE3D-F75C-C9AE-5DD5-558073EAD102}"/>
              </a:ext>
            </a:extLst>
          </p:cNvPr>
          <p:cNvSpPr txBox="1"/>
          <p:nvPr/>
        </p:nvSpPr>
        <p:spPr>
          <a:xfrm>
            <a:off x="1620387" y="5613077"/>
            <a:ext cx="8513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We are grateful for the funding support by the Gates Foundation</a:t>
            </a:r>
          </a:p>
        </p:txBody>
      </p:sp>
    </p:spTree>
    <p:extLst>
      <p:ext uri="{BB962C8B-B14F-4D97-AF65-F5344CB8AC3E}">
        <p14:creationId xmlns:p14="http://schemas.microsoft.com/office/powerpoint/2010/main" val="2800003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53486"/>
          </a:solidFill>
          <a:ln>
            <a:solidFill>
              <a:srgbClr val="053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dirty="0">
                <a:solidFill>
                  <a:srgbClr val="FFFFFF"/>
                </a:solidFill>
              </a:rPr>
              <a:t>Proxy Modeling for </a:t>
            </a:r>
            <a:r>
              <a:rPr lang="en-US" sz="2800" b="1" dirty="0">
                <a:solidFill>
                  <a:srgbClr val="FFFFFF"/>
                </a:solidFill>
              </a:rPr>
              <a:t>Vitamin and Mineral</a:t>
            </a:r>
            <a:r>
              <a:rPr sz="2800" b="1" dirty="0">
                <a:solidFill>
                  <a:srgbClr val="FFFFFF"/>
                </a:solidFill>
              </a:rPr>
              <a:t> Deficiencies (</a:t>
            </a:r>
            <a:r>
              <a:rPr lang="en-US" sz="2800" b="1" dirty="0">
                <a:solidFill>
                  <a:srgbClr val="FFFFFF"/>
                </a:solidFill>
              </a:rPr>
              <a:t>VMD</a:t>
            </a:r>
            <a:r>
              <a:rPr sz="2800" b="1" dirty="0">
                <a:solidFill>
                  <a:srgbClr val="FFFFFF"/>
                </a:solidFill>
              </a:rPr>
              <a:t>)</a:t>
            </a:r>
            <a:endParaRPr lang="en-US" sz="2800" b="1" dirty="0">
              <a:solidFill>
                <a:srgbClr val="FFFFFF"/>
              </a:solidFill>
            </a:endParaRP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8516" y="1465926"/>
            <a:ext cx="7278624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212529"/>
                </a:solidFill>
              </a:rPr>
              <a:t>Why this project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sz="1600" dirty="0"/>
              <a:t>Biomarker surveys are rare &amp; costly; programs need timely </a:t>
            </a:r>
            <a:r>
              <a:rPr lang="en-US" sz="1600" dirty="0"/>
              <a:t>V</a:t>
            </a:r>
            <a:r>
              <a:rPr sz="1600" dirty="0"/>
              <a:t>MD intelligence.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sz="1600" dirty="0"/>
              <a:t>We build models that predict </a:t>
            </a:r>
            <a:r>
              <a:rPr lang="en-US" sz="1600" dirty="0"/>
              <a:t>VMD</a:t>
            </a:r>
            <a:r>
              <a:rPr sz="1600" dirty="0"/>
              <a:t> (</a:t>
            </a:r>
            <a:r>
              <a:rPr lang="en-US" sz="1600" dirty="0"/>
              <a:t>today: </a:t>
            </a:r>
            <a:r>
              <a:rPr sz="1600" dirty="0"/>
              <a:t>iron, vitamin A, folate, B12) from widely </a:t>
            </a:r>
            <a:r>
              <a:rPr lang="en-US" sz="1600" dirty="0"/>
              <a:t>and regularly </a:t>
            </a:r>
            <a:r>
              <a:rPr sz="1600" dirty="0"/>
              <a:t>collected prox</a:t>
            </a:r>
            <a:r>
              <a:rPr lang="en-US" sz="1600" dirty="0"/>
              <a:t>y measures available across sub-Saharan Africa</a:t>
            </a:r>
            <a:r>
              <a:rPr sz="1600" dirty="0"/>
              <a:t>.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endParaRPr sz="1600" dirty="0"/>
          </a:p>
          <a:p>
            <a:r>
              <a:rPr sz="2000" b="1" dirty="0">
                <a:solidFill>
                  <a:srgbClr val="212529"/>
                </a:solidFill>
              </a:rPr>
              <a:t>How it works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sz="1600" dirty="0"/>
              <a:t>Link “ground‑truth” biomarkers to proxy indicators available in routine surveys (DHS/MICS</a:t>
            </a:r>
            <a:r>
              <a:rPr lang="en-US" sz="1600" dirty="0"/>
              <a:t>/LSMS</a:t>
            </a:r>
            <a:r>
              <a:rPr sz="1600" dirty="0"/>
              <a:t>)</a:t>
            </a:r>
            <a:r>
              <a:rPr lang="en-US" sz="1600" dirty="0"/>
              <a:t> and</a:t>
            </a:r>
            <a:r>
              <a:rPr sz="1600" dirty="0"/>
              <a:t> geospatial covariates.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sz="1600" dirty="0"/>
              <a:t>Train &amp; validate </a:t>
            </a:r>
            <a:r>
              <a:rPr lang="en-US" sz="1600" dirty="0"/>
              <a:t>machine-learning</a:t>
            </a:r>
            <a:r>
              <a:rPr sz="1600" dirty="0"/>
              <a:t> models</a:t>
            </a:r>
            <a:r>
              <a:rPr lang="en-US" sz="1600" dirty="0"/>
              <a:t> predicting VMD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lang="en-US" sz="1600" dirty="0"/>
              <a:t>Evaluate </a:t>
            </a:r>
            <a:r>
              <a:rPr lang="en-US" sz="1600" u="sng" dirty="0"/>
              <a:t>importance of different proxies predictors</a:t>
            </a:r>
            <a:r>
              <a:rPr sz="1600" dirty="0"/>
              <a:t>.</a:t>
            </a:r>
            <a:endParaRPr lang="en-US" sz="1600" dirty="0"/>
          </a:p>
          <a:p>
            <a:pPr lvl="1">
              <a:defRPr sz="1400"/>
            </a:pPr>
            <a:endParaRPr lang="en-US" sz="1600" dirty="0"/>
          </a:p>
          <a:p>
            <a:r>
              <a:rPr lang="en-US" sz="2000" b="1" dirty="0">
                <a:solidFill>
                  <a:srgbClr val="212529"/>
                </a:solidFill>
              </a:rPr>
              <a:t>Motivation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lang="en-US" sz="1600" dirty="0"/>
              <a:t>Identify useful and </a:t>
            </a:r>
            <a:r>
              <a:rPr lang="en-US" sz="1600" u="sng" dirty="0"/>
              <a:t>parsimonious</a:t>
            </a:r>
            <a:r>
              <a:rPr lang="en-US" sz="1600" dirty="0"/>
              <a:t> sets of predictors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lang="en-US" sz="1600" dirty="0"/>
              <a:t>Assess if national and subnational prevalence prediction is possible in areas with </a:t>
            </a:r>
            <a:r>
              <a:rPr lang="en-US" sz="1600" u="sng" dirty="0"/>
              <a:t>no or old VMD survey </a:t>
            </a:r>
            <a:r>
              <a:rPr lang="en-US" sz="1600" dirty="0"/>
              <a:t>coverage</a:t>
            </a:r>
          </a:p>
          <a:p>
            <a:pPr lvl="1">
              <a:defRPr sz="1400"/>
            </a:pPr>
            <a:endParaRPr sz="1400" dirty="0"/>
          </a:p>
        </p:txBody>
      </p:sp>
      <p:sp>
        <p:nvSpPr>
          <p:cNvPr id="6" name="TextBox 5"/>
          <p:cNvSpPr txBox="1"/>
          <p:nvPr/>
        </p:nvSpPr>
        <p:spPr>
          <a:xfrm>
            <a:off x="1224536" y="5759410"/>
            <a:ext cx="964264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solidFill>
                  <a:srgbClr val="555A5F"/>
                </a:solidFill>
              </a:rPr>
              <a:t>GMS 2017 collaborators: University of Ghana, </a:t>
            </a:r>
            <a:r>
              <a:rPr sz="1200" dirty="0" err="1">
                <a:solidFill>
                  <a:srgbClr val="555A5F"/>
                </a:solidFill>
              </a:rPr>
              <a:t>GroundWork</a:t>
            </a:r>
            <a:r>
              <a:rPr sz="1200" dirty="0">
                <a:solidFill>
                  <a:srgbClr val="555A5F"/>
                </a:solidFill>
              </a:rPr>
              <a:t>, Univ. of Wisconsin–Madison, KEMRI–</a:t>
            </a:r>
            <a:r>
              <a:rPr sz="1200" dirty="0" err="1">
                <a:solidFill>
                  <a:srgbClr val="555A5F"/>
                </a:solidFill>
              </a:rPr>
              <a:t>Wellcome</a:t>
            </a:r>
            <a:r>
              <a:rPr sz="1200" dirty="0">
                <a:solidFill>
                  <a:srgbClr val="555A5F"/>
                </a:solidFill>
              </a:rPr>
              <a:t> Trust; with UNICEF &amp; Global Affairs Canada.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A72E22-5F87-516A-1D0B-8D8AF5AB77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4177" y="2008795"/>
            <a:ext cx="4029307" cy="30219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619A12D-D767-998E-5588-964CB1AEEF02}"/>
              </a:ext>
            </a:extLst>
          </p:cNvPr>
          <p:cNvSpPr txBox="1"/>
          <p:nvPr/>
        </p:nvSpPr>
        <p:spPr>
          <a:xfrm>
            <a:off x="9576482" y="6594219"/>
            <a:ext cx="609971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Photo Credit: Latter-day Saint Charities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A693541-B577-A479-01ED-C1690596B5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0061" y="-7435"/>
            <a:ext cx="852842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86A1D10-F7D0-4BDD-9672-FB92EFD0E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C87CC-FCFD-4D79-9541-B32988536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62" y="1690688"/>
            <a:ext cx="3953246" cy="4023360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US" sz="1800" dirty="0"/>
              <a:t>To generate national and sub-national prevalence estimates for micronutrient deficiency using a wide range of proxy indicators and validated against the prevalence of these same vitamin and mineral deficiencies (VMD) determined by biomarker assessment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To identify subnational regions at greatest risk of deficiency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To engage with national stakeholders and decision-makers throughout project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BA4BF7-0442-930A-7A8A-370E283791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9695" y="2228174"/>
            <a:ext cx="1522305" cy="2123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50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DF75B-FDFD-8BB5-1D8D-F7581D4F3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28D89DD-50CA-F090-9D1B-D11030DFAC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6682" y="1497226"/>
            <a:ext cx="8645913" cy="424009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FFF5BEF-B72A-62D1-C240-409C2E3BECDA}"/>
              </a:ext>
            </a:extLst>
          </p:cNvPr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53486"/>
          </a:solidFill>
          <a:ln>
            <a:solidFill>
              <a:srgbClr val="053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dirty="0">
                <a:solidFill>
                  <a:srgbClr val="FFFFFF"/>
                </a:solidFill>
              </a:rPr>
              <a:t>Proxy Modeling for </a:t>
            </a:r>
            <a:r>
              <a:rPr lang="en-US" sz="2800" b="1" dirty="0">
                <a:solidFill>
                  <a:srgbClr val="FFFFFF"/>
                </a:solidFill>
              </a:rPr>
              <a:t>Vitamin and Mineral</a:t>
            </a:r>
            <a:r>
              <a:rPr sz="2800" b="1" dirty="0">
                <a:solidFill>
                  <a:srgbClr val="FFFFFF"/>
                </a:solidFill>
              </a:rPr>
              <a:t> Deficiencies (</a:t>
            </a:r>
            <a:r>
              <a:rPr lang="en-US" sz="2800" b="1" dirty="0">
                <a:solidFill>
                  <a:srgbClr val="FFFFFF"/>
                </a:solidFill>
              </a:rPr>
              <a:t>VMD</a:t>
            </a:r>
            <a:r>
              <a:rPr sz="2800" b="1" dirty="0">
                <a:solidFill>
                  <a:srgbClr val="FFFFFF"/>
                </a:solidFill>
              </a:rPr>
              <a:t>)</a:t>
            </a:r>
            <a:endParaRPr lang="en-US" sz="2800" b="1" dirty="0">
              <a:solidFill>
                <a:srgbClr val="FFFFFF"/>
              </a:solidFill>
            </a:endParaRPr>
          </a:p>
          <a:p>
            <a:pPr algn="ctr"/>
            <a:r>
              <a:rPr lang="en-US" sz="2800" b="1" dirty="0">
                <a:solidFill>
                  <a:srgbClr val="FFFFFF"/>
                </a:solidFill>
              </a:rPr>
              <a:t>Nationally-representative survey data</a:t>
            </a:r>
            <a:endParaRPr sz="2800" b="1" dirty="0">
              <a:solidFill>
                <a:srgbClr val="FFFF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06C989-AD6B-B3C0-1938-69F4BC370A7F}"/>
              </a:ext>
            </a:extLst>
          </p:cNvPr>
          <p:cNvSpPr txBox="1"/>
          <p:nvPr/>
        </p:nvSpPr>
        <p:spPr>
          <a:xfrm>
            <a:off x="276957" y="1120676"/>
            <a:ext cx="7707316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rgbClr val="212529"/>
              </a:solidFill>
            </a:endParaRPr>
          </a:p>
          <a:p>
            <a:r>
              <a:rPr lang="en-US" b="1" dirty="0"/>
              <a:t>Four nationally representative surveys</a:t>
            </a:r>
            <a:r>
              <a:rPr lang="en-US" dirty="0"/>
              <a:t> with population-based sampling and biomarker measurement, used to anchor and validate micronutrient deficiency models.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Ghana (2017) </a:t>
            </a:r>
            <a:r>
              <a:rPr lang="en-US" dirty="0"/>
              <a:t>Children and women; anemia, iron, vitamin A, folate, B12; malaria and inflammation; direct measurement of fortified oil and flour.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Sierra Leone (2013) </a:t>
            </a:r>
            <a:r>
              <a:rPr lang="en-US" dirty="0"/>
              <a:t>Children and women; anemia, iron, vitamin A; very high deficiency burden in a post-conflict setting.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Malawi (2015–16, DHS-linked) </a:t>
            </a:r>
            <a:r>
              <a:rPr lang="en-US" dirty="0"/>
              <a:t>Children and women; anemia, iron, vitamin A, zinc, folate, B12, iodine; linkage to DHS covariates and fortification coverage.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The Gambia (2018, MICS-linked) </a:t>
            </a:r>
            <a:r>
              <a:rPr lang="en-US" dirty="0"/>
              <a:t>Children and women; anemia, iron, vitamin A, iodine; quantitative salt fortification data; high anemia prevalence.</a:t>
            </a:r>
          </a:p>
          <a:p>
            <a:r>
              <a:rPr lang="en-US" b="1" dirty="0"/>
              <a:t>Why these surveys:</a:t>
            </a:r>
            <a:br>
              <a:rPr lang="en-US" dirty="0"/>
            </a:br>
            <a:r>
              <a:rPr lang="en-US" dirty="0"/>
              <a:t>Provide gold-standard biomarker data across multiple outcomes and countries, enabling cross-country comparison, and model external validation.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360E1E-AD1E-F90E-E40E-34B652919AF1}"/>
              </a:ext>
            </a:extLst>
          </p:cNvPr>
          <p:cNvSpPr txBox="1"/>
          <p:nvPr/>
        </p:nvSpPr>
        <p:spPr>
          <a:xfrm>
            <a:off x="1224536" y="5759410"/>
            <a:ext cx="964264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solidFill>
                  <a:srgbClr val="555A5F"/>
                </a:solidFill>
              </a:rPr>
              <a:t>GMS 2017 collaborators: University of Ghana, </a:t>
            </a:r>
            <a:r>
              <a:rPr sz="1200" dirty="0" err="1">
                <a:solidFill>
                  <a:srgbClr val="555A5F"/>
                </a:solidFill>
              </a:rPr>
              <a:t>GroundWork</a:t>
            </a:r>
            <a:r>
              <a:rPr sz="1200" dirty="0">
                <a:solidFill>
                  <a:srgbClr val="555A5F"/>
                </a:solidFill>
              </a:rPr>
              <a:t>, Univ. of Wisconsin–Madison, KEMRI–</a:t>
            </a:r>
            <a:r>
              <a:rPr sz="1200" dirty="0" err="1">
                <a:solidFill>
                  <a:srgbClr val="555A5F"/>
                </a:solidFill>
              </a:rPr>
              <a:t>Wellcome</a:t>
            </a:r>
            <a:r>
              <a:rPr sz="1200" dirty="0">
                <a:solidFill>
                  <a:srgbClr val="555A5F"/>
                </a:solidFill>
              </a:rPr>
              <a:t> Trust; with UNICEF &amp; Global Affairs Canada.</a:t>
            </a:r>
          </a:p>
        </p:txBody>
      </p:sp>
    </p:spTree>
    <p:extLst>
      <p:ext uri="{BB962C8B-B14F-4D97-AF65-F5344CB8AC3E}">
        <p14:creationId xmlns:p14="http://schemas.microsoft.com/office/powerpoint/2010/main" val="35892856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984738" y="5753296"/>
            <a:ext cx="441819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 dirty="0"/>
              <a:t>RBP=retinol-binding protein; </a:t>
            </a:r>
            <a:r>
              <a:rPr lang="en-US" sz="1000" b="1" dirty="0"/>
              <a:t>CRP: C‑reactive protein; AGP: </a:t>
            </a:r>
            <a:r>
              <a:rPr lang="el-GR" sz="1000" b="1" dirty="0"/>
              <a:t>α1‑</a:t>
            </a:r>
            <a:r>
              <a:rPr lang="en-US" sz="1000" b="1" dirty="0"/>
              <a:t>acid glycoprotein</a:t>
            </a:r>
            <a:endParaRPr sz="10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6D2D99-0053-0C15-3C86-3387B062AD29}"/>
              </a:ext>
            </a:extLst>
          </p:cNvPr>
          <p:cNvSpPr/>
          <p:nvPr/>
        </p:nvSpPr>
        <p:spPr>
          <a:xfrm>
            <a:off x="0" y="0"/>
            <a:ext cx="12188952" cy="763341"/>
          </a:xfrm>
          <a:prstGeom prst="rect">
            <a:avLst/>
          </a:prstGeom>
          <a:solidFill>
            <a:srgbClr val="053486"/>
          </a:solidFill>
          <a:ln>
            <a:solidFill>
              <a:srgbClr val="053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VMD deficiency outcomes</a:t>
            </a:r>
            <a:endParaRPr sz="2800" b="1" dirty="0">
              <a:solidFill>
                <a:srgbClr val="FFFFFF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45D03AD-3E50-6D1A-57F2-8A559B97EC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1663115"/>
              </p:ext>
            </p:extLst>
          </p:nvPr>
        </p:nvGraphicFramePr>
        <p:xfrm>
          <a:off x="15060" y="763341"/>
          <a:ext cx="12181422" cy="6094659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2030237">
                  <a:extLst>
                    <a:ext uri="{9D8B030D-6E8A-4147-A177-3AD203B41FA5}">
                      <a16:colId xmlns:a16="http://schemas.microsoft.com/office/drawing/2014/main" val="83622924"/>
                    </a:ext>
                  </a:extLst>
                </a:gridCol>
                <a:gridCol w="2030237">
                  <a:extLst>
                    <a:ext uri="{9D8B030D-6E8A-4147-A177-3AD203B41FA5}">
                      <a16:colId xmlns:a16="http://schemas.microsoft.com/office/drawing/2014/main" val="3091215095"/>
                    </a:ext>
                  </a:extLst>
                </a:gridCol>
                <a:gridCol w="2030237">
                  <a:extLst>
                    <a:ext uri="{9D8B030D-6E8A-4147-A177-3AD203B41FA5}">
                      <a16:colId xmlns:a16="http://schemas.microsoft.com/office/drawing/2014/main" val="103633312"/>
                    </a:ext>
                  </a:extLst>
                </a:gridCol>
                <a:gridCol w="2030237">
                  <a:extLst>
                    <a:ext uri="{9D8B030D-6E8A-4147-A177-3AD203B41FA5}">
                      <a16:colId xmlns:a16="http://schemas.microsoft.com/office/drawing/2014/main" val="3195583690"/>
                    </a:ext>
                  </a:extLst>
                </a:gridCol>
                <a:gridCol w="2030237">
                  <a:extLst>
                    <a:ext uri="{9D8B030D-6E8A-4147-A177-3AD203B41FA5}">
                      <a16:colId xmlns:a16="http://schemas.microsoft.com/office/drawing/2014/main" val="507028289"/>
                    </a:ext>
                  </a:extLst>
                </a:gridCol>
                <a:gridCol w="2030237">
                  <a:extLst>
                    <a:ext uri="{9D8B030D-6E8A-4147-A177-3AD203B41FA5}">
                      <a16:colId xmlns:a16="http://schemas.microsoft.com/office/drawing/2014/main" val="2826909166"/>
                    </a:ext>
                  </a:extLst>
                </a:gridCol>
              </a:tblGrid>
              <a:tr h="2362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Micronutrient outcome</a:t>
                      </a:r>
                    </a:p>
                  </a:txBody>
                  <a:tcPr marL="30009" marR="30009" marT="15005" marB="15005" anchor="ctr">
                    <a:solidFill>
                      <a:srgbClr val="0534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</a:rPr>
                        <a:t>Target population</a:t>
                      </a:r>
                    </a:p>
                  </a:txBody>
                  <a:tcPr marL="30009" marR="30009" marT="15005" marB="15005" anchor="ctr">
                    <a:solidFill>
                      <a:srgbClr val="0534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Countries available</a:t>
                      </a:r>
                    </a:p>
                  </a:txBody>
                  <a:tcPr marL="30009" marR="30009" marT="15005" marB="15005" anchor="ctr">
                    <a:solidFill>
                      <a:srgbClr val="0534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</a:rPr>
                        <a:t>Biomarker / variable used</a:t>
                      </a:r>
                    </a:p>
                  </a:txBody>
                  <a:tcPr marL="30009" marR="30009" marT="15005" marB="15005" anchor="ctr">
                    <a:solidFill>
                      <a:srgbClr val="0534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</a:rPr>
                        <a:t>Adjustment / scale</a:t>
                      </a:r>
                    </a:p>
                  </a:txBody>
                  <a:tcPr marL="30009" marR="30009" marT="15005" marB="15005" anchor="ctr">
                    <a:solidFill>
                      <a:srgbClr val="0534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Deficiency cutoff used</a:t>
                      </a:r>
                    </a:p>
                  </a:txBody>
                  <a:tcPr marL="30009" marR="30009" marT="15005" marB="15005" anchor="ctr">
                    <a:solidFill>
                      <a:srgbClr val="0534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3462980"/>
                  </a:ext>
                </a:extLst>
              </a:tr>
              <a:tr h="8452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/>
                        <a:t>Iron status </a:t>
                      </a:r>
                      <a:endParaRPr lang="en-US" sz="1400" dirty="0"/>
                    </a:p>
                  </a:txBody>
                  <a:tcPr marL="30009" marR="30009" marT="15005" marB="15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Children 6–59 mo</a:t>
                      </a:r>
                    </a:p>
                  </a:txBody>
                  <a:tcPr marL="30009" marR="30009" marT="15005" marB="15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/>
                        <a:t>Malawi, Gambia, Sierra Leone, Ghana</a:t>
                      </a:r>
                    </a:p>
                  </a:txBody>
                  <a:tcPr marL="30009" marR="30009" marT="15005" marB="15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Serum ferritin</a:t>
                      </a:r>
                    </a:p>
                  </a:txBody>
                  <a:tcPr marL="30009" marR="30009" marT="15005" marB="1500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BRINDA-style adjustment using CRP/AGP</a:t>
                      </a:r>
                      <a:r>
                        <a:rPr lang="en-US" sz="1400" b="0" dirty="0"/>
                        <a:t>; log scale</a:t>
                      </a:r>
                    </a:p>
                  </a:txBody>
                  <a:tcPr marL="30009" marR="30009" marT="15005" marB="15005" anchor="ctr"/>
                </a:tc>
                <a:tc>
                  <a:txBody>
                    <a:bodyPr/>
                    <a:lstStyle/>
                    <a:p>
                      <a:r>
                        <a:rPr lang="en-US" sz="1400" b="0" dirty="0"/>
                        <a:t>&lt;12 µg/L (children)</a:t>
                      </a:r>
                    </a:p>
                    <a:p>
                      <a:pPr>
                        <a:buNone/>
                      </a:pPr>
                      <a:endParaRPr lang="en-US" sz="1400" b="0" dirty="0"/>
                    </a:p>
                  </a:txBody>
                  <a:tcPr marL="30009" marR="30009" marT="15005" marB="15005" anchor="ctr"/>
                </a:tc>
                <a:extLst>
                  <a:ext uri="{0D108BD9-81ED-4DB2-BD59-A6C34878D82A}">
                    <a16:rowId xmlns:a16="http://schemas.microsoft.com/office/drawing/2014/main" val="216281872"/>
                  </a:ext>
                </a:extLst>
              </a:tr>
              <a:tr h="8452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 dirty="0"/>
                    </a:p>
                  </a:txBody>
                  <a:tcPr marL="30009" marR="30009" marT="15005" marB="15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Women 15–49 y</a:t>
                      </a:r>
                    </a:p>
                  </a:txBody>
                  <a:tcPr marL="30009" marR="30009" marT="15005" marB="15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Malawi, Gambia, Sierra Leone, Ghana</a:t>
                      </a:r>
                    </a:p>
                  </a:txBody>
                  <a:tcPr marL="30009" marR="30009" marT="15005" marB="15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Serum ferritin</a:t>
                      </a:r>
                    </a:p>
                  </a:txBody>
                  <a:tcPr marL="30009" marR="30009" marT="15005" marB="15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BRINDA-style adjustment  Inflammation-adjusted; log scale</a:t>
                      </a:r>
                    </a:p>
                  </a:txBody>
                  <a:tcPr marL="30009" marR="30009" marT="15005" marB="1500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&lt;15 µg/L (women)</a:t>
                      </a:r>
                    </a:p>
                    <a:p>
                      <a:pPr>
                        <a:buNone/>
                      </a:pPr>
                      <a:endParaRPr lang="en-US" sz="1400" dirty="0"/>
                    </a:p>
                  </a:txBody>
                  <a:tcPr marL="30009" marR="30009" marT="15005" marB="15005" anchor="ctr"/>
                </a:tc>
                <a:extLst>
                  <a:ext uri="{0D108BD9-81ED-4DB2-BD59-A6C34878D82A}">
                    <a16:rowId xmlns:a16="http://schemas.microsoft.com/office/drawing/2014/main" val="3311876811"/>
                  </a:ext>
                </a:extLst>
              </a:tr>
              <a:tr h="7437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/>
                        <a:t>Vitamin A status </a:t>
                      </a:r>
                      <a:endParaRPr lang="en-US" sz="1400" dirty="0"/>
                    </a:p>
                  </a:txBody>
                  <a:tcPr marL="30009" marR="30009" marT="15005" marB="15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Children 6–59 mo</a:t>
                      </a:r>
                    </a:p>
                  </a:txBody>
                  <a:tcPr marL="30009" marR="30009" marT="15005" marB="15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Malawi, Gambia, Sierra Leone, Ghana</a:t>
                      </a:r>
                    </a:p>
                  </a:txBody>
                  <a:tcPr marL="30009" marR="30009" marT="15005" marB="15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Retinol-binding protein</a:t>
                      </a:r>
                    </a:p>
                  </a:txBody>
                  <a:tcPr marL="30009" marR="30009" marT="15005" marB="15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BRINDA-style adjustment  Inflammation-adjusted; log scale</a:t>
                      </a:r>
                    </a:p>
                  </a:txBody>
                  <a:tcPr marL="30009" marR="30009" marT="15005" marB="1500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&lt;0.70 µmol/L</a:t>
                      </a:r>
                    </a:p>
                    <a:p>
                      <a:pPr>
                        <a:buNone/>
                      </a:pPr>
                      <a:endParaRPr lang="en-US" sz="1400" dirty="0"/>
                    </a:p>
                  </a:txBody>
                  <a:tcPr marL="30009" marR="30009" marT="15005" marB="15005" anchor="ctr"/>
                </a:tc>
                <a:extLst>
                  <a:ext uri="{0D108BD9-81ED-4DB2-BD59-A6C34878D82A}">
                    <a16:rowId xmlns:a16="http://schemas.microsoft.com/office/drawing/2014/main" val="3665262672"/>
                  </a:ext>
                </a:extLst>
              </a:tr>
              <a:tr h="6422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400"/>
                    </a:p>
                  </a:txBody>
                  <a:tcPr marL="30009" marR="30009" marT="15005" marB="15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Women 15–49 y</a:t>
                      </a:r>
                    </a:p>
                  </a:txBody>
                  <a:tcPr marL="30009" marR="30009" marT="15005" marB="15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Malawi, Gambia, Sierra Leone, Ghana</a:t>
                      </a:r>
                    </a:p>
                  </a:txBody>
                  <a:tcPr marL="30009" marR="30009" marT="15005" marB="15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Retinol-binding protein</a:t>
                      </a:r>
                    </a:p>
                  </a:txBody>
                  <a:tcPr marL="30009" marR="30009" marT="15005" marB="15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Unadjusted, log scale</a:t>
                      </a:r>
                    </a:p>
                  </a:txBody>
                  <a:tcPr marL="30009" marR="30009" marT="15005" marB="1500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&lt;0.70 µmol/L</a:t>
                      </a:r>
                    </a:p>
                    <a:p>
                      <a:pPr>
                        <a:buNone/>
                      </a:pPr>
                      <a:endParaRPr lang="en-US" sz="1400" dirty="0"/>
                    </a:p>
                  </a:txBody>
                  <a:tcPr marL="30009" marR="30009" marT="15005" marB="15005" anchor="ctr"/>
                </a:tc>
                <a:extLst>
                  <a:ext uri="{0D108BD9-81ED-4DB2-BD59-A6C34878D82A}">
                    <a16:rowId xmlns:a16="http://schemas.microsoft.com/office/drawing/2014/main" val="1818118422"/>
                  </a:ext>
                </a:extLst>
              </a:tr>
              <a:tr h="11690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/>
                        <a:t>Zinc status </a:t>
                      </a:r>
                      <a:endParaRPr lang="en-US" sz="1400" dirty="0"/>
                    </a:p>
                  </a:txBody>
                  <a:tcPr marL="30009" marR="30009" marT="15005" marB="15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Children / Women</a:t>
                      </a:r>
                    </a:p>
                  </a:txBody>
                  <a:tcPr marL="30009" marR="30009" marT="15005" marB="15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Malawi only</a:t>
                      </a:r>
                    </a:p>
                  </a:txBody>
                  <a:tcPr marL="30009" marR="30009" marT="15005" marB="15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Serum zinc</a:t>
                      </a:r>
                    </a:p>
                  </a:txBody>
                  <a:tcPr marL="30009" marR="30009" marT="15005" marB="15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Raw scale</a:t>
                      </a:r>
                    </a:p>
                  </a:txBody>
                  <a:tcPr marL="30009" marR="30009" marT="15005" marB="15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Morning, non-fasting: &lt;65 µg/dL (children); &lt;66 µg/dL (women)</a:t>
                      </a:r>
                    </a:p>
                    <a:p>
                      <a:pPr>
                        <a:buNone/>
                      </a:pPr>
                      <a:r>
                        <a:rPr lang="en-US" sz="1400" dirty="0"/>
                        <a:t>Afternoon, non-fasting: &lt;57 µg/dL (children); &lt;59 µg/dL (women)</a:t>
                      </a:r>
                    </a:p>
                  </a:txBody>
                  <a:tcPr marL="30009" marR="30009" marT="15005" marB="15005" anchor="ctr"/>
                </a:tc>
                <a:extLst>
                  <a:ext uri="{0D108BD9-81ED-4DB2-BD59-A6C34878D82A}">
                    <a16:rowId xmlns:a16="http://schemas.microsoft.com/office/drawing/2014/main" val="2173645184"/>
                  </a:ext>
                </a:extLst>
              </a:tr>
              <a:tr h="6000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/>
                        <a:t>Iodine status </a:t>
                      </a:r>
                      <a:endParaRPr lang="en-US" sz="1400" dirty="0"/>
                    </a:p>
                  </a:txBody>
                  <a:tcPr marL="30009" marR="30009" marT="15005" marB="15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All</a:t>
                      </a:r>
                    </a:p>
                  </a:txBody>
                  <a:tcPr marL="30009" marR="30009" marT="15005" marB="15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Sierra Leone only</a:t>
                      </a:r>
                    </a:p>
                  </a:txBody>
                  <a:tcPr marL="30009" marR="30009" marT="15005" marB="15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Urinary iodine </a:t>
                      </a:r>
                    </a:p>
                  </a:txBody>
                  <a:tcPr marL="30009" marR="30009" marT="15005" marB="15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Log scale</a:t>
                      </a:r>
                    </a:p>
                  </a:txBody>
                  <a:tcPr marL="30009" marR="30009" marT="15005" marB="15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Non-pregnant women &lt; 100 µg/L, Pregnant women &lt; 150 µg</a:t>
                      </a:r>
                    </a:p>
                  </a:txBody>
                  <a:tcPr marL="30009" marR="30009" marT="15005" marB="15005" anchor="ctr"/>
                </a:tc>
                <a:extLst>
                  <a:ext uri="{0D108BD9-81ED-4DB2-BD59-A6C34878D82A}">
                    <a16:rowId xmlns:a16="http://schemas.microsoft.com/office/drawing/2014/main" val="835875538"/>
                  </a:ext>
                </a:extLst>
              </a:tr>
              <a:tr h="3377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/>
                        <a:t>Folate status </a:t>
                      </a:r>
                      <a:endParaRPr lang="en-US" sz="1400" dirty="0"/>
                    </a:p>
                  </a:txBody>
                  <a:tcPr marL="30009" marR="30009" marT="15005" marB="15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Women 15–49 y</a:t>
                      </a:r>
                    </a:p>
                  </a:txBody>
                  <a:tcPr marL="30009" marR="30009" marT="15005" marB="15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Sierra Leone, Ghana</a:t>
                      </a:r>
                    </a:p>
                  </a:txBody>
                  <a:tcPr marL="30009" marR="30009" marT="15005" marB="15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Serum folate</a:t>
                      </a:r>
                    </a:p>
                  </a:txBody>
                  <a:tcPr marL="30009" marR="30009" marT="15005" marB="15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Raw scale</a:t>
                      </a:r>
                    </a:p>
                  </a:txBody>
                  <a:tcPr marL="30009" marR="30009" marT="15005" marB="15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&lt; 10 nmol/L</a:t>
                      </a:r>
                    </a:p>
                  </a:txBody>
                  <a:tcPr marL="30009" marR="30009" marT="15005" marB="15005" anchor="ctr"/>
                </a:tc>
                <a:extLst>
                  <a:ext uri="{0D108BD9-81ED-4DB2-BD59-A6C34878D82A}">
                    <a16:rowId xmlns:a16="http://schemas.microsoft.com/office/drawing/2014/main" val="980951918"/>
                  </a:ext>
                </a:extLst>
              </a:tr>
              <a:tr h="4104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/>
                        <a:t>Vitamin B12 status </a:t>
                      </a:r>
                      <a:endParaRPr lang="en-US" sz="1400" dirty="0"/>
                    </a:p>
                  </a:txBody>
                  <a:tcPr marL="30009" marR="30009" marT="15005" marB="15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Women 15–49 y (subsample)</a:t>
                      </a:r>
                    </a:p>
                  </a:txBody>
                  <a:tcPr marL="30009" marR="30009" marT="15005" marB="15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Sierra Leone, Ghana</a:t>
                      </a:r>
                    </a:p>
                  </a:txBody>
                  <a:tcPr marL="30009" marR="30009" marT="15005" marB="15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Serum B12</a:t>
                      </a:r>
                    </a:p>
                  </a:txBody>
                  <a:tcPr marL="30009" marR="30009" marT="15005" marB="15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Raw scale</a:t>
                      </a:r>
                    </a:p>
                  </a:txBody>
                  <a:tcPr marL="30009" marR="30009" marT="15005" marB="150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&lt; 150 </a:t>
                      </a:r>
                      <a:r>
                        <a:rPr lang="en-US" sz="1400" dirty="0" err="1"/>
                        <a:t>pmol</a:t>
                      </a:r>
                      <a:r>
                        <a:rPr lang="en-US" sz="1400" dirty="0"/>
                        <a:t>/L</a:t>
                      </a:r>
                    </a:p>
                  </a:txBody>
                  <a:tcPr marL="30009" marR="30009" marT="15005" marB="15005" anchor="ctr"/>
                </a:tc>
                <a:extLst>
                  <a:ext uri="{0D108BD9-81ED-4DB2-BD59-A6C34878D82A}">
                    <a16:rowId xmlns:a16="http://schemas.microsoft.com/office/drawing/2014/main" val="573196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804609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4255F-A50C-9AAF-87AF-D90B35D5F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226FB69-CE95-E428-E870-7AB010422CCA}"/>
              </a:ext>
            </a:extLst>
          </p:cNvPr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53486"/>
          </a:solidFill>
          <a:ln>
            <a:solidFill>
              <a:srgbClr val="053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Prediction approach- Spatial Ensemble Machine Learning</a:t>
            </a:r>
            <a:endParaRPr sz="2800" b="1"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68C2FE-ED31-9458-1DA9-BFA9E8989D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601" y="689"/>
            <a:ext cx="1453842" cy="13255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B649BB-40BF-D6A5-9708-3759A86976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4306" y="2057119"/>
            <a:ext cx="3484143" cy="13718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43D28B1-3619-EAB1-BE8A-05136EED3FC3}"/>
              </a:ext>
            </a:extLst>
          </p:cNvPr>
          <p:cNvSpPr txBox="1"/>
          <p:nvPr/>
        </p:nvSpPr>
        <p:spPr>
          <a:xfrm>
            <a:off x="584732" y="1796556"/>
            <a:ext cx="5445272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212529"/>
                </a:solidFill>
              </a:rPr>
              <a:t>Ensemble of Learners</a:t>
            </a:r>
            <a:endParaRPr sz="1600" b="1" dirty="0">
              <a:solidFill>
                <a:srgbClr val="212529"/>
              </a:solidFill>
            </a:endParaRPr>
          </a:p>
          <a:p>
            <a:pPr marL="457189" indent="-457189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rial"/>
                <a:cs typeface="Arial"/>
              </a:rPr>
              <a:t>“Competition” of algorithms</a:t>
            </a:r>
          </a:p>
          <a:p>
            <a:pPr marL="457189" indent="-457189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rial"/>
                <a:cs typeface="Arial"/>
              </a:rPr>
              <a:t>Best “team” wins</a:t>
            </a:r>
          </a:p>
          <a:p>
            <a:pPr marL="1066773" lvl="1" indent="-457189">
              <a:buFont typeface="Arial" panose="020B0604020202020204" pitchFamily="34" charset="0"/>
              <a:buChar char="•"/>
            </a:pPr>
            <a:r>
              <a:rPr lang="en-US" sz="1600" dirty="0">
                <a:latin typeface="Arial"/>
                <a:cs typeface="Arial"/>
              </a:rPr>
              <a:t>Weighted combination of algorithms</a:t>
            </a:r>
          </a:p>
          <a:p>
            <a:pPr marL="457189" indent="-457189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rial"/>
                <a:cs typeface="Arial"/>
              </a:rPr>
              <a:t>Performance judged on independent data</a:t>
            </a:r>
          </a:p>
          <a:p>
            <a:pPr marL="1066773" lvl="1" indent="-457189">
              <a:buFont typeface="Arial" panose="020B0604020202020204" pitchFamily="34" charset="0"/>
              <a:buChar char="•"/>
            </a:pPr>
            <a:r>
              <a:rPr lang="en-US" sz="1600" dirty="0">
                <a:latin typeface="Arial"/>
                <a:cs typeface="Arial"/>
              </a:rPr>
              <a:t>V-fold cross validation (Internal data splits) to avoid overfitting</a:t>
            </a: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en-US" sz="1600" dirty="0"/>
              <a:t>Combinations of simple regressions and more complex machine learning models to allow </a:t>
            </a:r>
            <a:r>
              <a:rPr lang="en-US" sz="1600" u="sng" dirty="0"/>
              <a:t>interactions </a:t>
            </a:r>
            <a:r>
              <a:rPr lang="en-US" sz="1600" dirty="0"/>
              <a:t>and </a:t>
            </a:r>
            <a:r>
              <a:rPr lang="en-US" sz="1600" u="sng" dirty="0"/>
              <a:t>nonlinear</a:t>
            </a:r>
            <a:r>
              <a:rPr lang="en-US" sz="1600" dirty="0"/>
              <a:t> associations.</a:t>
            </a:r>
            <a:endParaRPr lang="en-US" sz="1600" dirty="0">
              <a:latin typeface="Arial"/>
              <a:cs typeface="Arial"/>
            </a:endParaRP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en-US" sz="1600" dirty="0">
                <a:latin typeface="Arial"/>
                <a:cs typeface="Arial"/>
              </a:rPr>
              <a:t>Ensemble strengths:</a:t>
            </a:r>
          </a:p>
          <a:p>
            <a:pPr marL="1066773" lvl="1" indent="-457189">
              <a:buFont typeface="Arial" panose="020B0604020202020204" pitchFamily="34" charset="0"/>
              <a:buChar char="•"/>
            </a:pPr>
            <a:r>
              <a:rPr lang="en-US" sz="1600" dirty="0"/>
              <a:t>Diversity </a:t>
            </a:r>
          </a:p>
          <a:p>
            <a:pPr marL="1066773" lvl="1" indent="-457189">
              <a:buFont typeface="Arial" panose="020B0604020202020204" pitchFamily="34" charset="0"/>
              <a:buChar char="•"/>
            </a:pPr>
            <a:r>
              <a:rPr lang="en-US" sz="1600" dirty="0">
                <a:latin typeface="Arial"/>
                <a:cs typeface="Arial"/>
              </a:rPr>
              <a:t>Redundancy</a:t>
            </a:r>
          </a:p>
          <a:p>
            <a:pPr marL="1066773" lvl="1" indent="-457189">
              <a:buFont typeface="Arial" panose="020B0604020202020204" pitchFamily="34" charset="0"/>
              <a:buChar char="•"/>
            </a:pPr>
            <a:r>
              <a:rPr lang="en-US" sz="1600" dirty="0">
                <a:latin typeface="Arial"/>
                <a:cs typeface="Arial"/>
              </a:rPr>
              <a:t>Synergy</a:t>
            </a: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en-US" sz="1600" dirty="0"/>
              <a:t>No penalty other than computation time to add more algorithms</a:t>
            </a:r>
            <a:endParaRPr lang="en-US" sz="1600" dirty="0">
              <a:latin typeface="Arial"/>
              <a:cs typeface="Arial"/>
            </a:endParaRPr>
          </a:p>
          <a:p>
            <a:pPr lvl="1">
              <a:defRPr sz="1400"/>
            </a:pPr>
            <a:endParaRPr sz="1600" dirty="0"/>
          </a:p>
          <a:p>
            <a:pPr lvl="1">
              <a:defRPr sz="1400"/>
            </a:pPr>
            <a:endParaRPr lang="en-US" sz="1400" dirty="0"/>
          </a:p>
          <a:p>
            <a:pPr lvl="1">
              <a:defRPr sz="1400"/>
            </a:pPr>
            <a:endParaRPr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5042CA-0236-000A-5DE2-CBF3B5B89E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0605" y="3537575"/>
            <a:ext cx="3777844" cy="2198369"/>
          </a:xfrm>
          <a:prstGeom prst="rect">
            <a:avLst/>
          </a:prstGeom>
        </p:spPr>
      </p:pic>
      <p:pic>
        <p:nvPicPr>
          <p:cNvPr id="2" name="object 2">
            <a:extLst>
              <a:ext uri="{FF2B5EF4-FFF2-40B4-BE49-F238E27FC236}">
                <a16:creationId xmlns:a16="http://schemas.microsoft.com/office/drawing/2014/main" id="{498673EE-77EC-3D49-2D42-88B7FE0403E1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161998" y="1796556"/>
            <a:ext cx="2320364" cy="3939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596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95A65-9910-550D-C3E8-413AF5B29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43ED05-A618-50A9-7FC4-21713776734D}"/>
              </a:ext>
            </a:extLst>
          </p:cNvPr>
          <p:cNvSpPr/>
          <p:nvPr/>
        </p:nvSpPr>
        <p:spPr>
          <a:xfrm>
            <a:off x="0" y="0"/>
            <a:ext cx="12188952" cy="676507"/>
          </a:xfrm>
          <a:prstGeom prst="rect">
            <a:avLst/>
          </a:prstGeom>
          <a:solidFill>
            <a:srgbClr val="053486"/>
          </a:solidFill>
          <a:ln>
            <a:solidFill>
              <a:srgbClr val="053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How do proxy models perform compared to using individual-level predictors?</a:t>
            </a:r>
            <a:endParaRPr sz="2800" b="1" dirty="0">
              <a:solidFill>
                <a:srgbClr val="FFFF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4B673D-2B6B-A3E8-3684-1B6CDEE1B5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081" y="849899"/>
            <a:ext cx="10316401" cy="5158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95926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0A711-3C78-56AD-9408-003C79670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DE7E25-2014-C47E-15BF-3A3115470CF8}"/>
              </a:ext>
            </a:extLst>
          </p:cNvPr>
          <p:cNvSpPr txBox="1"/>
          <p:nvPr/>
        </p:nvSpPr>
        <p:spPr>
          <a:xfrm>
            <a:off x="356838" y="1765881"/>
            <a:ext cx="1044497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performance results:</a:t>
            </a:r>
          </a:p>
          <a:p>
            <a:r>
              <a:rPr lang="en-US" u="sng" dirty="0"/>
              <a:t>Discrimination (ROC AUC): 0.689 (95% CI: 0.591–0.787)</a:t>
            </a:r>
          </a:p>
          <a:p>
            <a:pPr lvl="1"/>
            <a:r>
              <a:rPr lang="en-US" dirty="0"/>
              <a:t>The model reliably distinguishes higher-risk from lower-risk women.</a:t>
            </a:r>
          </a:p>
          <a:p>
            <a:r>
              <a:rPr lang="en-US" u="sng" dirty="0"/>
              <a:t>Targeting efficiency (Precision Recall (PR) gain): 3.09×</a:t>
            </a:r>
          </a:p>
          <a:p>
            <a:pPr lvl="1"/>
            <a:r>
              <a:rPr lang="en-US" dirty="0"/>
              <a:t>The model identifies true B12 deficiency about three times more efficiently than random targeting, which is important for a rare condition.</a:t>
            </a:r>
          </a:p>
          <a:p>
            <a:r>
              <a:rPr lang="en-US" u="sng" dirty="0"/>
              <a:t>Risk stratification (PR normalized AUC): 0.193</a:t>
            </a:r>
          </a:p>
          <a:p>
            <a:pPr lvl="1"/>
            <a:r>
              <a:rPr lang="en-US" dirty="0"/>
              <a:t>The model achieves about 19% of the maximum possible improvement over random targeting in identifying true cases.</a:t>
            </a:r>
          </a:p>
          <a:p>
            <a:r>
              <a:rPr lang="en-US" u="sng" dirty="0"/>
              <a:t>Overall accuracy of predicted risks (Brier Skill): 0.095</a:t>
            </a:r>
          </a:p>
          <a:p>
            <a:pPr lvl="1"/>
            <a:r>
              <a:rPr lang="en-US" dirty="0"/>
              <a:t>Predicted probabilities reduce overall error by about 10% compared with using national prevalence alone.</a:t>
            </a:r>
          </a:p>
          <a:p>
            <a:r>
              <a:rPr lang="en-US" u="sng" dirty="0"/>
              <a:t>Statistical confidence (Brier Skill Confidence Interval: 0.022–0.167)</a:t>
            </a:r>
          </a:p>
          <a:p>
            <a:r>
              <a:rPr lang="en-US" dirty="0"/>
              <a:t>	The model achieves about 19% of the maximum possible improvement over random targeting in 	identifying true cases.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B5B40D5-CCFA-F9AE-1E1C-7C38D7A4A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68205F-0FF2-112D-D1C3-457C00B9B2AB}"/>
              </a:ext>
            </a:extLst>
          </p:cNvPr>
          <p:cNvSpPr/>
          <p:nvPr/>
        </p:nvSpPr>
        <p:spPr>
          <a:xfrm>
            <a:off x="0" y="7434"/>
            <a:ext cx="12188952" cy="1280160"/>
          </a:xfrm>
          <a:prstGeom prst="rect">
            <a:avLst/>
          </a:prstGeom>
          <a:solidFill>
            <a:srgbClr val="053486"/>
          </a:solidFill>
          <a:ln>
            <a:solidFill>
              <a:srgbClr val="053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What does this mean for policy? </a:t>
            </a:r>
          </a:p>
          <a:p>
            <a:pPr algn="ctr"/>
            <a:r>
              <a:rPr lang="en-US" sz="2800" dirty="0"/>
              <a:t>Focusing on Vitamin B12 model’s performance  </a:t>
            </a:r>
            <a:endParaRPr sz="28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288234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4E7EAB9-7D0B-BD84-FDC4-FA845790FC5E}"/>
              </a:ext>
            </a:extLst>
          </p:cNvPr>
          <p:cNvSpPr/>
          <p:nvPr/>
        </p:nvSpPr>
        <p:spPr>
          <a:xfrm>
            <a:off x="0" y="0"/>
            <a:ext cx="12188952" cy="676507"/>
          </a:xfrm>
          <a:prstGeom prst="rect">
            <a:avLst/>
          </a:prstGeom>
          <a:solidFill>
            <a:srgbClr val="053486"/>
          </a:solidFill>
          <a:ln>
            <a:solidFill>
              <a:srgbClr val="053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But can proxy models recover national-level prevalence estimates?</a:t>
            </a:r>
            <a:endParaRPr sz="2800" b="1"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F30D10-C26E-3FAB-5456-8ED03B46F7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71" y="807678"/>
            <a:ext cx="11988009" cy="5242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98752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F9663-3E9C-C3CF-5D57-8C50EA227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C836A4D8-8201-B551-2C08-A76C7D2DDE7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545667-49D9-3D0D-BEAE-EE467DFA77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735" y="669073"/>
            <a:ext cx="7240756" cy="531541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A17336F-6A5D-DF65-18A5-D50817A2C305}"/>
              </a:ext>
            </a:extLst>
          </p:cNvPr>
          <p:cNvSpPr/>
          <p:nvPr/>
        </p:nvSpPr>
        <p:spPr>
          <a:xfrm>
            <a:off x="0" y="0"/>
            <a:ext cx="12188952" cy="676507"/>
          </a:xfrm>
          <a:prstGeom prst="rect">
            <a:avLst/>
          </a:prstGeom>
          <a:solidFill>
            <a:srgbClr val="053486"/>
          </a:solidFill>
          <a:ln>
            <a:solidFill>
              <a:srgbClr val="053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What about subnational prevalence estimates?</a:t>
            </a:r>
            <a:endParaRPr sz="28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057744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2DD1A-3082-4353-AC1D-ED61D3F69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F4DBE70E-7974-FE92-C2E7-31609E52F45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AE9FF7-1EEE-EE2D-2EB5-6C30A8BBC8EA}"/>
              </a:ext>
            </a:extLst>
          </p:cNvPr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53486"/>
          </a:solidFill>
          <a:ln>
            <a:solidFill>
              <a:srgbClr val="053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Which data sources contribute most to model prediction performance?</a:t>
            </a:r>
            <a:endParaRPr sz="2800" b="1"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7DC618-E0B6-440F-523E-92D6739924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968" y="2055813"/>
            <a:ext cx="11144250" cy="368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88298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72D19-5C78-4EA0-C676-8415771FE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B0F0FF8E-7829-F72E-039A-DAE3C32A19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282BA8-EE3E-C657-4BDF-F17BBCDD81D6}"/>
              </a:ext>
            </a:extLst>
          </p:cNvPr>
          <p:cNvSpPr txBox="1"/>
          <p:nvPr/>
        </p:nvSpPr>
        <p:spPr>
          <a:xfrm>
            <a:off x="932390" y="1280160"/>
            <a:ext cx="10838986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Climate and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agro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-ecological context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Rainfall, vegetation, productivity, and temperature consistently improve prediction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Likely capture seasonality, agricultural productivity, and food system constraints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7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Water, sanitation, and household environment (DHS and MICS)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WASH and household characteristics show repeated positive contributions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Plausibly reflect infection exposure, inflammation pathways, and absorptive capacity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7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Food pricing (WFP)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Staples, legumes/oilseeds, and fruits/vegetables are repeatedly informative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700" dirty="0">
                <a:latin typeface="Arial" panose="020B0604020202020204" pitchFamily="34" charset="0"/>
              </a:rPr>
              <a:t>Might a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ct as macro-level proxies for diet quality and micronutrient intake potential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7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Disease burden and transmission ecology (Malaria Atlas Project and IHME)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Consistent with infection-driven anemia and micronutrient depletion pathways (diarrheal disease)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7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Reproductive and adult health context (DHS domains)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Reproductive health, family planning, and adult health domains add some signal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Likely proxy for parity, care access, and maternal physiological risk profiles</a:t>
            </a:r>
          </a:p>
          <a:p>
            <a:endParaRPr lang="en-US" sz="17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CE34345C-C55D-B4D3-9128-17677B480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169D5D-78EA-AA74-A1F4-8A41F90451B6}"/>
              </a:ext>
            </a:extLst>
          </p:cNvPr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53486"/>
          </a:solidFill>
          <a:ln>
            <a:solidFill>
              <a:srgbClr val="053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What can we learn about the consistently most important predictor domains?</a:t>
            </a:r>
            <a:endParaRPr sz="28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417751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797CA-3581-C243-F64A-5FC4140ED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194A55FF-1348-FB53-F994-2DBDDD5BFBD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D5771A-0CE9-6BBF-A8FC-FCCF9C020BCA}"/>
              </a:ext>
            </a:extLst>
          </p:cNvPr>
          <p:cNvSpPr txBox="1"/>
          <p:nvPr/>
        </p:nvSpPr>
        <p:spPr>
          <a:xfrm>
            <a:off x="557561" y="1351344"/>
            <a:ext cx="1106944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Notable absences: </a:t>
            </a:r>
          </a:p>
          <a:p>
            <a:r>
              <a:rPr lang="en-US" sz="1600" b="1" dirty="0"/>
              <a:t>1. Direct nutrition status and intake proxies (individual-level)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DHS: Adult Nutrition</a:t>
            </a:r>
            <a:r>
              <a:rPr lang="en-US" sz="1600" dirty="0"/>
              <a:t> (anemia, BMI, vitamin A proxy)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DHS: Child Nutrition</a:t>
            </a:r>
            <a:r>
              <a:rPr lang="en-US" sz="1600" dirty="0"/>
              <a:t> (anthropometry, IYCF indicators)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IHME nutrition</a:t>
            </a:r>
            <a:r>
              <a:rPr lang="en-US" sz="1600" dirty="0"/>
              <a:t> (stunting, wasting, anemia prevalence)</a:t>
            </a:r>
          </a:p>
          <a:p>
            <a:r>
              <a:rPr lang="en-US" sz="1600" dirty="0"/>
              <a:t>These variables are biologically proximal to micronutrient status but appear weak predictors once broader environmental, disease, and food system covariates are included.</a:t>
            </a:r>
          </a:p>
          <a:p>
            <a:r>
              <a:rPr lang="en-US" sz="1600" dirty="0"/>
              <a:t>Likely explanations: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High collinearity with infection, WASH, and food availability domains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Limited additional information at aggregated spatial scales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Measurement error and temporal mismatch relative to biomarker outcomes</a:t>
            </a:r>
          </a:p>
          <a:p>
            <a:endParaRPr lang="en-US" sz="1600" dirty="0"/>
          </a:p>
          <a:p>
            <a:r>
              <a:rPr lang="en-US" sz="1600" b="1" dirty="0"/>
              <a:t>2. Education and women’s empowerment (DHS, IHME)</a:t>
            </a:r>
          </a:p>
          <a:p>
            <a:r>
              <a:rPr lang="en-US" sz="1600" dirty="0"/>
              <a:t>Strongly associated with nutrition in causal frameworks, but largely absent as top predictive domains.</a:t>
            </a:r>
          </a:p>
          <a:p>
            <a:r>
              <a:rPr lang="en-US" sz="1600" dirty="0"/>
              <a:t>Suggests their effects are mediated through: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Household characteristics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Food access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Health service utilization</a:t>
            </a:r>
          </a:p>
          <a:p>
            <a:r>
              <a:rPr lang="en-US" sz="1600" dirty="0"/>
              <a:t>Once these mediators are included, education and empowerment might add little incremental predictive power.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CC61BE6-F6FD-C9B4-B982-32AA0A22C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503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097A967-39FD-2D08-51B3-9513A1241478}"/>
              </a:ext>
            </a:extLst>
          </p:cNvPr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53486"/>
          </a:solidFill>
          <a:ln>
            <a:solidFill>
              <a:srgbClr val="0534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What can we learn about missing predictor domains?</a:t>
            </a:r>
            <a:endParaRPr sz="28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283297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38c680a-7277-4874-b91e-ca9d73cc987f">
      <Terms xmlns="http://schemas.microsoft.com/office/infopath/2007/PartnerControls"/>
    </lcf76f155ced4ddcb4097134ff3c332f>
    <TaxCatchAll xmlns="a9330557-d790-4a15-81dd-41ac6aafd1e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B25C0FA6767BB4D81A74FDB92ED2A5C" ma:contentTypeVersion="17" ma:contentTypeDescription="Create a new document." ma:contentTypeScope="" ma:versionID="a88687ee43c16e53da457ec19e66ba4b">
  <xsd:schema xmlns:xsd="http://www.w3.org/2001/XMLSchema" xmlns:xs="http://www.w3.org/2001/XMLSchema" xmlns:p="http://schemas.microsoft.com/office/2006/metadata/properties" xmlns:ns2="a38c680a-7277-4874-b91e-ca9d73cc987f" xmlns:ns3="a9330557-d790-4a15-81dd-41ac6aafd1e6" targetNamespace="http://schemas.microsoft.com/office/2006/metadata/properties" ma:root="true" ma:fieldsID="8ec3a2ee81d49c195fdb95562ca4b5a9" ns2:_="" ns3:_="">
    <xsd:import namespace="a38c680a-7277-4874-b91e-ca9d73cc987f"/>
    <xsd:import namespace="a9330557-d790-4a15-81dd-41ac6aafd1e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8c680a-7277-4874-b91e-ca9d73cc987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806aaa40-c663-4506-a8f2-94edda6b6de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330557-d790-4a15-81dd-41ac6aafd1e6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236aa432-09c1-47d7-8cc6-ab1d1b394bda}" ma:internalName="TaxCatchAll" ma:showField="CatchAllData" ma:web="a9330557-d790-4a15-81dd-41ac6aafd1e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BAD0AF9-64B2-44B4-B2EB-63432B1738CC}">
  <ds:schemaRefs>
    <ds:schemaRef ds:uri="http://schemas.microsoft.com/office/2006/metadata/properties"/>
    <ds:schemaRef ds:uri="http://schemas.microsoft.com/office/infopath/2007/PartnerControls"/>
    <ds:schemaRef ds:uri="a38c680a-7277-4874-b91e-ca9d73cc987f"/>
    <ds:schemaRef ds:uri="a9330557-d790-4a15-81dd-41ac6aafd1e6"/>
  </ds:schemaRefs>
</ds:datastoreItem>
</file>

<file path=customXml/itemProps2.xml><?xml version="1.0" encoding="utf-8"?>
<ds:datastoreItem xmlns:ds="http://schemas.openxmlformats.org/officeDocument/2006/customXml" ds:itemID="{DBEBD7C3-2F1E-40AA-BBFA-3EC1B58B3AF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555D80C-35A2-472F-91B6-38EB197E93D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38c680a-7277-4874-b91e-ca9d73cc987f"/>
    <ds:schemaRef ds:uri="a9330557-d790-4a15-81dd-41ac6aafd1e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d026bb9f-849e-4520-adf3-36adc211bebd}" enabled="1" method="Privileged" siteId="{ac144e41-8001-48f0-9e1c-170716ed06b6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4841</TotalTime>
  <Words>1302</Words>
  <Application>Microsoft Office PowerPoint</Application>
  <PresentationFormat>Widescreen</PresentationFormat>
  <Paragraphs>159</Paragraphs>
  <Slides>13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2013 - 2022 Theme</vt:lpstr>
      <vt:lpstr>Proxy VMD Modeling Project Andrew Mertens (University of California, Berkeley)  </vt:lpstr>
      <vt:lpstr>PowerPoint Presentation</vt:lpstr>
      <vt:lpstr>Goals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Julie Honore</dc:creator>
  <cp:lastModifiedBy>Andrew Mertens</cp:lastModifiedBy>
  <cp:revision>156</cp:revision>
  <dcterms:created xsi:type="dcterms:W3CDTF">2022-06-09T13:01:26Z</dcterms:created>
  <dcterms:modified xsi:type="dcterms:W3CDTF">2026-09-27T21:51:46Z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0x0101002B25C0FA6767BB4D81A74FDB92ED2A5C</vt:lpwstr>
  </property>
  <property fmtid="{D5CDD505-2E9C-101B-9397-08002B2CF9AE}" pid="3" name="MediaServiceImageTags">
    <vt:lpwstr/>
  </property>
</Properties>
</file>